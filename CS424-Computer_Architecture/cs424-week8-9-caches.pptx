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xlsx" ContentType="application/vnd.openxmlformats-officedocument.spreadsheetml.sheet"/>
  <Default Extension="vml" ContentType="application/vnd.openxmlformats-officedocument.vmlDrawing"/>
  <Default Extension="bin" ContentType="application/vnd.openxmlformats-officedocument.oleObjec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 id="2147483676" r:id="rId2"/>
    <p:sldMasterId id="2147483663" r:id="rId3"/>
  </p:sldMasterIdLst>
  <p:notesMasterIdLst>
    <p:notesMasterId r:id="rId66"/>
  </p:notesMasterIdLst>
  <p:handoutMasterIdLst>
    <p:handoutMasterId r:id="rId67"/>
  </p:handoutMasterIdLst>
  <p:sldIdLst>
    <p:sldId id="502" r:id="rId4"/>
    <p:sldId id="452" r:id="rId5"/>
    <p:sldId id="453" r:id="rId6"/>
    <p:sldId id="454" r:id="rId7"/>
    <p:sldId id="455" r:id="rId8"/>
    <p:sldId id="456" r:id="rId9"/>
    <p:sldId id="457" r:id="rId10"/>
    <p:sldId id="458" r:id="rId11"/>
    <p:sldId id="459" r:id="rId12"/>
    <p:sldId id="519" r:id="rId13"/>
    <p:sldId id="460" r:id="rId14"/>
    <p:sldId id="461" r:id="rId15"/>
    <p:sldId id="462" r:id="rId16"/>
    <p:sldId id="463" r:id="rId17"/>
    <p:sldId id="464" r:id="rId18"/>
    <p:sldId id="465" r:id="rId19"/>
    <p:sldId id="466" r:id="rId20"/>
    <p:sldId id="467" r:id="rId21"/>
    <p:sldId id="468" r:id="rId22"/>
    <p:sldId id="517" r:id="rId23"/>
    <p:sldId id="518" r:id="rId24"/>
    <p:sldId id="469" r:id="rId25"/>
    <p:sldId id="470" r:id="rId26"/>
    <p:sldId id="471" r:id="rId27"/>
    <p:sldId id="472" r:id="rId28"/>
    <p:sldId id="473" r:id="rId29"/>
    <p:sldId id="474" r:id="rId30"/>
    <p:sldId id="475" r:id="rId31"/>
    <p:sldId id="503" r:id="rId32"/>
    <p:sldId id="477" r:id="rId33"/>
    <p:sldId id="480" r:id="rId34"/>
    <p:sldId id="482" r:id="rId35"/>
    <p:sldId id="483" r:id="rId36"/>
    <p:sldId id="484" r:id="rId37"/>
    <p:sldId id="486" r:id="rId38"/>
    <p:sldId id="487" r:id="rId39"/>
    <p:sldId id="488" r:id="rId40"/>
    <p:sldId id="489" r:id="rId41"/>
    <p:sldId id="490" r:id="rId42"/>
    <p:sldId id="515" r:id="rId43"/>
    <p:sldId id="516" r:id="rId44"/>
    <p:sldId id="491" r:id="rId45"/>
    <p:sldId id="492" r:id="rId46"/>
    <p:sldId id="493" r:id="rId47"/>
    <p:sldId id="494" r:id="rId48"/>
    <p:sldId id="495" r:id="rId49"/>
    <p:sldId id="496" r:id="rId50"/>
    <p:sldId id="497" r:id="rId51"/>
    <p:sldId id="498" r:id="rId52"/>
    <p:sldId id="499" r:id="rId53"/>
    <p:sldId id="500" r:id="rId54"/>
    <p:sldId id="504" r:id="rId55"/>
    <p:sldId id="505" r:id="rId56"/>
    <p:sldId id="506" r:id="rId57"/>
    <p:sldId id="507" r:id="rId58"/>
    <p:sldId id="508" r:id="rId59"/>
    <p:sldId id="509" r:id="rId60"/>
    <p:sldId id="511" r:id="rId61"/>
    <p:sldId id="512" r:id="rId62"/>
    <p:sldId id="513" r:id="rId63"/>
    <p:sldId id="514" r:id="rId64"/>
    <p:sldId id="501" r:id="rId65"/>
  </p:sldIdLst>
  <p:sldSz cx="9144000" cy="6858000" type="letter"/>
  <p:notesSz cx="6985000" cy="92837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kern="1200">
        <a:solidFill>
          <a:schemeClr val="accent1"/>
        </a:solidFill>
        <a:latin typeface="Arial" charset="0"/>
        <a:ea typeface="+mn-ea"/>
        <a:cs typeface="+mn-cs"/>
      </a:defRPr>
    </a:lvl1pPr>
    <a:lvl2pPr marL="457200" algn="l" rtl="0" eaLnBrk="0" fontAlgn="base" hangingPunct="0">
      <a:spcBef>
        <a:spcPct val="0"/>
      </a:spcBef>
      <a:spcAft>
        <a:spcPct val="0"/>
      </a:spcAft>
      <a:defRPr kern="1200">
        <a:solidFill>
          <a:schemeClr val="accent1"/>
        </a:solidFill>
        <a:latin typeface="Arial" charset="0"/>
        <a:ea typeface="+mn-ea"/>
        <a:cs typeface="+mn-cs"/>
      </a:defRPr>
    </a:lvl2pPr>
    <a:lvl3pPr marL="914400" algn="l" rtl="0" eaLnBrk="0" fontAlgn="base" hangingPunct="0">
      <a:spcBef>
        <a:spcPct val="0"/>
      </a:spcBef>
      <a:spcAft>
        <a:spcPct val="0"/>
      </a:spcAft>
      <a:defRPr kern="1200">
        <a:solidFill>
          <a:schemeClr val="accent1"/>
        </a:solidFill>
        <a:latin typeface="Arial" charset="0"/>
        <a:ea typeface="+mn-ea"/>
        <a:cs typeface="+mn-cs"/>
      </a:defRPr>
    </a:lvl3pPr>
    <a:lvl4pPr marL="1371600" algn="l" rtl="0" eaLnBrk="0" fontAlgn="base" hangingPunct="0">
      <a:spcBef>
        <a:spcPct val="0"/>
      </a:spcBef>
      <a:spcAft>
        <a:spcPct val="0"/>
      </a:spcAft>
      <a:defRPr kern="1200">
        <a:solidFill>
          <a:schemeClr val="accent1"/>
        </a:solidFill>
        <a:latin typeface="Arial" charset="0"/>
        <a:ea typeface="+mn-ea"/>
        <a:cs typeface="+mn-cs"/>
      </a:defRPr>
    </a:lvl4pPr>
    <a:lvl5pPr marL="1828800" algn="l" rtl="0" eaLnBrk="0" fontAlgn="base" hangingPunct="0">
      <a:spcBef>
        <a:spcPct val="0"/>
      </a:spcBef>
      <a:spcAft>
        <a:spcPct val="0"/>
      </a:spcAft>
      <a:defRPr kern="1200">
        <a:solidFill>
          <a:schemeClr val="accent1"/>
        </a:solidFill>
        <a:latin typeface="Arial" charset="0"/>
        <a:ea typeface="+mn-ea"/>
        <a:cs typeface="+mn-cs"/>
      </a:defRPr>
    </a:lvl5pPr>
    <a:lvl6pPr marL="2286000" algn="l" defTabSz="914400" rtl="0" eaLnBrk="1" latinLnBrk="0" hangingPunct="1">
      <a:defRPr kern="1200">
        <a:solidFill>
          <a:schemeClr val="accent1"/>
        </a:solidFill>
        <a:latin typeface="Arial" charset="0"/>
        <a:ea typeface="+mn-ea"/>
        <a:cs typeface="+mn-cs"/>
      </a:defRPr>
    </a:lvl6pPr>
    <a:lvl7pPr marL="2743200" algn="l" defTabSz="914400" rtl="0" eaLnBrk="1" latinLnBrk="0" hangingPunct="1">
      <a:defRPr kern="1200">
        <a:solidFill>
          <a:schemeClr val="accent1"/>
        </a:solidFill>
        <a:latin typeface="Arial" charset="0"/>
        <a:ea typeface="+mn-ea"/>
        <a:cs typeface="+mn-cs"/>
      </a:defRPr>
    </a:lvl7pPr>
    <a:lvl8pPr marL="3200400" algn="l" defTabSz="914400" rtl="0" eaLnBrk="1" latinLnBrk="0" hangingPunct="1">
      <a:defRPr kern="1200">
        <a:solidFill>
          <a:schemeClr val="accent1"/>
        </a:solidFill>
        <a:latin typeface="Arial" charset="0"/>
        <a:ea typeface="+mn-ea"/>
        <a:cs typeface="+mn-cs"/>
      </a:defRPr>
    </a:lvl8pPr>
    <a:lvl9pPr marL="3657600" algn="l" defTabSz="914400" rtl="0" eaLnBrk="1" latinLnBrk="0" hangingPunct="1">
      <a:defRPr kern="1200">
        <a:solidFill>
          <a:schemeClr val="accent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584">
          <p15:clr>
            <a:srgbClr val="A4A3A4"/>
          </p15:clr>
        </p15:guide>
      </p15:sldGuideLst>
    </p:ext>
    <p:ext uri="{2D200454-40CA-4A62-9FC3-DE9A4176ACB9}">
      <p15:notesGuideLst xmlns:p15="http://schemas.microsoft.com/office/powerpoint/2012/main">
        <p15:guide id="1" orient="horz" pos="2923">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8901F3"/>
    <a:srgbClr val="00A091"/>
    <a:srgbClr val="51DC00"/>
    <a:srgbClr val="5A11FD"/>
    <a:srgbClr val="000000"/>
    <a:srgbClr val="CC3399"/>
    <a:srgbClr val="0082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05" autoAdjust="0"/>
    <p:restoredTop sz="93613" autoAdjust="0"/>
  </p:normalViewPr>
  <p:slideViewPr>
    <p:cSldViewPr>
      <p:cViewPr>
        <p:scale>
          <a:sx n="140" d="100"/>
          <a:sy n="140" d="100"/>
        </p:scale>
        <p:origin x="856" y="-296"/>
      </p:cViewPr>
      <p:guideLst>
        <p:guide orient="horz" pos="2160"/>
        <p:guide pos="15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840"/>
    </p:cViewPr>
  </p:sorterViewPr>
  <p:notesViewPr>
    <p:cSldViewPr>
      <p:cViewPr varScale="1">
        <p:scale>
          <a:sx n="84" d="100"/>
          <a:sy n="84" d="100"/>
        </p:scale>
        <p:origin x="-1932" y="-84"/>
      </p:cViewPr>
      <p:guideLst>
        <p:guide orient="horz" pos="2923"/>
        <p:guide pos="22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70" Type="http://schemas.openxmlformats.org/officeDocument/2006/relationships/theme" Target="theme/theme1.xml"/><Relationship Id="rId71" Type="http://schemas.openxmlformats.org/officeDocument/2006/relationships/tableStyles" Target="tableStyles.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8205128205128"/>
          <c:y val="0.071264367816092"/>
          <c:w val="0.663003663003664"/>
          <c:h val="0.668965517241385"/>
        </c:manualLayout>
      </c:layout>
      <c:lineChart>
        <c:grouping val="standard"/>
        <c:varyColors val="0"/>
        <c:ser>
          <c:idx val="1"/>
          <c:order val="0"/>
          <c:tx>
            <c:strRef>
              <c:f>Sheet1!$A$3</c:f>
              <c:strCache>
                <c:ptCount val="1"/>
                <c:pt idx="0">
                  <c:v>8 KB</c:v>
                </c:pt>
              </c:strCache>
            </c:strRef>
          </c:tx>
          <c:spPr>
            <a:ln w="38099">
              <a:solidFill>
                <a:srgbClr val="FFCC00"/>
              </a:solidFill>
              <a:prstDash val="solid"/>
            </a:ln>
          </c:spPr>
          <c:marker>
            <c:symbol val="square"/>
            <c:size val="8"/>
            <c:spPr>
              <a:noFill/>
              <a:ln>
                <a:solidFill>
                  <a:srgbClr val="FFCC00"/>
                </a:solidFill>
                <a:prstDash val="solid"/>
              </a:ln>
            </c:spPr>
          </c:marker>
          <c:cat>
            <c:numRef>
              <c:f>Sheet1!$B$1:$F$1</c:f>
              <c:numCache>
                <c:formatCode>General</c:formatCode>
                <c:ptCount val="5"/>
                <c:pt idx="0">
                  <c:v>16.0</c:v>
                </c:pt>
                <c:pt idx="1">
                  <c:v>32.0</c:v>
                </c:pt>
                <c:pt idx="2">
                  <c:v>64.0</c:v>
                </c:pt>
                <c:pt idx="3">
                  <c:v>128.0</c:v>
                </c:pt>
                <c:pt idx="4">
                  <c:v>256.0</c:v>
                </c:pt>
              </c:numCache>
            </c:numRef>
          </c:cat>
          <c:val>
            <c:numRef>
              <c:f>Sheet1!$B$3:$F$3</c:f>
              <c:numCache>
                <c:formatCode>General</c:formatCode>
                <c:ptCount val="5"/>
                <c:pt idx="0">
                  <c:v>8.5</c:v>
                </c:pt>
                <c:pt idx="1">
                  <c:v>7.5</c:v>
                </c:pt>
                <c:pt idx="2">
                  <c:v>7.25</c:v>
                </c:pt>
                <c:pt idx="3">
                  <c:v>7.75</c:v>
                </c:pt>
                <c:pt idx="4">
                  <c:v>9.5</c:v>
                </c:pt>
              </c:numCache>
            </c:numRef>
          </c:val>
          <c:smooth val="0"/>
        </c:ser>
        <c:ser>
          <c:idx val="2"/>
          <c:order val="1"/>
          <c:tx>
            <c:strRef>
              <c:f>Sheet1!$A$4</c:f>
              <c:strCache>
                <c:ptCount val="1"/>
                <c:pt idx="0">
                  <c:v>16 KB</c:v>
                </c:pt>
              </c:strCache>
            </c:strRef>
          </c:tx>
          <c:spPr>
            <a:ln w="38099">
              <a:solidFill>
                <a:srgbClr val="00FF00"/>
              </a:solidFill>
              <a:prstDash val="solid"/>
            </a:ln>
          </c:spPr>
          <c:marker>
            <c:symbol val="circle"/>
            <c:size val="8"/>
            <c:spPr>
              <a:solidFill>
                <a:srgbClr val="00FF00"/>
              </a:solidFill>
              <a:ln>
                <a:solidFill>
                  <a:srgbClr val="00FF00"/>
                </a:solidFill>
                <a:prstDash val="solid"/>
              </a:ln>
            </c:spPr>
          </c:marker>
          <c:cat>
            <c:numRef>
              <c:f>Sheet1!$B$1:$F$1</c:f>
              <c:numCache>
                <c:formatCode>General</c:formatCode>
                <c:ptCount val="5"/>
                <c:pt idx="0">
                  <c:v>16.0</c:v>
                </c:pt>
                <c:pt idx="1">
                  <c:v>32.0</c:v>
                </c:pt>
                <c:pt idx="2">
                  <c:v>64.0</c:v>
                </c:pt>
                <c:pt idx="3">
                  <c:v>128.0</c:v>
                </c:pt>
                <c:pt idx="4">
                  <c:v>256.0</c:v>
                </c:pt>
              </c:numCache>
            </c:numRef>
          </c:cat>
          <c:val>
            <c:numRef>
              <c:f>Sheet1!$B$4:$F$4</c:f>
              <c:numCache>
                <c:formatCode>General</c:formatCode>
                <c:ptCount val="5"/>
                <c:pt idx="0">
                  <c:v>4.0</c:v>
                </c:pt>
                <c:pt idx="1">
                  <c:v>2.75</c:v>
                </c:pt>
                <c:pt idx="2">
                  <c:v>2.75</c:v>
                </c:pt>
                <c:pt idx="3">
                  <c:v>3.0</c:v>
                </c:pt>
                <c:pt idx="4">
                  <c:v>3.5</c:v>
                </c:pt>
              </c:numCache>
            </c:numRef>
          </c:val>
          <c:smooth val="0"/>
        </c:ser>
        <c:ser>
          <c:idx val="3"/>
          <c:order val="2"/>
          <c:tx>
            <c:strRef>
              <c:f>Sheet1!$A$5</c:f>
              <c:strCache>
                <c:ptCount val="1"/>
                <c:pt idx="0">
                  <c:v>64 KB</c:v>
                </c:pt>
              </c:strCache>
            </c:strRef>
          </c:tx>
          <c:spPr>
            <a:ln w="38099">
              <a:solidFill>
                <a:srgbClr val="00FFFF"/>
              </a:solidFill>
              <a:prstDash val="solid"/>
            </a:ln>
          </c:spPr>
          <c:marker>
            <c:symbol val="circle"/>
            <c:size val="8"/>
            <c:spPr>
              <a:noFill/>
              <a:ln>
                <a:solidFill>
                  <a:srgbClr val="00FFFF"/>
                </a:solidFill>
                <a:prstDash val="solid"/>
              </a:ln>
            </c:spPr>
          </c:marker>
          <c:cat>
            <c:numRef>
              <c:f>Sheet1!$B$1:$F$1</c:f>
              <c:numCache>
                <c:formatCode>General</c:formatCode>
                <c:ptCount val="5"/>
                <c:pt idx="0">
                  <c:v>16.0</c:v>
                </c:pt>
                <c:pt idx="1">
                  <c:v>32.0</c:v>
                </c:pt>
                <c:pt idx="2">
                  <c:v>64.0</c:v>
                </c:pt>
                <c:pt idx="3">
                  <c:v>128.0</c:v>
                </c:pt>
                <c:pt idx="4">
                  <c:v>256.0</c:v>
                </c:pt>
              </c:numCache>
            </c:numRef>
          </c:cat>
          <c:val>
            <c:numRef>
              <c:f>Sheet1!$B$5:$F$5</c:f>
              <c:numCache>
                <c:formatCode>General</c:formatCode>
                <c:ptCount val="5"/>
                <c:pt idx="0">
                  <c:v>2.0</c:v>
                </c:pt>
                <c:pt idx="1">
                  <c:v>1.700000000000005</c:v>
                </c:pt>
                <c:pt idx="2">
                  <c:v>1.55</c:v>
                </c:pt>
                <c:pt idx="3">
                  <c:v>1.4</c:v>
                </c:pt>
                <c:pt idx="4">
                  <c:v>1.4</c:v>
                </c:pt>
              </c:numCache>
            </c:numRef>
          </c:val>
          <c:smooth val="0"/>
        </c:ser>
        <c:ser>
          <c:idx val="4"/>
          <c:order val="3"/>
          <c:tx>
            <c:strRef>
              <c:f>Sheet1!$A$6</c:f>
              <c:strCache>
                <c:ptCount val="1"/>
                <c:pt idx="0">
                  <c:v>256 KB</c:v>
                </c:pt>
              </c:strCache>
            </c:strRef>
          </c:tx>
          <c:spPr>
            <a:ln w="38099">
              <a:solidFill>
                <a:srgbClr val="0000FF"/>
              </a:solidFill>
              <a:prstDash val="solid"/>
            </a:ln>
          </c:spPr>
          <c:marker>
            <c:symbol val="triangle"/>
            <c:size val="8"/>
            <c:spPr>
              <a:solidFill>
                <a:srgbClr val="0000FF"/>
              </a:solidFill>
              <a:ln>
                <a:solidFill>
                  <a:srgbClr val="0000FF"/>
                </a:solidFill>
                <a:prstDash val="solid"/>
              </a:ln>
            </c:spPr>
          </c:marker>
          <c:cat>
            <c:numRef>
              <c:f>Sheet1!$B$1:$F$1</c:f>
              <c:numCache>
                <c:formatCode>General</c:formatCode>
                <c:ptCount val="5"/>
                <c:pt idx="0">
                  <c:v>16.0</c:v>
                </c:pt>
                <c:pt idx="1">
                  <c:v>32.0</c:v>
                </c:pt>
                <c:pt idx="2">
                  <c:v>64.0</c:v>
                </c:pt>
                <c:pt idx="3">
                  <c:v>128.0</c:v>
                </c:pt>
                <c:pt idx="4">
                  <c:v>256.0</c:v>
                </c:pt>
              </c:numCache>
            </c:numRef>
          </c:cat>
          <c:val>
            <c:numRef>
              <c:f>Sheet1!$B$6:$F$6</c:f>
              <c:numCache>
                <c:formatCode>General</c:formatCode>
                <c:ptCount val="5"/>
                <c:pt idx="0">
                  <c:v>1.0</c:v>
                </c:pt>
                <c:pt idx="1">
                  <c:v>0.700000000000001</c:v>
                </c:pt>
                <c:pt idx="2">
                  <c:v>0.5</c:v>
                </c:pt>
                <c:pt idx="3">
                  <c:v>0.5</c:v>
                </c:pt>
                <c:pt idx="4">
                  <c:v>0.600000000000001</c:v>
                </c:pt>
              </c:numCache>
            </c:numRef>
          </c:val>
          <c:smooth val="0"/>
        </c:ser>
        <c:dLbls>
          <c:showLegendKey val="0"/>
          <c:showVal val="0"/>
          <c:showCatName val="0"/>
          <c:showSerName val="0"/>
          <c:showPercent val="0"/>
          <c:showBubbleSize val="0"/>
        </c:dLbls>
        <c:marker val="1"/>
        <c:smooth val="0"/>
        <c:axId val="-2129503584"/>
        <c:axId val="-2129082288"/>
      </c:lineChart>
      <c:catAx>
        <c:axId val="-2129503584"/>
        <c:scaling>
          <c:orientation val="minMax"/>
        </c:scaling>
        <c:delete val="0"/>
        <c:axPos val="b"/>
        <c:title>
          <c:tx>
            <c:rich>
              <a:bodyPr/>
              <a:lstStyle/>
              <a:p>
                <a:pPr>
                  <a:defRPr sz="1800" b="1" i="0" u="none" strike="noStrike" baseline="0">
                    <a:solidFill>
                      <a:schemeClr val="tx1"/>
                    </a:solidFill>
                    <a:latin typeface="Arial"/>
                    <a:ea typeface="Arial"/>
                    <a:cs typeface="Arial"/>
                  </a:defRPr>
                </a:pPr>
                <a:r>
                  <a:rPr lang="en-US"/>
                  <a:t>Block size (bytes)</a:t>
                </a:r>
              </a:p>
            </c:rich>
          </c:tx>
          <c:layout>
            <c:manualLayout>
              <c:xMode val="edge"/>
              <c:yMode val="edge"/>
              <c:x val="0.330891330891331"/>
              <c:y val="0.875862068965517"/>
            </c:manualLayout>
          </c:layout>
          <c:overlay val="0"/>
          <c:spPr>
            <a:noFill/>
            <a:ln w="25400">
              <a:noFill/>
            </a:ln>
          </c:spPr>
        </c:title>
        <c:numFmt formatCode="General" sourceLinked="1"/>
        <c:majorTickMark val="out"/>
        <c:minorTickMark val="none"/>
        <c:tickLblPos val="nextTo"/>
        <c:spPr>
          <a:ln w="3175">
            <a:solidFill>
              <a:schemeClr val="tx1"/>
            </a:solidFill>
            <a:prstDash val="solid"/>
          </a:ln>
        </c:spPr>
        <c:txPr>
          <a:bodyPr rot="0" vert="horz"/>
          <a:lstStyle/>
          <a:p>
            <a:pPr>
              <a:defRPr sz="1800" b="1" i="0" u="none" strike="noStrike" baseline="0">
                <a:solidFill>
                  <a:schemeClr val="tx1"/>
                </a:solidFill>
                <a:latin typeface="Arial"/>
                <a:ea typeface="Arial"/>
                <a:cs typeface="Arial"/>
              </a:defRPr>
            </a:pPr>
            <a:endParaRPr lang="en-US"/>
          </a:p>
        </c:txPr>
        <c:crossAx val="-2129082288"/>
        <c:crosses val="autoZero"/>
        <c:auto val="1"/>
        <c:lblAlgn val="ctr"/>
        <c:lblOffset val="100"/>
        <c:tickLblSkip val="1"/>
        <c:tickMarkSkip val="1"/>
        <c:noMultiLvlLbl val="0"/>
      </c:catAx>
      <c:valAx>
        <c:axId val="-2129082288"/>
        <c:scaling>
          <c:orientation val="minMax"/>
        </c:scaling>
        <c:delete val="0"/>
        <c:axPos val="l"/>
        <c:majorGridlines>
          <c:spPr>
            <a:ln w="12700">
              <a:solidFill>
                <a:schemeClr val="tx1"/>
              </a:solidFill>
              <a:prstDash val="sysDash"/>
            </a:ln>
          </c:spPr>
        </c:majorGridlines>
        <c:title>
          <c:tx>
            <c:rich>
              <a:bodyPr/>
              <a:lstStyle/>
              <a:p>
                <a:pPr>
                  <a:defRPr sz="1800" b="1" i="0" u="none" strike="noStrike" baseline="0">
                    <a:solidFill>
                      <a:schemeClr val="tx1"/>
                    </a:solidFill>
                    <a:latin typeface="Arial"/>
                    <a:ea typeface="Arial"/>
                    <a:cs typeface="Arial"/>
                  </a:defRPr>
                </a:pPr>
                <a:r>
                  <a:rPr lang="en-US"/>
                  <a:t>Miss rate (%)</a:t>
                </a:r>
              </a:p>
            </c:rich>
          </c:tx>
          <c:layout>
            <c:manualLayout>
              <c:xMode val="edge"/>
              <c:yMode val="edge"/>
              <c:x val="0.0134310134310134"/>
              <c:y val="0.232183908045977"/>
            </c:manualLayout>
          </c:layout>
          <c:overlay val="0"/>
          <c:spPr>
            <a:noFill/>
            <a:ln w="25400">
              <a:noFill/>
            </a:ln>
          </c:spPr>
        </c:title>
        <c:numFmt formatCode="General" sourceLinked="1"/>
        <c:majorTickMark val="out"/>
        <c:minorTickMark val="none"/>
        <c:tickLblPos val="nextTo"/>
        <c:spPr>
          <a:ln w="3175">
            <a:solidFill>
              <a:schemeClr val="tx1"/>
            </a:solidFill>
            <a:prstDash val="solid"/>
          </a:ln>
        </c:spPr>
        <c:txPr>
          <a:bodyPr rot="0" vert="horz"/>
          <a:lstStyle/>
          <a:p>
            <a:pPr>
              <a:defRPr sz="1800" b="1" i="0" u="none" strike="noStrike" baseline="0">
                <a:solidFill>
                  <a:schemeClr val="tx1"/>
                </a:solidFill>
                <a:latin typeface="Arial"/>
                <a:ea typeface="Arial"/>
                <a:cs typeface="Arial"/>
              </a:defRPr>
            </a:pPr>
            <a:endParaRPr lang="en-US"/>
          </a:p>
        </c:txPr>
        <c:crossAx val="-2129503584"/>
        <c:crosses val="autoZero"/>
        <c:crossBetween val="midCat"/>
        <c:majorUnit val="5.0"/>
      </c:valAx>
      <c:spPr>
        <a:noFill/>
        <a:ln w="12700">
          <a:solidFill>
            <a:schemeClr val="tx1"/>
          </a:solidFill>
          <a:prstDash val="solid"/>
        </a:ln>
      </c:spPr>
    </c:plotArea>
    <c:legend>
      <c:legendPos val="r"/>
      <c:layout>
        <c:manualLayout>
          <c:xMode val="edge"/>
          <c:yMode val="edge"/>
          <c:x val="0.831501831501834"/>
          <c:y val="0.1816091954023"/>
          <c:w val="0.161172161172162"/>
          <c:h val="0.324137931034485"/>
        </c:manualLayout>
      </c:layout>
      <c:overlay val="0"/>
      <c:spPr>
        <a:noFill/>
        <a:ln w="3175">
          <a:solidFill>
            <a:schemeClr val="tx1"/>
          </a:solidFill>
          <a:prstDash val="solid"/>
        </a:ln>
      </c:spPr>
      <c:txPr>
        <a:bodyPr/>
        <a:lstStyle/>
        <a:p>
          <a:pPr>
            <a:defRPr sz="1655" b="1" i="0" u="none" strike="noStrike" baseline="0">
              <a:solidFill>
                <a:schemeClr val="tx1"/>
              </a:solidFill>
              <a:latin typeface="Arial"/>
              <a:ea typeface="Arial"/>
              <a:cs typeface="Arial"/>
            </a:defRPr>
          </a:pPr>
          <a:endParaRPr lang="en-US"/>
        </a:p>
      </c:txPr>
    </c:legend>
    <c:plotVisOnly val="1"/>
    <c:dispBlanksAs val="gap"/>
    <c:showDLblsOverMax val="0"/>
  </c:chart>
  <c:spPr>
    <a:noFill/>
    <a:ln>
      <a:noFill/>
    </a:ln>
  </c:spPr>
  <c:txPr>
    <a:bodyPr/>
    <a:lstStyle/>
    <a:p>
      <a:pPr>
        <a:defRPr sz="1800" b="1" i="0" u="none" strike="noStrike" baseline="0">
          <a:solidFill>
            <a:schemeClr val="tx1"/>
          </a:solidFill>
          <a:latin typeface="Arial"/>
          <a:ea typeface="Arial"/>
          <a:cs typeface="Arial"/>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755636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idx="2"/>
          </p:nvPr>
        </p:nvSpPr>
        <p:spPr bwMode="auto">
          <a:xfrm>
            <a:off x="1189038" y="598488"/>
            <a:ext cx="4622800" cy="3467100"/>
          </a:xfrm>
          <a:prstGeom prst="rect">
            <a:avLst/>
          </a:prstGeom>
          <a:noFill/>
          <a:ln w="12700">
            <a:noFill/>
            <a:miter lim="800000"/>
            <a:headEnd/>
            <a:tailEnd/>
          </a:ln>
        </p:spPr>
      </p:sp>
      <p:sp>
        <p:nvSpPr>
          <p:cNvPr id="2051" name="Rectangle 3"/>
          <p:cNvSpPr>
            <a:spLocks noGrp="1" noChangeArrowheads="1"/>
          </p:cNvSpPr>
          <p:nvPr>
            <p:ph type="body" sz="quarter" idx="3"/>
          </p:nvPr>
        </p:nvSpPr>
        <p:spPr bwMode="auto">
          <a:xfrm>
            <a:off x="525493" y="4408146"/>
            <a:ext cx="6019711" cy="4177665"/>
          </a:xfrm>
          <a:prstGeom prst="rect">
            <a:avLst/>
          </a:prstGeom>
          <a:noFill/>
          <a:ln w="12700">
            <a:solidFill>
              <a:schemeClr val="tx1"/>
            </a:solidFill>
            <a:miter lim="800000"/>
            <a:headEnd/>
            <a:tailEnd/>
          </a:ln>
          <a:effectLst/>
        </p:spPr>
        <p:txBody>
          <a:bodyPr vert="horz" wrap="square" lIns="93520" tIns="45939" rIns="93520" bIns="45939" numCol="1" anchor="t" anchorCtr="0" compatLnSpc="1">
            <a:prstTxWarp prst="textNoShape">
              <a:avLst/>
            </a:prstTxWarp>
          </a:bodyPr>
          <a:lstStyle/>
          <a:p>
            <a:pPr lvl="0"/>
            <a:r>
              <a:rPr lang="en-US" noProof="0" smtClean="0"/>
              <a:t>we want this to be in font 11 and justify.</a:t>
            </a:r>
          </a:p>
        </p:txBody>
      </p:sp>
    </p:spTree>
    <p:extLst>
      <p:ext uri="{BB962C8B-B14F-4D97-AF65-F5344CB8AC3E}">
        <p14:creationId xmlns:p14="http://schemas.microsoft.com/office/powerpoint/2010/main" val="1934733741"/>
      </p:ext>
    </p:extLst>
  </p:cSld>
  <p:clrMap bg1="lt1" tx1="dk1" bg2="lt2" tx2="dk2" accent1="accent1" accent2="accent2" accent3="accent3" accent4="accent4" accent5="accent5" accent6="accent6" hlink="hlink" folHlink="folHlink"/>
  <p:hf hdr="0" dt="0"/>
  <p:notesStyle>
    <a:lvl1pPr algn="just" rtl="0" eaLnBrk="0" fontAlgn="base" hangingPunct="0">
      <a:lnSpc>
        <a:spcPct val="90000"/>
      </a:lnSpc>
      <a:spcBef>
        <a:spcPct val="40000"/>
      </a:spcBef>
      <a:spcAft>
        <a:spcPct val="0"/>
      </a:spcAft>
      <a:defRPr sz="1100"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body" idx="1"/>
          </p:nvPr>
        </p:nvSpPr>
        <p:spPr>
          <a:noFill/>
          <a:ln w="9525">
            <a:noFill/>
          </a:ln>
        </p:spPr>
        <p:txBody>
          <a:bodyPr/>
          <a:lstStyle/>
          <a:p>
            <a:endParaRPr lang="en-US" dirty="0" smtClean="0"/>
          </a:p>
        </p:txBody>
      </p:sp>
      <p:sp>
        <p:nvSpPr>
          <p:cNvPr id="56323" name="Rectangle 3"/>
          <p:cNvSpPr>
            <a:spLocks noGrp="1" noRot="1" noChangeAspect="1" noChangeArrowheads="1" noTextEdit="1"/>
          </p:cNvSpPr>
          <p:nvPr>
            <p:ph type="sldImg"/>
          </p:nvPr>
        </p:nvSpPr>
        <p:spPr/>
      </p:sp>
    </p:spTree>
    <p:extLst>
      <p:ext uri="{BB962C8B-B14F-4D97-AF65-F5344CB8AC3E}">
        <p14:creationId xmlns:p14="http://schemas.microsoft.com/office/powerpoint/2010/main" val="1141651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6850" name="Rectangle 2"/>
          <p:cNvSpPr>
            <a:spLocks noGrp="1" noChangeArrowheads="1"/>
          </p:cNvSpPr>
          <p:nvPr>
            <p:ph type="body" idx="1"/>
          </p:nvPr>
        </p:nvSpPr>
        <p:spPr>
          <a:xfrm>
            <a:off x="527403" y="4415790"/>
            <a:ext cx="6041601" cy="4181767"/>
          </a:xfrm>
          <a:noFill/>
          <a:ln>
            <a:noFill/>
          </a:ln>
        </p:spPr>
        <p:txBody>
          <a:bodyPr lIns="93748" tIns="46051" rIns="93748" bIns="46051"/>
          <a:lstStyle/>
          <a:p>
            <a:r>
              <a:rPr lang="en-US" baseline="0" dirty="0" smtClean="0"/>
              <a:t>PH Sec. 5.1</a:t>
            </a:r>
          </a:p>
          <a:p>
            <a:endParaRPr lang="en-US" baseline="0" dirty="0" smtClean="0"/>
          </a:p>
        </p:txBody>
      </p:sp>
      <p:sp>
        <p:nvSpPr>
          <p:cNvPr id="1486851" name="Rectangle 3"/>
          <p:cNvSpPr>
            <a:spLocks noGrp="1" noRot="1" noChangeAspect="1" noChangeArrowheads="1" noTextEdit="1"/>
          </p:cNvSpPr>
          <p:nvPr>
            <p:ph type="sldImg"/>
          </p:nvPr>
        </p:nvSpPr>
        <p:spPr>
          <a:xfrm>
            <a:off x="1198563" y="596900"/>
            <a:ext cx="4630737" cy="3473450"/>
          </a:xfrm>
          <a:ln/>
        </p:spPr>
      </p:sp>
    </p:spTree>
    <p:extLst>
      <p:ext uri="{BB962C8B-B14F-4D97-AF65-F5344CB8AC3E}">
        <p14:creationId xmlns:p14="http://schemas.microsoft.com/office/powerpoint/2010/main" val="2019332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6850" name="Rectangle 2"/>
          <p:cNvSpPr>
            <a:spLocks noGrp="1" noChangeArrowheads="1"/>
          </p:cNvSpPr>
          <p:nvPr>
            <p:ph type="body" idx="1"/>
          </p:nvPr>
        </p:nvSpPr>
        <p:spPr>
          <a:xfrm>
            <a:off x="527403" y="4415790"/>
            <a:ext cx="6041601" cy="4181767"/>
          </a:xfrm>
          <a:noFill/>
          <a:ln>
            <a:noFill/>
          </a:ln>
        </p:spPr>
        <p:txBody>
          <a:bodyPr lIns="93748" tIns="46051" rIns="93748" bIns="46051"/>
          <a:lstStyle/>
          <a:p>
            <a:r>
              <a:rPr lang="en-US" dirty="0" smtClean="0"/>
              <a:t>PH Sec.</a:t>
            </a:r>
            <a:r>
              <a:rPr lang="en-US" baseline="0" dirty="0" smtClean="0"/>
              <a:t> 5.1</a:t>
            </a:r>
          </a:p>
          <a:p>
            <a:endParaRPr lang="en-US" baseline="0" dirty="0" smtClean="0"/>
          </a:p>
          <a:p>
            <a:r>
              <a:rPr lang="en-US" dirty="0" smtClean="0"/>
              <a:t>Memory Hierarchy –</a:t>
            </a:r>
          </a:p>
          <a:p>
            <a:r>
              <a:rPr lang="en-US" dirty="0" smtClean="0"/>
              <a:t>cache - small, fast, expensive per bit</a:t>
            </a:r>
          </a:p>
          <a:p>
            <a:r>
              <a:rPr lang="en-US" dirty="0" smtClean="0"/>
              <a:t>main memory – larger, slower, cheap per bit</a:t>
            </a:r>
          </a:p>
          <a:p>
            <a:r>
              <a:rPr lang="en-US" dirty="0" smtClean="0"/>
              <a:t>disk – even larger,</a:t>
            </a:r>
            <a:r>
              <a:rPr lang="en-US" baseline="0" dirty="0" smtClean="0"/>
              <a:t> slower, cheaper per bit</a:t>
            </a:r>
          </a:p>
          <a:p>
            <a:endParaRPr lang="en-US" baseline="0" dirty="0" smtClean="0"/>
          </a:p>
          <a:p>
            <a:r>
              <a:rPr lang="en-US" baseline="0" dirty="0" smtClean="0"/>
              <a:t>Should add additional levels or more detail for some systems –</a:t>
            </a:r>
          </a:p>
          <a:p>
            <a:r>
              <a:rPr lang="en-US" baseline="0" dirty="0" smtClean="0"/>
              <a:t>cache (on-chip) – L1, L2, L3, local per core, or shared among cores</a:t>
            </a:r>
          </a:p>
          <a:p>
            <a:r>
              <a:rPr lang="en-US" baseline="0" dirty="0" smtClean="0"/>
              <a:t>main memory – local per processor, shared among processors</a:t>
            </a:r>
          </a:p>
          <a:p>
            <a:r>
              <a:rPr lang="en-US" baseline="0" dirty="0" smtClean="0"/>
              <a:t>solid-state disk (flash) – </a:t>
            </a:r>
          </a:p>
          <a:p>
            <a:r>
              <a:rPr lang="en-US" baseline="0" dirty="0" smtClean="0"/>
              <a:t>rotating magnetic disk –</a:t>
            </a:r>
          </a:p>
          <a:p>
            <a:endParaRPr lang="en-US" baseline="0" dirty="0" smtClean="0"/>
          </a:p>
        </p:txBody>
      </p:sp>
      <p:sp>
        <p:nvSpPr>
          <p:cNvPr id="1486851" name="Rectangle 3"/>
          <p:cNvSpPr>
            <a:spLocks noGrp="1" noRot="1" noChangeAspect="1" noChangeArrowheads="1" noTextEdit="1"/>
          </p:cNvSpPr>
          <p:nvPr>
            <p:ph type="sldImg"/>
          </p:nvPr>
        </p:nvSpPr>
        <p:spPr>
          <a:xfrm>
            <a:off x="1198563" y="596900"/>
            <a:ext cx="4630737" cy="3473450"/>
          </a:xfrm>
          <a:ln/>
        </p:spPr>
      </p:sp>
    </p:spTree>
    <p:extLst>
      <p:ext uri="{BB962C8B-B14F-4D97-AF65-F5344CB8AC3E}">
        <p14:creationId xmlns:p14="http://schemas.microsoft.com/office/powerpoint/2010/main" val="221889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674" name="Rectangle 2"/>
          <p:cNvSpPr>
            <a:spLocks noGrp="1" noChangeArrowheads="1"/>
          </p:cNvSpPr>
          <p:nvPr>
            <p:ph type="body" idx="1"/>
          </p:nvPr>
        </p:nvSpPr>
        <p:spPr>
          <a:noFill/>
          <a:ln>
            <a:noFill/>
          </a:ln>
        </p:spPr>
        <p:txBody>
          <a:bodyPr lIns="93740" tIns="46048" rIns="93740" bIns="46048"/>
          <a:lstStyle/>
          <a:p>
            <a:r>
              <a:rPr lang="en-US" dirty="0"/>
              <a:t>That is, any computer, no matter how primitive or advance, can be divided into five parts:</a:t>
            </a:r>
          </a:p>
          <a:p>
            <a:r>
              <a:rPr lang="en-US" dirty="0"/>
              <a:t>1. The input devices bring the data from the outside world into the computer.</a:t>
            </a:r>
          </a:p>
          <a:p>
            <a:r>
              <a:rPr lang="en-US" dirty="0"/>
              <a:t>2. These data are kept in the computer’s memory  until ...</a:t>
            </a:r>
          </a:p>
          <a:p>
            <a:r>
              <a:rPr lang="en-US" dirty="0"/>
              <a:t>3. The </a:t>
            </a:r>
            <a:r>
              <a:rPr lang="en-US" dirty="0" err="1"/>
              <a:t>datapath</a:t>
            </a:r>
            <a:r>
              <a:rPr lang="en-US" dirty="0"/>
              <a:t> request and process them.</a:t>
            </a:r>
          </a:p>
          <a:p>
            <a:r>
              <a:rPr lang="en-US" dirty="0"/>
              <a:t>4. The operation of the </a:t>
            </a:r>
            <a:r>
              <a:rPr lang="en-US" dirty="0" err="1"/>
              <a:t>datapath</a:t>
            </a:r>
            <a:r>
              <a:rPr lang="en-US" dirty="0"/>
              <a:t> is controlled by the computer’s controller.</a:t>
            </a:r>
          </a:p>
          <a:p>
            <a:r>
              <a:rPr lang="en-US" dirty="0"/>
              <a:t>All the work done by the computer will NOT do us any good unless we can get the data back to the outside world. </a:t>
            </a:r>
          </a:p>
          <a:p>
            <a:r>
              <a:rPr lang="en-US" dirty="0"/>
              <a:t> 5. Getting the data back to the outside world is the job of the output devices.</a:t>
            </a:r>
          </a:p>
          <a:p>
            <a:endParaRPr lang="en-US" dirty="0"/>
          </a:p>
          <a:p>
            <a:r>
              <a:rPr lang="en-US" dirty="0"/>
              <a:t>The most COMMON way to connect these 5 components together is to use a network of busses.</a:t>
            </a:r>
          </a:p>
          <a:p>
            <a:endParaRPr lang="en-US" dirty="0"/>
          </a:p>
          <a:p>
            <a:pPr algn="l">
              <a:lnSpc>
                <a:spcPct val="100000"/>
              </a:lnSpc>
              <a:spcBef>
                <a:spcPct val="0"/>
              </a:spcBef>
            </a:pPr>
            <a:r>
              <a:rPr lang="en-US" dirty="0"/>
              <a:t>Workstation Design Target:	</a:t>
            </a:r>
            <a:r>
              <a:rPr lang="en-US" dirty="0" smtClean="0"/>
              <a:t> 25</a:t>
            </a:r>
            <a:r>
              <a:rPr lang="en-US" dirty="0"/>
              <a:t>% of cost on Processor, 25% of cost on Memory (minimum memory size), rest on I/O devices, power supplies, box</a:t>
            </a:r>
          </a:p>
          <a:p>
            <a:endParaRPr lang="en-US" dirty="0"/>
          </a:p>
        </p:txBody>
      </p:sp>
      <p:sp>
        <p:nvSpPr>
          <p:cNvPr id="1052675" name="Rectangle 3"/>
          <p:cNvSpPr>
            <a:spLocks noGrp="1" noRot="1" noChangeAspect="1" noChangeArrowheads="1" noTextEdit="1"/>
          </p:cNvSpPr>
          <p:nvPr>
            <p:ph type="sldImg"/>
          </p:nvPr>
        </p:nvSpPr>
        <p:spPr>
          <a:xfrm>
            <a:off x="1198563" y="596900"/>
            <a:ext cx="4632325" cy="3473450"/>
          </a:xfrm>
          <a:ln/>
        </p:spPr>
      </p:sp>
    </p:spTree>
    <p:extLst>
      <p:ext uri="{BB962C8B-B14F-4D97-AF65-F5344CB8AC3E}">
        <p14:creationId xmlns:p14="http://schemas.microsoft.com/office/powerpoint/2010/main" val="1993303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Disk access time is average</a:t>
            </a:r>
            <a:r>
              <a:rPr lang="en-US" baseline="0" dirty="0" smtClean="0"/>
              <a:t> seek time only, not counting transfer time, or a hit in the disk drive’s cache.</a:t>
            </a:r>
          </a:p>
          <a:p>
            <a:endParaRPr lang="en-US" baseline="0" dirty="0" smtClean="0"/>
          </a:p>
          <a:p>
            <a:r>
              <a:rPr lang="en-US" baseline="0" dirty="0" smtClean="0"/>
              <a:t>Compare to table on PH </a:t>
            </a:r>
            <a:r>
              <a:rPr lang="en-US" baseline="0" dirty="0" err="1" smtClean="0"/>
              <a:t>p</a:t>
            </a:r>
            <a:r>
              <a:rPr lang="en-US" baseline="0" dirty="0" smtClean="0"/>
              <a:t>. 453, for SRAM, DRAM, Magnetic Disk.</a:t>
            </a:r>
          </a:p>
          <a:p>
            <a:endParaRPr lang="en-US" dirty="0"/>
          </a:p>
        </p:txBody>
      </p:sp>
    </p:spTree>
    <p:extLst>
      <p:ext uri="{BB962C8B-B14F-4D97-AF65-F5344CB8AC3E}">
        <p14:creationId xmlns:p14="http://schemas.microsoft.com/office/powerpoint/2010/main" val="1462986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PH Sec. 5.2</a:t>
            </a:r>
          </a:p>
          <a:p>
            <a:endParaRPr lang="en-US" dirty="0" smtClean="0"/>
          </a:p>
          <a:p>
            <a:r>
              <a:rPr lang="en-US" dirty="0" smtClean="0"/>
              <a:t>More about virtual memory later.</a:t>
            </a:r>
          </a:p>
          <a:p>
            <a:endParaRPr lang="en-US" dirty="0" smtClean="0"/>
          </a:p>
          <a:p>
            <a:r>
              <a:rPr lang="en-US" dirty="0" smtClean="0"/>
              <a:t>Note which steps do not involve direct programmer intervention.</a:t>
            </a:r>
          </a:p>
          <a:p>
            <a:endParaRPr lang="en-US" dirty="0"/>
          </a:p>
        </p:txBody>
      </p:sp>
    </p:spTree>
    <p:extLst>
      <p:ext uri="{BB962C8B-B14F-4D97-AF65-F5344CB8AC3E}">
        <p14:creationId xmlns:p14="http://schemas.microsoft.com/office/powerpoint/2010/main" val="1705304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8770" name="Rectangle 2"/>
          <p:cNvSpPr>
            <a:spLocks noGrp="1" noRot="1" noChangeAspect="1" noChangeArrowheads="1" noTextEdit="1"/>
          </p:cNvSpPr>
          <p:nvPr>
            <p:ph type="sldImg"/>
          </p:nvPr>
        </p:nvSpPr>
        <p:spPr/>
      </p:sp>
      <p:sp>
        <p:nvSpPr>
          <p:cNvPr id="1568771" name="Rectangle 3"/>
          <p:cNvSpPr>
            <a:spLocks noGrp="1" noChangeArrowheads="1"/>
          </p:cNvSpPr>
          <p:nvPr>
            <p:ph type="body" idx="1"/>
          </p:nvPr>
        </p:nvSpPr>
        <p:spPr>
          <a:ln/>
        </p:spPr>
        <p:txBody>
          <a:bodyPr/>
          <a:lstStyle/>
          <a:p>
            <a:r>
              <a:rPr lang="en-US" dirty="0"/>
              <a:t>Size comparison:  DRAM/SRAM is 4 to 8 times</a:t>
            </a:r>
          </a:p>
          <a:p>
            <a:r>
              <a:rPr lang="en-US" dirty="0"/>
              <a:t>Cost/cycle time comparison SRAM/DRAM is 8 to 16 </a:t>
            </a:r>
            <a:r>
              <a:rPr lang="en-US" dirty="0" smtClean="0"/>
              <a:t>times</a:t>
            </a:r>
            <a:endParaRPr lang="en-US" dirty="0"/>
          </a:p>
        </p:txBody>
      </p:sp>
    </p:spTree>
    <p:extLst>
      <p:ext uri="{BB962C8B-B14F-4D97-AF65-F5344CB8AC3E}">
        <p14:creationId xmlns:p14="http://schemas.microsoft.com/office/powerpoint/2010/main" val="1101386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PH Sec. 5.1,</a:t>
            </a:r>
            <a:r>
              <a:rPr lang="en-US" baseline="0" dirty="0" smtClean="0"/>
              <a:t> data from table on </a:t>
            </a:r>
            <a:r>
              <a:rPr lang="en-US" baseline="0" dirty="0" err="1" smtClean="0"/>
              <a:t>p</a:t>
            </a:r>
            <a:r>
              <a:rPr lang="en-US" baseline="0" dirty="0" smtClean="0"/>
              <a:t>. 453.</a:t>
            </a:r>
          </a:p>
          <a:p>
            <a:endParaRPr lang="en-US" dirty="0"/>
          </a:p>
        </p:txBody>
      </p:sp>
    </p:spTree>
    <p:extLst>
      <p:ext uri="{BB962C8B-B14F-4D97-AF65-F5344CB8AC3E}">
        <p14:creationId xmlns:p14="http://schemas.microsoft.com/office/powerpoint/2010/main" val="1049595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2626" name="Rectangle 2"/>
          <p:cNvSpPr>
            <a:spLocks noGrp="1" noRot="1" noChangeAspect="1" noChangeArrowheads="1" noTextEdit="1"/>
          </p:cNvSpPr>
          <p:nvPr>
            <p:ph type="sldImg"/>
          </p:nvPr>
        </p:nvSpPr>
        <p:spPr/>
      </p:sp>
      <p:sp>
        <p:nvSpPr>
          <p:cNvPr id="1562627" name="Rectangle 3"/>
          <p:cNvSpPr>
            <a:spLocks noGrp="1" noChangeArrowheads="1"/>
          </p:cNvSpPr>
          <p:nvPr>
            <p:ph type="body" idx="1"/>
          </p:nvPr>
        </p:nvSpPr>
        <p:spPr>
          <a:ln/>
        </p:spPr>
        <p:txBody>
          <a:bodyPr/>
          <a:lstStyle/>
          <a:p>
            <a:r>
              <a:rPr lang="en-US" dirty="0" smtClean="0"/>
              <a:t>[Fall 2008] HIDDEN SLIDE – KEEP?</a:t>
            </a:r>
          </a:p>
          <a:p>
            <a:r>
              <a:rPr lang="en-US" dirty="0" smtClean="0"/>
              <a:t>[Spring, Fall 2009] open</a:t>
            </a:r>
          </a:p>
          <a:p>
            <a:endParaRPr lang="en-US" dirty="0" smtClean="0"/>
          </a:p>
          <a:p>
            <a:r>
              <a:rPr lang="en-US" dirty="0" smtClean="0"/>
              <a:t>Memory </a:t>
            </a:r>
            <a:r>
              <a:rPr lang="en-US" dirty="0"/>
              <a:t>baseline is a 64KB DRAM in 1980, with three years to the next generation until 1996 and then two years thereafter with a 7% per year performance improvement in latency.</a:t>
            </a:r>
          </a:p>
          <a:p>
            <a:r>
              <a:rPr lang="en-US" dirty="0"/>
              <a:t>Processor assumes a 35% improvement per year until 1986, then a 55% until 2003, then 5%</a:t>
            </a:r>
          </a:p>
          <a:p>
            <a:endParaRPr lang="en-US" dirty="0"/>
          </a:p>
          <a:p>
            <a:r>
              <a:rPr lang="en-US" dirty="0"/>
              <a:t>Need to supply an instruction and a data</a:t>
            </a:r>
            <a:r>
              <a:rPr lang="en-US" dirty="0" smtClean="0"/>
              <a:t> item every </a:t>
            </a:r>
            <a:r>
              <a:rPr lang="en-US" dirty="0"/>
              <a:t>clock cycle</a:t>
            </a:r>
          </a:p>
          <a:p>
            <a:r>
              <a:rPr lang="en-US" dirty="0"/>
              <a:t>In 1980 there were no caches (and no need for them), by 1995 most systems had 2 level caches (e.g., 60% of the transistors on the Alpha 21164 were in the cache</a:t>
            </a:r>
            <a:r>
              <a:rPr lang="en-US" dirty="0" smtClean="0"/>
              <a:t>)</a:t>
            </a:r>
          </a:p>
          <a:p>
            <a:endParaRPr lang="en-US" dirty="0" smtClean="0"/>
          </a:p>
          <a:p>
            <a:r>
              <a:rPr lang="en-US" dirty="0" smtClean="0"/>
              <a:t>DRAM improvements mostly went to capacity,</a:t>
            </a:r>
            <a:r>
              <a:rPr lang="en-US" baseline="0" dirty="0" smtClean="0"/>
              <a:t> not to speed.</a:t>
            </a:r>
          </a:p>
          <a:p>
            <a:endParaRPr lang="en-US" dirty="0"/>
          </a:p>
        </p:txBody>
      </p:sp>
    </p:spTree>
    <p:extLst>
      <p:ext uri="{BB962C8B-B14F-4D97-AF65-F5344CB8AC3E}">
        <p14:creationId xmlns:p14="http://schemas.microsoft.com/office/powerpoint/2010/main" val="710501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From 1980 to 2000</a:t>
            </a:r>
            <a:r>
              <a:rPr lang="en-US" baseline="0" dirty="0" smtClean="0"/>
              <a:t> – performance was seven times faster than what would have been possible with just technology (including improved circuit design) – due to architectural innovations</a:t>
            </a:r>
            <a:endParaRPr lang="en-US" dirty="0"/>
          </a:p>
        </p:txBody>
      </p:sp>
    </p:spTree>
    <p:extLst>
      <p:ext uri="{BB962C8B-B14F-4D97-AF65-F5344CB8AC3E}">
        <p14:creationId xmlns:p14="http://schemas.microsoft.com/office/powerpoint/2010/main" val="579852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PH Sec. 5.1</a:t>
            </a:r>
          </a:p>
          <a:p>
            <a:endParaRPr lang="en-US" dirty="0" smtClean="0"/>
          </a:p>
          <a:p>
            <a:r>
              <a:rPr lang="en-US" dirty="0" smtClean="0"/>
              <a:t>Flash memory is discussed in PH Sec. 6.4, as</a:t>
            </a:r>
            <a:r>
              <a:rPr lang="en-US" baseline="0" dirty="0" smtClean="0"/>
              <a:t> a disk replacement.</a:t>
            </a:r>
            <a:endParaRPr lang="en-US" dirty="0" smtClean="0"/>
          </a:p>
          <a:p>
            <a:endParaRPr lang="en-US" dirty="0"/>
          </a:p>
        </p:txBody>
      </p:sp>
    </p:spTree>
    <p:extLst>
      <p:ext uri="{BB962C8B-B14F-4D97-AF65-F5344CB8AC3E}">
        <p14:creationId xmlns:p14="http://schemas.microsoft.com/office/powerpoint/2010/main" val="741920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PH Sec. 5.1</a:t>
            </a:r>
          </a:p>
          <a:p>
            <a:endParaRPr lang="en-US" dirty="0" smtClean="0"/>
          </a:p>
          <a:p>
            <a:r>
              <a:rPr lang="en-US" dirty="0" smtClean="0"/>
              <a:t>Flash memory is discussed in PH Sec. 6.4, as</a:t>
            </a:r>
            <a:r>
              <a:rPr lang="en-US" baseline="0" dirty="0" smtClean="0"/>
              <a:t> a disk replacement.</a:t>
            </a:r>
            <a:endParaRPr lang="en-US" dirty="0" smtClean="0"/>
          </a:p>
          <a:p>
            <a:endParaRPr lang="en-US" dirty="0"/>
          </a:p>
        </p:txBody>
      </p:sp>
    </p:spTree>
    <p:extLst>
      <p:ext uri="{BB962C8B-B14F-4D97-AF65-F5344CB8AC3E}">
        <p14:creationId xmlns:p14="http://schemas.microsoft.com/office/powerpoint/2010/main" val="690016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610" name="Rectangle 2"/>
          <p:cNvSpPr>
            <a:spLocks noGrp="1" noChangeArrowheads="1"/>
          </p:cNvSpPr>
          <p:nvPr>
            <p:ph type="body" idx="1"/>
          </p:nvPr>
        </p:nvSpPr>
        <p:spPr>
          <a:xfrm>
            <a:off x="934112" y="4417634"/>
            <a:ext cx="5142177" cy="4180921"/>
          </a:xfrm>
          <a:ln>
            <a:noFill/>
          </a:ln>
        </p:spPr>
        <p:txBody>
          <a:bodyPr lIns="92191" tIns="45287" rIns="92191" bIns="45287"/>
          <a:lstStyle/>
          <a:p>
            <a:r>
              <a:rPr lang="en-US" dirty="0" smtClean="0"/>
              <a:t>Because the upper level is smaller and built using</a:t>
            </a:r>
            <a:r>
              <a:rPr lang="en-US" baseline="0" dirty="0" smtClean="0"/>
              <a:t> faster memory parts, its hit time will be much smaller than the time to access the next level in the hierarchy (which is the major component of the miss penalty).</a:t>
            </a:r>
            <a:endParaRPr lang="en-US" dirty="0"/>
          </a:p>
        </p:txBody>
      </p:sp>
      <p:sp>
        <p:nvSpPr>
          <p:cNvPr id="1092611" name="Rectangle 3"/>
          <p:cNvSpPr>
            <a:spLocks noGrp="1" noRot="1" noChangeAspect="1" noChangeArrowheads="1" noTextEdit="1"/>
          </p:cNvSpPr>
          <p:nvPr>
            <p:ph type="sldImg"/>
          </p:nvPr>
        </p:nvSpPr>
        <p:spPr>
          <a:xfrm>
            <a:off x="1195388" y="703263"/>
            <a:ext cx="4627562" cy="3471862"/>
          </a:xfrm>
          <a:ln cap="flat">
            <a:solidFill>
              <a:schemeClr val="tx1"/>
            </a:solidFill>
          </a:ln>
        </p:spPr>
      </p:sp>
    </p:spTree>
    <p:extLst>
      <p:ext uri="{BB962C8B-B14F-4D97-AF65-F5344CB8AC3E}">
        <p14:creationId xmlns:p14="http://schemas.microsoft.com/office/powerpoint/2010/main" val="1787627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8898" name="Rectangle 2"/>
          <p:cNvSpPr>
            <a:spLocks noGrp="1" noRot="1" noChangeAspect="1" noChangeArrowheads="1" noTextEdit="1"/>
          </p:cNvSpPr>
          <p:nvPr>
            <p:ph type="sldImg"/>
          </p:nvPr>
        </p:nvSpPr>
        <p:spPr>
          <a:xfrm>
            <a:off x="1196975" y="598488"/>
            <a:ext cx="4630738" cy="3473450"/>
          </a:xfrm>
        </p:spPr>
      </p:sp>
      <p:sp>
        <p:nvSpPr>
          <p:cNvPr id="1488899" name="Rectangle 3"/>
          <p:cNvSpPr>
            <a:spLocks noGrp="1" noChangeArrowheads="1"/>
          </p:cNvSpPr>
          <p:nvPr>
            <p:ph type="body" idx="1"/>
          </p:nvPr>
        </p:nvSpPr>
        <p:spPr>
          <a:xfrm>
            <a:off x="528007" y="4416108"/>
            <a:ext cx="6040268" cy="4180837"/>
          </a:xfrm>
          <a:ln/>
        </p:spPr>
        <p:txBody>
          <a:bodyPr lIns="93161" tIns="46580" rIns="93161" bIns="46580"/>
          <a:lstStyle/>
          <a:p>
            <a:r>
              <a:rPr lang="en-US"/>
              <a:t>Instead, the memory system of a modern computer consists of a series of black boxes ranging from the fastest to the slowest.</a:t>
            </a:r>
          </a:p>
          <a:p>
            <a:r>
              <a:rPr lang="en-US"/>
              <a:t>Besides variation in speed, these boxes also varies in size (smallest to biggest) and cost.</a:t>
            </a:r>
          </a:p>
          <a:p>
            <a:r>
              <a:rPr lang="en-US"/>
              <a:t>What makes this kind of arrangement work is one of the most important  principle in computer design.  The principle of locality. </a:t>
            </a:r>
            <a:r>
              <a:rPr lang="en-US">
                <a:cs typeface="Arial" charset="0"/>
              </a:rPr>
              <a:t>The principle of locality states that programs access a relatively small portion of the address space at  any instant of time.</a:t>
            </a:r>
            <a:endParaRPr lang="en-US"/>
          </a:p>
          <a:p>
            <a:endParaRPr lang="en-US"/>
          </a:p>
          <a:p>
            <a:r>
              <a:rPr lang="en-US"/>
              <a:t>The design goal is to present the user with as much memory as is available in the cheapest technology (points to the disk).</a:t>
            </a:r>
          </a:p>
          <a:p>
            <a:r>
              <a:rPr lang="en-US"/>
              <a:t>While by taking advantage of the principle of locality, we like to provide the user an average access speed that is very close to the speed that is offered by the fastest technology.</a:t>
            </a:r>
          </a:p>
          <a:p>
            <a:r>
              <a:rPr lang="en-US"/>
              <a:t>(We will go over this slide in detail in the next lectures on caches).</a:t>
            </a:r>
          </a:p>
          <a:p>
            <a:endParaRPr lang="en-US"/>
          </a:p>
        </p:txBody>
      </p:sp>
    </p:spTree>
    <p:extLst>
      <p:ext uri="{BB962C8B-B14F-4D97-AF65-F5344CB8AC3E}">
        <p14:creationId xmlns:p14="http://schemas.microsoft.com/office/powerpoint/2010/main" val="762634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8770" name="Rectangle 2"/>
          <p:cNvSpPr>
            <a:spLocks noGrp="1" noRot="1" noChangeAspect="1" noChangeArrowheads="1" noTextEdit="1"/>
          </p:cNvSpPr>
          <p:nvPr>
            <p:ph type="sldImg"/>
          </p:nvPr>
        </p:nvSpPr>
        <p:spPr/>
      </p:sp>
      <p:sp>
        <p:nvSpPr>
          <p:cNvPr id="1568771" name="Rectangle 3"/>
          <p:cNvSpPr>
            <a:spLocks noGrp="1" noChangeArrowheads="1"/>
          </p:cNvSpPr>
          <p:nvPr>
            <p:ph type="body" idx="1"/>
          </p:nvPr>
        </p:nvSpPr>
        <p:spPr>
          <a:ln/>
        </p:spPr>
        <p:txBody>
          <a:bodyPr/>
          <a:lstStyle/>
          <a:p>
            <a:r>
              <a:rPr lang="en-US"/>
              <a:t>Size comparison:  DRAM/SRAM is 4 to 8 times</a:t>
            </a:r>
          </a:p>
          <a:p>
            <a:r>
              <a:rPr lang="en-US"/>
              <a:t>Cost/cycle time comparison SRAM/DRAM is 8 to 16 times</a:t>
            </a:r>
          </a:p>
          <a:p>
            <a:r>
              <a:rPr lang="en-US"/>
              <a:t>Need output enable on SRAM because outputs are tri-stated (0, 1, high impedance)</a:t>
            </a:r>
          </a:p>
        </p:txBody>
      </p:sp>
    </p:spTree>
    <p:extLst>
      <p:ext uri="{BB962C8B-B14F-4D97-AF65-F5344CB8AC3E}">
        <p14:creationId xmlns:p14="http://schemas.microsoft.com/office/powerpoint/2010/main" val="18241713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6" name="Rectangle 2"/>
          <p:cNvSpPr>
            <a:spLocks noGrp="1" noChangeArrowheads="1"/>
          </p:cNvSpPr>
          <p:nvPr>
            <p:ph type="body" idx="1"/>
          </p:nvPr>
        </p:nvSpPr>
        <p:spPr>
          <a:xfrm>
            <a:off x="527403" y="4417404"/>
            <a:ext cx="6041601" cy="4181766"/>
          </a:xfrm>
          <a:noFill/>
          <a:ln>
            <a:noFill/>
          </a:ln>
        </p:spPr>
        <p:txBody>
          <a:bodyPr lIns="92192" tIns="45287" rIns="92192" bIns="45287"/>
          <a:lstStyle/>
          <a:p>
            <a:r>
              <a:rPr lang="en-US" dirty="0"/>
              <a:t>Put multiple words in one memory row – splits the decoder into two decoders (row and column) and makes the memory core square reducing the length of the bit lines (but increasing the length of the word lines).  The </a:t>
            </a:r>
            <a:r>
              <a:rPr lang="en-US" dirty="0" err="1"/>
              <a:t>lsb</a:t>
            </a:r>
            <a:r>
              <a:rPr lang="en-US" dirty="0"/>
              <a:t> part of the address goes into the column decoder (e.g., 6 bits so that 64 words are assigned to one row (with 32 bits per word gives 2**11 bit line pairs) leaving 14 bits for the row decoder (giving 2**14 word lines) for an not quite square array. This scheme is good only for up to 64 Kb to 256 Kb.  For bigger memories it is too SLOW because the word and bit lines are too long.</a:t>
            </a:r>
          </a:p>
          <a:p>
            <a:endParaRPr lang="en-US" dirty="0"/>
          </a:p>
          <a:p>
            <a:r>
              <a:rPr lang="en-US" dirty="0"/>
              <a:t>SRAM allows you to read an entire row out at a time at a word.</a:t>
            </a:r>
          </a:p>
          <a:p>
            <a:r>
              <a:rPr lang="en-US" dirty="0"/>
              <a:t>Each row control line is referred to as the word line and each vertical data  line is referred to as the bit line.</a:t>
            </a:r>
          </a:p>
        </p:txBody>
      </p:sp>
      <p:sp>
        <p:nvSpPr>
          <p:cNvPr id="1060867" name="Rectangle 3"/>
          <p:cNvSpPr>
            <a:spLocks noGrp="1" noRot="1" noChangeAspect="1" noChangeArrowheads="1" noTextEdit="1"/>
          </p:cNvSpPr>
          <p:nvPr>
            <p:ph type="sldImg"/>
          </p:nvPr>
        </p:nvSpPr>
        <p:spPr>
          <a:xfrm>
            <a:off x="1200150" y="598488"/>
            <a:ext cx="4627563" cy="3470275"/>
          </a:xfrm>
          <a:ln/>
        </p:spPr>
      </p:sp>
    </p:spTree>
    <p:extLst>
      <p:ext uri="{BB962C8B-B14F-4D97-AF65-F5344CB8AC3E}">
        <p14:creationId xmlns:p14="http://schemas.microsoft.com/office/powerpoint/2010/main" val="15099114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2450" name="Rectangle 2"/>
          <p:cNvSpPr>
            <a:spLocks noGrp="1" noChangeArrowheads="1"/>
          </p:cNvSpPr>
          <p:nvPr>
            <p:ph type="body" idx="1"/>
          </p:nvPr>
        </p:nvSpPr>
        <p:spPr>
          <a:xfrm>
            <a:off x="527910" y="4417634"/>
            <a:ext cx="6041297" cy="4180921"/>
          </a:xfrm>
          <a:noFill/>
          <a:ln>
            <a:noFill/>
          </a:ln>
        </p:spPr>
        <p:txBody>
          <a:bodyPr lIns="92191" tIns="45287" rIns="92191" bIns="45287"/>
          <a:lstStyle/>
          <a:p>
            <a:r>
              <a:rPr lang="en-US"/>
              <a:t>How does the memory hierarchy work?  Well it is rather simple, at least in principle.</a:t>
            </a:r>
          </a:p>
          <a:p>
            <a:r>
              <a:rPr lang="en-US"/>
              <a:t>In order to take advantage of the temporal locality, that is the locality in time, the memory hierarchy will keep those more recently accessed data items closer to the processor because chances are (points to the principle), the processor will access them again soon.</a:t>
            </a:r>
          </a:p>
          <a:p>
            <a:r>
              <a:rPr lang="en-US"/>
              <a:t>In order to take advantage of the spatial locality, not ONLY do we move the item that has just been accessed to the upper level, but we ALSO move the data items that are adjacent to it.</a:t>
            </a:r>
          </a:p>
          <a:p>
            <a:endParaRPr lang="en-US"/>
          </a:p>
          <a:p>
            <a:r>
              <a:rPr lang="en-US"/>
              <a:t>+1 = 15 min. (X:55)</a:t>
            </a:r>
          </a:p>
        </p:txBody>
      </p:sp>
      <p:sp>
        <p:nvSpPr>
          <p:cNvPr id="1512451" name="Rectangle 3"/>
          <p:cNvSpPr>
            <a:spLocks noGrp="1" noRot="1" noChangeAspect="1" noChangeArrowheads="1" noTextEdit="1"/>
          </p:cNvSpPr>
          <p:nvPr>
            <p:ph type="sldImg"/>
          </p:nvPr>
        </p:nvSpPr>
        <p:spPr>
          <a:xfrm>
            <a:off x="1203325" y="600075"/>
            <a:ext cx="4622800" cy="3468688"/>
          </a:xfrm>
          <a:ln/>
        </p:spPr>
      </p:sp>
    </p:spTree>
    <p:extLst>
      <p:ext uri="{BB962C8B-B14F-4D97-AF65-F5344CB8AC3E}">
        <p14:creationId xmlns:p14="http://schemas.microsoft.com/office/powerpoint/2010/main" val="1039058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610" name="Rectangle 2"/>
          <p:cNvSpPr>
            <a:spLocks noGrp="1" noChangeArrowheads="1"/>
          </p:cNvSpPr>
          <p:nvPr>
            <p:ph type="body" idx="1"/>
          </p:nvPr>
        </p:nvSpPr>
        <p:spPr>
          <a:xfrm>
            <a:off x="934112" y="4417634"/>
            <a:ext cx="5142177" cy="4180921"/>
          </a:xfrm>
          <a:ln>
            <a:noFill/>
          </a:ln>
        </p:spPr>
        <p:txBody>
          <a:bodyPr lIns="92191" tIns="45287" rIns="92191" bIns="45287"/>
          <a:lstStyle/>
          <a:p>
            <a:r>
              <a:rPr lang="en-US" dirty="0" smtClean="0"/>
              <a:t>Because the upper level is smaller and built using</a:t>
            </a:r>
            <a:r>
              <a:rPr lang="en-US" baseline="0" dirty="0" smtClean="0"/>
              <a:t> faster memory parts, its hit time will be much smaller than the time to access the next level in the hierarchy (which is the major component of the miss penalty).</a:t>
            </a:r>
            <a:endParaRPr lang="en-US" dirty="0"/>
          </a:p>
        </p:txBody>
      </p:sp>
      <p:sp>
        <p:nvSpPr>
          <p:cNvPr id="1092611" name="Rectangle 3"/>
          <p:cNvSpPr>
            <a:spLocks noGrp="1" noRot="1" noChangeAspect="1" noChangeArrowheads="1" noTextEdit="1"/>
          </p:cNvSpPr>
          <p:nvPr>
            <p:ph type="sldImg"/>
          </p:nvPr>
        </p:nvSpPr>
        <p:spPr>
          <a:xfrm>
            <a:off x="1195388" y="703263"/>
            <a:ext cx="4627562" cy="3471862"/>
          </a:xfrm>
          <a:ln cap="flat">
            <a:solidFill>
              <a:schemeClr val="tx1"/>
            </a:solidFill>
          </a:ln>
        </p:spPr>
      </p:sp>
    </p:spTree>
    <p:extLst>
      <p:ext uri="{BB962C8B-B14F-4D97-AF65-F5344CB8AC3E}">
        <p14:creationId xmlns:p14="http://schemas.microsoft.com/office/powerpoint/2010/main" val="841545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8898" name="Rectangle 2"/>
          <p:cNvSpPr>
            <a:spLocks noGrp="1" noRot="1" noChangeAspect="1" noChangeArrowheads="1" noTextEdit="1"/>
          </p:cNvSpPr>
          <p:nvPr>
            <p:ph type="sldImg"/>
          </p:nvPr>
        </p:nvSpPr>
        <p:spPr>
          <a:xfrm>
            <a:off x="1196975" y="598488"/>
            <a:ext cx="4630738" cy="3473450"/>
          </a:xfrm>
        </p:spPr>
      </p:sp>
      <p:sp>
        <p:nvSpPr>
          <p:cNvPr id="1488899" name="Rectangle 3"/>
          <p:cNvSpPr>
            <a:spLocks noGrp="1" noChangeArrowheads="1"/>
          </p:cNvSpPr>
          <p:nvPr>
            <p:ph type="body" idx="1"/>
          </p:nvPr>
        </p:nvSpPr>
        <p:spPr>
          <a:xfrm>
            <a:off x="528007" y="4416108"/>
            <a:ext cx="6040268" cy="4180837"/>
          </a:xfrm>
          <a:ln/>
        </p:spPr>
        <p:txBody>
          <a:bodyPr lIns="93161" tIns="46580" rIns="93161" bIns="46580"/>
          <a:lstStyle/>
          <a:p>
            <a:r>
              <a:rPr lang="en-US"/>
              <a:t>Instead, the memory system of a modern computer consists of a series of black boxes ranging from the fastest to the slowest.</a:t>
            </a:r>
          </a:p>
          <a:p>
            <a:r>
              <a:rPr lang="en-US"/>
              <a:t>Besides variation in speed, these boxes also varies in size (smallest to biggest) and cost.</a:t>
            </a:r>
          </a:p>
          <a:p>
            <a:r>
              <a:rPr lang="en-US"/>
              <a:t>What makes this kind of arrangement work is one of the most important  principle in computer design.  The principle of locality. </a:t>
            </a:r>
            <a:r>
              <a:rPr lang="en-US">
                <a:cs typeface="Arial" charset="0"/>
              </a:rPr>
              <a:t>The principle of locality states that programs access a relatively small portion of the address space at  any instant of time.</a:t>
            </a:r>
            <a:endParaRPr lang="en-US"/>
          </a:p>
          <a:p>
            <a:endParaRPr lang="en-US"/>
          </a:p>
          <a:p>
            <a:r>
              <a:rPr lang="en-US"/>
              <a:t>The design goal is to present the user with as much memory as is available in the cheapest technology (points to the disk).</a:t>
            </a:r>
          </a:p>
          <a:p>
            <a:r>
              <a:rPr lang="en-US"/>
              <a:t>While by taking advantage of the principle of locality, we like to provide the user an average access speed that is very close to the speed that is offered by the fastest technology.</a:t>
            </a:r>
          </a:p>
          <a:p>
            <a:r>
              <a:rPr lang="en-US"/>
              <a:t>(We will go over this slide in detail in the next lectures on caches).</a:t>
            </a:r>
          </a:p>
          <a:p>
            <a:endParaRPr lang="en-US"/>
          </a:p>
        </p:txBody>
      </p:sp>
    </p:spTree>
    <p:extLst>
      <p:ext uri="{BB962C8B-B14F-4D97-AF65-F5344CB8AC3E}">
        <p14:creationId xmlns:p14="http://schemas.microsoft.com/office/powerpoint/2010/main" val="2054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4498" name="Rectangle 2"/>
          <p:cNvSpPr>
            <a:spLocks noGrp="1" noChangeArrowheads="1"/>
          </p:cNvSpPr>
          <p:nvPr>
            <p:ph type="body" idx="1"/>
          </p:nvPr>
        </p:nvSpPr>
        <p:spPr>
          <a:xfrm>
            <a:off x="527910" y="4417634"/>
            <a:ext cx="6041297" cy="4180921"/>
          </a:xfrm>
          <a:noFill/>
          <a:ln>
            <a:noFill/>
          </a:ln>
        </p:spPr>
        <p:txBody>
          <a:bodyPr lIns="92191" tIns="45287" rIns="92191" bIns="45287"/>
          <a:lstStyle/>
          <a:p>
            <a:r>
              <a:rPr lang="en-US" dirty="0"/>
              <a:t>A HIT is when the data the processor wants to access is found in the upper level (</a:t>
            </a:r>
            <a:r>
              <a:rPr lang="en-US" dirty="0" err="1"/>
              <a:t>Blk</a:t>
            </a:r>
            <a:r>
              <a:rPr lang="en-US" dirty="0"/>
              <a:t> X).</a:t>
            </a:r>
          </a:p>
          <a:p>
            <a:r>
              <a:rPr lang="en-US" dirty="0"/>
              <a:t>The fraction of the memory access that are HIT is defined as HIT rate.</a:t>
            </a:r>
          </a:p>
          <a:p>
            <a:r>
              <a:rPr lang="en-US" dirty="0"/>
              <a:t>HIT Time is the time to access the Upper Level where the data is found (X).  It consists of:</a:t>
            </a:r>
          </a:p>
          <a:p>
            <a:r>
              <a:rPr lang="en-US" dirty="0"/>
              <a:t>(a) Time to access this level.</a:t>
            </a:r>
          </a:p>
          <a:p>
            <a:r>
              <a:rPr lang="en-US" dirty="0"/>
              <a:t>(b) AND the time to determine if this is a Hit or Miss.</a:t>
            </a:r>
          </a:p>
          <a:p>
            <a:r>
              <a:rPr lang="en-US" dirty="0"/>
              <a:t>If the data the processor wants cannot be found in the Upper level.  Then we have a miss and we need to retrieve the data (</a:t>
            </a:r>
            <a:r>
              <a:rPr lang="en-US" dirty="0" err="1"/>
              <a:t>Blk</a:t>
            </a:r>
            <a:r>
              <a:rPr lang="en-US" dirty="0"/>
              <a:t> Y) from the lower level.</a:t>
            </a:r>
          </a:p>
          <a:p>
            <a:r>
              <a:rPr lang="en-US" dirty="0"/>
              <a:t>By definition (definition of Hit: Fraction), the miss rate is just 1 minus the hit rate.</a:t>
            </a:r>
          </a:p>
          <a:p>
            <a:r>
              <a:rPr lang="en-US" dirty="0"/>
              <a:t>This miss penalty also consists of two parts:</a:t>
            </a:r>
          </a:p>
          <a:p>
            <a:r>
              <a:rPr lang="en-US" dirty="0"/>
              <a:t>(a) The time it takes to replace a block (</a:t>
            </a:r>
            <a:r>
              <a:rPr lang="en-US" dirty="0" err="1"/>
              <a:t>Blk</a:t>
            </a:r>
            <a:r>
              <a:rPr lang="en-US" dirty="0"/>
              <a:t> Y to </a:t>
            </a:r>
            <a:r>
              <a:rPr lang="en-US" dirty="0" err="1"/>
              <a:t>BlkX</a:t>
            </a:r>
            <a:r>
              <a:rPr lang="en-US" dirty="0"/>
              <a:t>) in the upper level.</a:t>
            </a:r>
          </a:p>
          <a:p>
            <a:r>
              <a:rPr lang="en-US" dirty="0"/>
              <a:t>(b) And then the time it takes to deliver this new block to the processor.</a:t>
            </a:r>
          </a:p>
          <a:p>
            <a:r>
              <a:rPr lang="en-US" dirty="0"/>
              <a:t>It is very important that your Hit Time to be much </a:t>
            </a:r>
            <a:r>
              <a:rPr lang="en-US" dirty="0" err="1"/>
              <a:t>much</a:t>
            </a:r>
            <a:r>
              <a:rPr lang="en-US" dirty="0"/>
              <a:t> smaller than your miss penalty.  Otherwise, there will be no reason to build a memory hierarchy.</a:t>
            </a:r>
          </a:p>
          <a:p>
            <a:endParaRPr lang="en-US" dirty="0"/>
          </a:p>
        </p:txBody>
      </p:sp>
      <p:sp>
        <p:nvSpPr>
          <p:cNvPr id="1514499" name="Rectangle 3"/>
          <p:cNvSpPr>
            <a:spLocks noGrp="1" noRot="1" noChangeAspect="1" noChangeArrowheads="1" noTextEdit="1"/>
          </p:cNvSpPr>
          <p:nvPr>
            <p:ph type="sldImg"/>
          </p:nvPr>
        </p:nvSpPr>
        <p:spPr>
          <a:xfrm>
            <a:off x="1203325" y="600075"/>
            <a:ext cx="4622800" cy="3468688"/>
          </a:xfrm>
          <a:ln/>
        </p:spPr>
      </p:sp>
    </p:spTree>
    <p:extLst>
      <p:ext uri="{BB962C8B-B14F-4D97-AF65-F5344CB8AC3E}">
        <p14:creationId xmlns:p14="http://schemas.microsoft.com/office/powerpoint/2010/main" val="19433676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1298" name="Rectangle 2"/>
          <p:cNvSpPr>
            <a:spLocks noGrp="1" noChangeArrowheads="1"/>
          </p:cNvSpPr>
          <p:nvPr>
            <p:ph type="body" idx="1"/>
          </p:nvPr>
        </p:nvSpPr>
        <p:spPr>
          <a:xfrm>
            <a:off x="934112" y="4417635"/>
            <a:ext cx="5142177" cy="4182458"/>
          </a:xfrm>
          <a:ln>
            <a:noFill/>
          </a:ln>
        </p:spPr>
        <p:txBody>
          <a:bodyPr lIns="94678" tIns="46508" rIns="94678" bIns="46508"/>
          <a:lstStyle/>
          <a:p>
            <a:endParaRPr lang="en-US"/>
          </a:p>
        </p:txBody>
      </p:sp>
      <p:sp>
        <p:nvSpPr>
          <p:cNvPr id="1591299" name="Rectangle 3"/>
          <p:cNvSpPr>
            <a:spLocks noGrp="1" noRot="1" noChangeAspect="1" noChangeArrowheads="1" noTextEdit="1"/>
          </p:cNvSpPr>
          <p:nvPr>
            <p:ph type="sldImg"/>
          </p:nvPr>
        </p:nvSpPr>
        <p:spPr>
          <a:xfrm>
            <a:off x="1195388" y="703263"/>
            <a:ext cx="4627562" cy="3471862"/>
          </a:xfrm>
          <a:ln cap="flat">
            <a:solidFill>
              <a:schemeClr val="tx1"/>
            </a:solidFill>
          </a:ln>
        </p:spPr>
      </p:sp>
    </p:spTree>
    <p:extLst>
      <p:ext uri="{BB962C8B-B14F-4D97-AF65-F5344CB8AC3E}">
        <p14:creationId xmlns:p14="http://schemas.microsoft.com/office/powerpoint/2010/main" val="3815660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3346" name="Rectangle 2"/>
          <p:cNvSpPr>
            <a:spLocks noGrp="1" noRot="1" noChangeAspect="1" noChangeArrowheads="1" noTextEdit="1"/>
          </p:cNvSpPr>
          <p:nvPr>
            <p:ph type="sldImg"/>
          </p:nvPr>
        </p:nvSpPr>
        <p:spPr>
          <a:xfrm>
            <a:off x="1200150" y="596900"/>
            <a:ext cx="4630738" cy="3473450"/>
          </a:xfrm>
        </p:spPr>
      </p:sp>
      <p:sp>
        <p:nvSpPr>
          <p:cNvPr id="1593347" name="Rectangle 3"/>
          <p:cNvSpPr>
            <a:spLocks noGrp="1" noChangeArrowheads="1"/>
          </p:cNvSpPr>
          <p:nvPr>
            <p:ph type="body" idx="1"/>
          </p:nvPr>
        </p:nvSpPr>
        <p:spPr>
          <a:xfrm>
            <a:off x="527910" y="4416099"/>
            <a:ext cx="6041297" cy="4182457"/>
          </a:xfrm>
          <a:ln/>
        </p:spPr>
        <p:txBody>
          <a:bodyPr lIns="93162" tIns="46580" rIns="93162" bIns="46580"/>
          <a:lstStyle/>
          <a:p>
            <a:r>
              <a:rPr lang="en-US"/>
              <a:t>For class handout</a:t>
            </a:r>
          </a:p>
        </p:txBody>
      </p:sp>
    </p:spTree>
    <p:extLst>
      <p:ext uri="{BB962C8B-B14F-4D97-AF65-F5344CB8AC3E}">
        <p14:creationId xmlns:p14="http://schemas.microsoft.com/office/powerpoint/2010/main" val="8140306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4" name="Rectangle 2"/>
          <p:cNvSpPr>
            <a:spLocks noGrp="1" noRot="1" noChangeAspect="1" noChangeArrowheads="1" noTextEdit="1"/>
          </p:cNvSpPr>
          <p:nvPr>
            <p:ph type="sldImg"/>
          </p:nvPr>
        </p:nvSpPr>
        <p:spPr>
          <a:xfrm>
            <a:off x="1200150" y="596900"/>
            <a:ext cx="4630738" cy="3473450"/>
          </a:xfrm>
        </p:spPr>
      </p:sp>
      <p:sp>
        <p:nvSpPr>
          <p:cNvPr id="1661955" name="Rectangle 3"/>
          <p:cNvSpPr>
            <a:spLocks noGrp="1" noChangeArrowheads="1"/>
          </p:cNvSpPr>
          <p:nvPr>
            <p:ph type="body" idx="1"/>
          </p:nvPr>
        </p:nvSpPr>
        <p:spPr>
          <a:xfrm>
            <a:off x="527910" y="4416099"/>
            <a:ext cx="6041297" cy="4182457"/>
          </a:xfrm>
          <a:ln/>
        </p:spPr>
        <p:txBody>
          <a:bodyPr lIns="93162" tIns="46580" rIns="93162" bIns="46580"/>
          <a:lstStyle/>
          <a:p>
            <a:r>
              <a:rPr lang="en-US"/>
              <a:t>For lecture</a:t>
            </a:r>
          </a:p>
          <a:p>
            <a:r>
              <a:rPr lang="en-US"/>
              <a:t>Valid bit indicates whether an entry contains valid information – if the bit is not set, there cannot be a match for this block</a:t>
            </a:r>
          </a:p>
        </p:txBody>
      </p:sp>
    </p:spTree>
    <p:extLst>
      <p:ext uri="{BB962C8B-B14F-4D97-AF65-F5344CB8AC3E}">
        <p14:creationId xmlns:p14="http://schemas.microsoft.com/office/powerpoint/2010/main" val="1350036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5394" name="Rectangle 2"/>
          <p:cNvSpPr>
            <a:spLocks noGrp="1" noRot="1" noChangeAspect="1" noChangeArrowheads="1" noTextEdit="1"/>
          </p:cNvSpPr>
          <p:nvPr>
            <p:ph type="sldImg"/>
          </p:nvPr>
        </p:nvSpPr>
        <p:spPr>
          <a:xfrm>
            <a:off x="1200150" y="596900"/>
            <a:ext cx="4630738" cy="3473450"/>
          </a:xfrm>
        </p:spPr>
      </p:sp>
      <p:sp>
        <p:nvSpPr>
          <p:cNvPr id="1595395" name="Rectangle 3"/>
          <p:cNvSpPr>
            <a:spLocks noGrp="1" noChangeArrowheads="1"/>
          </p:cNvSpPr>
          <p:nvPr>
            <p:ph type="body" idx="1"/>
          </p:nvPr>
        </p:nvSpPr>
        <p:spPr>
          <a:xfrm>
            <a:off x="527910" y="4416099"/>
            <a:ext cx="6041297" cy="4182457"/>
          </a:xfrm>
          <a:ln/>
        </p:spPr>
        <p:txBody>
          <a:bodyPr lIns="93162" tIns="46580" rIns="93162" bIns="46580"/>
          <a:lstStyle/>
          <a:p>
            <a:r>
              <a:rPr lang="en-US"/>
              <a:t>For class handout</a:t>
            </a:r>
          </a:p>
        </p:txBody>
      </p:sp>
    </p:spTree>
    <p:extLst>
      <p:ext uri="{BB962C8B-B14F-4D97-AF65-F5344CB8AC3E}">
        <p14:creationId xmlns:p14="http://schemas.microsoft.com/office/powerpoint/2010/main" val="1232282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42" name="Rectangle 2"/>
          <p:cNvSpPr>
            <a:spLocks noGrp="1" noRot="1" noChangeAspect="1" noChangeArrowheads="1" noTextEdit="1"/>
          </p:cNvSpPr>
          <p:nvPr>
            <p:ph type="sldImg"/>
          </p:nvPr>
        </p:nvSpPr>
        <p:spPr>
          <a:xfrm>
            <a:off x="1200150" y="596900"/>
            <a:ext cx="4630738" cy="3473450"/>
          </a:xfrm>
        </p:spPr>
      </p:sp>
      <p:sp>
        <p:nvSpPr>
          <p:cNvPr id="1597443" name="Rectangle 3"/>
          <p:cNvSpPr>
            <a:spLocks noGrp="1" noChangeArrowheads="1"/>
          </p:cNvSpPr>
          <p:nvPr>
            <p:ph type="body" idx="1"/>
          </p:nvPr>
        </p:nvSpPr>
        <p:spPr>
          <a:xfrm>
            <a:off x="527910" y="4416099"/>
            <a:ext cx="6041297" cy="4182457"/>
          </a:xfrm>
          <a:ln/>
        </p:spPr>
        <p:txBody>
          <a:bodyPr lIns="93162" tIns="46580" rIns="93162" bIns="46580"/>
          <a:lstStyle/>
          <a:p>
            <a:r>
              <a:rPr lang="en-US" dirty="0"/>
              <a:t>For </a:t>
            </a:r>
            <a:r>
              <a:rPr lang="en-US" dirty="0" smtClean="0"/>
              <a:t>lecture</a:t>
            </a:r>
          </a:p>
          <a:p>
            <a:r>
              <a:rPr lang="en-US" dirty="0" smtClean="0"/>
              <a:t>Reference</a:t>
            </a:r>
            <a:r>
              <a:rPr lang="en-US" baseline="0" dirty="0" smtClean="0"/>
              <a:t> string is word addresses (or block number since we are using one word blocks) – i.e., the low order two bits used to selected the byte in the 32-bit word are ignored</a:t>
            </a:r>
            <a:endParaRPr lang="en-US" dirty="0"/>
          </a:p>
        </p:txBody>
      </p:sp>
    </p:spTree>
    <p:extLst>
      <p:ext uri="{BB962C8B-B14F-4D97-AF65-F5344CB8AC3E}">
        <p14:creationId xmlns:p14="http://schemas.microsoft.com/office/powerpoint/2010/main" val="3837071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5634" name="Rectangle 2"/>
          <p:cNvSpPr>
            <a:spLocks noGrp="1" noChangeArrowheads="1"/>
          </p:cNvSpPr>
          <p:nvPr>
            <p:ph type="body" idx="1"/>
          </p:nvPr>
        </p:nvSpPr>
        <p:spPr>
          <a:xfrm>
            <a:off x="934112" y="4417635"/>
            <a:ext cx="5142177" cy="4182458"/>
          </a:xfrm>
          <a:noFill/>
          <a:ln>
            <a:noFill/>
          </a:ln>
        </p:spPr>
        <p:txBody>
          <a:bodyPr lIns="94678" tIns="46508" rIns="94678" bIns="46508"/>
          <a:lstStyle/>
          <a:p>
            <a:r>
              <a:rPr lang="en-US" dirty="0"/>
              <a:t>Let’s use a specific example with realistic numbers: assume we have a 1 K word (4Kbyte) direct mapped cache with block size equals to 4 bytes (1 word).</a:t>
            </a:r>
          </a:p>
          <a:p>
            <a:r>
              <a:rPr lang="en-US" dirty="0"/>
              <a:t>In other words, each block associated with the cache tag will have 4 bytes in it (Row 1).</a:t>
            </a:r>
          </a:p>
          <a:p>
            <a:r>
              <a:rPr lang="en-US" dirty="0"/>
              <a:t>With Block Size equals to 4 bytes, the 2 least significant bits of the address will be used as byte select within the cache block.</a:t>
            </a:r>
          </a:p>
          <a:p>
            <a:r>
              <a:rPr lang="en-US" dirty="0"/>
              <a:t>Since the cache size is 1K word, the upper 32 minus 10+2 bits, or 20 bits of the address will be stored as cache tag.</a:t>
            </a:r>
          </a:p>
          <a:p>
            <a:r>
              <a:rPr lang="en-US" dirty="0"/>
              <a:t>The rest of the (10) address bits in the middle, that is bit 2 through 11, will be used as Cache Index to select the proper cache entry</a:t>
            </a:r>
          </a:p>
          <a:p>
            <a:endParaRPr lang="en-US" dirty="0"/>
          </a:p>
          <a:p>
            <a:r>
              <a:rPr lang="en-US" dirty="0"/>
              <a:t>Temporal!</a:t>
            </a:r>
          </a:p>
        </p:txBody>
      </p:sp>
      <p:sp>
        <p:nvSpPr>
          <p:cNvPr id="1605635" name="Rectangle 3"/>
          <p:cNvSpPr>
            <a:spLocks noGrp="1" noRot="1" noChangeAspect="1" noChangeArrowheads="1" noTextEdit="1"/>
          </p:cNvSpPr>
          <p:nvPr>
            <p:ph type="sldImg"/>
          </p:nvPr>
        </p:nvSpPr>
        <p:spPr>
          <a:xfrm>
            <a:off x="1195388" y="703263"/>
            <a:ext cx="4627562" cy="3471862"/>
          </a:xfrm>
          <a:ln cap="flat">
            <a:solidFill>
              <a:schemeClr val="tx1"/>
            </a:solidFill>
          </a:ln>
        </p:spPr>
      </p:sp>
    </p:spTree>
    <p:extLst>
      <p:ext uri="{BB962C8B-B14F-4D97-AF65-F5344CB8AC3E}">
        <p14:creationId xmlns:p14="http://schemas.microsoft.com/office/powerpoint/2010/main" val="4335673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tag field is 32 – (n+m+2)</a:t>
            </a:r>
          </a:p>
          <a:p>
            <a:endParaRPr lang="en-US" dirty="0" smtClean="0"/>
          </a:p>
          <a:p>
            <a:r>
              <a:rPr lang="en-US" dirty="0" smtClean="0"/>
              <a:t>16KB is 4K (2^12 words).  With a block size of 4 words, there are 1024 (2^10)</a:t>
            </a:r>
            <a:r>
              <a:rPr lang="en-US" baseline="0" dirty="0" smtClean="0"/>
              <a:t> blocks.  Each block has 4x32 or 128 bits of data plus a tag which is 32 – 10 -2 – 2 bits, plus a valid bit.  So the total cache size is</a:t>
            </a:r>
          </a:p>
          <a:p>
            <a:r>
              <a:rPr lang="en-US" baseline="0" dirty="0" smtClean="0"/>
              <a:t>2^10 x (4x32 +18 + 1) = 2^10 x 147 = 147Kbits (or about 1.15 times as many as needed just for storage of the data).</a:t>
            </a:r>
            <a:endParaRPr lang="en-US" dirty="0"/>
          </a:p>
        </p:txBody>
      </p:sp>
    </p:spTree>
    <p:extLst>
      <p:ext uri="{BB962C8B-B14F-4D97-AF65-F5344CB8AC3E}">
        <p14:creationId xmlns:p14="http://schemas.microsoft.com/office/powerpoint/2010/main" val="7224746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8706" name="Rectangle 2"/>
          <p:cNvSpPr>
            <a:spLocks noGrp="1" noChangeArrowheads="1"/>
          </p:cNvSpPr>
          <p:nvPr>
            <p:ph type="body" idx="1"/>
          </p:nvPr>
        </p:nvSpPr>
        <p:spPr>
          <a:xfrm>
            <a:off x="934112" y="4417635"/>
            <a:ext cx="5142177" cy="4182458"/>
          </a:xfrm>
          <a:ln>
            <a:noFill/>
          </a:ln>
        </p:spPr>
        <p:txBody>
          <a:bodyPr lIns="94678" tIns="46508" rIns="94678" bIns="46508"/>
          <a:lstStyle/>
          <a:p>
            <a:r>
              <a:rPr lang="en-US" dirty="0" smtClean="0"/>
              <a:t>In</a:t>
            </a:r>
            <a:r>
              <a:rPr lang="en-US" baseline="0" dirty="0" smtClean="0"/>
              <a:t> a write-back cache, because we cannot overwrite the block (since we may not have a backup copy anywhere), stores either require two cycles (one to check for a hit, followed by one to actually do the write) or require a write buffer to hold that data (essentially pipelining the write).</a:t>
            </a:r>
          </a:p>
          <a:p>
            <a:endParaRPr lang="en-US" baseline="0" dirty="0" smtClean="0"/>
          </a:p>
          <a:p>
            <a:r>
              <a:rPr lang="en-US" baseline="0" dirty="0" smtClean="0"/>
              <a:t>By comparison, a write-through cache can always be done in one cycle assuming there is room in the write buffer.  Read the tag and write the data in parallel.  If the tag doesn’t match, the generate a write miss to fetch the rest of that block from the next level in the hierarchy (and update the tag field).</a:t>
            </a:r>
            <a:endParaRPr lang="en-US" dirty="0"/>
          </a:p>
        </p:txBody>
      </p:sp>
      <p:sp>
        <p:nvSpPr>
          <p:cNvPr id="1608707" name="Rectangle 3"/>
          <p:cNvSpPr>
            <a:spLocks noGrp="1" noRot="1" noChangeAspect="1" noChangeArrowheads="1" noTextEdit="1"/>
          </p:cNvSpPr>
          <p:nvPr>
            <p:ph type="sldImg"/>
          </p:nvPr>
        </p:nvSpPr>
        <p:spPr>
          <a:xfrm>
            <a:off x="1195388" y="703263"/>
            <a:ext cx="4627562" cy="3471862"/>
          </a:xfrm>
          <a:ln cap="flat">
            <a:solidFill>
              <a:schemeClr val="tx1"/>
            </a:solidFill>
          </a:ln>
        </p:spPr>
      </p:sp>
    </p:spTree>
    <p:extLst>
      <p:ext uri="{BB962C8B-B14F-4D97-AF65-F5344CB8AC3E}">
        <p14:creationId xmlns:p14="http://schemas.microsoft.com/office/powerpoint/2010/main" val="1478969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3586" name="Rectangle 2"/>
          <p:cNvSpPr>
            <a:spLocks noGrp="1" noChangeArrowheads="1"/>
          </p:cNvSpPr>
          <p:nvPr>
            <p:ph type="body" idx="1"/>
          </p:nvPr>
        </p:nvSpPr>
        <p:spPr>
          <a:xfrm>
            <a:off x="527910" y="4417635"/>
            <a:ext cx="6041297" cy="4182458"/>
          </a:xfrm>
          <a:noFill/>
          <a:ln>
            <a:noFill/>
          </a:ln>
        </p:spPr>
        <p:txBody>
          <a:bodyPr lIns="94678" tIns="46508" rIns="94678" bIns="46508"/>
          <a:lstStyle/>
          <a:p>
            <a:r>
              <a:rPr lang="en-US" dirty="0"/>
              <a:t>(Capacity miss) That is the cache misses are due to the fact that the cache is simply not large enough to contain all the blocks that are accessed by the program.</a:t>
            </a:r>
          </a:p>
          <a:p>
            <a:r>
              <a:rPr lang="en-US" dirty="0"/>
              <a:t>The solution to reduce the Capacity miss rate is simple: increase the cache size.</a:t>
            </a:r>
          </a:p>
          <a:p>
            <a:r>
              <a:rPr lang="en-US" dirty="0"/>
              <a:t>Here is a summary of other types of cache miss we talked about.</a:t>
            </a:r>
          </a:p>
          <a:p>
            <a:r>
              <a:rPr lang="en-US" dirty="0"/>
              <a:t>First is the Compulsory misses. These are the misses that we cannot avoid.  They are caused when we first start the program.</a:t>
            </a:r>
          </a:p>
          <a:p>
            <a:r>
              <a:rPr lang="en-US" dirty="0"/>
              <a:t>Then we talked about the conflict misses.  They are the misses that caused by multiple memory locations being mapped to the same cache location.</a:t>
            </a:r>
          </a:p>
          <a:p>
            <a:r>
              <a:rPr lang="en-US" dirty="0"/>
              <a:t>There are two solutions to reduce conflict misses.  The first one is, once again, increase the cache size.  The second one is to increase the </a:t>
            </a:r>
            <a:r>
              <a:rPr lang="en-US" dirty="0" err="1"/>
              <a:t>associativity</a:t>
            </a:r>
            <a:r>
              <a:rPr lang="en-US" dirty="0"/>
              <a:t>.</a:t>
            </a:r>
          </a:p>
          <a:p>
            <a:r>
              <a:rPr lang="en-US" dirty="0"/>
              <a:t>For example, say using a 2-way set associative cache instead of directed mapped cache.</a:t>
            </a:r>
          </a:p>
          <a:p>
            <a:r>
              <a:rPr lang="en-US" dirty="0"/>
              <a:t>But keep in mind that cache miss rate is only one part of the equation.  You also have to worry about cache access time and miss penalty.  Do NOT optimize miss rate alone.</a:t>
            </a:r>
          </a:p>
          <a:p>
            <a:r>
              <a:rPr lang="en-US" dirty="0"/>
              <a:t>Finally, there is another source of cache miss we will not cover today.  Those are referred to as invalidation misses caused by another process, such as IO , update the main memory so you have to flush the cache to avoid inconsistency between memory and cache.</a:t>
            </a:r>
          </a:p>
          <a:p>
            <a:endParaRPr lang="en-US" dirty="0"/>
          </a:p>
          <a:p>
            <a:r>
              <a:rPr lang="en-US" dirty="0"/>
              <a:t>+2 = 43 min. (Y:23)</a:t>
            </a:r>
          </a:p>
        </p:txBody>
      </p:sp>
      <p:sp>
        <p:nvSpPr>
          <p:cNvPr id="1603587" name="Rectangle 3"/>
          <p:cNvSpPr>
            <a:spLocks noGrp="1" noRot="1" noChangeAspect="1" noChangeArrowheads="1" noTextEdit="1"/>
          </p:cNvSpPr>
          <p:nvPr>
            <p:ph type="sldImg"/>
          </p:nvPr>
        </p:nvSpPr>
        <p:spPr>
          <a:xfrm>
            <a:off x="1203325" y="600075"/>
            <a:ext cx="4622800" cy="3468688"/>
          </a:xfrm>
          <a:ln/>
        </p:spPr>
      </p:sp>
    </p:spTree>
    <p:extLst>
      <p:ext uri="{BB962C8B-B14F-4D97-AF65-F5344CB8AC3E}">
        <p14:creationId xmlns:p14="http://schemas.microsoft.com/office/powerpoint/2010/main" val="13098821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5874" name="Rectangle 2"/>
          <p:cNvSpPr>
            <a:spLocks noGrp="1" noRot="1" noChangeAspect="1" noChangeArrowheads="1" noTextEdit="1"/>
          </p:cNvSpPr>
          <p:nvPr>
            <p:ph type="sldImg"/>
          </p:nvPr>
        </p:nvSpPr>
        <p:spPr>
          <a:xfrm>
            <a:off x="1200150" y="596900"/>
            <a:ext cx="4630738" cy="3473450"/>
          </a:xfrm>
        </p:spPr>
      </p:sp>
      <p:sp>
        <p:nvSpPr>
          <p:cNvPr id="1615875" name="Rectangle 3"/>
          <p:cNvSpPr>
            <a:spLocks noGrp="1" noChangeArrowheads="1"/>
          </p:cNvSpPr>
          <p:nvPr>
            <p:ph type="body" idx="1"/>
          </p:nvPr>
        </p:nvSpPr>
        <p:spPr>
          <a:xfrm>
            <a:off x="527910" y="4416099"/>
            <a:ext cx="6041297" cy="4182457"/>
          </a:xfrm>
          <a:ln/>
        </p:spPr>
        <p:txBody>
          <a:bodyPr lIns="93162" tIns="46580" rIns="93162" bIns="46580"/>
          <a:lstStyle/>
          <a:p>
            <a:r>
              <a:rPr lang="en-US"/>
              <a:t>For class handout</a:t>
            </a:r>
          </a:p>
        </p:txBody>
      </p:sp>
    </p:spTree>
    <p:extLst>
      <p:ext uri="{BB962C8B-B14F-4D97-AF65-F5344CB8AC3E}">
        <p14:creationId xmlns:p14="http://schemas.microsoft.com/office/powerpoint/2010/main" val="21465762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22" name="Rectangle 2"/>
          <p:cNvSpPr>
            <a:spLocks noGrp="1" noRot="1" noChangeAspect="1" noChangeArrowheads="1" noTextEdit="1"/>
          </p:cNvSpPr>
          <p:nvPr>
            <p:ph type="sldImg"/>
          </p:nvPr>
        </p:nvSpPr>
        <p:spPr>
          <a:xfrm>
            <a:off x="1200150" y="596900"/>
            <a:ext cx="4630738" cy="3473450"/>
          </a:xfrm>
        </p:spPr>
      </p:sp>
      <p:sp>
        <p:nvSpPr>
          <p:cNvPr id="1617923" name="Rectangle 3"/>
          <p:cNvSpPr>
            <a:spLocks noGrp="1" noChangeArrowheads="1"/>
          </p:cNvSpPr>
          <p:nvPr>
            <p:ph type="body" idx="1"/>
          </p:nvPr>
        </p:nvSpPr>
        <p:spPr>
          <a:xfrm>
            <a:off x="527910" y="4416099"/>
            <a:ext cx="6041297" cy="4182457"/>
          </a:xfrm>
          <a:ln/>
        </p:spPr>
        <p:txBody>
          <a:bodyPr lIns="93162" tIns="46580" rIns="93162" bIns="46580"/>
          <a:lstStyle/>
          <a:p>
            <a:r>
              <a:rPr lang="en-US" dirty="0"/>
              <a:t>For </a:t>
            </a:r>
            <a:r>
              <a:rPr lang="en-US" dirty="0" smtClean="0"/>
              <a:t>lecture</a:t>
            </a:r>
          </a:p>
          <a:p>
            <a:r>
              <a:rPr lang="en-US" dirty="0" smtClean="0"/>
              <a:t>Show the 4-bi</a:t>
            </a:r>
            <a:r>
              <a:rPr lang="en-US" baseline="0" dirty="0" smtClean="0"/>
              <a:t>t address mapping – 2-bits of tag, 1-bit of set address (index), 1-bit of word-in-block select</a:t>
            </a:r>
            <a:endParaRPr lang="en-US" dirty="0"/>
          </a:p>
        </p:txBody>
      </p:sp>
    </p:spTree>
    <p:extLst>
      <p:ext uri="{BB962C8B-B14F-4D97-AF65-F5344CB8AC3E}">
        <p14:creationId xmlns:p14="http://schemas.microsoft.com/office/powerpoint/2010/main" val="17648281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9970" name="Rectangle 2"/>
          <p:cNvSpPr>
            <a:spLocks noGrp="1" noChangeArrowheads="1"/>
          </p:cNvSpPr>
          <p:nvPr>
            <p:ph type="body" idx="1"/>
          </p:nvPr>
        </p:nvSpPr>
        <p:spPr>
          <a:xfrm>
            <a:off x="934112" y="4417635"/>
            <a:ext cx="5142177" cy="4182458"/>
          </a:xfrm>
          <a:noFill/>
          <a:ln>
            <a:noFill/>
          </a:ln>
        </p:spPr>
        <p:txBody>
          <a:bodyPr lIns="94678" tIns="46508" rIns="94678" bIns="46508"/>
          <a:lstStyle/>
          <a:p>
            <a:r>
              <a:rPr lang="en-US" dirty="0"/>
              <a:t>to take advantage for spatial locality want a cache block that is larger than word </a:t>
            </a:r>
            <a:r>
              <a:rPr lang="en-US" dirty="0" err="1"/>
              <a:t>word</a:t>
            </a:r>
            <a:r>
              <a:rPr lang="en-US" dirty="0"/>
              <a:t> in size</a:t>
            </a:r>
            <a:r>
              <a:rPr lang="en-US" dirty="0" smtClean="0"/>
              <a:t>.</a:t>
            </a:r>
          </a:p>
          <a:p>
            <a:endParaRPr lang="en-US" dirty="0" smtClean="0"/>
          </a:p>
          <a:p>
            <a:r>
              <a:rPr lang="en-US" smtClean="0"/>
              <a:t>Talk </a:t>
            </a:r>
            <a:r>
              <a:rPr lang="en-US" dirty="0" smtClean="0"/>
              <a:t>about the total number of bits for a direct-mapped</a:t>
            </a:r>
            <a:r>
              <a:rPr lang="en-US" baseline="0" dirty="0" smtClean="0"/>
              <a:t> cache.</a:t>
            </a:r>
          </a:p>
          <a:p>
            <a:r>
              <a:rPr lang="en-US" baseline="0" dirty="0" smtClean="0"/>
              <a:t>Let the cache has 2^n blocks.</a:t>
            </a:r>
          </a:p>
          <a:p>
            <a:r>
              <a:rPr lang="en-US" baseline="0" dirty="0" smtClean="0"/>
              <a:t>Then the total number of bits = 2^n (block size + Tag Size + Valid bit)</a:t>
            </a:r>
          </a:p>
          <a:p>
            <a:endParaRPr lang="en-US" dirty="0"/>
          </a:p>
        </p:txBody>
      </p:sp>
      <p:sp>
        <p:nvSpPr>
          <p:cNvPr id="1619971" name="Rectangle 3"/>
          <p:cNvSpPr>
            <a:spLocks noGrp="1" noRot="1" noChangeAspect="1" noChangeArrowheads="1" noTextEdit="1"/>
          </p:cNvSpPr>
          <p:nvPr>
            <p:ph type="sldImg"/>
          </p:nvPr>
        </p:nvSpPr>
        <p:spPr>
          <a:xfrm>
            <a:off x="1195388" y="703263"/>
            <a:ext cx="4627562" cy="3471862"/>
          </a:xfrm>
          <a:ln cap="flat">
            <a:solidFill>
              <a:schemeClr val="tx1"/>
            </a:solidFill>
          </a:ln>
        </p:spPr>
      </p:sp>
    </p:spTree>
    <p:extLst>
      <p:ext uri="{BB962C8B-B14F-4D97-AF65-F5344CB8AC3E}">
        <p14:creationId xmlns:p14="http://schemas.microsoft.com/office/powerpoint/2010/main" val="2542446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Increasing</a:t>
            </a:r>
            <a:r>
              <a:rPr lang="en-US" baseline="0" dirty="0" smtClean="0"/>
              <a:t> the block size usually decreases the miss rate.</a:t>
            </a:r>
          </a:p>
          <a:p>
            <a:r>
              <a:rPr lang="en-US" baseline="0" dirty="0" smtClean="0"/>
              <a:t>A more serious problem is that the miss penalty goes up since it is primarily determined by the time to fetch the block from the next lower level of the hierarchy and load it into the cache.</a:t>
            </a:r>
            <a:endParaRPr lang="en-US" dirty="0"/>
          </a:p>
        </p:txBody>
      </p:sp>
    </p:spTree>
    <p:extLst>
      <p:ext uri="{BB962C8B-B14F-4D97-AF65-F5344CB8AC3E}">
        <p14:creationId xmlns:p14="http://schemas.microsoft.com/office/powerpoint/2010/main" val="1776514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3570" name="Rectangle 2"/>
          <p:cNvSpPr>
            <a:spLocks noGrp="1" noChangeArrowheads="1"/>
          </p:cNvSpPr>
          <p:nvPr>
            <p:ph type="body" idx="1"/>
          </p:nvPr>
        </p:nvSpPr>
        <p:spPr>
          <a:xfrm>
            <a:off x="527910" y="4417635"/>
            <a:ext cx="6041297" cy="4182458"/>
          </a:xfrm>
          <a:noFill/>
          <a:ln>
            <a:noFill/>
          </a:ln>
        </p:spPr>
        <p:txBody>
          <a:bodyPr lIns="94678" tIns="46508" rIns="94678" bIns="46508"/>
          <a:lstStyle/>
          <a:p>
            <a:r>
              <a:rPr lang="en-US"/>
              <a:t>As I said earlier, block size is a tradeoff. In general, larger block size will reduce the miss rate because it take advantage of spatial locality.</a:t>
            </a:r>
          </a:p>
          <a:p>
            <a:r>
              <a:rPr lang="en-US"/>
              <a:t>But remember, miss rate NOT  the only cache performance metrics.  You also have to worry about miss penalty.</a:t>
            </a:r>
          </a:p>
          <a:p>
            <a:r>
              <a:rPr lang="en-US"/>
              <a:t>As you increase the block size, your miss penalty will go up because as the block gets larger, it will take you longer to fill up the block.</a:t>
            </a:r>
          </a:p>
          <a:p>
            <a:r>
              <a:rPr lang="en-US"/>
              <a:t>Even if you look at miss rate by itself, which you should NOT, bigger block size does not always win.  As you increase the block size, assuming keeping cache size constant, your miss rate will drop off rapidly at the beginning due to spatial locality.</a:t>
            </a:r>
          </a:p>
          <a:p>
            <a:r>
              <a:rPr lang="en-US"/>
              <a:t>However, once you pass certain point, your miss rate actually goes up.</a:t>
            </a:r>
          </a:p>
          <a:p>
            <a:r>
              <a:rPr lang="en-US"/>
              <a:t>As a result of these two curves, the Average Access Time (point to equation), which is really the more important performance metric than the miss rate, will go down initially because the miss rate is dropping much faster than the increase in miss penalty.</a:t>
            </a:r>
          </a:p>
          <a:p>
            <a:r>
              <a:rPr lang="en-US"/>
              <a:t>But eventually, as you keep on increasing the block size, the average access time can go up rapidly because not only is the miss penalty is increasing, the miss rate is increasing as well.</a:t>
            </a:r>
          </a:p>
        </p:txBody>
      </p:sp>
      <p:sp>
        <p:nvSpPr>
          <p:cNvPr id="1133571" name="Rectangle 3"/>
          <p:cNvSpPr>
            <a:spLocks noGrp="1" noRot="1" noChangeAspect="1" noChangeArrowheads="1" noTextEdit="1"/>
          </p:cNvSpPr>
          <p:nvPr>
            <p:ph type="sldImg"/>
          </p:nvPr>
        </p:nvSpPr>
        <p:spPr>
          <a:xfrm>
            <a:off x="1203325" y="600075"/>
            <a:ext cx="4622800" cy="3468688"/>
          </a:xfrm>
          <a:ln/>
        </p:spPr>
      </p:sp>
    </p:spTree>
    <p:extLst>
      <p:ext uri="{BB962C8B-B14F-4D97-AF65-F5344CB8AC3E}">
        <p14:creationId xmlns:p14="http://schemas.microsoft.com/office/powerpoint/2010/main" val="1246956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0386" name="Rectangle 2"/>
          <p:cNvSpPr>
            <a:spLocks noGrp="1" noRot="1" noChangeAspect="1" noChangeArrowheads="1" noTextEdit="1"/>
          </p:cNvSpPr>
          <p:nvPr>
            <p:ph type="sldImg"/>
          </p:nvPr>
        </p:nvSpPr>
        <p:spPr>
          <a:xfrm>
            <a:off x="1198563" y="596900"/>
            <a:ext cx="4632325" cy="3473450"/>
          </a:xfrm>
        </p:spPr>
      </p:sp>
      <p:sp>
        <p:nvSpPr>
          <p:cNvPr id="1680387" name="Rectangle 3"/>
          <p:cNvSpPr>
            <a:spLocks noGrp="1" noChangeArrowheads="1"/>
          </p:cNvSpPr>
          <p:nvPr>
            <p:ph type="body" idx="1"/>
          </p:nvPr>
        </p:nvSpPr>
        <p:spPr>
          <a:xfrm>
            <a:off x="527910" y="4416099"/>
            <a:ext cx="6041297" cy="4182457"/>
          </a:xfrm>
          <a:ln/>
        </p:spPr>
        <p:txBody>
          <a:bodyPr lIns="93159" tIns="46580" rIns="93159" bIns="46580"/>
          <a:lstStyle/>
          <a:p>
            <a:r>
              <a:rPr lang="en-US"/>
              <a:t>For lecture</a:t>
            </a:r>
          </a:p>
          <a:p>
            <a:r>
              <a:rPr lang="en-US"/>
              <a:t>Valid bit indicates whether an entry contains valid information – if the bit is not set, there cannot be a match for this block</a:t>
            </a:r>
          </a:p>
        </p:txBody>
      </p:sp>
    </p:spTree>
    <p:extLst>
      <p:ext uri="{BB962C8B-B14F-4D97-AF65-F5344CB8AC3E}">
        <p14:creationId xmlns:p14="http://schemas.microsoft.com/office/powerpoint/2010/main" val="1277209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210" name="Rectangle 2"/>
          <p:cNvSpPr>
            <a:spLocks noGrp="1" noRot="1" noChangeAspect="1" noChangeArrowheads="1" noTextEdit="1"/>
          </p:cNvSpPr>
          <p:nvPr>
            <p:ph type="sldImg"/>
          </p:nvPr>
        </p:nvSpPr>
        <p:spPr>
          <a:xfrm>
            <a:off x="1200150" y="596900"/>
            <a:ext cx="4630738" cy="3473450"/>
          </a:xfrm>
        </p:spPr>
      </p:sp>
      <p:sp>
        <p:nvSpPr>
          <p:cNvPr id="1118211" name="Rectangle 3"/>
          <p:cNvSpPr>
            <a:spLocks noGrp="1" noChangeArrowheads="1"/>
          </p:cNvSpPr>
          <p:nvPr>
            <p:ph type="body" idx="1"/>
          </p:nvPr>
        </p:nvSpPr>
        <p:spPr>
          <a:xfrm>
            <a:off x="527910" y="4416099"/>
            <a:ext cx="6041297" cy="4182457"/>
          </a:xfrm>
          <a:ln/>
        </p:spPr>
        <p:txBody>
          <a:bodyPr lIns="93162" tIns="46580" rIns="93162" bIns="46580"/>
          <a:lstStyle/>
          <a:p>
            <a:r>
              <a:rPr lang="en-US"/>
              <a:t>For class handout</a:t>
            </a:r>
          </a:p>
        </p:txBody>
      </p:sp>
    </p:spTree>
    <p:extLst>
      <p:ext uri="{BB962C8B-B14F-4D97-AF65-F5344CB8AC3E}">
        <p14:creationId xmlns:p14="http://schemas.microsoft.com/office/powerpoint/2010/main" val="16230785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258" name="Rectangle 2"/>
          <p:cNvSpPr>
            <a:spLocks noGrp="1" noRot="1" noChangeAspect="1" noChangeArrowheads="1" noTextEdit="1"/>
          </p:cNvSpPr>
          <p:nvPr>
            <p:ph type="sldImg"/>
          </p:nvPr>
        </p:nvSpPr>
        <p:spPr>
          <a:xfrm>
            <a:off x="1200150" y="596900"/>
            <a:ext cx="4630738" cy="3473450"/>
          </a:xfrm>
        </p:spPr>
      </p:sp>
      <p:sp>
        <p:nvSpPr>
          <p:cNvPr id="1120259" name="Rectangle 3"/>
          <p:cNvSpPr>
            <a:spLocks noGrp="1" noChangeArrowheads="1"/>
          </p:cNvSpPr>
          <p:nvPr>
            <p:ph type="body" idx="1"/>
          </p:nvPr>
        </p:nvSpPr>
        <p:spPr>
          <a:xfrm>
            <a:off x="527910" y="4416099"/>
            <a:ext cx="6041297" cy="4182457"/>
          </a:xfrm>
          <a:ln/>
        </p:spPr>
        <p:txBody>
          <a:bodyPr lIns="93162" tIns="46580" rIns="93162" bIns="46580"/>
          <a:lstStyle/>
          <a:p>
            <a:r>
              <a:rPr lang="en-US"/>
              <a:t>For class handout</a:t>
            </a:r>
          </a:p>
        </p:txBody>
      </p:sp>
    </p:spTree>
    <p:extLst>
      <p:ext uri="{BB962C8B-B14F-4D97-AF65-F5344CB8AC3E}">
        <p14:creationId xmlns:p14="http://schemas.microsoft.com/office/powerpoint/2010/main" val="18708104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2434" name="Rectangle 2"/>
          <p:cNvSpPr>
            <a:spLocks noGrp="1" noRot="1" noChangeAspect="1" noChangeArrowheads="1" noTextEdit="1"/>
          </p:cNvSpPr>
          <p:nvPr>
            <p:ph type="sldImg"/>
          </p:nvPr>
        </p:nvSpPr>
        <p:spPr>
          <a:xfrm>
            <a:off x="1198563" y="596900"/>
            <a:ext cx="4632325" cy="3473450"/>
          </a:xfrm>
        </p:spPr>
      </p:sp>
      <p:sp>
        <p:nvSpPr>
          <p:cNvPr id="1682435" name="Rectangle 3"/>
          <p:cNvSpPr>
            <a:spLocks noGrp="1" noChangeArrowheads="1"/>
          </p:cNvSpPr>
          <p:nvPr>
            <p:ph type="body" idx="1"/>
          </p:nvPr>
        </p:nvSpPr>
        <p:spPr>
          <a:xfrm>
            <a:off x="527910" y="4416099"/>
            <a:ext cx="6041297" cy="4182457"/>
          </a:xfrm>
          <a:ln/>
        </p:spPr>
        <p:txBody>
          <a:bodyPr lIns="93159" tIns="46580" rIns="93159" bIns="46580"/>
          <a:lstStyle/>
          <a:p>
            <a:r>
              <a:rPr lang="en-US"/>
              <a:t>For class handout</a:t>
            </a:r>
          </a:p>
        </p:txBody>
      </p:sp>
    </p:spTree>
    <p:extLst>
      <p:ext uri="{BB962C8B-B14F-4D97-AF65-F5344CB8AC3E}">
        <p14:creationId xmlns:p14="http://schemas.microsoft.com/office/powerpoint/2010/main" val="18605079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4482" name="Rectangle 2"/>
          <p:cNvSpPr>
            <a:spLocks noGrp="1" noRot="1" noChangeAspect="1" noChangeArrowheads="1" noTextEdit="1"/>
          </p:cNvSpPr>
          <p:nvPr>
            <p:ph type="sldImg"/>
          </p:nvPr>
        </p:nvSpPr>
        <p:spPr>
          <a:xfrm>
            <a:off x="1198563" y="596900"/>
            <a:ext cx="4632325" cy="3473450"/>
          </a:xfrm>
        </p:spPr>
      </p:sp>
      <p:sp>
        <p:nvSpPr>
          <p:cNvPr id="1684483" name="Rectangle 3"/>
          <p:cNvSpPr>
            <a:spLocks noGrp="1" noChangeArrowheads="1"/>
          </p:cNvSpPr>
          <p:nvPr>
            <p:ph type="body" idx="1"/>
          </p:nvPr>
        </p:nvSpPr>
        <p:spPr>
          <a:xfrm>
            <a:off x="527910" y="4416099"/>
            <a:ext cx="6041297" cy="4182457"/>
          </a:xfrm>
          <a:ln/>
        </p:spPr>
        <p:txBody>
          <a:bodyPr lIns="93159" tIns="46580" rIns="93159" bIns="46580"/>
          <a:lstStyle/>
          <a:p>
            <a:r>
              <a:rPr lang="en-US"/>
              <a:t>For lecture</a:t>
            </a:r>
          </a:p>
          <a:p>
            <a:endParaRPr lang="en-US"/>
          </a:p>
          <a:p>
            <a:r>
              <a:rPr lang="en-US"/>
              <a:t>Another sample string to try 0 1 2 3 0 8 11 0 3</a:t>
            </a:r>
          </a:p>
        </p:txBody>
      </p:sp>
    </p:spTree>
    <p:extLst>
      <p:ext uri="{BB962C8B-B14F-4D97-AF65-F5344CB8AC3E}">
        <p14:creationId xmlns:p14="http://schemas.microsoft.com/office/powerpoint/2010/main" val="13306729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3698" name="Rectangle 2"/>
          <p:cNvSpPr>
            <a:spLocks noGrp="1" noRot="1" noChangeAspect="1" noChangeArrowheads="1" noTextEdit="1"/>
          </p:cNvSpPr>
          <p:nvPr>
            <p:ph type="sldImg"/>
          </p:nvPr>
        </p:nvSpPr>
        <p:spPr/>
      </p:sp>
      <p:sp>
        <p:nvSpPr>
          <p:cNvPr id="1693699" name="Rectangle 3"/>
          <p:cNvSpPr>
            <a:spLocks noGrp="1" noChangeArrowheads="1"/>
          </p:cNvSpPr>
          <p:nvPr>
            <p:ph type="body" idx="1"/>
          </p:nvPr>
        </p:nvSpPr>
        <p:spPr>
          <a:ln/>
        </p:spPr>
        <p:txBody>
          <a:bodyPr/>
          <a:lstStyle/>
          <a:p>
            <a:r>
              <a:rPr lang="en-US"/>
              <a:t>This is called a 4-way set associative cache because there are four cache entries for each cache index.  Essentially, you have four direct mapped cache working in parallel.</a:t>
            </a:r>
          </a:p>
          <a:p>
            <a:r>
              <a:rPr lang="en-US"/>
              <a:t>This is how it works: the cache index selects a set from the cache. The four tags in the set are compared in parallel with the upper bits of the memory address.</a:t>
            </a:r>
          </a:p>
          <a:p>
            <a:r>
              <a:rPr lang="en-US"/>
              <a:t>If no tags match the incoming address tag, we have a cache miss.</a:t>
            </a:r>
          </a:p>
          <a:p>
            <a:r>
              <a:rPr lang="en-US"/>
              <a:t>Otherwise, we have a cache hit and we will select the data from the way where the tag matches occur.</a:t>
            </a:r>
          </a:p>
          <a:p>
            <a:r>
              <a:rPr lang="en-US"/>
              <a:t>This is simple enough.  What is its disadvantages?</a:t>
            </a:r>
          </a:p>
          <a:p>
            <a:endParaRPr lang="en-US"/>
          </a:p>
          <a:p>
            <a:r>
              <a:rPr lang="en-US"/>
              <a:t>+1 = 36 min. (Y:16)</a:t>
            </a:r>
          </a:p>
        </p:txBody>
      </p:sp>
    </p:spTree>
    <p:extLst>
      <p:ext uri="{BB962C8B-B14F-4D97-AF65-F5344CB8AC3E}">
        <p14:creationId xmlns:p14="http://schemas.microsoft.com/office/powerpoint/2010/main" val="20457406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7794" name="Rectangle 2"/>
          <p:cNvSpPr>
            <a:spLocks noGrp="1" noRot="1" noChangeAspect="1" noChangeArrowheads="1" noTextEdit="1"/>
          </p:cNvSpPr>
          <p:nvPr>
            <p:ph type="sldImg"/>
          </p:nvPr>
        </p:nvSpPr>
        <p:spPr/>
      </p:sp>
      <p:sp>
        <p:nvSpPr>
          <p:cNvPr id="1697795" name="Rectangle 3"/>
          <p:cNvSpPr>
            <a:spLocks noGrp="1" noChangeArrowheads="1"/>
          </p:cNvSpPr>
          <p:nvPr>
            <p:ph type="body" idx="1"/>
          </p:nvPr>
        </p:nvSpPr>
        <p:spPr>
          <a:ln/>
        </p:spPr>
        <p:txBody>
          <a:bodyPr/>
          <a:lstStyle/>
          <a:p>
            <a:r>
              <a:rPr lang="en-US"/>
              <a:t>For class handout</a:t>
            </a:r>
          </a:p>
        </p:txBody>
      </p:sp>
    </p:spTree>
    <p:extLst>
      <p:ext uri="{BB962C8B-B14F-4D97-AF65-F5344CB8AC3E}">
        <p14:creationId xmlns:p14="http://schemas.microsoft.com/office/powerpoint/2010/main" val="6875551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8818" name="Rectangle 2"/>
          <p:cNvSpPr>
            <a:spLocks noGrp="1" noRot="1" noChangeAspect="1" noChangeArrowheads="1" noTextEdit="1"/>
          </p:cNvSpPr>
          <p:nvPr>
            <p:ph type="sldImg"/>
          </p:nvPr>
        </p:nvSpPr>
        <p:spPr/>
      </p:sp>
      <p:sp>
        <p:nvSpPr>
          <p:cNvPr id="1698819" name="Rectangle 3"/>
          <p:cNvSpPr>
            <a:spLocks noGrp="1" noChangeArrowheads="1"/>
          </p:cNvSpPr>
          <p:nvPr>
            <p:ph type="body" idx="1"/>
          </p:nvPr>
        </p:nvSpPr>
        <p:spPr>
          <a:ln/>
        </p:spPr>
        <p:txBody>
          <a:bodyPr/>
          <a:lstStyle/>
          <a:p>
            <a:r>
              <a:rPr lang="en-US"/>
              <a:t>For lecture</a:t>
            </a:r>
          </a:p>
        </p:txBody>
      </p:sp>
    </p:spTree>
    <p:extLst>
      <p:ext uri="{BB962C8B-B14F-4D97-AF65-F5344CB8AC3E}">
        <p14:creationId xmlns:p14="http://schemas.microsoft.com/office/powerpoint/2010/main" val="7345790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42" name="Rectangle 2"/>
          <p:cNvSpPr>
            <a:spLocks noGrp="1" noRot="1" noChangeAspect="1" noChangeArrowheads="1" noTextEdit="1"/>
          </p:cNvSpPr>
          <p:nvPr>
            <p:ph type="sldImg"/>
          </p:nvPr>
        </p:nvSpPr>
        <p:spPr/>
      </p:sp>
      <p:sp>
        <p:nvSpPr>
          <p:cNvPr id="1699843" name="Rectangle 3"/>
          <p:cNvSpPr>
            <a:spLocks noGrp="1" noChangeArrowheads="1"/>
          </p:cNvSpPr>
          <p:nvPr>
            <p:ph type="body" idx="1"/>
          </p:nvPr>
        </p:nvSpPr>
        <p:spPr>
          <a:ln/>
        </p:spPr>
        <p:txBody>
          <a:bodyPr/>
          <a:lstStyle/>
          <a:p>
            <a:r>
              <a:rPr lang="en-US"/>
              <a:t>First of all, a N-way set associative cache will need N comparators instead of just one comparator (use the right side of the diagram for direct mapped cache).</a:t>
            </a:r>
          </a:p>
          <a:p>
            <a:r>
              <a:rPr lang="en-US"/>
              <a:t>A N-way set associative cache will also be slower than a direct mapped cache because of this extra multiplexer delay.</a:t>
            </a:r>
          </a:p>
          <a:p>
            <a:r>
              <a:rPr lang="en-US"/>
              <a:t>Finally, for a N-way set associative cache, the data will be available AFTER the hit/miss signal becomes valid because the hit/mis is needed to control the data MUX.</a:t>
            </a:r>
          </a:p>
          <a:p>
            <a:r>
              <a:rPr lang="en-US"/>
              <a:t>For a direct mapped cache, that is everything before the MUX on the right or left side, the cache block will be available BEFORE the hit/miss signal (AND gate output) because the data does not have to go through the comparator.</a:t>
            </a:r>
          </a:p>
          <a:p>
            <a:r>
              <a:rPr lang="en-US"/>
              <a:t>This can be an important consideration because the processor can now go ahead and use the data  without  knowing if it is a Hit or Miss.  Just assume it is a hit.</a:t>
            </a:r>
          </a:p>
          <a:p>
            <a:r>
              <a:rPr lang="en-US"/>
              <a:t>Since cache hit rate is in the upper 90% range, you will be ahead of the game 90% of the time and for those 10% of the time that you  are wrong,  just make sure you can recover.</a:t>
            </a:r>
          </a:p>
          <a:p>
            <a:r>
              <a:rPr lang="en-US"/>
              <a:t>You cannot play this speculation game with a N-way set-associative cache because as I said earlier, the data will not be available to you until the hit/miss signal is valid.</a:t>
            </a:r>
          </a:p>
          <a:p>
            <a:endParaRPr lang="en-US"/>
          </a:p>
          <a:p>
            <a:r>
              <a:rPr lang="en-US"/>
              <a:t>+2 = 38 min. (Y:18)</a:t>
            </a:r>
          </a:p>
        </p:txBody>
      </p:sp>
    </p:spTree>
    <p:extLst>
      <p:ext uri="{BB962C8B-B14F-4D97-AF65-F5344CB8AC3E}">
        <p14:creationId xmlns:p14="http://schemas.microsoft.com/office/powerpoint/2010/main" val="14294631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3938" name="Rectangle 2"/>
          <p:cNvSpPr>
            <a:spLocks noGrp="1" noRot="1" noChangeAspect="1" noChangeArrowheads="1" noTextEdit="1"/>
          </p:cNvSpPr>
          <p:nvPr>
            <p:ph type="sldImg"/>
          </p:nvPr>
        </p:nvSpPr>
        <p:spPr/>
      </p:sp>
      <p:sp>
        <p:nvSpPr>
          <p:cNvPr id="1703939" name="Rectangle 3"/>
          <p:cNvSpPr>
            <a:spLocks noGrp="1" noChangeArrowheads="1"/>
          </p:cNvSpPr>
          <p:nvPr>
            <p:ph type="body" idx="1"/>
          </p:nvPr>
        </p:nvSpPr>
        <p:spPr>
          <a:ln/>
        </p:spPr>
        <p:txBody>
          <a:bodyPr/>
          <a:lstStyle/>
          <a:p>
            <a:r>
              <a:rPr lang="en-US"/>
              <a:t>As cache sizes grow, the relative improvement from associativity increases only slightly; since the overall miss rate of a larger cache is lower, the opportunity for improving the miss rate decreases and the absolute improvement in miss rate from associativity shrinks significantly.</a:t>
            </a:r>
          </a:p>
        </p:txBody>
      </p:sp>
    </p:spTree>
    <p:extLst>
      <p:ext uri="{BB962C8B-B14F-4D97-AF65-F5344CB8AC3E}">
        <p14:creationId xmlns:p14="http://schemas.microsoft.com/office/powerpoint/2010/main" val="216815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8226" name="Rectangle 2"/>
          <p:cNvSpPr>
            <a:spLocks noGrp="1" noChangeArrowheads="1"/>
          </p:cNvSpPr>
          <p:nvPr>
            <p:ph type="body" idx="1"/>
          </p:nvPr>
        </p:nvSpPr>
        <p:spPr>
          <a:xfrm>
            <a:off x="527910" y="4419173"/>
            <a:ext cx="6041297" cy="4180921"/>
          </a:xfrm>
          <a:ln>
            <a:noFill/>
          </a:ln>
          <a:extLst>
            <a:ext uri="{91240B29-F687-4F45-9708-019B960494DF}">
              <a14:hiddenLine xmlns:a14="http://schemas.microsoft.com/office/drawing/2010/main" w="12700">
                <a:solidFill>
                  <a:schemeClr val="tx1"/>
                </a:solidFill>
                <a:miter lim="800000"/>
                <a:headEnd/>
                <a:tailEnd/>
              </a14:hiddenLine>
            </a:ext>
          </a:extLst>
        </p:spPr>
        <p:txBody>
          <a:bodyPr lIns="94675" tIns="46507" rIns="94675" bIns="46507"/>
          <a:lstStyle/>
          <a:p>
            <a:endParaRPr lang="en-US"/>
          </a:p>
        </p:txBody>
      </p:sp>
      <p:sp>
        <p:nvSpPr>
          <p:cNvPr id="1588227" name="Rectangle 3"/>
          <p:cNvSpPr>
            <a:spLocks noGrp="1" noRot="1" noChangeAspect="1" noChangeArrowheads="1" noTextEdit="1"/>
          </p:cNvSpPr>
          <p:nvPr>
            <p:ph type="sldImg"/>
          </p:nvPr>
        </p:nvSpPr>
        <p:spPr>
          <a:xfrm>
            <a:off x="1198563" y="596900"/>
            <a:ext cx="4630737" cy="3471863"/>
          </a:xfrm>
          <a:ln/>
        </p:spPr>
      </p:sp>
    </p:spTree>
    <p:extLst>
      <p:ext uri="{BB962C8B-B14F-4D97-AF65-F5344CB8AC3E}">
        <p14:creationId xmlns:p14="http://schemas.microsoft.com/office/powerpoint/2010/main" val="9609074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5266" name="Rectangle 2"/>
          <p:cNvSpPr>
            <a:spLocks noGrp="1" noRot="1" noChangeAspect="1" noChangeArrowheads="1" noTextEdit="1"/>
          </p:cNvSpPr>
          <p:nvPr>
            <p:ph type="sldImg"/>
          </p:nvPr>
        </p:nvSpPr>
        <p:spPr/>
      </p:sp>
      <p:sp>
        <p:nvSpPr>
          <p:cNvPr id="1675267" name="Rectangle 3"/>
          <p:cNvSpPr>
            <a:spLocks noGrp="1" noChangeArrowheads="1"/>
          </p:cNvSpPr>
          <p:nvPr>
            <p:ph type="body" idx="1"/>
          </p:nvPr>
        </p:nvSpPr>
        <p:spPr>
          <a:ln/>
        </p:spPr>
        <p:txBody>
          <a:bodyPr/>
          <a:lstStyle/>
          <a:p>
            <a:r>
              <a:rPr lang="en-US" dirty="0"/>
              <a:t>Reasonable write buffer depth (e.g., four or more words) and a memory capable of accepting writes at a rate that significantly exceeds the average write frequency means write buffer stalls are small</a:t>
            </a:r>
          </a:p>
          <a:p>
            <a:endParaRPr lang="en-US" dirty="0"/>
          </a:p>
          <a:p>
            <a:r>
              <a:rPr lang="en-US" b="1" dirty="0">
                <a:solidFill>
                  <a:schemeClr val="accent1"/>
                </a:solidFill>
              </a:rPr>
              <a:t>Average Memory Access time = Hit Time + Miss Rate x Miss Penalty</a:t>
            </a:r>
          </a:p>
        </p:txBody>
      </p:sp>
    </p:spTree>
    <p:extLst>
      <p:ext uri="{BB962C8B-B14F-4D97-AF65-F5344CB8AC3E}">
        <p14:creationId xmlns:p14="http://schemas.microsoft.com/office/powerpoint/2010/main" val="19877133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7314" name="Rectangle 2"/>
          <p:cNvSpPr>
            <a:spLocks noGrp="1" noRot="1" noChangeAspect="1" noChangeArrowheads="1" noTextEdit="1"/>
          </p:cNvSpPr>
          <p:nvPr>
            <p:ph type="sldImg"/>
          </p:nvPr>
        </p:nvSpPr>
        <p:spPr/>
      </p:sp>
      <p:sp>
        <p:nvSpPr>
          <p:cNvPr id="1677315" name="Rectangle 3"/>
          <p:cNvSpPr>
            <a:spLocks noGrp="1" noChangeArrowheads="1"/>
          </p:cNvSpPr>
          <p:nvPr>
            <p:ph type="body" idx="1"/>
          </p:nvPr>
        </p:nvSpPr>
        <p:spPr>
          <a:ln/>
        </p:spPr>
        <p:txBody>
          <a:bodyPr/>
          <a:lstStyle/>
          <a:p>
            <a:r>
              <a:rPr lang="en-US" dirty="0"/>
              <a:t>For ideal CPI = 1, then </a:t>
            </a:r>
            <a:r>
              <a:rPr lang="en-US" dirty="0" err="1"/>
              <a:t>CPIstall</a:t>
            </a:r>
            <a:r>
              <a:rPr lang="en-US" dirty="0"/>
              <a:t> = 4.44 and the amount of execution time spent on memory stalls would have risen from 3.44/5.44 = 63% to 3.44/4.44 = 77%</a:t>
            </a:r>
          </a:p>
          <a:p>
            <a:r>
              <a:rPr lang="en-US" dirty="0"/>
              <a:t>For miss penalty of 200, memory stall cycles = 2%  200 + 36% x 4% x 200 = 6.88 so that </a:t>
            </a:r>
            <a:r>
              <a:rPr lang="en-US" dirty="0" err="1"/>
              <a:t>CPIstall</a:t>
            </a:r>
            <a:r>
              <a:rPr lang="en-US" dirty="0"/>
              <a:t> = 8.88</a:t>
            </a:r>
          </a:p>
          <a:p>
            <a:endParaRPr lang="en-US" dirty="0"/>
          </a:p>
          <a:p>
            <a:r>
              <a:rPr lang="en-US" dirty="0"/>
              <a:t>This assumes that hit time is not a factor in determining cache performance.  A larger cache would have a longer access time (if a lower miss rate), meaning either a slower clock cycle or more stages in the pipeline for memory access.</a:t>
            </a:r>
          </a:p>
        </p:txBody>
      </p:sp>
    </p:spTree>
    <p:extLst>
      <p:ext uri="{BB962C8B-B14F-4D97-AF65-F5344CB8AC3E}">
        <p14:creationId xmlns:p14="http://schemas.microsoft.com/office/powerpoint/2010/main" val="8922248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AMAT = 1 + 0.02x50 = 2</a:t>
            </a:r>
            <a:endParaRPr lang="en-US" dirty="0"/>
          </a:p>
        </p:txBody>
      </p:sp>
    </p:spTree>
    <p:extLst>
      <p:ext uri="{BB962C8B-B14F-4D97-AF65-F5344CB8AC3E}">
        <p14:creationId xmlns:p14="http://schemas.microsoft.com/office/powerpoint/2010/main" val="17761684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All of the tags of all of the elements of the set must</a:t>
            </a:r>
            <a:r>
              <a:rPr lang="en-US" baseline="0" dirty="0" smtClean="0"/>
              <a:t> be searched for a match.</a:t>
            </a:r>
            <a:endParaRPr lang="en-US" dirty="0"/>
          </a:p>
        </p:txBody>
      </p:sp>
    </p:spTree>
    <p:extLst>
      <p:ext uri="{BB962C8B-B14F-4D97-AF65-F5344CB8AC3E}">
        <p14:creationId xmlns:p14="http://schemas.microsoft.com/office/powerpoint/2010/main" val="11753512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8274" name="Rectangle 2"/>
          <p:cNvSpPr>
            <a:spLocks noGrp="1" noRot="1" noChangeAspect="1" noChangeArrowheads="1" noTextEdit="1"/>
          </p:cNvSpPr>
          <p:nvPr>
            <p:ph type="sldImg"/>
          </p:nvPr>
        </p:nvSpPr>
        <p:spPr/>
      </p:sp>
      <p:sp>
        <p:nvSpPr>
          <p:cNvPr id="1718275" name="Rectangle 3"/>
          <p:cNvSpPr>
            <a:spLocks noGrp="1" noChangeArrowheads="1"/>
          </p:cNvSpPr>
          <p:nvPr>
            <p:ph type="body" idx="1"/>
          </p:nvPr>
        </p:nvSpPr>
        <p:spPr>
          <a:ln/>
        </p:spPr>
        <p:txBody>
          <a:bodyPr/>
          <a:lstStyle/>
          <a:p>
            <a:r>
              <a:rPr lang="en-US" dirty="0"/>
              <a:t>Also reduces cache miss penalty</a:t>
            </a:r>
          </a:p>
        </p:txBody>
      </p:sp>
    </p:spTree>
    <p:extLst>
      <p:ext uri="{BB962C8B-B14F-4D97-AF65-F5344CB8AC3E}">
        <p14:creationId xmlns:p14="http://schemas.microsoft.com/office/powerpoint/2010/main" val="8576269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3154" name="Rectangle 2"/>
          <p:cNvSpPr>
            <a:spLocks noGrp="1" noRot="1" noChangeAspect="1" noChangeArrowheads="1" noTextEdit="1"/>
          </p:cNvSpPr>
          <p:nvPr>
            <p:ph type="sldImg"/>
          </p:nvPr>
        </p:nvSpPr>
        <p:spPr/>
      </p:sp>
      <p:sp>
        <p:nvSpPr>
          <p:cNvPr id="1713155" name="Rectangle 3"/>
          <p:cNvSpPr>
            <a:spLocks noGrp="1" noChangeArrowheads="1"/>
          </p:cNvSpPr>
          <p:nvPr>
            <p:ph type="body" idx="1"/>
          </p:nvPr>
        </p:nvSpPr>
        <p:spPr>
          <a:ln/>
        </p:spPr>
        <p:txBody>
          <a:bodyPr/>
          <a:lstStyle/>
          <a:p>
            <a:r>
              <a:rPr lang="en-US"/>
              <a:t>Global miss rate – the fraction of references that miss in all levels of a multilevel cache.  The global miss rate dictates how often we must access the main memory.</a:t>
            </a:r>
          </a:p>
          <a:p>
            <a:r>
              <a:rPr lang="en-US"/>
              <a:t>Local miss rate – the fraction of references to one level of a cache that miss</a:t>
            </a:r>
          </a:p>
        </p:txBody>
      </p:sp>
    </p:spTree>
    <p:extLst>
      <p:ext uri="{BB962C8B-B14F-4D97-AF65-F5344CB8AC3E}">
        <p14:creationId xmlns:p14="http://schemas.microsoft.com/office/powerpoint/2010/main" val="15270642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2130" name="Rectangle 2"/>
          <p:cNvSpPr>
            <a:spLocks noGrp="1" noRot="1" noChangeAspect="1" noChangeArrowheads="1" noTextEdit="1"/>
          </p:cNvSpPr>
          <p:nvPr>
            <p:ph type="sldImg"/>
          </p:nvPr>
        </p:nvSpPr>
        <p:spPr/>
      </p:sp>
      <p:sp>
        <p:nvSpPr>
          <p:cNvPr id="1712131" name="Rectangle 3"/>
          <p:cNvSpPr>
            <a:spLocks noGrp="1" noChangeArrowheads="1"/>
          </p:cNvSpPr>
          <p:nvPr>
            <p:ph type="body" idx="1"/>
          </p:nvPr>
        </p:nvSpPr>
        <p:spPr>
          <a:ln/>
        </p:spPr>
        <p:txBody>
          <a:bodyPr/>
          <a:lstStyle/>
          <a:p>
            <a:endParaRPr lang="en-US" dirty="0"/>
          </a:p>
        </p:txBody>
      </p:sp>
    </p:spTree>
    <p:extLst>
      <p:ext uri="{BB962C8B-B14F-4D97-AF65-F5344CB8AC3E}">
        <p14:creationId xmlns:p14="http://schemas.microsoft.com/office/powerpoint/2010/main" val="16784147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5810" name="Rectangle 2"/>
          <p:cNvSpPr>
            <a:spLocks noGrp="1" noChangeArrowheads="1"/>
          </p:cNvSpPr>
          <p:nvPr>
            <p:ph type="body" idx="1"/>
          </p:nvPr>
        </p:nvSpPr>
        <p:spPr>
          <a:xfrm>
            <a:off x="550863" y="4560888"/>
            <a:ext cx="6303962" cy="4319587"/>
          </a:xfrm>
          <a:noFill/>
          <a:ln>
            <a:noFill/>
          </a:ln>
        </p:spPr>
        <p:txBody>
          <a:bodyPr lIns="95655" tIns="46988" rIns="95655" bIns="46988"/>
          <a:lstStyle/>
          <a:p>
            <a:endParaRPr lang="en-US"/>
          </a:p>
          <a:p>
            <a:r>
              <a:rPr lang="en-US"/>
              <a:t>No fancy replacement policy is needed for the direct mapped cache. </a:t>
            </a:r>
          </a:p>
          <a:p>
            <a:r>
              <a:rPr lang="en-US"/>
              <a:t>As a matter of fact, that is what cause direct mapped trouble to begin with: only one place to go in the cache--causes conflict misses.</a:t>
            </a:r>
          </a:p>
          <a:p>
            <a:endParaRPr lang="en-US"/>
          </a:p>
          <a:p>
            <a:r>
              <a:rPr lang="en-US"/>
              <a:t>No fancy replacement policy is needed for the direct mapped cache. </a:t>
            </a:r>
          </a:p>
          <a:p>
            <a:r>
              <a:rPr lang="en-US"/>
              <a:t>As a matter of fact, that is what cause direct mapped trouble to begin with: only one place to go in the cache--causes conflict misses.</a:t>
            </a:r>
          </a:p>
          <a:p>
            <a:endParaRPr lang="en-US"/>
          </a:p>
          <a:p>
            <a:r>
              <a:rPr lang="en-US"/>
              <a:t>Besides working at Sun, I also teach people how to fly whenever I have time.</a:t>
            </a:r>
          </a:p>
          <a:p>
            <a:r>
              <a:rPr lang="en-US"/>
              <a:t>Statistic have shown that if a pilot crashed after an engine failure, he or she is more likely to get killed in a multi-engine light airplane than a single engine airplane.</a:t>
            </a:r>
          </a:p>
          <a:p>
            <a:r>
              <a:rPr lang="en-US"/>
              <a:t>The joke among us flight instructors is that: sure, when the engine quit in a single engine stops, you have one option: sooner or later, you land.  Probably sooner.</a:t>
            </a:r>
          </a:p>
          <a:p>
            <a:r>
              <a:rPr lang="en-US"/>
              <a:t>But in a multi-engine airplane with one engine stops, you have a lot of options.  It is the need to make a decision that kills those people.</a:t>
            </a:r>
          </a:p>
          <a:p>
            <a:endParaRPr lang="en-US"/>
          </a:p>
        </p:txBody>
      </p:sp>
      <p:sp>
        <p:nvSpPr>
          <p:cNvPr id="1655811" name="Rectangle 3"/>
          <p:cNvSpPr>
            <a:spLocks noGrp="1" noRot="1" noChangeAspect="1" noChangeArrowheads="1" noTextEdit="1"/>
          </p:cNvSpPr>
          <p:nvPr>
            <p:ph type="sldImg"/>
          </p:nvPr>
        </p:nvSpPr>
        <p:spPr>
          <a:xfrm>
            <a:off x="1277938" y="620713"/>
            <a:ext cx="4775200" cy="3581400"/>
          </a:xfrm>
          <a:ln/>
        </p:spPr>
      </p:sp>
    </p:spTree>
    <p:extLst>
      <p:ext uri="{BB962C8B-B14F-4D97-AF65-F5344CB8AC3E}">
        <p14:creationId xmlns:p14="http://schemas.microsoft.com/office/powerpoint/2010/main" val="4713831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7666" name="Rectangle 2"/>
          <p:cNvSpPr>
            <a:spLocks noGrp="1" noChangeArrowheads="1"/>
          </p:cNvSpPr>
          <p:nvPr>
            <p:ph type="body" idx="1"/>
          </p:nvPr>
        </p:nvSpPr>
        <p:spPr>
          <a:xfrm>
            <a:off x="527910" y="4417636"/>
            <a:ext cx="6041297" cy="4182458"/>
          </a:xfrm>
          <a:noFill/>
          <a:ln>
            <a:noFill/>
          </a:ln>
        </p:spPr>
        <p:txBody>
          <a:bodyPr lIns="94673" tIns="46505" rIns="94673" bIns="46505"/>
          <a:lstStyle/>
          <a:p>
            <a:r>
              <a:rPr lang="en-US" dirty="0"/>
              <a:t>Let’s summarize today’s lecture.  I know you have heard this many times and many ways but it is still worth repeating.  Memory hierarchy works because of the Principle of Locality which says a program will access a relatively small portion of the address space at any instant of time.  There are two types of locality: temporal locality, or locality in time and spatial locality, or locality in space.</a:t>
            </a:r>
          </a:p>
          <a:p>
            <a:r>
              <a:rPr lang="en-US" dirty="0"/>
              <a:t>So far, we have covered three major categories of cache misses.</a:t>
            </a:r>
          </a:p>
          <a:p>
            <a:r>
              <a:rPr lang="en-US" dirty="0"/>
              <a:t>Compulsory misses are cache misses due to cold start. You cannot avoid them but if you are going to run billions of instructions anyway, compulsory misses usually don’t bother you.</a:t>
            </a:r>
          </a:p>
          <a:p>
            <a:r>
              <a:rPr lang="en-US" dirty="0"/>
              <a:t>Conflict misses are misses caused by multiple memory location being mapped to the same cache location. The nightmare scenario is the ping pong effect when a block is read into the cache but  before we have a chance to use it, it was immediately forced out by another conflict  miss.  You can reduce Conflict misses by either increase the cache size or increase the associativity, or both.</a:t>
            </a:r>
          </a:p>
          <a:p>
            <a:r>
              <a:rPr lang="en-US" dirty="0"/>
              <a:t>Finally, Capacity misses occurs when the cache is not big enough to contains all the cache blocks required by the program. You can reduce this miss rate by making the cache larger.</a:t>
            </a:r>
          </a:p>
          <a:p>
            <a:r>
              <a:rPr lang="en-US" dirty="0"/>
              <a:t>There are two write policy as far as cache write is concerned.  Write through requires a write buffer and a nightmare scenario is when the store occurs so frequent that you saturates your write buffer.</a:t>
            </a:r>
          </a:p>
          <a:p>
            <a:r>
              <a:rPr lang="en-US" dirty="0"/>
              <a:t>The second write polity is write back.  In this case, you only write to the cache and only when the cache block is being replaced do you write the cache block back to memory.</a:t>
            </a:r>
          </a:p>
          <a:p>
            <a:r>
              <a:rPr lang="en-US" dirty="0"/>
              <a:t>No fancy replacement policy is needed for the direct mapped cache.  That is what caused direct mapped cache trouble to begin with – only one place to go in the cache causing conflict misses.</a:t>
            </a:r>
          </a:p>
        </p:txBody>
      </p:sp>
      <p:sp>
        <p:nvSpPr>
          <p:cNvPr id="1137667" name="Rectangle 3"/>
          <p:cNvSpPr>
            <a:spLocks noGrp="1" noRot="1" noChangeAspect="1" noChangeArrowheads="1" noTextEdit="1"/>
          </p:cNvSpPr>
          <p:nvPr>
            <p:ph type="sldImg"/>
          </p:nvPr>
        </p:nvSpPr>
        <p:spPr>
          <a:xfrm>
            <a:off x="1201738" y="600075"/>
            <a:ext cx="4625975" cy="3468688"/>
          </a:xfrm>
          <a:ln/>
        </p:spPr>
      </p:sp>
    </p:spTree>
    <p:extLst>
      <p:ext uri="{BB962C8B-B14F-4D97-AF65-F5344CB8AC3E}">
        <p14:creationId xmlns:p14="http://schemas.microsoft.com/office/powerpoint/2010/main" val="630939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6" name="Slide Number Placeholder 5"/>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p>
            <a:fld id="{5DE0CC70-9BD5-7543-A524-72E5137DC4FD}" type="slidenum">
              <a:rPr lang="en-US" smtClean="0"/>
              <a:t>‹#›</a:t>
            </a:fld>
            <a:endParaRPr lang="en-US"/>
          </a:p>
        </p:txBody>
      </p:sp>
    </p:spTree>
    <p:extLst>
      <p:ext uri="{BB962C8B-B14F-4D97-AF65-F5344CB8AC3E}">
        <p14:creationId xmlns:p14="http://schemas.microsoft.com/office/powerpoint/2010/main" val="97029368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3400" y="914400"/>
            <a:ext cx="4000500" cy="2393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914400"/>
            <a:ext cx="4000500" cy="2393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304800"/>
            <a:ext cx="2038350" cy="30035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304800"/>
            <a:ext cx="5962650" cy="30035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153400" cy="422275"/>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533400" y="914400"/>
            <a:ext cx="8153400" cy="2393950"/>
          </a:xfrm>
        </p:spPr>
        <p:txBody>
          <a:bodyPr/>
          <a:lstStyle/>
          <a:p>
            <a:pPr lvl="0"/>
            <a:endParaRPr lang="en-US" noProof="0" smtClean="0"/>
          </a:p>
        </p:txBody>
      </p:sp>
      <p:sp>
        <p:nvSpPr>
          <p:cNvPr id="4" name="Slide Number Placeholder 3"/>
          <p:cNvSpPr>
            <a:spLocks noGrp="1"/>
          </p:cNvSpPr>
          <p:nvPr>
            <p:ph type="sldNum" sz="quarter" idx="10"/>
          </p:nvPr>
        </p:nvSpPr>
        <p:spPr/>
        <p:txBody>
          <a:bodyPr/>
          <a:lstStyle/>
          <a:p>
            <a:fld id="{5DE0CC70-9BD5-7543-A524-72E5137DC4F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p>
            <a:fld id="{5DE0CC70-9BD5-7543-A524-72E5137DC4FD}" type="slidenum">
              <a:rPr lang="en-US" smtClean="0"/>
              <a:t>‹#›</a:t>
            </a:fld>
            <a:endParaRPr lang="en-US"/>
          </a:p>
        </p:txBody>
      </p:sp>
    </p:spTree>
    <p:extLst>
      <p:ext uri="{BB962C8B-B14F-4D97-AF65-F5344CB8AC3E}">
        <p14:creationId xmlns:p14="http://schemas.microsoft.com/office/powerpoint/2010/main" val="8105265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63525"/>
            <a:ext cx="7848600" cy="42227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914400"/>
            <a:ext cx="3848100" cy="2439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hart Placeholder 3"/>
          <p:cNvSpPr>
            <a:spLocks noGrp="1"/>
          </p:cNvSpPr>
          <p:nvPr>
            <p:ph type="chart" sz="half" idx="2"/>
          </p:nvPr>
        </p:nvSpPr>
        <p:spPr>
          <a:xfrm>
            <a:off x="4686300" y="914400"/>
            <a:ext cx="3848100" cy="2439988"/>
          </a:xfrm>
        </p:spPr>
        <p:txBody>
          <a:bodyPr/>
          <a:lstStyle/>
          <a:p>
            <a:endParaRPr lang="en-US"/>
          </a:p>
        </p:txBody>
      </p:sp>
    </p:spTree>
    <p:extLst>
      <p:ext uri="{BB962C8B-B14F-4D97-AF65-F5344CB8AC3E}">
        <p14:creationId xmlns:p14="http://schemas.microsoft.com/office/powerpoint/2010/main" val="112877452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76545875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63821614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610843600"/>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671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825625"/>
            <a:ext cx="38671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8650" y="6356350"/>
            <a:ext cx="20574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476552540"/>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28650" y="6356350"/>
            <a:ext cx="20574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97515048"/>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628650" y="6356350"/>
            <a:ext cx="20574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405389075"/>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0"/>
            <a:ext cx="20574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556055241"/>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564582321"/>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352316601"/>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565676806"/>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28650" y="6356350"/>
            <a:ext cx="20574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D6FB8-7834-7D49-B54B-F715DBAE56F1}" type="slidenum">
              <a:rPr lang="en-US" smtClean="0"/>
              <a:t>‹#›</a:t>
            </a:fld>
            <a:endParaRPr lang="en-US"/>
          </a:p>
        </p:txBody>
      </p:sp>
    </p:spTree>
    <p:extLst>
      <p:ext uri="{BB962C8B-B14F-4D97-AF65-F5344CB8AC3E}">
        <p14:creationId xmlns:p14="http://schemas.microsoft.com/office/powerpoint/2010/main" val="1212951751"/>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82080724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076376372"/>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878732638"/>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3518295816"/>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504837136"/>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4534769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1994442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20987029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9412670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2513981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4D9223-CC43-4007-8255-F9F13EA03B73}" type="slidenum">
              <a:rPr lang="en-US" smtClean="0"/>
              <a:pPr/>
              <a:t>‹#›</a:t>
            </a:fld>
            <a:endParaRPr lang="en-US"/>
          </a:p>
        </p:txBody>
      </p:sp>
    </p:spTree>
    <p:extLst>
      <p:ext uri="{BB962C8B-B14F-4D97-AF65-F5344CB8AC3E}">
        <p14:creationId xmlns:p14="http://schemas.microsoft.com/office/powerpoint/2010/main" val="18492778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2" Type="http://schemas.openxmlformats.org/officeDocument/2006/relationships/theme" Target="../theme/theme2.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7.xml"/><Relationship Id="rId12" Type="http://schemas.openxmlformats.org/officeDocument/2006/relationships/theme" Target="../theme/theme3.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533400" y="304800"/>
            <a:ext cx="8153400" cy="422275"/>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smtClean="0"/>
              <a:t>Title goes here</a:t>
            </a:r>
          </a:p>
        </p:txBody>
      </p:sp>
      <p:sp>
        <p:nvSpPr>
          <p:cNvPr id="5125" name="Rectangle 5"/>
          <p:cNvSpPr>
            <a:spLocks noGrp="1" noChangeArrowheads="1"/>
          </p:cNvSpPr>
          <p:nvPr>
            <p:ph type="body" idx="1"/>
          </p:nvPr>
        </p:nvSpPr>
        <p:spPr bwMode="auto">
          <a:xfrm>
            <a:off x="533400" y="914400"/>
            <a:ext cx="8153400" cy="2393950"/>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dirty="0" smtClean="0"/>
              <a:t>This is our 1st Level Bullet</a:t>
            </a:r>
          </a:p>
          <a:p>
            <a:pPr lvl="1"/>
            <a:r>
              <a:rPr lang="en-US" dirty="0" smtClean="0"/>
              <a:t>this is our 2nd level bullet</a:t>
            </a:r>
          </a:p>
          <a:p>
            <a:pPr lvl="2"/>
            <a:r>
              <a:rPr lang="en-US" dirty="0" smtClean="0"/>
              <a:t>this is our 3rd level bullet</a:t>
            </a:r>
          </a:p>
          <a:p>
            <a:pPr lvl="0"/>
            <a:r>
              <a:rPr lang="en-US" dirty="0" smtClean="0"/>
              <a:t>This is our next 1st Level Bullet</a:t>
            </a:r>
          </a:p>
          <a:p>
            <a:pPr lvl="1"/>
            <a:r>
              <a:rPr lang="en-US" dirty="0" smtClean="0"/>
              <a:t>this is our 2nd level bullet</a:t>
            </a:r>
          </a:p>
          <a:p>
            <a:pPr lvl="2"/>
            <a:r>
              <a:rPr lang="en-US" dirty="0" smtClean="0"/>
              <a:t>this is our 3rd level bullet</a:t>
            </a:r>
          </a:p>
        </p:txBody>
      </p:sp>
      <p:sp>
        <p:nvSpPr>
          <p:cNvPr id="1030" name="Line 6"/>
          <p:cNvSpPr>
            <a:spLocks noChangeShapeType="1"/>
          </p:cNvSpPr>
          <p:nvPr/>
        </p:nvSpPr>
        <p:spPr bwMode="auto">
          <a:xfrm>
            <a:off x="533400" y="685800"/>
            <a:ext cx="8153400" cy="0"/>
          </a:xfrm>
          <a:prstGeom prst="line">
            <a:avLst/>
          </a:prstGeom>
          <a:noFill/>
          <a:ln w="57150" cmpd="thickThin">
            <a:solidFill>
              <a:schemeClr val="accent2"/>
            </a:solidFill>
            <a:round/>
            <a:headEnd/>
            <a:tailEnd/>
          </a:ln>
          <a:effectLst/>
        </p:spPr>
        <p:txBody>
          <a:bodyPr wrap="none" anchor="ctr"/>
          <a:lstStyle/>
          <a:p>
            <a:pPr>
              <a:defRPr/>
            </a:pPr>
            <a:endParaRPr lang="en-US"/>
          </a:p>
        </p:txBody>
      </p:sp>
      <p:sp>
        <p:nvSpPr>
          <p:cNvPr id="3" name="Slide Number Placeholder 2"/>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E0CC70-9BD5-7543-A524-72E5137DC4F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75" r:id="rId14"/>
    <p:sldLayoutId id="2147483688" r:id="rId15"/>
  </p:sldLayoutIdLst>
  <p:timing>
    <p:tnLst>
      <p:par>
        <p:cTn id="1" dur="indefinite" restart="never" nodeType="tmRoot"/>
      </p:par>
    </p:tnLst>
  </p:timing>
  <p:hf hdr="0" ftr="0" dt="0"/>
  <p:txStyles>
    <p:titleStyle>
      <a:lvl1pPr algn="l" rtl="0" eaLnBrk="0" fontAlgn="base" hangingPunct="0">
        <a:lnSpc>
          <a:spcPct val="87000"/>
        </a:lnSpc>
        <a:spcBef>
          <a:spcPct val="0"/>
        </a:spcBef>
        <a:spcAft>
          <a:spcPct val="0"/>
        </a:spcAft>
        <a:defRPr sz="2800" b="1">
          <a:solidFill>
            <a:schemeClr val="accent2"/>
          </a:solidFill>
          <a:latin typeface="+mj-lt"/>
          <a:ea typeface="+mj-ea"/>
          <a:cs typeface="+mj-cs"/>
        </a:defRPr>
      </a:lvl1pPr>
      <a:lvl2pPr algn="l" rtl="0" eaLnBrk="0" fontAlgn="base" hangingPunct="0">
        <a:lnSpc>
          <a:spcPct val="87000"/>
        </a:lnSpc>
        <a:spcBef>
          <a:spcPct val="0"/>
        </a:spcBef>
        <a:spcAft>
          <a:spcPct val="0"/>
        </a:spcAft>
        <a:defRPr sz="2800" b="1">
          <a:solidFill>
            <a:schemeClr val="accent2"/>
          </a:solidFill>
          <a:latin typeface="Arial" charset="0"/>
        </a:defRPr>
      </a:lvl2pPr>
      <a:lvl3pPr algn="l" rtl="0" eaLnBrk="0" fontAlgn="base" hangingPunct="0">
        <a:lnSpc>
          <a:spcPct val="87000"/>
        </a:lnSpc>
        <a:spcBef>
          <a:spcPct val="0"/>
        </a:spcBef>
        <a:spcAft>
          <a:spcPct val="0"/>
        </a:spcAft>
        <a:defRPr sz="2800" b="1">
          <a:solidFill>
            <a:schemeClr val="accent2"/>
          </a:solidFill>
          <a:latin typeface="Arial" charset="0"/>
        </a:defRPr>
      </a:lvl3pPr>
      <a:lvl4pPr algn="l" rtl="0" eaLnBrk="0" fontAlgn="base" hangingPunct="0">
        <a:lnSpc>
          <a:spcPct val="87000"/>
        </a:lnSpc>
        <a:spcBef>
          <a:spcPct val="0"/>
        </a:spcBef>
        <a:spcAft>
          <a:spcPct val="0"/>
        </a:spcAft>
        <a:defRPr sz="2800" b="1">
          <a:solidFill>
            <a:schemeClr val="accent2"/>
          </a:solidFill>
          <a:latin typeface="Arial" charset="0"/>
        </a:defRPr>
      </a:lvl4pPr>
      <a:lvl5pPr algn="l" rtl="0" eaLnBrk="0" fontAlgn="base" hangingPunct="0">
        <a:lnSpc>
          <a:spcPct val="87000"/>
        </a:lnSpc>
        <a:spcBef>
          <a:spcPct val="0"/>
        </a:spcBef>
        <a:spcAft>
          <a:spcPct val="0"/>
        </a:spcAft>
        <a:defRPr sz="2800" b="1">
          <a:solidFill>
            <a:schemeClr val="accent2"/>
          </a:solidFill>
          <a:latin typeface="Arial" charset="0"/>
        </a:defRPr>
      </a:lvl5pPr>
      <a:lvl6pPr marL="457200" algn="l" rtl="0" eaLnBrk="0" fontAlgn="base" hangingPunct="0">
        <a:lnSpc>
          <a:spcPct val="87000"/>
        </a:lnSpc>
        <a:spcBef>
          <a:spcPct val="0"/>
        </a:spcBef>
        <a:spcAft>
          <a:spcPct val="0"/>
        </a:spcAft>
        <a:defRPr sz="2800" b="1">
          <a:solidFill>
            <a:schemeClr val="accent2"/>
          </a:solidFill>
          <a:latin typeface="Arial" charset="0"/>
        </a:defRPr>
      </a:lvl6pPr>
      <a:lvl7pPr marL="914400" algn="l" rtl="0" eaLnBrk="0" fontAlgn="base" hangingPunct="0">
        <a:lnSpc>
          <a:spcPct val="87000"/>
        </a:lnSpc>
        <a:spcBef>
          <a:spcPct val="0"/>
        </a:spcBef>
        <a:spcAft>
          <a:spcPct val="0"/>
        </a:spcAft>
        <a:defRPr sz="2800" b="1">
          <a:solidFill>
            <a:schemeClr val="accent2"/>
          </a:solidFill>
          <a:latin typeface="Arial" charset="0"/>
        </a:defRPr>
      </a:lvl7pPr>
      <a:lvl8pPr marL="1371600" algn="l" rtl="0" eaLnBrk="0" fontAlgn="base" hangingPunct="0">
        <a:lnSpc>
          <a:spcPct val="87000"/>
        </a:lnSpc>
        <a:spcBef>
          <a:spcPct val="0"/>
        </a:spcBef>
        <a:spcAft>
          <a:spcPct val="0"/>
        </a:spcAft>
        <a:defRPr sz="2800" b="1">
          <a:solidFill>
            <a:schemeClr val="accent2"/>
          </a:solidFill>
          <a:latin typeface="Arial" charset="0"/>
        </a:defRPr>
      </a:lvl8pPr>
      <a:lvl9pPr marL="1828800" algn="l" rtl="0" eaLnBrk="0" fontAlgn="base" hangingPunct="0">
        <a:lnSpc>
          <a:spcPct val="87000"/>
        </a:lnSpc>
        <a:spcBef>
          <a:spcPct val="0"/>
        </a:spcBef>
        <a:spcAft>
          <a:spcPct val="0"/>
        </a:spcAft>
        <a:defRPr sz="2800" b="1">
          <a:solidFill>
            <a:schemeClr val="accent2"/>
          </a:solidFill>
          <a:latin typeface="Arial" charset="0"/>
        </a:defRPr>
      </a:lvl9pPr>
    </p:titleStyle>
    <p:bodyStyle>
      <a:lvl1pPr marL="287338" indent="-287338" algn="l" rtl="0" eaLnBrk="0" fontAlgn="base" hangingPunct="0">
        <a:lnSpc>
          <a:spcPct val="90000"/>
        </a:lnSpc>
        <a:spcBef>
          <a:spcPct val="65000"/>
        </a:spcBef>
        <a:spcAft>
          <a:spcPct val="0"/>
        </a:spcAft>
        <a:buClr>
          <a:schemeClr val="accent1"/>
        </a:buClr>
        <a:buSzPct val="75000"/>
        <a:buFont typeface="Wingdings" pitchFamily="2" charset="2"/>
        <a:buChar char="q"/>
        <a:defRPr sz="2400">
          <a:solidFill>
            <a:schemeClr val="tx1"/>
          </a:solidFill>
          <a:latin typeface="+mn-lt"/>
          <a:ea typeface="+mn-ea"/>
          <a:cs typeface="+mn-cs"/>
        </a:defRPr>
      </a:lvl1pPr>
      <a:lvl2pPr marL="741363" indent="-246063" algn="l" rtl="0" eaLnBrk="0" fontAlgn="base" hangingPunct="0">
        <a:lnSpc>
          <a:spcPct val="85000"/>
        </a:lnSpc>
        <a:spcBef>
          <a:spcPct val="40000"/>
        </a:spcBef>
        <a:spcAft>
          <a:spcPct val="0"/>
        </a:spcAft>
        <a:buClr>
          <a:schemeClr val="accent1"/>
        </a:buClr>
        <a:buSzPct val="75000"/>
        <a:buFont typeface="Monotype Sorts" pitchFamily="2" charset="2"/>
        <a:buChar char="l"/>
        <a:defRPr sz="2000">
          <a:solidFill>
            <a:schemeClr val="tx1"/>
          </a:solidFill>
          <a:latin typeface="+mn-lt"/>
        </a:defRPr>
      </a:lvl2pPr>
      <a:lvl3pPr marL="1146175" indent="-176213" algn="l" rtl="0" eaLnBrk="0" fontAlgn="base" hangingPunct="0">
        <a:lnSpc>
          <a:spcPct val="85000"/>
        </a:lnSpc>
        <a:spcBef>
          <a:spcPct val="40000"/>
        </a:spcBef>
        <a:spcAft>
          <a:spcPct val="0"/>
        </a:spcAft>
        <a:buClr>
          <a:schemeClr val="accent1"/>
        </a:buClr>
        <a:buSzPct val="100000"/>
        <a:buChar char="-"/>
        <a:defRPr>
          <a:solidFill>
            <a:schemeClr val="tx1"/>
          </a:solidFill>
          <a:latin typeface="+mn-lt"/>
        </a:defRPr>
      </a:lvl3pPr>
      <a:lvl4pPr marL="1714500" indent="-342900" algn="l" rtl="0" eaLnBrk="0" fontAlgn="base" hangingPunct="0">
        <a:spcBef>
          <a:spcPct val="20000"/>
        </a:spcBef>
        <a:spcAft>
          <a:spcPct val="0"/>
        </a:spcAft>
        <a:buChar char="–"/>
        <a:defRPr sz="2000">
          <a:solidFill>
            <a:schemeClr val="tx1"/>
          </a:solidFill>
          <a:latin typeface="Times New Roman" pitchFamily="18" charset="0"/>
        </a:defRPr>
      </a:lvl4pPr>
      <a:lvl5pPr marL="2171700" indent="-342900" algn="l" rtl="0" eaLnBrk="0" fontAlgn="base" hangingPunct="0">
        <a:spcBef>
          <a:spcPct val="20000"/>
        </a:spcBef>
        <a:spcAft>
          <a:spcPct val="0"/>
        </a:spcAft>
        <a:buChar char="»"/>
        <a:defRPr sz="2000">
          <a:solidFill>
            <a:schemeClr val="tx1"/>
          </a:solidFill>
          <a:latin typeface="Times New Roman"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FD6FB8-7834-7D49-B54B-F715DBAE56F1}" type="slidenum">
              <a:rPr lang="en-US" smtClean="0"/>
              <a:t>‹#›</a:t>
            </a:fld>
            <a:endParaRPr lang="en-US"/>
          </a:p>
        </p:txBody>
      </p:sp>
    </p:spTree>
    <p:extLst>
      <p:ext uri="{BB962C8B-B14F-4D97-AF65-F5344CB8AC3E}">
        <p14:creationId xmlns:p14="http://schemas.microsoft.com/office/powerpoint/2010/main" val="74739080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4D9223-CC43-4007-8255-F9F13EA03B73}" type="slidenum">
              <a:rPr lang="en-US" smtClean="0"/>
              <a:pPr/>
              <a:t>‹#›</a:t>
            </a:fld>
            <a:endParaRPr lang="en-US"/>
          </a:p>
        </p:txBody>
      </p:sp>
    </p:spTree>
    <p:extLst>
      <p:ext uri="{BB962C8B-B14F-4D97-AF65-F5344CB8AC3E}">
        <p14:creationId xmlns:p14="http://schemas.microsoft.com/office/powerpoint/2010/main" val="248306751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duartes.org/gustavo/blog/post/what-your-computer-does-while-you-wai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4" Type="http://schemas.openxmlformats.org/officeDocument/2006/relationships/oleObject" Target="../embeddings/oleObject1.bin"/><Relationship Id="rId5" Type="http://schemas.openxmlformats.org/officeDocument/2006/relationships/image" Target="../media/image1.emf"/><Relationship Id="rId1" Type="http://schemas.openxmlformats.org/officeDocument/2006/relationships/vmlDrawing" Target="../drawings/vmlDrawing1.vml"/><Relationship Id="rId2"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3.emf"/><Relationship Id="rId1" Type="http://schemas.openxmlformats.org/officeDocument/2006/relationships/vmlDrawing" Target="../drawings/vmlDrawing2.vml"/><Relationship Id="rId2"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chart" Target="../charts/char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4" Type="http://schemas.openxmlformats.org/officeDocument/2006/relationships/oleObject" Target="../embeddings/oleObject3.bin"/><Relationship Id="rId5" Type="http://schemas.openxmlformats.org/officeDocument/2006/relationships/image" Target="../media/image4.emf"/><Relationship Id="rId1" Type="http://schemas.openxmlformats.org/officeDocument/2006/relationships/vmlDrawing" Target="../drawings/vmlDrawing3.vml"/><Relationship Id="rId2"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2160498" y="1100413"/>
            <a:ext cx="4820230" cy="2622000"/>
          </a:xfrm>
          <a:noFill/>
        </p:spPr>
        <p:txBody>
          <a:bodyPr wrap="none" anchor="ctr"/>
          <a:lstStyle/>
          <a:p>
            <a:pPr algn="ctr"/>
            <a:r>
              <a:rPr lang="en-US" sz="3200" dirty="0" smtClean="0"/>
              <a:t>CSE 424</a:t>
            </a:r>
            <a:br>
              <a:rPr lang="en-US" sz="3200" dirty="0" smtClean="0"/>
            </a:br>
            <a:r>
              <a:rPr lang="en-US" sz="3200" dirty="0" smtClean="0"/>
              <a:t> Computer Architecture </a:t>
            </a:r>
            <a:r>
              <a:rPr lang="en-US" sz="3200" smtClean="0"/>
              <a:t/>
            </a:r>
            <a:br>
              <a:rPr lang="en-US" sz="3200" smtClean="0"/>
            </a:br>
            <a:r>
              <a:rPr lang="en-US" sz="3200" dirty="0" smtClean="0"/>
              <a:t/>
            </a:r>
            <a:br>
              <a:rPr lang="en-US" sz="3200" dirty="0" smtClean="0"/>
            </a:br>
            <a:r>
              <a:rPr lang="en-US" sz="3200" dirty="0" smtClean="0"/>
              <a:t/>
            </a:r>
            <a:br>
              <a:rPr lang="en-US" sz="3200" dirty="0" smtClean="0"/>
            </a:br>
            <a:r>
              <a:rPr lang="en-US" sz="3200" smtClean="0"/>
              <a:t>Memory Hierarchy</a:t>
            </a:r>
            <a:br>
              <a:rPr lang="en-US" sz="3200" smtClean="0"/>
            </a:br>
            <a:r>
              <a:rPr lang="en-US" sz="3200" smtClean="0"/>
              <a:t>(Caches)</a:t>
            </a:r>
            <a:endParaRPr lang="en-US" sz="3200" dirty="0" smtClean="0"/>
          </a:p>
        </p:txBody>
      </p:sp>
      <p:sp>
        <p:nvSpPr>
          <p:cNvPr id="6147" name="Rectangle 3"/>
          <p:cNvSpPr>
            <a:spLocks noGrp="1" noChangeArrowheads="1"/>
          </p:cNvSpPr>
          <p:nvPr>
            <p:ph type="subTitle" idx="1"/>
          </p:nvPr>
        </p:nvSpPr>
        <p:spPr>
          <a:xfrm>
            <a:off x="1371600" y="4114800"/>
            <a:ext cx="6400800" cy="2430409"/>
          </a:xfrm>
          <a:noFill/>
        </p:spPr>
        <p:txBody>
          <a:bodyPr/>
          <a:lstStyle/>
          <a:p>
            <a:pPr marL="203200" indent="-203200"/>
            <a:r>
              <a:rPr lang="en-US" dirty="0" smtClean="0"/>
              <a:t>Adwait </a:t>
            </a:r>
            <a:r>
              <a:rPr lang="en-US" dirty="0"/>
              <a:t>Jog (http://</a:t>
            </a:r>
            <a:r>
              <a:rPr lang="en-US" dirty="0" err="1"/>
              <a:t>adwaitjog.github.io</a:t>
            </a:r>
            <a:r>
              <a:rPr lang="en-US" dirty="0"/>
              <a:t>/) </a:t>
            </a:r>
            <a:endParaRPr lang="en-US" dirty="0" smtClean="0"/>
          </a:p>
          <a:p>
            <a:pPr marL="203200" indent="-203200"/>
            <a:endParaRPr lang="en-US" dirty="0" smtClean="0"/>
          </a:p>
          <a:p>
            <a:pPr marL="203200" indent="-203200"/>
            <a:r>
              <a:rPr lang="en-US" sz="2000" dirty="0" smtClean="0"/>
              <a:t>Based on the slides from Mary. J. Irwin (Penn State)</a:t>
            </a:r>
          </a:p>
          <a:p>
            <a:pPr marL="203200" indent="-203200">
              <a:spcBef>
                <a:spcPct val="30000"/>
              </a:spcBef>
            </a:pPr>
            <a:r>
              <a:rPr lang="en-US" sz="1800" dirty="0" smtClean="0"/>
              <a:t>[Adapted from </a:t>
            </a:r>
            <a:r>
              <a:rPr lang="en-US" sz="1800" i="1" dirty="0" smtClean="0"/>
              <a:t>Computer Organization and Design, </a:t>
            </a:r>
          </a:p>
          <a:p>
            <a:pPr marL="203200" indent="-203200">
              <a:spcBef>
                <a:spcPct val="30000"/>
              </a:spcBef>
            </a:pPr>
            <a:r>
              <a:rPr lang="en-US" sz="1800" i="1" dirty="0" smtClean="0"/>
              <a:t>5</a:t>
            </a:r>
            <a:r>
              <a:rPr lang="en-US" sz="1800" i="1" baseline="30000" dirty="0" smtClean="0"/>
              <a:t>th</a:t>
            </a:r>
            <a:r>
              <a:rPr lang="en-US" sz="1800" i="1" dirty="0" smtClean="0"/>
              <a:t> Edition</a:t>
            </a:r>
            <a:r>
              <a:rPr lang="en-US" sz="1800" dirty="0"/>
              <a:t>, Patterson &amp; </a:t>
            </a:r>
            <a:r>
              <a:rPr lang="en-US" sz="1800" dirty="0" smtClean="0"/>
              <a:t>Hennessy, </a:t>
            </a:r>
          </a:p>
          <a:p>
            <a:pPr marL="203200" indent="-203200">
              <a:spcBef>
                <a:spcPct val="30000"/>
              </a:spcBef>
            </a:pPr>
            <a:r>
              <a:rPr lang="en-US" sz="1800" dirty="0" smtClean="0"/>
              <a:t>Morgan Kaufmann]</a:t>
            </a:r>
          </a:p>
        </p:txBody>
      </p:sp>
    </p:spTree>
    <p:extLst>
      <p:ext uri="{BB962C8B-B14F-4D97-AF65-F5344CB8AC3E}">
        <p14:creationId xmlns:p14="http://schemas.microsoft.com/office/powerpoint/2010/main" val="7340972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826" name="Rectangle 2"/>
          <p:cNvSpPr>
            <a:spLocks noGrp="1" noChangeArrowheads="1"/>
          </p:cNvSpPr>
          <p:nvPr>
            <p:ph type="title"/>
          </p:nvPr>
        </p:nvSpPr>
        <p:spPr>
          <a:xfrm>
            <a:off x="533400" y="228600"/>
            <a:ext cx="7405688" cy="422275"/>
          </a:xfrm>
          <a:noFill/>
          <a:ln/>
        </p:spPr>
        <p:txBody>
          <a:bodyPr wrap="none"/>
          <a:lstStyle/>
          <a:p>
            <a:r>
              <a:rPr lang="en-US" dirty="0" smtClean="0"/>
              <a:t>Major </a:t>
            </a:r>
            <a:r>
              <a:rPr lang="en-US" dirty="0"/>
              <a:t>Components of a Computer</a:t>
            </a:r>
          </a:p>
        </p:txBody>
      </p:sp>
      <p:sp>
        <p:nvSpPr>
          <p:cNvPr id="1485827" name="Rectangle 3"/>
          <p:cNvSpPr>
            <a:spLocks noChangeArrowheads="1"/>
          </p:cNvSpPr>
          <p:nvPr/>
        </p:nvSpPr>
        <p:spPr bwMode="auto">
          <a:xfrm>
            <a:off x="1905000" y="1447800"/>
            <a:ext cx="5143500" cy="28575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485828" name="Rectangle 4"/>
          <p:cNvSpPr>
            <a:spLocks noChangeArrowheads="1"/>
          </p:cNvSpPr>
          <p:nvPr/>
        </p:nvSpPr>
        <p:spPr bwMode="auto">
          <a:xfrm>
            <a:off x="2286000" y="1778000"/>
            <a:ext cx="1460500" cy="21971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485829" name="Rectangle 5"/>
          <p:cNvSpPr>
            <a:spLocks noChangeArrowheads="1"/>
          </p:cNvSpPr>
          <p:nvPr/>
        </p:nvSpPr>
        <p:spPr bwMode="auto">
          <a:xfrm>
            <a:off x="2317750" y="1905000"/>
            <a:ext cx="1308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 Processor</a:t>
            </a:r>
          </a:p>
        </p:txBody>
      </p:sp>
      <p:sp>
        <p:nvSpPr>
          <p:cNvPr id="1485830" name="Rectangle 6"/>
          <p:cNvSpPr>
            <a:spLocks noChangeArrowheads="1"/>
          </p:cNvSpPr>
          <p:nvPr/>
        </p:nvSpPr>
        <p:spPr bwMode="auto">
          <a:xfrm>
            <a:off x="3937000" y="1778000"/>
            <a:ext cx="1333500" cy="22225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485831" name="Rectangle 7"/>
          <p:cNvSpPr>
            <a:spLocks noChangeArrowheads="1"/>
          </p:cNvSpPr>
          <p:nvPr/>
        </p:nvSpPr>
        <p:spPr bwMode="auto">
          <a:xfrm>
            <a:off x="5435600" y="1778000"/>
            <a:ext cx="1333500" cy="22225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485832" name="AutoShape 8"/>
          <p:cNvSpPr>
            <a:spLocks noChangeArrowheads="1"/>
          </p:cNvSpPr>
          <p:nvPr/>
        </p:nvSpPr>
        <p:spPr bwMode="auto">
          <a:xfrm>
            <a:off x="2489200" y="24638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485833" name="AutoShape 9"/>
          <p:cNvSpPr>
            <a:spLocks noChangeArrowheads="1"/>
          </p:cNvSpPr>
          <p:nvPr/>
        </p:nvSpPr>
        <p:spPr bwMode="auto">
          <a:xfrm>
            <a:off x="2489200" y="32258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485834" name="Rectangle 10"/>
          <p:cNvSpPr>
            <a:spLocks noChangeArrowheads="1"/>
          </p:cNvSpPr>
          <p:nvPr/>
        </p:nvSpPr>
        <p:spPr bwMode="auto">
          <a:xfrm>
            <a:off x="2540000" y="2628900"/>
            <a:ext cx="9398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Control</a:t>
            </a:r>
          </a:p>
        </p:txBody>
      </p:sp>
      <p:sp>
        <p:nvSpPr>
          <p:cNvPr id="1485835" name="Rectangle 11"/>
          <p:cNvSpPr>
            <a:spLocks noChangeArrowheads="1"/>
          </p:cNvSpPr>
          <p:nvPr/>
        </p:nvSpPr>
        <p:spPr bwMode="auto">
          <a:xfrm>
            <a:off x="2438400" y="3429000"/>
            <a:ext cx="11049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Datapath</a:t>
            </a:r>
          </a:p>
        </p:txBody>
      </p:sp>
      <p:sp>
        <p:nvSpPr>
          <p:cNvPr id="1485836" name="Rectangle 12"/>
          <p:cNvSpPr>
            <a:spLocks noChangeArrowheads="1"/>
          </p:cNvSpPr>
          <p:nvPr/>
        </p:nvSpPr>
        <p:spPr bwMode="auto">
          <a:xfrm>
            <a:off x="4114800" y="2743200"/>
            <a:ext cx="1038746" cy="293670"/>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dirty="0">
                <a:solidFill>
                  <a:srgbClr val="FF0000"/>
                </a:solidFill>
              </a:rPr>
              <a:t>Memory</a:t>
            </a:r>
          </a:p>
        </p:txBody>
      </p:sp>
      <p:sp>
        <p:nvSpPr>
          <p:cNvPr id="1485837" name="Rectangle 13"/>
          <p:cNvSpPr>
            <a:spLocks noChangeArrowheads="1"/>
          </p:cNvSpPr>
          <p:nvPr/>
        </p:nvSpPr>
        <p:spPr bwMode="auto">
          <a:xfrm>
            <a:off x="5562600" y="1968500"/>
            <a:ext cx="9906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Devices</a:t>
            </a:r>
          </a:p>
        </p:txBody>
      </p:sp>
      <p:sp>
        <p:nvSpPr>
          <p:cNvPr id="1485838" name="AutoShape 14"/>
          <p:cNvSpPr>
            <a:spLocks noChangeArrowheads="1"/>
          </p:cNvSpPr>
          <p:nvPr/>
        </p:nvSpPr>
        <p:spPr bwMode="auto">
          <a:xfrm>
            <a:off x="5562600" y="25146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485839" name="AutoShape 15"/>
          <p:cNvSpPr>
            <a:spLocks noChangeArrowheads="1"/>
          </p:cNvSpPr>
          <p:nvPr/>
        </p:nvSpPr>
        <p:spPr bwMode="auto">
          <a:xfrm>
            <a:off x="5562600" y="32766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485840" name="Rectangle 16"/>
          <p:cNvSpPr>
            <a:spLocks noChangeArrowheads="1"/>
          </p:cNvSpPr>
          <p:nvPr/>
        </p:nvSpPr>
        <p:spPr bwMode="auto">
          <a:xfrm>
            <a:off x="5613400" y="2679700"/>
            <a:ext cx="6858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Input</a:t>
            </a:r>
          </a:p>
        </p:txBody>
      </p:sp>
      <p:sp>
        <p:nvSpPr>
          <p:cNvPr id="1485841" name="Rectangle 17"/>
          <p:cNvSpPr>
            <a:spLocks noChangeArrowheads="1"/>
          </p:cNvSpPr>
          <p:nvPr/>
        </p:nvSpPr>
        <p:spPr bwMode="auto">
          <a:xfrm>
            <a:off x="5613400" y="3441700"/>
            <a:ext cx="8763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Output</a:t>
            </a:r>
          </a:p>
        </p:txBody>
      </p:sp>
      <p:sp>
        <p:nvSpPr>
          <p:cNvPr id="1485842" name="Rectangle 18"/>
          <p:cNvSpPr>
            <a:spLocks noChangeArrowheads="1"/>
          </p:cNvSpPr>
          <p:nvPr/>
        </p:nvSpPr>
        <p:spPr bwMode="auto">
          <a:xfrm>
            <a:off x="131763" y="2943225"/>
            <a:ext cx="180975" cy="363538"/>
          </a:xfrm>
          <a:prstGeom prst="rect">
            <a:avLst/>
          </a:prstGeom>
          <a:noFill/>
          <a:ln w="12700">
            <a:noFill/>
            <a:miter lim="800000"/>
            <a:headEnd/>
            <a:tailEnd/>
          </a:ln>
          <a:effectLst/>
        </p:spPr>
        <p:txBody>
          <a:bodyPr wrap="none" lIns="90488" tIns="44450" rIns="90488" bIns="44450">
            <a:spAutoFit/>
          </a:bodyPr>
          <a:lstStyle/>
          <a:p>
            <a:endParaRPr lang="en-US">
              <a:solidFill>
                <a:schemeClr val="tx1"/>
              </a:solidFill>
            </a:endParaRPr>
          </a:p>
        </p:txBody>
      </p:sp>
      <p:sp>
        <p:nvSpPr>
          <p:cNvPr id="28" name="TextBox 27"/>
          <p:cNvSpPr txBox="1"/>
          <p:nvPr/>
        </p:nvSpPr>
        <p:spPr>
          <a:xfrm>
            <a:off x="2667000" y="2133600"/>
            <a:ext cx="990600" cy="307777"/>
          </a:xfrm>
          <a:prstGeom prst="rect">
            <a:avLst/>
          </a:prstGeom>
          <a:noFill/>
        </p:spPr>
        <p:txBody>
          <a:bodyPr wrap="square" rtlCol="0">
            <a:spAutoFit/>
          </a:bodyPr>
          <a:lstStyle/>
          <a:p>
            <a:r>
              <a:rPr lang="en-US" sz="1400" dirty="0" smtClean="0">
                <a:solidFill>
                  <a:srgbClr val="FF0000"/>
                </a:solidFill>
              </a:rPr>
              <a:t>Registers</a:t>
            </a:r>
            <a:endParaRPr lang="en-US" sz="1400" dirty="0">
              <a:solidFill>
                <a:srgbClr val="FF0000"/>
              </a:solidFill>
            </a:endParaRPr>
          </a:p>
        </p:txBody>
      </p:sp>
      <p:sp>
        <p:nvSpPr>
          <p:cNvPr id="29" name="TextBox 28"/>
          <p:cNvSpPr txBox="1"/>
          <p:nvPr/>
        </p:nvSpPr>
        <p:spPr>
          <a:xfrm>
            <a:off x="1905000" y="762000"/>
            <a:ext cx="5105400" cy="646331"/>
          </a:xfrm>
          <a:prstGeom prst="rect">
            <a:avLst/>
          </a:prstGeom>
          <a:noFill/>
        </p:spPr>
        <p:txBody>
          <a:bodyPr wrap="square" rtlCol="0">
            <a:spAutoFit/>
          </a:bodyPr>
          <a:lstStyle/>
          <a:p>
            <a:r>
              <a:rPr lang="en-US" dirty="0" smtClean="0">
                <a:solidFill>
                  <a:srgbClr val="FF0000"/>
                </a:solidFill>
              </a:rPr>
              <a:t>Data-centric view:</a:t>
            </a:r>
          </a:p>
          <a:p>
            <a:r>
              <a:rPr lang="en-US" dirty="0" smtClean="0">
                <a:solidFill>
                  <a:srgbClr val="FF0000"/>
                </a:solidFill>
              </a:rPr>
              <a:t>   Transformations      Storage     Communication</a:t>
            </a:r>
            <a:endParaRPr lang="en-US" dirty="0">
              <a:solidFill>
                <a:srgbClr val="FF0000"/>
              </a:solidFill>
            </a:endParaRPr>
          </a:p>
        </p:txBody>
      </p:sp>
      <p:sp>
        <p:nvSpPr>
          <p:cNvPr id="33" name="TextBox 32"/>
          <p:cNvSpPr txBox="1"/>
          <p:nvPr/>
        </p:nvSpPr>
        <p:spPr>
          <a:xfrm>
            <a:off x="533400" y="4724400"/>
            <a:ext cx="8229600" cy="1477328"/>
          </a:xfrm>
          <a:prstGeom prst="rect">
            <a:avLst/>
          </a:prstGeom>
          <a:noFill/>
        </p:spPr>
        <p:txBody>
          <a:bodyPr wrap="square" rtlCol="0">
            <a:spAutoFit/>
          </a:bodyPr>
          <a:lstStyle/>
          <a:p>
            <a:r>
              <a:rPr lang="en-US" dirty="0" smtClean="0">
                <a:solidFill>
                  <a:schemeClr val="tx1"/>
                </a:solidFill>
              </a:rPr>
              <a:t>The “Flat Memory” model – all accesses to Memory from the Processor take the same amount of time.  It therefore doesn’t matter where you put your data.</a:t>
            </a:r>
          </a:p>
          <a:p>
            <a:endParaRPr lang="en-US" dirty="0" smtClean="0">
              <a:solidFill>
                <a:schemeClr val="tx1"/>
              </a:solidFill>
            </a:endParaRPr>
          </a:p>
          <a:p>
            <a:r>
              <a:rPr lang="en-US" dirty="0" smtClean="0">
                <a:solidFill>
                  <a:schemeClr val="tx1"/>
                </a:solidFill>
              </a:rPr>
              <a:t>This hasn’t been true for many years.  It was once a pretty good approximation of reality, and it is still always the easiest abstraction.</a:t>
            </a:r>
            <a:endParaRPr lang="en-US" dirty="0">
              <a:solidFill>
                <a:schemeClr val="tx1"/>
              </a:solidFill>
            </a:endParaRPr>
          </a:p>
        </p:txBody>
      </p:sp>
    </p:spTree>
    <p:extLst>
      <p:ext uri="{BB962C8B-B14F-4D97-AF65-F5344CB8AC3E}">
        <p14:creationId xmlns:p14="http://schemas.microsoft.com/office/powerpoint/2010/main" val="361845989"/>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826" name="Rectangle 2"/>
          <p:cNvSpPr>
            <a:spLocks noGrp="1" noChangeArrowheads="1"/>
          </p:cNvSpPr>
          <p:nvPr>
            <p:ph type="title"/>
          </p:nvPr>
        </p:nvSpPr>
        <p:spPr>
          <a:xfrm>
            <a:off x="533400" y="228600"/>
            <a:ext cx="7405688" cy="422275"/>
          </a:xfrm>
          <a:noFill/>
          <a:ln/>
        </p:spPr>
        <p:txBody>
          <a:bodyPr wrap="none"/>
          <a:lstStyle/>
          <a:p>
            <a:r>
              <a:rPr lang="en-US" dirty="0" smtClean="0"/>
              <a:t>Major </a:t>
            </a:r>
            <a:r>
              <a:rPr lang="en-US" dirty="0"/>
              <a:t>Components of a Computer</a:t>
            </a:r>
          </a:p>
        </p:txBody>
      </p:sp>
      <p:sp>
        <p:nvSpPr>
          <p:cNvPr id="1485827" name="Rectangle 3"/>
          <p:cNvSpPr>
            <a:spLocks noChangeArrowheads="1"/>
          </p:cNvSpPr>
          <p:nvPr/>
        </p:nvSpPr>
        <p:spPr bwMode="auto">
          <a:xfrm>
            <a:off x="1905000" y="1447800"/>
            <a:ext cx="5143500" cy="28575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485828" name="Rectangle 4"/>
          <p:cNvSpPr>
            <a:spLocks noChangeArrowheads="1"/>
          </p:cNvSpPr>
          <p:nvPr/>
        </p:nvSpPr>
        <p:spPr bwMode="auto">
          <a:xfrm>
            <a:off x="2286000" y="1778000"/>
            <a:ext cx="1460500" cy="21971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485829" name="Rectangle 5"/>
          <p:cNvSpPr>
            <a:spLocks noChangeArrowheads="1"/>
          </p:cNvSpPr>
          <p:nvPr/>
        </p:nvSpPr>
        <p:spPr bwMode="auto">
          <a:xfrm>
            <a:off x="2317750" y="1905000"/>
            <a:ext cx="1308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 Processor</a:t>
            </a:r>
          </a:p>
        </p:txBody>
      </p:sp>
      <p:sp>
        <p:nvSpPr>
          <p:cNvPr id="1485830" name="Rectangle 6"/>
          <p:cNvSpPr>
            <a:spLocks noChangeArrowheads="1"/>
          </p:cNvSpPr>
          <p:nvPr/>
        </p:nvSpPr>
        <p:spPr bwMode="auto">
          <a:xfrm>
            <a:off x="3937000" y="1778000"/>
            <a:ext cx="1333500" cy="22225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485831" name="Rectangle 7"/>
          <p:cNvSpPr>
            <a:spLocks noChangeArrowheads="1"/>
          </p:cNvSpPr>
          <p:nvPr/>
        </p:nvSpPr>
        <p:spPr bwMode="auto">
          <a:xfrm>
            <a:off x="5435600" y="1778000"/>
            <a:ext cx="1333500" cy="22225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485832" name="AutoShape 8"/>
          <p:cNvSpPr>
            <a:spLocks noChangeArrowheads="1"/>
          </p:cNvSpPr>
          <p:nvPr/>
        </p:nvSpPr>
        <p:spPr bwMode="auto">
          <a:xfrm>
            <a:off x="2489200" y="24638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485833" name="AutoShape 9"/>
          <p:cNvSpPr>
            <a:spLocks noChangeArrowheads="1"/>
          </p:cNvSpPr>
          <p:nvPr/>
        </p:nvSpPr>
        <p:spPr bwMode="auto">
          <a:xfrm>
            <a:off x="2489200" y="32258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485834" name="Rectangle 10"/>
          <p:cNvSpPr>
            <a:spLocks noChangeArrowheads="1"/>
          </p:cNvSpPr>
          <p:nvPr/>
        </p:nvSpPr>
        <p:spPr bwMode="auto">
          <a:xfrm>
            <a:off x="2540000" y="2628900"/>
            <a:ext cx="9398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Control</a:t>
            </a:r>
          </a:p>
        </p:txBody>
      </p:sp>
      <p:sp>
        <p:nvSpPr>
          <p:cNvPr id="1485835" name="Rectangle 11"/>
          <p:cNvSpPr>
            <a:spLocks noChangeArrowheads="1"/>
          </p:cNvSpPr>
          <p:nvPr/>
        </p:nvSpPr>
        <p:spPr bwMode="auto">
          <a:xfrm>
            <a:off x="2438400" y="3429000"/>
            <a:ext cx="11049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Datapath</a:t>
            </a:r>
          </a:p>
        </p:txBody>
      </p:sp>
      <p:sp>
        <p:nvSpPr>
          <p:cNvPr id="1485836" name="Rectangle 12"/>
          <p:cNvSpPr>
            <a:spLocks noChangeArrowheads="1"/>
          </p:cNvSpPr>
          <p:nvPr/>
        </p:nvSpPr>
        <p:spPr bwMode="auto">
          <a:xfrm>
            <a:off x="4114800" y="2743200"/>
            <a:ext cx="1038746" cy="293670"/>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dirty="0">
                <a:solidFill>
                  <a:srgbClr val="FF0000"/>
                </a:solidFill>
              </a:rPr>
              <a:t>Memory</a:t>
            </a:r>
          </a:p>
        </p:txBody>
      </p:sp>
      <p:sp>
        <p:nvSpPr>
          <p:cNvPr id="1485837" name="Rectangle 13"/>
          <p:cNvSpPr>
            <a:spLocks noChangeArrowheads="1"/>
          </p:cNvSpPr>
          <p:nvPr/>
        </p:nvSpPr>
        <p:spPr bwMode="auto">
          <a:xfrm>
            <a:off x="5562600" y="1968500"/>
            <a:ext cx="9906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Devices</a:t>
            </a:r>
          </a:p>
        </p:txBody>
      </p:sp>
      <p:sp>
        <p:nvSpPr>
          <p:cNvPr id="1485838" name="AutoShape 14"/>
          <p:cNvSpPr>
            <a:spLocks noChangeArrowheads="1"/>
          </p:cNvSpPr>
          <p:nvPr/>
        </p:nvSpPr>
        <p:spPr bwMode="auto">
          <a:xfrm>
            <a:off x="5562600" y="25146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485839" name="AutoShape 15"/>
          <p:cNvSpPr>
            <a:spLocks noChangeArrowheads="1"/>
          </p:cNvSpPr>
          <p:nvPr/>
        </p:nvSpPr>
        <p:spPr bwMode="auto">
          <a:xfrm>
            <a:off x="5562600" y="32766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485840" name="Rectangle 16"/>
          <p:cNvSpPr>
            <a:spLocks noChangeArrowheads="1"/>
          </p:cNvSpPr>
          <p:nvPr/>
        </p:nvSpPr>
        <p:spPr bwMode="auto">
          <a:xfrm>
            <a:off x="5613400" y="2679700"/>
            <a:ext cx="6858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Input</a:t>
            </a:r>
          </a:p>
        </p:txBody>
      </p:sp>
      <p:sp>
        <p:nvSpPr>
          <p:cNvPr id="1485841" name="Rectangle 17"/>
          <p:cNvSpPr>
            <a:spLocks noChangeArrowheads="1"/>
          </p:cNvSpPr>
          <p:nvPr/>
        </p:nvSpPr>
        <p:spPr bwMode="auto">
          <a:xfrm>
            <a:off x="5613400" y="3441700"/>
            <a:ext cx="8763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Output</a:t>
            </a:r>
          </a:p>
        </p:txBody>
      </p:sp>
      <p:sp>
        <p:nvSpPr>
          <p:cNvPr id="1485842" name="Rectangle 18"/>
          <p:cNvSpPr>
            <a:spLocks noChangeArrowheads="1"/>
          </p:cNvSpPr>
          <p:nvPr/>
        </p:nvSpPr>
        <p:spPr bwMode="auto">
          <a:xfrm>
            <a:off x="131763" y="2943225"/>
            <a:ext cx="180975" cy="363538"/>
          </a:xfrm>
          <a:prstGeom prst="rect">
            <a:avLst/>
          </a:prstGeom>
          <a:noFill/>
          <a:ln w="12700">
            <a:noFill/>
            <a:miter lim="800000"/>
            <a:headEnd/>
            <a:tailEnd/>
          </a:ln>
          <a:effectLst/>
        </p:spPr>
        <p:txBody>
          <a:bodyPr wrap="none" lIns="90488" tIns="44450" rIns="90488" bIns="44450">
            <a:spAutoFit/>
          </a:bodyPr>
          <a:lstStyle/>
          <a:p>
            <a:endParaRPr lang="en-US">
              <a:solidFill>
                <a:schemeClr val="tx1"/>
              </a:solidFill>
            </a:endParaRPr>
          </a:p>
        </p:txBody>
      </p:sp>
      <p:grpSp>
        <p:nvGrpSpPr>
          <p:cNvPr id="2" name="Group 19"/>
          <p:cNvGrpSpPr>
            <a:grpSpLocks/>
          </p:cNvGrpSpPr>
          <p:nvPr/>
        </p:nvGrpSpPr>
        <p:grpSpPr bwMode="auto">
          <a:xfrm>
            <a:off x="3276600" y="3730625"/>
            <a:ext cx="2590800" cy="2746375"/>
            <a:chOff x="2160" y="2304"/>
            <a:chExt cx="1632" cy="1730"/>
          </a:xfrm>
        </p:grpSpPr>
        <p:sp>
          <p:nvSpPr>
            <p:cNvPr id="20" name="Rectangle 20"/>
            <p:cNvSpPr>
              <a:spLocks noChangeArrowheads="1"/>
            </p:cNvSpPr>
            <p:nvPr/>
          </p:nvSpPr>
          <p:spPr bwMode="auto">
            <a:xfrm>
              <a:off x="2170" y="2890"/>
              <a:ext cx="416" cy="616"/>
            </a:xfrm>
            <a:prstGeom prst="rect">
              <a:avLst/>
            </a:prstGeom>
            <a:noFill/>
            <a:ln w="25400">
              <a:solidFill>
                <a:schemeClr val="tx1"/>
              </a:solidFill>
              <a:miter lim="800000"/>
              <a:headEnd/>
              <a:tailEnd/>
            </a:ln>
            <a:effectLst/>
          </p:spPr>
          <p:txBody>
            <a:bodyPr wrap="none" anchor="ctr"/>
            <a:lstStyle/>
            <a:p>
              <a:endParaRPr lang="en-US"/>
            </a:p>
          </p:txBody>
        </p:sp>
        <p:sp>
          <p:nvSpPr>
            <p:cNvPr id="21" name="Rectangle 21"/>
            <p:cNvSpPr>
              <a:spLocks noChangeArrowheads="1"/>
            </p:cNvSpPr>
            <p:nvPr/>
          </p:nvSpPr>
          <p:spPr bwMode="auto">
            <a:xfrm rot="5400000">
              <a:off x="2139" y="3007"/>
              <a:ext cx="503" cy="212"/>
            </a:xfrm>
            <a:prstGeom prst="rect">
              <a:avLst/>
            </a:prstGeom>
            <a:noFill/>
            <a:ln w="12700">
              <a:noFill/>
              <a:miter lim="800000"/>
              <a:headEnd/>
              <a:tailEnd/>
            </a:ln>
            <a:effectLst/>
          </p:spPr>
          <p:txBody>
            <a:bodyPr wrap="none" lIns="90488" tIns="44450" rIns="90488" bIns="44450">
              <a:spAutoFit/>
            </a:bodyPr>
            <a:lstStyle/>
            <a:p>
              <a:r>
                <a:rPr lang="en-US" sz="1600" b="1" dirty="0">
                  <a:solidFill>
                    <a:srgbClr val="FF0000"/>
                  </a:solidFill>
                </a:rPr>
                <a:t>Cache</a:t>
              </a:r>
            </a:p>
          </p:txBody>
        </p:sp>
        <p:sp>
          <p:nvSpPr>
            <p:cNvPr id="22" name="Rectangle 22"/>
            <p:cNvSpPr>
              <a:spLocks noChangeArrowheads="1"/>
            </p:cNvSpPr>
            <p:nvPr/>
          </p:nvSpPr>
          <p:spPr bwMode="auto">
            <a:xfrm>
              <a:off x="2698" y="2890"/>
              <a:ext cx="464" cy="856"/>
            </a:xfrm>
            <a:prstGeom prst="rect">
              <a:avLst/>
            </a:prstGeom>
            <a:noFill/>
            <a:ln w="25400">
              <a:solidFill>
                <a:schemeClr val="tx1"/>
              </a:solidFill>
              <a:miter lim="800000"/>
              <a:headEnd/>
              <a:tailEnd/>
            </a:ln>
            <a:effectLst/>
          </p:spPr>
          <p:txBody>
            <a:bodyPr wrap="none" anchor="ctr"/>
            <a:lstStyle/>
            <a:p>
              <a:endParaRPr lang="en-US"/>
            </a:p>
          </p:txBody>
        </p:sp>
        <p:sp>
          <p:nvSpPr>
            <p:cNvPr id="23" name="Rectangle 23"/>
            <p:cNvSpPr>
              <a:spLocks noChangeArrowheads="1"/>
            </p:cNvSpPr>
            <p:nvPr/>
          </p:nvSpPr>
          <p:spPr bwMode="auto">
            <a:xfrm rot="5400000">
              <a:off x="2616" y="3011"/>
              <a:ext cx="624" cy="367"/>
            </a:xfrm>
            <a:prstGeom prst="rect">
              <a:avLst/>
            </a:prstGeom>
            <a:noFill/>
            <a:ln w="12700">
              <a:noFill/>
              <a:miter lim="800000"/>
              <a:headEnd/>
              <a:tailEnd/>
            </a:ln>
            <a:effectLst/>
          </p:spPr>
          <p:txBody>
            <a:bodyPr wrap="square" lIns="90488" tIns="44450" rIns="90488" bIns="44450">
              <a:spAutoFit/>
            </a:bodyPr>
            <a:lstStyle/>
            <a:p>
              <a:r>
                <a:rPr lang="en-US" sz="1600" b="1" dirty="0">
                  <a:solidFill>
                    <a:srgbClr val="FF0000"/>
                  </a:solidFill>
                </a:rPr>
                <a:t>Main Memory</a:t>
              </a:r>
            </a:p>
          </p:txBody>
        </p:sp>
        <p:sp>
          <p:nvSpPr>
            <p:cNvPr id="24" name="Rectangle 24"/>
            <p:cNvSpPr>
              <a:spLocks noChangeArrowheads="1"/>
            </p:cNvSpPr>
            <p:nvPr/>
          </p:nvSpPr>
          <p:spPr bwMode="auto">
            <a:xfrm>
              <a:off x="3274" y="2890"/>
              <a:ext cx="512" cy="1144"/>
            </a:xfrm>
            <a:prstGeom prst="rect">
              <a:avLst/>
            </a:prstGeom>
            <a:noFill/>
            <a:ln w="25400">
              <a:solidFill>
                <a:schemeClr val="tx1"/>
              </a:solidFill>
              <a:miter lim="800000"/>
              <a:headEnd/>
              <a:tailEnd/>
            </a:ln>
            <a:effectLst/>
          </p:spPr>
          <p:txBody>
            <a:bodyPr wrap="none" anchor="ctr"/>
            <a:lstStyle/>
            <a:p>
              <a:endParaRPr lang="en-US"/>
            </a:p>
          </p:txBody>
        </p:sp>
        <p:sp>
          <p:nvSpPr>
            <p:cNvPr id="25" name="Rectangle 25"/>
            <p:cNvSpPr>
              <a:spLocks noChangeArrowheads="1"/>
            </p:cNvSpPr>
            <p:nvPr/>
          </p:nvSpPr>
          <p:spPr bwMode="auto">
            <a:xfrm rot="5400000">
              <a:off x="3159" y="3083"/>
              <a:ext cx="768" cy="367"/>
            </a:xfrm>
            <a:prstGeom prst="rect">
              <a:avLst/>
            </a:prstGeom>
            <a:noFill/>
            <a:ln w="12700">
              <a:noFill/>
              <a:miter lim="800000"/>
              <a:headEnd/>
              <a:tailEnd/>
            </a:ln>
            <a:effectLst/>
          </p:spPr>
          <p:txBody>
            <a:bodyPr wrap="square" lIns="90488" tIns="44450" rIns="90488" bIns="44450">
              <a:spAutoFit/>
            </a:bodyPr>
            <a:lstStyle/>
            <a:p>
              <a:pPr algn="ctr"/>
              <a:r>
                <a:rPr lang="en-US" sz="1600" b="1" dirty="0">
                  <a:solidFill>
                    <a:srgbClr val="FF0000"/>
                  </a:solidFill>
                </a:rPr>
                <a:t>Secondary </a:t>
              </a:r>
              <a:r>
                <a:rPr lang="en-US" sz="1600" b="1" dirty="0" smtClean="0">
                  <a:solidFill>
                    <a:srgbClr val="FF0000"/>
                  </a:solidFill>
                </a:rPr>
                <a:t>Memory</a:t>
              </a:r>
            </a:p>
          </p:txBody>
        </p:sp>
        <p:sp>
          <p:nvSpPr>
            <p:cNvPr id="26" name="Line 26"/>
            <p:cNvSpPr>
              <a:spLocks noChangeShapeType="1"/>
            </p:cNvSpPr>
            <p:nvPr/>
          </p:nvSpPr>
          <p:spPr bwMode="auto">
            <a:xfrm flipH="1">
              <a:off x="2160" y="2304"/>
              <a:ext cx="420" cy="576"/>
            </a:xfrm>
            <a:prstGeom prst="line">
              <a:avLst/>
            </a:prstGeom>
            <a:noFill/>
            <a:ln w="12700">
              <a:solidFill>
                <a:schemeClr val="accent1"/>
              </a:solidFill>
              <a:round/>
              <a:headEnd/>
              <a:tailEnd/>
            </a:ln>
            <a:effectLst/>
          </p:spPr>
          <p:txBody>
            <a:bodyPr/>
            <a:lstStyle/>
            <a:p>
              <a:endParaRPr lang="en-US"/>
            </a:p>
          </p:txBody>
        </p:sp>
        <p:sp>
          <p:nvSpPr>
            <p:cNvPr id="27" name="Line 27"/>
            <p:cNvSpPr>
              <a:spLocks noChangeShapeType="1"/>
            </p:cNvSpPr>
            <p:nvPr/>
          </p:nvSpPr>
          <p:spPr bwMode="auto">
            <a:xfrm>
              <a:off x="3408" y="2306"/>
              <a:ext cx="384" cy="574"/>
            </a:xfrm>
            <a:prstGeom prst="line">
              <a:avLst/>
            </a:prstGeom>
            <a:noFill/>
            <a:ln w="12700">
              <a:solidFill>
                <a:schemeClr val="accent1"/>
              </a:solidFill>
              <a:round/>
              <a:headEnd/>
              <a:tailEnd/>
            </a:ln>
            <a:effectLst/>
          </p:spPr>
          <p:txBody>
            <a:bodyPr/>
            <a:lstStyle/>
            <a:p>
              <a:endParaRPr lang="en-US"/>
            </a:p>
          </p:txBody>
        </p:sp>
      </p:grpSp>
      <p:sp>
        <p:nvSpPr>
          <p:cNvPr id="28" name="TextBox 27"/>
          <p:cNvSpPr txBox="1"/>
          <p:nvPr/>
        </p:nvSpPr>
        <p:spPr>
          <a:xfrm>
            <a:off x="2667000" y="2133600"/>
            <a:ext cx="990600" cy="307777"/>
          </a:xfrm>
          <a:prstGeom prst="rect">
            <a:avLst/>
          </a:prstGeom>
          <a:noFill/>
        </p:spPr>
        <p:txBody>
          <a:bodyPr wrap="square" rtlCol="0">
            <a:spAutoFit/>
          </a:bodyPr>
          <a:lstStyle/>
          <a:p>
            <a:r>
              <a:rPr lang="en-US" sz="1400" dirty="0" smtClean="0">
                <a:solidFill>
                  <a:srgbClr val="FF0000"/>
                </a:solidFill>
              </a:rPr>
              <a:t>Registers</a:t>
            </a:r>
            <a:endParaRPr lang="en-US" sz="1400" dirty="0">
              <a:solidFill>
                <a:srgbClr val="FF0000"/>
              </a:solidFill>
            </a:endParaRPr>
          </a:p>
        </p:txBody>
      </p:sp>
      <p:sp>
        <p:nvSpPr>
          <p:cNvPr id="29" name="TextBox 28"/>
          <p:cNvSpPr txBox="1"/>
          <p:nvPr/>
        </p:nvSpPr>
        <p:spPr>
          <a:xfrm>
            <a:off x="1905000" y="762000"/>
            <a:ext cx="5105400" cy="646331"/>
          </a:xfrm>
          <a:prstGeom prst="rect">
            <a:avLst/>
          </a:prstGeom>
          <a:noFill/>
        </p:spPr>
        <p:txBody>
          <a:bodyPr wrap="square" rtlCol="0">
            <a:spAutoFit/>
          </a:bodyPr>
          <a:lstStyle/>
          <a:p>
            <a:r>
              <a:rPr lang="en-US" dirty="0" smtClean="0">
                <a:solidFill>
                  <a:srgbClr val="FF0000"/>
                </a:solidFill>
              </a:rPr>
              <a:t>Data-centric view:</a:t>
            </a:r>
          </a:p>
          <a:p>
            <a:r>
              <a:rPr lang="en-US" dirty="0" smtClean="0">
                <a:solidFill>
                  <a:srgbClr val="FF0000"/>
                </a:solidFill>
              </a:rPr>
              <a:t>   Transformations      Storage     Communication</a:t>
            </a:r>
            <a:endParaRPr lang="en-US" dirty="0">
              <a:solidFill>
                <a:srgbClr val="FF0000"/>
              </a:solidFill>
            </a:endParaRPr>
          </a:p>
        </p:txBody>
      </p:sp>
      <p:sp>
        <p:nvSpPr>
          <p:cNvPr id="30" name="TextBox 29"/>
          <p:cNvSpPr txBox="1"/>
          <p:nvPr/>
        </p:nvSpPr>
        <p:spPr>
          <a:xfrm>
            <a:off x="5029200" y="6096000"/>
            <a:ext cx="838200" cy="307777"/>
          </a:xfrm>
          <a:prstGeom prst="rect">
            <a:avLst/>
          </a:prstGeom>
          <a:noFill/>
        </p:spPr>
        <p:txBody>
          <a:bodyPr wrap="square" rtlCol="0">
            <a:spAutoFit/>
          </a:bodyPr>
          <a:lstStyle/>
          <a:p>
            <a:pPr algn="ctr"/>
            <a:r>
              <a:rPr lang="en-US" sz="1400" dirty="0" smtClean="0">
                <a:solidFill>
                  <a:srgbClr val="FF0000"/>
                </a:solidFill>
              </a:rPr>
              <a:t>Disk</a:t>
            </a:r>
            <a:endParaRPr lang="en-US" sz="1400" dirty="0">
              <a:solidFill>
                <a:srgbClr val="FF0000"/>
              </a:solidFill>
            </a:endParaRPr>
          </a:p>
        </p:txBody>
      </p:sp>
      <p:sp>
        <p:nvSpPr>
          <p:cNvPr id="31" name="TextBox 30"/>
          <p:cNvSpPr txBox="1"/>
          <p:nvPr/>
        </p:nvSpPr>
        <p:spPr>
          <a:xfrm>
            <a:off x="4114800" y="5715000"/>
            <a:ext cx="762000" cy="307777"/>
          </a:xfrm>
          <a:prstGeom prst="rect">
            <a:avLst/>
          </a:prstGeom>
          <a:noFill/>
        </p:spPr>
        <p:txBody>
          <a:bodyPr wrap="square" rtlCol="0">
            <a:spAutoFit/>
          </a:bodyPr>
          <a:lstStyle/>
          <a:p>
            <a:pPr algn="ctr"/>
            <a:r>
              <a:rPr lang="en-US" sz="1400" dirty="0" smtClean="0">
                <a:solidFill>
                  <a:srgbClr val="FF0000"/>
                </a:solidFill>
              </a:rPr>
              <a:t>DRAM</a:t>
            </a:r>
            <a:endParaRPr lang="en-US" sz="1400" dirty="0">
              <a:solidFill>
                <a:srgbClr val="FF0000"/>
              </a:solidFill>
            </a:endParaRPr>
          </a:p>
        </p:txBody>
      </p:sp>
      <p:sp>
        <p:nvSpPr>
          <p:cNvPr id="32" name="TextBox 31"/>
          <p:cNvSpPr txBox="1"/>
          <p:nvPr/>
        </p:nvSpPr>
        <p:spPr>
          <a:xfrm>
            <a:off x="3200400" y="5334000"/>
            <a:ext cx="838200" cy="307777"/>
          </a:xfrm>
          <a:prstGeom prst="rect">
            <a:avLst/>
          </a:prstGeom>
          <a:noFill/>
        </p:spPr>
        <p:txBody>
          <a:bodyPr wrap="square" rtlCol="0">
            <a:spAutoFit/>
          </a:bodyPr>
          <a:lstStyle/>
          <a:p>
            <a:pPr algn="ctr"/>
            <a:r>
              <a:rPr lang="en-US" sz="1400" dirty="0" smtClean="0">
                <a:solidFill>
                  <a:srgbClr val="FF0000"/>
                </a:solidFill>
              </a:rPr>
              <a:t>SRAM</a:t>
            </a:r>
            <a:endParaRPr lang="en-US" sz="1400" dirty="0">
              <a:solidFill>
                <a:srgbClr val="FF0000"/>
              </a:solidFill>
            </a:endParaRPr>
          </a:p>
        </p:txBody>
      </p:sp>
      <p:sp>
        <p:nvSpPr>
          <p:cNvPr id="33" name="TextBox 32"/>
          <p:cNvSpPr txBox="1"/>
          <p:nvPr/>
        </p:nvSpPr>
        <p:spPr>
          <a:xfrm>
            <a:off x="6019800" y="4419600"/>
            <a:ext cx="2895600" cy="2031325"/>
          </a:xfrm>
          <a:prstGeom prst="rect">
            <a:avLst/>
          </a:prstGeom>
          <a:noFill/>
        </p:spPr>
        <p:txBody>
          <a:bodyPr wrap="square" rtlCol="0">
            <a:spAutoFit/>
          </a:bodyPr>
          <a:lstStyle/>
          <a:p>
            <a:r>
              <a:rPr lang="en-US" dirty="0" smtClean="0">
                <a:solidFill>
                  <a:schemeClr val="tx1"/>
                </a:solidFill>
              </a:rPr>
              <a:t>The “Hierarchical Memory” model – accesses to Memory from the Processor may take vastly different amounts of time.  It therefore does matter where you put your data.</a:t>
            </a:r>
          </a:p>
        </p:txBody>
      </p:sp>
    </p:spTree>
    <p:extLst>
      <p:ext uri="{BB962C8B-B14F-4D97-AF65-F5344CB8AC3E}">
        <p14:creationId xmlns:p14="http://schemas.microsoft.com/office/powerpoint/2010/main" val="89198874"/>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650" name="Rectangle 2"/>
          <p:cNvSpPr>
            <a:spLocks noGrp="1" noChangeArrowheads="1"/>
          </p:cNvSpPr>
          <p:nvPr>
            <p:ph type="title"/>
          </p:nvPr>
        </p:nvSpPr>
        <p:spPr>
          <a:xfrm>
            <a:off x="609600" y="263525"/>
            <a:ext cx="5919890" cy="426142"/>
          </a:xfrm>
          <a:noFill/>
          <a:ln/>
        </p:spPr>
        <p:txBody>
          <a:bodyPr wrap="none"/>
          <a:lstStyle/>
          <a:p>
            <a:r>
              <a:rPr lang="en-US" dirty="0" smtClean="0"/>
              <a:t>Major </a:t>
            </a:r>
            <a:r>
              <a:rPr lang="en-US" dirty="0"/>
              <a:t>Components of a Computer</a:t>
            </a:r>
          </a:p>
        </p:txBody>
      </p:sp>
      <p:sp>
        <p:nvSpPr>
          <p:cNvPr id="1051651" name="Rectangle 3"/>
          <p:cNvSpPr>
            <a:spLocks noChangeArrowheads="1"/>
          </p:cNvSpPr>
          <p:nvPr/>
        </p:nvSpPr>
        <p:spPr bwMode="auto">
          <a:xfrm>
            <a:off x="1905000" y="1450258"/>
            <a:ext cx="5143500" cy="2778842"/>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051652" name="Rectangle 4"/>
          <p:cNvSpPr>
            <a:spLocks noChangeArrowheads="1"/>
          </p:cNvSpPr>
          <p:nvPr/>
        </p:nvSpPr>
        <p:spPr bwMode="auto">
          <a:xfrm>
            <a:off x="2286000" y="1778000"/>
            <a:ext cx="1460500" cy="21971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051653" name="Rectangle 5"/>
          <p:cNvSpPr>
            <a:spLocks noChangeArrowheads="1"/>
          </p:cNvSpPr>
          <p:nvPr/>
        </p:nvSpPr>
        <p:spPr bwMode="auto">
          <a:xfrm>
            <a:off x="2317750" y="1905000"/>
            <a:ext cx="13081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 Processor</a:t>
            </a:r>
          </a:p>
        </p:txBody>
      </p:sp>
      <p:sp>
        <p:nvSpPr>
          <p:cNvPr id="1051654" name="Rectangle 6"/>
          <p:cNvSpPr>
            <a:spLocks noChangeArrowheads="1"/>
          </p:cNvSpPr>
          <p:nvPr/>
        </p:nvSpPr>
        <p:spPr bwMode="auto">
          <a:xfrm>
            <a:off x="3937000" y="1778000"/>
            <a:ext cx="1333500" cy="22225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051655" name="Rectangle 7"/>
          <p:cNvSpPr>
            <a:spLocks noChangeArrowheads="1"/>
          </p:cNvSpPr>
          <p:nvPr/>
        </p:nvSpPr>
        <p:spPr bwMode="auto">
          <a:xfrm>
            <a:off x="5435600" y="1778000"/>
            <a:ext cx="1333500" cy="22225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051656" name="AutoShape 8"/>
          <p:cNvSpPr>
            <a:spLocks noChangeArrowheads="1"/>
          </p:cNvSpPr>
          <p:nvPr/>
        </p:nvSpPr>
        <p:spPr bwMode="auto">
          <a:xfrm>
            <a:off x="2489200" y="24638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051657" name="AutoShape 9"/>
          <p:cNvSpPr>
            <a:spLocks noChangeArrowheads="1"/>
          </p:cNvSpPr>
          <p:nvPr/>
        </p:nvSpPr>
        <p:spPr bwMode="auto">
          <a:xfrm>
            <a:off x="2489200" y="32258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051658" name="Rectangle 10"/>
          <p:cNvSpPr>
            <a:spLocks noChangeArrowheads="1"/>
          </p:cNvSpPr>
          <p:nvPr/>
        </p:nvSpPr>
        <p:spPr bwMode="auto">
          <a:xfrm>
            <a:off x="2540000" y="2628900"/>
            <a:ext cx="9398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Control</a:t>
            </a:r>
          </a:p>
        </p:txBody>
      </p:sp>
      <p:sp>
        <p:nvSpPr>
          <p:cNvPr id="1051659" name="Rectangle 11"/>
          <p:cNvSpPr>
            <a:spLocks noChangeArrowheads="1"/>
          </p:cNvSpPr>
          <p:nvPr/>
        </p:nvSpPr>
        <p:spPr bwMode="auto">
          <a:xfrm>
            <a:off x="2438400" y="3429000"/>
            <a:ext cx="11049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dirty="0" err="1">
                <a:solidFill>
                  <a:schemeClr val="tx1"/>
                </a:solidFill>
              </a:rPr>
              <a:t>Datapath</a:t>
            </a:r>
            <a:endParaRPr lang="en-US" b="1" dirty="0">
              <a:solidFill>
                <a:schemeClr val="tx1"/>
              </a:solidFill>
            </a:endParaRPr>
          </a:p>
        </p:txBody>
      </p:sp>
      <p:sp>
        <p:nvSpPr>
          <p:cNvPr id="1051660" name="Rectangle 12"/>
          <p:cNvSpPr>
            <a:spLocks noChangeArrowheads="1"/>
          </p:cNvSpPr>
          <p:nvPr/>
        </p:nvSpPr>
        <p:spPr bwMode="auto">
          <a:xfrm>
            <a:off x="4114800" y="2743200"/>
            <a:ext cx="1038746" cy="293670"/>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dirty="0">
                <a:solidFill>
                  <a:srgbClr val="FF0000"/>
                </a:solidFill>
              </a:rPr>
              <a:t>Memory</a:t>
            </a:r>
          </a:p>
        </p:txBody>
      </p:sp>
      <p:sp>
        <p:nvSpPr>
          <p:cNvPr id="1051661" name="Rectangle 13"/>
          <p:cNvSpPr>
            <a:spLocks noChangeArrowheads="1"/>
          </p:cNvSpPr>
          <p:nvPr/>
        </p:nvSpPr>
        <p:spPr bwMode="auto">
          <a:xfrm>
            <a:off x="5562600" y="1968500"/>
            <a:ext cx="9906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Devices</a:t>
            </a:r>
          </a:p>
        </p:txBody>
      </p:sp>
      <p:sp>
        <p:nvSpPr>
          <p:cNvPr id="1051662" name="AutoShape 14"/>
          <p:cNvSpPr>
            <a:spLocks noChangeArrowheads="1"/>
          </p:cNvSpPr>
          <p:nvPr/>
        </p:nvSpPr>
        <p:spPr bwMode="auto">
          <a:xfrm>
            <a:off x="5562600" y="25146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051663" name="AutoShape 15"/>
          <p:cNvSpPr>
            <a:spLocks noChangeArrowheads="1"/>
          </p:cNvSpPr>
          <p:nvPr/>
        </p:nvSpPr>
        <p:spPr bwMode="auto">
          <a:xfrm>
            <a:off x="5562600" y="3276600"/>
            <a:ext cx="1079500" cy="596900"/>
          </a:xfrm>
          <a:prstGeom prst="roundRect">
            <a:avLst>
              <a:gd name="adj" fmla="val 12495"/>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1051664" name="Rectangle 16"/>
          <p:cNvSpPr>
            <a:spLocks noChangeArrowheads="1"/>
          </p:cNvSpPr>
          <p:nvPr/>
        </p:nvSpPr>
        <p:spPr bwMode="auto">
          <a:xfrm>
            <a:off x="5613400" y="2679700"/>
            <a:ext cx="6858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Input</a:t>
            </a:r>
          </a:p>
        </p:txBody>
      </p:sp>
      <p:sp>
        <p:nvSpPr>
          <p:cNvPr id="1051665" name="Rectangle 17"/>
          <p:cNvSpPr>
            <a:spLocks noChangeArrowheads="1"/>
          </p:cNvSpPr>
          <p:nvPr/>
        </p:nvSpPr>
        <p:spPr bwMode="auto">
          <a:xfrm>
            <a:off x="5613400" y="3441700"/>
            <a:ext cx="8763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Output</a:t>
            </a:r>
          </a:p>
        </p:txBody>
      </p:sp>
      <p:sp>
        <p:nvSpPr>
          <p:cNvPr id="1051666" name="Rectangle 18"/>
          <p:cNvSpPr>
            <a:spLocks noChangeArrowheads="1"/>
          </p:cNvSpPr>
          <p:nvPr/>
        </p:nvSpPr>
        <p:spPr bwMode="auto">
          <a:xfrm>
            <a:off x="131763" y="2943225"/>
            <a:ext cx="180975" cy="363538"/>
          </a:xfrm>
          <a:prstGeom prst="rect">
            <a:avLst/>
          </a:prstGeom>
          <a:noFill/>
          <a:ln w="12700">
            <a:noFill/>
            <a:miter lim="800000"/>
            <a:headEnd/>
            <a:tailEnd/>
          </a:ln>
          <a:effectLst/>
        </p:spPr>
        <p:txBody>
          <a:bodyPr wrap="none" lIns="90488" tIns="44450" rIns="90488" bIns="44450">
            <a:spAutoFit/>
          </a:bodyPr>
          <a:lstStyle/>
          <a:p>
            <a:endParaRPr lang="en-US">
              <a:solidFill>
                <a:schemeClr val="tx1"/>
              </a:solidFill>
            </a:endParaRPr>
          </a:p>
        </p:txBody>
      </p:sp>
      <p:grpSp>
        <p:nvGrpSpPr>
          <p:cNvPr id="5" name="Group 4"/>
          <p:cNvGrpSpPr/>
          <p:nvPr/>
        </p:nvGrpSpPr>
        <p:grpSpPr>
          <a:xfrm>
            <a:off x="2585521" y="4586450"/>
            <a:ext cx="521642" cy="1095052"/>
            <a:chOff x="3224928" y="4583275"/>
            <a:chExt cx="521642" cy="1095052"/>
          </a:xfrm>
        </p:grpSpPr>
        <p:sp>
          <p:nvSpPr>
            <p:cNvPr id="1051668" name="Rectangle 20"/>
            <p:cNvSpPr>
              <a:spLocks noChangeArrowheads="1"/>
            </p:cNvSpPr>
            <p:nvPr/>
          </p:nvSpPr>
          <p:spPr bwMode="auto">
            <a:xfrm>
              <a:off x="3224928" y="4660901"/>
              <a:ext cx="521642" cy="977900"/>
            </a:xfrm>
            <a:prstGeom prst="rect">
              <a:avLst/>
            </a:prstGeom>
            <a:noFill/>
            <a:ln w="25400">
              <a:solidFill>
                <a:schemeClr val="tx1"/>
              </a:solidFill>
              <a:miter lim="800000"/>
              <a:headEnd/>
              <a:tailEnd/>
            </a:ln>
            <a:effectLst/>
          </p:spPr>
          <p:txBody>
            <a:bodyPr wrap="none" anchor="ctr"/>
            <a:lstStyle/>
            <a:p>
              <a:endParaRPr lang="en-US"/>
            </a:p>
          </p:txBody>
        </p:sp>
        <p:sp>
          <p:nvSpPr>
            <p:cNvPr id="1051669" name="Rectangle 21"/>
            <p:cNvSpPr>
              <a:spLocks noChangeArrowheads="1"/>
            </p:cNvSpPr>
            <p:nvPr/>
          </p:nvSpPr>
          <p:spPr bwMode="auto">
            <a:xfrm rot="5400000">
              <a:off x="2890242" y="4962806"/>
              <a:ext cx="1095052" cy="335989"/>
            </a:xfrm>
            <a:prstGeom prst="rect">
              <a:avLst/>
            </a:prstGeom>
            <a:noFill/>
            <a:ln w="12700">
              <a:noFill/>
              <a:miter lim="800000"/>
              <a:headEnd/>
              <a:tailEnd/>
            </a:ln>
            <a:effectLst/>
          </p:spPr>
          <p:txBody>
            <a:bodyPr wrap="none" lIns="90488" tIns="44450" rIns="90488" bIns="44450">
              <a:spAutoFit/>
            </a:bodyPr>
            <a:lstStyle/>
            <a:p>
              <a:r>
                <a:rPr lang="en-US" sz="1600" b="1" dirty="0" smtClean="0"/>
                <a:t>L2 Cache</a:t>
              </a:r>
              <a:endParaRPr lang="en-US" sz="1600" b="1" dirty="0"/>
            </a:p>
          </p:txBody>
        </p:sp>
      </p:grpSp>
      <p:grpSp>
        <p:nvGrpSpPr>
          <p:cNvPr id="3" name="Group 2"/>
          <p:cNvGrpSpPr/>
          <p:nvPr/>
        </p:nvGrpSpPr>
        <p:grpSpPr>
          <a:xfrm>
            <a:off x="3869599" y="4660901"/>
            <a:ext cx="957164" cy="1358900"/>
            <a:chOff x="3869599" y="4660901"/>
            <a:chExt cx="957164" cy="1358900"/>
          </a:xfrm>
        </p:grpSpPr>
        <p:sp>
          <p:nvSpPr>
            <p:cNvPr id="1051670" name="Rectangle 22"/>
            <p:cNvSpPr>
              <a:spLocks noChangeArrowheads="1"/>
            </p:cNvSpPr>
            <p:nvPr/>
          </p:nvSpPr>
          <p:spPr bwMode="auto">
            <a:xfrm>
              <a:off x="3869599" y="4660901"/>
              <a:ext cx="957164" cy="1358900"/>
            </a:xfrm>
            <a:prstGeom prst="rect">
              <a:avLst/>
            </a:prstGeom>
            <a:noFill/>
            <a:ln w="25400">
              <a:solidFill>
                <a:schemeClr val="tx1"/>
              </a:solidFill>
              <a:miter lim="800000"/>
              <a:headEnd/>
              <a:tailEnd/>
            </a:ln>
            <a:effectLst/>
          </p:spPr>
          <p:txBody>
            <a:bodyPr wrap="none" anchor="ctr"/>
            <a:lstStyle/>
            <a:p>
              <a:endParaRPr lang="en-US"/>
            </a:p>
          </p:txBody>
        </p:sp>
        <p:sp>
          <p:nvSpPr>
            <p:cNvPr id="1051671" name="Rectangle 23"/>
            <p:cNvSpPr>
              <a:spLocks noChangeArrowheads="1"/>
            </p:cNvSpPr>
            <p:nvPr/>
          </p:nvSpPr>
          <p:spPr bwMode="auto">
            <a:xfrm rot="5400000">
              <a:off x="3745923" y="5016229"/>
              <a:ext cx="1143000" cy="583156"/>
            </a:xfrm>
            <a:prstGeom prst="rect">
              <a:avLst/>
            </a:prstGeom>
            <a:noFill/>
            <a:ln w="12700">
              <a:noFill/>
              <a:miter lim="800000"/>
              <a:headEnd/>
              <a:tailEnd/>
            </a:ln>
            <a:effectLst/>
          </p:spPr>
          <p:txBody>
            <a:bodyPr lIns="90488" tIns="44450" rIns="90488" bIns="44450">
              <a:spAutoFit/>
            </a:bodyPr>
            <a:lstStyle/>
            <a:p>
              <a:r>
                <a:rPr lang="en-US" sz="1600" b="1" dirty="0"/>
                <a:t>Main </a:t>
              </a:r>
              <a:r>
                <a:rPr lang="en-US" sz="1600" b="1" dirty="0" smtClean="0"/>
                <a:t>Memory</a:t>
              </a:r>
              <a:endParaRPr lang="en-US" sz="1600" b="1" dirty="0"/>
            </a:p>
          </p:txBody>
        </p:sp>
      </p:grpSp>
      <p:grpSp>
        <p:nvGrpSpPr>
          <p:cNvPr id="4" name="Group 3"/>
          <p:cNvGrpSpPr/>
          <p:nvPr/>
        </p:nvGrpSpPr>
        <p:grpSpPr>
          <a:xfrm>
            <a:off x="6025062" y="4660901"/>
            <a:ext cx="1119562" cy="1816100"/>
            <a:chOff x="6025062" y="4660901"/>
            <a:chExt cx="1119562" cy="1816100"/>
          </a:xfrm>
        </p:grpSpPr>
        <p:sp>
          <p:nvSpPr>
            <p:cNvPr id="1051672" name="Rectangle 24"/>
            <p:cNvSpPr>
              <a:spLocks noChangeArrowheads="1"/>
            </p:cNvSpPr>
            <p:nvPr/>
          </p:nvSpPr>
          <p:spPr bwMode="auto">
            <a:xfrm>
              <a:off x="6025062" y="4660901"/>
              <a:ext cx="1119562" cy="1816100"/>
            </a:xfrm>
            <a:prstGeom prst="rect">
              <a:avLst/>
            </a:prstGeom>
            <a:noFill/>
            <a:ln w="25400">
              <a:solidFill>
                <a:schemeClr val="tx1"/>
              </a:solidFill>
              <a:miter lim="800000"/>
              <a:headEnd/>
              <a:tailEnd/>
            </a:ln>
            <a:effectLst/>
          </p:spPr>
          <p:txBody>
            <a:bodyPr wrap="none" anchor="ctr"/>
            <a:lstStyle/>
            <a:p>
              <a:endParaRPr lang="en-US"/>
            </a:p>
          </p:txBody>
        </p:sp>
        <p:sp>
          <p:nvSpPr>
            <p:cNvPr id="1051673" name="Rectangle 25"/>
            <p:cNvSpPr>
              <a:spLocks noChangeArrowheads="1"/>
            </p:cNvSpPr>
            <p:nvPr/>
          </p:nvSpPr>
          <p:spPr bwMode="auto">
            <a:xfrm rot="5400000">
              <a:off x="5792086" y="5110688"/>
              <a:ext cx="1524000" cy="829214"/>
            </a:xfrm>
            <a:prstGeom prst="rect">
              <a:avLst/>
            </a:prstGeom>
            <a:noFill/>
            <a:ln w="12700">
              <a:noFill/>
              <a:miter lim="800000"/>
              <a:headEnd/>
              <a:tailEnd/>
            </a:ln>
            <a:effectLst/>
          </p:spPr>
          <p:txBody>
            <a:bodyPr lIns="90488" tIns="44450" rIns="90488" bIns="44450">
              <a:spAutoFit/>
            </a:bodyPr>
            <a:lstStyle/>
            <a:p>
              <a:pPr algn="ctr"/>
              <a:r>
                <a:rPr lang="en-US" sz="1600" b="1" dirty="0"/>
                <a:t>Secondary </a:t>
              </a:r>
              <a:r>
                <a:rPr lang="en-US" sz="1600" b="1" dirty="0" smtClean="0"/>
                <a:t>Memory</a:t>
              </a:r>
              <a:endParaRPr lang="en-US" sz="1600" b="1" dirty="0"/>
            </a:p>
            <a:p>
              <a:pPr algn="ctr"/>
              <a:r>
                <a:rPr lang="en-US" sz="1600" b="1" dirty="0" smtClean="0"/>
                <a:t>(Disk</a:t>
              </a:r>
              <a:r>
                <a:rPr lang="en-US" sz="1600" b="1" dirty="0"/>
                <a:t>)</a:t>
              </a:r>
            </a:p>
          </p:txBody>
        </p:sp>
      </p:grpSp>
      <p:sp>
        <p:nvSpPr>
          <p:cNvPr id="1051674" name="Line 26"/>
          <p:cNvSpPr>
            <a:spLocks noChangeShapeType="1"/>
          </p:cNvSpPr>
          <p:nvPr/>
        </p:nvSpPr>
        <p:spPr bwMode="auto">
          <a:xfrm flipH="1">
            <a:off x="1905000" y="3646489"/>
            <a:ext cx="2031034" cy="998538"/>
          </a:xfrm>
          <a:prstGeom prst="line">
            <a:avLst/>
          </a:prstGeom>
          <a:noFill/>
          <a:ln w="12700">
            <a:solidFill>
              <a:schemeClr val="accent1"/>
            </a:solidFill>
            <a:round/>
            <a:headEnd/>
            <a:tailEnd/>
          </a:ln>
          <a:effectLst/>
        </p:spPr>
        <p:txBody>
          <a:bodyPr/>
          <a:lstStyle/>
          <a:p>
            <a:endParaRPr lang="en-US"/>
          </a:p>
        </p:txBody>
      </p:sp>
      <p:sp>
        <p:nvSpPr>
          <p:cNvPr id="1051675" name="Line 27"/>
          <p:cNvSpPr>
            <a:spLocks noChangeShapeType="1"/>
          </p:cNvSpPr>
          <p:nvPr/>
        </p:nvSpPr>
        <p:spPr bwMode="auto">
          <a:xfrm>
            <a:off x="5269666" y="3646488"/>
            <a:ext cx="1874958" cy="998538"/>
          </a:xfrm>
          <a:prstGeom prst="line">
            <a:avLst/>
          </a:prstGeom>
          <a:noFill/>
          <a:ln w="12700">
            <a:solidFill>
              <a:schemeClr val="accent1"/>
            </a:solidFill>
            <a:round/>
            <a:headEnd/>
            <a:tailEnd/>
          </a:ln>
          <a:effectLst/>
        </p:spPr>
        <p:txBody>
          <a:bodyPr/>
          <a:lstStyle/>
          <a:p>
            <a:endParaRPr lang="en-US"/>
          </a:p>
        </p:txBody>
      </p:sp>
      <p:grpSp>
        <p:nvGrpSpPr>
          <p:cNvPr id="6" name="Group 5"/>
          <p:cNvGrpSpPr/>
          <p:nvPr/>
        </p:nvGrpSpPr>
        <p:grpSpPr>
          <a:xfrm>
            <a:off x="4957018" y="4664076"/>
            <a:ext cx="957164" cy="1812925"/>
            <a:chOff x="4957018" y="4664076"/>
            <a:chExt cx="957164" cy="1812925"/>
          </a:xfrm>
        </p:grpSpPr>
        <p:sp>
          <p:nvSpPr>
            <p:cNvPr id="28" name="Rectangle 22"/>
            <p:cNvSpPr>
              <a:spLocks noChangeArrowheads="1"/>
            </p:cNvSpPr>
            <p:nvPr/>
          </p:nvSpPr>
          <p:spPr bwMode="auto">
            <a:xfrm>
              <a:off x="4957018" y="4664076"/>
              <a:ext cx="957164" cy="1812925"/>
            </a:xfrm>
            <a:prstGeom prst="rect">
              <a:avLst/>
            </a:prstGeom>
            <a:noFill/>
            <a:ln w="25400">
              <a:solidFill>
                <a:schemeClr val="tx1"/>
              </a:solidFill>
              <a:miter lim="800000"/>
              <a:headEnd/>
              <a:tailEnd/>
            </a:ln>
            <a:effectLst/>
          </p:spPr>
          <p:txBody>
            <a:bodyPr wrap="none" anchor="ctr"/>
            <a:lstStyle/>
            <a:p>
              <a:endParaRPr lang="en-US"/>
            </a:p>
          </p:txBody>
        </p:sp>
        <p:sp>
          <p:nvSpPr>
            <p:cNvPr id="29" name="Rectangle 25"/>
            <p:cNvSpPr>
              <a:spLocks noChangeArrowheads="1"/>
            </p:cNvSpPr>
            <p:nvPr/>
          </p:nvSpPr>
          <p:spPr bwMode="auto">
            <a:xfrm rot="5400000">
              <a:off x="4673600" y="5082939"/>
              <a:ext cx="1524000" cy="828432"/>
            </a:xfrm>
            <a:prstGeom prst="rect">
              <a:avLst/>
            </a:prstGeom>
            <a:noFill/>
            <a:ln w="12700">
              <a:noFill/>
              <a:miter lim="800000"/>
              <a:headEnd/>
              <a:tailEnd/>
            </a:ln>
            <a:effectLst/>
          </p:spPr>
          <p:txBody>
            <a:bodyPr lIns="90488" tIns="44450" rIns="90488" bIns="44450">
              <a:spAutoFit/>
            </a:bodyPr>
            <a:lstStyle/>
            <a:p>
              <a:pPr algn="ctr"/>
              <a:r>
                <a:rPr lang="en-US" sz="1600" b="1" dirty="0"/>
                <a:t>Secondary Memory</a:t>
              </a:r>
            </a:p>
            <a:p>
              <a:pPr algn="ctr"/>
              <a:r>
                <a:rPr lang="en-US" sz="1600" b="1" dirty="0" smtClean="0"/>
                <a:t>(Flash)</a:t>
              </a:r>
              <a:endParaRPr lang="en-US" sz="1600" b="1" dirty="0"/>
            </a:p>
          </p:txBody>
        </p:sp>
      </p:grpSp>
      <p:grpSp>
        <p:nvGrpSpPr>
          <p:cNvPr id="34" name="Group 33"/>
          <p:cNvGrpSpPr/>
          <p:nvPr/>
        </p:nvGrpSpPr>
        <p:grpSpPr>
          <a:xfrm>
            <a:off x="3241739" y="4590138"/>
            <a:ext cx="521642" cy="1095052"/>
            <a:chOff x="3224928" y="4583275"/>
            <a:chExt cx="521642" cy="1095052"/>
          </a:xfrm>
        </p:grpSpPr>
        <p:sp>
          <p:nvSpPr>
            <p:cNvPr id="35" name="Rectangle 20"/>
            <p:cNvSpPr>
              <a:spLocks noChangeArrowheads="1"/>
            </p:cNvSpPr>
            <p:nvPr/>
          </p:nvSpPr>
          <p:spPr bwMode="auto">
            <a:xfrm>
              <a:off x="3224928" y="4660901"/>
              <a:ext cx="521642" cy="977900"/>
            </a:xfrm>
            <a:prstGeom prst="rect">
              <a:avLst/>
            </a:prstGeom>
            <a:noFill/>
            <a:ln w="25400">
              <a:solidFill>
                <a:schemeClr val="tx1"/>
              </a:solidFill>
              <a:miter lim="800000"/>
              <a:headEnd/>
              <a:tailEnd/>
            </a:ln>
            <a:effectLst/>
          </p:spPr>
          <p:txBody>
            <a:bodyPr wrap="none" anchor="ctr"/>
            <a:lstStyle/>
            <a:p>
              <a:endParaRPr lang="en-US"/>
            </a:p>
          </p:txBody>
        </p:sp>
        <p:sp>
          <p:nvSpPr>
            <p:cNvPr id="36" name="Rectangle 21"/>
            <p:cNvSpPr>
              <a:spLocks noChangeArrowheads="1"/>
            </p:cNvSpPr>
            <p:nvPr/>
          </p:nvSpPr>
          <p:spPr bwMode="auto">
            <a:xfrm rot="5400000">
              <a:off x="2890242" y="4962806"/>
              <a:ext cx="1095052" cy="335989"/>
            </a:xfrm>
            <a:prstGeom prst="rect">
              <a:avLst/>
            </a:prstGeom>
            <a:noFill/>
            <a:ln w="12700">
              <a:noFill/>
              <a:miter lim="800000"/>
              <a:headEnd/>
              <a:tailEnd/>
            </a:ln>
            <a:effectLst/>
          </p:spPr>
          <p:txBody>
            <a:bodyPr wrap="none" lIns="90488" tIns="44450" rIns="90488" bIns="44450">
              <a:spAutoFit/>
            </a:bodyPr>
            <a:lstStyle/>
            <a:p>
              <a:r>
                <a:rPr lang="en-US" sz="1600" b="1" dirty="0" smtClean="0"/>
                <a:t>L3 Cache</a:t>
              </a:r>
              <a:endParaRPr lang="en-US" sz="1600" b="1" dirty="0"/>
            </a:p>
          </p:txBody>
        </p:sp>
      </p:grpSp>
      <p:grpSp>
        <p:nvGrpSpPr>
          <p:cNvPr id="37" name="Group 36"/>
          <p:cNvGrpSpPr/>
          <p:nvPr/>
        </p:nvGrpSpPr>
        <p:grpSpPr>
          <a:xfrm>
            <a:off x="1916758" y="4597001"/>
            <a:ext cx="521642" cy="1095052"/>
            <a:chOff x="3224928" y="4583275"/>
            <a:chExt cx="521642" cy="1095052"/>
          </a:xfrm>
        </p:grpSpPr>
        <p:sp>
          <p:nvSpPr>
            <p:cNvPr id="38" name="Rectangle 20"/>
            <p:cNvSpPr>
              <a:spLocks noChangeArrowheads="1"/>
            </p:cNvSpPr>
            <p:nvPr/>
          </p:nvSpPr>
          <p:spPr bwMode="auto">
            <a:xfrm>
              <a:off x="3224928" y="4660901"/>
              <a:ext cx="521642" cy="977900"/>
            </a:xfrm>
            <a:prstGeom prst="rect">
              <a:avLst/>
            </a:prstGeom>
            <a:noFill/>
            <a:ln w="25400">
              <a:solidFill>
                <a:schemeClr val="tx1"/>
              </a:solidFill>
              <a:miter lim="800000"/>
              <a:headEnd/>
              <a:tailEnd/>
            </a:ln>
            <a:effectLst/>
          </p:spPr>
          <p:txBody>
            <a:bodyPr wrap="none" anchor="ctr"/>
            <a:lstStyle/>
            <a:p>
              <a:endParaRPr lang="en-US"/>
            </a:p>
          </p:txBody>
        </p:sp>
        <p:sp>
          <p:nvSpPr>
            <p:cNvPr id="39" name="Rectangle 21"/>
            <p:cNvSpPr>
              <a:spLocks noChangeArrowheads="1"/>
            </p:cNvSpPr>
            <p:nvPr/>
          </p:nvSpPr>
          <p:spPr bwMode="auto">
            <a:xfrm rot="5400000">
              <a:off x="2890242" y="4962806"/>
              <a:ext cx="1095052" cy="335989"/>
            </a:xfrm>
            <a:prstGeom prst="rect">
              <a:avLst/>
            </a:prstGeom>
            <a:noFill/>
            <a:ln w="12700">
              <a:noFill/>
              <a:miter lim="800000"/>
              <a:headEnd/>
              <a:tailEnd/>
            </a:ln>
            <a:effectLst/>
          </p:spPr>
          <p:txBody>
            <a:bodyPr wrap="none" lIns="90488" tIns="44450" rIns="90488" bIns="44450">
              <a:spAutoFit/>
            </a:bodyPr>
            <a:lstStyle/>
            <a:p>
              <a:r>
                <a:rPr lang="en-US" sz="1600" b="1" dirty="0" smtClean="0"/>
                <a:t>L1 Cache</a:t>
              </a:r>
              <a:endParaRPr lang="en-US" sz="1600" b="1" dirty="0"/>
            </a:p>
          </p:txBody>
        </p:sp>
      </p:grpSp>
      <p:sp>
        <p:nvSpPr>
          <p:cNvPr id="40" name="TextBox 39"/>
          <p:cNvSpPr txBox="1"/>
          <p:nvPr/>
        </p:nvSpPr>
        <p:spPr>
          <a:xfrm>
            <a:off x="2667000" y="2133600"/>
            <a:ext cx="990600" cy="307777"/>
          </a:xfrm>
          <a:prstGeom prst="rect">
            <a:avLst/>
          </a:prstGeom>
          <a:noFill/>
        </p:spPr>
        <p:txBody>
          <a:bodyPr wrap="square" rtlCol="0">
            <a:spAutoFit/>
          </a:bodyPr>
          <a:lstStyle/>
          <a:p>
            <a:r>
              <a:rPr lang="en-US" sz="1400" dirty="0" smtClean="0">
                <a:solidFill>
                  <a:srgbClr val="FF0000"/>
                </a:solidFill>
              </a:rPr>
              <a:t>Registers</a:t>
            </a:r>
            <a:endParaRPr lang="en-US" sz="1400" dirty="0">
              <a:solidFill>
                <a:srgbClr val="FF0000"/>
              </a:solidFill>
            </a:endParaRPr>
          </a:p>
        </p:txBody>
      </p:sp>
      <p:sp>
        <p:nvSpPr>
          <p:cNvPr id="41" name="TextBox 40"/>
          <p:cNvSpPr txBox="1"/>
          <p:nvPr/>
        </p:nvSpPr>
        <p:spPr>
          <a:xfrm>
            <a:off x="1905000" y="745612"/>
            <a:ext cx="5105400" cy="646331"/>
          </a:xfrm>
          <a:prstGeom prst="rect">
            <a:avLst/>
          </a:prstGeom>
          <a:noFill/>
        </p:spPr>
        <p:txBody>
          <a:bodyPr wrap="square" rtlCol="0">
            <a:spAutoFit/>
          </a:bodyPr>
          <a:lstStyle/>
          <a:p>
            <a:r>
              <a:rPr lang="en-US" dirty="0" smtClean="0">
                <a:solidFill>
                  <a:srgbClr val="FF0000"/>
                </a:solidFill>
              </a:rPr>
              <a:t>Data-centric view:</a:t>
            </a:r>
          </a:p>
          <a:p>
            <a:r>
              <a:rPr lang="en-US" dirty="0" smtClean="0">
                <a:solidFill>
                  <a:srgbClr val="FF0000"/>
                </a:solidFill>
              </a:rPr>
              <a:t>   Transformations      Storage     Communication</a:t>
            </a:r>
            <a:endParaRPr lang="en-US" dirty="0">
              <a:solidFill>
                <a:srgbClr val="FF0000"/>
              </a:solidFill>
            </a:endParaRPr>
          </a:p>
        </p:txBody>
      </p:sp>
    </p:spTree>
    <p:extLst>
      <p:ext uri="{BB962C8B-B14F-4D97-AF65-F5344CB8AC3E}">
        <p14:creationId xmlns:p14="http://schemas.microsoft.com/office/powerpoint/2010/main" val="12687783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16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516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1674" grpId="0" animBg="1"/>
      <p:bldP spid="105167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3668"/>
            <a:ext cx="8229600" cy="490367"/>
          </a:xfrm>
        </p:spPr>
        <p:txBody>
          <a:bodyPr/>
          <a:lstStyle/>
          <a:p>
            <a:r>
              <a:rPr lang="en-US" dirty="0" smtClean="0"/>
              <a:t>Visualizing Access Times</a:t>
            </a:r>
            <a:endParaRPr lang="en-US" dirty="0"/>
          </a:p>
        </p:txBody>
      </p:sp>
      <p:sp>
        <p:nvSpPr>
          <p:cNvPr id="5" name="Content Placeholder 4"/>
          <p:cNvSpPr>
            <a:spLocks noGrp="1"/>
          </p:cNvSpPr>
          <p:nvPr>
            <p:ph idx="1"/>
          </p:nvPr>
        </p:nvSpPr>
        <p:spPr>
          <a:xfrm>
            <a:off x="457200" y="914400"/>
            <a:ext cx="8229600" cy="389850"/>
          </a:xfrm>
        </p:spPr>
        <p:txBody>
          <a:bodyPr>
            <a:normAutofit/>
          </a:bodyPr>
          <a:lstStyle/>
          <a:p>
            <a:r>
              <a:rPr lang="en-US" dirty="0" smtClean="0"/>
              <a:t>A typical </a:t>
            </a:r>
            <a:r>
              <a:rPr lang="en-US" dirty="0" smtClean="0"/>
              <a:t>machine: </a:t>
            </a:r>
            <a:r>
              <a:rPr lang="en-US" smtClean="0"/>
              <a:t>(e.g., </a:t>
            </a:r>
            <a:r>
              <a:rPr lang="en-US" smtClean="0"/>
              <a:t>Intel </a:t>
            </a:r>
            <a:r>
              <a:rPr lang="en-US" dirty="0" smtClean="0"/>
              <a:t>Core 2 Duo, 3.0 GHz) </a:t>
            </a:r>
            <a:endParaRPr lang="en-US" dirty="0"/>
          </a:p>
        </p:txBody>
      </p:sp>
      <p:graphicFrame>
        <p:nvGraphicFramePr>
          <p:cNvPr id="4" name="Table 3"/>
          <p:cNvGraphicFramePr>
            <a:graphicFrameLocks noGrp="1"/>
          </p:cNvGraphicFramePr>
          <p:nvPr>
            <p:extLst/>
          </p:nvPr>
        </p:nvGraphicFramePr>
        <p:xfrm>
          <a:off x="1524000" y="1371600"/>
          <a:ext cx="6096000" cy="1112520"/>
        </p:xfrm>
        <a:graphic>
          <a:graphicData uri="http://schemas.openxmlformats.org/drawingml/2006/table">
            <a:tbl>
              <a:tblPr firstRow="1" bandRow="1">
                <a:tableStyleId>{5940675A-B579-460E-94D1-54222C63F5DA}</a:tableStyleId>
              </a:tblPr>
              <a:tblGrid>
                <a:gridCol w="1219200"/>
                <a:gridCol w="1219200"/>
                <a:gridCol w="1219200"/>
                <a:gridCol w="1219200"/>
                <a:gridCol w="1219200"/>
              </a:tblGrid>
              <a:tr h="370840">
                <a:tc>
                  <a:txBody>
                    <a:bodyPr/>
                    <a:lstStyle/>
                    <a:p>
                      <a:r>
                        <a:rPr lang="en-US" dirty="0" smtClean="0"/>
                        <a:t>Level</a:t>
                      </a:r>
                      <a:endParaRPr lang="en-US" dirty="0"/>
                    </a:p>
                  </a:txBody>
                  <a:tcPr/>
                </a:tc>
                <a:tc>
                  <a:txBody>
                    <a:bodyPr/>
                    <a:lstStyle/>
                    <a:p>
                      <a:r>
                        <a:rPr lang="en-US" dirty="0" smtClean="0"/>
                        <a:t>L1 cache</a:t>
                      </a:r>
                      <a:endParaRPr lang="en-US" dirty="0"/>
                    </a:p>
                  </a:txBody>
                  <a:tcPr/>
                </a:tc>
                <a:tc>
                  <a:txBody>
                    <a:bodyPr/>
                    <a:lstStyle/>
                    <a:p>
                      <a:r>
                        <a:rPr lang="en-US" dirty="0" smtClean="0"/>
                        <a:t>L2 cache</a:t>
                      </a:r>
                      <a:endParaRPr lang="en-US" dirty="0"/>
                    </a:p>
                  </a:txBody>
                  <a:tcPr/>
                </a:tc>
                <a:tc>
                  <a:txBody>
                    <a:bodyPr/>
                    <a:lstStyle/>
                    <a:p>
                      <a:r>
                        <a:rPr lang="en-US" dirty="0" smtClean="0"/>
                        <a:t>DRAM</a:t>
                      </a:r>
                      <a:endParaRPr lang="en-US" dirty="0"/>
                    </a:p>
                  </a:txBody>
                  <a:tcPr/>
                </a:tc>
                <a:tc>
                  <a:txBody>
                    <a:bodyPr/>
                    <a:lstStyle/>
                    <a:p>
                      <a:r>
                        <a:rPr lang="en-US" dirty="0" smtClean="0"/>
                        <a:t>Disk</a:t>
                      </a:r>
                      <a:endParaRPr lang="en-US" dirty="0"/>
                    </a:p>
                  </a:txBody>
                  <a:tcPr/>
                </a:tc>
              </a:tr>
              <a:tr h="370840">
                <a:tc>
                  <a:txBody>
                    <a:bodyPr/>
                    <a:lstStyle/>
                    <a:p>
                      <a:r>
                        <a:rPr lang="en-US" dirty="0" smtClean="0"/>
                        <a:t>seconds</a:t>
                      </a:r>
                      <a:endParaRPr lang="en-US" dirty="0"/>
                    </a:p>
                  </a:txBody>
                  <a:tcPr/>
                </a:tc>
                <a:tc>
                  <a:txBody>
                    <a:bodyPr/>
                    <a:lstStyle/>
                    <a:p>
                      <a:r>
                        <a:rPr lang="en-US" dirty="0" smtClean="0"/>
                        <a:t>1 ns</a:t>
                      </a:r>
                      <a:endParaRPr lang="en-US" dirty="0"/>
                    </a:p>
                  </a:txBody>
                  <a:tcPr/>
                </a:tc>
                <a:tc>
                  <a:txBody>
                    <a:bodyPr/>
                    <a:lstStyle/>
                    <a:p>
                      <a:r>
                        <a:rPr lang="en-US" dirty="0" smtClean="0"/>
                        <a:t>4.7 ns</a:t>
                      </a:r>
                      <a:endParaRPr lang="en-US" dirty="0"/>
                    </a:p>
                  </a:txBody>
                  <a:tcPr/>
                </a:tc>
                <a:tc>
                  <a:txBody>
                    <a:bodyPr/>
                    <a:lstStyle/>
                    <a:p>
                      <a:r>
                        <a:rPr lang="en-US" dirty="0" smtClean="0"/>
                        <a:t>~ 83 ns</a:t>
                      </a:r>
                      <a:endParaRPr lang="en-US" dirty="0"/>
                    </a:p>
                  </a:txBody>
                  <a:tcPr/>
                </a:tc>
                <a:tc>
                  <a:txBody>
                    <a:bodyPr/>
                    <a:lstStyle/>
                    <a:p>
                      <a:r>
                        <a:rPr lang="en-US" dirty="0" smtClean="0"/>
                        <a:t>13.7 ms</a:t>
                      </a:r>
                      <a:endParaRPr lang="en-US" dirty="0"/>
                    </a:p>
                  </a:txBody>
                  <a:tcPr/>
                </a:tc>
              </a:tr>
              <a:tr h="370840">
                <a:tc>
                  <a:txBody>
                    <a:bodyPr/>
                    <a:lstStyle/>
                    <a:p>
                      <a:r>
                        <a:rPr lang="en-US" dirty="0" smtClean="0"/>
                        <a:t>cycles</a:t>
                      </a:r>
                      <a:endParaRPr lang="en-US" dirty="0"/>
                    </a:p>
                  </a:txBody>
                  <a:tcPr/>
                </a:tc>
                <a:tc>
                  <a:txBody>
                    <a:bodyPr/>
                    <a:lstStyle/>
                    <a:p>
                      <a:r>
                        <a:rPr lang="en-US" dirty="0" smtClean="0"/>
                        <a:t>3</a:t>
                      </a:r>
                      <a:endParaRPr lang="en-US" dirty="0"/>
                    </a:p>
                  </a:txBody>
                  <a:tcPr/>
                </a:tc>
                <a:tc>
                  <a:txBody>
                    <a:bodyPr/>
                    <a:lstStyle/>
                    <a:p>
                      <a:r>
                        <a:rPr lang="en-US" dirty="0" smtClean="0"/>
                        <a:t>14</a:t>
                      </a:r>
                      <a:endParaRPr lang="en-US" dirty="0"/>
                    </a:p>
                  </a:txBody>
                  <a:tcPr/>
                </a:tc>
                <a:tc>
                  <a:txBody>
                    <a:bodyPr/>
                    <a:lstStyle/>
                    <a:p>
                      <a:r>
                        <a:rPr lang="en-US" dirty="0" smtClean="0"/>
                        <a:t>~ 250</a:t>
                      </a:r>
                      <a:endParaRPr lang="en-US" dirty="0"/>
                    </a:p>
                  </a:txBody>
                  <a:tcPr/>
                </a:tc>
                <a:tc>
                  <a:txBody>
                    <a:bodyPr/>
                    <a:lstStyle/>
                    <a:p>
                      <a:r>
                        <a:rPr lang="en-US" dirty="0" smtClean="0"/>
                        <a:t>41 million</a:t>
                      </a:r>
                      <a:endParaRPr lang="en-US" dirty="0"/>
                    </a:p>
                  </a:txBody>
                  <a:tcPr/>
                </a:tc>
              </a:tr>
            </a:tbl>
          </a:graphicData>
        </a:graphic>
      </p:graphicFrame>
      <p:sp>
        <p:nvSpPr>
          <p:cNvPr id="6" name="Content Placeholder 4"/>
          <p:cNvSpPr txBox="1">
            <a:spLocks/>
          </p:cNvSpPr>
          <p:nvPr/>
        </p:nvSpPr>
        <p:spPr bwMode="auto">
          <a:xfrm>
            <a:off x="304800" y="2819400"/>
            <a:ext cx="8229600" cy="3666132"/>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marL="287338" lvl="0" indent="-287338">
              <a:lnSpc>
                <a:spcPct val="90000"/>
              </a:lnSpc>
              <a:spcBef>
                <a:spcPct val="65000"/>
              </a:spcBef>
              <a:buClr>
                <a:schemeClr val="accent1"/>
              </a:buClr>
              <a:buSzPct val="75000"/>
              <a:buFont typeface="Wingdings" pitchFamily="2" charset="2"/>
              <a:buChar char="q"/>
            </a:pPr>
            <a:r>
              <a:rPr lang="en-US" sz="2400" kern="0" dirty="0" smtClean="0">
                <a:solidFill>
                  <a:schemeClr val="tx1"/>
                </a:solidFill>
                <a:latin typeface="+mn-lt"/>
              </a:rPr>
              <a:t>“To put this into perspective, reading from L1 cache is like grabbing a piece of paper from your desk (3 seconds), L2 cache is picking up a book from a nearby shelf (14 seconds), and main system memory is taking a </a:t>
            </a:r>
            <a:r>
              <a:rPr lang="en-US" sz="2400" kern="0" dirty="0">
                <a:solidFill>
                  <a:schemeClr val="tx1"/>
                </a:solidFill>
                <a:latin typeface="+mn-lt"/>
              </a:rPr>
              <a:t>X</a:t>
            </a:r>
            <a:r>
              <a:rPr lang="en-US" sz="2400" kern="0" dirty="0" smtClean="0">
                <a:solidFill>
                  <a:schemeClr val="tx1"/>
                </a:solidFill>
                <a:latin typeface="+mn-lt"/>
              </a:rPr>
              <a:t>-minute walk down the hall to </a:t>
            </a:r>
            <a:r>
              <a:rPr lang="en-US" sz="2400" kern="0" smtClean="0">
                <a:solidFill>
                  <a:schemeClr val="tx1"/>
                </a:solidFill>
                <a:latin typeface="+mn-lt"/>
              </a:rPr>
              <a:t>buy coffee”</a:t>
            </a:r>
            <a:endParaRPr lang="en-US" sz="2400" kern="0" dirty="0" smtClean="0">
              <a:solidFill>
                <a:schemeClr val="tx1"/>
              </a:solidFill>
              <a:latin typeface="+mn-lt"/>
            </a:endParaRPr>
          </a:p>
          <a:p>
            <a:pPr marL="287338" lvl="0" indent="-287338">
              <a:lnSpc>
                <a:spcPct val="90000"/>
              </a:lnSpc>
              <a:spcBef>
                <a:spcPct val="65000"/>
              </a:spcBef>
              <a:buClr>
                <a:schemeClr val="accent1"/>
              </a:buClr>
              <a:buSzPct val="75000"/>
              <a:buFont typeface="Wingdings" pitchFamily="2" charset="2"/>
              <a:buChar char="q"/>
            </a:pPr>
            <a:r>
              <a:rPr lang="en-US" sz="2400" kern="0" dirty="0" smtClean="0">
                <a:solidFill>
                  <a:schemeClr val="tx1"/>
                </a:solidFill>
                <a:latin typeface="+mn-lt"/>
              </a:rPr>
              <a:t>“Keeping with the office analogy, waiting for a hard drive seek is like leaving the building to roam the earth for one year and three months.”</a:t>
            </a:r>
          </a:p>
          <a:p>
            <a:pPr marL="287338" indent="-287338">
              <a:lnSpc>
                <a:spcPct val="90000"/>
              </a:lnSpc>
              <a:spcBef>
                <a:spcPct val="65000"/>
              </a:spcBef>
              <a:buClr>
                <a:schemeClr val="accent1"/>
              </a:buClr>
              <a:buSzPct val="75000"/>
            </a:pPr>
            <a:endParaRPr lang="en-US" sz="1400" kern="0" dirty="0" smtClean="0">
              <a:solidFill>
                <a:schemeClr val="tx1"/>
              </a:solidFill>
              <a:latin typeface="+mn-lt"/>
            </a:endParaRPr>
          </a:p>
          <a:p>
            <a:pPr marL="287338" indent="-287338">
              <a:lnSpc>
                <a:spcPct val="90000"/>
              </a:lnSpc>
              <a:spcBef>
                <a:spcPct val="65000"/>
              </a:spcBef>
              <a:buClr>
                <a:schemeClr val="accent1"/>
              </a:buClr>
              <a:buSzPct val="75000"/>
            </a:pPr>
            <a:r>
              <a:rPr lang="en-US" sz="1600" kern="0" dirty="0" smtClean="0">
                <a:solidFill>
                  <a:schemeClr val="tx1"/>
                </a:solidFill>
                <a:latin typeface="+mn-lt"/>
                <a:hlinkClick r:id="rId3"/>
              </a:rPr>
              <a:t>http://duartes.org/gustavo/blog/post/what-your-computer-does-while-you-wait</a:t>
            </a:r>
            <a:r>
              <a:rPr lang="en-US" sz="1600" kern="0" dirty="0" smtClean="0">
                <a:solidFill>
                  <a:schemeClr val="tx1"/>
                </a:solidFill>
                <a:latin typeface="+mn-lt"/>
              </a:rPr>
              <a:t>  (Nov. 2008)</a:t>
            </a:r>
          </a:p>
        </p:txBody>
      </p:sp>
    </p:spTree>
    <p:extLst>
      <p:ext uri="{BB962C8B-B14F-4D97-AF65-F5344CB8AC3E}">
        <p14:creationId xmlns:p14="http://schemas.microsoft.com/office/powerpoint/2010/main" val="70335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22" name="Rectangle 2"/>
          <p:cNvSpPr>
            <a:spLocks noGrp="1" noChangeArrowheads="1"/>
          </p:cNvSpPr>
          <p:nvPr>
            <p:ph type="title"/>
          </p:nvPr>
        </p:nvSpPr>
        <p:spPr>
          <a:xfrm>
            <a:off x="533400" y="228600"/>
            <a:ext cx="7032149" cy="435504"/>
          </a:xfrm>
          <a:noFill/>
          <a:ln/>
        </p:spPr>
        <p:txBody>
          <a:bodyPr wrap="none"/>
          <a:lstStyle/>
          <a:p>
            <a:r>
              <a:rPr lang="en-US" dirty="0"/>
              <a:t>How is the</a:t>
            </a:r>
            <a:r>
              <a:rPr lang="en-US" dirty="0" smtClean="0"/>
              <a:t> Memory Hierarchy </a:t>
            </a:r>
            <a:r>
              <a:rPr lang="en-US" dirty="0"/>
              <a:t>Managed?</a:t>
            </a:r>
          </a:p>
        </p:txBody>
      </p:sp>
      <p:sp>
        <p:nvSpPr>
          <p:cNvPr id="1515523" name="Rectangle 3"/>
          <p:cNvSpPr>
            <a:spLocks noGrp="1" noChangeArrowheads="1"/>
          </p:cNvSpPr>
          <p:nvPr>
            <p:ph type="body" idx="1"/>
          </p:nvPr>
        </p:nvSpPr>
        <p:spPr>
          <a:xfrm>
            <a:off x="838200" y="1219200"/>
            <a:ext cx="7886700" cy="4529445"/>
          </a:xfrm>
          <a:noFill/>
          <a:ln/>
        </p:spPr>
        <p:txBody>
          <a:bodyPr/>
          <a:lstStyle/>
          <a:p>
            <a:r>
              <a:rPr lang="en-US" dirty="0"/>
              <a:t>registers </a:t>
            </a:r>
            <a:r>
              <a:rPr lang="en-US" dirty="0" err="1">
                <a:sym typeface="Symbol" pitchFamily="18" charset="2"/>
              </a:rPr>
              <a:t></a:t>
            </a:r>
            <a:r>
              <a:rPr lang="en-US" dirty="0"/>
              <a:t> </a:t>
            </a:r>
            <a:r>
              <a:rPr lang="en-US" dirty="0" smtClean="0"/>
              <a:t>memory (in the flat memory model)</a:t>
            </a:r>
          </a:p>
          <a:p>
            <a:pPr lvl="1"/>
            <a:r>
              <a:rPr lang="en-US" dirty="0"/>
              <a:t>by</a:t>
            </a:r>
            <a:r>
              <a:rPr lang="en-US" dirty="0" smtClean="0"/>
              <a:t> the programmer, usually via a compiler</a:t>
            </a:r>
          </a:p>
          <a:p>
            <a:pPr lvl="1"/>
            <a:endParaRPr lang="en-US" dirty="0"/>
          </a:p>
          <a:p>
            <a:pPr lvl="1"/>
            <a:endParaRPr lang="en-US" dirty="0" smtClean="0"/>
          </a:p>
          <a:p>
            <a:r>
              <a:rPr lang="en-US" dirty="0" smtClean="0"/>
              <a:t>registers </a:t>
            </a:r>
            <a:r>
              <a:rPr lang="en-US" dirty="0" err="1" smtClean="0">
                <a:sym typeface="Symbol" pitchFamily="18" charset="2"/>
              </a:rPr>
              <a:t></a:t>
            </a:r>
            <a:r>
              <a:rPr lang="en-US" dirty="0" smtClean="0"/>
              <a:t> cache </a:t>
            </a:r>
            <a:r>
              <a:rPr lang="en-US" dirty="0" err="1">
                <a:sym typeface="Symbol" pitchFamily="18" charset="2"/>
              </a:rPr>
              <a:t></a:t>
            </a:r>
            <a:r>
              <a:rPr lang="en-US" dirty="0"/>
              <a:t> main memory</a:t>
            </a:r>
          </a:p>
          <a:p>
            <a:pPr lvl="1"/>
            <a:r>
              <a:rPr lang="en-US" dirty="0">
                <a:solidFill>
                  <a:srgbClr val="FF0000"/>
                </a:solidFill>
              </a:rPr>
              <a:t>by the cache controller hardware</a:t>
            </a:r>
          </a:p>
          <a:p>
            <a:r>
              <a:rPr lang="en-US" dirty="0"/>
              <a:t>main memory </a:t>
            </a:r>
            <a:r>
              <a:rPr lang="en-US" dirty="0" err="1">
                <a:sym typeface="Symbol" pitchFamily="18" charset="2"/>
              </a:rPr>
              <a:t></a:t>
            </a:r>
            <a:r>
              <a:rPr lang="en-US" dirty="0" smtClean="0"/>
              <a:t> secondary memory (flash, disk)</a:t>
            </a:r>
          </a:p>
          <a:p>
            <a:pPr lvl="1"/>
            <a:r>
              <a:rPr lang="en-US" dirty="0"/>
              <a:t>by the operating system (virtual memory)</a:t>
            </a:r>
          </a:p>
          <a:p>
            <a:pPr lvl="2"/>
            <a:r>
              <a:rPr lang="en-US" dirty="0" smtClean="0"/>
              <a:t>virtual address </a:t>
            </a:r>
            <a:r>
              <a:rPr lang="en-US" dirty="0"/>
              <a:t>to physical address </a:t>
            </a:r>
            <a:r>
              <a:rPr lang="en-US" dirty="0" smtClean="0"/>
              <a:t>mapping</a:t>
            </a:r>
          </a:p>
          <a:p>
            <a:pPr lvl="2"/>
            <a:r>
              <a:rPr lang="en-US" dirty="0" smtClean="0"/>
              <a:t>assisted </a:t>
            </a:r>
            <a:r>
              <a:rPr lang="en-US" dirty="0"/>
              <a:t>by the hardware (</a:t>
            </a:r>
            <a:r>
              <a:rPr lang="en-US" dirty="0" smtClean="0"/>
              <a:t>TLB, page tables)</a:t>
            </a:r>
            <a:endParaRPr lang="en-US" dirty="0"/>
          </a:p>
          <a:p>
            <a:pPr lvl="1"/>
            <a:r>
              <a:rPr lang="en-US" dirty="0"/>
              <a:t>by the </a:t>
            </a:r>
            <a:r>
              <a:rPr lang="en-US" dirty="0" smtClean="0"/>
              <a:t>programmer with OS support </a:t>
            </a:r>
            <a:r>
              <a:rPr lang="en-US" dirty="0"/>
              <a:t>(files)</a:t>
            </a:r>
          </a:p>
        </p:txBody>
      </p:sp>
      <p:sp>
        <p:nvSpPr>
          <p:cNvPr id="4" name="Rectangle 4"/>
          <p:cNvSpPr>
            <a:spLocks noChangeArrowheads="1"/>
          </p:cNvSpPr>
          <p:nvPr/>
        </p:nvSpPr>
        <p:spPr bwMode="auto">
          <a:xfrm>
            <a:off x="743155" y="2780928"/>
            <a:ext cx="6019800" cy="914400"/>
          </a:xfrm>
          <a:prstGeom prst="rect">
            <a:avLst/>
          </a:prstGeom>
          <a:noFill/>
          <a:ln w="28575">
            <a:solidFill>
              <a:schemeClr val="accent2"/>
            </a:solidFill>
            <a:miter lim="800000"/>
            <a:headEnd/>
            <a:tailEnd/>
          </a:ln>
          <a:effectLst/>
        </p:spPr>
        <p:txBody>
          <a:bodyPr wrap="none" anchor="ctr"/>
          <a:lstStyle/>
          <a:p>
            <a:endParaRPr lang="en-US"/>
          </a:p>
        </p:txBody>
      </p:sp>
    </p:spTree>
    <p:extLst>
      <p:ext uri="{BB962C8B-B14F-4D97-AF65-F5344CB8AC3E}">
        <p14:creationId xmlns:p14="http://schemas.microsoft.com/office/powerpoint/2010/main" val="18735116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1552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552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1552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1552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1552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1552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1552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1552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1552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1552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23" grpId="0" build="p"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8114" name="Rectangle 2"/>
          <p:cNvSpPr>
            <a:spLocks noGrp="1" noChangeArrowheads="1"/>
          </p:cNvSpPr>
          <p:nvPr>
            <p:ph type="title"/>
          </p:nvPr>
        </p:nvSpPr>
        <p:spPr>
          <a:xfrm>
            <a:off x="457200" y="247442"/>
            <a:ext cx="8229600" cy="490149"/>
          </a:xfrm>
          <a:noFill/>
          <a:ln/>
        </p:spPr>
        <p:txBody>
          <a:bodyPr wrap="none"/>
          <a:lstStyle/>
          <a:p>
            <a:r>
              <a:rPr lang="en-US" dirty="0"/>
              <a:t>Memory Hierarchy Technologies</a:t>
            </a:r>
          </a:p>
        </p:txBody>
      </p:sp>
      <p:sp>
        <p:nvSpPr>
          <p:cNvPr id="1498115" name="Rectangle 3"/>
          <p:cNvSpPr>
            <a:spLocks noGrp="1" noChangeArrowheads="1"/>
          </p:cNvSpPr>
          <p:nvPr>
            <p:ph type="body" idx="1"/>
          </p:nvPr>
        </p:nvSpPr>
        <p:spPr>
          <a:xfrm>
            <a:off x="457200" y="781204"/>
            <a:ext cx="8229600" cy="5486400"/>
          </a:xfrm>
          <a:noFill/>
          <a:ln/>
        </p:spPr>
        <p:txBody>
          <a:bodyPr>
            <a:normAutofit/>
          </a:bodyPr>
          <a:lstStyle/>
          <a:p>
            <a:pPr>
              <a:spcBef>
                <a:spcPts val="400"/>
              </a:spcBef>
            </a:pPr>
            <a:r>
              <a:rPr lang="en-US" dirty="0"/>
              <a:t>Caches use </a:t>
            </a:r>
            <a:r>
              <a:rPr lang="en-US" i="1" dirty="0">
                <a:solidFill>
                  <a:schemeClr val="accent2"/>
                </a:solidFill>
              </a:rPr>
              <a:t>SRAM </a:t>
            </a:r>
            <a:r>
              <a:rPr lang="en-US" dirty="0" smtClean="0"/>
              <a:t>(Static </a:t>
            </a:r>
            <a:r>
              <a:rPr lang="en-US" dirty="0" smtClean="0">
                <a:solidFill>
                  <a:srgbClr val="0000FF"/>
                </a:solidFill>
              </a:rPr>
              <a:t>Random Access Memory</a:t>
            </a:r>
            <a:r>
              <a:rPr lang="en-US" dirty="0" smtClean="0"/>
              <a:t>) for </a:t>
            </a:r>
            <a:r>
              <a:rPr lang="en-US" dirty="0"/>
              <a:t>speed and technology compatibility</a:t>
            </a:r>
          </a:p>
          <a:p>
            <a:pPr lvl="1">
              <a:spcBef>
                <a:spcPts val="400"/>
              </a:spcBef>
            </a:pPr>
            <a:r>
              <a:rPr lang="en-US" dirty="0" smtClean="0"/>
              <a:t>Fast (access times of 0.5 to 2.5 </a:t>
            </a:r>
            <a:r>
              <a:rPr lang="en-US" dirty="0" err="1" smtClean="0"/>
              <a:t>nsec</a:t>
            </a:r>
            <a:r>
              <a:rPr lang="en-US" dirty="0" smtClean="0"/>
              <a:t>) </a:t>
            </a:r>
            <a:r>
              <a:rPr lang="en-US" i="1" dirty="0" smtClean="0"/>
              <a:t>but</a:t>
            </a:r>
            <a:r>
              <a:rPr lang="en-US" dirty="0" smtClean="0"/>
              <a:t> low </a:t>
            </a:r>
            <a:r>
              <a:rPr lang="en-US" dirty="0"/>
              <a:t>density (6 transistor cells), </a:t>
            </a:r>
            <a:r>
              <a:rPr lang="en-US" dirty="0" smtClean="0"/>
              <a:t>high </a:t>
            </a:r>
            <a:r>
              <a:rPr lang="en-US" dirty="0"/>
              <a:t>power, </a:t>
            </a:r>
            <a:r>
              <a:rPr lang="en-US" dirty="0" smtClean="0"/>
              <a:t>expensive ($</a:t>
            </a:r>
            <a:r>
              <a:rPr lang="en-US" dirty="0"/>
              <a:t>5</a:t>
            </a:r>
            <a:r>
              <a:rPr lang="en-US" dirty="0" smtClean="0"/>
              <a:t>00 to $1000 per </a:t>
            </a:r>
            <a:r>
              <a:rPr lang="en-US" dirty="0" err="1" smtClean="0"/>
              <a:t>GiB</a:t>
            </a:r>
            <a:r>
              <a:rPr lang="en-US" dirty="0" smtClean="0"/>
              <a:t> in 2012)</a:t>
            </a:r>
            <a:endParaRPr lang="en-US" dirty="0"/>
          </a:p>
          <a:p>
            <a:pPr lvl="1">
              <a:spcBef>
                <a:spcPts val="400"/>
              </a:spcBef>
            </a:pPr>
            <a:r>
              <a:rPr lang="en-US" dirty="0" smtClean="0"/>
              <a:t>Static: content </a:t>
            </a:r>
            <a:r>
              <a:rPr lang="en-US" dirty="0"/>
              <a:t>will </a:t>
            </a:r>
            <a:r>
              <a:rPr lang="en-US" dirty="0" smtClean="0"/>
              <a:t>last </a:t>
            </a:r>
            <a:r>
              <a:rPr lang="en-US" dirty="0"/>
              <a:t>“forever” </a:t>
            </a:r>
            <a:r>
              <a:rPr lang="en-US" dirty="0" smtClean="0"/>
              <a:t>(as long as power is left on)</a:t>
            </a:r>
            <a:endParaRPr lang="en-US" dirty="0"/>
          </a:p>
          <a:p>
            <a:pPr marL="287338" indent="-287338">
              <a:spcBef>
                <a:spcPts val="600"/>
              </a:spcBef>
              <a:buClr>
                <a:schemeClr val="accent1"/>
              </a:buClr>
              <a:buSzPct val="75000"/>
              <a:buFont typeface="Wingdings" pitchFamily="2" charset="2"/>
              <a:buChar char="q"/>
            </a:pPr>
            <a:r>
              <a:rPr lang="en-US" dirty="0"/>
              <a:t>Main Memory uses </a:t>
            </a:r>
            <a:r>
              <a:rPr lang="en-US" i="1" dirty="0">
                <a:solidFill>
                  <a:schemeClr val="accent2"/>
                </a:solidFill>
              </a:rPr>
              <a:t>DRAM </a:t>
            </a:r>
            <a:r>
              <a:rPr lang="en-US" dirty="0"/>
              <a:t>(Dynamic RAM) for size</a:t>
            </a:r>
          </a:p>
          <a:p>
            <a:pPr marL="741363" lvl="1" indent="-246063">
              <a:spcBef>
                <a:spcPts val="600"/>
              </a:spcBef>
              <a:buClr>
                <a:schemeClr val="accent1"/>
              </a:buClr>
              <a:buSzPct val="75000"/>
              <a:buFont typeface="Monotype Sorts" pitchFamily="2" charset="2"/>
              <a:buChar char="l"/>
            </a:pPr>
            <a:r>
              <a:rPr lang="en-US" dirty="0"/>
              <a:t>Higher density (1 transistor cells), lower power, cheaper </a:t>
            </a:r>
            <a:r>
              <a:rPr lang="en-US" dirty="0" smtClean="0"/>
              <a:t>($10 </a:t>
            </a:r>
            <a:r>
              <a:rPr lang="en-US" dirty="0"/>
              <a:t>to </a:t>
            </a:r>
            <a:r>
              <a:rPr lang="en-US" dirty="0" smtClean="0"/>
              <a:t>$20 </a:t>
            </a:r>
            <a:r>
              <a:rPr lang="en-US" dirty="0"/>
              <a:t>per </a:t>
            </a:r>
            <a:r>
              <a:rPr lang="en-US" dirty="0" err="1" smtClean="0"/>
              <a:t>GiB</a:t>
            </a:r>
            <a:r>
              <a:rPr lang="en-US" dirty="0" smtClean="0"/>
              <a:t> </a:t>
            </a:r>
            <a:r>
              <a:rPr lang="en-US" dirty="0"/>
              <a:t>in </a:t>
            </a:r>
            <a:r>
              <a:rPr lang="en-US" dirty="0" smtClean="0"/>
              <a:t>2012) </a:t>
            </a:r>
            <a:r>
              <a:rPr lang="en-US" dirty="0"/>
              <a:t>but slower (access times of 50 to 70 </a:t>
            </a:r>
            <a:r>
              <a:rPr lang="en-US" dirty="0" err="1"/>
              <a:t>nsec</a:t>
            </a:r>
            <a:r>
              <a:rPr lang="en-US" dirty="0"/>
              <a:t>) </a:t>
            </a:r>
          </a:p>
          <a:p>
            <a:pPr marL="741363" lvl="1" indent="-246063">
              <a:spcBef>
                <a:spcPts val="600"/>
              </a:spcBef>
              <a:buClr>
                <a:schemeClr val="accent1"/>
              </a:buClr>
              <a:buSzPct val="75000"/>
              <a:buFont typeface="Monotype Sorts" pitchFamily="2" charset="2"/>
              <a:buChar char="l"/>
            </a:pPr>
            <a:r>
              <a:rPr lang="en-US" dirty="0"/>
              <a:t>Dynamic: needs to be “refreshed” regularly (~ every 8 </a:t>
            </a:r>
            <a:r>
              <a:rPr lang="en-US" dirty="0" err="1"/>
              <a:t>ms</a:t>
            </a:r>
            <a:r>
              <a:rPr lang="en-US" dirty="0"/>
              <a:t>)</a:t>
            </a:r>
          </a:p>
          <a:p>
            <a:pPr marL="1146175" lvl="2" indent="-176213">
              <a:spcBef>
                <a:spcPts val="600"/>
              </a:spcBef>
              <a:buClr>
                <a:schemeClr val="accent1"/>
              </a:buClr>
              <a:buSzPct val="100000"/>
              <a:buFontTx/>
              <a:buChar char="-"/>
            </a:pPr>
            <a:r>
              <a:rPr lang="en-US" sz="2000" dirty="0"/>
              <a:t> that consumes 1% to 2% of the active cycles of the DRAM</a:t>
            </a:r>
          </a:p>
          <a:p>
            <a:pPr marL="287338" lvl="0" indent="-287338">
              <a:spcBef>
                <a:spcPts val="400"/>
              </a:spcBef>
              <a:buClr>
                <a:schemeClr val="accent1"/>
              </a:buClr>
              <a:buSzPct val="75000"/>
              <a:buFont typeface="Wingdings" pitchFamily="2" charset="2"/>
              <a:buChar char="q"/>
              <a:defRPr/>
            </a:pPr>
            <a:r>
              <a:rPr lang="en-US" kern="0" dirty="0"/>
              <a:t>Secondary Memory is </a:t>
            </a:r>
            <a:r>
              <a:rPr lang="en-US" kern="0" dirty="0">
                <a:solidFill>
                  <a:srgbClr val="0000FF"/>
                </a:solidFill>
              </a:rPr>
              <a:t>nonvolatile</a:t>
            </a:r>
            <a:r>
              <a:rPr lang="en-US" kern="0" dirty="0"/>
              <a:t> (it retains information even when the power is turned off</a:t>
            </a:r>
            <a:r>
              <a:rPr lang="en-US" kern="0" dirty="0" smtClean="0"/>
              <a:t>)</a:t>
            </a:r>
          </a:p>
          <a:p>
            <a:pPr marL="741363" lvl="1" indent="-246063">
              <a:spcBef>
                <a:spcPts val="400"/>
              </a:spcBef>
              <a:buClr>
                <a:schemeClr val="accent1"/>
              </a:buClr>
              <a:buSzPct val="75000"/>
              <a:buFont typeface="Monotype Sorts" pitchFamily="2" charset="2"/>
              <a:buChar char="l"/>
            </a:pPr>
            <a:r>
              <a:rPr lang="en-US" dirty="0" smtClean="0"/>
              <a:t>Extremely </a:t>
            </a:r>
            <a:r>
              <a:rPr lang="en-US" dirty="0"/>
              <a:t>high density, cheap but access time is slow and varies from location to location and from time to time</a:t>
            </a:r>
            <a:endParaRPr lang="en-US" kern="0" dirty="0"/>
          </a:p>
          <a:p>
            <a:pPr>
              <a:spcBef>
                <a:spcPts val="400"/>
              </a:spcBef>
            </a:pPr>
            <a:endParaRPr lang="en-US" dirty="0"/>
          </a:p>
        </p:txBody>
      </p:sp>
    </p:spTree>
    <p:extLst>
      <p:ext uri="{BB962C8B-B14F-4D97-AF65-F5344CB8AC3E}">
        <p14:creationId xmlns:p14="http://schemas.microsoft.com/office/powerpoint/2010/main" val="736550076"/>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3668"/>
            <a:ext cx="8229600" cy="490367"/>
          </a:xfrm>
        </p:spPr>
        <p:txBody>
          <a:bodyPr/>
          <a:lstStyle/>
          <a:p>
            <a:r>
              <a:rPr lang="en-US" dirty="0" smtClean="0"/>
              <a:t>Memory Hierarchy Technologies</a:t>
            </a:r>
            <a:endParaRPr lang="en-US" dirty="0"/>
          </a:p>
        </p:txBody>
      </p:sp>
      <p:sp>
        <p:nvSpPr>
          <p:cNvPr id="3" name="Content Placeholder 2"/>
          <p:cNvSpPr>
            <a:spLocks noGrp="1"/>
          </p:cNvSpPr>
          <p:nvPr>
            <p:ph idx="1"/>
          </p:nvPr>
        </p:nvSpPr>
        <p:spPr>
          <a:xfrm>
            <a:off x="533400" y="914400"/>
            <a:ext cx="8153400" cy="5289653"/>
          </a:xfrm>
        </p:spPr>
        <p:txBody>
          <a:bodyPr/>
          <a:lstStyle/>
          <a:p>
            <a:r>
              <a:rPr lang="en-US" dirty="0" smtClean="0"/>
              <a:t>Secondary memory uses magnetic disk for size and cost</a:t>
            </a:r>
          </a:p>
          <a:p>
            <a:pPr lvl="1"/>
            <a:r>
              <a:rPr lang="en-US" dirty="0" smtClean="0"/>
              <a:t>Much, much slower (typical access time 5 </a:t>
            </a:r>
            <a:r>
              <a:rPr lang="en-US" dirty="0" err="1" smtClean="0"/>
              <a:t>msec</a:t>
            </a:r>
            <a:r>
              <a:rPr lang="en-US" dirty="0" smtClean="0"/>
              <a:t> – 20 </a:t>
            </a:r>
            <a:r>
              <a:rPr lang="en-US" dirty="0" err="1" smtClean="0"/>
              <a:t>msec</a:t>
            </a:r>
            <a:r>
              <a:rPr lang="en-US" dirty="0" smtClean="0"/>
              <a:t>)</a:t>
            </a:r>
          </a:p>
          <a:p>
            <a:pPr lvl="1"/>
            <a:r>
              <a:rPr lang="en-US" dirty="0" smtClean="0"/>
              <a:t>Much, much lower cost ($0.05 – $.10 per </a:t>
            </a:r>
            <a:r>
              <a:rPr lang="en-US" dirty="0" err="1" smtClean="0"/>
              <a:t>GiB</a:t>
            </a:r>
            <a:r>
              <a:rPr lang="en-US" dirty="0" smtClean="0"/>
              <a:t>)</a:t>
            </a:r>
          </a:p>
          <a:p>
            <a:pPr lvl="1"/>
            <a:r>
              <a:rPr lang="en-US" dirty="0" smtClean="0"/>
              <a:t>Non-volatile</a:t>
            </a:r>
          </a:p>
          <a:p>
            <a:pPr lvl="1"/>
            <a:r>
              <a:rPr lang="en-US" dirty="0" smtClean="0"/>
              <a:t>more details later …</a:t>
            </a:r>
          </a:p>
          <a:p>
            <a:r>
              <a:rPr lang="en-US" dirty="0" smtClean="0"/>
              <a:t>Flash memory currently is used as an intermediary between main (DRAM) memory and disk, or as a substitute for disk</a:t>
            </a:r>
          </a:p>
          <a:p>
            <a:pPr lvl="1"/>
            <a:r>
              <a:rPr lang="en-US" dirty="0" smtClean="0"/>
              <a:t>5,000 -50,000 ns access time, $0.75 -$ 1.0 per </a:t>
            </a:r>
            <a:r>
              <a:rPr lang="en-US" dirty="0" err="1" smtClean="0"/>
              <a:t>GiB</a:t>
            </a:r>
            <a:r>
              <a:rPr lang="en-US" dirty="0" smtClean="0"/>
              <a:t> in 2012)</a:t>
            </a:r>
          </a:p>
          <a:p>
            <a:r>
              <a:rPr lang="en-US" dirty="0" smtClean="0"/>
              <a:t>Tertiary memory traditionally has used magnetic tape for size and cost</a:t>
            </a:r>
          </a:p>
          <a:p>
            <a:pPr lvl="1"/>
            <a:r>
              <a:rPr lang="en-US" dirty="0" smtClean="0"/>
              <a:t>Much</a:t>
            </a:r>
            <a:r>
              <a:rPr lang="en-US" baseline="30000" dirty="0" smtClean="0"/>
              <a:t>3</a:t>
            </a:r>
            <a:r>
              <a:rPr lang="en-US" dirty="0" smtClean="0"/>
              <a:t> slower</a:t>
            </a:r>
          </a:p>
          <a:p>
            <a:pPr lvl="1"/>
            <a:r>
              <a:rPr lang="en-US" dirty="0" smtClean="0"/>
              <a:t>Used for disk backups and longer-term off-site archival storage</a:t>
            </a:r>
          </a:p>
        </p:txBody>
      </p:sp>
    </p:spTree>
    <p:extLst>
      <p:ext uri="{BB962C8B-B14F-4D97-AF65-F5344CB8AC3E}">
        <p14:creationId xmlns:p14="http://schemas.microsoft.com/office/powerpoint/2010/main" val="18333518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0578" name="Rectangle 2"/>
          <p:cNvSpPr>
            <a:spLocks noGrp="1" noChangeArrowheads="1"/>
          </p:cNvSpPr>
          <p:nvPr>
            <p:ph type="title"/>
          </p:nvPr>
        </p:nvSpPr>
        <p:spPr>
          <a:xfrm>
            <a:off x="533400" y="228600"/>
            <a:ext cx="8153400" cy="422275"/>
          </a:xfrm>
        </p:spPr>
        <p:txBody>
          <a:bodyPr/>
          <a:lstStyle/>
          <a:p>
            <a:r>
              <a:rPr lang="en-US" dirty="0"/>
              <a:t>Processor-Memory Performance Gap</a:t>
            </a:r>
          </a:p>
        </p:txBody>
      </p:sp>
      <p:graphicFrame>
        <p:nvGraphicFramePr>
          <p:cNvPr id="1560580" name="Object 4"/>
          <p:cNvGraphicFramePr>
            <a:graphicFrameLocks noGrp="1" noChangeAspect="1"/>
          </p:cNvGraphicFramePr>
          <p:nvPr>
            <p:ph sz="half" idx="2"/>
            <p:extLst/>
          </p:nvPr>
        </p:nvGraphicFramePr>
        <p:xfrm>
          <a:off x="76200" y="1244600"/>
          <a:ext cx="7924800" cy="5283200"/>
        </p:xfrm>
        <a:graphic>
          <a:graphicData uri="http://schemas.openxmlformats.org/presentationml/2006/ole">
            <mc:AlternateContent xmlns:mc="http://schemas.openxmlformats.org/markup-compatibility/2006">
              <mc:Choice xmlns:v="urn:schemas-microsoft-com:vml" Requires="v">
                <p:oleObj spid="_x0000_s1089" name="Chart" r:id="rId4" imgW="6095872" imgH="4067265" progId="MSGraph.Chart.8">
                  <p:embed followColorScheme="full"/>
                </p:oleObj>
              </mc:Choice>
              <mc:Fallback>
                <p:oleObj name="Chart" r:id="rId4" imgW="6095872" imgH="4067265" progId="MSGraph.Chart.8">
                  <p:embed followColorScheme="full"/>
                  <p:pic>
                    <p:nvPicPr>
                      <p:cNvPr id="0" name=""/>
                      <p:cNvPicPr>
                        <a:picLocks noChangeAspect="1" noChangeArrowheads="1"/>
                      </p:cNvPicPr>
                      <p:nvPr/>
                    </p:nvPicPr>
                    <p:blipFill>
                      <a:blip r:embed="rId5"/>
                      <a:srcRect/>
                      <a:stretch>
                        <a:fillRect/>
                      </a:stretch>
                    </p:blipFill>
                    <p:spPr bwMode="auto">
                      <a:xfrm>
                        <a:off x="76200" y="1244600"/>
                        <a:ext cx="7924800" cy="528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60582" name="Rectangle 6"/>
          <p:cNvSpPr>
            <a:spLocks noChangeArrowheads="1"/>
          </p:cNvSpPr>
          <p:nvPr/>
        </p:nvSpPr>
        <p:spPr bwMode="auto">
          <a:xfrm>
            <a:off x="4114800" y="1981200"/>
            <a:ext cx="2114550" cy="454025"/>
          </a:xfrm>
          <a:prstGeom prst="rect">
            <a:avLst/>
          </a:prstGeom>
          <a:noFill/>
          <a:ln w="12700">
            <a:noFill/>
            <a:miter lim="800000"/>
            <a:headEnd/>
            <a:tailEnd/>
          </a:ln>
          <a:effectLst/>
        </p:spPr>
        <p:txBody>
          <a:bodyPr wrap="none" lIns="90488" tIns="44450" rIns="90488" bIns="44450">
            <a:spAutoFit/>
          </a:bodyPr>
          <a:lstStyle/>
          <a:p>
            <a:r>
              <a:rPr lang="en-US" sz="2400">
                <a:solidFill>
                  <a:srgbClr val="FC0128"/>
                </a:solidFill>
              </a:rPr>
              <a:t>“Moore’s Law”</a:t>
            </a:r>
          </a:p>
        </p:txBody>
      </p:sp>
      <p:grpSp>
        <p:nvGrpSpPr>
          <p:cNvPr id="2" name="Group 7"/>
          <p:cNvGrpSpPr>
            <a:grpSpLocks/>
          </p:cNvGrpSpPr>
          <p:nvPr/>
        </p:nvGrpSpPr>
        <p:grpSpPr bwMode="auto">
          <a:xfrm>
            <a:off x="7177088" y="762000"/>
            <a:ext cx="1890712" cy="1184275"/>
            <a:chOff x="4449" y="816"/>
            <a:chExt cx="1191" cy="746"/>
          </a:xfrm>
        </p:grpSpPr>
        <p:sp>
          <p:nvSpPr>
            <p:cNvPr id="1560584" name="Rectangle 8"/>
            <p:cNvSpPr>
              <a:spLocks noChangeArrowheads="1"/>
            </p:cNvSpPr>
            <p:nvPr/>
          </p:nvSpPr>
          <p:spPr bwMode="auto">
            <a:xfrm>
              <a:off x="4608" y="816"/>
              <a:ext cx="1032" cy="746"/>
            </a:xfrm>
            <a:prstGeom prst="rect">
              <a:avLst/>
            </a:prstGeom>
            <a:noFill/>
            <a:ln w="12700">
              <a:noFill/>
              <a:miter lim="800000"/>
              <a:headEnd/>
              <a:tailEnd/>
            </a:ln>
            <a:effectLst/>
          </p:spPr>
          <p:txBody>
            <a:bodyPr lIns="90488" tIns="44450" rIns="90488" bIns="44450">
              <a:spAutoFit/>
            </a:bodyPr>
            <a:lstStyle/>
            <a:p>
              <a:r>
                <a:rPr lang="en-US" sz="2400">
                  <a:solidFill>
                    <a:schemeClr val="tx1"/>
                  </a:solidFill>
                </a:rPr>
                <a:t>µProc</a:t>
              </a:r>
            </a:p>
            <a:p>
              <a:r>
                <a:rPr lang="en-US" sz="2400">
                  <a:solidFill>
                    <a:schemeClr val="tx1"/>
                  </a:solidFill>
                </a:rPr>
                <a:t>55%/year</a:t>
              </a:r>
            </a:p>
            <a:p>
              <a:r>
                <a:rPr lang="en-US" sz="2400">
                  <a:solidFill>
                    <a:schemeClr val="tx1"/>
                  </a:solidFill>
                </a:rPr>
                <a:t>(2X/1.5yr)</a:t>
              </a:r>
            </a:p>
          </p:txBody>
        </p:sp>
        <p:cxnSp>
          <p:nvCxnSpPr>
            <p:cNvPr id="1560585" name="AutoShape 9"/>
            <p:cNvCxnSpPr>
              <a:cxnSpLocks noChangeShapeType="1"/>
              <a:stCxn id="1560584" idx="1"/>
            </p:cNvCxnSpPr>
            <p:nvPr/>
          </p:nvCxnSpPr>
          <p:spPr bwMode="auto">
            <a:xfrm rot="10800000" flipV="1">
              <a:off x="4449" y="1189"/>
              <a:ext cx="159" cy="135"/>
            </a:xfrm>
            <a:prstGeom prst="curvedConnector2">
              <a:avLst/>
            </a:prstGeom>
            <a:noFill/>
            <a:ln w="12700">
              <a:solidFill>
                <a:schemeClr val="accent1"/>
              </a:solidFill>
              <a:round/>
              <a:headEnd/>
              <a:tailEnd type="triangle" w="med" len="med"/>
            </a:ln>
            <a:effectLst/>
          </p:spPr>
        </p:cxnSp>
      </p:grpSp>
      <p:grpSp>
        <p:nvGrpSpPr>
          <p:cNvPr id="3" name="Group 10"/>
          <p:cNvGrpSpPr>
            <a:grpSpLocks/>
          </p:cNvGrpSpPr>
          <p:nvPr/>
        </p:nvGrpSpPr>
        <p:grpSpPr bwMode="auto">
          <a:xfrm>
            <a:off x="6781799" y="4114800"/>
            <a:ext cx="2209799" cy="1524000"/>
            <a:chOff x="4319" y="2606"/>
            <a:chExt cx="1392" cy="746"/>
          </a:xfrm>
        </p:grpSpPr>
        <p:sp>
          <p:nvSpPr>
            <p:cNvPr id="1560587" name="Rectangle 11"/>
            <p:cNvSpPr>
              <a:spLocks noChangeArrowheads="1"/>
            </p:cNvSpPr>
            <p:nvPr/>
          </p:nvSpPr>
          <p:spPr bwMode="auto">
            <a:xfrm>
              <a:off x="4657" y="2606"/>
              <a:ext cx="1054" cy="746"/>
            </a:xfrm>
            <a:prstGeom prst="rect">
              <a:avLst/>
            </a:prstGeom>
            <a:noFill/>
            <a:ln w="12700">
              <a:noFill/>
              <a:miter lim="800000"/>
              <a:headEnd/>
              <a:tailEnd/>
            </a:ln>
            <a:effectLst/>
          </p:spPr>
          <p:txBody>
            <a:bodyPr lIns="90488" tIns="44450" rIns="90488" bIns="44450">
              <a:spAutoFit/>
            </a:bodyPr>
            <a:lstStyle/>
            <a:p>
              <a:r>
                <a:rPr lang="en-US" sz="2400">
                  <a:solidFill>
                    <a:schemeClr val="tx1"/>
                  </a:solidFill>
                </a:rPr>
                <a:t>DRAM</a:t>
              </a:r>
            </a:p>
            <a:p>
              <a:r>
                <a:rPr lang="en-US" sz="2400">
                  <a:solidFill>
                    <a:schemeClr val="tx1"/>
                  </a:solidFill>
                </a:rPr>
                <a:t>7%/year</a:t>
              </a:r>
            </a:p>
            <a:p>
              <a:r>
                <a:rPr lang="en-US" sz="2400">
                  <a:solidFill>
                    <a:schemeClr val="tx1"/>
                  </a:solidFill>
                </a:rPr>
                <a:t>(2X/10yrs)</a:t>
              </a:r>
            </a:p>
          </p:txBody>
        </p:sp>
        <p:cxnSp>
          <p:nvCxnSpPr>
            <p:cNvPr id="1560588" name="AutoShape 12"/>
            <p:cNvCxnSpPr>
              <a:cxnSpLocks noChangeShapeType="1"/>
              <a:stCxn id="1560587" idx="1"/>
            </p:cNvCxnSpPr>
            <p:nvPr/>
          </p:nvCxnSpPr>
          <p:spPr bwMode="auto">
            <a:xfrm rot="10800000">
              <a:off x="4319" y="2830"/>
              <a:ext cx="338" cy="149"/>
            </a:xfrm>
            <a:prstGeom prst="curvedConnector3">
              <a:avLst>
                <a:gd name="adj1" fmla="val 82154"/>
              </a:avLst>
            </a:prstGeom>
            <a:noFill/>
            <a:ln w="12700">
              <a:solidFill>
                <a:schemeClr val="accent1"/>
              </a:solidFill>
              <a:round/>
              <a:headEnd/>
              <a:tailEnd type="triangle" w="med" len="med"/>
            </a:ln>
            <a:effectLst/>
          </p:spPr>
        </p:cxnSp>
      </p:grpSp>
      <p:sp>
        <p:nvSpPr>
          <p:cNvPr id="1560589" name="Line 13"/>
          <p:cNvSpPr>
            <a:spLocks noChangeShapeType="1"/>
          </p:cNvSpPr>
          <p:nvPr/>
        </p:nvSpPr>
        <p:spPr bwMode="auto">
          <a:xfrm>
            <a:off x="6096000" y="2514600"/>
            <a:ext cx="0" cy="1813690"/>
          </a:xfrm>
          <a:prstGeom prst="line">
            <a:avLst/>
          </a:prstGeom>
          <a:noFill/>
          <a:ln w="25400">
            <a:solidFill>
              <a:srgbClr val="FC0128"/>
            </a:solidFill>
            <a:round/>
            <a:headEnd type="triangle" w="med" len="med"/>
            <a:tailEnd type="triangle" w="med" len="med"/>
          </a:ln>
          <a:effectLst/>
        </p:spPr>
        <p:txBody>
          <a:bodyPr wrap="none" anchor="ctr"/>
          <a:lstStyle/>
          <a:p>
            <a:endParaRPr lang="en-US"/>
          </a:p>
        </p:txBody>
      </p:sp>
      <p:sp>
        <p:nvSpPr>
          <p:cNvPr id="1560590" name="Rectangle 14"/>
          <p:cNvSpPr>
            <a:spLocks noChangeArrowheads="1"/>
          </p:cNvSpPr>
          <p:nvPr/>
        </p:nvSpPr>
        <p:spPr bwMode="auto">
          <a:xfrm>
            <a:off x="6096000" y="2819400"/>
            <a:ext cx="2757488" cy="1184275"/>
          </a:xfrm>
          <a:prstGeom prst="rect">
            <a:avLst/>
          </a:prstGeom>
          <a:noFill/>
          <a:ln w="12700">
            <a:noFill/>
            <a:miter lim="800000"/>
            <a:headEnd/>
            <a:tailEnd/>
          </a:ln>
          <a:effectLst/>
        </p:spPr>
        <p:txBody>
          <a:bodyPr wrap="none" lIns="90488" tIns="44450" rIns="90488" bIns="44450">
            <a:spAutoFit/>
          </a:bodyPr>
          <a:lstStyle/>
          <a:p>
            <a:r>
              <a:rPr lang="en-US" sz="2400"/>
              <a:t>Processor-Memory</a:t>
            </a:r>
          </a:p>
          <a:p>
            <a:r>
              <a:rPr lang="en-US" sz="2400"/>
              <a:t>Performance Gap</a:t>
            </a:r>
            <a:br>
              <a:rPr lang="en-US" sz="2400"/>
            </a:br>
            <a:r>
              <a:rPr lang="en-US" sz="2400"/>
              <a:t>(grows 50%/year)</a:t>
            </a:r>
          </a:p>
        </p:txBody>
      </p:sp>
    </p:spTree>
    <p:extLst>
      <p:ext uri="{BB962C8B-B14F-4D97-AF65-F5344CB8AC3E}">
        <p14:creationId xmlns:p14="http://schemas.microsoft.com/office/powerpoint/2010/main" val="4429040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6058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6058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605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0582" grpId="0"/>
      <p:bldP spid="1560589" grpId="0" animBg="1"/>
      <p:bldP spid="156059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918648" cy="426142"/>
          </a:xfrm>
        </p:spPr>
        <p:txBody>
          <a:bodyPr/>
          <a:lstStyle/>
          <a:p>
            <a:r>
              <a:rPr lang="en-US" dirty="0" smtClean="0"/>
              <a:t>Growth in Processor Performance (</a:t>
            </a:r>
            <a:r>
              <a:rPr lang="en-US" dirty="0" err="1" smtClean="0"/>
              <a:t>SPECint</a:t>
            </a:r>
            <a:r>
              <a:rPr lang="en-US" dirty="0" smtClean="0"/>
              <a:t>)</a:t>
            </a:r>
            <a:endParaRPr lang="en-US" dirty="0"/>
          </a:p>
        </p:txBody>
      </p:sp>
      <p:pic>
        <p:nvPicPr>
          <p:cNvPr id="4" name="Picture 4" descr="Ch1-fig01"/>
          <p:cNvPicPr>
            <a:picLocks noGrp="1" noChangeAspect="1" noChangeArrowheads="1"/>
          </p:cNvPicPr>
          <p:nvPr>
            <p:ph idx="1"/>
          </p:nvPr>
        </p:nvPicPr>
        <p:blipFill>
          <a:blip r:embed="rId3" cstate="print"/>
          <a:srcRect/>
          <a:stretch>
            <a:fillRect/>
          </a:stretch>
        </p:blipFill>
        <p:spPr bwMode="auto">
          <a:xfrm>
            <a:off x="323528" y="1124744"/>
            <a:ext cx="8532440" cy="5172792"/>
          </a:xfrm>
          <a:prstGeom prst="rect">
            <a:avLst/>
          </a:prstGeom>
          <a:noFill/>
          <a:ln w="9525">
            <a:noFill/>
            <a:miter lim="800000"/>
            <a:headEnd/>
            <a:tailEnd/>
          </a:ln>
          <a:effectLst/>
        </p:spPr>
      </p:pic>
      <p:grpSp>
        <p:nvGrpSpPr>
          <p:cNvPr id="16" name="Group 15"/>
          <p:cNvGrpSpPr/>
          <p:nvPr/>
        </p:nvGrpSpPr>
        <p:grpSpPr>
          <a:xfrm>
            <a:off x="1115616" y="4005064"/>
            <a:ext cx="1584176" cy="1584175"/>
            <a:chOff x="1115616" y="4005064"/>
            <a:chExt cx="1584176" cy="1584175"/>
          </a:xfrm>
        </p:grpSpPr>
        <p:sp>
          <p:nvSpPr>
            <p:cNvPr id="5" name="TextBox 4"/>
            <p:cNvSpPr txBox="1"/>
            <p:nvPr/>
          </p:nvSpPr>
          <p:spPr>
            <a:xfrm>
              <a:off x="1115616" y="4005064"/>
              <a:ext cx="1584176" cy="707886"/>
            </a:xfrm>
            <a:prstGeom prst="rect">
              <a:avLst/>
            </a:prstGeom>
            <a:noFill/>
          </p:spPr>
          <p:txBody>
            <a:bodyPr wrap="square" rtlCol="0">
              <a:spAutoFit/>
            </a:bodyPr>
            <a:lstStyle/>
            <a:p>
              <a:r>
                <a:rPr lang="en-US" sz="2000" dirty="0" smtClean="0"/>
                <a:t>Technology driven</a:t>
              </a:r>
              <a:endParaRPr lang="en-US" sz="2000" dirty="0"/>
            </a:p>
          </p:txBody>
        </p:sp>
        <p:cxnSp>
          <p:nvCxnSpPr>
            <p:cNvPr id="7" name="Straight Arrow Connector 6"/>
            <p:cNvCxnSpPr>
              <a:stCxn id="5" idx="2"/>
            </p:cNvCxnSpPr>
            <p:nvPr/>
          </p:nvCxnSpPr>
          <p:spPr bwMode="auto">
            <a:xfrm>
              <a:off x="1907704" y="4712950"/>
              <a:ext cx="216025" cy="876289"/>
            </a:xfrm>
            <a:prstGeom prst="straightConnector1">
              <a:avLst/>
            </a:prstGeom>
            <a:noFill/>
            <a:ln w="19050" cap="flat" cmpd="sng" algn="ctr">
              <a:solidFill>
                <a:schemeClr val="tx1"/>
              </a:solidFill>
              <a:prstDash val="solid"/>
              <a:round/>
              <a:headEnd type="none" w="med" len="med"/>
              <a:tailEnd type="arrow"/>
            </a:ln>
            <a:effectLst/>
          </p:spPr>
        </p:cxnSp>
      </p:grpSp>
      <p:grpSp>
        <p:nvGrpSpPr>
          <p:cNvPr id="18" name="Group 17"/>
          <p:cNvGrpSpPr/>
          <p:nvPr/>
        </p:nvGrpSpPr>
        <p:grpSpPr>
          <a:xfrm>
            <a:off x="2483768" y="1916832"/>
            <a:ext cx="2520283" cy="2304254"/>
            <a:chOff x="2483768" y="1916832"/>
            <a:chExt cx="2520283" cy="2304254"/>
          </a:xfrm>
        </p:grpSpPr>
        <p:sp>
          <p:nvSpPr>
            <p:cNvPr id="8" name="TextBox 7"/>
            <p:cNvSpPr txBox="1"/>
            <p:nvPr/>
          </p:nvSpPr>
          <p:spPr>
            <a:xfrm>
              <a:off x="2483768" y="1916832"/>
              <a:ext cx="1944216" cy="1015663"/>
            </a:xfrm>
            <a:prstGeom prst="rect">
              <a:avLst/>
            </a:prstGeom>
            <a:noFill/>
          </p:spPr>
          <p:txBody>
            <a:bodyPr wrap="square" rtlCol="0">
              <a:spAutoFit/>
            </a:bodyPr>
            <a:lstStyle/>
            <a:p>
              <a:r>
                <a:rPr lang="en-US" sz="2000" dirty="0" smtClean="0"/>
                <a:t>Technology + advancements in architectures</a:t>
              </a:r>
              <a:endParaRPr lang="en-US" sz="2000" dirty="0"/>
            </a:p>
          </p:txBody>
        </p:sp>
        <p:cxnSp>
          <p:nvCxnSpPr>
            <p:cNvPr id="9" name="Straight Arrow Connector 8"/>
            <p:cNvCxnSpPr>
              <a:stCxn id="8" idx="2"/>
            </p:cNvCxnSpPr>
            <p:nvPr/>
          </p:nvCxnSpPr>
          <p:spPr bwMode="auto">
            <a:xfrm>
              <a:off x="3455876" y="2932495"/>
              <a:ext cx="1548175" cy="1288591"/>
            </a:xfrm>
            <a:prstGeom prst="straightConnector1">
              <a:avLst/>
            </a:prstGeom>
            <a:noFill/>
            <a:ln w="19050" cap="flat" cmpd="sng" algn="ctr">
              <a:solidFill>
                <a:schemeClr val="tx1"/>
              </a:solidFill>
              <a:prstDash val="solid"/>
              <a:round/>
              <a:headEnd type="none" w="med" len="med"/>
              <a:tailEnd type="arrow"/>
            </a:ln>
            <a:effectLst/>
          </p:spPr>
        </p:cxnSp>
      </p:grpSp>
      <p:grpSp>
        <p:nvGrpSpPr>
          <p:cNvPr id="17" name="Group 16"/>
          <p:cNvGrpSpPr/>
          <p:nvPr/>
        </p:nvGrpSpPr>
        <p:grpSpPr>
          <a:xfrm>
            <a:off x="2971800" y="1124744"/>
            <a:ext cx="4192489" cy="2016221"/>
            <a:chOff x="2971800" y="1124744"/>
            <a:chExt cx="4192489" cy="2016221"/>
          </a:xfrm>
        </p:grpSpPr>
        <p:sp>
          <p:nvSpPr>
            <p:cNvPr id="12" name="TextBox 11"/>
            <p:cNvSpPr txBox="1"/>
            <p:nvPr/>
          </p:nvSpPr>
          <p:spPr>
            <a:xfrm>
              <a:off x="2971800" y="1124744"/>
              <a:ext cx="3256384" cy="707886"/>
            </a:xfrm>
            <a:prstGeom prst="rect">
              <a:avLst/>
            </a:prstGeom>
            <a:noFill/>
          </p:spPr>
          <p:txBody>
            <a:bodyPr wrap="square" rtlCol="0">
              <a:spAutoFit/>
            </a:bodyPr>
            <a:lstStyle/>
            <a:p>
              <a:r>
                <a:rPr lang="en-US" sz="2000" dirty="0" smtClean="0"/>
                <a:t>Limits on </a:t>
              </a:r>
              <a:r>
                <a:rPr lang="en-US" sz="2000" b="1" dirty="0" smtClean="0"/>
                <a:t>power</a:t>
              </a:r>
              <a:r>
                <a:rPr lang="en-US" sz="2000" dirty="0" smtClean="0"/>
                <a:t>, available ILP, memory latencies</a:t>
              </a:r>
              <a:endParaRPr lang="en-US" sz="2000" dirty="0"/>
            </a:p>
          </p:txBody>
        </p:sp>
        <p:cxnSp>
          <p:nvCxnSpPr>
            <p:cNvPr id="13" name="Straight Arrow Connector 12"/>
            <p:cNvCxnSpPr>
              <a:stCxn id="12" idx="2"/>
            </p:cNvCxnSpPr>
            <p:nvPr/>
          </p:nvCxnSpPr>
          <p:spPr bwMode="auto">
            <a:xfrm>
              <a:off x="4599992" y="1832630"/>
              <a:ext cx="2564297" cy="1308335"/>
            </a:xfrm>
            <a:prstGeom prst="straightConnector1">
              <a:avLst/>
            </a:prstGeom>
            <a:noFill/>
            <a:ln w="19050" cap="flat" cmpd="sng" algn="ctr">
              <a:solidFill>
                <a:schemeClr val="tx1"/>
              </a:solidFill>
              <a:prstDash val="solid"/>
              <a:round/>
              <a:headEnd type="none" w="med" len="med"/>
              <a:tailEnd type="arrow"/>
            </a:ln>
            <a:effectLst/>
          </p:spPr>
        </p:cxnSp>
      </p:grpSp>
      <p:sp>
        <p:nvSpPr>
          <p:cNvPr id="10" name="Slide Number Placeholder 9"/>
          <p:cNvSpPr>
            <a:spLocks noGrp="1"/>
          </p:cNvSpPr>
          <p:nvPr>
            <p:ph type="sldNum" sz="quarter" idx="10"/>
          </p:nvPr>
        </p:nvSpPr>
        <p:spPr/>
        <p:txBody>
          <a:bodyPr/>
          <a:lstStyle/>
          <a:p>
            <a:fld id="{5DE0CC70-9BD5-7543-A524-72E5137DC4FD}" type="slidenum">
              <a:rPr lang="en-US" smtClean="0"/>
              <a:t>10</a:t>
            </a:fld>
            <a:endParaRPr lang="en-US"/>
          </a:p>
        </p:txBody>
      </p:sp>
    </p:spTree>
    <p:extLst>
      <p:ext uri="{BB962C8B-B14F-4D97-AF65-F5344CB8AC3E}">
        <p14:creationId xmlns:p14="http://schemas.microsoft.com/office/powerpoint/2010/main" val="147083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8466" name="Rectangle 2"/>
          <p:cNvSpPr>
            <a:spLocks noGrp="1" noChangeArrowheads="1"/>
          </p:cNvSpPr>
          <p:nvPr>
            <p:ph type="title"/>
          </p:nvPr>
        </p:nvSpPr>
        <p:spPr/>
        <p:txBody>
          <a:bodyPr/>
          <a:lstStyle/>
          <a:p>
            <a:r>
              <a:rPr lang="en-US"/>
              <a:t>The “Memory Wall”</a:t>
            </a:r>
          </a:p>
        </p:txBody>
      </p:sp>
      <p:sp>
        <p:nvSpPr>
          <p:cNvPr id="1598467" name="Rectangle 3"/>
          <p:cNvSpPr>
            <a:spLocks noGrp="1" noChangeArrowheads="1"/>
          </p:cNvSpPr>
          <p:nvPr>
            <p:ph type="body" sz="half" idx="1"/>
          </p:nvPr>
        </p:nvSpPr>
        <p:spPr>
          <a:xfrm>
            <a:off x="533400" y="857232"/>
            <a:ext cx="8001000" cy="383695"/>
          </a:xfrm>
        </p:spPr>
        <p:txBody>
          <a:bodyPr>
            <a:normAutofit/>
          </a:bodyPr>
          <a:lstStyle/>
          <a:p>
            <a:r>
              <a:rPr lang="en-US" dirty="0" smtClean="0"/>
              <a:t>Processor </a:t>
            </a:r>
            <a:r>
              <a:rPr lang="en-US" dirty="0" err="1"/>
              <a:t>vs</a:t>
            </a:r>
            <a:r>
              <a:rPr lang="en-US" dirty="0"/>
              <a:t> DRAM speed </a:t>
            </a:r>
            <a:r>
              <a:rPr lang="en-US" dirty="0" smtClean="0"/>
              <a:t>disparity continues </a:t>
            </a:r>
            <a:r>
              <a:rPr lang="en-US" dirty="0"/>
              <a:t>to grow</a:t>
            </a:r>
          </a:p>
        </p:txBody>
      </p:sp>
      <p:graphicFrame>
        <p:nvGraphicFramePr>
          <p:cNvPr id="1598468" name="Object 4"/>
          <p:cNvGraphicFramePr>
            <a:graphicFrameLocks noGrp="1" noChangeAspect="1"/>
          </p:cNvGraphicFramePr>
          <p:nvPr>
            <p:ph sz="half" idx="2"/>
          </p:nvPr>
        </p:nvGraphicFramePr>
        <p:xfrm>
          <a:off x="1676400" y="1285860"/>
          <a:ext cx="6324600" cy="4229100"/>
        </p:xfrm>
        <a:graphic>
          <a:graphicData uri="http://schemas.openxmlformats.org/presentationml/2006/ole">
            <mc:AlternateContent xmlns:mc="http://schemas.openxmlformats.org/markup-compatibility/2006">
              <mc:Choice xmlns:v="urn:schemas-microsoft-com:vml" Requires="v">
                <p:oleObj spid="_x0000_s2113" name="Chart" r:id="rId3" imgW="6095872" imgH="4076726" progId="MSGraph.Chart.8">
                  <p:embed followColorScheme="full"/>
                </p:oleObj>
              </mc:Choice>
              <mc:Fallback>
                <p:oleObj name="Chart" r:id="rId3" imgW="6095872" imgH="4076726" progId="MSGraph.Chart.8">
                  <p:embed followColorScheme="full"/>
                  <p:pic>
                    <p:nvPicPr>
                      <p:cNvPr id="0" name=""/>
                      <p:cNvPicPr>
                        <a:picLocks noChangeAspect="1" noChangeArrowheads="1"/>
                      </p:cNvPicPr>
                      <p:nvPr/>
                    </p:nvPicPr>
                    <p:blipFill>
                      <a:blip r:embed="rId4"/>
                      <a:srcRect/>
                      <a:stretch>
                        <a:fillRect/>
                      </a:stretch>
                    </p:blipFill>
                    <p:spPr bwMode="auto">
                      <a:xfrm>
                        <a:off x="1676400" y="1285860"/>
                        <a:ext cx="6324600" cy="422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98470" name="Text Box 6"/>
          <p:cNvSpPr txBox="1">
            <a:spLocks noChangeArrowheads="1"/>
          </p:cNvSpPr>
          <p:nvPr/>
        </p:nvSpPr>
        <p:spPr bwMode="auto">
          <a:xfrm rot="-5400000">
            <a:off x="237128" y="2957467"/>
            <a:ext cx="2635658" cy="400110"/>
          </a:xfrm>
          <a:prstGeom prst="rect">
            <a:avLst/>
          </a:prstGeom>
          <a:noFill/>
          <a:ln w="12700">
            <a:noFill/>
            <a:miter lim="800000"/>
            <a:headEnd/>
            <a:tailEnd/>
          </a:ln>
          <a:effectLst/>
        </p:spPr>
        <p:txBody>
          <a:bodyPr wrap="none">
            <a:spAutoFit/>
          </a:bodyPr>
          <a:lstStyle/>
          <a:p>
            <a:r>
              <a:rPr lang="en-US" sz="2000" dirty="0">
                <a:solidFill>
                  <a:srgbClr val="FF0000"/>
                </a:solidFill>
              </a:rPr>
              <a:t>Clocks per instruction</a:t>
            </a:r>
          </a:p>
        </p:txBody>
      </p:sp>
      <p:sp>
        <p:nvSpPr>
          <p:cNvPr id="1598471" name="Text Box 7"/>
          <p:cNvSpPr txBox="1">
            <a:spLocks noChangeArrowheads="1"/>
          </p:cNvSpPr>
          <p:nvPr/>
        </p:nvSpPr>
        <p:spPr bwMode="auto">
          <a:xfrm rot="-5400000">
            <a:off x="5418901" y="2855867"/>
            <a:ext cx="3092513" cy="400110"/>
          </a:xfrm>
          <a:prstGeom prst="rect">
            <a:avLst/>
          </a:prstGeom>
          <a:noFill/>
          <a:ln w="12700">
            <a:noFill/>
            <a:miter lim="800000"/>
            <a:headEnd/>
            <a:tailEnd/>
          </a:ln>
          <a:effectLst/>
        </p:spPr>
        <p:txBody>
          <a:bodyPr wrap="none">
            <a:spAutoFit/>
          </a:bodyPr>
          <a:lstStyle/>
          <a:p>
            <a:r>
              <a:rPr lang="en-US" sz="2000" dirty="0">
                <a:solidFill>
                  <a:srgbClr val="0000FF"/>
                </a:solidFill>
              </a:rPr>
              <a:t>Clocks per DRAM access</a:t>
            </a:r>
          </a:p>
        </p:txBody>
      </p:sp>
      <p:sp>
        <p:nvSpPr>
          <p:cNvPr id="7" name="Rectangle 7"/>
          <p:cNvSpPr>
            <a:spLocks noChangeArrowheads="1"/>
          </p:cNvSpPr>
          <p:nvPr/>
        </p:nvSpPr>
        <p:spPr bwMode="auto">
          <a:xfrm>
            <a:off x="642910" y="5643578"/>
            <a:ext cx="8001000" cy="753027"/>
          </a:xfrm>
          <a:prstGeom prst="rect">
            <a:avLst/>
          </a:prstGeom>
          <a:noFill/>
          <a:ln w="12700">
            <a:noFill/>
            <a:miter lim="800000"/>
            <a:headEnd/>
            <a:tailEnd/>
          </a:ln>
          <a:effectLst/>
        </p:spPr>
        <p:txBody>
          <a:bodyPr lIns="63500" tIns="25400" rIns="63500" bIns="25400">
            <a:spAutoFit/>
          </a:bodyPr>
          <a:lstStyle/>
          <a:p>
            <a:pPr marL="287338" indent="-287338">
              <a:lnSpc>
                <a:spcPct val="95000"/>
              </a:lnSpc>
              <a:spcBef>
                <a:spcPct val="25000"/>
              </a:spcBef>
              <a:buClr>
                <a:schemeClr val="accent1"/>
              </a:buClr>
              <a:buSzPct val="75000"/>
              <a:buFont typeface="Wingdings" pitchFamily="2" charset="2"/>
              <a:buChar char="q"/>
            </a:pPr>
            <a:r>
              <a:rPr lang="en-US" sz="2400" dirty="0"/>
              <a:t>Good memory hierarchy design (esp. cache) is now essential to overall performance</a:t>
            </a:r>
          </a:p>
        </p:txBody>
      </p:sp>
    </p:spTree>
    <p:extLst>
      <p:ext uri="{BB962C8B-B14F-4D97-AF65-F5344CB8AC3E}">
        <p14:creationId xmlns:p14="http://schemas.microsoft.com/office/powerpoint/2010/main" val="1391935739"/>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22" name="Rectangle 2"/>
          <p:cNvSpPr>
            <a:spLocks noGrp="1" noChangeArrowheads="1"/>
          </p:cNvSpPr>
          <p:nvPr>
            <p:ph type="title"/>
          </p:nvPr>
        </p:nvSpPr>
        <p:spPr>
          <a:xfrm>
            <a:off x="533400" y="228600"/>
            <a:ext cx="8153400" cy="422275"/>
          </a:xfrm>
        </p:spPr>
        <p:txBody>
          <a:bodyPr/>
          <a:lstStyle/>
          <a:p>
            <a:r>
              <a:rPr lang="en-US" dirty="0"/>
              <a:t>The Memory Hierarchy Goal</a:t>
            </a:r>
          </a:p>
        </p:txBody>
      </p:sp>
      <p:sp>
        <p:nvSpPr>
          <p:cNvPr id="1566723" name="Rectangle 3"/>
          <p:cNvSpPr>
            <a:spLocks noGrp="1" noChangeArrowheads="1"/>
          </p:cNvSpPr>
          <p:nvPr>
            <p:ph type="body" idx="1"/>
          </p:nvPr>
        </p:nvSpPr>
        <p:spPr>
          <a:xfrm>
            <a:off x="533400" y="838200"/>
            <a:ext cx="8153400" cy="5643596"/>
          </a:xfrm>
        </p:spPr>
        <p:txBody>
          <a:bodyPr>
            <a:normAutofit/>
          </a:bodyPr>
          <a:lstStyle/>
          <a:p>
            <a:r>
              <a:rPr lang="en-US" dirty="0" smtClean="0"/>
              <a:t>Facts of life as we know it today</a:t>
            </a:r>
          </a:p>
          <a:p>
            <a:pPr lvl="1"/>
            <a:r>
              <a:rPr lang="en-US" dirty="0" smtClean="0"/>
              <a:t>Large </a:t>
            </a:r>
            <a:r>
              <a:rPr lang="en-US" dirty="0"/>
              <a:t>memories are</a:t>
            </a:r>
            <a:r>
              <a:rPr lang="en-US" dirty="0" smtClean="0"/>
              <a:t> cheap but slow</a:t>
            </a:r>
          </a:p>
          <a:p>
            <a:pPr lvl="1"/>
            <a:r>
              <a:rPr lang="en-US" dirty="0" smtClean="0"/>
              <a:t>Fast </a:t>
            </a:r>
            <a:r>
              <a:rPr lang="en-US" dirty="0"/>
              <a:t>memories are</a:t>
            </a:r>
            <a:r>
              <a:rPr lang="en-US" dirty="0" smtClean="0"/>
              <a:t> expensive hence small to reduce cost</a:t>
            </a:r>
          </a:p>
          <a:p>
            <a:pPr lvl="2"/>
            <a:r>
              <a:rPr lang="en-US" dirty="0" smtClean="0"/>
              <a:t>cheap or expensive per bit</a:t>
            </a:r>
          </a:p>
          <a:p>
            <a:pPr lvl="2"/>
            <a:r>
              <a:rPr lang="en-US" dirty="0" smtClean="0"/>
              <a:t>slow or fast access times</a:t>
            </a:r>
          </a:p>
          <a:p>
            <a:pPr lvl="2"/>
            <a:r>
              <a:rPr lang="en-US" dirty="0" smtClean="0"/>
              <a:t>large or small quantities of bytes per access request</a:t>
            </a:r>
          </a:p>
          <a:p>
            <a:pPr lvl="1"/>
            <a:r>
              <a:rPr lang="en-US" dirty="0" smtClean="0"/>
              <a:t>There is a range of technologies to choose from</a:t>
            </a:r>
          </a:p>
          <a:p>
            <a:pPr lvl="2"/>
            <a:r>
              <a:rPr lang="en-US" dirty="0" smtClean="0"/>
              <a:t>on-chip:  SRAM, embedded DRAM</a:t>
            </a:r>
          </a:p>
          <a:p>
            <a:pPr lvl="2"/>
            <a:r>
              <a:rPr lang="en-US" dirty="0" smtClean="0"/>
              <a:t>off-chip:  DRAM, Flash, magnetic disk (internal)</a:t>
            </a:r>
          </a:p>
          <a:p>
            <a:pPr lvl="2"/>
            <a:r>
              <a:rPr lang="en-US" dirty="0" smtClean="0"/>
              <a:t>Removable:  Flash, magnetic disk (external), optical disk</a:t>
            </a:r>
          </a:p>
          <a:p>
            <a:pPr lvl="2"/>
            <a:r>
              <a:rPr lang="en-US" dirty="0" smtClean="0"/>
              <a:t>Networked:  file servers (near), web servers (distant)</a:t>
            </a:r>
          </a:p>
        </p:txBody>
      </p:sp>
    </p:spTree>
    <p:extLst>
      <p:ext uri="{BB962C8B-B14F-4D97-AF65-F5344CB8AC3E}">
        <p14:creationId xmlns:p14="http://schemas.microsoft.com/office/powerpoint/2010/main" val="1724598602"/>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22" name="Rectangle 2"/>
          <p:cNvSpPr>
            <a:spLocks noGrp="1" noChangeArrowheads="1"/>
          </p:cNvSpPr>
          <p:nvPr>
            <p:ph type="title"/>
          </p:nvPr>
        </p:nvSpPr>
        <p:spPr>
          <a:xfrm>
            <a:off x="533400" y="228600"/>
            <a:ext cx="8153400" cy="422275"/>
          </a:xfrm>
        </p:spPr>
        <p:txBody>
          <a:bodyPr/>
          <a:lstStyle/>
          <a:p>
            <a:r>
              <a:rPr lang="en-US" dirty="0"/>
              <a:t>The Memory Hierarchy Goal</a:t>
            </a:r>
          </a:p>
        </p:txBody>
      </p:sp>
      <p:sp>
        <p:nvSpPr>
          <p:cNvPr id="1566723" name="Rectangle 3"/>
          <p:cNvSpPr>
            <a:spLocks noGrp="1" noChangeArrowheads="1"/>
          </p:cNvSpPr>
          <p:nvPr>
            <p:ph type="body" idx="1"/>
          </p:nvPr>
        </p:nvSpPr>
        <p:spPr>
          <a:xfrm>
            <a:off x="533400" y="838200"/>
            <a:ext cx="8153400" cy="5643596"/>
          </a:xfrm>
        </p:spPr>
        <p:txBody>
          <a:bodyPr>
            <a:normAutofit/>
          </a:bodyPr>
          <a:lstStyle/>
          <a:p>
            <a:r>
              <a:rPr lang="en-US" dirty="0" smtClean="0"/>
              <a:t>How </a:t>
            </a:r>
            <a:r>
              <a:rPr lang="en-US" dirty="0"/>
              <a:t>do we create a </a:t>
            </a:r>
            <a:r>
              <a:rPr lang="en-US" dirty="0" smtClean="0"/>
              <a:t>memory system </a:t>
            </a:r>
            <a:r>
              <a:rPr lang="en-US" dirty="0"/>
              <a:t>that gives the illusion of being large,</a:t>
            </a:r>
            <a:r>
              <a:rPr lang="en-US" dirty="0" smtClean="0"/>
              <a:t> cheap and fast (</a:t>
            </a:r>
            <a:r>
              <a:rPr lang="en-US" dirty="0"/>
              <a:t>most of the time)?</a:t>
            </a:r>
          </a:p>
          <a:p>
            <a:pPr lvl="1"/>
            <a:r>
              <a:rPr lang="en-US" dirty="0"/>
              <a:t>With </a:t>
            </a:r>
            <a:r>
              <a:rPr lang="en-US" dirty="0" smtClean="0"/>
              <a:t>hierarchy</a:t>
            </a:r>
          </a:p>
          <a:p>
            <a:pPr lvl="2"/>
            <a:r>
              <a:rPr lang="en-US" dirty="0" smtClean="0"/>
              <a:t>try the fast parts first</a:t>
            </a:r>
          </a:p>
          <a:p>
            <a:pPr lvl="2"/>
            <a:r>
              <a:rPr lang="en-US" dirty="0" smtClean="0"/>
              <a:t>most of the time, this works well</a:t>
            </a:r>
          </a:p>
          <a:p>
            <a:pPr lvl="2"/>
            <a:r>
              <a:rPr lang="en-US" dirty="0" smtClean="0"/>
              <a:t>if not, move the data so it works well the next time</a:t>
            </a:r>
            <a:endParaRPr lang="en-US" dirty="0"/>
          </a:p>
          <a:p>
            <a:pPr lvl="1"/>
            <a:r>
              <a:rPr lang="en-US" dirty="0"/>
              <a:t>With </a:t>
            </a:r>
            <a:r>
              <a:rPr lang="en-US" dirty="0" smtClean="0"/>
              <a:t>parallelism</a:t>
            </a:r>
          </a:p>
          <a:p>
            <a:pPr lvl="2"/>
            <a:r>
              <a:rPr lang="en-US" dirty="0" smtClean="0"/>
              <a:t>use multiple identical parts operating simultaneously</a:t>
            </a:r>
          </a:p>
          <a:p>
            <a:pPr lvl="2"/>
            <a:r>
              <a:rPr lang="en-US" dirty="0" smtClean="0"/>
              <a:t>for large quantities of data, this works well</a:t>
            </a:r>
          </a:p>
          <a:p>
            <a:pPr lvl="2"/>
            <a:endParaRPr lang="en-US" dirty="0" smtClean="0"/>
          </a:p>
          <a:p>
            <a:pPr lvl="1"/>
            <a:r>
              <a:rPr lang="en-US" dirty="0" smtClean="0"/>
              <a:t>Example – keep a subset of the data in fast memory</a:t>
            </a:r>
          </a:p>
          <a:p>
            <a:pPr lvl="1"/>
            <a:r>
              <a:rPr lang="en-US" dirty="0" smtClean="0"/>
              <a:t>Example </a:t>
            </a:r>
            <a:r>
              <a:rPr lang="en-US" dirty="0"/>
              <a:t>– 1-byte-wide memory </a:t>
            </a:r>
            <a:r>
              <a:rPr lang="en-US" dirty="0">
                <a:latin typeface="Wingdings"/>
                <a:ea typeface="Wingdings"/>
                <a:cs typeface="Wingdings"/>
                <a:sym typeface="Wingdings"/>
              </a:rPr>
              <a:t></a:t>
            </a:r>
            <a:r>
              <a:rPr lang="en-US" dirty="0"/>
              <a:t> 4 </a:t>
            </a:r>
            <a:r>
              <a:rPr lang="en-US" dirty="0" smtClean="0">
                <a:latin typeface="ＭＳ ゴシック"/>
                <a:ea typeface="ＭＳ ゴシック"/>
                <a:cs typeface="ＭＳ ゴシック"/>
                <a:sym typeface="Zapf Dingbats"/>
              </a:rPr>
              <a:t>×</a:t>
            </a:r>
            <a:r>
              <a:rPr lang="en-US" dirty="0" smtClean="0"/>
              <a:t> 1-byte-wide memory </a:t>
            </a:r>
            <a:r>
              <a:rPr lang="en-US" dirty="0" smtClean="0">
                <a:latin typeface="Wingdings"/>
                <a:ea typeface="Wingdings"/>
                <a:cs typeface="Wingdings"/>
                <a:sym typeface="Wingdings"/>
              </a:rPr>
              <a:t></a:t>
            </a:r>
            <a:r>
              <a:rPr lang="en-US" dirty="0" smtClean="0"/>
              <a:t> 4-byte-wide memory</a:t>
            </a:r>
          </a:p>
          <a:p>
            <a:pPr lvl="2"/>
            <a:r>
              <a:rPr lang="en-US" dirty="0" smtClean="0"/>
              <a:t>load word takes 4 memory cycles vs. 1 memory cycle</a:t>
            </a:r>
          </a:p>
        </p:txBody>
      </p:sp>
    </p:spTree>
    <p:extLst>
      <p:ext uri="{BB962C8B-B14F-4D97-AF65-F5344CB8AC3E}">
        <p14:creationId xmlns:p14="http://schemas.microsoft.com/office/powerpoint/2010/main" val="1163671303"/>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ChangeArrowheads="1"/>
          </p:cNvSpPr>
          <p:nvPr/>
        </p:nvSpPr>
        <p:spPr bwMode="auto">
          <a:xfrm>
            <a:off x="609600" y="228600"/>
            <a:ext cx="4284663" cy="477838"/>
          </a:xfrm>
          <a:prstGeom prst="rect">
            <a:avLst/>
          </a:prstGeom>
          <a:noFill/>
          <a:ln w="12700">
            <a:noFill/>
            <a:miter lim="800000"/>
            <a:headEnd/>
            <a:tailEnd/>
          </a:ln>
          <a:effectLst/>
        </p:spPr>
        <p:txBody>
          <a:bodyPr wrap="none" anchor="ctr"/>
          <a:lstStyle/>
          <a:p>
            <a:endParaRPr lang="en-US"/>
          </a:p>
        </p:txBody>
      </p:sp>
      <p:sp>
        <p:nvSpPr>
          <p:cNvPr id="1091587" name="Rectangle 3"/>
          <p:cNvSpPr>
            <a:spLocks noGrp="1" noChangeArrowheads="1"/>
          </p:cNvSpPr>
          <p:nvPr>
            <p:ph type="title"/>
          </p:nvPr>
        </p:nvSpPr>
        <p:spPr>
          <a:noFill/>
          <a:ln/>
        </p:spPr>
        <p:txBody>
          <a:bodyPr lIns="90488" tIns="44450" rIns="90488" bIns="44450" anchor="ctr"/>
          <a:lstStyle/>
          <a:p>
            <a:r>
              <a:rPr lang="en-US"/>
              <a:t>The Memory Hierarchy</a:t>
            </a:r>
          </a:p>
        </p:txBody>
      </p:sp>
      <p:sp>
        <p:nvSpPr>
          <p:cNvPr id="1091588" name="AutoShape 4"/>
          <p:cNvSpPr>
            <a:spLocks noChangeArrowheads="1"/>
          </p:cNvSpPr>
          <p:nvPr/>
        </p:nvSpPr>
        <p:spPr bwMode="auto">
          <a:xfrm>
            <a:off x="2057400" y="2757488"/>
            <a:ext cx="4800600" cy="3200400"/>
          </a:xfrm>
          <a:prstGeom prst="triangle">
            <a:avLst>
              <a:gd name="adj" fmla="val 50000"/>
            </a:avLst>
          </a:prstGeom>
          <a:noFill/>
          <a:ln w="12700">
            <a:solidFill>
              <a:schemeClr val="tx1"/>
            </a:solidFill>
            <a:miter lim="800000"/>
            <a:headEnd/>
            <a:tailEnd/>
          </a:ln>
          <a:effectLst/>
        </p:spPr>
        <p:txBody>
          <a:bodyPr wrap="none" anchor="ctr"/>
          <a:lstStyle/>
          <a:p>
            <a:endParaRPr lang="en-US"/>
          </a:p>
        </p:txBody>
      </p:sp>
      <p:sp>
        <p:nvSpPr>
          <p:cNvPr id="1091589" name="Line 5"/>
          <p:cNvSpPr>
            <a:spLocks noChangeShapeType="1"/>
          </p:cNvSpPr>
          <p:nvPr/>
        </p:nvSpPr>
        <p:spPr bwMode="auto">
          <a:xfrm>
            <a:off x="3886200" y="3519488"/>
            <a:ext cx="1143000" cy="0"/>
          </a:xfrm>
          <a:prstGeom prst="line">
            <a:avLst/>
          </a:prstGeom>
          <a:noFill/>
          <a:ln w="12700">
            <a:solidFill>
              <a:schemeClr val="tx1"/>
            </a:solidFill>
            <a:round/>
            <a:headEnd/>
            <a:tailEnd/>
          </a:ln>
          <a:effectLst/>
        </p:spPr>
        <p:txBody>
          <a:bodyPr/>
          <a:lstStyle/>
          <a:p>
            <a:endParaRPr lang="en-US"/>
          </a:p>
        </p:txBody>
      </p:sp>
      <p:sp>
        <p:nvSpPr>
          <p:cNvPr id="1091591" name="Text Box 7"/>
          <p:cNvSpPr txBox="1">
            <a:spLocks noChangeArrowheads="1"/>
          </p:cNvSpPr>
          <p:nvPr/>
        </p:nvSpPr>
        <p:spPr bwMode="auto">
          <a:xfrm>
            <a:off x="3929058" y="2928934"/>
            <a:ext cx="1023942" cy="646331"/>
          </a:xfrm>
          <a:prstGeom prst="rect">
            <a:avLst/>
          </a:prstGeom>
          <a:noFill/>
          <a:ln w="12700">
            <a:noFill/>
            <a:miter lim="800000"/>
            <a:headEnd/>
            <a:tailEnd/>
          </a:ln>
          <a:effectLst/>
        </p:spPr>
        <p:txBody>
          <a:bodyPr wrap="square">
            <a:spAutoFit/>
          </a:bodyPr>
          <a:lstStyle/>
          <a:p>
            <a:pPr algn="ctr"/>
            <a:r>
              <a:rPr lang="en-US" b="1" dirty="0">
                <a:solidFill>
                  <a:schemeClr val="tx1"/>
                </a:solidFill>
              </a:rPr>
              <a:t>L1</a:t>
            </a:r>
            <a:r>
              <a:rPr lang="en-US" b="1" dirty="0" smtClean="0">
                <a:solidFill>
                  <a:schemeClr val="tx1"/>
                </a:solidFill>
              </a:rPr>
              <a:t>$ (SRAM)</a:t>
            </a:r>
            <a:endParaRPr lang="en-US" b="1" dirty="0">
              <a:solidFill>
                <a:schemeClr val="tx1"/>
              </a:solidFill>
            </a:endParaRPr>
          </a:p>
        </p:txBody>
      </p:sp>
      <p:sp>
        <p:nvSpPr>
          <p:cNvPr id="1091592" name="Line 8"/>
          <p:cNvSpPr>
            <a:spLocks noChangeShapeType="1"/>
          </p:cNvSpPr>
          <p:nvPr/>
        </p:nvSpPr>
        <p:spPr bwMode="auto">
          <a:xfrm>
            <a:off x="3352800" y="4281488"/>
            <a:ext cx="2209800" cy="0"/>
          </a:xfrm>
          <a:prstGeom prst="line">
            <a:avLst/>
          </a:prstGeom>
          <a:noFill/>
          <a:ln w="12700">
            <a:solidFill>
              <a:schemeClr val="tx1"/>
            </a:solidFill>
            <a:round/>
            <a:headEnd/>
            <a:tailEnd/>
          </a:ln>
          <a:effectLst/>
        </p:spPr>
        <p:txBody>
          <a:bodyPr/>
          <a:lstStyle/>
          <a:p>
            <a:endParaRPr lang="en-US"/>
          </a:p>
        </p:txBody>
      </p:sp>
      <p:sp>
        <p:nvSpPr>
          <p:cNvPr id="1091593" name="Line 9"/>
          <p:cNvSpPr>
            <a:spLocks noChangeShapeType="1"/>
          </p:cNvSpPr>
          <p:nvPr/>
        </p:nvSpPr>
        <p:spPr bwMode="auto">
          <a:xfrm>
            <a:off x="2743200" y="5043488"/>
            <a:ext cx="3429000" cy="0"/>
          </a:xfrm>
          <a:prstGeom prst="line">
            <a:avLst/>
          </a:prstGeom>
          <a:noFill/>
          <a:ln w="12700">
            <a:solidFill>
              <a:schemeClr val="tx1"/>
            </a:solidFill>
            <a:round/>
            <a:headEnd/>
            <a:tailEnd/>
          </a:ln>
          <a:effectLst/>
        </p:spPr>
        <p:txBody>
          <a:bodyPr/>
          <a:lstStyle/>
          <a:p>
            <a:endParaRPr lang="en-US"/>
          </a:p>
        </p:txBody>
      </p:sp>
      <p:sp>
        <p:nvSpPr>
          <p:cNvPr id="1091594" name="Text Box 10"/>
          <p:cNvSpPr txBox="1">
            <a:spLocks noChangeArrowheads="1"/>
          </p:cNvSpPr>
          <p:nvPr/>
        </p:nvSpPr>
        <p:spPr bwMode="auto">
          <a:xfrm>
            <a:off x="3786182" y="3748088"/>
            <a:ext cx="1500198" cy="369332"/>
          </a:xfrm>
          <a:prstGeom prst="rect">
            <a:avLst/>
          </a:prstGeom>
          <a:noFill/>
          <a:ln w="12700">
            <a:noFill/>
            <a:miter lim="800000"/>
            <a:headEnd/>
            <a:tailEnd/>
          </a:ln>
          <a:effectLst/>
        </p:spPr>
        <p:txBody>
          <a:bodyPr wrap="square">
            <a:spAutoFit/>
          </a:bodyPr>
          <a:lstStyle/>
          <a:p>
            <a:r>
              <a:rPr lang="en-US" b="1" dirty="0">
                <a:solidFill>
                  <a:schemeClr val="tx1"/>
                </a:solidFill>
              </a:rPr>
              <a:t>L2</a:t>
            </a:r>
            <a:r>
              <a:rPr lang="en-US" b="1" dirty="0" smtClean="0">
                <a:solidFill>
                  <a:schemeClr val="tx1"/>
                </a:solidFill>
              </a:rPr>
              <a:t>$ (SRAM)</a:t>
            </a:r>
            <a:endParaRPr lang="en-US" b="1" dirty="0">
              <a:solidFill>
                <a:schemeClr val="tx1"/>
              </a:solidFill>
            </a:endParaRPr>
          </a:p>
        </p:txBody>
      </p:sp>
      <p:sp>
        <p:nvSpPr>
          <p:cNvPr id="1091595" name="Text Box 11"/>
          <p:cNvSpPr txBox="1">
            <a:spLocks noChangeArrowheads="1"/>
          </p:cNvSpPr>
          <p:nvPr/>
        </p:nvSpPr>
        <p:spPr bwMode="auto">
          <a:xfrm>
            <a:off x="3214678" y="4510088"/>
            <a:ext cx="2647960" cy="369332"/>
          </a:xfrm>
          <a:prstGeom prst="rect">
            <a:avLst/>
          </a:prstGeom>
          <a:noFill/>
          <a:ln w="12700">
            <a:noFill/>
            <a:miter lim="800000"/>
            <a:headEnd/>
            <a:tailEnd/>
          </a:ln>
          <a:effectLst/>
        </p:spPr>
        <p:txBody>
          <a:bodyPr wrap="square">
            <a:spAutoFit/>
          </a:bodyPr>
          <a:lstStyle/>
          <a:p>
            <a:pPr algn="ctr"/>
            <a:r>
              <a:rPr lang="en-US" b="1" dirty="0">
                <a:solidFill>
                  <a:schemeClr val="tx1"/>
                </a:solidFill>
              </a:rPr>
              <a:t>Main </a:t>
            </a:r>
            <a:r>
              <a:rPr lang="en-US" b="1" dirty="0" smtClean="0">
                <a:solidFill>
                  <a:schemeClr val="tx1"/>
                </a:solidFill>
              </a:rPr>
              <a:t>Memory (DRAM)</a:t>
            </a:r>
            <a:endParaRPr lang="en-US" b="1" dirty="0">
              <a:solidFill>
                <a:schemeClr val="tx1"/>
              </a:solidFill>
            </a:endParaRPr>
          </a:p>
        </p:txBody>
      </p:sp>
      <p:sp>
        <p:nvSpPr>
          <p:cNvPr id="1091596" name="Text Box 12"/>
          <p:cNvSpPr txBox="1">
            <a:spLocks noChangeArrowheads="1"/>
          </p:cNvSpPr>
          <p:nvPr/>
        </p:nvSpPr>
        <p:spPr bwMode="auto">
          <a:xfrm>
            <a:off x="2909886" y="5424488"/>
            <a:ext cx="3233750" cy="369332"/>
          </a:xfrm>
          <a:prstGeom prst="rect">
            <a:avLst/>
          </a:prstGeom>
          <a:noFill/>
          <a:ln w="12700">
            <a:noFill/>
            <a:miter lim="800000"/>
            <a:headEnd/>
            <a:tailEnd/>
          </a:ln>
          <a:effectLst/>
        </p:spPr>
        <p:txBody>
          <a:bodyPr wrap="square">
            <a:spAutoFit/>
          </a:bodyPr>
          <a:lstStyle/>
          <a:p>
            <a:pPr algn="ctr"/>
            <a:r>
              <a:rPr lang="en-US" b="1" dirty="0">
                <a:solidFill>
                  <a:schemeClr val="tx1"/>
                </a:solidFill>
              </a:rPr>
              <a:t>Secondary  </a:t>
            </a:r>
            <a:r>
              <a:rPr lang="en-US" b="1" dirty="0" smtClean="0">
                <a:solidFill>
                  <a:schemeClr val="tx1"/>
                </a:solidFill>
              </a:rPr>
              <a:t>Memory (Disks)</a:t>
            </a:r>
            <a:endParaRPr lang="en-US" b="1" dirty="0">
              <a:solidFill>
                <a:schemeClr val="tx1"/>
              </a:solidFill>
            </a:endParaRPr>
          </a:p>
        </p:txBody>
      </p:sp>
      <p:grpSp>
        <p:nvGrpSpPr>
          <p:cNvPr id="2" name="Group 31"/>
          <p:cNvGrpSpPr>
            <a:grpSpLocks/>
          </p:cNvGrpSpPr>
          <p:nvPr/>
        </p:nvGrpSpPr>
        <p:grpSpPr bwMode="auto">
          <a:xfrm>
            <a:off x="457200" y="2743200"/>
            <a:ext cx="1447800" cy="3138488"/>
            <a:chOff x="288" y="1728"/>
            <a:chExt cx="912" cy="1977"/>
          </a:xfrm>
        </p:grpSpPr>
        <p:sp>
          <p:nvSpPr>
            <p:cNvPr id="1091590" name="Text Box 6"/>
            <p:cNvSpPr txBox="1">
              <a:spLocks noChangeArrowheads="1"/>
            </p:cNvSpPr>
            <p:nvPr/>
          </p:nvSpPr>
          <p:spPr bwMode="auto">
            <a:xfrm>
              <a:off x="288" y="1929"/>
              <a:ext cx="912" cy="923"/>
            </a:xfrm>
            <a:prstGeom prst="rect">
              <a:avLst/>
            </a:prstGeom>
            <a:noFill/>
            <a:ln w="12700">
              <a:noFill/>
              <a:miter lim="800000"/>
              <a:headEnd/>
              <a:tailEnd/>
            </a:ln>
            <a:effectLst/>
          </p:spPr>
          <p:txBody>
            <a:bodyPr>
              <a:spAutoFit/>
            </a:bodyPr>
            <a:lstStyle/>
            <a:p>
              <a:r>
                <a:rPr lang="en-US">
                  <a:solidFill>
                    <a:schemeClr val="tx1"/>
                  </a:solidFill>
                </a:rPr>
                <a:t>Increasing distance from the processor in </a:t>
              </a:r>
              <a:r>
                <a:rPr lang="en-US"/>
                <a:t>access</a:t>
              </a:r>
              <a:r>
                <a:rPr lang="en-US">
                  <a:solidFill>
                    <a:schemeClr val="tx1"/>
                  </a:solidFill>
                </a:rPr>
                <a:t> time</a:t>
              </a:r>
            </a:p>
          </p:txBody>
        </p:sp>
        <p:sp>
          <p:nvSpPr>
            <p:cNvPr id="1091597" name="Line 13"/>
            <p:cNvSpPr>
              <a:spLocks noChangeShapeType="1"/>
            </p:cNvSpPr>
            <p:nvPr/>
          </p:nvSpPr>
          <p:spPr bwMode="auto">
            <a:xfrm>
              <a:off x="1200" y="1728"/>
              <a:ext cx="0" cy="1977"/>
            </a:xfrm>
            <a:prstGeom prst="line">
              <a:avLst/>
            </a:prstGeom>
            <a:noFill/>
            <a:ln w="12700">
              <a:solidFill>
                <a:schemeClr val="tx1"/>
              </a:solidFill>
              <a:round/>
              <a:headEnd/>
              <a:tailEnd type="triangle" w="med" len="med"/>
            </a:ln>
            <a:effectLst/>
          </p:spPr>
          <p:txBody>
            <a:bodyPr/>
            <a:lstStyle/>
            <a:p>
              <a:endParaRPr lang="en-US"/>
            </a:p>
          </p:txBody>
        </p:sp>
      </p:grpSp>
      <p:sp>
        <p:nvSpPr>
          <p:cNvPr id="1091598" name="Text Box 14"/>
          <p:cNvSpPr txBox="1">
            <a:spLocks noChangeArrowheads="1"/>
          </p:cNvSpPr>
          <p:nvPr/>
        </p:nvSpPr>
        <p:spPr bwMode="auto">
          <a:xfrm>
            <a:off x="3886200" y="2147888"/>
            <a:ext cx="1301750" cy="366712"/>
          </a:xfrm>
          <a:prstGeom prst="rect">
            <a:avLst/>
          </a:prstGeom>
          <a:noFill/>
          <a:ln w="12700">
            <a:noFill/>
            <a:miter lim="800000"/>
            <a:headEnd/>
            <a:tailEnd/>
          </a:ln>
          <a:effectLst/>
        </p:spPr>
        <p:txBody>
          <a:bodyPr wrap="none">
            <a:spAutoFit/>
          </a:bodyPr>
          <a:lstStyle/>
          <a:p>
            <a:r>
              <a:rPr lang="en-US" b="1">
                <a:solidFill>
                  <a:schemeClr val="tx1"/>
                </a:solidFill>
              </a:rPr>
              <a:t>Processor</a:t>
            </a:r>
          </a:p>
        </p:txBody>
      </p:sp>
      <p:grpSp>
        <p:nvGrpSpPr>
          <p:cNvPr id="3" name="Group 32"/>
          <p:cNvGrpSpPr>
            <a:grpSpLocks/>
          </p:cNvGrpSpPr>
          <p:nvPr/>
        </p:nvGrpSpPr>
        <p:grpSpPr bwMode="auto">
          <a:xfrm>
            <a:off x="2057400" y="6186488"/>
            <a:ext cx="4800600" cy="442912"/>
            <a:chOff x="1296" y="3897"/>
            <a:chExt cx="3024" cy="279"/>
          </a:xfrm>
        </p:grpSpPr>
        <p:sp>
          <p:nvSpPr>
            <p:cNvPr id="1091599" name="Line 15"/>
            <p:cNvSpPr>
              <a:spLocks noChangeShapeType="1"/>
            </p:cNvSpPr>
            <p:nvPr/>
          </p:nvSpPr>
          <p:spPr bwMode="auto">
            <a:xfrm>
              <a:off x="1296" y="3897"/>
              <a:ext cx="3024" cy="0"/>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091600" name="Text Box 16"/>
            <p:cNvSpPr txBox="1">
              <a:spLocks noChangeArrowheads="1"/>
            </p:cNvSpPr>
            <p:nvPr/>
          </p:nvSpPr>
          <p:spPr bwMode="auto">
            <a:xfrm>
              <a:off x="1344" y="3945"/>
              <a:ext cx="2976" cy="231"/>
            </a:xfrm>
            <a:prstGeom prst="rect">
              <a:avLst/>
            </a:prstGeom>
            <a:noFill/>
            <a:ln w="12700">
              <a:noFill/>
              <a:miter lim="800000"/>
              <a:headEnd/>
              <a:tailEnd/>
            </a:ln>
            <a:effectLst/>
          </p:spPr>
          <p:txBody>
            <a:bodyPr>
              <a:spAutoFit/>
            </a:bodyPr>
            <a:lstStyle/>
            <a:p>
              <a:pPr algn="ctr"/>
              <a:r>
                <a:rPr lang="en-US">
                  <a:solidFill>
                    <a:schemeClr val="tx1"/>
                  </a:solidFill>
                </a:rPr>
                <a:t>(Relative) size of the memory at each level</a:t>
              </a:r>
            </a:p>
          </p:txBody>
        </p:sp>
      </p:grpSp>
      <p:grpSp>
        <p:nvGrpSpPr>
          <p:cNvPr id="4" name="Group 17"/>
          <p:cNvGrpSpPr>
            <a:grpSpLocks/>
          </p:cNvGrpSpPr>
          <p:nvPr/>
        </p:nvGrpSpPr>
        <p:grpSpPr bwMode="auto">
          <a:xfrm>
            <a:off x="7010400" y="2667000"/>
            <a:ext cx="1752600" cy="3214688"/>
            <a:chOff x="4416" y="864"/>
            <a:chExt cx="1104" cy="2304"/>
          </a:xfrm>
        </p:grpSpPr>
        <p:sp>
          <p:nvSpPr>
            <p:cNvPr id="1091602" name="Line 18"/>
            <p:cNvSpPr>
              <a:spLocks noChangeShapeType="1"/>
            </p:cNvSpPr>
            <p:nvPr/>
          </p:nvSpPr>
          <p:spPr bwMode="auto">
            <a:xfrm>
              <a:off x="4416" y="960"/>
              <a:ext cx="0" cy="2208"/>
            </a:xfrm>
            <a:prstGeom prst="line">
              <a:avLst/>
            </a:prstGeom>
            <a:noFill/>
            <a:ln w="12700">
              <a:solidFill>
                <a:schemeClr val="tx1"/>
              </a:solidFill>
              <a:round/>
              <a:headEnd/>
              <a:tailEnd type="triangle" w="med" len="med"/>
            </a:ln>
            <a:effectLst/>
          </p:spPr>
          <p:txBody>
            <a:bodyPr/>
            <a:lstStyle/>
            <a:p>
              <a:endParaRPr lang="en-US"/>
            </a:p>
          </p:txBody>
        </p:sp>
        <p:sp>
          <p:nvSpPr>
            <p:cNvPr id="1091603" name="Text Box 19"/>
            <p:cNvSpPr txBox="1">
              <a:spLocks noChangeArrowheads="1"/>
            </p:cNvSpPr>
            <p:nvPr/>
          </p:nvSpPr>
          <p:spPr bwMode="auto">
            <a:xfrm>
              <a:off x="4416" y="864"/>
              <a:ext cx="1104" cy="1641"/>
            </a:xfrm>
            <a:prstGeom prst="rect">
              <a:avLst/>
            </a:prstGeom>
            <a:noFill/>
            <a:ln w="12700">
              <a:noFill/>
              <a:miter lim="800000"/>
              <a:headEnd/>
              <a:tailEnd/>
            </a:ln>
            <a:effectLst/>
          </p:spPr>
          <p:txBody>
            <a:bodyPr>
              <a:spAutoFit/>
            </a:bodyPr>
            <a:lstStyle/>
            <a:p>
              <a:r>
                <a:rPr lang="en-US"/>
                <a:t>Inclusive</a:t>
              </a:r>
              <a:r>
                <a:rPr lang="en-US">
                  <a:solidFill>
                    <a:schemeClr val="tx1"/>
                  </a:solidFill>
                </a:rPr>
                <a:t>– what is in L1$ is a subset of what is in L2$  is a subset of what is in MM that is a subset of is in SM</a:t>
              </a:r>
            </a:p>
          </p:txBody>
        </p:sp>
      </p:grpSp>
      <p:grpSp>
        <p:nvGrpSpPr>
          <p:cNvPr id="5" name="Group 20"/>
          <p:cNvGrpSpPr>
            <a:grpSpLocks/>
          </p:cNvGrpSpPr>
          <p:nvPr/>
        </p:nvGrpSpPr>
        <p:grpSpPr bwMode="auto">
          <a:xfrm>
            <a:off x="4495800" y="2452688"/>
            <a:ext cx="0" cy="2895600"/>
            <a:chOff x="2832" y="1065"/>
            <a:chExt cx="0" cy="1824"/>
          </a:xfrm>
        </p:grpSpPr>
        <p:sp>
          <p:nvSpPr>
            <p:cNvPr id="1091605" name="Line 21"/>
            <p:cNvSpPr>
              <a:spLocks noChangeShapeType="1"/>
            </p:cNvSpPr>
            <p:nvPr/>
          </p:nvSpPr>
          <p:spPr bwMode="auto">
            <a:xfrm>
              <a:off x="2832" y="1065"/>
              <a:ext cx="0" cy="192"/>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091606" name="Line 22"/>
            <p:cNvSpPr>
              <a:spLocks noChangeShapeType="1"/>
            </p:cNvSpPr>
            <p:nvPr/>
          </p:nvSpPr>
          <p:spPr bwMode="auto">
            <a:xfrm>
              <a:off x="2832" y="1641"/>
              <a:ext cx="0" cy="192"/>
            </a:xfrm>
            <a:prstGeom prst="line">
              <a:avLst/>
            </a:prstGeom>
            <a:noFill/>
            <a:ln w="19050">
              <a:solidFill>
                <a:schemeClr val="tx1"/>
              </a:solidFill>
              <a:round/>
              <a:headEnd type="triangle" w="med" len="med"/>
              <a:tailEnd type="triangle" w="med" len="med"/>
            </a:ln>
            <a:effectLst/>
          </p:spPr>
          <p:txBody>
            <a:bodyPr/>
            <a:lstStyle/>
            <a:p>
              <a:endParaRPr lang="en-US"/>
            </a:p>
          </p:txBody>
        </p:sp>
        <p:sp>
          <p:nvSpPr>
            <p:cNvPr id="1091607" name="Line 23"/>
            <p:cNvSpPr>
              <a:spLocks noChangeShapeType="1"/>
            </p:cNvSpPr>
            <p:nvPr/>
          </p:nvSpPr>
          <p:spPr bwMode="auto">
            <a:xfrm>
              <a:off x="2832" y="2553"/>
              <a:ext cx="0" cy="336"/>
            </a:xfrm>
            <a:prstGeom prst="line">
              <a:avLst/>
            </a:prstGeom>
            <a:noFill/>
            <a:ln w="38100">
              <a:solidFill>
                <a:schemeClr val="tx1"/>
              </a:solidFill>
              <a:round/>
              <a:headEnd type="triangle" w="med" len="med"/>
              <a:tailEnd type="triangle" w="med" len="med"/>
            </a:ln>
            <a:effectLst/>
          </p:spPr>
          <p:txBody>
            <a:bodyPr/>
            <a:lstStyle/>
            <a:p>
              <a:endParaRPr lang="en-US"/>
            </a:p>
          </p:txBody>
        </p:sp>
        <p:sp>
          <p:nvSpPr>
            <p:cNvPr id="1091608" name="Line 24"/>
            <p:cNvSpPr>
              <a:spLocks noChangeShapeType="1"/>
            </p:cNvSpPr>
            <p:nvPr/>
          </p:nvSpPr>
          <p:spPr bwMode="auto">
            <a:xfrm>
              <a:off x="2832" y="2121"/>
              <a:ext cx="0" cy="192"/>
            </a:xfrm>
            <a:prstGeom prst="line">
              <a:avLst/>
            </a:prstGeom>
            <a:noFill/>
            <a:ln w="19050">
              <a:solidFill>
                <a:schemeClr val="tx1"/>
              </a:solidFill>
              <a:round/>
              <a:headEnd type="triangle" w="med" len="med"/>
              <a:tailEnd type="triangle" w="med" len="med"/>
            </a:ln>
            <a:effectLst/>
          </p:spPr>
          <p:txBody>
            <a:bodyPr/>
            <a:lstStyle/>
            <a:p>
              <a:endParaRPr lang="en-US"/>
            </a:p>
          </p:txBody>
        </p:sp>
      </p:grpSp>
      <p:grpSp>
        <p:nvGrpSpPr>
          <p:cNvPr id="6" name="Group 25"/>
          <p:cNvGrpSpPr>
            <a:grpSpLocks/>
          </p:cNvGrpSpPr>
          <p:nvPr/>
        </p:nvGrpSpPr>
        <p:grpSpPr bwMode="auto">
          <a:xfrm>
            <a:off x="4495800" y="2476500"/>
            <a:ext cx="3203575" cy="2827338"/>
            <a:chOff x="2832" y="1080"/>
            <a:chExt cx="2018" cy="1781"/>
          </a:xfrm>
        </p:grpSpPr>
        <p:sp>
          <p:nvSpPr>
            <p:cNvPr id="1091610" name="Text Box 26"/>
            <p:cNvSpPr txBox="1">
              <a:spLocks noChangeArrowheads="1"/>
            </p:cNvSpPr>
            <p:nvPr/>
          </p:nvSpPr>
          <p:spPr bwMode="auto">
            <a:xfrm>
              <a:off x="2832" y="1080"/>
              <a:ext cx="1042" cy="212"/>
            </a:xfrm>
            <a:prstGeom prst="rect">
              <a:avLst/>
            </a:prstGeom>
            <a:noFill/>
            <a:ln w="12700">
              <a:noFill/>
              <a:miter lim="800000"/>
              <a:headEnd/>
              <a:tailEnd/>
            </a:ln>
            <a:effectLst/>
          </p:spPr>
          <p:txBody>
            <a:bodyPr wrap="none">
              <a:spAutoFit/>
            </a:bodyPr>
            <a:lstStyle/>
            <a:p>
              <a:r>
                <a:rPr lang="en-US" sz="1600">
                  <a:solidFill>
                    <a:schemeClr val="tx1"/>
                  </a:solidFill>
                </a:rPr>
                <a:t>4-8 bytes (</a:t>
              </a:r>
              <a:r>
                <a:rPr lang="en-US" sz="1600"/>
                <a:t>word</a:t>
              </a:r>
              <a:r>
                <a:rPr lang="en-US" sz="1600">
                  <a:solidFill>
                    <a:schemeClr val="tx1"/>
                  </a:solidFill>
                </a:rPr>
                <a:t>)</a:t>
              </a:r>
            </a:p>
          </p:txBody>
        </p:sp>
        <p:sp>
          <p:nvSpPr>
            <p:cNvPr id="1091611" name="Text Box 27"/>
            <p:cNvSpPr txBox="1">
              <a:spLocks noChangeArrowheads="1"/>
            </p:cNvSpPr>
            <p:nvPr/>
          </p:nvSpPr>
          <p:spPr bwMode="auto">
            <a:xfrm>
              <a:off x="2832" y="2169"/>
              <a:ext cx="1008" cy="212"/>
            </a:xfrm>
            <a:prstGeom prst="rect">
              <a:avLst/>
            </a:prstGeom>
            <a:noFill/>
            <a:ln w="12700">
              <a:noFill/>
              <a:miter lim="800000"/>
              <a:headEnd/>
              <a:tailEnd/>
            </a:ln>
            <a:effectLst/>
          </p:spPr>
          <p:txBody>
            <a:bodyPr>
              <a:spAutoFit/>
            </a:bodyPr>
            <a:lstStyle/>
            <a:p>
              <a:r>
                <a:rPr lang="en-US" sz="1600">
                  <a:solidFill>
                    <a:schemeClr val="tx1"/>
                  </a:solidFill>
                </a:rPr>
                <a:t>1 to 4 blocks</a:t>
              </a:r>
            </a:p>
          </p:txBody>
        </p:sp>
        <p:sp>
          <p:nvSpPr>
            <p:cNvPr id="1091612" name="Text Box 28"/>
            <p:cNvSpPr txBox="1">
              <a:spLocks noChangeArrowheads="1"/>
            </p:cNvSpPr>
            <p:nvPr/>
          </p:nvSpPr>
          <p:spPr bwMode="auto">
            <a:xfrm>
              <a:off x="2832" y="2649"/>
              <a:ext cx="2018" cy="212"/>
            </a:xfrm>
            <a:prstGeom prst="rect">
              <a:avLst/>
            </a:prstGeom>
            <a:noFill/>
            <a:ln w="12700">
              <a:noFill/>
              <a:miter lim="800000"/>
              <a:headEnd/>
              <a:tailEnd/>
            </a:ln>
            <a:effectLst/>
          </p:spPr>
          <p:txBody>
            <a:bodyPr wrap="none">
              <a:spAutoFit/>
            </a:bodyPr>
            <a:lstStyle/>
            <a:p>
              <a:r>
                <a:rPr lang="en-US" sz="1600">
                  <a:solidFill>
                    <a:schemeClr val="tx1"/>
                  </a:solidFill>
                </a:rPr>
                <a:t>1,024+ bytes (</a:t>
              </a:r>
              <a:r>
                <a:rPr lang="en-US" sz="1600"/>
                <a:t>disk sector = page</a:t>
              </a:r>
              <a:r>
                <a:rPr lang="en-US" sz="1600">
                  <a:solidFill>
                    <a:schemeClr val="tx1"/>
                  </a:solidFill>
                </a:rPr>
                <a:t>)</a:t>
              </a:r>
            </a:p>
          </p:txBody>
        </p:sp>
        <p:sp>
          <p:nvSpPr>
            <p:cNvPr id="1091613" name="Text Box 29"/>
            <p:cNvSpPr txBox="1">
              <a:spLocks noChangeArrowheads="1"/>
            </p:cNvSpPr>
            <p:nvPr/>
          </p:nvSpPr>
          <p:spPr bwMode="auto">
            <a:xfrm>
              <a:off x="2832" y="1689"/>
              <a:ext cx="1152" cy="212"/>
            </a:xfrm>
            <a:prstGeom prst="rect">
              <a:avLst/>
            </a:prstGeom>
            <a:noFill/>
            <a:ln w="12700">
              <a:noFill/>
              <a:miter lim="800000"/>
              <a:headEnd/>
              <a:tailEnd/>
            </a:ln>
            <a:effectLst/>
          </p:spPr>
          <p:txBody>
            <a:bodyPr>
              <a:spAutoFit/>
            </a:bodyPr>
            <a:lstStyle/>
            <a:p>
              <a:r>
                <a:rPr lang="en-US" sz="1600">
                  <a:solidFill>
                    <a:schemeClr val="tx1"/>
                  </a:solidFill>
                </a:rPr>
                <a:t>8-32 bytes (</a:t>
              </a:r>
              <a:r>
                <a:rPr lang="en-US" sz="1600"/>
                <a:t>block</a:t>
              </a:r>
              <a:r>
                <a:rPr lang="en-US" sz="1600">
                  <a:solidFill>
                    <a:schemeClr val="tx1"/>
                  </a:solidFill>
                </a:rPr>
                <a:t>)</a:t>
              </a:r>
            </a:p>
          </p:txBody>
        </p:sp>
      </p:grpSp>
      <p:sp>
        <p:nvSpPr>
          <p:cNvPr id="1091614" name="Rectangle 30"/>
          <p:cNvSpPr>
            <a:spLocks noChangeArrowheads="1"/>
          </p:cNvSpPr>
          <p:nvPr/>
        </p:nvSpPr>
        <p:spPr bwMode="auto">
          <a:xfrm>
            <a:off x="457200" y="762000"/>
            <a:ext cx="8382000" cy="1159292"/>
          </a:xfrm>
          <a:prstGeom prst="rect">
            <a:avLst/>
          </a:prstGeom>
          <a:noFill/>
          <a:ln w="12700">
            <a:noFill/>
            <a:miter lim="800000"/>
            <a:headEnd/>
            <a:tailEnd/>
          </a:ln>
          <a:effectLst/>
        </p:spPr>
        <p:txBody>
          <a:bodyPr lIns="63500" tIns="25400" rIns="63500" bIns="25400">
            <a:spAutoFit/>
          </a:bodyPr>
          <a:lstStyle/>
          <a:p>
            <a:pPr marL="287338" indent="-287338">
              <a:spcBef>
                <a:spcPct val="30000"/>
              </a:spcBef>
              <a:buClr>
                <a:schemeClr val="accent1"/>
              </a:buClr>
              <a:buSzPct val="75000"/>
              <a:buFont typeface="Wingdings" pitchFamily="2" charset="2"/>
              <a:buChar char="q"/>
            </a:pPr>
            <a:r>
              <a:rPr lang="en-US" sz="2400" dirty="0">
                <a:solidFill>
                  <a:schemeClr val="tx1"/>
                </a:solidFill>
              </a:rPr>
              <a:t>Take advantage of the </a:t>
            </a:r>
            <a:r>
              <a:rPr lang="en-US" sz="2400" dirty="0"/>
              <a:t>principle of locality</a:t>
            </a:r>
            <a:r>
              <a:rPr lang="en-US" sz="2400" dirty="0">
                <a:solidFill>
                  <a:schemeClr val="tx1"/>
                </a:solidFill>
              </a:rPr>
              <a:t> to present the user with </a:t>
            </a:r>
            <a:r>
              <a:rPr lang="en-US" sz="2400" i="1" dirty="0">
                <a:solidFill>
                  <a:schemeClr val="tx1"/>
                </a:solidFill>
              </a:rPr>
              <a:t>as much </a:t>
            </a:r>
            <a:r>
              <a:rPr lang="en-US" sz="2400" dirty="0">
                <a:solidFill>
                  <a:schemeClr val="tx1"/>
                </a:solidFill>
              </a:rPr>
              <a:t>memory as is available in the </a:t>
            </a:r>
            <a:r>
              <a:rPr lang="en-US" sz="2400" i="1" dirty="0">
                <a:solidFill>
                  <a:schemeClr val="tx1"/>
                </a:solidFill>
              </a:rPr>
              <a:t>cheapest</a:t>
            </a:r>
            <a:r>
              <a:rPr lang="en-US" sz="2400" dirty="0">
                <a:solidFill>
                  <a:schemeClr val="tx1"/>
                </a:solidFill>
              </a:rPr>
              <a:t> technology at the </a:t>
            </a:r>
            <a:r>
              <a:rPr lang="en-US" sz="2400" i="1" dirty="0">
                <a:solidFill>
                  <a:schemeClr val="tx1"/>
                </a:solidFill>
              </a:rPr>
              <a:t>speed</a:t>
            </a:r>
            <a:r>
              <a:rPr lang="en-US" sz="2400" dirty="0">
                <a:solidFill>
                  <a:schemeClr val="tx1"/>
                </a:solidFill>
              </a:rPr>
              <a:t> offered by the </a:t>
            </a:r>
            <a:r>
              <a:rPr lang="en-US" sz="2400" i="1" dirty="0">
                <a:solidFill>
                  <a:schemeClr val="tx1"/>
                </a:solidFill>
              </a:rPr>
              <a:t>fastest</a:t>
            </a:r>
            <a:r>
              <a:rPr lang="en-US" sz="2400" dirty="0">
                <a:solidFill>
                  <a:schemeClr val="tx1"/>
                </a:solidFill>
              </a:rPr>
              <a:t> technology</a:t>
            </a:r>
          </a:p>
        </p:txBody>
      </p:sp>
    </p:spTree>
    <p:extLst>
      <p:ext uri="{BB962C8B-B14F-4D97-AF65-F5344CB8AC3E}">
        <p14:creationId xmlns:p14="http://schemas.microsoft.com/office/powerpoint/2010/main" val="6921258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7874" name="Rectangle 2"/>
          <p:cNvSpPr>
            <a:spLocks noChangeArrowheads="1"/>
          </p:cNvSpPr>
          <p:nvPr/>
        </p:nvSpPr>
        <p:spPr bwMode="auto">
          <a:xfrm>
            <a:off x="609600" y="2819400"/>
            <a:ext cx="4953000" cy="2209800"/>
          </a:xfrm>
          <a:prstGeom prst="rect">
            <a:avLst/>
          </a:prstGeom>
          <a:solidFill>
            <a:schemeClr val="bg1"/>
          </a:solidFill>
          <a:ln w="38100">
            <a:solidFill>
              <a:schemeClr val="hlink"/>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75" name="Rectangle 3" descr="10%"/>
          <p:cNvSpPr>
            <a:spLocks noChangeArrowheads="1"/>
          </p:cNvSpPr>
          <p:nvPr/>
        </p:nvSpPr>
        <p:spPr bwMode="auto">
          <a:xfrm>
            <a:off x="4333875" y="3657600"/>
            <a:ext cx="931863" cy="1095375"/>
          </a:xfrm>
          <a:prstGeom prst="rect">
            <a:avLst/>
          </a:prstGeom>
          <a:pattFill prst="pct10">
            <a:fgClr>
              <a:schemeClr val="hlink"/>
            </a:fgClr>
            <a:bgClr>
              <a:srgbClr val="FFFFFF"/>
            </a:bgClr>
          </a:patt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600">
                <a:solidFill>
                  <a:srgbClr val="000000"/>
                </a:solidFill>
              </a:rPr>
              <a:t>Second</a:t>
            </a:r>
          </a:p>
          <a:p>
            <a:pPr algn="ctr"/>
            <a:r>
              <a:rPr lang="en-US" sz="1600">
                <a:solidFill>
                  <a:srgbClr val="000000"/>
                </a:solidFill>
              </a:rPr>
              <a:t>Level</a:t>
            </a:r>
          </a:p>
          <a:p>
            <a:pPr algn="ctr"/>
            <a:r>
              <a:rPr lang="en-US" sz="1600">
                <a:solidFill>
                  <a:srgbClr val="000000"/>
                </a:solidFill>
              </a:rPr>
              <a:t>Cache</a:t>
            </a:r>
          </a:p>
          <a:p>
            <a:pPr algn="ctr"/>
            <a:r>
              <a:rPr lang="en-US" sz="1600">
                <a:solidFill>
                  <a:srgbClr val="000000"/>
                </a:solidFill>
              </a:rPr>
              <a:t>(SRAM)</a:t>
            </a:r>
          </a:p>
        </p:txBody>
      </p:sp>
      <p:sp>
        <p:nvSpPr>
          <p:cNvPr id="1487876" name="Rectangle 4" descr="10%"/>
          <p:cNvSpPr>
            <a:spLocks noChangeArrowheads="1"/>
          </p:cNvSpPr>
          <p:nvPr/>
        </p:nvSpPr>
        <p:spPr bwMode="auto">
          <a:xfrm>
            <a:off x="2514600" y="4343400"/>
            <a:ext cx="228600" cy="609600"/>
          </a:xfrm>
          <a:prstGeom prst="rect">
            <a:avLst/>
          </a:prstGeom>
          <a:pattFill prst="pct10">
            <a:fgClr>
              <a:srgbClr val="0000B6"/>
            </a:fgClr>
            <a:bgClr>
              <a:srgbClr val="FFFFFF"/>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77" name="Rectangle 5"/>
          <p:cNvSpPr>
            <a:spLocks noGrp="1" noChangeArrowheads="1"/>
          </p:cNvSpPr>
          <p:nvPr>
            <p:ph type="title"/>
          </p:nvPr>
        </p:nvSpPr>
        <p:spPr>
          <a:xfrm>
            <a:off x="533400" y="304800"/>
            <a:ext cx="8229600" cy="422275"/>
          </a:xfrm>
        </p:spPr>
        <p:txBody>
          <a:bodyPr/>
          <a:lstStyle/>
          <a:p>
            <a:r>
              <a:rPr lang="en-US"/>
              <a:t>A Typical Memory Hierarchy</a:t>
            </a:r>
          </a:p>
        </p:txBody>
      </p:sp>
      <p:sp>
        <p:nvSpPr>
          <p:cNvPr id="1487878" name="Rectangle 6"/>
          <p:cNvSpPr>
            <a:spLocks noChangeArrowheads="1"/>
          </p:cNvSpPr>
          <p:nvPr/>
        </p:nvSpPr>
        <p:spPr bwMode="auto">
          <a:xfrm>
            <a:off x="838200" y="3124200"/>
            <a:ext cx="2716213" cy="24288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79" name="Rectangle 7"/>
          <p:cNvSpPr>
            <a:spLocks noChangeArrowheads="1"/>
          </p:cNvSpPr>
          <p:nvPr/>
        </p:nvSpPr>
        <p:spPr bwMode="auto">
          <a:xfrm>
            <a:off x="1752600" y="3048000"/>
            <a:ext cx="8350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a:solidFill>
                  <a:schemeClr val="tx1"/>
                </a:solidFill>
              </a:rPr>
              <a:t>Control</a:t>
            </a:r>
          </a:p>
        </p:txBody>
      </p:sp>
      <p:sp>
        <p:nvSpPr>
          <p:cNvPr id="1487880" name="Rectangle 8"/>
          <p:cNvSpPr>
            <a:spLocks noChangeArrowheads="1"/>
          </p:cNvSpPr>
          <p:nvPr/>
        </p:nvSpPr>
        <p:spPr bwMode="auto">
          <a:xfrm>
            <a:off x="788988" y="3581400"/>
            <a:ext cx="1422400" cy="134778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1" name="Rectangle 9"/>
          <p:cNvSpPr>
            <a:spLocks noChangeArrowheads="1"/>
          </p:cNvSpPr>
          <p:nvPr/>
        </p:nvSpPr>
        <p:spPr bwMode="auto">
          <a:xfrm>
            <a:off x="838200" y="4114800"/>
            <a:ext cx="10048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a:solidFill>
                  <a:schemeClr val="tx1"/>
                </a:solidFill>
              </a:rPr>
              <a:t>Datapath</a:t>
            </a:r>
          </a:p>
        </p:txBody>
      </p:sp>
      <p:sp>
        <p:nvSpPr>
          <p:cNvPr id="1487882" name="Rectangle 10"/>
          <p:cNvSpPr>
            <a:spLocks noChangeArrowheads="1"/>
          </p:cNvSpPr>
          <p:nvPr/>
        </p:nvSpPr>
        <p:spPr bwMode="auto">
          <a:xfrm>
            <a:off x="7467600" y="2590800"/>
            <a:ext cx="1117600" cy="243205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3" name="Rectangle 11"/>
          <p:cNvSpPr>
            <a:spLocks noChangeArrowheads="1"/>
          </p:cNvSpPr>
          <p:nvPr/>
        </p:nvSpPr>
        <p:spPr bwMode="auto">
          <a:xfrm>
            <a:off x="7440613" y="3581400"/>
            <a:ext cx="11509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600">
                <a:solidFill>
                  <a:schemeClr val="tx1"/>
                </a:solidFill>
              </a:rPr>
              <a:t>Secondary</a:t>
            </a:r>
          </a:p>
          <a:p>
            <a:pPr algn="ctr"/>
            <a:r>
              <a:rPr lang="en-US" sz="1600">
                <a:solidFill>
                  <a:schemeClr val="tx1"/>
                </a:solidFill>
              </a:rPr>
              <a:t>Memory</a:t>
            </a:r>
          </a:p>
          <a:p>
            <a:pPr algn="ctr"/>
            <a:r>
              <a:rPr lang="en-US" sz="1600">
                <a:solidFill>
                  <a:schemeClr val="tx1"/>
                </a:solidFill>
              </a:rPr>
              <a:t>(Disk)</a:t>
            </a:r>
          </a:p>
        </p:txBody>
      </p:sp>
      <p:sp>
        <p:nvSpPr>
          <p:cNvPr id="1487884" name="Rectangle 12"/>
          <p:cNvSpPr>
            <a:spLocks noChangeArrowheads="1"/>
          </p:cNvSpPr>
          <p:nvPr/>
        </p:nvSpPr>
        <p:spPr bwMode="auto">
          <a:xfrm>
            <a:off x="636588" y="2819400"/>
            <a:ext cx="3249612" cy="2219325"/>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5" name="Rectangle 13"/>
          <p:cNvSpPr>
            <a:spLocks noChangeArrowheads="1"/>
          </p:cNvSpPr>
          <p:nvPr/>
        </p:nvSpPr>
        <p:spPr bwMode="auto">
          <a:xfrm>
            <a:off x="1219200" y="2743200"/>
            <a:ext cx="2144713"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a:solidFill>
                  <a:schemeClr val="tx1"/>
                </a:solidFill>
              </a:rPr>
              <a:t>On-Chip Components</a:t>
            </a:r>
          </a:p>
        </p:txBody>
      </p:sp>
      <p:sp>
        <p:nvSpPr>
          <p:cNvPr id="1487886" name="Line 14"/>
          <p:cNvSpPr>
            <a:spLocks noChangeShapeType="1"/>
          </p:cNvSpPr>
          <p:nvPr/>
        </p:nvSpPr>
        <p:spPr bwMode="auto">
          <a:xfrm flipV="1">
            <a:off x="2057400" y="2438400"/>
            <a:ext cx="5791200" cy="1676400"/>
          </a:xfrm>
          <a:prstGeom prst="line">
            <a:avLst/>
          </a:prstGeom>
          <a:noFill/>
          <a:ln w="2857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7" name="Line 15"/>
          <p:cNvSpPr>
            <a:spLocks noChangeShapeType="1"/>
          </p:cNvSpPr>
          <p:nvPr/>
        </p:nvSpPr>
        <p:spPr bwMode="auto">
          <a:xfrm>
            <a:off x="2154238" y="4887913"/>
            <a:ext cx="5541962" cy="217487"/>
          </a:xfrm>
          <a:prstGeom prst="line">
            <a:avLst/>
          </a:prstGeom>
          <a:noFill/>
          <a:ln w="2857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8" name="Rectangle 16"/>
          <p:cNvSpPr>
            <a:spLocks noChangeArrowheads="1"/>
          </p:cNvSpPr>
          <p:nvPr/>
        </p:nvSpPr>
        <p:spPr bwMode="auto">
          <a:xfrm>
            <a:off x="1779588" y="4181475"/>
            <a:ext cx="355600" cy="69373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9" name="Rectangle 17"/>
          <p:cNvSpPr>
            <a:spLocks noChangeArrowheads="1"/>
          </p:cNvSpPr>
          <p:nvPr/>
        </p:nvSpPr>
        <p:spPr bwMode="auto">
          <a:xfrm rot="5400000">
            <a:off x="1489869" y="4453731"/>
            <a:ext cx="101123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sz="1600">
                <a:solidFill>
                  <a:schemeClr val="tx1"/>
                </a:solidFill>
              </a:rPr>
              <a:t>RegFile</a:t>
            </a:r>
          </a:p>
        </p:txBody>
      </p:sp>
      <p:sp>
        <p:nvSpPr>
          <p:cNvPr id="1487890" name="Rectangle 18" descr="10%"/>
          <p:cNvSpPr>
            <a:spLocks noChangeArrowheads="1"/>
          </p:cNvSpPr>
          <p:nvPr/>
        </p:nvSpPr>
        <p:spPr bwMode="auto">
          <a:xfrm>
            <a:off x="2971800" y="4343400"/>
            <a:ext cx="660400" cy="609600"/>
          </a:xfrm>
          <a:prstGeom prst="rect">
            <a:avLst/>
          </a:prstGeom>
          <a:pattFill prst="pct10">
            <a:fgClr>
              <a:srgbClr val="0000B6"/>
            </a:fgClr>
            <a:bgClr>
              <a:srgbClr val="FFFFFF"/>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91" name="Rectangle 19" descr="10%"/>
          <p:cNvSpPr>
            <a:spLocks noChangeArrowheads="1"/>
          </p:cNvSpPr>
          <p:nvPr/>
        </p:nvSpPr>
        <p:spPr bwMode="auto">
          <a:xfrm>
            <a:off x="5867400" y="3505200"/>
            <a:ext cx="1041400" cy="1350963"/>
          </a:xfrm>
          <a:prstGeom prst="rect">
            <a:avLst/>
          </a:prstGeom>
          <a:pattFill prst="pct10">
            <a:fgClr>
              <a:schemeClr val="accent1"/>
            </a:fgClr>
            <a:bgClr>
              <a:srgbClr val="FFFFFF"/>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92" name="Rectangle 20"/>
          <p:cNvSpPr>
            <a:spLocks noChangeArrowheads="1"/>
          </p:cNvSpPr>
          <p:nvPr/>
        </p:nvSpPr>
        <p:spPr bwMode="auto">
          <a:xfrm>
            <a:off x="5959475" y="3810000"/>
            <a:ext cx="9159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600">
                <a:solidFill>
                  <a:srgbClr val="000000"/>
                </a:solidFill>
              </a:rPr>
              <a:t>Main</a:t>
            </a:r>
          </a:p>
          <a:p>
            <a:pPr algn="ctr"/>
            <a:r>
              <a:rPr lang="en-US" sz="1600">
                <a:solidFill>
                  <a:srgbClr val="000000"/>
                </a:solidFill>
              </a:rPr>
              <a:t>Memory</a:t>
            </a:r>
          </a:p>
          <a:p>
            <a:pPr algn="ctr"/>
            <a:r>
              <a:rPr lang="en-US" sz="1600">
                <a:solidFill>
                  <a:srgbClr val="000000"/>
                </a:solidFill>
              </a:rPr>
              <a:t>(DRAM)</a:t>
            </a:r>
          </a:p>
        </p:txBody>
      </p:sp>
      <p:sp>
        <p:nvSpPr>
          <p:cNvPr id="1487893" name="Rectangle 21"/>
          <p:cNvSpPr>
            <a:spLocks noChangeArrowheads="1"/>
          </p:cNvSpPr>
          <p:nvPr/>
        </p:nvSpPr>
        <p:spPr bwMode="auto">
          <a:xfrm rot="5400000">
            <a:off x="2951956" y="4339432"/>
            <a:ext cx="766763"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600">
                <a:solidFill>
                  <a:srgbClr val="000000"/>
                </a:solidFill>
              </a:rPr>
              <a:t>Data</a:t>
            </a:r>
          </a:p>
          <a:p>
            <a:pPr algn="ctr"/>
            <a:r>
              <a:rPr lang="en-US" sz="1600">
                <a:solidFill>
                  <a:srgbClr val="000000"/>
                </a:solidFill>
              </a:rPr>
              <a:t>Cache</a:t>
            </a:r>
          </a:p>
        </p:txBody>
      </p:sp>
      <p:sp>
        <p:nvSpPr>
          <p:cNvPr id="1487894" name="Rectangle 22" descr="10%"/>
          <p:cNvSpPr>
            <a:spLocks noChangeArrowheads="1"/>
          </p:cNvSpPr>
          <p:nvPr/>
        </p:nvSpPr>
        <p:spPr bwMode="auto">
          <a:xfrm>
            <a:off x="2971800" y="3657600"/>
            <a:ext cx="660400" cy="609600"/>
          </a:xfrm>
          <a:prstGeom prst="rect">
            <a:avLst/>
          </a:prstGeom>
          <a:pattFill prst="pct10">
            <a:fgClr>
              <a:srgbClr val="0000B6"/>
            </a:fgClr>
            <a:bgClr>
              <a:srgbClr val="FFFFFF"/>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95" name="Rectangle 23"/>
          <p:cNvSpPr>
            <a:spLocks noChangeArrowheads="1"/>
          </p:cNvSpPr>
          <p:nvPr/>
        </p:nvSpPr>
        <p:spPr bwMode="auto">
          <a:xfrm rot="5400000">
            <a:off x="2909093" y="3653632"/>
            <a:ext cx="766763"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600">
                <a:solidFill>
                  <a:srgbClr val="000000"/>
                </a:solidFill>
              </a:rPr>
              <a:t>Instr</a:t>
            </a:r>
          </a:p>
          <a:p>
            <a:pPr algn="ctr"/>
            <a:r>
              <a:rPr lang="en-US" sz="1600">
                <a:solidFill>
                  <a:srgbClr val="000000"/>
                </a:solidFill>
              </a:rPr>
              <a:t>Cache</a:t>
            </a:r>
          </a:p>
        </p:txBody>
      </p:sp>
      <p:sp>
        <p:nvSpPr>
          <p:cNvPr id="1487896" name="Rectangle 24" descr="10%"/>
          <p:cNvSpPr>
            <a:spLocks noChangeArrowheads="1"/>
          </p:cNvSpPr>
          <p:nvPr/>
        </p:nvSpPr>
        <p:spPr bwMode="auto">
          <a:xfrm>
            <a:off x="2514600" y="3657600"/>
            <a:ext cx="228600" cy="609600"/>
          </a:xfrm>
          <a:prstGeom prst="rect">
            <a:avLst/>
          </a:prstGeom>
          <a:pattFill prst="pct10">
            <a:fgClr>
              <a:srgbClr val="0000B6"/>
            </a:fgClr>
            <a:bgClr>
              <a:srgbClr val="FFFFFF"/>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97" name="Text Box 25"/>
          <p:cNvSpPr txBox="1">
            <a:spLocks noChangeArrowheads="1"/>
          </p:cNvSpPr>
          <p:nvPr/>
        </p:nvSpPr>
        <p:spPr bwMode="auto">
          <a:xfrm rot="5400000" flipH="1">
            <a:off x="2298700" y="3805238"/>
            <a:ext cx="6127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solidFill>
                  <a:srgbClr val="000000"/>
                </a:solidFill>
              </a:rPr>
              <a:t>ITLB</a:t>
            </a:r>
          </a:p>
        </p:txBody>
      </p:sp>
      <p:sp>
        <p:nvSpPr>
          <p:cNvPr id="1487898" name="Text Box 26"/>
          <p:cNvSpPr txBox="1">
            <a:spLocks noChangeArrowheads="1"/>
          </p:cNvSpPr>
          <p:nvPr/>
        </p:nvSpPr>
        <p:spPr bwMode="auto">
          <a:xfrm rot="5400000" flipH="1">
            <a:off x="2255837" y="4459288"/>
            <a:ext cx="7016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solidFill>
                  <a:srgbClr val="000000"/>
                </a:solidFill>
              </a:rPr>
              <a:t>DTLB</a:t>
            </a:r>
          </a:p>
        </p:txBody>
      </p:sp>
      <p:sp>
        <p:nvSpPr>
          <p:cNvPr id="1487899" name="Rectangle 27"/>
          <p:cNvSpPr>
            <a:spLocks noChangeArrowheads="1"/>
          </p:cNvSpPr>
          <p:nvPr/>
        </p:nvSpPr>
        <p:spPr bwMode="auto">
          <a:xfrm>
            <a:off x="609600" y="2819400"/>
            <a:ext cx="6477000" cy="2209800"/>
          </a:xfrm>
          <a:prstGeom prst="rect">
            <a:avLst/>
          </a:prstGeom>
          <a:noFill/>
          <a:ln w="38100">
            <a:solidFill>
              <a:srgbClr val="F73627"/>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900" name="Rectangle 28"/>
          <p:cNvSpPr>
            <a:spLocks noChangeArrowheads="1"/>
          </p:cNvSpPr>
          <p:nvPr/>
        </p:nvSpPr>
        <p:spPr bwMode="auto">
          <a:xfrm flipH="1">
            <a:off x="5943600" y="3124200"/>
            <a:ext cx="1047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a:solidFill>
                  <a:srgbClr val="F73627"/>
                </a:solidFill>
              </a:rPr>
              <a:t>eDRAM</a:t>
            </a:r>
          </a:p>
        </p:txBody>
      </p:sp>
      <p:sp>
        <p:nvSpPr>
          <p:cNvPr id="1487901" name="Rectangle 29"/>
          <p:cNvSpPr>
            <a:spLocks noChangeArrowheads="1"/>
          </p:cNvSpPr>
          <p:nvPr/>
        </p:nvSpPr>
        <p:spPr bwMode="auto">
          <a:xfrm>
            <a:off x="0" y="5257800"/>
            <a:ext cx="8483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b="1">
                <a:solidFill>
                  <a:schemeClr val="tx1"/>
                </a:solidFill>
              </a:rPr>
              <a:t>Speed (%cycles): </a:t>
            </a:r>
            <a:r>
              <a:rPr lang="en-US">
                <a:solidFill>
                  <a:schemeClr val="tx1"/>
                </a:solidFill>
                <a:cs typeface="Arial" charset="0"/>
              </a:rPr>
              <a:t>½</a:t>
            </a:r>
            <a:r>
              <a:rPr lang="en-US">
                <a:solidFill>
                  <a:schemeClr val="tx1"/>
                </a:solidFill>
              </a:rPr>
              <a:t>’s             1’s                  10’s                  100’s               1,000’s</a:t>
            </a:r>
          </a:p>
        </p:txBody>
      </p:sp>
      <p:sp>
        <p:nvSpPr>
          <p:cNvPr id="1487902" name="Rectangle 30"/>
          <p:cNvSpPr>
            <a:spLocks noChangeArrowheads="1"/>
          </p:cNvSpPr>
          <p:nvPr/>
        </p:nvSpPr>
        <p:spPr bwMode="auto">
          <a:xfrm>
            <a:off x="0" y="5638800"/>
            <a:ext cx="8643938"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b="1">
                <a:solidFill>
                  <a:schemeClr val="tx1"/>
                </a:solidFill>
              </a:rPr>
              <a:t>Size (bytes):    </a:t>
            </a:r>
            <a:r>
              <a:rPr lang="en-US">
                <a:solidFill>
                  <a:schemeClr val="tx1"/>
                </a:solidFill>
              </a:rPr>
              <a:t>   100’s   </a:t>
            </a:r>
            <a:r>
              <a:rPr lang="en-US" sz="1600" b="1">
                <a:solidFill>
                  <a:schemeClr val="tx1"/>
                </a:solidFill>
              </a:rPr>
              <a:t>           </a:t>
            </a:r>
            <a:r>
              <a:rPr lang="en-US" sz="1600">
                <a:solidFill>
                  <a:schemeClr val="tx1"/>
                </a:solidFill>
              </a:rPr>
              <a:t>K’s                  </a:t>
            </a:r>
            <a:r>
              <a:rPr lang="en-US">
                <a:solidFill>
                  <a:schemeClr val="tx1"/>
                </a:solidFill>
              </a:rPr>
              <a:t>10K’s                     M’s             G’s to T’s</a:t>
            </a:r>
          </a:p>
        </p:txBody>
      </p:sp>
      <p:sp>
        <p:nvSpPr>
          <p:cNvPr id="1487903" name="Rectangle 31"/>
          <p:cNvSpPr>
            <a:spLocks noChangeArrowheads="1"/>
          </p:cNvSpPr>
          <p:nvPr/>
        </p:nvSpPr>
        <p:spPr bwMode="auto">
          <a:xfrm>
            <a:off x="685800" y="6019800"/>
            <a:ext cx="79248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a:lnSpc>
                <a:spcPct val="85000"/>
              </a:lnSpc>
            </a:pPr>
            <a:r>
              <a:rPr lang="en-US" b="1">
                <a:solidFill>
                  <a:schemeClr val="tx1"/>
                </a:solidFill>
              </a:rPr>
              <a:t> Cost:         </a:t>
            </a:r>
            <a:r>
              <a:rPr lang="en-US">
                <a:solidFill>
                  <a:schemeClr val="tx1"/>
                </a:solidFill>
              </a:rPr>
              <a:t>highest                                                                               lowest</a:t>
            </a:r>
          </a:p>
        </p:txBody>
      </p:sp>
      <p:sp>
        <p:nvSpPr>
          <p:cNvPr id="1487904" name="Rectangle 32"/>
          <p:cNvSpPr>
            <a:spLocks noChangeArrowheads="1"/>
          </p:cNvSpPr>
          <p:nvPr/>
        </p:nvSpPr>
        <p:spPr bwMode="auto">
          <a:xfrm>
            <a:off x="457200" y="762000"/>
            <a:ext cx="8191500"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marL="287338" indent="-287338">
              <a:spcBef>
                <a:spcPct val="30000"/>
              </a:spcBef>
              <a:buClr>
                <a:schemeClr val="accent1"/>
              </a:buClr>
              <a:buSzPct val="75000"/>
              <a:buFont typeface="Wingdings" pitchFamily="2" charset="2"/>
              <a:buChar char="q"/>
            </a:pPr>
            <a:r>
              <a:rPr lang="en-US" sz="2400">
                <a:solidFill>
                  <a:schemeClr val="accent2"/>
                </a:solidFill>
              </a:rPr>
              <a:t>By taking advantage of the principle of locality</a:t>
            </a:r>
          </a:p>
          <a:p>
            <a:pPr marL="741363" lvl="1" indent="-246063">
              <a:spcBef>
                <a:spcPct val="30000"/>
              </a:spcBef>
              <a:buClr>
                <a:schemeClr val="accent1"/>
              </a:buClr>
              <a:buSzPct val="75000"/>
              <a:buFont typeface="Monotype Sorts" pitchFamily="2" charset="2"/>
              <a:buChar char="l"/>
            </a:pPr>
            <a:r>
              <a:rPr lang="en-US" sz="2000">
                <a:solidFill>
                  <a:schemeClr val="accent2"/>
                </a:solidFill>
              </a:rPr>
              <a:t>Can present the user with as much memory as is available in the cheapest technology</a:t>
            </a:r>
          </a:p>
          <a:p>
            <a:pPr marL="741363" lvl="1" indent="-246063">
              <a:spcBef>
                <a:spcPct val="30000"/>
              </a:spcBef>
              <a:buClr>
                <a:schemeClr val="accent1"/>
              </a:buClr>
              <a:buSzPct val="75000"/>
              <a:buFont typeface="Monotype Sorts" pitchFamily="2" charset="2"/>
              <a:buChar char="l"/>
            </a:pPr>
            <a:r>
              <a:rPr lang="en-US" sz="2000">
                <a:solidFill>
                  <a:schemeClr val="accent2"/>
                </a:solidFill>
              </a:rPr>
              <a:t>at the speed offered by the fastest technology</a:t>
            </a:r>
          </a:p>
        </p:txBody>
      </p:sp>
    </p:spTree>
    <p:extLst>
      <p:ext uri="{BB962C8B-B14F-4D97-AF65-F5344CB8AC3E}">
        <p14:creationId xmlns:p14="http://schemas.microsoft.com/office/powerpoint/2010/main" val="13668349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87884"/>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487885"/>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4000"/>
                                  </p:stCondLst>
                                  <p:childTnLst>
                                    <p:set>
                                      <p:cBhvr>
                                        <p:cTn id="12" dur="1" fill="hold">
                                          <p:stCondLst>
                                            <p:cond delay="499"/>
                                          </p:stCondLst>
                                        </p:cTn>
                                        <p:tgtEl>
                                          <p:spTgt spid="1487874"/>
                                        </p:tgtEl>
                                        <p:attrNameLst>
                                          <p:attrName>style.visibility</p:attrName>
                                        </p:attrNameLst>
                                      </p:cBhvr>
                                      <p:to>
                                        <p:strVal val="visible"/>
                                      </p:to>
                                    </p:set>
                                  </p:childTnLst>
                                </p:cTn>
                              </p:par>
                            </p:childTnLst>
                          </p:cTn>
                        </p:par>
                        <p:par>
                          <p:cTn id="13" fill="hold" nodeType="afterGroup">
                            <p:stCondLst>
                              <p:cond delay="5500"/>
                            </p:stCondLst>
                            <p:childTnLst>
                              <p:par>
                                <p:cTn id="14" presetID="1" presetClass="entr" presetSubtype="0" fill="hold" grpId="0" nodeType="afterEffect">
                                  <p:stCondLst>
                                    <p:cond delay="4000"/>
                                  </p:stCondLst>
                                  <p:childTnLst>
                                    <p:set>
                                      <p:cBhvr>
                                        <p:cTn id="15" dur="1" fill="hold">
                                          <p:stCondLst>
                                            <p:cond delay="499"/>
                                          </p:stCondLst>
                                        </p:cTn>
                                        <p:tgtEl>
                                          <p:spTgt spid="1487899"/>
                                        </p:tgtEl>
                                        <p:attrNameLst>
                                          <p:attrName>style.visibility</p:attrName>
                                        </p:attrNameLst>
                                      </p:cBhvr>
                                      <p:to>
                                        <p:strVal val="visible"/>
                                      </p:to>
                                    </p:set>
                                  </p:childTnLst>
                                </p:cTn>
                              </p:par>
                            </p:childTnLst>
                          </p:cTn>
                        </p:par>
                        <p:par>
                          <p:cTn id="16" fill="hold" nodeType="afterGroup">
                            <p:stCondLst>
                              <p:cond delay="10000"/>
                            </p:stCondLst>
                            <p:childTnLst>
                              <p:par>
                                <p:cTn id="17" presetID="1" presetClass="entr" presetSubtype="0" fill="hold" grpId="0" nodeType="afterEffect">
                                  <p:stCondLst>
                                    <p:cond delay="0"/>
                                  </p:stCondLst>
                                  <p:childTnLst>
                                    <p:set>
                                      <p:cBhvr>
                                        <p:cTn id="18" dur="1" fill="hold">
                                          <p:stCondLst>
                                            <p:cond delay="499"/>
                                          </p:stCondLst>
                                        </p:cTn>
                                        <p:tgtEl>
                                          <p:spTgt spid="14879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7874" grpId="0" animBg="1"/>
      <p:bldP spid="1487884" grpId="0" animBg="1"/>
      <p:bldP spid="1487885" grpId="0" autoUpdateAnimBg="0"/>
      <p:bldP spid="1487899" grpId="0" animBg="1"/>
      <p:bldP spid="148790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8114" name="Rectangle 2"/>
          <p:cNvSpPr>
            <a:spLocks noGrp="1" noChangeArrowheads="1"/>
          </p:cNvSpPr>
          <p:nvPr>
            <p:ph type="title"/>
          </p:nvPr>
        </p:nvSpPr>
        <p:spPr>
          <a:xfrm flipH="1">
            <a:off x="3043672" y="304800"/>
            <a:ext cx="232184" cy="426142"/>
          </a:xfrm>
          <a:noFill/>
          <a:ln/>
        </p:spPr>
        <p:txBody>
          <a:bodyPr wrap="none"/>
          <a:lstStyle/>
          <a:p>
            <a:r>
              <a:rPr lang="en-US" dirty="0" smtClean="0"/>
              <a:t>Cache Design</a:t>
            </a:r>
            <a:endParaRPr lang="en-US" dirty="0"/>
          </a:p>
        </p:txBody>
      </p:sp>
      <p:sp>
        <p:nvSpPr>
          <p:cNvPr id="1498115" name="Rectangle 3"/>
          <p:cNvSpPr>
            <a:spLocks noGrp="1" noChangeArrowheads="1"/>
          </p:cNvSpPr>
          <p:nvPr>
            <p:ph type="body" idx="1"/>
          </p:nvPr>
        </p:nvSpPr>
        <p:spPr>
          <a:xfrm>
            <a:off x="457200" y="838200"/>
            <a:ext cx="7859216" cy="2470420"/>
          </a:xfrm>
          <a:noFill/>
          <a:ln/>
        </p:spPr>
        <p:txBody>
          <a:bodyPr/>
          <a:lstStyle/>
          <a:p>
            <a:r>
              <a:rPr lang="en-US" dirty="0"/>
              <a:t>Caches use </a:t>
            </a:r>
            <a:r>
              <a:rPr lang="en-US" i="1" dirty="0"/>
              <a:t>SRAM </a:t>
            </a:r>
            <a:r>
              <a:rPr lang="en-US" dirty="0"/>
              <a:t>for speed and technology compatibility</a:t>
            </a:r>
          </a:p>
          <a:p>
            <a:pPr lvl="1"/>
            <a:r>
              <a:rPr lang="en-US" dirty="0"/>
              <a:t>Low density (6 transistor cells), high power, expensive, fast</a:t>
            </a:r>
          </a:p>
          <a:p>
            <a:pPr lvl="1"/>
            <a:r>
              <a:rPr lang="en-US" dirty="0"/>
              <a:t>Static:  content will last   “forever” (until power </a:t>
            </a:r>
            <a:r>
              <a:rPr lang="en-US" dirty="0" smtClean="0"/>
              <a:t> </a:t>
            </a:r>
            <a:r>
              <a:rPr lang="en-US" dirty="0"/>
              <a:t>turned off</a:t>
            </a:r>
            <a:r>
              <a:rPr lang="en-US" dirty="0" smtClean="0"/>
              <a:t>)</a:t>
            </a:r>
          </a:p>
          <a:p>
            <a:r>
              <a:rPr lang="en-US" dirty="0" smtClean="0"/>
              <a:t>Example: A (2M X 16 bit) SRAM logic</a:t>
            </a:r>
            <a:endParaRPr lang="en-US" dirty="0"/>
          </a:p>
          <a:p>
            <a:pPr lvl="1"/>
            <a:endParaRPr lang="en-US" dirty="0"/>
          </a:p>
        </p:txBody>
      </p:sp>
      <p:grpSp>
        <p:nvGrpSpPr>
          <p:cNvPr id="2" name="Group 1"/>
          <p:cNvGrpSpPr/>
          <p:nvPr/>
        </p:nvGrpSpPr>
        <p:grpSpPr>
          <a:xfrm>
            <a:off x="2324100" y="3573016"/>
            <a:ext cx="4495800" cy="2133600"/>
            <a:chOff x="4648200" y="1143000"/>
            <a:chExt cx="4495800" cy="2133600"/>
          </a:xfrm>
        </p:grpSpPr>
        <p:sp>
          <p:nvSpPr>
            <p:cNvPr id="1498117" name="Rectangle 5"/>
            <p:cNvSpPr>
              <a:spLocks noChangeArrowheads="1"/>
            </p:cNvSpPr>
            <p:nvPr/>
          </p:nvSpPr>
          <p:spPr bwMode="auto">
            <a:xfrm>
              <a:off x="6477000" y="1219200"/>
              <a:ext cx="1066800" cy="19050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98118" name="Line 6"/>
            <p:cNvSpPr>
              <a:spLocks noChangeShapeType="1"/>
            </p:cNvSpPr>
            <p:nvPr/>
          </p:nvSpPr>
          <p:spPr bwMode="auto">
            <a:xfrm>
              <a:off x="7543800" y="2209800"/>
              <a:ext cx="381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8119" name="Line 7"/>
            <p:cNvSpPr>
              <a:spLocks noChangeShapeType="1"/>
            </p:cNvSpPr>
            <p:nvPr/>
          </p:nvSpPr>
          <p:spPr bwMode="auto">
            <a:xfrm flipH="1">
              <a:off x="7696200" y="2057400"/>
              <a:ext cx="7620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8120" name="Line 8"/>
            <p:cNvSpPr>
              <a:spLocks noChangeShapeType="1"/>
            </p:cNvSpPr>
            <p:nvPr/>
          </p:nvSpPr>
          <p:spPr bwMode="auto">
            <a:xfrm>
              <a:off x="6096000" y="1524000"/>
              <a:ext cx="381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8121" name="Line 9"/>
            <p:cNvSpPr>
              <a:spLocks noChangeShapeType="1"/>
            </p:cNvSpPr>
            <p:nvPr/>
          </p:nvSpPr>
          <p:spPr bwMode="auto">
            <a:xfrm flipH="1">
              <a:off x="6248400" y="1371600"/>
              <a:ext cx="7620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8122" name="Line 10"/>
            <p:cNvSpPr>
              <a:spLocks noChangeShapeType="1"/>
            </p:cNvSpPr>
            <p:nvPr/>
          </p:nvSpPr>
          <p:spPr bwMode="auto">
            <a:xfrm>
              <a:off x="6096000" y="2895600"/>
              <a:ext cx="381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8123" name="Line 11"/>
            <p:cNvSpPr>
              <a:spLocks noChangeShapeType="1"/>
            </p:cNvSpPr>
            <p:nvPr/>
          </p:nvSpPr>
          <p:spPr bwMode="auto">
            <a:xfrm flipH="1">
              <a:off x="6248400" y="2743200"/>
              <a:ext cx="7620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8124" name="Text Box 12"/>
            <p:cNvSpPr txBox="1">
              <a:spLocks noChangeArrowheads="1"/>
            </p:cNvSpPr>
            <p:nvPr/>
          </p:nvSpPr>
          <p:spPr bwMode="auto">
            <a:xfrm>
              <a:off x="7848600" y="2057400"/>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solidFill>
                    <a:schemeClr val="tx1"/>
                  </a:solidFill>
                </a:rPr>
                <a:t>Dout[15-0]</a:t>
              </a:r>
            </a:p>
          </p:txBody>
        </p:sp>
        <p:sp>
          <p:nvSpPr>
            <p:cNvPr id="1498125" name="Text Box 13"/>
            <p:cNvSpPr txBox="1">
              <a:spLocks noChangeArrowheads="1"/>
            </p:cNvSpPr>
            <p:nvPr/>
          </p:nvSpPr>
          <p:spPr bwMode="auto">
            <a:xfrm>
              <a:off x="6477000" y="179705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solidFill>
                    <a:schemeClr val="tx1"/>
                  </a:solidFill>
                </a:rPr>
                <a:t>SRAM</a:t>
              </a:r>
            </a:p>
            <a:p>
              <a:pPr algn="ctr"/>
              <a:r>
                <a:rPr lang="en-US">
                  <a:solidFill>
                    <a:schemeClr val="tx1"/>
                  </a:solidFill>
                </a:rPr>
                <a:t>2M x 16</a:t>
              </a:r>
            </a:p>
          </p:txBody>
        </p:sp>
        <p:sp>
          <p:nvSpPr>
            <p:cNvPr id="1498126" name="Text Box 14"/>
            <p:cNvSpPr txBox="1">
              <a:spLocks noChangeArrowheads="1"/>
            </p:cNvSpPr>
            <p:nvPr/>
          </p:nvSpPr>
          <p:spPr bwMode="auto">
            <a:xfrm>
              <a:off x="5029200" y="2667000"/>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solidFill>
                    <a:schemeClr val="tx1"/>
                  </a:solidFill>
                </a:rPr>
                <a:t>Din[15-0]</a:t>
              </a:r>
            </a:p>
          </p:txBody>
        </p:sp>
        <p:sp>
          <p:nvSpPr>
            <p:cNvPr id="1498127" name="Text Box 15"/>
            <p:cNvSpPr txBox="1">
              <a:spLocks noChangeArrowheads="1"/>
            </p:cNvSpPr>
            <p:nvPr/>
          </p:nvSpPr>
          <p:spPr bwMode="auto">
            <a:xfrm>
              <a:off x="5105400" y="1295400"/>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dirty="0">
                  <a:solidFill>
                    <a:schemeClr val="tx1"/>
                  </a:solidFill>
                </a:rPr>
                <a:t>Address</a:t>
              </a:r>
            </a:p>
          </p:txBody>
        </p:sp>
        <p:sp>
          <p:nvSpPr>
            <p:cNvPr id="1498128" name="Text Box 16"/>
            <p:cNvSpPr txBox="1">
              <a:spLocks noChangeArrowheads="1"/>
            </p:cNvSpPr>
            <p:nvPr/>
          </p:nvSpPr>
          <p:spPr bwMode="auto">
            <a:xfrm>
              <a:off x="4953000" y="1676400"/>
              <a:ext cx="1371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a:solidFill>
                    <a:schemeClr val="tx1"/>
                  </a:solidFill>
                </a:rPr>
                <a:t>Chip select</a:t>
              </a:r>
            </a:p>
          </p:txBody>
        </p:sp>
        <p:sp>
          <p:nvSpPr>
            <p:cNvPr id="1498129" name="Text Box 17"/>
            <p:cNvSpPr txBox="1">
              <a:spLocks noChangeArrowheads="1"/>
            </p:cNvSpPr>
            <p:nvPr/>
          </p:nvSpPr>
          <p:spPr bwMode="auto">
            <a:xfrm>
              <a:off x="4648200" y="1981200"/>
              <a:ext cx="1676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a:solidFill>
                    <a:schemeClr val="tx1"/>
                  </a:solidFill>
                </a:rPr>
                <a:t>Output enable</a:t>
              </a:r>
            </a:p>
          </p:txBody>
        </p:sp>
        <p:sp>
          <p:nvSpPr>
            <p:cNvPr id="1498130" name="Text Box 18"/>
            <p:cNvSpPr txBox="1">
              <a:spLocks noChangeArrowheads="1"/>
            </p:cNvSpPr>
            <p:nvPr/>
          </p:nvSpPr>
          <p:spPr bwMode="auto">
            <a:xfrm>
              <a:off x="4800600" y="2286000"/>
              <a:ext cx="1676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a:solidFill>
                    <a:schemeClr val="tx1"/>
                  </a:solidFill>
                </a:rPr>
                <a:t>Write enable</a:t>
              </a:r>
            </a:p>
          </p:txBody>
        </p:sp>
        <p:sp>
          <p:nvSpPr>
            <p:cNvPr id="1498131" name="Line 19"/>
            <p:cNvSpPr>
              <a:spLocks noChangeShapeType="1"/>
            </p:cNvSpPr>
            <p:nvPr/>
          </p:nvSpPr>
          <p:spPr bwMode="auto">
            <a:xfrm>
              <a:off x="6096000" y="2514600"/>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8132" name="Line 20"/>
            <p:cNvSpPr>
              <a:spLocks noChangeShapeType="1"/>
            </p:cNvSpPr>
            <p:nvPr/>
          </p:nvSpPr>
          <p:spPr bwMode="auto">
            <a:xfrm>
              <a:off x="6096000" y="2209800"/>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8133" name="Line 21"/>
            <p:cNvSpPr>
              <a:spLocks noChangeShapeType="1"/>
            </p:cNvSpPr>
            <p:nvPr/>
          </p:nvSpPr>
          <p:spPr bwMode="auto">
            <a:xfrm>
              <a:off x="6096000" y="1905000"/>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8134" name="Text Box 22"/>
            <p:cNvSpPr txBox="1">
              <a:spLocks noChangeArrowheads="1"/>
            </p:cNvSpPr>
            <p:nvPr/>
          </p:nvSpPr>
          <p:spPr bwMode="auto">
            <a:xfrm>
              <a:off x="7543800" y="1752600"/>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400">
                  <a:solidFill>
                    <a:schemeClr val="tx1"/>
                  </a:solidFill>
                </a:rPr>
                <a:t>16</a:t>
              </a:r>
            </a:p>
          </p:txBody>
        </p:sp>
        <p:sp>
          <p:nvSpPr>
            <p:cNvPr id="1498135" name="Text Box 23"/>
            <p:cNvSpPr txBox="1">
              <a:spLocks noChangeArrowheads="1"/>
            </p:cNvSpPr>
            <p:nvPr/>
          </p:nvSpPr>
          <p:spPr bwMode="auto">
            <a:xfrm>
              <a:off x="6019800" y="2971800"/>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400">
                  <a:solidFill>
                    <a:schemeClr val="tx1"/>
                  </a:solidFill>
                </a:rPr>
                <a:t>16</a:t>
              </a:r>
            </a:p>
          </p:txBody>
        </p:sp>
        <p:sp>
          <p:nvSpPr>
            <p:cNvPr id="1498136" name="Text Box 24"/>
            <p:cNvSpPr txBox="1">
              <a:spLocks noChangeArrowheads="1"/>
            </p:cNvSpPr>
            <p:nvPr/>
          </p:nvSpPr>
          <p:spPr bwMode="auto">
            <a:xfrm>
              <a:off x="6019800" y="1143000"/>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400">
                  <a:solidFill>
                    <a:schemeClr val="tx1"/>
                  </a:solidFill>
                </a:rPr>
                <a:t>21</a:t>
              </a:r>
            </a:p>
          </p:txBody>
        </p:sp>
      </p:grpSp>
    </p:spTree>
    <p:extLst>
      <p:ext uri="{BB962C8B-B14F-4D97-AF65-F5344CB8AC3E}">
        <p14:creationId xmlns:p14="http://schemas.microsoft.com/office/powerpoint/2010/main" val="14135353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842" name="Rectangle 2"/>
          <p:cNvSpPr>
            <a:spLocks noGrp="1" noChangeArrowheads="1"/>
          </p:cNvSpPr>
          <p:nvPr>
            <p:ph type="title"/>
          </p:nvPr>
        </p:nvSpPr>
        <p:spPr>
          <a:xfrm>
            <a:off x="685800" y="263525"/>
            <a:ext cx="6858000" cy="381000"/>
          </a:xfrm>
          <a:noFill/>
          <a:ln/>
        </p:spPr>
        <p:txBody>
          <a:bodyPr wrap="none"/>
          <a:lstStyle/>
          <a:p>
            <a:r>
              <a:rPr lang="en-US"/>
              <a:t>Classical SRAM Organization (~Square)</a:t>
            </a:r>
          </a:p>
        </p:txBody>
      </p:sp>
      <p:sp>
        <p:nvSpPr>
          <p:cNvPr id="1059843" name="Rectangle 3" descr="20%"/>
          <p:cNvSpPr>
            <a:spLocks noChangeArrowheads="1"/>
          </p:cNvSpPr>
          <p:nvPr/>
        </p:nvSpPr>
        <p:spPr bwMode="auto">
          <a:xfrm>
            <a:off x="1835150" y="1149350"/>
            <a:ext cx="3263900" cy="3111500"/>
          </a:xfrm>
          <a:prstGeom prst="rect">
            <a:avLst/>
          </a:prstGeom>
          <a:pattFill prst="pct20">
            <a:fgClr>
              <a:schemeClr val="accent1"/>
            </a:fgClr>
            <a:bgClr>
              <a:schemeClr val="bg1"/>
            </a:bgClr>
          </a:pattFill>
          <a:ln w="12700">
            <a:solidFill>
              <a:schemeClr val="tx1"/>
            </a:solidFill>
            <a:miter lim="800000"/>
            <a:headEnd/>
            <a:tailEnd/>
          </a:ln>
          <a:effectLst/>
        </p:spPr>
        <p:txBody>
          <a:bodyPr wrap="none" anchor="ctr"/>
          <a:lstStyle/>
          <a:p>
            <a:endParaRPr lang="en-US"/>
          </a:p>
        </p:txBody>
      </p:sp>
      <p:sp>
        <p:nvSpPr>
          <p:cNvPr id="1059844" name="Rectangle 4"/>
          <p:cNvSpPr>
            <a:spLocks noChangeArrowheads="1"/>
          </p:cNvSpPr>
          <p:nvPr/>
        </p:nvSpPr>
        <p:spPr bwMode="auto">
          <a:xfrm>
            <a:off x="927100" y="1397000"/>
            <a:ext cx="304800" cy="2617788"/>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r</a:t>
            </a:r>
          </a:p>
          <a:p>
            <a:pPr>
              <a:lnSpc>
                <a:spcPct val="85000"/>
              </a:lnSpc>
            </a:pPr>
            <a:r>
              <a:rPr lang="en-US" b="1">
                <a:solidFill>
                  <a:schemeClr val="tx1"/>
                </a:solidFill>
              </a:rPr>
              <a:t>o</a:t>
            </a:r>
          </a:p>
          <a:p>
            <a:pPr>
              <a:lnSpc>
                <a:spcPct val="85000"/>
              </a:lnSpc>
            </a:pPr>
            <a:r>
              <a:rPr lang="en-US" b="1">
                <a:solidFill>
                  <a:schemeClr val="tx1"/>
                </a:solidFill>
              </a:rPr>
              <a:t>w</a:t>
            </a:r>
          </a:p>
          <a:p>
            <a:pPr>
              <a:lnSpc>
                <a:spcPct val="85000"/>
              </a:lnSpc>
            </a:pPr>
            <a:endParaRPr lang="en-US" b="1">
              <a:solidFill>
                <a:schemeClr val="tx1"/>
              </a:solidFill>
            </a:endParaRPr>
          </a:p>
          <a:p>
            <a:pPr>
              <a:lnSpc>
                <a:spcPct val="85000"/>
              </a:lnSpc>
            </a:pPr>
            <a:r>
              <a:rPr lang="en-US" b="1">
                <a:solidFill>
                  <a:schemeClr val="tx1"/>
                </a:solidFill>
              </a:rPr>
              <a:t>d</a:t>
            </a:r>
          </a:p>
          <a:p>
            <a:pPr>
              <a:lnSpc>
                <a:spcPct val="85000"/>
              </a:lnSpc>
            </a:pPr>
            <a:r>
              <a:rPr lang="en-US" b="1">
                <a:solidFill>
                  <a:schemeClr val="tx1"/>
                </a:solidFill>
              </a:rPr>
              <a:t>e</a:t>
            </a:r>
          </a:p>
          <a:p>
            <a:pPr>
              <a:lnSpc>
                <a:spcPct val="85000"/>
              </a:lnSpc>
            </a:pPr>
            <a:r>
              <a:rPr lang="en-US" b="1">
                <a:solidFill>
                  <a:schemeClr val="tx1"/>
                </a:solidFill>
              </a:rPr>
              <a:t>c</a:t>
            </a:r>
          </a:p>
          <a:p>
            <a:pPr>
              <a:lnSpc>
                <a:spcPct val="85000"/>
              </a:lnSpc>
            </a:pPr>
            <a:r>
              <a:rPr lang="en-US" b="1">
                <a:solidFill>
                  <a:schemeClr val="tx1"/>
                </a:solidFill>
              </a:rPr>
              <a:t>o</a:t>
            </a:r>
          </a:p>
          <a:p>
            <a:pPr>
              <a:lnSpc>
                <a:spcPct val="85000"/>
              </a:lnSpc>
            </a:pPr>
            <a:r>
              <a:rPr lang="en-US" b="1">
                <a:solidFill>
                  <a:schemeClr val="tx1"/>
                </a:solidFill>
              </a:rPr>
              <a:t>d</a:t>
            </a:r>
          </a:p>
          <a:p>
            <a:pPr>
              <a:lnSpc>
                <a:spcPct val="85000"/>
              </a:lnSpc>
            </a:pPr>
            <a:r>
              <a:rPr lang="en-US" b="1">
                <a:solidFill>
                  <a:schemeClr val="tx1"/>
                </a:solidFill>
              </a:rPr>
              <a:t>e</a:t>
            </a:r>
          </a:p>
          <a:p>
            <a:pPr>
              <a:lnSpc>
                <a:spcPct val="85000"/>
              </a:lnSpc>
            </a:pPr>
            <a:r>
              <a:rPr lang="en-US" b="1">
                <a:solidFill>
                  <a:schemeClr val="tx1"/>
                </a:solidFill>
              </a:rPr>
              <a:t>r</a:t>
            </a:r>
          </a:p>
        </p:txBody>
      </p:sp>
      <p:sp>
        <p:nvSpPr>
          <p:cNvPr id="1059845" name="Rectangle 5"/>
          <p:cNvSpPr>
            <a:spLocks noChangeArrowheads="1"/>
          </p:cNvSpPr>
          <p:nvPr/>
        </p:nvSpPr>
        <p:spPr bwMode="auto">
          <a:xfrm>
            <a:off x="774700" y="1231900"/>
            <a:ext cx="584200" cy="3098800"/>
          </a:xfrm>
          <a:prstGeom prst="rect">
            <a:avLst/>
          </a:prstGeom>
          <a:noFill/>
          <a:ln w="25400">
            <a:solidFill>
              <a:schemeClr val="tx1"/>
            </a:solidFill>
            <a:miter lim="800000"/>
            <a:headEnd/>
            <a:tailEnd/>
          </a:ln>
          <a:effectLst/>
        </p:spPr>
        <p:txBody>
          <a:bodyPr wrap="none" anchor="ctr"/>
          <a:lstStyle/>
          <a:p>
            <a:endParaRPr lang="en-US"/>
          </a:p>
        </p:txBody>
      </p:sp>
      <p:sp>
        <p:nvSpPr>
          <p:cNvPr id="1059846" name="Line 6"/>
          <p:cNvSpPr>
            <a:spLocks noChangeShapeType="1"/>
          </p:cNvSpPr>
          <p:nvPr/>
        </p:nvSpPr>
        <p:spPr bwMode="auto">
          <a:xfrm>
            <a:off x="1384300" y="1371600"/>
            <a:ext cx="3556000" cy="0"/>
          </a:xfrm>
          <a:prstGeom prst="line">
            <a:avLst/>
          </a:prstGeom>
          <a:noFill/>
          <a:ln w="25400">
            <a:solidFill>
              <a:schemeClr val="tx1"/>
            </a:solidFill>
            <a:round/>
            <a:headEnd/>
            <a:tailEnd/>
          </a:ln>
          <a:effectLst/>
        </p:spPr>
        <p:txBody>
          <a:bodyPr wrap="none" anchor="ctr"/>
          <a:lstStyle/>
          <a:p>
            <a:endParaRPr lang="en-US"/>
          </a:p>
        </p:txBody>
      </p:sp>
      <p:sp>
        <p:nvSpPr>
          <p:cNvPr id="1059847" name="Line 7"/>
          <p:cNvSpPr>
            <a:spLocks noChangeShapeType="1"/>
          </p:cNvSpPr>
          <p:nvPr/>
        </p:nvSpPr>
        <p:spPr bwMode="auto">
          <a:xfrm>
            <a:off x="1384300" y="1752600"/>
            <a:ext cx="3556000" cy="0"/>
          </a:xfrm>
          <a:prstGeom prst="line">
            <a:avLst/>
          </a:prstGeom>
          <a:noFill/>
          <a:ln w="25400">
            <a:solidFill>
              <a:schemeClr val="tx1"/>
            </a:solidFill>
            <a:round/>
            <a:headEnd/>
            <a:tailEnd/>
          </a:ln>
          <a:effectLst/>
        </p:spPr>
        <p:txBody>
          <a:bodyPr wrap="none" anchor="ctr"/>
          <a:lstStyle/>
          <a:p>
            <a:endParaRPr lang="en-US"/>
          </a:p>
        </p:txBody>
      </p:sp>
      <p:sp>
        <p:nvSpPr>
          <p:cNvPr id="1059848" name="Line 8"/>
          <p:cNvSpPr>
            <a:spLocks noChangeShapeType="1"/>
          </p:cNvSpPr>
          <p:nvPr/>
        </p:nvSpPr>
        <p:spPr bwMode="auto">
          <a:xfrm>
            <a:off x="1397000" y="2133600"/>
            <a:ext cx="3530600" cy="0"/>
          </a:xfrm>
          <a:prstGeom prst="line">
            <a:avLst/>
          </a:prstGeom>
          <a:noFill/>
          <a:ln w="50800">
            <a:solidFill>
              <a:schemeClr val="accent1"/>
            </a:solidFill>
            <a:round/>
            <a:headEnd/>
            <a:tailEnd/>
          </a:ln>
          <a:effectLst/>
        </p:spPr>
        <p:txBody>
          <a:bodyPr wrap="none" anchor="ctr"/>
          <a:lstStyle/>
          <a:p>
            <a:endParaRPr lang="en-US"/>
          </a:p>
        </p:txBody>
      </p:sp>
      <p:sp>
        <p:nvSpPr>
          <p:cNvPr id="1059849" name="Line 9"/>
          <p:cNvSpPr>
            <a:spLocks noChangeShapeType="1"/>
          </p:cNvSpPr>
          <p:nvPr/>
        </p:nvSpPr>
        <p:spPr bwMode="auto">
          <a:xfrm>
            <a:off x="1384300" y="2514600"/>
            <a:ext cx="3556000" cy="0"/>
          </a:xfrm>
          <a:prstGeom prst="line">
            <a:avLst/>
          </a:prstGeom>
          <a:noFill/>
          <a:ln w="25400">
            <a:solidFill>
              <a:schemeClr val="tx1"/>
            </a:solidFill>
            <a:round/>
            <a:headEnd/>
            <a:tailEnd/>
          </a:ln>
          <a:effectLst/>
        </p:spPr>
        <p:txBody>
          <a:bodyPr wrap="none" anchor="ctr"/>
          <a:lstStyle/>
          <a:p>
            <a:endParaRPr lang="en-US"/>
          </a:p>
        </p:txBody>
      </p:sp>
      <p:sp>
        <p:nvSpPr>
          <p:cNvPr id="1059850" name="Line 10"/>
          <p:cNvSpPr>
            <a:spLocks noChangeShapeType="1"/>
          </p:cNvSpPr>
          <p:nvPr/>
        </p:nvSpPr>
        <p:spPr bwMode="auto">
          <a:xfrm>
            <a:off x="1384300" y="2895600"/>
            <a:ext cx="3556000" cy="0"/>
          </a:xfrm>
          <a:prstGeom prst="line">
            <a:avLst/>
          </a:prstGeom>
          <a:noFill/>
          <a:ln w="25400">
            <a:solidFill>
              <a:schemeClr val="tx1"/>
            </a:solidFill>
            <a:round/>
            <a:headEnd/>
            <a:tailEnd/>
          </a:ln>
          <a:effectLst/>
        </p:spPr>
        <p:txBody>
          <a:bodyPr wrap="none" anchor="ctr"/>
          <a:lstStyle/>
          <a:p>
            <a:endParaRPr lang="en-US"/>
          </a:p>
        </p:txBody>
      </p:sp>
      <p:sp>
        <p:nvSpPr>
          <p:cNvPr id="1059851" name="Line 11"/>
          <p:cNvSpPr>
            <a:spLocks noChangeShapeType="1"/>
          </p:cNvSpPr>
          <p:nvPr/>
        </p:nvSpPr>
        <p:spPr bwMode="auto">
          <a:xfrm>
            <a:off x="1384300" y="3276600"/>
            <a:ext cx="3556000" cy="0"/>
          </a:xfrm>
          <a:prstGeom prst="line">
            <a:avLst/>
          </a:prstGeom>
          <a:noFill/>
          <a:ln w="25400">
            <a:solidFill>
              <a:schemeClr val="tx1"/>
            </a:solidFill>
            <a:round/>
            <a:headEnd/>
            <a:tailEnd/>
          </a:ln>
          <a:effectLst/>
        </p:spPr>
        <p:txBody>
          <a:bodyPr wrap="none" anchor="ctr"/>
          <a:lstStyle/>
          <a:p>
            <a:endParaRPr lang="en-US"/>
          </a:p>
        </p:txBody>
      </p:sp>
      <p:sp>
        <p:nvSpPr>
          <p:cNvPr id="1059852" name="Line 12"/>
          <p:cNvSpPr>
            <a:spLocks noChangeShapeType="1"/>
          </p:cNvSpPr>
          <p:nvPr/>
        </p:nvSpPr>
        <p:spPr bwMode="auto">
          <a:xfrm>
            <a:off x="1384300" y="3657600"/>
            <a:ext cx="3556000" cy="0"/>
          </a:xfrm>
          <a:prstGeom prst="line">
            <a:avLst/>
          </a:prstGeom>
          <a:noFill/>
          <a:ln w="25400">
            <a:solidFill>
              <a:schemeClr val="tx1"/>
            </a:solidFill>
            <a:round/>
            <a:headEnd/>
            <a:tailEnd/>
          </a:ln>
          <a:effectLst/>
        </p:spPr>
        <p:txBody>
          <a:bodyPr wrap="none" anchor="ctr"/>
          <a:lstStyle/>
          <a:p>
            <a:endParaRPr lang="en-US"/>
          </a:p>
        </p:txBody>
      </p:sp>
      <p:sp>
        <p:nvSpPr>
          <p:cNvPr id="1059853" name="Line 13"/>
          <p:cNvSpPr>
            <a:spLocks noChangeShapeType="1"/>
          </p:cNvSpPr>
          <p:nvPr/>
        </p:nvSpPr>
        <p:spPr bwMode="auto">
          <a:xfrm>
            <a:off x="1384300" y="4038600"/>
            <a:ext cx="3556000" cy="0"/>
          </a:xfrm>
          <a:prstGeom prst="line">
            <a:avLst/>
          </a:prstGeom>
          <a:noFill/>
          <a:ln w="25400">
            <a:solidFill>
              <a:schemeClr val="tx1"/>
            </a:solidFill>
            <a:round/>
            <a:headEnd/>
            <a:tailEnd/>
          </a:ln>
          <a:effectLst/>
        </p:spPr>
        <p:txBody>
          <a:bodyPr wrap="none" anchor="ctr"/>
          <a:lstStyle/>
          <a:p>
            <a:endParaRPr lang="en-US"/>
          </a:p>
        </p:txBody>
      </p:sp>
      <p:sp>
        <p:nvSpPr>
          <p:cNvPr id="1059854" name="Line 14"/>
          <p:cNvSpPr>
            <a:spLocks noChangeShapeType="1"/>
          </p:cNvSpPr>
          <p:nvPr/>
        </p:nvSpPr>
        <p:spPr bwMode="auto">
          <a:xfrm flipV="1">
            <a:off x="1066800" y="4324350"/>
            <a:ext cx="0" cy="495300"/>
          </a:xfrm>
          <a:prstGeom prst="line">
            <a:avLst/>
          </a:prstGeom>
          <a:noFill/>
          <a:ln w="38100" cmpd="dbl">
            <a:solidFill>
              <a:schemeClr val="tx1"/>
            </a:solidFill>
            <a:round/>
            <a:headEnd/>
            <a:tailEnd type="triangle" w="med" len="med"/>
          </a:ln>
          <a:effectLst/>
        </p:spPr>
        <p:txBody>
          <a:bodyPr wrap="none" anchor="ctr"/>
          <a:lstStyle/>
          <a:p>
            <a:endParaRPr lang="en-US"/>
          </a:p>
        </p:txBody>
      </p:sp>
      <p:sp>
        <p:nvSpPr>
          <p:cNvPr id="1059855" name="Rectangle 15"/>
          <p:cNvSpPr>
            <a:spLocks noChangeArrowheads="1"/>
          </p:cNvSpPr>
          <p:nvPr/>
        </p:nvSpPr>
        <p:spPr bwMode="auto">
          <a:xfrm>
            <a:off x="469900" y="4821238"/>
            <a:ext cx="1003300" cy="517525"/>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row</a:t>
            </a:r>
          </a:p>
          <a:p>
            <a:pPr>
              <a:lnSpc>
                <a:spcPct val="85000"/>
              </a:lnSpc>
            </a:pPr>
            <a:r>
              <a:rPr lang="en-US" b="1">
                <a:solidFill>
                  <a:schemeClr val="tx1"/>
                </a:solidFill>
              </a:rPr>
              <a:t>address</a:t>
            </a:r>
          </a:p>
        </p:txBody>
      </p:sp>
      <p:sp>
        <p:nvSpPr>
          <p:cNvPr id="1059856" name="Rectangle 16"/>
          <p:cNvSpPr>
            <a:spLocks noChangeArrowheads="1"/>
          </p:cNvSpPr>
          <p:nvPr/>
        </p:nvSpPr>
        <p:spPr bwMode="auto">
          <a:xfrm>
            <a:off x="2070100" y="4508500"/>
            <a:ext cx="2870200" cy="584200"/>
          </a:xfrm>
          <a:prstGeom prst="rect">
            <a:avLst/>
          </a:prstGeom>
          <a:noFill/>
          <a:ln w="25400">
            <a:solidFill>
              <a:schemeClr val="tx1"/>
            </a:solidFill>
            <a:miter lim="800000"/>
            <a:headEnd/>
            <a:tailEnd/>
          </a:ln>
          <a:effectLst/>
        </p:spPr>
        <p:txBody>
          <a:bodyPr wrap="none" anchor="ctr"/>
          <a:lstStyle/>
          <a:p>
            <a:endParaRPr lang="en-US"/>
          </a:p>
        </p:txBody>
      </p:sp>
      <p:sp>
        <p:nvSpPr>
          <p:cNvPr id="1059857" name="Line 17"/>
          <p:cNvSpPr>
            <a:spLocks noChangeShapeType="1"/>
          </p:cNvSpPr>
          <p:nvPr/>
        </p:nvSpPr>
        <p:spPr bwMode="auto">
          <a:xfrm>
            <a:off x="3352800" y="5105400"/>
            <a:ext cx="0" cy="723900"/>
          </a:xfrm>
          <a:prstGeom prst="line">
            <a:avLst/>
          </a:prstGeom>
          <a:noFill/>
          <a:ln w="38100" cmpd="dbl">
            <a:solidFill>
              <a:schemeClr val="tx1"/>
            </a:solidFill>
            <a:round/>
            <a:headEnd type="triangle" w="med" len="med"/>
            <a:tailEnd type="triangle" w="med" len="med"/>
          </a:ln>
          <a:effectLst/>
        </p:spPr>
        <p:txBody>
          <a:bodyPr wrap="none" anchor="ctr"/>
          <a:lstStyle/>
          <a:p>
            <a:endParaRPr lang="en-US"/>
          </a:p>
        </p:txBody>
      </p:sp>
      <p:sp>
        <p:nvSpPr>
          <p:cNvPr id="1059858" name="Rectangle 18"/>
          <p:cNvSpPr>
            <a:spLocks noChangeArrowheads="1"/>
          </p:cNvSpPr>
          <p:nvPr/>
        </p:nvSpPr>
        <p:spPr bwMode="auto">
          <a:xfrm>
            <a:off x="2438400" y="5867400"/>
            <a:ext cx="1752600" cy="284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4-bit data word</a:t>
            </a:r>
          </a:p>
        </p:txBody>
      </p:sp>
      <p:sp>
        <p:nvSpPr>
          <p:cNvPr id="1059859" name="Line 19"/>
          <p:cNvSpPr>
            <a:spLocks noChangeShapeType="1"/>
          </p:cNvSpPr>
          <p:nvPr/>
        </p:nvSpPr>
        <p:spPr bwMode="auto">
          <a:xfrm flipV="1">
            <a:off x="2133600" y="1206500"/>
            <a:ext cx="0" cy="3302000"/>
          </a:xfrm>
          <a:prstGeom prst="line">
            <a:avLst/>
          </a:prstGeom>
          <a:noFill/>
          <a:ln w="25400">
            <a:solidFill>
              <a:schemeClr val="tx1"/>
            </a:solidFill>
            <a:round/>
            <a:headEnd/>
            <a:tailEnd/>
          </a:ln>
          <a:effectLst/>
        </p:spPr>
        <p:txBody>
          <a:bodyPr wrap="none" anchor="ctr"/>
          <a:lstStyle/>
          <a:p>
            <a:endParaRPr lang="en-US"/>
          </a:p>
        </p:txBody>
      </p:sp>
      <p:sp>
        <p:nvSpPr>
          <p:cNvPr id="1059860" name="Line 20"/>
          <p:cNvSpPr>
            <a:spLocks noChangeShapeType="1"/>
          </p:cNvSpPr>
          <p:nvPr/>
        </p:nvSpPr>
        <p:spPr bwMode="auto">
          <a:xfrm flipV="1">
            <a:off x="2514600" y="1206500"/>
            <a:ext cx="0" cy="3302000"/>
          </a:xfrm>
          <a:prstGeom prst="line">
            <a:avLst/>
          </a:prstGeom>
          <a:noFill/>
          <a:ln w="25400">
            <a:solidFill>
              <a:schemeClr val="tx1"/>
            </a:solidFill>
            <a:round/>
            <a:headEnd/>
            <a:tailEnd/>
          </a:ln>
          <a:effectLst/>
        </p:spPr>
        <p:txBody>
          <a:bodyPr wrap="none" anchor="ctr"/>
          <a:lstStyle/>
          <a:p>
            <a:endParaRPr lang="en-US"/>
          </a:p>
        </p:txBody>
      </p:sp>
      <p:sp>
        <p:nvSpPr>
          <p:cNvPr id="1059861" name="Line 21"/>
          <p:cNvSpPr>
            <a:spLocks noChangeShapeType="1"/>
          </p:cNvSpPr>
          <p:nvPr/>
        </p:nvSpPr>
        <p:spPr bwMode="auto">
          <a:xfrm flipV="1">
            <a:off x="2895600" y="1206500"/>
            <a:ext cx="0" cy="3302000"/>
          </a:xfrm>
          <a:prstGeom prst="line">
            <a:avLst/>
          </a:prstGeom>
          <a:noFill/>
          <a:ln w="25400">
            <a:solidFill>
              <a:schemeClr val="tx1"/>
            </a:solidFill>
            <a:round/>
            <a:headEnd/>
            <a:tailEnd/>
          </a:ln>
          <a:effectLst/>
        </p:spPr>
        <p:txBody>
          <a:bodyPr wrap="none" anchor="ctr"/>
          <a:lstStyle/>
          <a:p>
            <a:endParaRPr lang="en-US"/>
          </a:p>
        </p:txBody>
      </p:sp>
      <p:sp>
        <p:nvSpPr>
          <p:cNvPr id="1059862" name="Line 22"/>
          <p:cNvSpPr>
            <a:spLocks noChangeShapeType="1"/>
          </p:cNvSpPr>
          <p:nvPr/>
        </p:nvSpPr>
        <p:spPr bwMode="auto">
          <a:xfrm flipV="1">
            <a:off x="3276600" y="1206500"/>
            <a:ext cx="0" cy="3302000"/>
          </a:xfrm>
          <a:prstGeom prst="line">
            <a:avLst/>
          </a:prstGeom>
          <a:noFill/>
          <a:ln w="25400">
            <a:solidFill>
              <a:schemeClr val="tx1"/>
            </a:solidFill>
            <a:round/>
            <a:headEnd/>
            <a:tailEnd/>
          </a:ln>
          <a:effectLst/>
        </p:spPr>
        <p:txBody>
          <a:bodyPr wrap="none" anchor="ctr"/>
          <a:lstStyle/>
          <a:p>
            <a:endParaRPr lang="en-US"/>
          </a:p>
        </p:txBody>
      </p:sp>
      <p:sp>
        <p:nvSpPr>
          <p:cNvPr id="1059863" name="Line 23"/>
          <p:cNvSpPr>
            <a:spLocks noChangeShapeType="1"/>
          </p:cNvSpPr>
          <p:nvPr/>
        </p:nvSpPr>
        <p:spPr bwMode="auto">
          <a:xfrm flipV="1">
            <a:off x="3657600" y="1206500"/>
            <a:ext cx="0" cy="3302000"/>
          </a:xfrm>
          <a:prstGeom prst="line">
            <a:avLst/>
          </a:prstGeom>
          <a:noFill/>
          <a:ln w="25400">
            <a:solidFill>
              <a:schemeClr val="tx1"/>
            </a:solidFill>
            <a:round/>
            <a:headEnd/>
            <a:tailEnd/>
          </a:ln>
          <a:effectLst/>
        </p:spPr>
        <p:txBody>
          <a:bodyPr wrap="none" anchor="ctr"/>
          <a:lstStyle/>
          <a:p>
            <a:endParaRPr lang="en-US"/>
          </a:p>
        </p:txBody>
      </p:sp>
      <p:sp>
        <p:nvSpPr>
          <p:cNvPr id="1059864" name="Line 24"/>
          <p:cNvSpPr>
            <a:spLocks noChangeShapeType="1"/>
          </p:cNvSpPr>
          <p:nvPr/>
        </p:nvSpPr>
        <p:spPr bwMode="auto">
          <a:xfrm flipV="1">
            <a:off x="4038600" y="1206500"/>
            <a:ext cx="0" cy="3302000"/>
          </a:xfrm>
          <a:prstGeom prst="line">
            <a:avLst/>
          </a:prstGeom>
          <a:noFill/>
          <a:ln w="25400">
            <a:solidFill>
              <a:schemeClr val="tx1"/>
            </a:solidFill>
            <a:round/>
            <a:headEnd/>
            <a:tailEnd/>
          </a:ln>
          <a:effectLst/>
        </p:spPr>
        <p:txBody>
          <a:bodyPr wrap="none" anchor="ctr"/>
          <a:lstStyle/>
          <a:p>
            <a:endParaRPr lang="en-US"/>
          </a:p>
        </p:txBody>
      </p:sp>
      <p:sp>
        <p:nvSpPr>
          <p:cNvPr id="1059865" name="Line 25"/>
          <p:cNvSpPr>
            <a:spLocks noChangeShapeType="1"/>
          </p:cNvSpPr>
          <p:nvPr/>
        </p:nvSpPr>
        <p:spPr bwMode="auto">
          <a:xfrm flipV="1">
            <a:off x="4800600" y="1206500"/>
            <a:ext cx="0" cy="3302000"/>
          </a:xfrm>
          <a:prstGeom prst="line">
            <a:avLst/>
          </a:prstGeom>
          <a:noFill/>
          <a:ln w="25400">
            <a:solidFill>
              <a:schemeClr val="tx1"/>
            </a:solidFill>
            <a:round/>
            <a:headEnd/>
            <a:tailEnd/>
          </a:ln>
          <a:effectLst/>
        </p:spPr>
        <p:txBody>
          <a:bodyPr wrap="none" anchor="ctr"/>
          <a:lstStyle/>
          <a:p>
            <a:endParaRPr lang="en-US"/>
          </a:p>
        </p:txBody>
      </p:sp>
      <p:sp useBgFill="1">
        <p:nvSpPr>
          <p:cNvPr id="1059866" name="Rectangle 26"/>
          <p:cNvSpPr>
            <a:spLocks noChangeArrowheads="1"/>
          </p:cNvSpPr>
          <p:nvPr/>
        </p:nvSpPr>
        <p:spPr bwMode="auto">
          <a:xfrm>
            <a:off x="2362200" y="2362200"/>
            <a:ext cx="1295226" cy="522194"/>
          </a:xfrm>
          <a:prstGeom prst="rect">
            <a:avLst/>
          </a:prstGeom>
          <a:ln w="12700">
            <a:noFill/>
            <a:miter lim="800000"/>
            <a:headEnd/>
            <a:tailEnd/>
          </a:ln>
          <a:effectLst/>
        </p:spPr>
        <p:txBody>
          <a:bodyPr wrap="none" lIns="63500" tIns="25400" rIns="63500" bIns="25400">
            <a:spAutoFit/>
          </a:bodyPr>
          <a:lstStyle/>
          <a:p>
            <a:pPr>
              <a:lnSpc>
                <a:spcPct val="85000"/>
              </a:lnSpc>
            </a:pPr>
            <a:r>
              <a:rPr lang="en-US" b="1" dirty="0" smtClean="0">
                <a:solidFill>
                  <a:schemeClr val="tx1"/>
                </a:solidFill>
              </a:rPr>
              <a:t>SRAM </a:t>
            </a:r>
            <a:r>
              <a:rPr lang="en-US" b="1" dirty="0">
                <a:solidFill>
                  <a:schemeClr val="tx1"/>
                </a:solidFill>
              </a:rPr>
              <a:t>Cell</a:t>
            </a:r>
          </a:p>
          <a:p>
            <a:pPr>
              <a:lnSpc>
                <a:spcPct val="85000"/>
              </a:lnSpc>
            </a:pPr>
            <a:r>
              <a:rPr lang="en-US" b="1" dirty="0">
                <a:solidFill>
                  <a:schemeClr val="tx1"/>
                </a:solidFill>
              </a:rPr>
              <a:t>  Array</a:t>
            </a:r>
          </a:p>
        </p:txBody>
      </p:sp>
      <p:grpSp>
        <p:nvGrpSpPr>
          <p:cNvPr id="2" name="Group 27"/>
          <p:cNvGrpSpPr>
            <a:grpSpLocks/>
          </p:cNvGrpSpPr>
          <p:nvPr/>
        </p:nvGrpSpPr>
        <p:grpSpPr bwMode="auto">
          <a:xfrm>
            <a:off x="4953000" y="1752600"/>
            <a:ext cx="2927350" cy="361950"/>
            <a:chOff x="3076" y="2080"/>
            <a:chExt cx="1844" cy="228"/>
          </a:xfrm>
        </p:grpSpPr>
        <p:sp>
          <p:nvSpPr>
            <p:cNvPr id="1059868" name="Line 28"/>
            <p:cNvSpPr>
              <a:spLocks noChangeShapeType="1"/>
            </p:cNvSpPr>
            <p:nvPr/>
          </p:nvSpPr>
          <p:spPr bwMode="auto">
            <a:xfrm flipV="1">
              <a:off x="3076" y="2156"/>
              <a:ext cx="280" cy="152"/>
            </a:xfrm>
            <a:prstGeom prst="line">
              <a:avLst/>
            </a:prstGeom>
            <a:noFill/>
            <a:ln w="12700">
              <a:solidFill>
                <a:schemeClr val="tx1"/>
              </a:solidFill>
              <a:round/>
              <a:headEnd type="triangle" w="med" len="med"/>
              <a:tailEnd/>
            </a:ln>
            <a:effectLst/>
          </p:spPr>
          <p:txBody>
            <a:bodyPr wrap="none" anchor="ctr"/>
            <a:lstStyle/>
            <a:p>
              <a:endParaRPr lang="en-US"/>
            </a:p>
          </p:txBody>
        </p:sp>
        <p:sp>
          <p:nvSpPr>
            <p:cNvPr id="1059869" name="Rectangle 29"/>
            <p:cNvSpPr>
              <a:spLocks noChangeArrowheads="1"/>
            </p:cNvSpPr>
            <p:nvPr/>
          </p:nvSpPr>
          <p:spPr bwMode="auto">
            <a:xfrm>
              <a:off x="3368" y="2080"/>
              <a:ext cx="1552" cy="179"/>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word (row) select line</a:t>
              </a:r>
            </a:p>
          </p:txBody>
        </p:sp>
      </p:grpSp>
      <p:grpSp>
        <p:nvGrpSpPr>
          <p:cNvPr id="3" name="Group 30"/>
          <p:cNvGrpSpPr>
            <a:grpSpLocks/>
          </p:cNvGrpSpPr>
          <p:nvPr/>
        </p:nvGrpSpPr>
        <p:grpSpPr bwMode="auto">
          <a:xfrm>
            <a:off x="3571868" y="715945"/>
            <a:ext cx="2755900" cy="284163"/>
            <a:chOff x="3028" y="448"/>
            <a:chExt cx="1300" cy="330"/>
          </a:xfrm>
        </p:grpSpPr>
        <p:sp>
          <p:nvSpPr>
            <p:cNvPr id="1059871" name="Line 31"/>
            <p:cNvSpPr>
              <a:spLocks noChangeShapeType="1"/>
            </p:cNvSpPr>
            <p:nvPr/>
          </p:nvSpPr>
          <p:spPr bwMode="auto">
            <a:xfrm flipV="1">
              <a:off x="3028" y="572"/>
              <a:ext cx="232" cy="200"/>
            </a:xfrm>
            <a:prstGeom prst="line">
              <a:avLst/>
            </a:prstGeom>
            <a:noFill/>
            <a:ln w="12700">
              <a:solidFill>
                <a:schemeClr val="tx1"/>
              </a:solidFill>
              <a:round/>
              <a:headEnd type="triangle" w="med" len="med"/>
              <a:tailEnd/>
            </a:ln>
            <a:effectLst/>
          </p:spPr>
          <p:txBody>
            <a:bodyPr wrap="none" anchor="ctr"/>
            <a:lstStyle/>
            <a:p>
              <a:endParaRPr lang="en-US"/>
            </a:p>
          </p:txBody>
        </p:sp>
        <p:sp>
          <p:nvSpPr>
            <p:cNvPr id="1059872" name="Rectangle 32"/>
            <p:cNvSpPr>
              <a:spLocks noChangeArrowheads="1"/>
            </p:cNvSpPr>
            <p:nvPr/>
          </p:nvSpPr>
          <p:spPr bwMode="auto">
            <a:xfrm>
              <a:off x="3272" y="448"/>
              <a:ext cx="1056" cy="330"/>
            </a:xfrm>
            <a:prstGeom prst="rect">
              <a:avLst/>
            </a:prstGeom>
            <a:noFill/>
            <a:ln w="12700">
              <a:noFill/>
              <a:miter lim="800000"/>
              <a:headEnd/>
              <a:tailEnd/>
            </a:ln>
            <a:effectLst/>
          </p:spPr>
          <p:txBody>
            <a:bodyPr lIns="63500" tIns="25400" rIns="63500" bIns="25400">
              <a:spAutoFit/>
            </a:bodyPr>
            <a:lstStyle/>
            <a:p>
              <a:pPr>
                <a:lnSpc>
                  <a:spcPct val="85000"/>
                </a:lnSpc>
              </a:pPr>
              <a:r>
                <a:rPr lang="en-US" b="1" dirty="0">
                  <a:solidFill>
                    <a:schemeClr val="tx1"/>
                  </a:solidFill>
                </a:rPr>
                <a:t>bit (data) lines</a:t>
              </a:r>
            </a:p>
          </p:txBody>
        </p:sp>
      </p:grpSp>
      <p:grpSp>
        <p:nvGrpSpPr>
          <p:cNvPr id="4" name="Group 33"/>
          <p:cNvGrpSpPr>
            <a:grpSpLocks/>
          </p:cNvGrpSpPr>
          <p:nvPr/>
        </p:nvGrpSpPr>
        <p:grpSpPr bwMode="auto">
          <a:xfrm>
            <a:off x="4419600" y="3048000"/>
            <a:ext cx="3270250" cy="1308100"/>
            <a:chOff x="2788" y="960"/>
            <a:chExt cx="2060" cy="824"/>
          </a:xfrm>
        </p:grpSpPr>
        <p:sp>
          <p:nvSpPr>
            <p:cNvPr id="1059874" name="Line 34"/>
            <p:cNvSpPr>
              <a:spLocks noChangeShapeType="1"/>
            </p:cNvSpPr>
            <p:nvPr/>
          </p:nvSpPr>
          <p:spPr bwMode="auto">
            <a:xfrm flipV="1">
              <a:off x="2788" y="1052"/>
              <a:ext cx="760" cy="296"/>
            </a:xfrm>
            <a:prstGeom prst="line">
              <a:avLst/>
            </a:prstGeom>
            <a:noFill/>
            <a:ln w="12700">
              <a:solidFill>
                <a:schemeClr val="tx1"/>
              </a:solidFill>
              <a:round/>
              <a:headEnd type="triangle" w="med" len="med"/>
              <a:tailEnd/>
            </a:ln>
            <a:effectLst/>
          </p:spPr>
          <p:txBody>
            <a:bodyPr wrap="none" anchor="ctr"/>
            <a:lstStyle/>
            <a:p>
              <a:endParaRPr lang="en-US"/>
            </a:p>
          </p:txBody>
        </p:sp>
        <p:sp>
          <p:nvSpPr>
            <p:cNvPr id="1059875" name="Rectangle 35"/>
            <p:cNvSpPr>
              <a:spLocks noChangeArrowheads="1"/>
            </p:cNvSpPr>
            <p:nvPr/>
          </p:nvSpPr>
          <p:spPr bwMode="auto">
            <a:xfrm>
              <a:off x="3591" y="960"/>
              <a:ext cx="1257" cy="824"/>
            </a:xfrm>
            <a:prstGeom prst="rect">
              <a:avLst/>
            </a:prstGeom>
            <a:noFill/>
            <a:ln w="12700">
              <a:noFill/>
              <a:miter lim="800000"/>
              <a:headEnd/>
              <a:tailEnd/>
            </a:ln>
            <a:effectLst/>
          </p:spPr>
          <p:txBody>
            <a:bodyPr lIns="90488" tIns="44450" rIns="90488" bIns="44450">
              <a:spAutoFit/>
            </a:bodyPr>
            <a:lstStyle/>
            <a:p>
              <a:r>
                <a:rPr lang="en-US" sz="2000">
                  <a:solidFill>
                    <a:schemeClr val="tx1"/>
                  </a:solidFill>
                </a:rPr>
                <a:t>Each intersection represents a </a:t>
              </a:r>
            </a:p>
            <a:p>
              <a:r>
                <a:rPr lang="en-US" sz="2000">
                  <a:solidFill>
                    <a:schemeClr val="tx1"/>
                  </a:solidFill>
                </a:rPr>
                <a:t>6-T SRAM cell</a:t>
              </a:r>
            </a:p>
          </p:txBody>
        </p:sp>
      </p:grpSp>
      <p:sp>
        <p:nvSpPr>
          <p:cNvPr id="1059876" name="Line 36"/>
          <p:cNvSpPr>
            <a:spLocks noChangeShapeType="1"/>
          </p:cNvSpPr>
          <p:nvPr/>
        </p:nvSpPr>
        <p:spPr bwMode="auto">
          <a:xfrm flipV="1">
            <a:off x="4419600" y="1193800"/>
            <a:ext cx="0" cy="3327400"/>
          </a:xfrm>
          <a:prstGeom prst="line">
            <a:avLst/>
          </a:prstGeom>
          <a:noFill/>
          <a:ln w="50800">
            <a:solidFill>
              <a:schemeClr val="accent2"/>
            </a:solidFill>
            <a:round/>
            <a:headEnd/>
            <a:tailEnd/>
          </a:ln>
          <a:effectLst/>
        </p:spPr>
        <p:txBody>
          <a:bodyPr wrap="none" anchor="ctr"/>
          <a:lstStyle/>
          <a:p>
            <a:endParaRPr lang="en-US"/>
          </a:p>
        </p:txBody>
      </p:sp>
      <p:sp>
        <p:nvSpPr>
          <p:cNvPr id="1059877" name="Rectangle 37"/>
          <p:cNvSpPr>
            <a:spLocks noChangeArrowheads="1"/>
          </p:cNvSpPr>
          <p:nvPr/>
        </p:nvSpPr>
        <p:spPr bwMode="auto">
          <a:xfrm>
            <a:off x="2362200" y="4495800"/>
            <a:ext cx="2171700" cy="600075"/>
          </a:xfrm>
          <a:prstGeom prst="rect">
            <a:avLst/>
          </a:prstGeom>
          <a:noFill/>
          <a:ln w="12700">
            <a:noFill/>
            <a:miter lim="800000"/>
            <a:headEnd/>
            <a:tailEnd/>
          </a:ln>
          <a:effectLst/>
        </p:spPr>
        <p:txBody>
          <a:bodyPr wrap="none" lIns="63500" tIns="25400" rIns="63500" bIns="25400">
            <a:spAutoFit/>
          </a:bodyPr>
          <a:lstStyle/>
          <a:p>
            <a:pPr algn="ctr"/>
            <a:r>
              <a:rPr lang="en-US" b="1">
                <a:solidFill>
                  <a:schemeClr val="tx1"/>
                </a:solidFill>
              </a:rPr>
              <a:t>Column Selector &amp;</a:t>
            </a:r>
          </a:p>
          <a:p>
            <a:pPr algn="ctr"/>
            <a:r>
              <a:rPr lang="en-US" b="1">
                <a:solidFill>
                  <a:schemeClr val="tx1"/>
                </a:solidFill>
              </a:rPr>
              <a:t>  I/O Circuits</a:t>
            </a:r>
          </a:p>
        </p:txBody>
      </p:sp>
      <p:sp>
        <p:nvSpPr>
          <p:cNvPr id="1059878" name="Rectangle 38"/>
          <p:cNvSpPr>
            <a:spLocks noChangeArrowheads="1"/>
          </p:cNvSpPr>
          <p:nvPr/>
        </p:nvSpPr>
        <p:spPr bwMode="auto">
          <a:xfrm>
            <a:off x="5638800" y="4572000"/>
            <a:ext cx="1003300" cy="517525"/>
          </a:xfrm>
          <a:prstGeom prst="rect">
            <a:avLst/>
          </a:prstGeom>
          <a:noFill/>
          <a:ln w="12700">
            <a:noFill/>
            <a:miter lim="800000"/>
            <a:headEnd/>
            <a:tailEnd/>
          </a:ln>
          <a:effectLst/>
        </p:spPr>
        <p:txBody>
          <a:bodyPr wrap="none" lIns="63500" tIns="25400" rIns="63500" bIns="25400">
            <a:spAutoFit/>
          </a:bodyPr>
          <a:lstStyle/>
          <a:p>
            <a:r>
              <a:rPr lang="en-US" b="1">
                <a:solidFill>
                  <a:schemeClr val="tx1"/>
                </a:solidFill>
              </a:rPr>
              <a:t>column</a:t>
            </a:r>
          </a:p>
          <a:p>
            <a:r>
              <a:rPr lang="en-US" b="1">
                <a:solidFill>
                  <a:schemeClr val="tx1"/>
                </a:solidFill>
              </a:rPr>
              <a:t>address</a:t>
            </a:r>
          </a:p>
        </p:txBody>
      </p:sp>
      <p:sp>
        <p:nvSpPr>
          <p:cNvPr id="1059879" name="Line 39"/>
          <p:cNvSpPr>
            <a:spLocks noChangeShapeType="1"/>
          </p:cNvSpPr>
          <p:nvPr/>
        </p:nvSpPr>
        <p:spPr bwMode="auto">
          <a:xfrm flipH="1">
            <a:off x="4953000" y="4800600"/>
            <a:ext cx="647700" cy="0"/>
          </a:xfrm>
          <a:prstGeom prst="line">
            <a:avLst/>
          </a:prstGeom>
          <a:noFill/>
          <a:ln w="38100" cmpd="dbl">
            <a:solidFill>
              <a:schemeClr val="tx1"/>
            </a:solidFill>
            <a:round/>
            <a:headEnd/>
            <a:tailEnd type="triangle" w="med" len="med"/>
          </a:ln>
          <a:effectLst/>
        </p:spPr>
        <p:txBody>
          <a:bodyPr wrap="none" anchor="ctr"/>
          <a:lstStyle/>
          <a:p>
            <a:endParaRPr lang="en-US"/>
          </a:p>
        </p:txBody>
      </p:sp>
      <p:sp>
        <p:nvSpPr>
          <p:cNvPr id="1059881" name="Line 41"/>
          <p:cNvSpPr>
            <a:spLocks noChangeShapeType="1"/>
          </p:cNvSpPr>
          <p:nvPr/>
        </p:nvSpPr>
        <p:spPr bwMode="auto">
          <a:xfrm flipV="1">
            <a:off x="4800600" y="1219200"/>
            <a:ext cx="0" cy="3327400"/>
          </a:xfrm>
          <a:prstGeom prst="line">
            <a:avLst/>
          </a:prstGeom>
          <a:noFill/>
          <a:ln w="50800">
            <a:solidFill>
              <a:schemeClr val="accent2"/>
            </a:solidFill>
            <a:round/>
            <a:headEnd/>
            <a:tailEnd/>
          </a:ln>
          <a:effectLst/>
        </p:spPr>
        <p:txBody>
          <a:bodyPr wrap="none" anchor="ctr"/>
          <a:lstStyle/>
          <a:p>
            <a:endParaRPr lang="en-US"/>
          </a:p>
        </p:txBody>
      </p:sp>
      <p:sp>
        <p:nvSpPr>
          <p:cNvPr id="1059882" name="Line 42"/>
          <p:cNvSpPr>
            <a:spLocks noChangeShapeType="1"/>
          </p:cNvSpPr>
          <p:nvPr/>
        </p:nvSpPr>
        <p:spPr bwMode="auto">
          <a:xfrm flipV="1">
            <a:off x="4038600" y="1219200"/>
            <a:ext cx="0" cy="3327400"/>
          </a:xfrm>
          <a:prstGeom prst="line">
            <a:avLst/>
          </a:prstGeom>
          <a:noFill/>
          <a:ln w="50800">
            <a:solidFill>
              <a:schemeClr val="accent2"/>
            </a:solidFill>
            <a:round/>
            <a:headEnd/>
            <a:tailEnd/>
          </a:ln>
          <a:effectLst/>
        </p:spPr>
        <p:txBody>
          <a:bodyPr wrap="none" anchor="ctr"/>
          <a:lstStyle/>
          <a:p>
            <a:endParaRPr lang="en-US"/>
          </a:p>
        </p:txBody>
      </p:sp>
      <p:sp>
        <p:nvSpPr>
          <p:cNvPr id="1059883" name="Line 43"/>
          <p:cNvSpPr>
            <a:spLocks noChangeShapeType="1"/>
          </p:cNvSpPr>
          <p:nvPr/>
        </p:nvSpPr>
        <p:spPr bwMode="auto">
          <a:xfrm flipV="1">
            <a:off x="3657600" y="1219200"/>
            <a:ext cx="0" cy="3327400"/>
          </a:xfrm>
          <a:prstGeom prst="line">
            <a:avLst/>
          </a:prstGeom>
          <a:noFill/>
          <a:ln w="50800">
            <a:solidFill>
              <a:schemeClr val="accent2"/>
            </a:solidFill>
            <a:round/>
            <a:headEnd/>
            <a:tailEnd/>
          </a:ln>
          <a:effectLst/>
        </p:spPr>
        <p:txBody>
          <a:bodyPr wrap="none" anchor="ctr"/>
          <a:lstStyle/>
          <a:p>
            <a:endParaRPr lang="en-US"/>
          </a:p>
        </p:txBody>
      </p:sp>
      <p:sp>
        <p:nvSpPr>
          <p:cNvPr id="1059884" name="AutoShape 44"/>
          <p:cNvSpPr>
            <a:spLocks/>
          </p:cNvSpPr>
          <p:nvPr/>
        </p:nvSpPr>
        <p:spPr bwMode="auto">
          <a:xfrm rot="-5400000">
            <a:off x="3398043" y="-335773"/>
            <a:ext cx="152384" cy="2805130"/>
          </a:xfrm>
          <a:prstGeom prst="rightBrace">
            <a:avLst>
              <a:gd name="adj1" fmla="val 75000"/>
              <a:gd name="adj2" fmla="val 50000"/>
            </a:avLst>
          </a:prstGeom>
          <a:noFill/>
          <a:ln w="12700">
            <a:solidFill>
              <a:schemeClr val="tx1"/>
            </a:solidFill>
            <a:round/>
            <a:headEnd/>
            <a:tailEnd/>
          </a:ln>
          <a:effectLst/>
        </p:spPr>
        <p:txBody>
          <a:bodyPr wrap="none" anchor="ctr"/>
          <a:lstStyle/>
          <a:p>
            <a:endParaRPr lang="en-US"/>
          </a:p>
        </p:txBody>
      </p:sp>
      <p:sp>
        <p:nvSpPr>
          <p:cNvPr id="1059885" name="Rectangle 45"/>
          <p:cNvSpPr>
            <a:spLocks noGrp="1" noChangeArrowheads="1"/>
          </p:cNvSpPr>
          <p:nvPr>
            <p:ph type="body" idx="1"/>
          </p:nvPr>
        </p:nvSpPr>
        <p:spPr>
          <a:xfrm>
            <a:off x="4495800" y="5181600"/>
            <a:ext cx="4343400" cy="1390650"/>
          </a:xfrm>
          <a:noFill/>
          <a:ln/>
        </p:spPr>
        <p:txBody>
          <a:bodyPr/>
          <a:lstStyle/>
          <a:p>
            <a:pPr>
              <a:lnSpc>
                <a:spcPct val="100000"/>
              </a:lnSpc>
              <a:spcBef>
                <a:spcPct val="0"/>
              </a:spcBef>
            </a:pPr>
            <a:r>
              <a:rPr lang="en-US" sz="2200"/>
              <a:t>One memory row holds a block of data, so the column address selects the requested </a:t>
            </a:r>
            <a:r>
              <a:rPr lang="en-US" sz="2200">
                <a:solidFill>
                  <a:schemeClr val="accent2"/>
                </a:solidFill>
              </a:rPr>
              <a:t>word</a:t>
            </a:r>
            <a:r>
              <a:rPr lang="en-US" sz="2200"/>
              <a:t> from that block</a:t>
            </a:r>
          </a:p>
        </p:txBody>
      </p:sp>
    </p:spTree>
    <p:extLst>
      <p:ext uri="{BB962C8B-B14F-4D97-AF65-F5344CB8AC3E}">
        <p14:creationId xmlns:p14="http://schemas.microsoft.com/office/powerpoint/2010/main" val="13719903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5988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5988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98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30" name="Rectangle 2"/>
          <p:cNvSpPr>
            <a:spLocks noGrp="1" noChangeArrowheads="1"/>
          </p:cNvSpPr>
          <p:nvPr>
            <p:ph type="title"/>
          </p:nvPr>
        </p:nvSpPr>
        <p:spPr>
          <a:xfrm>
            <a:off x="685800" y="263525"/>
            <a:ext cx="4732338" cy="368300"/>
          </a:xfrm>
          <a:noFill/>
          <a:ln/>
        </p:spPr>
        <p:txBody>
          <a:bodyPr wrap="none"/>
          <a:lstStyle/>
          <a:p>
            <a:r>
              <a:rPr lang="en-US"/>
              <a:t>How is the Hierarchy Managed?</a:t>
            </a:r>
          </a:p>
        </p:txBody>
      </p:sp>
      <p:sp>
        <p:nvSpPr>
          <p:cNvPr id="1097731" name="Rectangle 3"/>
          <p:cNvSpPr>
            <a:spLocks noGrp="1" noChangeArrowheads="1"/>
          </p:cNvSpPr>
          <p:nvPr>
            <p:ph type="body" idx="1"/>
          </p:nvPr>
        </p:nvSpPr>
        <p:spPr>
          <a:xfrm>
            <a:off x="838200" y="1219200"/>
            <a:ext cx="7886700" cy="3654425"/>
          </a:xfrm>
          <a:noFill/>
          <a:ln/>
        </p:spPr>
        <p:txBody>
          <a:bodyPr/>
          <a:lstStyle/>
          <a:p>
            <a:r>
              <a:rPr lang="en-US" dirty="0"/>
              <a:t>registers </a:t>
            </a:r>
            <a:r>
              <a:rPr lang="en-US" dirty="0">
                <a:sym typeface="Symbol" pitchFamily="18" charset="2"/>
              </a:rPr>
              <a:t></a:t>
            </a:r>
            <a:r>
              <a:rPr lang="en-US" dirty="0"/>
              <a:t> memory</a:t>
            </a:r>
          </a:p>
          <a:p>
            <a:pPr lvl="1"/>
            <a:r>
              <a:rPr lang="en-US" dirty="0"/>
              <a:t>by </a:t>
            </a:r>
            <a:r>
              <a:rPr lang="en-US" dirty="0" smtClean="0"/>
              <a:t>the compiler </a:t>
            </a:r>
            <a:r>
              <a:rPr lang="en-US" dirty="0"/>
              <a:t>(programmer?)</a:t>
            </a:r>
          </a:p>
          <a:p>
            <a:r>
              <a:rPr lang="en-US" dirty="0"/>
              <a:t>cache </a:t>
            </a:r>
            <a:r>
              <a:rPr lang="en-US" dirty="0">
                <a:sym typeface="Symbol" pitchFamily="18" charset="2"/>
              </a:rPr>
              <a:t></a:t>
            </a:r>
            <a:r>
              <a:rPr lang="en-US" dirty="0"/>
              <a:t> main memory</a:t>
            </a:r>
          </a:p>
          <a:p>
            <a:pPr lvl="1"/>
            <a:r>
              <a:rPr lang="en-US" dirty="0">
                <a:solidFill>
                  <a:schemeClr val="accent1"/>
                </a:solidFill>
              </a:rPr>
              <a:t>by the cache controller hardware</a:t>
            </a:r>
          </a:p>
          <a:p>
            <a:r>
              <a:rPr lang="en-US" dirty="0"/>
              <a:t>main memory </a:t>
            </a:r>
            <a:r>
              <a:rPr lang="en-US" dirty="0">
                <a:sym typeface="Symbol" pitchFamily="18" charset="2"/>
              </a:rPr>
              <a:t></a:t>
            </a:r>
            <a:r>
              <a:rPr lang="en-US" dirty="0"/>
              <a:t> disks</a:t>
            </a:r>
          </a:p>
          <a:p>
            <a:pPr lvl="1"/>
            <a:r>
              <a:rPr lang="en-US" dirty="0"/>
              <a:t>by the operating system (virtual memory)</a:t>
            </a:r>
          </a:p>
          <a:p>
            <a:pPr lvl="1"/>
            <a:r>
              <a:rPr lang="en-US" dirty="0"/>
              <a:t>virtual to physical address mapping assisted by the hardware (</a:t>
            </a:r>
            <a:r>
              <a:rPr lang="en-US" dirty="0">
                <a:solidFill>
                  <a:schemeClr val="accent1"/>
                </a:solidFill>
              </a:rPr>
              <a:t>TLB</a:t>
            </a:r>
            <a:r>
              <a:rPr lang="en-US" dirty="0"/>
              <a:t>)</a:t>
            </a:r>
          </a:p>
          <a:p>
            <a:pPr lvl="1"/>
            <a:r>
              <a:rPr lang="en-US" dirty="0"/>
              <a:t>by the programmer (files)</a:t>
            </a:r>
          </a:p>
        </p:txBody>
      </p:sp>
      <p:sp>
        <p:nvSpPr>
          <p:cNvPr id="1097732" name="Rectangle 4"/>
          <p:cNvSpPr>
            <a:spLocks noChangeArrowheads="1"/>
          </p:cNvSpPr>
          <p:nvPr/>
        </p:nvSpPr>
        <p:spPr bwMode="auto">
          <a:xfrm>
            <a:off x="685800" y="2057400"/>
            <a:ext cx="6019800" cy="914400"/>
          </a:xfrm>
          <a:prstGeom prst="rect">
            <a:avLst/>
          </a:prstGeom>
          <a:noFill/>
          <a:ln w="28575">
            <a:solidFill>
              <a:schemeClr val="accent2"/>
            </a:solidFill>
            <a:miter lim="800000"/>
            <a:headEnd/>
            <a:tailEnd/>
          </a:ln>
          <a:effectLst/>
        </p:spPr>
        <p:txBody>
          <a:bodyPr wrap="none" anchor="ctr"/>
          <a:lstStyle/>
          <a:p>
            <a:endParaRPr lang="en-US"/>
          </a:p>
        </p:txBody>
      </p:sp>
    </p:spTree>
    <p:extLst>
      <p:ext uri="{BB962C8B-B14F-4D97-AF65-F5344CB8AC3E}">
        <p14:creationId xmlns:p14="http://schemas.microsoft.com/office/powerpoint/2010/main" val="2669457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977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9773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9773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9773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9773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9773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9773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97731">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977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31" grpId="0" build="p"/>
      <p:bldP spid="10977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1426" name="Rectangle 2"/>
          <p:cNvSpPr>
            <a:spLocks noGrp="1" noChangeArrowheads="1"/>
          </p:cNvSpPr>
          <p:nvPr>
            <p:ph type="title"/>
          </p:nvPr>
        </p:nvSpPr>
        <p:spPr>
          <a:xfrm>
            <a:off x="533400" y="304800"/>
            <a:ext cx="7523163" cy="422275"/>
          </a:xfrm>
          <a:noFill/>
          <a:ln/>
        </p:spPr>
        <p:txBody>
          <a:bodyPr wrap="none"/>
          <a:lstStyle/>
          <a:p>
            <a:r>
              <a:rPr lang="en-US"/>
              <a:t>The Memory Hierarchy:  Why Does it Work?</a:t>
            </a:r>
          </a:p>
        </p:txBody>
      </p:sp>
      <p:sp>
        <p:nvSpPr>
          <p:cNvPr id="1511427" name="Rectangle 3"/>
          <p:cNvSpPr>
            <a:spLocks noGrp="1" noChangeArrowheads="1"/>
          </p:cNvSpPr>
          <p:nvPr>
            <p:ph type="body" idx="1"/>
          </p:nvPr>
        </p:nvSpPr>
        <p:spPr>
          <a:xfrm>
            <a:off x="419100" y="1143000"/>
            <a:ext cx="8191500" cy="3713837"/>
          </a:xfrm>
          <a:noFill/>
          <a:ln/>
        </p:spPr>
        <p:txBody>
          <a:bodyPr/>
          <a:lstStyle/>
          <a:p>
            <a:pPr>
              <a:lnSpc>
                <a:spcPct val="100000"/>
              </a:lnSpc>
              <a:spcBef>
                <a:spcPts val="600"/>
              </a:spcBef>
            </a:pPr>
            <a:r>
              <a:rPr lang="en-US" dirty="0">
                <a:solidFill>
                  <a:schemeClr val="accent1"/>
                </a:solidFill>
              </a:rPr>
              <a:t>Temporal Locality </a:t>
            </a:r>
            <a:r>
              <a:rPr lang="en-US" dirty="0" smtClean="0"/>
              <a:t>(locality </a:t>
            </a:r>
            <a:r>
              <a:rPr lang="en-US" dirty="0"/>
              <a:t>in </a:t>
            </a:r>
            <a:r>
              <a:rPr lang="en-US" dirty="0" smtClean="0"/>
              <a:t>time)</a:t>
            </a:r>
          </a:p>
          <a:p>
            <a:pPr lvl="1">
              <a:lnSpc>
                <a:spcPct val="100000"/>
              </a:lnSpc>
              <a:spcBef>
                <a:spcPts val="600"/>
              </a:spcBef>
            </a:pPr>
            <a:r>
              <a:rPr lang="en-US" dirty="0" smtClean="0"/>
              <a:t>If a memory location is referenced then it will tend to be referenced again soon</a:t>
            </a:r>
            <a:endParaRPr lang="en-US" dirty="0"/>
          </a:p>
          <a:p>
            <a:pPr lvl="1">
              <a:lnSpc>
                <a:spcPct val="100000"/>
              </a:lnSpc>
              <a:spcBef>
                <a:spcPts val="600"/>
              </a:spcBef>
              <a:buFont typeface="Monotype Sorts" pitchFamily="2" charset="2"/>
              <a:buNone/>
            </a:pPr>
            <a:r>
              <a:rPr lang="en-US" dirty="0" smtClean="0">
                <a:sym typeface="Symbol" pitchFamily="18" charset="2"/>
              </a:rPr>
              <a:t></a:t>
            </a:r>
            <a:r>
              <a:rPr lang="en-US" dirty="0" smtClean="0"/>
              <a:t> Keep </a:t>
            </a:r>
            <a:r>
              <a:rPr lang="en-US" dirty="0">
                <a:solidFill>
                  <a:schemeClr val="accent1"/>
                </a:solidFill>
              </a:rPr>
              <a:t>most recently accessed</a:t>
            </a:r>
            <a:r>
              <a:rPr lang="en-US" dirty="0"/>
              <a:t> data items closer to the </a:t>
            </a:r>
            <a:r>
              <a:rPr lang="en-US" dirty="0" smtClean="0"/>
              <a:t>processor</a:t>
            </a:r>
          </a:p>
          <a:p>
            <a:pPr lvl="1">
              <a:lnSpc>
                <a:spcPct val="100000"/>
              </a:lnSpc>
              <a:spcBef>
                <a:spcPts val="600"/>
              </a:spcBef>
              <a:buFont typeface="Monotype Sorts" pitchFamily="2" charset="2"/>
              <a:buNone/>
            </a:pPr>
            <a:endParaRPr lang="en-US" dirty="0"/>
          </a:p>
          <a:p>
            <a:pPr>
              <a:lnSpc>
                <a:spcPct val="100000"/>
              </a:lnSpc>
              <a:spcBef>
                <a:spcPts val="600"/>
              </a:spcBef>
            </a:pPr>
            <a:r>
              <a:rPr lang="en-US" dirty="0">
                <a:solidFill>
                  <a:schemeClr val="accent1"/>
                </a:solidFill>
              </a:rPr>
              <a:t>Spatial Locality </a:t>
            </a:r>
            <a:r>
              <a:rPr lang="en-US" dirty="0" smtClean="0"/>
              <a:t>(locality </a:t>
            </a:r>
            <a:r>
              <a:rPr lang="en-US" dirty="0"/>
              <a:t>in </a:t>
            </a:r>
            <a:r>
              <a:rPr lang="en-US" dirty="0" smtClean="0"/>
              <a:t>space)</a:t>
            </a:r>
          </a:p>
          <a:p>
            <a:pPr lvl="1">
              <a:lnSpc>
                <a:spcPct val="100000"/>
              </a:lnSpc>
              <a:spcBef>
                <a:spcPts val="600"/>
              </a:spcBef>
            </a:pPr>
            <a:r>
              <a:rPr lang="en-US" dirty="0" smtClean="0"/>
              <a:t>If a memory location is referenced, the locations with nearby addresses will tend to be referenced soon</a:t>
            </a:r>
            <a:endParaRPr lang="en-US" dirty="0"/>
          </a:p>
          <a:p>
            <a:pPr lvl="1">
              <a:lnSpc>
                <a:spcPct val="100000"/>
              </a:lnSpc>
              <a:spcBef>
                <a:spcPts val="600"/>
              </a:spcBef>
              <a:buFont typeface="Monotype Sorts" pitchFamily="2" charset="2"/>
              <a:buNone/>
            </a:pPr>
            <a:r>
              <a:rPr lang="en-US" dirty="0">
                <a:sym typeface="Symbol" pitchFamily="18" charset="2"/>
              </a:rPr>
              <a:t></a:t>
            </a:r>
            <a:r>
              <a:rPr lang="en-US" dirty="0"/>
              <a:t> Move blocks consisting of </a:t>
            </a:r>
            <a:r>
              <a:rPr lang="en-US" dirty="0">
                <a:solidFill>
                  <a:schemeClr val="accent1"/>
                </a:solidFill>
              </a:rPr>
              <a:t>contiguous words</a:t>
            </a:r>
            <a:r>
              <a:rPr lang="en-US" dirty="0"/>
              <a:t> </a:t>
            </a:r>
            <a:r>
              <a:rPr lang="en-US" dirty="0" smtClean="0"/>
              <a:t>closer to the processor </a:t>
            </a:r>
            <a:endParaRPr lang="en-US" dirty="0"/>
          </a:p>
        </p:txBody>
      </p:sp>
    </p:spTree>
    <p:extLst>
      <p:ext uri="{BB962C8B-B14F-4D97-AF65-F5344CB8AC3E}">
        <p14:creationId xmlns:p14="http://schemas.microsoft.com/office/powerpoint/2010/main" val="463495106"/>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ChangeArrowheads="1"/>
          </p:cNvSpPr>
          <p:nvPr/>
        </p:nvSpPr>
        <p:spPr bwMode="auto">
          <a:xfrm>
            <a:off x="609600" y="228600"/>
            <a:ext cx="4284663" cy="477838"/>
          </a:xfrm>
          <a:prstGeom prst="rect">
            <a:avLst/>
          </a:prstGeom>
          <a:noFill/>
          <a:ln w="12700">
            <a:noFill/>
            <a:miter lim="800000"/>
            <a:headEnd/>
            <a:tailEnd/>
          </a:ln>
          <a:effectLst/>
        </p:spPr>
        <p:txBody>
          <a:bodyPr wrap="none" anchor="ctr"/>
          <a:lstStyle/>
          <a:p>
            <a:endParaRPr lang="en-US"/>
          </a:p>
        </p:txBody>
      </p:sp>
      <p:sp>
        <p:nvSpPr>
          <p:cNvPr id="1091587" name="Rectangle 3"/>
          <p:cNvSpPr>
            <a:spLocks noGrp="1" noChangeArrowheads="1"/>
          </p:cNvSpPr>
          <p:nvPr>
            <p:ph type="title"/>
          </p:nvPr>
        </p:nvSpPr>
        <p:spPr>
          <a:noFill/>
          <a:ln/>
        </p:spPr>
        <p:txBody>
          <a:bodyPr lIns="90488" tIns="44450" rIns="90488" bIns="44450" anchor="ctr"/>
          <a:lstStyle/>
          <a:p>
            <a:r>
              <a:rPr lang="en-US"/>
              <a:t>The Memory Hierarchy</a:t>
            </a:r>
          </a:p>
        </p:txBody>
      </p:sp>
      <p:sp>
        <p:nvSpPr>
          <p:cNvPr id="1091588" name="AutoShape 4"/>
          <p:cNvSpPr>
            <a:spLocks noChangeArrowheads="1"/>
          </p:cNvSpPr>
          <p:nvPr/>
        </p:nvSpPr>
        <p:spPr bwMode="auto">
          <a:xfrm>
            <a:off x="2057400" y="2757488"/>
            <a:ext cx="4800600" cy="3200400"/>
          </a:xfrm>
          <a:prstGeom prst="triangle">
            <a:avLst>
              <a:gd name="adj" fmla="val 50000"/>
            </a:avLst>
          </a:prstGeom>
          <a:noFill/>
          <a:ln w="12700">
            <a:solidFill>
              <a:schemeClr val="tx1"/>
            </a:solidFill>
            <a:miter lim="800000"/>
            <a:headEnd/>
            <a:tailEnd/>
          </a:ln>
          <a:effectLst/>
        </p:spPr>
        <p:txBody>
          <a:bodyPr wrap="none" anchor="ctr"/>
          <a:lstStyle/>
          <a:p>
            <a:endParaRPr lang="en-US"/>
          </a:p>
        </p:txBody>
      </p:sp>
      <p:sp>
        <p:nvSpPr>
          <p:cNvPr id="1091589" name="Line 5"/>
          <p:cNvSpPr>
            <a:spLocks noChangeShapeType="1"/>
          </p:cNvSpPr>
          <p:nvPr/>
        </p:nvSpPr>
        <p:spPr bwMode="auto">
          <a:xfrm>
            <a:off x="3886200" y="3519488"/>
            <a:ext cx="1143000" cy="0"/>
          </a:xfrm>
          <a:prstGeom prst="line">
            <a:avLst/>
          </a:prstGeom>
          <a:noFill/>
          <a:ln w="12700">
            <a:solidFill>
              <a:schemeClr val="tx1"/>
            </a:solidFill>
            <a:round/>
            <a:headEnd/>
            <a:tailEnd/>
          </a:ln>
          <a:effectLst/>
        </p:spPr>
        <p:txBody>
          <a:bodyPr/>
          <a:lstStyle/>
          <a:p>
            <a:endParaRPr lang="en-US"/>
          </a:p>
        </p:txBody>
      </p:sp>
      <p:sp>
        <p:nvSpPr>
          <p:cNvPr id="1091591" name="Text Box 7"/>
          <p:cNvSpPr txBox="1">
            <a:spLocks noChangeArrowheads="1"/>
          </p:cNvSpPr>
          <p:nvPr/>
        </p:nvSpPr>
        <p:spPr bwMode="auto">
          <a:xfrm>
            <a:off x="3929058" y="2928934"/>
            <a:ext cx="1023942" cy="646331"/>
          </a:xfrm>
          <a:prstGeom prst="rect">
            <a:avLst/>
          </a:prstGeom>
          <a:noFill/>
          <a:ln w="12700">
            <a:noFill/>
            <a:miter lim="800000"/>
            <a:headEnd/>
            <a:tailEnd/>
          </a:ln>
          <a:effectLst/>
        </p:spPr>
        <p:txBody>
          <a:bodyPr wrap="square">
            <a:spAutoFit/>
          </a:bodyPr>
          <a:lstStyle/>
          <a:p>
            <a:pPr algn="ctr"/>
            <a:r>
              <a:rPr lang="en-US" b="1" dirty="0">
                <a:solidFill>
                  <a:schemeClr val="tx1"/>
                </a:solidFill>
              </a:rPr>
              <a:t>L1</a:t>
            </a:r>
            <a:r>
              <a:rPr lang="en-US" b="1" dirty="0" smtClean="0">
                <a:solidFill>
                  <a:schemeClr val="tx1"/>
                </a:solidFill>
              </a:rPr>
              <a:t>$ (SRAM)</a:t>
            </a:r>
            <a:endParaRPr lang="en-US" b="1" dirty="0">
              <a:solidFill>
                <a:schemeClr val="tx1"/>
              </a:solidFill>
            </a:endParaRPr>
          </a:p>
        </p:txBody>
      </p:sp>
      <p:sp>
        <p:nvSpPr>
          <p:cNvPr id="1091592" name="Line 8"/>
          <p:cNvSpPr>
            <a:spLocks noChangeShapeType="1"/>
          </p:cNvSpPr>
          <p:nvPr/>
        </p:nvSpPr>
        <p:spPr bwMode="auto">
          <a:xfrm>
            <a:off x="3352800" y="4281488"/>
            <a:ext cx="2209800" cy="0"/>
          </a:xfrm>
          <a:prstGeom prst="line">
            <a:avLst/>
          </a:prstGeom>
          <a:noFill/>
          <a:ln w="12700">
            <a:solidFill>
              <a:schemeClr val="tx1"/>
            </a:solidFill>
            <a:round/>
            <a:headEnd/>
            <a:tailEnd/>
          </a:ln>
          <a:effectLst/>
        </p:spPr>
        <p:txBody>
          <a:bodyPr/>
          <a:lstStyle/>
          <a:p>
            <a:endParaRPr lang="en-US"/>
          </a:p>
        </p:txBody>
      </p:sp>
      <p:sp>
        <p:nvSpPr>
          <p:cNvPr id="1091593" name="Line 9"/>
          <p:cNvSpPr>
            <a:spLocks noChangeShapeType="1"/>
          </p:cNvSpPr>
          <p:nvPr/>
        </p:nvSpPr>
        <p:spPr bwMode="auto">
          <a:xfrm>
            <a:off x="2743200" y="5043488"/>
            <a:ext cx="3429000" cy="0"/>
          </a:xfrm>
          <a:prstGeom prst="line">
            <a:avLst/>
          </a:prstGeom>
          <a:noFill/>
          <a:ln w="12700">
            <a:solidFill>
              <a:schemeClr val="tx1"/>
            </a:solidFill>
            <a:round/>
            <a:headEnd/>
            <a:tailEnd/>
          </a:ln>
          <a:effectLst/>
        </p:spPr>
        <p:txBody>
          <a:bodyPr/>
          <a:lstStyle/>
          <a:p>
            <a:endParaRPr lang="en-US"/>
          </a:p>
        </p:txBody>
      </p:sp>
      <p:sp>
        <p:nvSpPr>
          <p:cNvPr id="1091594" name="Text Box 10"/>
          <p:cNvSpPr txBox="1">
            <a:spLocks noChangeArrowheads="1"/>
          </p:cNvSpPr>
          <p:nvPr/>
        </p:nvSpPr>
        <p:spPr bwMode="auto">
          <a:xfrm>
            <a:off x="3786182" y="3748088"/>
            <a:ext cx="1500198" cy="369332"/>
          </a:xfrm>
          <a:prstGeom prst="rect">
            <a:avLst/>
          </a:prstGeom>
          <a:noFill/>
          <a:ln w="12700">
            <a:noFill/>
            <a:miter lim="800000"/>
            <a:headEnd/>
            <a:tailEnd/>
          </a:ln>
          <a:effectLst/>
        </p:spPr>
        <p:txBody>
          <a:bodyPr wrap="square">
            <a:spAutoFit/>
          </a:bodyPr>
          <a:lstStyle/>
          <a:p>
            <a:r>
              <a:rPr lang="en-US" b="1" dirty="0">
                <a:solidFill>
                  <a:schemeClr val="tx1"/>
                </a:solidFill>
              </a:rPr>
              <a:t>L2</a:t>
            </a:r>
            <a:r>
              <a:rPr lang="en-US" b="1" dirty="0" smtClean="0">
                <a:solidFill>
                  <a:schemeClr val="tx1"/>
                </a:solidFill>
              </a:rPr>
              <a:t>$ (SRAM)</a:t>
            </a:r>
            <a:endParaRPr lang="en-US" b="1" dirty="0">
              <a:solidFill>
                <a:schemeClr val="tx1"/>
              </a:solidFill>
            </a:endParaRPr>
          </a:p>
        </p:txBody>
      </p:sp>
      <p:sp>
        <p:nvSpPr>
          <p:cNvPr id="1091595" name="Text Box 11"/>
          <p:cNvSpPr txBox="1">
            <a:spLocks noChangeArrowheads="1"/>
          </p:cNvSpPr>
          <p:nvPr/>
        </p:nvSpPr>
        <p:spPr bwMode="auto">
          <a:xfrm>
            <a:off x="3214678" y="4510088"/>
            <a:ext cx="2647960" cy="369332"/>
          </a:xfrm>
          <a:prstGeom prst="rect">
            <a:avLst/>
          </a:prstGeom>
          <a:noFill/>
          <a:ln w="12700">
            <a:noFill/>
            <a:miter lim="800000"/>
            <a:headEnd/>
            <a:tailEnd/>
          </a:ln>
          <a:effectLst/>
        </p:spPr>
        <p:txBody>
          <a:bodyPr wrap="square">
            <a:spAutoFit/>
          </a:bodyPr>
          <a:lstStyle/>
          <a:p>
            <a:pPr algn="ctr"/>
            <a:r>
              <a:rPr lang="en-US" b="1" dirty="0">
                <a:solidFill>
                  <a:schemeClr val="tx1"/>
                </a:solidFill>
              </a:rPr>
              <a:t>Main </a:t>
            </a:r>
            <a:r>
              <a:rPr lang="en-US" b="1" dirty="0" smtClean="0">
                <a:solidFill>
                  <a:schemeClr val="tx1"/>
                </a:solidFill>
              </a:rPr>
              <a:t>Memory (DRAM)</a:t>
            </a:r>
            <a:endParaRPr lang="en-US" b="1" dirty="0">
              <a:solidFill>
                <a:schemeClr val="tx1"/>
              </a:solidFill>
            </a:endParaRPr>
          </a:p>
        </p:txBody>
      </p:sp>
      <p:sp>
        <p:nvSpPr>
          <p:cNvPr id="1091596" name="Text Box 12"/>
          <p:cNvSpPr txBox="1">
            <a:spLocks noChangeArrowheads="1"/>
          </p:cNvSpPr>
          <p:nvPr/>
        </p:nvSpPr>
        <p:spPr bwMode="auto">
          <a:xfrm>
            <a:off x="2909886" y="5424488"/>
            <a:ext cx="3233750" cy="369332"/>
          </a:xfrm>
          <a:prstGeom prst="rect">
            <a:avLst/>
          </a:prstGeom>
          <a:noFill/>
          <a:ln w="12700">
            <a:noFill/>
            <a:miter lim="800000"/>
            <a:headEnd/>
            <a:tailEnd/>
          </a:ln>
          <a:effectLst/>
        </p:spPr>
        <p:txBody>
          <a:bodyPr wrap="square">
            <a:spAutoFit/>
          </a:bodyPr>
          <a:lstStyle/>
          <a:p>
            <a:pPr algn="ctr"/>
            <a:r>
              <a:rPr lang="en-US" b="1" dirty="0">
                <a:solidFill>
                  <a:schemeClr val="tx1"/>
                </a:solidFill>
              </a:rPr>
              <a:t>Secondary  </a:t>
            </a:r>
            <a:r>
              <a:rPr lang="en-US" b="1" dirty="0" smtClean="0">
                <a:solidFill>
                  <a:schemeClr val="tx1"/>
                </a:solidFill>
              </a:rPr>
              <a:t>Memory (Disks)</a:t>
            </a:r>
            <a:endParaRPr lang="en-US" b="1" dirty="0">
              <a:solidFill>
                <a:schemeClr val="tx1"/>
              </a:solidFill>
            </a:endParaRPr>
          </a:p>
        </p:txBody>
      </p:sp>
      <p:grpSp>
        <p:nvGrpSpPr>
          <p:cNvPr id="2" name="Group 31"/>
          <p:cNvGrpSpPr>
            <a:grpSpLocks/>
          </p:cNvGrpSpPr>
          <p:nvPr/>
        </p:nvGrpSpPr>
        <p:grpSpPr bwMode="auto">
          <a:xfrm>
            <a:off x="457200" y="2743200"/>
            <a:ext cx="1447800" cy="3138488"/>
            <a:chOff x="288" y="1728"/>
            <a:chExt cx="912" cy="1977"/>
          </a:xfrm>
        </p:grpSpPr>
        <p:sp>
          <p:nvSpPr>
            <p:cNvPr id="1091590" name="Text Box 6"/>
            <p:cNvSpPr txBox="1">
              <a:spLocks noChangeArrowheads="1"/>
            </p:cNvSpPr>
            <p:nvPr/>
          </p:nvSpPr>
          <p:spPr bwMode="auto">
            <a:xfrm>
              <a:off x="288" y="1929"/>
              <a:ext cx="912" cy="923"/>
            </a:xfrm>
            <a:prstGeom prst="rect">
              <a:avLst/>
            </a:prstGeom>
            <a:noFill/>
            <a:ln w="12700">
              <a:noFill/>
              <a:miter lim="800000"/>
              <a:headEnd/>
              <a:tailEnd/>
            </a:ln>
            <a:effectLst/>
          </p:spPr>
          <p:txBody>
            <a:bodyPr>
              <a:spAutoFit/>
            </a:bodyPr>
            <a:lstStyle/>
            <a:p>
              <a:r>
                <a:rPr lang="en-US">
                  <a:solidFill>
                    <a:schemeClr val="tx1"/>
                  </a:solidFill>
                </a:rPr>
                <a:t>Increasing distance from the processor in </a:t>
              </a:r>
              <a:r>
                <a:rPr lang="en-US"/>
                <a:t>access</a:t>
              </a:r>
              <a:r>
                <a:rPr lang="en-US">
                  <a:solidFill>
                    <a:schemeClr val="tx1"/>
                  </a:solidFill>
                </a:rPr>
                <a:t> time</a:t>
              </a:r>
            </a:p>
          </p:txBody>
        </p:sp>
        <p:sp>
          <p:nvSpPr>
            <p:cNvPr id="1091597" name="Line 13"/>
            <p:cNvSpPr>
              <a:spLocks noChangeShapeType="1"/>
            </p:cNvSpPr>
            <p:nvPr/>
          </p:nvSpPr>
          <p:spPr bwMode="auto">
            <a:xfrm>
              <a:off x="1200" y="1728"/>
              <a:ext cx="0" cy="1977"/>
            </a:xfrm>
            <a:prstGeom prst="line">
              <a:avLst/>
            </a:prstGeom>
            <a:noFill/>
            <a:ln w="12700">
              <a:solidFill>
                <a:schemeClr val="tx1"/>
              </a:solidFill>
              <a:round/>
              <a:headEnd/>
              <a:tailEnd type="triangle" w="med" len="med"/>
            </a:ln>
            <a:effectLst/>
          </p:spPr>
          <p:txBody>
            <a:bodyPr/>
            <a:lstStyle/>
            <a:p>
              <a:endParaRPr lang="en-US"/>
            </a:p>
          </p:txBody>
        </p:sp>
      </p:grpSp>
      <p:sp>
        <p:nvSpPr>
          <p:cNvPr id="1091598" name="Text Box 14"/>
          <p:cNvSpPr txBox="1">
            <a:spLocks noChangeArrowheads="1"/>
          </p:cNvSpPr>
          <p:nvPr/>
        </p:nvSpPr>
        <p:spPr bwMode="auto">
          <a:xfrm>
            <a:off x="3886200" y="2147888"/>
            <a:ext cx="1301750" cy="366712"/>
          </a:xfrm>
          <a:prstGeom prst="rect">
            <a:avLst/>
          </a:prstGeom>
          <a:noFill/>
          <a:ln w="12700">
            <a:noFill/>
            <a:miter lim="800000"/>
            <a:headEnd/>
            <a:tailEnd/>
          </a:ln>
          <a:effectLst/>
        </p:spPr>
        <p:txBody>
          <a:bodyPr wrap="none">
            <a:spAutoFit/>
          </a:bodyPr>
          <a:lstStyle/>
          <a:p>
            <a:r>
              <a:rPr lang="en-US" b="1">
                <a:solidFill>
                  <a:schemeClr val="tx1"/>
                </a:solidFill>
              </a:rPr>
              <a:t>Processor</a:t>
            </a:r>
          </a:p>
        </p:txBody>
      </p:sp>
      <p:grpSp>
        <p:nvGrpSpPr>
          <p:cNvPr id="3" name="Group 32"/>
          <p:cNvGrpSpPr>
            <a:grpSpLocks/>
          </p:cNvGrpSpPr>
          <p:nvPr/>
        </p:nvGrpSpPr>
        <p:grpSpPr bwMode="auto">
          <a:xfrm>
            <a:off x="2057400" y="6186488"/>
            <a:ext cx="4800600" cy="442912"/>
            <a:chOff x="1296" y="3897"/>
            <a:chExt cx="3024" cy="279"/>
          </a:xfrm>
        </p:grpSpPr>
        <p:sp>
          <p:nvSpPr>
            <p:cNvPr id="1091599" name="Line 15"/>
            <p:cNvSpPr>
              <a:spLocks noChangeShapeType="1"/>
            </p:cNvSpPr>
            <p:nvPr/>
          </p:nvSpPr>
          <p:spPr bwMode="auto">
            <a:xfrm>
              <a:off x="1296" y="3897"/>
              <a:ext cx="3024" cy="0"/>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091600" name="Text Box 16"/>
            <p:cNvSpPr txBox="1">
              <a:spLocks noChangeArrowheads="1"/>
            </p:cNvSpPr>
            <p:nvPr/>
          </p:nvSpPr>
          <p:spPr bwMode="auto">
            <a:xfrm>
              <a:off x="1344" y="3945"/>
              <a:ext cx="2976" cy="231"/>
            </a:xfrm>
            <a:prstGeom prst="rect">
              <a:avLst/>
            </a:prstGeom>
            <a:noFill/>
            <a:ln w="12700">
              <a:noFill/>
              <a:miter lim="800000"/>
              <a:headEnd/>
              <a:tailEnd/>
            </a:ln>
            <a:effectLst/>
          </p:spPr>
          <p:txBody>
            <a:bodyPr>
              <a:spAutoFit/>
            </a:bodyPr>
            <a:lstStyle/>
            <a:p>
              <a:pPr algn="ctr"/>
              <a:r>
                <a:rPr lang="en-US">
                  <a:solidFill>
                    <a:schemeClr val="tx1"/>
                  </a:solidFill>
                </a:rPr>
                <a:t>(Relative) size of the memory at each level</a:t>
              </a:r>
            </a:p>
          </p:txBody>
        </p:sp>
      </p:grpSp>
      <p:grpSp>
        <p:nvGrpSpPr>
          <p:cNvPr id="4" name="Group 17"/>
          <p:cNvGrpSpPr>
            <a:grpSpLocks/>
          </p:cNvGrpSpPr>
          <p:nvPr/>
        </p:nvGrpSpPr>
        <p:grpSpPr bwMode="auto">
          <a:xfrm>
            <a:off x="7010400" y="2667000"/>
            <a:ext cx="1752600" cy="3214688"/>
            <a:chOff x="4416" y="864"/>
            <a:chExt cx="1104" cy="2304"/>
          </a:xfrm>
        </p:grpSpPr>
        <p:sp>
          <p:nvSpPr>
            <p:cNvPr id="1091602" name="Line 18"/>
            <p:cNvSpPr>
              <a:spLocks noChangeShapeType="1"/>
            </p:cNvSpPr>
            <p:nvPr/>
          </p:nvSpPr>
          <p:spPr bwMode="auto">
            <a:xfrm>
              <a:off x="4416" y="960"/>
              <a:ext cx="0" cy="2208"/>
            </a:xfrm>
            <a:prstGeom prst="line">
              <a:avLst/>
            </a:prstGeom>
            <a:noFill/>
            <a:ln w="12700">
              <a:solidFill>
                <a:schemeClr val="tx1"/>
              </a:solidFill>
              <a:round/>
              <a:headEnd/>
              <a:tailEnd type="triangle" w="med" len="med"/>
            </a:ln>
            <a:effectLst/>
          </p:spPr>
          <p:txBody>
            <a:bodyPr/>
            <a:lstStyle/>
            <a:p>
              <a:endParaRPr lang="en-US"/>
            </a:p>
          </p:txBody>
        </p:sp>
        <p:sp>
          <p:nvSpPr>
            <p:cNvPr id="1091603" name="Text Box 19"/>
            <p:cNvSpPr txBox="1">
              <a:spLocks noChangeArrowheads="1"/>
            </p:cNvSpPr>
            <p:nvPr/>
          </p:nvSpPr>
          <p:spPr bwMode="auto">
            <a:xfrm>
              <a:off x="4416" y="864"/>
              <a:ext cx="1104" cy="1641"/>
            </a:xfrm>
            <a:prstGeom prst="rect">
              <a:avLst/>
            </a:prstGeom>
            <a:noFill/>
            <a:ln w="12700">
              <a:noFill/>
              <a:miter lim="800000"/>
              <a:headEnd/>
              <a:tailEnd/>
            </a:ln>
            <a:effectLst/>
          </p:spPr>
          <p:txBody>
            <a:bodyPr>
              <a:spAutoFit/>
            </a:bodyPr>
            <a:lstStyle/>
            <a:p>
              <a:r>
                <a:rPr lang="en-US"/>
                <a:t>Inclusive</a:t>
              </a:r>
              <a:r>
                <a:rPr lang="en-US">
                  <a:solidFill>
                    <a:schemeClr val="tx1"/>
                  </a:solidFill>
                </a:rPr>
                <a:t>– what is in L1$ is a subset of what is in L2$  is a subset of what is in MM that is a subset of is in SM</a:t>
              </a:r>
            </a:p>
          </p:txBody>
        </p:sp>
      </p:grpSp>
      <p:grpSp>
        <p:nvGrpSpPr>
          <p:cNvPr id="5" name="Group 20"/>
          <p:cNvGrpSpPr>
            <a:grpSpLocks/>
          </p:cNvGrpSpPr>
          <p:nvPr/>
        </p:nvGrpSpPr>
        <p:grpSpPr bwMode="auto">
          <a:xfrm>
            <a:off x="4495800" y="2452688"/>
            <a:ext cx="0" cy="2895600"/>
            <a:chOff x="2832" y="1065"/>
            <a:chExt cx="0" cy="1824"/>
          </a:xfrm>
        </p:grpSpPr>
        <p:sp>
          <p:nvSpPr>
            <p:cNvPr id="1091605" name="Line 21"/>
            <p:cNvSpPr>
              <a:spLocks noChangeShapeType="1"/>
            </p:cNvSpPr>
            <p:nvPr/>
          </p:nvSpPr>
          <p:spPr bwMode="auto">
            <a:xfrm>
              <a:off x="2832" y="1065"/>
              <a:ext cx="0" cy="192"/>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091606" name="Line 22"/>
            <p:cNvSpPr>
              <a:spLocks noChangeShapeType="1"/>
            </p:cNvSpPr>
            <p:nvPr/>
          </p:nvSpPr>
          <p:spPr bwMode="auto">
            <a:xfrm>
              <a:off x="2832" y="1641"/>
              <a:ext cx="0" cy="192"/>
            </a:xfrm>
            <a:prstGeom prst="line">
              <a:avLst/>
            </a:prstGeom>
            <a:noFill/>
            <a:ln w="19050">
              <a:solidFill>
                <a:schemeClr val="tx1"/>
              </a:solidFill>
              <a:round/>
              <a:headEnd type="triangle" w="med" len="med"/>
              <a:tailEnd type="triangle" w="med" len="med"/>
            </a:ln>
            <a:effectLst/>
          </p:spPr>
          <p:txBody>
            <a:bodyPr/>
            <a:lstStyle/>
            <a:p>
              <a:endParaRPr lang="en-US"/>
            </a:p>
          </p:txBody>
        </p:sp>
        <p:sp>
          <p:nvSpPr>
            <p:cNvPr id="1091607" name="Line 23"/>
            <p:cNvSpPr>
              <a:spLocks noChangeShapeType="1"/>
            </p:cNvSpPr>
            <p:nvPr/>
          </p:nvSpPr>
          <p:spPr bwMode="auto">
            <a:xfrm>
              <a:off x="2832" y="2553"/>
              <a:ext cx="0" cy="336"/>
            </a:xfrm>
            <a:prstGeom prst="line">
              <a:avLst/>
            </a:prstGeom>
            <a:noFill/>
            <a:ln w="38100">
              <a:solidFill>
                <a:schemeClr val="tx1"/>
              </a:solidFill>
              <a:round/>
              <a:headEnd type="triangle" w="med" len="med"/>
              <a:tailEnd type="triangle" w="med" len="med"/>
            </a:ln>
            <a:effectLst/>
          </p:spPr>
          <p:txBody>
            <a:bodyPr/>
            <a:lstStyle/>
            <a:p>
              <a:endParaRPr lang="en-US"/>
            </a:p>
          </p:txBody>
        </p:sp>
        <p:sp>
          <p:nvSpPr>
            <p:cNvPr id="1091608" name="Line 24"/>
            <p:cNvSpPr>
              <a:spLocks noChangeShapeType="1"/>
            </p:cNvSpPr>
            <p:nvPr/>
          </p:nvSpPr>
          <p:spPr bwMode="auto">
            <a:xfrm>
              <a:off x="2832" y="2121"/>
              <a:ext cx="0" cy="192"/>
            </a:xfrm>
            <a:prstGeom prst="line">
              <a:avLst/>
            </a:prstGeom>
            <a:noFill/>
            <a:ln w="19050">
              <a:solidFill>
                <a:schemeClr val="tx1"/>
              </a:solidFill>
              <a:round/>
              <a:headEnd type="triangle" w="med" len="med"/>
              <a:tailEnd type="triangle" w="med" len="med"/>
            </a:ln>
            <a:effectLst/>
          </p:spPr>
          <p:txBody>
            <a:bodyPr/>
            <a:lstStyle/>
            <a:p>
              <a:endParaRPr lang="en-US"/>
            </a:p>
          </p:txBody>
        </p:sp>
      </p:grpSp>
      <p:grpSp>
        <p:nvGrpSpPr>
          <p:cNvPr id="6" name="Group 25"/>
          <p:cNvGrpSpPr>
            <a:grpSpLocks/>
          </p:cNvGrpSpPr>
          <p:nvPr/>
        </p:nvGrpSpPr>
        <p:grpSpPr bwMode="auto">
          <a:xfrm>
            <a:off x="4495800" y="2476500"/>
            <a:ext cx="3203575" cy="2827338"/>
            <a:chOff x="2832" y="1080"/>
            <a:chExt cx="2018" cy="1781"/>
          </a:xfrm>
        </p:grpSpPr>
        <p:sp>
          <p:nvSpPr>
            <p:cNvPr id="1091610" name="Text Box 26"/>
            <p:cNvSpPr txBox="1">
              <a:spLocks noChangeArrowheads="1"/>
            </p:cNvSpPr>
            <p:nvPr/>
          </p:nvSpPr>
          <p:spPr bwMode="auto">
            <a:xfrm>
              <a:off x="2832" y="1080"/>
              <a:ext cx="1042" cy="212"/>
            </a:xfrm>
            <a:prstGeom prst="rect">
              <a:avLst/>
            </a:prstGeom>
            <a:noFill/>
            <a:ln w="12700">
              <a:noFill/>
              <a:miter lim="800000"/>
              <a:headEnd/>
              <a:tailEnd/>
            </a:ln>
            <a:effectLst/>
          </p:spPr>
          <p:txBody>
            <a:bodyPr wrap="none">
              <a:spAutoFit/>
            </a:bodyPr>
            <a:lstStyle/>
            <a:p>
              <a:r>
                <a:rPr lang="en-US" sz="1600">
                  <a:solidFill>
                    <a:schemeClr val="tx1"/>
                  </a:solidFill>
                </a:rPr>
                <a:t>4-8 bytes (</a:t>
              </a:r>
              <a:r>
                <a:rPr lang="en-US" sz="1600"/>
                <a:t>word</a:t>
              </a:r>
              <a:r>
                <a:rPr lang="en-US" sz="1600">
                  <a:solidFill>
                    <a:schemeClr val="tx1"/>
                  </a:solidFill>
                </a:rPr>
                <a:t>)</a:t>
              </a:r>
            </a:p>
          </p:txBody>
        </p:sp>
        <p:sp>
          <p:nvSpPr>
            <p:cNvPr id="1091611" name="Text Box 27"/>
            <p:cNvSpPr txBox="1">
              <a:spLocks noChangeArrowheads="1"/>
            </p:cNvSpPr>
            <p:nvPr/>
          </p:nvSpPr>
          <p:spPr bwMode="auto">
            <a:xfrm>
              <a:off x="2832" y="2169"/>
              <a:ext cx="1008" cy="212"/>
            </a:xfrm>
            <a:prstGeom prst="rect">
              <a:avLst/>
            </a:prstGeom>
            <a:noFill/>
            <a:ln w="12700">
              <a:noFill/>
              <a:miter lim="800000"/>
              <a:headEnd/>
              <a:tailEnd/>
            </a:ln>
            <a:effectLst/>
          </p:spPr>
          <p:txBody>
            <a:bodyPr>
              <a:spAutoFit/>
            </a:bodyPr>
            <a:lstStyle/>
            <a:p>
              <a:r>
                <a:rPr lang="en-US" sz="1600">
                  <a:solidFill>
                    <a:schemeClr val="tx1"/>
                  </a:solidFill>
                </a:rPr>
                <a:t>1 to 4 blocks</a:t>
              </a:r>
            </a:p>
          </p:txBody>
        </p:sp>
        <p:sp>
          <p:nvSpPr>
            <p:cNvPr id="1091612" name="Text Box 28"/>
            <p:cNvSpPr txBox="1">
              <a:spLocks noChangeArrowheads="1"/>
            </p:cNvSpPr>
            <p:nvPr/>
          </p:nvSpPr>
          <p:spPr bwMode="auto">
            <a:xfrm>
              <a:off x="2832" y="2649"/>
              <a:ext cx="2018" cy="212"/>
            </a:xfrm>
            <a:prstGeom prst="rect">
              <a:avLst/>
            </a:prstGeom>
            <a:noFill/>
            <a:ln w="12700">
              <a:noFill/>
              <a:miter lim="800000"/>
              <a:headEnd/>
              <a:tailEnd/>
            </a:ln>
            <a:effectLst/>
          </p:spPr>
          <p:txBody>
            <a:bodyPr wrap="none">
              <a:spAutoFit/>
            </a:bodyPr>
            <a:lstStyle/>
            <a:p>
              <a:r>
                <a:rPr lang="en-US" sz="1600">
                  <a:solidFill>
                    <a:schemeClr val="tx1"/>
                  </a:solidFill>
                </a:rPr>
                <a:t>1,024+ bytes (</a:t>
              </a:r>
              <a:r>
                <a:rPr lang="en-US" sz="1600"/>
                <a:t>disk sector = page</a:t>
              </a:r>
              <a:r>
                <a:rPr lang="en-US" sz="1600">
                  <a:solidFill>
                    <a:schemeClr val="tx1"/>
                  </a:solidFill>
                </a:rPr>
                <a:t>)</a:t>
              </a:r>
            </a:p>
          </p:txBody>
        </p:sp>
        <p:sp>
          <p:nvSpPr>
            <p:cNvPr id="1091613" name="Text Box 29"/>
            <p:cNvSpPr txBox="1">
              <a:spLocks noChangeArrowheads="1"/>
            </p:cNvSpPr>
            <p:nvPr/>
          </p:nvSpPr>
          <p:spPr bwMode="auto">
            <a:xfrm>
              <a:off x="2832" y="1689"/>
              <a:ext cx="1152" cy="212"/>
            </a:xfrm>
            <a:prstGeom prst="rect">
              <a:avLst/>
            </a:prstGeom>
            <a:noFill/>
            <a:ln w="12700">
              <a:noFill/>
              <a:miter lim="800000"/>
              <a:headEnd/>
              <a:tailEnd/>
            </a:ln>
            <a:effectLst/>
          </p:spPr>
          <p:txBody>
            <a:bodyPr>
              <a:spAutoFit/>
            </a:bodyPr>
            <a:lstStyle/>
            <a:p>
              <a:r>
                <a:rPr lang="en-US" sz="1600">
                  <a:solidFill>
                    <a:schemeClr val="tx1"/>
                  </a:solidFill>
                </a:rPr>
                <a:t>8-32 bytes (</a:t>
              </a:r>
              <a:r>
                <a:rPr lang="en-US" sz="1600"/>
                <a:t>block</a:t>
              </a:r>
              <a:r>
                <a:rPr lang="en-US" sz="1600">
                  <a:solidFill>
                    <a:schemeClr val="tx1"/>
                  </a:solidFill>
                </a:rPr>
                <a:t>)</a:t>
              </a:r>
            </a:p>
          </p:txBody>
        </p:sp>
      </p:grpSp>
      <p:sp>
        <p:nvSpPr>
          <p:cNvPr id="1091614" name="Rectangle 30"/>
          <p:cNvSpPr>
            <a:spLocks noChangeArrowheads="1"/>
          </p:cNvSpPr>
          <p:nvPr/>
        </p:nvSpPr>
        <p:spPr bwMode="auto">
          <a:xfrm>
            <a:off x="457200" y="762000"/>
            <a:ext cx="8382000" cy="1159292"/>
          </a:xfrm>
          <a:prstGeom prst="rect">
            <a:avLst/>
          </a:prstGeom>
          <a:noFill/>
          <a:ln w="12700">
            <a:noFill/>
            <a:miter lim="800000"/>
            <a:headEnd/>
            <a:tailEnd/>
          </a:ln>
          <a:effectLst/>
        </p:spPr>
        <p:txBody>
          <a:bodyPr lIns="63500" tIns="25400" rIns="63500" bIns="25400">
            <a:spAutoFit/>
          </a:bodyPr>
          <a:lstStyle/>
          <a:p>
            <a:pPr marL="287338" indent="-287338">
              <a:spcBef>
                <a:spcPct val="30000"/>
              </a:spcBef>
              <a:buClr>
                <a:schemeClr val="accent1"/>
              </a:buClr>
              <a:buSzPct val="75000"/>
              <a:buFont typeface="Wingdings" pitchFamily="2" charset="2"/>
              <a:buChar char="q"/>
            </a:pPr>
            <a:r>
              <a:rPr lang="en-US" sz="2400" dirty="0">
                <a:solidFill>
                  <a:schemeClr val="tx1"/>
                </a:solidFill>
              </a:rPr>
              <a:t>Take advantage of the </a:t>
            </a:r>
            <a:r>
              <a:rPr lang="en-US" sz="2400" dirty="0"/>
              <a:t>principle of locality</a:t>
            </a:r>
            <a:r>
              <a:rPr lang="en-US" sz="2400" dirty="0">
                <a:solidFill>
                  <a:schemeClr val="tx1"/>
                </a:solidFill>
              </a:rPr>
              <a:t> to present the user with </a:t>
            </a:r>
            <a:r>
              <a:rPr lang="en-US" sz="2400" i="1" dirty="0">
                <a:solidFill>
                  <a:schemeClr val="tx1"/>
                </a:solidFill>
              </a:rPr>
              <a:t>as much </a:t>
            </a:r>
            <a:r>
              <a:rPr lang="en-US" sz="2400" dirty="0">
                <a:solidFill>
                  <a:schemeClr val="tx1"/>
                </a:solidFill>
              </a:rPr>
              <a:t>memory as is available in the </a:t>
            </a:r>
            <a:r>
              <a:rPr lang="en-US" sz="2400" i="1" dirty="0">
                <a:solidFill>
                  <a:schemeClr val="tx1"/>
                </a:solidFill>
              </a:rPr>
              <a:t>cheapest</a:t>
            </a:r>
            <a:r>
              <a:rPr lang="en-US" sz="2400" dirty="0">
                <a:solidFill>
                  <a:schemeClr val="tx1"/>
                </a:solidFill>
              </a:rPr>
              <a:t> technology at the </a:t>
            </a:r>
            <a:r>
              <a:rPr lang="en-US" sz="2400" i="1" dirty="0">
                <a:solidFill>
                  <a:schemeClr val="tx1"/>
                </a:solidFill>
              </a:rPr>
              <a:t>speed</a:t>
            </a:r>
            <a:r>
              <a:rPr lang="en-US" sz="2400" dirty="0">
                <a:solidFill>
                  <a:schemeClr val="tx1"/>
                </a:solidFill>
              </a:rPr>
              <a:t> offered by the </a:t>
            </a:r>
            <a:r>
              <a:rPr lang="en-US" sz="2400" i="1" dirty="0">
                <a:solidFill>
                  <a:schemeClr val="tx1"/>
                </a:solidFill>
              </a:rPr>
              <a:t>fastest</a:t>
            </a:r>
            <a:r>
              <a:rPr lang="en-US" sz="2400" dirty="0">
                <a:solidFill>
                  <a:schemeClr val="tx1"/>
                </a:solidFill>
              </a:rPr>
              <a:t> technology</a:t>
            </a:r>
          </a:p>
        </p:txBody>
      </p:sp>
    </p:spTree>
    <p:extLst>
      <p:ext uri="{BB962C8B-B14F-4D97-AF65-F5344CB8AC3E}">
        <p14:creationId xmlns:p14="http://schemas.microsoft.com/office/powerpoint/2010/main" val="5565022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7874" name="Rectangle 2"/>
          <p:cNvSpPr>
            <a:spLocks noChangeArrowheads="1"/>
          </p:cNvSpPr>
          <p:nvPr/>
        </p:nvSpPr>
        <p:spPr bwMode="auto">
          <a:xfrm>
            <a:off x="609600" y="2819400"/>
            <a:ext cx="4953000" cy="2209800"/>
          </a:xfrm>
          <a:prstGeom prst="rect">
            <a:avLst/>
          </a:prstGeom>
          <a:solidFill>
            <a:schemeClr val="bg1"/>
          </a:solidFill>
          <a:ln w="38100">
            <a:solidFill>
              <a:schemeClr val="hlink"/>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75" name="Rectangle 3" descr="10%"/>
          <p:cNvSpPr>
            <a:spLocks noChangeArrowheads="1"/>
          </p:cNvSpPr>
          <p:nvPr/>
        </p:nvSpPr>
        <p:spPr bwMode="auto">
          <a:xfrm>
            <a:off x="4333875" y="3657600"/>
            <a:ext cx="931863" cy="1095375"/>
          </a:xfrm>
          <a:prstGeom prst="rect">
            <a:avLst/>
          </a:prstGeom>
          <a:pattFill prst="pct10">
            <a:fgClr>
              <a:schemeClr val="hlink"/>
            </a:fgClr>
            <a:bgClr>
              <a:srgbClr val="FFFFFF"/>
            </a:bgClr>
          </a:patt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600">
                <a:solidFill>
                  <a:srgbClr val="000000"/>
                </a:solidFill>
              </a:rPr>
              <a:t>Second</a:t>
            </a:r>
          </a:p>
          <a:p>
            <a:pPr algn="ctr"/>
            <a:r>
              <a:rPr lang="en-US" sz="1600">
                <a:solidFill>
                  <a:srgbClr val="000000"/>
                </a:solidFill>
              </a:rPr>
              <a:t>Level</a:t>
            </a:r>
          </a:p>
          <a:p>
            <a:pPr algn="ctr"/>
            <a:r>
              <a:rPr lang="en-US" sz="1600">
                <a:solidFill>
                  <a:srgbClr val="000000"/>
                </a:solidFill>
              </a:rPr>
              <a:t>Cache</a:t>
            </a:r>
          </a:p>
          <a:p>
            <a:pPr algn="ctr"/>
            <a:r>
              <a:rPr lang="en-US" sz="1600">
                <a:solidFill>
                  <a:srgbClr val="000000"/>
                </a:solidFill>
              </a:rPr>
              <a:t>(SRAM)</a:t>
            </a:r>
          </a:p>
        </p:txBody>
      </p:sp>
      <p:sp>
        <p:nvSpPr>
          <p:cNvPr id="1487876" name="Rectangle 4" descr="10%"/>
          <p:cNvSpPr>
            <a:spLocks noChangeArrowheads="1"/>
          </p:cNvSpPr>
          <p:nvPr/>
        </p:nvSpPr>
        <p:spPr bwMode="auto">
          <a:xfrm>
            <a:off x="2514600" y="4343400"/>
            <a:ext cx="228600" cy="609600"/>
          </a:xfrm>
          <a:prstGeom prst="rect">
            <a:avLst/>
          </a:prstGeom>
          <a:pattFill prst="pct10">
            <a:fgClr>
              <a:srgbClr val="0000B6"/>
            </a:fgClr>
            <a:bgClr>
              <a:srgbClr val="FFFFFF"/>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77" name="Rectangle 5"/>
          <p:cNvSpPr>
            <a:spLocks noGrp="1" noChangeArrowheads="1"/>
          </p:cNvSpPr>
          <p:nvPr>
            <p:ph type="title"/>
          </p:nvPr>
        </p:nvSpPr>
        <p:spPr>
          <a:xfrm>
            <a:off x="533400" y="304800"/>
            <a:ext cx="8229600" cy="422275"/>
          </a:xfrm>
        </p:spPr>
        <p:txBody>
          <a:bodyPr/>
          <a:lstStyle/>
          <a:p>
            <a:r>
              <a:rPr lang="en-US"/>
              <a:t>A Typical Memory Hierarchy</a:t>
            </a:r>
          </a:p>
        </p:txBody>
      </p:sp>
      <p:sp>
        <p:nvSpPr>
          <p:cNvPr id="1487878" name="Rectangle 6"/>
          <p:cNvSpPr>
            <a:spLocks noChangeArrowheads="1"/>
          </p:cNvSpPr>
          <p:nvPr/>
        </p:nvSpPr>
        <p:spPr bwMode="auto">
          <a:xfrm>
            <a:off x="838200" y="3124200"/>
            <a:ext cx="2716213" cy="24288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79" name="Rectangle 7"/>
          <p:cNvSpPr>
            <a:spLocks noChangeArrowheads="1"/>
          </p:cNvSpPr>
          <p:nvPr/>
        </p:nvSpPr>
        <p:spPr bwMode="auto">
          <a:xfrm>
            <a:off x="1752600" y="3048000"/>
            <a:ext cx="8350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a:solidFill>
                  <a:schemeClr val="tx1"/>
                </a:solidFill>
              </a:rPr>
              <a:t>Control</a:t>
            </a:r>
          </a:p>
        </p:txBody>
      </p:sp>
      <p:sp>
        <p:nvSpPr>
          <p:cNvPr id="1487880" name="Rectangle 8"/>
          <p:cNvSpPr>
            <a:spLocks noChangeArrowheads="1"/>
          </p:cNvSpPr>
          <p:nvPr/>
        </p:nvSpPr>
        <p:spPr bwMode="auto">
          <a:xfrm>
            <a:off x="788988" y="3581400"/>
            <a:ext cx="1422400" cy="134778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1" name="Rectangle 9"/>
          <p:cNvSpPr>
            <a:spLocks noChangeArrowheads="1"/>
          </p:cNvSpPr>
          <p:nvPr/>
        </p:nvSpPr>
        <p:spPr bwMode="auto">
          <a:xfrm>
            <a:off x="838200" y="4114800"/>
            <a:ext cx="10048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a:solidFill>
                  <a:schemeClr val="tx1"/>
                </a:solidFill>
              </a:rPr>
              <a:t>Datapath</a:t>
            </a:r>
          </a:p>
        </p:txBody>
      </p:sp>
      <p:sp>
        <p:nvSpPr>
          <p:cNvPr id="1487882" name="Rectangle 10"/>
          <p:cNvSpPr>
            <a:spLocks noChangeArrowheads="1"/>
          </p:cNvSpPr>
          <p:nvPr/>
        </p:nvSpPr>
        <p:spPr bwMode="auto">
          <a:xfrm>
            <a:off x="7467600" y="2590800"/>
            <a:ext cx="1117600" cy="243205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3" name="Rectangle 11"/>
          <p:cNvSpPr>
            <a:spLocks noChangeArrowheads="1"/>
          </p:cNvSpPr>
          <p:nvPr/>
        </p:nvSpPr>
        <p:spPr bwMode="auto">
          <a:xfrm>
            <a:off x="7440613" y="3581400"/>
            <a:ext cx="11509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600">
                <a:solidFill>
                  <a:schemeClr val="tx1"/>
                </a:solidFill>
              </a:rPr>
              <a:t>Secondary</a:t>
            </a:r>
          </a:p>
          <a:p>
            <a:pPr algn="ctr"/>
            <a:r>
              <a:rPr lang="en-US" sz="1600">
                <a:solidFill>
                  <a:schemeClr val="tx1"/>
                </a:solidFill>
              </a:rPr>
              <a:t>Memory</a:t>
            </a:r>
          </a:p>
          <a:p>
            <a:pPr algn="ctr"/>
            <a:r>
              <a:rPr lang="en-US" sz="1600">
                <a:solidFill>
                  <a:schemeClr val="tx1"/>
                </a:solidFill>
              </a:rPr>
              <a:t>(Disk)</a:t>
            </a:r>
          </a:p>
        </p:txBody>
      </p:sp>
      <p:sp>
        <p:nvSpPr>
          <p:cNvPr id="1487884" name="Rectangle 12"/>
          <p:cNvSpPr>
            <a:spLocks noChangeArrowheads="1"/>
          </p:cNvSpPr>
          <p:nvPr/>
        </p:nvSpPr>
        <p:spPr bwMode="auto">
          <a:xfrm>
            <a:off x="636588" y="2819400"/>
            <a:ext cx="3249612" cy="2219325"/>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5" name="Rectangle 13"/>
          <p:cNvSpPr>
            <a:spLocks noChangeArrowheads="1"/>
          </p:cNvSpPr>
          <p:nvPr/>
        </p:nvSpPr>
        <p:spPr bwMode="auto">
          <a:xfrm>
            <a:off x="1219200" y="2743200"/>
            <a:ext cx="2144713"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600">
                <a:solidFill>
                  <a:schemeClr val="tx1"/>
                </a:solidFill>
              </a:rPr>
              <a:t>On-Chip Components</a:t>
            </a:r>
          </a:p>
        </p:txBody>
      </p:sp>
      <p:sp>
        <p:nvSpPr>
          <p:cNvPr id="1487886" name="Line 14"/>
          <p:cNvSpPr>
            <a:spLocks noChangeShapeType="1"/>
          </p:cNvSpPr>
          <p:nvPr/>
        </p:nvSpPr>
        <p:spPr bwMode="auto">
          <a:xfrm flipV="1">
            <a:off x="2057400" y="2438400"/>
            <a:ext cx="5791200" cy="1676400"/>
          </a:xfrm>
          <a:prstGeom prst="line">
            <a:avLst/>
          </a:prstGeom>
          <a:noFill/>
          <a:ln w="2857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7" name="Line 15"/>
          <p:cNvSpPr>
            <a:spLocks noChangeShapeType="1"/>
          </p:cNvSpPr>
          <p:nvPr/>
        </p:nvSpPr>
        <p:spPr bwMode="auto">
          <a:xfrm>
            <a:off x="2154238" y="4887913"/>
            <a:ext cx="5541962" cy="217487"/>
          </a:xfrm>
          <a:prstGeom prst="line">
            <a:avLst/>
          </a:prstGeom>
          <a:noFill/>
          <a:ln w="2857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8" name="Rectangle 16"/>
          <p:cNvSpPr>
            <a:spLocks noChangeArrowheads="1"/>
          </p:cNvSpPr>
          <p:nvPr/>
        </p:nvSpPr>
        <p:spPr bwMode="auto">
          <a:xfrm>
            <a:off x="1779588" y="4181475"/>
            <a:ext cx="355600" cy="69373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89" name="Rectangle 17"/>
          <p:cNvSpPr>
            <a:spLocks noChangeArrowheads="1"/>
          </p:cNvSpPr>
          <p:nvPr/>
        </p:nvSpPr>
        <p:spPr bwMode="auto">
          <a:xfrm rot="5400000">
            <a:off x="1489869" y="4453731"/>
            <a:ext cx="101123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sz="1600">
                <a:solidFill>
                  <a:schemeClr val="tx1"/>
                </a:solidFill>
              </a:rPr>
              <a:t>RegFile</a:t>
            </a:r>
          </a:p>
        </p:txBody>
      </p:sp>
      <p:sp>
        <p:nvSpPr>
          <p:cNvPr id="1487890" name="Rectangle 18" descr="10%"/>
          <p:cNvSpPr>
            <a:spLocks noChangeArrowheads="1"/>
          </p:cNvSpPr>
          <p:nvPr/>
        </p:nvSpPr>
        <p:spPr bwMode="auto">
          <a:xfrm>
            <a:off x="2971800" y="4343400"/>
            <a:ext cx="660400" cy="609600"/>
          </a:xfrm>
          <a:prstGeom prst="rect">
            <a:avLst/>
          </a:prstGeom>
          <a:pattFill prst="pct10">
            <a:fgClr>
              <a:srgbClr val="0000B6"/>
            </a:fgClr>
            <a:bgClr>
              <a:srgbClr val="FFFFFF"/>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91" name="Rectangle 19" descr="10%"/>
          <p:cNvSpPr>
            <a:spLocks noChangeArrowheads="1"/>
          </p:cNvSpPr>
          <p:nvPr/>
        </p:nvSpPr>
        <p:spPr bwMode="auto">
          <a:xfrm>
            <a:off x="5867400" y="3505200"/>
            <a:ext cx="1041400" cy="1350963"/>
          </a:xfrm>
          <a:prstGeom prst="rect">
            <a:avLst/>
          </a:prstGeom>
          <a:pattFill prst="pct10">
            <a:fgClr>
              <a:schemeClr val="accent1"/>
            </a:fgClr>
            <a:bgClr>
              <a:srgbClr val="FFFFFF"/>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92" name="Rectangle 20"/>
          <p:cNvSpPr>
            <a:spLocks noChangeArrowheads="1"/>
          </p:cNvSpPr>
          <p:nvPr/>
        </p:nvSpPr>
        <p:spPr bwMode="auto">
          <a:xfrm>
            <a:off x="5959475" y="3810000"/>
            <a:ext cx="9159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600">
                <a:solidFill>
                  <a:srgbClr val="000000"/>
                </a:solidFill>
              </a:rPr>
              <a:t>Main</a:t>
            </a:r>
          </a:p>
          <a:p>
            <a:pPr algn="ctr"/>
            <a:r>
              <a:rPr lang="en-US" sz="1600">
                <a:solidFill>
                  <a:srgbClr val="000000"/>
                </a:solidFill>
              </a:rPr>
              <a:t>Memory</a:t>
            </a:r>
          </a:p>
          <a:p>
            <a:pPr algn="ctr"/>
            <a:r>
              <a:rPr lang="en-US" sz="1600">
                <a:solidFill>
                  <a:srgbClr val="000000"/>
                </a:solidFill>
              </a:rPr>
              <a:t>(DRAM)</a:t>
            </a:r>
          </a:p>
        </p:txBody>
      </p:sp>
      <p:sp>
        <p:nvSpPr>
          <p:cNvPr id="1487893" name="Rectangle 21"/>
          <p:cNvSpPr>
            <a:spLocks noChangeArrowheads="1"/>
          </p:cNvSpPr>
          <p:nvPr/>
        </p:nvSpPr>
        <p:spPr bwMode="auto">
          <a:xfrm rot="5400000">
            <a:off x="2951956" y="4339432"/>
            <a:ext cx="766763"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600">
                <a:solidFill>
                  <a:srgbClr val="000000"/>
                </a:solidFill>
              </a:rPr>
              <a:t>Data</a:t>
            </a:r>
          </a:p>
          <a:p>
            <a:pPr algn="ctr"/>
            <a:r>
              <a:rPr lang="en-US" sz="1600">
                <a:solidFill>
                  <a:srgbClr val="000000"/>
                </a:solidFill>
              </a:rPr>
              <a:t>Cache</a:t>
            </a:r>
          </a:p>
        </p:txBody>
      </p:sp>
      <p:sp>
        <p:nvSpPr>
          <p:cNvPr id="1487894" name="Rectangle 22" descr="10%"/>
          <p:cNvSpPr>
            <a:spLocks noChangeArrowheads="1"/>
          </p:cNvSpPr>
          <p:nvPr/>
        </p:nvSpPr>
        <p:spPr bwMode="auto">
          <a:xfrm>
            <a:off x="2971800" y="3657600"/>
            <a:ext cx="660400" cy="609600"/>
          </a:xfrm>
          <a:prstGeom prst="rect">
            <a:avLst/>
          </a:prstGeom>
          <a:pattFill prst="pct10">
            <a:fgClr>
              <a:srgbClr val="0000B6"/>
            </a:fgClr>
            <a:bgClr>
              <a:srgbClr val="FFFFFF"/>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95" name="Rectangle 23"/>
          <p:cNvSpPr>
            <a:spLocks noChangeArrowheads="1"/>
          </p:cNvSpPr>
          <p:nvPr/>
        </p:nvSpPr>
        <p:spPr bwMode="auto">
          <a:xfrm rot="5400000">
            <a:off x="2909093" y="3653632"/>
            <a:ext cx="766763"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600">
                <a:solidFill>
                  <a:srgbClr val="000000"/>
                </a:solidFill>
              </a:rPr>
              <a:t>Instr</a:t>
            </a:r>
          </a:p>
          <a:p>
            <a:pPr algn="ctr"/>
            <a:r>
              <a:rPr lang="en-US" sz="1600">
                <a:solidFill>
                  <a:srgbClr val="000000"/>
                </a:solidFill>
              </a:rPr>
              <a:t>Cache</a:t>
            </a:r>
          </a:p>
        </p:txBody>
      </p:sp>
      <p:sp>
        <p:nvSpPr>
          <p:cNvPr id="1487896" name="Rectangle 24" descr="10%"/>
          <p:cNvSpPr>
            <a:spLocks noChangeArrowheads="1"/>
          </p:cNvSpPr>
          <p:nvPr/>
        </p:nvSpPr>
        <p:spPr bwMode="auto">
          <a:xfrm>
            <a:off x="2514600" y="3657600"/>
            <a:ext cx="228600" cy="609600"/>
          </a:xfrm>
          <a:prstGeom prst="rect">
            <a:avLst/>
          </a:prstGeom>
          <a:pattFill prst="pct10">
            <a:fgClr>
              <a:srgbClr val="0000B6"/>
            </a:fgClr>
            <a:bgClr>
              <a:srgbClr val="FFFFFF"/>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897" name="Text Box 25"/>
          <p:cNvSpPr txBox="1">
            <a:spLocks noChangeArrowheads="1"/>
          </p:cNvSpPr>
          <p:nvPr/>
        </p:nvSpPr>
        <p:spPr bwMode="auto">
          <a:xfrm rot="5400000" flipH="1">
            <a:off x="2298700" y="3805238"/>
            <a:ext cx="6127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solidFill>
                  <a:srgbClr val="000000"/>
                </a:solidFill>
              </a:rPr>
              <a:t>ITLB</a:t>
            </a:r>
          </a:p>
        </p:txBody>
      </p:sp>
      <p:sp>
        <p:nvSpPr>
          <p:cNvPr id="1487898" name="Text Box 26"/>
          <p:cNvSpPr txBox="1">
            <a:spLocks noChangeArrowheads="1"/>
          </p:cNvSpPr>
          <p:nvPr/>
        </p:nvSpPr>
        <p:spPr bwMode="auto">
          <a:xfrm rot="5400000" flipH="1">
            <a:off x="2255837" y="4459288"/>
            <a:ext cx="7016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solidFill>
                  <a:srgbClr val="000000"/>
                </a:solidFill>
              </a:rPr>
              <a:t>DTLB</a:t>
            </a:r>
          </a:p>
        </p:txBody>
      </p:sp>
      <p:sp>
        <p:nvSpPr>
          <p:cNvPr id="1487899" name="Rectangle 27"/>
          <p:cNvSpPr>
            <a:spLocks noChangeArrowheads="1"/>
          </p:cNvSpPr>
          <p:nvPr/>
        </p:nvSpPr>
        <p:spPr bwMode="auto">
          <a:xfrm>
            <a:off x="609600" y="2819400"/>
            <a:ext cx="6477000" cy="2209800"/>
          </a:xfrm>
          <a:prstGeom prst="rect">
            <a:avLst/>
          </a:prstGeom>
          <a:noFill/>
          <a:ln w="38100">
            <a:solidFill>
              <a:srgbClr val="F73627"/>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7900" name="Rectangle 28"/>
          <p:cNvSpPr>
            <a:spLocks noChangeArrowheads="1"/>
          </p:cNvSpPr>
          <p:nvPr/>
        </p:nvSpPr>
        <p:spPr bwMode="auto">
          <a:xfrm flipH="1">
            <a:off x="5943600" y="3124200"/>
            <a:ext cx="1047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a:solidFill>
                  <a:srgbClr val="F73627"/>
                </a:solidFill>
              </a:rPr>
              <a:t>eDRAM</a:t>
            </a:r>
          </a:p>
        </p:txBody>
      </p:sp>
      <p:sp>
        <p:nvSpPr>
          <p:cNvPr id="1487901" name="Rectangle 29"/>
          <p:cNvSpPr>
            <a:spLocks noChangeArrowheads="1"/>
          </p:cNvSpPr>
          <p:nvPr/>
        </p:nvSpPr>
        <p:spPr bwMode="auto">
          <a:xfrm>
            <a:off x="0" y="5257800"/>
            <a:ext cx="8483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b="1">
                <a:solidFill>
                  <a:schemeClr val="tx1"/>
                </a:solidFill>
              </a:rPr>
              <a:t>Speed (%cycles): </a:t>
            </a:r>
            <a:r>
              <a:rPr lang="en-US">
                <a:solidFill>
                  <a:schemeClr val="tx1"/>
                </a:solidFill>
                <a:cs typeface="Arial" charset="0"/>
              </a:rPr>
              <a:t>½</a:t>
            </a:r>
            <a:r>
              <a:rPr lang="en-US">
                <a:solidFill>
                  <a:schemeClr val="tx1"/>
                </a:solidFill>
              </a:rPr>
              <a:t>’s             1’s                  10’s                  100’s               1,000’s</a:t>
            </a:r>
          </a:p>
        </p:txBody>
      </p:sp>
      <p:sp>
        <p:nvSpPr>
          <p:cNvPr id="1487902" name="Rectangle 30"/>
          <p:cNvSpPr>
            <a:spLocks noChangeArrowheads="1"/>
          </p:cNvSpPr>
          <p:nvPr/>
        </p:nvSpPr>
        <p:spPr bwMode="auto">
          <a:xfrm>
            <a:off x="0" y="5638800"/>
            <a:ext cx="8643938"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b="1">
                <a:solidFill>
                  <a:schemeClr val="tx1"/>
                </a:solidFill>
              </a:rPr>
              <a:t>Size (bytes):    </a:t>
            </a:r>
            <a:r>
              <a:rPr lang="en-US">
                <a:solidFill>
                  <a:schemeClr val="tx1"/>
                </a:solidFill>
              </a:rPr>
              <a:t>   100’s   </a:t>
            </a:r>
            <a:r>
              <a:rPr lang="en-US" sz="1600" b="1">
                <a:solidFill>
                  <a:schemeClr val="tx1"/>
                </a:solidFill>
              </a:rPr>
              <a:t>           </a:t>
            </a:r>
            <a:r>
              <a:rPr lang="en-US" sz="1600">
                <a:solidFill>
                  <a:schemeClr val="tx1"/>
                </a:solidFill>
              </a:rPr>
              <a:t>K’s                  </a:t>
            </a:r>
            <a:r>
              <a:rPr lang="en-US">
                <a:solidFill>
                  <a:schemeClr val="tx1"/>
                </a:solidFill>
              </a:rPr>
              <a:t>10K’s                     M’s             G’s to T’s</a:t>
            </a:r>
          </a:p>
        </p:txBody>
      </p:sp>
      <p:sp>
        <p:nvSpPr>
          <p:cNvPr id="1487903" name="Rectangle 31"/>
          <p:cNvSpPr>
            <a:spLocks noChangeArrowheads="1"/>
          </p:cNvSpPr>
          <p:nvPr/>
        </p:nvSpPr>
        <p:spPr bwMode="auto">
          <a:xfrm>
            <a:off x="685800" y="6019800"/>
            <a:ext cx="79248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a:lnSpc>
                <a:spcPct val="85000"/>
              </a:lnSpc>
            </a:pPr>
            <a:r>
              <a:rPr lang="en-US" b="1">
                <a:solidFill>
                  <a:schemeClr val="tx1"/>
                </a:solidFill>
              </a:rPr>
              <a:t> Cost:         </a:t>
            </a:r>
            <a:r>
              <a:rPr lang="en-US">
                <a:solidFill>
                  <a:schemeClr val="tx1"/>
                </a:solidFill>
              </a:rPr>
              <a:t>highest                                                                               lowest</a:t>
            </a:r>
          </a:p>
        </p:txBody>
      </p:sp>
      <p:sp>
        <p:nvSpPr>
          <p:cNvPr id="1487904" name="Rectangle 32"/>
          <p:cNvSpPr>
            <a:spLocks noChangeArrowheads="1"/>
          </p:cNvSpPr>
          <p:nvPr/>
        </p:nvSpPr>
        <p:spPr bwMode="auto">
          <a:xfrm>
            <a:off x="457200" y="762000"/>
            <a:ext cx="8191500"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marL="287338" indent="-287338">
              <a:spcBef>
                <a:spcPct val="30000"/>
              </a:spcBef>
              <a:buClr>
                <a:schemeClr val="accent1"/>
              </a:buClr>
              <a:buSzPct val="75000"/>
              <a:buFont typeface="Wingdings" pitchFamily="2" charset="2"/>
              <a:buChar char="q"/>
            </a:pPr>
            <a:r>
              <a:rPr lang="en-US" sz="2400">
                <a:solidFill>
                  <a:schemeClr val="accent2"/>
                </a:solidFill>
              </a:rPr>
              <a:t>By taking advantage of the principle of locality</a:t>
            </a:r>
          </a:p>
          <a:p>
            <a:pPr marL="741363" lvl="1" indent="-246063">
              <a:spcBef>
                <a:spcPct val="30000"/>
              </a:spcBef>
              <a:buClr>
                <a:schemeClr val="accent1"/>
              </a:buClr>
              <a:buSzPct val="75000"/>
              <a:buFont typeface="Monotype Sorts" pitchFamily="2" charset="2"/>
              <a:buChar char="l"/>
            </a:pPr>
            <a:r>
              <a:rPr lang="en-US" sz="2000">
                <a:solidFill>
                  <a:schemeClr val="accent2"/>
                </a:solidFill>
              </a:rPr>
              <a:t>Can present the user with as much memory as is available in the cheapest technology</a:t>
            </a:r>
          </a:p>
          <a:p>
            <a:pPr marL="741363" lvl="1" indent="-246063">
              <a:spcBef>
                <a:spcPct val="30000"/>
              </a:spcBef>
              <a:buClr>
                <a:schemeClr val="accent1"/>
              </a:buClr>
              <a:buSzPct val="75000"/>
              <a:buFont typeface="Monotype Sorts" pitchFamily="2" charset="2"/>
              <a:buChar char="l"/>
            </a:pPr>
            <a:r>
              <a:rPr lang="en-US" sz="2000">
                <a:solidFill>
                  <a:schemeClr val="accent2"/>
                </a:solidFill>
              </a:rPr>
              <a:t>at the speed offered by the fastest technology</a:t>
            </a:r>
          </a:p>
        </p:txBody>
      </p:sp>
    </p:spTree>
    <p:extLst>
      <p:ext uri="{BB962C8B-B14F-4D97-AF65-F5344CB8AC3E}">
        <p14:creationId xmlns:p14="http://schemas.microsoft.com/office/powerpoint/2010/main" val="530642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87884"/>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487885"/>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4000"/>
                                  </p:stCondLst>
                                  <p:childTnLst>
                                    <p:set>
                                      <p:cBhvr>
                                        <p:cTn id="12" dur="1" fill="hold">
                                          <p:stCondLst>
                                            <p:cond delay="499"/>
                                          </p:stCondLst>
                                        </p:cTn>
                                        <p:tgtEl>
                                          <p:spTgt spid="1487874"/>
                                        </p:tgtEl>
                                        <p:attrNameLst>
                                          <p:attrName>style.visibility</p:attrName>
                                        </p:attrNameLst>
                                      </p:cBhvr>
                                      <p:to>
                                        <p:strVal val="visible"/>
                                      </p:to>
                                    </p:set>
                                  </p:childTnLst>
                                </p:cTn>
                              </p:par>
                            </p:childTnLst>
                          </p:cTn>
                        </p:par>
                        <p:par>
                          <p:cTn id="13" fill="hold" nodeType="afterGroup">
                            <p:stCondLst>
                              <p:cond delay="5500"/>
                            </p:stCondLst>
                            <p:childTnLst>
                              <p:par>
                                <p:cTn id="14" presetID="1" presetClass="entr" presetSubtype="0" fill="hold" grpId="0" nodeType="afterEffect">
                                  <p:stCondLst>
                                    <p:cond delay="4000"/>
                                  </p:stCondLst>
                                  <p:childTnLst>
                                    <p:set>
                                      <p:cBhvr>
                                        <p:cTn id="15" dur="1" fill="hold">
                                          <p:stCondLst>
                                            <p:cond delay="499"/>
                                          </p:stCondLst>
                                        </p:cTn>
                                        <p:tgtEl>
                                          <p:spTgt spid="1487899"/>
                                        </p:tgtEl>
                                        <p:attrNameLst>
                                          <p:attrName>style.visibility</p:attrName>
                                        </p:attrNameLst>
                                      </p:cBhvr>
                                      <p:to>
                                        <p:strVal val="visible"/>
                                      </p:to>
                                    </p:set>
                                  </p:childTnLst>
                                </p:cTn>
                              </p:par>
                            </p:childTnLst>
                          </p:cTn>
                        </p:par>
                        <p:par>
                          <p:cTn id="16" fill="hold" nodeType="afterGroup">
                            <p:stCondLst>
                              <p:cond delay="10000"/>
                            </p:stCondLst>
                            <p:childTnLst>
                              <p:par>
                                <p:cTn id="17" presetID="1" presetClass="entr" presetSubtype="0" fill="hold" grpId="0" nodeType="afterEffect">
                                  <p:stCondLst>
                                    <p:cond delay="0"/>
                                  </p:stCondLst>
                                  <p:childTnLst>
                                    <p:set>
                                      <p:cBhvr>
                                        <p:cTn id="18" dur="1" fill="hold">
                                          <p:stCondLst>
                                            <p:cond delay="499"/>
                                          </p:stCondLst>
                                        </p:cTn>
                                        <p:tgtEl>
                                          <p:spTgt spid="14879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7874" grpId="0" animBg="1"/>
      <p:bldP spid="1487884" grpId="0" animBg="1"/>
      <p:bldP spid="1487885" grpId="0" autoUpdateAnimBg="0"/>
      <p:bldP spid="1487899" grpId="0" animBg="1"/>
      <p:bldP spid="1487900"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3474" name="Rectangle 2"/>
          <p:cNvSpPr>
            <a:spLocks noGrp="1" noChangeArrowheads="1"/>
          </p:cNvSpPr>
          <p:nvPr>
            <p:ph type="title"/>
          </p:nvPr>
        </p:nvSpPr>
        <p:spPr>
          <a:xfrm>
            <a:off x="609600" y="304800"/>
            <a:ext cx="6416675" cy="422275"/>
          </a:xfrm>
          <a:noFill/>
          <a:ln/>
        </p:spPr>
        <p:txBody>
          <a:bodyPr wrap="none"/>
          <a:lstStyle/>
          <a:p>
            <a:r>
              <a:rPr lang="en-US"/>
              <a:t>The Memory Hierarchy:  Terminology</a:t>
            </a:r>
          </a:p>
        </p:txBody>
      </p:sp>
      <p:sp>
        <p:nvSpPr>
          <p:cNvPr id="1513475" name="Rectangle 3"/>
          <p:cNvSpPr>
            <a:spLocks noGrp="1" noChangeArrowheads="1"/>
          </p:cNvSpPr>
          <p:nvPr>
            <p:ph type="body" idx="1"/>
          </p:nvPr>
        </p:nvSpPr>
        <p:spPr>
          <a:xfrm>
            <a:off x="381000" y="909560"/>
            <a:ext cx="8405842" cy="5591274"/>
          </a:xfrm>
          <a:noFill/>
          <a:ln/>
        </p:spPr>
        <p:txBody>
          <a:bodyPr/>
          <a:lstStyle/>
          <a:p>
            <a:pPr>
              <a:lnSpc>
                <a:spcPct val="100000"/>
              </a:lnSpc>
              <a:spcBef>
                <a:spcPts val="600"/>
              </a:spcBef>
            </a:pPr>
            <a:r>
              <a:rPr lang="en-US" dirty="0" smtClean="0">
                <a:solidFill>
                  <a:schemeClr val="accent1"/>
                </a:solidFill>
              </a:rPr>
              <a:t>Block </a:t>
            </a:r>
            <a:r>
              <a:rPr lang="en-US" dirty="0" smtClean="0"/>
              <a:t>(aka line): the minimum unit of information that is present (or not) in a cache</a:t>
            </a:r>
          </a:p>
          <a:p>
            <a:pPr>
              <a:lnSpc>
                <a:spcPct val="100000"/>
              </a:lnSpc>
              <a:spcBef>
                <a:spcPts val="600"/>
              </a:spcBef>
            </a:pPr>
            <a:r>
              <a:rPr lang="en-US" dirty="0" smtClean="0">
                <a:solidFill>
                  <a:schemeClr val="accent1"/>
                </a:solidFill>
              </a:rPr>
              <a:t>Hit </a:t>
            </a:r>
            <a:r>
              <a:rPr lang="en-US" dirty="0">
                <a:solidFill>
                  <a:schemeClr val="accent1"/>
                </a:solidFill>
              </a:rPr>
              <a:t>Rate</a:t>
            </a:r>
            <a:r>
              <a:rPr lang="en-US" dirty="0"/>
              <a:t>: the fraction of memory accesses found in </a:t>
            </a:r>
            <a:r>
              <a:rPr lang="en-US" dirty="0" smtClean="0"/>
              <a:t>a level of the memory hierarchy</a:t>
            </a:r>
            <a:endParaRPr lang="en-US" dirty="0"/>
          </a:p>
          <a:p>
            <a:pPr lvl="1">
              <a:lnSpc>
                <a:spcPct val="100000"/>
              </a:lnSpc>
              <a:spcBef>
                <a:spcPts val="600"/>
              </a:spcBef>
            </a:pPr>
            <a:r>
              <a:rPr lang="en-US" dirty="0">
                <a:solidFill>
                  <a:schemeClr val="accent1"/>
                </a:solidFill>
              </a:rPr>
              <a:t>Hit Time</a:t>
            </a:r>
            <a:r>
              <a:rPr lang="en-US" dirty="0"/>
              <a:t>: Time to access </a:t>
            </a:r>
            <a:r>
              <a:rPr lang="en-US" dirty="0" smtClean="0"/>
              <a:t>that level which consists of</a:t>
            </a:r>
            <a:endParaRPr lang="en-US" dirty="0"/>
          </a:p>
          <a:p>
            <a:pPr lvl="2">
              <a:lnSpc>
                <a:spcPct val="100000"/>
              </a:lnSpc>
              <a:spcBef>
                <a:spcPts val="600"/>
              </a:spcBef>
              <a:buNone/>
            </a:pPr>
            <a:r>
              <a:rPr lang="en-US" dirty="0" smtClean="0"/>
              <a:t>  Time to access the block + </a:t>
            </a:r>
            <a:r>
              <a:rPr lang="en-US" dirty="0"/>
              <a:t>Time to determine </a:t>
            </a:r>
            <a:r>
              <a:rPr lang="en-US" dirty="0" smtClean="0"/>
              <a:t>hit/miss</a:t>
            </a:r>
            <a:endParaRPr lang="en-US" dirty="0">
              <a:solidFill>
                <a:schemeClr val="accent1"/>
              </a:solidFill>
            </a:endParaRPr>
          </a:p>
          <a:p>
            <a:pPr>
              <a:lnSpc>
                <a:spcPct val="100000"/>
              </a:lnSpc>
              <a:spcBef>
                <a:spcPts val="600"/>
              </a:spcBef>
            </a:pPr>
            <a:r>
              <a:rPr lang="en-US" dirty="0" smtClean="0">
                <a:solidFill>
                  <a:schemeClr val="accent1"/>
                </a:solidFill>
              </a:rPr>
              <a:t>Miss Rate: </a:t>
            </a:r>
            <a:r>
              <a:rPr lang="en-US" dirty="0" smtClean="0"/>
              <a:t>the fraction of memory accesses </a:t>
            </a:r>
            <a:r>
              <a:rPr lang="en-US" i="1" dirty="0" smtClean="0"/>
              <a:t>not</a:t>
            </a:r>
            <a:r>
              <a:rPr lang="en-US" dirty="0" smtClean="0"/>
              <a:t> found in a level of the memory hierarchy    </a:t>
            </a:r>
            <a:r>
              <a:rPr lang="en-US" dirty="0" smtClean="0">
                <a:sym typeface="Symbol" pitchFamily="18" charset="2"/>
              </a:rPr>
              <a:t>  </a:t>
            </a:r>
            <a:r>
              <a:rPr lang="en-US" dirty="0" smtClean="0"/>
              <a:t> </a:t>
            </a:r>
            <a:r>
              <a:rPr lang="en-US" dirty="0"/>
              <a:t>1 - (Hit Rate)</a:t>
            </a:r>
          </a:p>
          <a:p>
            <a:pPr lvl="1">
              <a:lnSpc>
                <a:spcPct val="100000"/>
              </a:lnSpc>
              <a:spcBef>
                <a:spcPts val="600"/>
              </a:spcBef>
            </a:pPr>
            <a:r>
              <a:rPr lang="en-US" dirty="0">
                <a:solidFill>
                  <a:schemeClr val="accent1"/>
                </a:solidFill>
              </a:rPr>
              <a:t>Miss Penalty</a:t>
            </a:r>
            <a:r>
              <a:rPr lang="en-US" dirty="0"/>
              <a:t>: </a:t>
            </a:r>
            <a:r>
              <a:rPr lang="en-US" dirty="0" smtClean="0"/>
              <a:t>Time to replace a block in that level with the corresponding block from a lower level which consists of</a:t>
            </a:r>
          </a:p>
          <a:p>
            <a:pPr lvl="2">
              <a:lnSpc>
                <a:spcPct val="100000"/>
              </a:lnSpc>
              <a:spcBef>
                <a:spcPts val="600"/>
              </a:spcBef>
              <a:buNone/>
            </a:pPr>
            <a:r>
              <a:rPr lang="en-US" dirty="0" smtClean="0"/>
              <a:t>  Time to access the block in the lower level + Time to transmit that block to the level that experienced the miss + Time to insert the block in that level + Time to pass the block to the requestor</a:t>
            </a:r>
          </a:p>
          <a:p>
            <a:pPr lvl="2">
              <a:lnSpc>
                <a:spcPct val="100000"/>
              </a:lnSpc>
              <a:spcBef>
                <a:spcPts val="600"/>
              </a:spcBef>
              <a:buNone/>
            </a:pPr>
            <a:endParaRPr lang="en-US" sz="1200" dirty="0"/>
          </a:p>
          <a:p>
            <a:pPr algn="ctr">
              <a:lnSpc>
                <a:spcPct val="100000"/>
              </a:lnSpc>
              <a:spcBef>
                <a:spcPts val="600"/>
              </a:spcBef>
              <a:buNone/>
            </a:pPr>
            <a:r>
              <a:rPr lang="en-US" sz="2600" dirty="0"/>
              <a:t>Hit Time &lt;&lt; Miss Penalty</a:t>
            </a:r>
          </a:p>
        </p:txBody>
      </p:sp>
    </p:spTree>
    <p:extLst>
      <p:ext uri="{BB962C8B-B14F-4D97-AF65-F5344CB8AC3E}">
        <p14:creationId xmlns:p14="http://schemas.microsoft.com/office/powerpoint/2010/main" val="1254611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134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347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1347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1347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1347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1347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1347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134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347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0274" name="Rectangle 2"/>
          <p:cNvSpPr>
            <a:spLocks noChangeArrowheads="1"/>
          </p:cNvSpPr>
          <p:nvPr/>
        </p:nvSpPr>
        <p:spPr bwMode="auto">
          <a:xfrm>
            <a:off x="225425" y="312738"/>
            <a:ext cx="1027113" cy="477837"/>
          </a:xfrm>
          <a:prstGeom prst="rect">
            <a:avLst/>
          </a:prstGeom>
          <a:noFill/>
          <a:ln w="12700">
            <a:noFill/>
            <a:miter lim="800000"/>
            <a:headEnd/>
            <a:tailEnd/>
          </a:ln>
          <a:effectLst/>
        </p:spPr>
        <p:txBody>
          <a:bodyPr wrap="none" anchor="ctr"/>
          <a:lstStyle/>
          <a:p>
            <a:endParaRPr lang="en-US"/>
          </a:p>
        </p:txBody>
      </p:sp>
      <p:sp>
        <p:nvSpPr>
          <p:cNvPr id="1590275" name="Rectangle 3"/>
          <p:cNvSpPr>
            <a:spLocks noGrp="1" noChangeArrowheads="1"/>
          </p:cNvSpPr>
          <p:nvPr>
            <p:ph type="body" idx="1"/>
          </p:nvPr>
        </p:nvSpPr>
        <p:spPr>
          <a:xfrm>
            <a:off x="685800" y="914400"/>
            <a:ext cx="7848600" cy="5583580"/>
          </a:xfrm>
          <a:noFill/>
          <a:ln/>
        </p:spPr>
        <p:txBody>
          <a:bodyPr lIns="90488" tIns="44450" rIns="90488" bIns="44450"/>
          <a:lstStyle/>
          <a:p>
            <a:pPr marL="342900" indent="-342900">
              <a:lnSpc>
                <a:spcPct val="100000"/>
              </a:lnSpc>
              <a:spcBef>
                <a:spcPts val="600"/>
              </a:spcBef>
            </a:pPr>
            <a:r>
              <a:rPr lang="en-US" dirty="0"/>
              <a:t>Two questions to answer (in hardware):</a:t>
            </a:r>
          </a:p>
          <a:p>
            <a:pPr marL="742950" lvl="1" indent="-285750">
              <a:lnSpc>
                <a:spcPct val="100000"/>
              </a:lnSpc>
              <a:spcBef>
                <a:spcPts val="600"/>
              </a:spcBef>
            </a:pPr>
            <a:r>
              <a:rPr lang="en-US" dirty="0"/>
              <a:t>Q1:  How do we know if a data item is in the cache?</a:t>
            </a:r>
          </a:p>
          <a:p>
            <a:pPr marL="742950" lvl="1" indent="-285750">
              <a:lnSpc>
                <a:spcPct val="100000"/>
              </a:lnSpc>
              <a:spcBef>
                <a:spcPts val="600"/>
              </a:spcBef>
            </a:pPr>
            <a:r>
              <a:rPr lang="en-US" dirty="0"/>
              <a:t>Q2:  If it is, how do we find it?</a:t>
            </a:r>
          </a:p>
          <a:p>
            <a:pPr marL="796925" lvl="1" indent="-342900">
              <a:lnSpc>
                <a:spcPct val="100000"/>
              </a:lnSpc>
              <a:spcBef>
                <a:spcPts val="600"/>
              </a:spcBef>
            </a:pPr>
            <a:endParaRPr lang="en-US" dirty="0"/>
          </a:p>
          <a:p>
            <a:pPr marL="342900" indent="-342900">
              <a:lnSpc>
                <a:spcPct val="100000"/>
              </a:lnSpc>
              <a:spcBef>
                <a:spcPts val="600"/>
              </a:spcBef>
            </a:pPr>
            <a:r>
              <a:rPr lang="en-US" dirty="0"/>
              <a:t>Direct mapped</a:t>
            </a:r>
          </a:p>
          <a:p>
            <a:pPr marL="742950" lvl="1" indent="-285750">
              <a:lnSpc>
                <a:spcPct val="100000"/>
              </a:lnSpc>
              <a:spcBef>
                <a:spcPts val="600"/>
              </a:spcBef>
            </a:pPr>
            <a:r>
              <a:rPr lang="en-US" dirty="0" smtClean="0"/>
              <a:t>Each memory block is mapped to exactly one block in the cache</a:t>
            </a:r>
          </a:p>
          <a:p>
            <a:pPr marL="1147762" lvl="2" indent="-285750">
              <a:lnSpc>
                <a:spcPct val="100000"/>
              </a:lnSpc>
              <a:spcBef>
                <a:spcPts val="600"/>
              </a:spcBef>
            </a:pPr>
            <a:r>
              <a:rPr lang="en-US" dirty="0" smtClean="0"/>
              <a:t>lots </a:t>
            </a:r>
            <a:r>
              <a:rPr lang="en-US" dirty="0"/>
              <a:t>of </a:t>
            </a:r>
            <a:r>
              <a:rPr lang="en-US" dirty="0" smtClean="0"/>
              <a:t>memory blocks must </a:t>
            </a:r>
            <a:r>
              <a:rPr lang="en-US" dirty="0">
                <a:solidFill>
                  <a:schemeClr val="accent1"/>
                </a:solidFill>
              </a:rPr>
              <a:t>share</a:t>
            </a:r>
            <a:r>
              <a:rPr lang="en-US" dirty="0"/>
              <a:t> </a:t>
            </a:r>
            <a:r>
              <a:rPr lang="en-US" dirty="0" smtClean="0"/>
              <a:t>the same cache block</a:t>
            </a:r>
          </a:p>
          <a:p>
            <a:pPr marL="1147762" lvl="2" indent="-285750">
              <a:lnSpc>
                <a:spcPct val="100000"/>
              </a:lnSpc>
              <a:spcBef>
                <a:spcPts val="600"/>
              </a:spcBef>
            </a:pPr>
            <a:endParaRPr lang="en-US" dirty="0"/>
          </a:p>
          <a:p>
            <a:pPr marL="742950" lvl="1" indent="-285750">
              <a:lnSpc>
                <a:spcPct val="100000"/>
              </a:lnSpc>
              <a:spcBef>
                <a:spcPts val="600"/>
              </a:spcBef>
            </a:pPr>
            <a:r>
              <a:rPr lang="en-US" dirty="0"/>
              <a:t>Address </a:t>
            </a:r>
            <a:r>
              <a:rPr lang="en-US" dirty="0" smtClean="0"/>
              <a:t>mapping (to answer Q2):</a:t>
            </a:r>
            <a:endParaRPr lang="en-US" dirty="0"/>
          </a:p>
          <a:p>
            <a:pPr marL="742950" lvl="1" indent="-285750" algn="ctr">
              <a:lnSpc>
                <a:spcPct val="100000"/>
              </a:lnSpc>
              <a:spcBef>
                <a:spcPts val="600"/>
              </a:spcBef>
              <a:buFont typeface="Monotype Sorts" pitchFamily="2" charset="2"/>
              <a:buNone/>
            </a:pPr>
            <a:r>
              <a:rPr lang="en-US" dirty="0" smtClean="0">
                <a:solidFill>
                  <a:srgbClr val="FF0000"/>
                </a:solidFill>
              </a:rPr>
              <a:t>(memory block </a:t>
            </a:r>
            <a:r>
              <a:rPr lang="en-US" dirty="0">
                <a:solidFill>
                  <a:srgbClr val="FF0000"/>
                </a:solidFill>
              </a:rPr>
              <a:t>address) modulo (# of blocks in the cache)</a:t>
            </a:r>
          </a:p>
          <a:p>
            <a:pPr marL="1147762" lvl="2" indent="-285750">
              <a:lnSpc>
                <a:spcPct val="100000"/>
              </a:lnSpc>
              <a:spcBef>
                <a:spcPts val="600"/>
              </a:spcBef>
            </a:pPr>
            <a:endParaRPr lang="en-US" dirty="0">
              <a:solidFill>
                <a:schemeClr val="accent2"/>
              </a:solidFill>
            </a:endParaRPr>
          </a:p>
          <a:p>
            <a:pPr marL="742950" lvl="1" indent="-285750">
              <a:lnSpc>
                <a:spcPct val="100000"/>
              </a:lnSpc>
              <a:spcBef>
                <a:spcPts val="600"/>
              </a:spcBef>
            </a:pPr>
            <a:r>
              <a:rPr lang="en-US" dirty="0" smtClean="0"/>
              <a:t>Have a </a:t>
            </a:r>
            <a:r>
              <a:rPr lang="en-US" dirty="0" smtClean="0">
                <a:solidFill>
                  <a:schemeClr val="accent2"/>
                </a:solidFill>
              </a:rPr>
              <a:t>tag</a:t>
            </a:r>
            <a:r>
              <a:rPr lang="en-US" dirty="0" smtClean="0"/>
              <a:t> associated with each cache block that contains the address information (the upper portion of the address) required to identify the memory block (to answer Q1)</a:t>
            </a:r>
            <a:endParaRPr lang="en-US" dirty="0"/>
          </a:p>
        </p:txBody>
      </p:sp>
      <p:sp>
        <p:nvSpPr>
          <p:cNvPr id="1590276" name="Rectangle 4"/>
          <p:cNvSpPr>
            <a:spLocks noGrp="1" noChangeArrowheads="1"/>
          </p:cNvSpPr>
          <p:nvPr>
            <p:ph type="title"/>
          </p:nvPr>
        </p:nvSpPr>
        <p:spPr>
          <a:xfrm>
            <a:off x="533400" y="304800"/>
            <a:ext cx="8153400" cy="464614"/>
          </a:xfrm>
          <a:noFill/>
          <a:ln/>
        </p:spPr>
        <p:txBody>
          <a:bodyPr lIns="90488" tIns="44450" rIns="90488" bIns="44450" anchor="ctr"/>
          <a:lstStyle/>
          <a:p>
            <a:r>
              <a:rPr lang="en-US" dirty="0" smtClean="0"/>
              <a:t>Cache Basics</a:t>
            </a:r>
            <a:endParaRPr lang="en-US" dirty="0"/>
          </a:p>
        </p:txBody>
      </p:sp>
    </p:spTree>
    <p:extLst>
      <p:ext uri="{BB962C8B-B14F-4D97-AF65-F5344CB8AC3E}">
        <p14:creationId xmlns:p14="http://schemas.microsoft.com/office/powerpoint/2010/main" val="1101171871"/>
      </p:ext>
    </p:extLst>
  </p:cSld>
  <p:clrMapOvr>
    <a:masterClrMapping/>
  </p:clrMapOvr>
  <p:transition advTm="2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902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902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902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9027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9027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9027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90275">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90275">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9027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0275"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92322" name="Rectangle 2"/>
          <p:cNvSpPr>
            <a:spLocks noGrp="1" noChangeArrowheads="1"/>
          </p:cNvSpPr>
          <p:nvPr>
            <p:ph type="title"/>
          </p:nvPr>
        </p:nvSpPr>
        <p:spPr/>
        <p:txBody>
          <a:bodyPr/>
          <a:lstStyle/>
          <a:p>
            <a:r>
              <a:rPr lang="en-US"/>
              <a:t>Caching:  A Simple First Example</a:t>
            </a:r>
          </a:p>
        </p:txBody>
      </p:sp>
      <p:grpSp>
        <p:nvGrpSpPr>
          <p:cNvPr id="2" name="Group 3"/>
          <p:cNvGrpSpPr>
            <a:grpSpLocks/>
          </p:cNvGrpSpPr>
          <p:nvPr/>
        </p:nvGrpSpPr>
        <p:grpSpPr bwMode="auto">
          <a:xfrm>
            <a:off x="2209800" y="2057400"/>
            <a:ext cx="990600" cy="1219200"/>
            <a:chOff x="1344" y="1056"/>
            <a:chExt cx="624" cy="768"/>
          </a:xfrm>
        </p:grpSpPr>
        <p:sp>
          <p:nvSpPr>
            <p:cNvPr id="1592324"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2325"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2326"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2327"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592328" name="Line 8"/>
          <p:cNvSpPr>
            <a:spLocks noChangeShapeType="1"/>
          </p:cNvSpPr>
          <p:nvPr/>
        </p:nvSpPr>
        <p:spPr bwMode="auto">
          <a:xfrm>
            <a:off x="4267200" y="1447800"/>
            <a:ext cx="990600" cy="0"/>
          </a:xfrm>
          <a:prstGeom prst="line">
            <a:avLst/>
          </a:prstGeom>
          <a:noFill/>
          <a:ln w="12700">
            <a:solidFill>
              <a:schemeClr val="tx1"/>
            </a:solidFill>
            <a:round/>
            <a:headEnd/>
            <a:tailEnd/>
          </a:ln>
          <a:effectLst/>
        </p:spPr>
        <p:txBody>
          <a:bodyPr wrap="none" anchor="ctr"/>
          <a:lstStyle/>
          <a:p>
            <a:endParaRPr lang="en-US"/>
          </a:p>
        </p:txBody>
      </p:sp>
      <p:sp>
        <p:nvSpPr>
          <p:cNvPr id="1592329" name="Line 9"/>
          <p:cNvSpPr>
            <a:spLocks noChangeShapeType="1"/>
          </p:cNvSpPr>
          <p:nvPr/>
        </p:nvSpPr>
        <p:spPr bwMode="auto">
          <a:xfrm>
            <a:off x="4267200" y="1143000"/>
            <a:ext cx="990600" cy="0"/>
          </a:xfrm>
          <a:prstGeom prst="line">
            <a:avLst/>
          </a:prstGeom>
          <a:noFill/>
          <a:ln w="12700">
            <a:solidFill>
              <a:schemeClr val="tx1"/>
            </a:solidFill>
            <a:round/>
            <a:headEnd/>
            <a:tailEnd/>
          </a:ln>
          <a:effectLst/>
        </p:spPr>
        <p:txBody>
          <a:bodyPr wrap="none" anchor="ctr"/>
          <a:lstStyle/>
          <a:p>
            <a:endParaRPr lang="en-US"/>
          </a:p>
        </p:txBody>
      </p:sp>
      <p:sp>
        <p:nvSpPr>
          <p:cNvPr id="1592330" name="Line 10"/>
          <p:cNvSpPr>
            <a:spLocks noChangeShapeType="1"/>
          </p:cNvSpPr>
          <p:nvPr/>
        </p:nvSpPr>
        <p:spPr bwMode="auto">
          <a:xfrm>
            <a:off x="4267200" y="1752600"/>
            <a:ext cx="990600" cy="0"/>
          </a:xfrm>
          <a:prstGeom prst="line">
            <a:avLst/>
          </a:prstGeom>
          <a:noFill/>
          <a:ln w="12700">
            <a:solidFill>
              <a:schemeClr val="tx1"/>
            </a:solidFill>
            <a:round/>
            <a:headEnd/>
            <a:tailEnd/>
          </a:ln>
          <a:effectLst/>
        </p:spPr>
        <p:txBody>
          <a:bodyPr wrap="none" anchor="ctr"/>
          <a:lstStyle/>
          <a:p>
            <a:endParaRPr lang="en-US"/>
          </a:p>
        </p:txBody>
      </p:sp>
      <p:sp>
        <p:nvSpPr>
          <p:cNvPr id="1592331" name="Line 11"/>
          <p:cNvSpPr>
            <a:spLocks noChangeShapeType="1"/>
          </p:cNvSpPr>
          <p:nvPr/>
        </p:nvSpPr>
        <p:spPr bwMode="auto">
          <a:xfrm>
            <a:off x="4267200" y="838200"/>
            <a:ext cx="990600" cy="0"/>
          </a:xfrm>
          <a:prstGeom prst="line">
            <a:avLst/>
          </a:prstGeom>
          <a:noFill/>
          <a:ln w="12700">
            <a:solidFill>
              <a:schemeClr val="tx1"/>
            </a:solidFill>
            <a:round/>
            <a:headEnd/>
            <a:tailEnd/>
          </a:ln>
          <a:effectLst/>
        </p:spPr>
        <p:txBody>
          <a:bodyPr wrap="none" anchor="ctr"/>
          <a:lstStyle/>
          <a:p>
            <a:endParaRPr lang="en-US"/>
          </a:p>
        </p:txBody>
      </p:sp>
      <p:sp>
        <p:nvSpPr>
          <p:cNvPr id="1592332" name="Line 12"/>
          <p:cNvSpPr>
            <a:spLocks noChangeShapeType="1"/>
          </p:cNvSpPr>
          <p:nvPr/>
        </p:nvSpPr>
        <p:spPr bwMode="auto">
          <a:xfrm>
            <a:off x="4267200" y="838200"/>
            <a:ext cx="0" cy="3657600"/>
          </a:xfrm>
          <a:prstGeom prst="line">
            <a:avLst/>
          </a:prstGeom>
          <a:noFill/>
          <a:ln w="12700">
            <a:solidFill>
              <a:schemeClr val="tx1"/>
            </a:solidFill>
            <a:round/>
            <a:headEnd/>
            <a:tailEnd/>
          </a:ln>
          <a:effectLst/>
        </p:spPr>
        <p:txBody>
          <a:bodyPr wrap="none" anchor="ctr"/>
          <a:lstStyle/>
          <a:p>
            <a:endParaRPr lang="en-US"/>
          </a:p>
        </p:txBody>
      </p:sp>
      <p:sp>
        <p:nvSpPr>
          <p:cNvPr id="1592333" name="Line 13"/>
          <p:cNvSpPr>
            <a:spLocks noChangeShapeType="1"/>
          </p:cNvSpPr>
          <p:nvPr/>
        </p:nvSpPr>
        <p:spPr bwMode="auto">
          <a:xfrm>
            <a:off x="5257800" y="838200"/>
            <a:ext cx="0" cy="3657600"/>
          </a:xfrm>
          <a:prstGeom prst="line">
            <a:avLst/>
          </a:prstGeom>
          <a:noFill/>
          <a:ln w="12700">
            <a:solidFill>
              <a:schemeClr val="tx1"/>
            </a:solidFill>
            <a:round/>
            <a:headEnd/>
            <a:tailEnd/>
          </a:ln>
          <a:effectLst/>
        </p:spPr>
        <p:txBody>
          <a:bodyPr wrap="none" anchor="ctr"/>
          <a:lstStyle/>
          <a:p>
            <a:endParaRPr lang="en-US"/>
          </a:p>
        </p:txBody>
      </p:sp>
      <p:sp>
        <p:nvSpPr>
          <p:cNvPr id="1592334" name="Line 14"/>
          <p:cNvSpPr>
            <a:spLocks noChangeShapeType="1"/>
          </p:cNvSpPr>
          <p:nvPr/>
        </p:nvSpPr>
        <p:spPr bwMode="auto">
          <a:xfrm flipH="1" flipV="1">
            <a:off x="4267200" y="5105400"/>
            <a:ext cx="990600" cy="0"/>
          </a:xfrm>
          <a:prstGeom prst="line">
            <a:avLst/>
          </a:prstGeom>
          <a:noFill/>
          <a:ln w="12700">
            <a:solidFill>
              <a:schemeClr val="tx1"/>
            </a:solidFill>
            <a:round/>
            <a:headEnd/>
            <a:tailEnd/>
          </a:ln>
          <a:effectLst/>
        </p:spPr>
        <p:txBody>
          <a:bodyPr wrap="none" anchor="ctr"/>
          <a:lstStyle/>
          <a:p>
            <a:endParaRPr lang="en-US"/>
          </a:p>
        </p:txBody>
      </p:sp>
      <p:sp>
        <p:nvSpPr>
          <p:cNvPr id="1592335" name="Line 15"/>
          <p:cNvSpPr>
            <a:spLocks noChangeShapeType="1"/>
          </p:cNvSpPr>
          <p:nvPr/>
        </p:nvSpPr>
        <p:spPr bwMode="auto">
          <a:xfrm flipH="1" flipV="1">
            <a:off x="4267200" y="5410200"/>
            <a:ext cx="990600" cy="0"/>
          </a:xfrm>
          <a:prstGeom prst="line">
            <a:avLst/>
          </a:prstGeom>
          <a:noFill/>
          <a:ln w="12700">
            <a:solidFill>
              <a:schemeClr val="tx1"/>
            </a:solidFill>
            <a:round/>
            <a:headEnd/>
            <a:tailEnd/>
          </a:ln>
          <a:effectLst/>
        </p:spPr>
        <p:txBody>
          <a:bodyPr wrap="none" anchor="ctr"/>
          <a:lstStyle/>
          <a:p>
            <a:endParaRPr lang="en-US"/>
          </a:p>
        </p:txBody>
      </p:sp>
      <p:sp>
        <p:nvSpPr>
          <p:cNvPr id="1592336" name="Line 16"/>
          <p:cNvSpPr>
            <a:spLocks noChangeShapeType="1"/>
          </p:cNvSpPr>
          <p:nvPr/>
        </p:nvSpPr>
        <p:spPr bwMode="auto">
          <a:xfrm flipH="1" flipV="1">
            <a:off x="4267200" y="4800600"/>
            <a:ext cx="990600" cy="0"/>
          </a:xfrm>
          <a:prstGeom prst="line">
            <a:avLst/>
          </a:prstGeom>
          <a:noFill/>
          <a:ln w="12700">
            <a:solidFill>
              <a:schemeClr val="tx1"/>
            </a:solidFill>
            <a:round/>
            <a:headEnd/>
            <a:tailEnd/>
          </a:ln>
          <a:effectLst/>
        </p:spPr>
        <p:txBody>
          <a:bodyPr wrap="none" anchor="ctr"/>
          <a:lstStyle/>
          <a:p>
            <a:endParaRPr lang="en-US"/>
          </a:p>
        </p:txBody>
      </p:sp>
      <p:sp>
        <p:nvSpPr>
          <p:cNvPr id="1592337" name="Line 17"/>
          <p:cNvSpPr>
            <a:spLocks noChangeShapeType="1"/>
          </p:cNvSpPr>
          <p:nvPr/>
        </p:nvSpPr>
        <p:spPr bwMode="auto">
          <a:xfrm flipH="1" flipV="1">
            <a:off x="4267200" y="5715000"/>
            <a:ext cx="990600" cy="0"/>
          </a:xfrm>
          <a:prstGeom prst="line">
            <a:avLst/>
          </a:prstGeom>
          <a:noFill/>
          <a:ln w="12700">
            <a:solidFill>
              <a:schemeClr val="tx1"/>
            </a:solidFill>
            <a:round/>
            <a:headEnd/>
            <a:tailEnd/>
          </a:ln>
          <a:effectLst/>
        </p:spPr>
        <p:txBody>
          <a:bodyPr wrap="none" anchor="ctr"/>
          <a:lstStyle/>
          <a:p>
            <a:endParaRPr lang="en-US"/>
          </a:p>
        </p:txBody>
      </p:sp>
      <p:sp>
        <p:nvSpPr>
          <p:cNvPr id="1592338" name="Line 18"/>
          <p:cNvSpPr>
            <a:spLocks noChangeShapeType="1"/>
          </p:cNvSpPr>
          <p:nvPr/>
        </p:nvSpPr>
        <p:spPr bwMode="auto">
          <a:xfrm flipH="1" flipV="1">
            <a:off x="5257800" y="4495800"/>
            <a:ext cx="0" cy="1219200"/>
          </a:xfrm>
          <a:prstGeom prst="line">
            <a:avLst/>
          </a:prstGeom>
          <a:noFill/>
          <a:ln w="12700">
            <a:solidFill>
              <a:schemeClr val="tx1"/>
            </a:solidFill>
            <a:round/>
            <a:headEnd/>
            <a:tailEnd/>
          </a:ln>
          <a:effectLst/>
        </p:spPr>
        <p:txBody>
          <a:bodyPr wrap="none" anchor="ctr"/>
          <a:lstStyle/>
          <a:p>
            <a:endParaRPr lang="en-US"/>
          </a:p>
        </p:txBody>
      </p:sp>
      <p:sp>
        <p:nvSpPr>
          <p:cNvPr id="1592340" name="Text Box 20"/>
          <p:cNvSpPr txBox="1">
            <a:spLocks noChangeArrowheads="1"/>
          </p:cNvSpPr>
          <p:nvPr/>
        </p:nvSpPr>
        <p:spPr bwMode="auto">
          <a:xfrm>
            <a:off x="765175" y="2017713"/>
            <a:ext cx="438150" cy="366712"/>
          </a:xfrm>
          <a:prstGeom prst="rect">
            <a:avLst/>
          </a:prstGeom>
          <a:noFill/>
          <a:ln w="12700">
            <a:noFill/>
            <a:miter lim="800000"/>
            <a:headEnd/>
            <a:tailEnd/>
          </a:ln>
          <a:effectLst/>
        </p:spPr>
        <p:txBody>
          <a:bodyPr wrap="none">
            <a:spAutoFit/>
          </a:bodyPr>
          <a:lstStyle/>
          <a:p>
            <a:r>
              <a:rPr lang="en-US"/>
              <a:t>00</a:t>
            </a:r>
          </a:p>
        </p:txBody>
      </p:sp>
      <p:sp>
        <p:nvSpPr>
          <p:cNvPr id="1592341" name="Text Box 21"/>
          <p:cNvSpPr txBox="1">
            <a:spLocks noChangeArrowheads="1"/>
          </p:cNvSpPr>
          <p:nvPr/>
        </p:nvSpPr>
        <p:spPr bwMode="auto">
          <a:xfrm>
            <a:off x="781050" y="2362200"/>
            <a:ext cx="438150" cy="366713"/>
          </a:xfrm>
          <a:prstGeom prst="rect">
            <a:avLst/>
          </a:prstGeom>
          <a:noFill/>
          <a:ln w="12700">
            <a:noFill/>
            <a:miter lim="800000"/>
            <a:headEnd/>
            <a:tailEnd/>
          </a:ln>
          <a:effectLst/>
        </p:spPr>
        <p:txBody>
          <a:bodyPr wrap="none">
            <a:spAutoFit/>
          </a:bodyPr>
          <a:lstStyle/>
          <a:p>
            <a:r>
              <a:rPr lang="en-US"/>
              <a:t>01</a:t>
            </a:r>
          </a:p>
        </p:txBody>
      </p:sp>
      <p:sp>
        <p:nvSpPr>
          <p:cNvPr id="1592342" name="Text Box 22"/>
          <p:cNvSpPr txBox="1">
            <a:spLocks noChangeArrowheads="1"/>
          </p:cNvSpPr>
          <p:nvPr/>
        </p:nvSpPr>
        <p:spPr bwMode="auto">
          <a:xfrm>
            <a:off x="781050" y="2667000"/>
            <a:ext cx="438150" cy="366713"/>
          </a:xfrm>
          <a:prstGeom prst="rect">
            <a:avLst/>
          </a:prstGeom>
          <a:noFill/>
          <a:ln w="12700">
            <a:noFill/>
            <a:miter lim="800000"/>
            <a:headEnd/>
            <a:tailEnd/>
          </a:ln>
          <a:effectLst/>
        </p:spPr>
        <p:txBody>
          <a:bodyPr wrap="none">
            <a:spAutoFit/>
          </a:bodyPr>
          <a:lstStyle/>
          <a:p>
            <a:r>
              <a:rPr lang="en-US"/>
              <a:t>10</a:t>
            </a:r>
          </a:p>
        </p:txBody>
      </p:sp>
      <p:sp>
        <p:nvSpPr>
          <p:cNvPr id="1592343" name="Text Box 23"/>
          <p:cNvSpPr txBox="1">
            <a:spLocks noChangeArrowheads="1"/>
          </p:cNvSpPr>
          <p:nvPr/>
        </p:nvSpPr>
        <p:spPr bwMode="auto">
          <a:xfrm>
            <a:off x="781050" y="2971800"/>
            <a:ext cx="438150" cy="366713"/>
          </a:xfrm>
          <a:prstGeom prst="rect">
            <a:avLst/>
          </a:prstGeom>
          <a:noFill/>
          <a:ln w="12700">
            <a:noFill/>
            <a:miter lim="800000"/>
            <a:headEnd/>
            <a:tailEnd/>
          </a:ln>
          <a:effectLst/>
        </p:spPr>
        <p:txBody>
          <a:bodyPr wrap="none">
            <a:spAutoFit/>
          </a:bodyPr>
          <a:lstStyle/>
          <a:p>
            <a:r>
              <a:rPr lang="en-US"/>
              <a:t>11</a:t>
            </a:r>
          </a:p>
        </p:txBody>
      </p:sp>
      <p:sp>
        <p:nvSpPr>
          <p:cNvPr id="1592344" name="Text Box 24"/>
          <p:cNvSpPr txBox="1">
            <a:spLocks noChangeArrowheads="1"/>
          </p:cNvSpPr>
          <p:nvPr/>
        </p:nvSpPr>
        <p:spPr bwMode="auto">
          <a:xfrm>
            <a:off x="457200" y="1143000"/>
            <a:ext cx="869950" cy="366713"/>
          </a:xfrm>
          <a:prstGeom prst="rect">
            <a:avLst/>
          </a:prstGeom>
          <a:noFill/>
          <a:ln w="12700">
            <a:noFill/>
            <a:miter lim="800000"/>
            <a:headEnd/>
            <a:tailEnd/>
          </a:ln>
          <a:effectLst/>
        </p:spPr>
        <p:txBody>
          <a:bodyPr wrap="none">
            <a:spAutoFit/>
          </a:bodyPr>
          <a:lstStyle/>
          <a:p>
            <a:r>
              <a:rPr lang="en-US" b="1">
                <a:solidFill>
                  <a:schemeClr val="tx1"/>
                </a:solidFill>
              </a:rPr>
              <a:t>Cache</a:t>
            </a:r>
          </a:p>
        </p:txBody>
      </p:sp>
      <p:sp>
        <p:nvSpPr>
          <p:cNvPr id="1592345" name="Text Box 25"/>
          <p:cNvSpPr txBox="1">
            <a:spLocks noChangeArrowheads="1"/>
          </p:cNvSpPr>
          <p:nvPr/>
        </p:nvSpPr>
        <p:spPr bwMode="auto">
          <a:xfrm>
            <a:off x="5181600" y="838200"/>
            <a:ext cx="990600" cy="4918075"/>
          </a:xfrm>
          <a:prstGeom prst="rect">
            <a:avLst/>
          </a:prstGeom>
          <a:noFill/>
          <a:ln w="12700">
            <a:noFill/>
            <a:miter lim="800000"/>
            <a:headEnd/>
            <a:tailEnd/>
          </a:ln>
          <a:effectLst/>
        </p:spPr>
        <p:txBody>
          <a:bodyPr>
            <a:spAutoFit/>
          </a:bodyPr>
          <a:lstStyle/>
          <a:p>
            <a:pPr>
              <a:lnSpc>
                <a:spcPct val="110000"/>
              </a:lnSpc>
            </a:pPr>
            <a:r>
              <a:rPr lang="en-US">
                <a:solidFill>
                  <a:schemeClr val="accent2"/>
                </a:solidFill>
              </a:rPr>
              <a:t>00</a:t>
            </a:r>
            <a:r>
              <a:rPr lang="en-US"/>
              <a:t>00</a:t>
            </a:r>
            <a:r>
              <a:rPr lang="en-US">
                <a:solidFill>
                  <a:schemeClr val="tx1"/>
                </a:solidFill>
              </a:rPr>
              <a:t>xx</a:t>
            </a:r>
          </a:p>
          <a:p>
            <a:pPr>
              <a:lnSpc>
                <a:spcPct val="110000"/>
              </a:lnSpc>
            </a:pPr>
            <a:r>
              <a:rPr lang="en-US">
                <a:solidFill>
                  <a:schemeClr val="accent2"/>
                </a:solidFill>
              </a:rPr>
              <a:t>00</a:t>
            </a:r>
            <a:r>
              <a:rPr lang="en-US"/>
              <a:t>01</a:t>
            </a:r>
            <a:r>
              <a:rPr lang="en-US">
                <a:solidFill>
                  <a:schemeClr val="tx1"/>
                </a:solidFill>
              </a:rPr>
              <a:t>xx</a:t>
            </a:r>
          </a:p>
          <a:p>
            <a:pPr>
              <a:lnSpc>
                <a:spcPct val="110000"/>
              </a:lnSpc>
            </a:pPr>
            <a:r>
              <a:rPr lang="en-US">
                <a:solidFill>
                  <a:schemeClr val="accent2"/>
                </a:solidFill>
              </a:rPr>
              <a:t>00</a:t>
            </a:r>
            <a:r>
              <a:rPr lang="en-US"/>
              <a:t>10</a:t>
            </a:r>
            <a:r>
              <a:rPr lang="en-US">
                <a:solidFill>
                  <a:schemeClr val="tx1"/>
                </a:solidFill>
              </a:rPr>
              <a:t>xx</a:t>
            </a:r>
          </a:p>
          <a:p>
            <a:pPr>
              <a:lnSpc>
                <a:spcPct val="110000"/>
              </a:lnSpc>
            </a:pPr>
            <a:r>
              <a:rPr lang="en-US">
                <a:solidFill>
                  <a:schemeClr val="accent2"/>
                </a:solidFill>
              </a:rPr>
              <a:t>00</a:t>
            </a:r>
            <a:r>
              <a:rPr lang="en-US"/>
              <a:t>11</a:t>
            </a:r>
            <a:r>
              <a:rPr lang="en-US">
                <a:solidFill>
                  <a:schemeClr val="tx1"/>
                </a:solidFill>
              </a:rPr>
              <a:t>xx</a:t>
            </a:r>
          </a:p>
          <a:p>
            <a:pPr>
              <a:lnSpc>
                <a:spcPct val="110000"/>
              </a:lnSpc>
            </a:pPr>
            <a:r>
              <a:rPr lang="en-US">
                <a:solidFill>
                  <a:schemeClr val="accent2"/>
                </a:solidFill>
              </a:rPr>
              <a:t>01</a:t>
            </a:r>
            <a:r>
              <a:rPr lang="en-US"/>
              <a:t>00</a:t>
            </a:r>
            <a:r>
              <a:rPr lang="en-US">
                <a:solidFill>
                  <a:schemeClr val="tx1"/>
                </a:solidFill>
              </a:rPr>
              <a:t>xx</a:t>
            </a:r>
          </a:p>
          <a:p>
            <a:pPr>
              <a:lnSpc>
                <a:spcPct val="110000"/>
              </a:lnSpc>
            </a:pPr>
            <a:r>
              <a:rPr lang="en-US">
                <a:solidFill>
                  <a:schemeClr val="accent2"/>
                </a:solidFill>
              </a:rPr>
              <a:t>01</a:t>
            </a:r>
            <a:r>
              <a:rPr lang="en-US"/>
              <a:t>01</a:t>
            </a:r>
            <a:r>
              <a:rPr lang="en-US">
                <a:solidFill>
                  <a:schemeClr val="tx1"/>
                </a:solidFill>
              </a:rPr>
              <a:t>xx</a:t>
            </a:r>
          </a:p>
          <a:p>
            <a:pPr>
              <a:lnSpc>
                <a:spcPct val="110000"/>
              </a:lnSpc>
            </a:pPr>
            <a:r>
              <a:rPr lang="en-US">
                <a:solidFill>
                  <a:schemeClr val="accent2"/>
                </a:solidFill>
              </a:rPr>
              <a:t>01</a:t>
            </a:r>
            <a:r>
              <a:rPr lang="en-US"/>
              <a:t>10</a:t>
            </a:r>
            <a:r>
              <a:rPr lang="en-US">
                <a:solidFill>
                  <a:schemeClr val="tx1"/>
                </a:solidFill>
              </a:rPr>
              <a:t>xx</a:t>
            </a:r>
          </a:p>
          <a:p>
            <a:pPr>
              <a:lnSpc>
                <a:spcPct val="110000"/>
              </a:lnSpc>
            </a:pPr>
            <a:r>
              <a:rPr lang="en-US">
                <a:solidFill>
                  <a:schemeClr val="accent2"/>
                </a:solidFill>
              </a:rPr>
              <a:t>01</a:t>
            </a:r>
            <a:r>
              <a:rPr lang="en-US"/>
              <a:t>11</a:t>
            </a:r>
            <a:r>
              <a:rPr lang="en-US">
                <a:solidFill>
                  <a:schemeClr val="tx1"/>
                </a:solidFill>
              </a:rPr>
              <a:t>xx</a:t>
            </a:r>
          </a:p>
          <a:p>
            <a:pPr>
              <a:lnSpc>
                <a:spcPct val="110000"/>
              </a:lnSpc>
            </a:pPr>
            <a:r>
              <a:rPr lang="en-US">
                <a:solidFill>
                  <a:schemeClr val="accent2"/>
                </a:solidFill>
              </a:rPr>
              <a:t>10</a:t>
            </a:r>
            <a:r>
              <a:rPr lang="en-US"/>
              <a:t>00</a:t>
            </a:r>
            <a:r>
              <a:rPr lang="en-US">
                <a:solidFill>
                  <a:schemeClr val="tx1"/>
                </a:solidFill>
              </a:rPr>
              <a:t>xx</a:t>
            </a:r>
          </a:p>
          <a:p>
            <a:pPr>
              <a:lnSpc>
                <a:spcPct val="110000"/>
              </a:lnSpc>
            </a:pPr>
            <a:r>
              <a:rPr lang="en-US">
                <a:solidFill>
                  <a:schemeClr val="accent2"/>
                </a:solidFill>
              </a:rPr>
              <a:t>10</a:t>
            </a:r>
            <a:r>
              <a:rPr lang="en-US"/>
              <a:t>01</a:t>
            </a:r>
            <a:r>
              <a:rPr lang="en-US">
                <a:solidFill>
                  <a:schemeClr val="tx1"/>
                </a:solidFill>
              </a:rPr>
              <a:t>xx</a:t>
            </a:r>
          </a:p>
          <a:p>
            <a:pPr>
              <a:lnSpc>
                <a:spcPct val="110000"/>
              </a:lnSpc>
            </a:pPr>
            <a:r>
              <a:rPr lang="en-US">
                <a:solidFill>
                  <a:schemeClr val="accent2"/>
                </a:solidFill>
              </a:rPr>
              <a:t>10</a:t>
            </a:r>
            <a:r>
              <a:rPr lang="en-US"/>
              <a:t>10</a:t>
            </a:r>
            <a:r>
              <a:rPr lang="en-US">
                <a:solidFill>
                  <a:schemeClr val="tx1"/>
                </a:solidFill>
              </a:rPr>
              <a:t>xx</a:t>
            </a:r>
          </a:p>
          <a:p>
            <a:pPr>
              <a:lnSpc>
                <a:spcPct val="110000"/>
              </a:lnSpc>
            </a:pPr>
            <a:r>
              <a:rPr lang="en-US">
                <a:solidFill>
                  <a:schemeClr val="accent2"/>
                </a:solidFill>
              </a:rPr>
              <a:t>10</a:t>
            </a:r>
            <a:r>
              <a:rPr lang="en-US"/>
              <a:t>11</a:t>
            </a:r>
            <a:r>
              <a:rPr lang="en-US">
                <a:solidFill>
                  <a:schemeClr val="tx1"/>
                </a:solidFill>
              </a:rPr>
              <a:t>xx</a:t>
            </a:r>
          </a:p>
          <a:p>
            <a:pPr>
              <a:lnSpc>
                <a:spcPct val="110000"/>
              </a:lnSpc>
            </a:pPr>
            <a:r>
              <a:rPr lang="en-US">
                <a:solidFill>
                  <a:schemeClr val="accent2"/>
                </a:solidFill>
              </a:rPr>
              <a:t>11</a:t>
            </a:r>
            <a:r>
              <a:rPr lang="en-US"/>
              <a:t>00</a:t>
            </a:r>
            <a:r>
              <a:rPr lang="en-US">
                <a:solidFill>
                  <a:schemeClr val="tx1"/>
                </a:solidFill>
              </a:rPr>
              <a:t>xx</a:t>
            </a:r>
          </a:p>
          <a:p>
            <a:pPr>
              <a:lnSpc>
                <a:spcPct val="110000"/>
              </a:lnSpc>
            </a:pPr>
            <a:r>
              <a:rPr lang="en-US">
                <a:solidFill>
                  <a:schemeClr val="accent2"/>
                </a:solidFill>
              </a:rPr>
              <a:t>11</a:t>
            </a:r>
            <a:r>
              <a:rPr lang="en-US"/>
              <a:t>01</a:t>
            </a:r>
            <a:r>
              <a:rPr lang="en-US">
                <a:solidFill>
                  <a:schemeClr val="tx1"/>
                </a:solidFill>
              </a:rPr>
              <a:t>xx</a:t>
            </a:r>
          </a:p>
          <a:p>
            <a:pPr>
              <a:lnSpc>
                <a:spcPct val="110000"/>
              </a:lnSpc>
            </a:pPr>
            <a:r>
              <a:rPr lang="en-US">
                <a:solidFill>
                  <a:schemeClr val="accent2"/>
                </a:solidFill>
              </a:rPr>
              <a:t>11</a:t>
            </a:r>
            <a:r>
              <a:rPr lang="en-US"/>
              <a:t>10</a:t>
            </a:r>
            <a:r>
              <a:rPr lang="en-US">
                <a:solidFill>
                  <a:schemeClr val="tx1"/>
                </a:solidFill>
              </a:rPr>
              <a:t>xx</a:t>
            </a:r>
          </a:p>
          <a:p>
            <a:pPr>
              <a:lnSpc>
                <a:spcPct val="110000"/>
              </a:lnSpc>
            </a:pPr>
            <a:r>
              <a:rPr lang="en-US">
                <a:solidFill>
                  <a:schemeClr val="accent2"/>
                </a:solidFill>
              </a:rPr>
              <a:t>11</a:t>
            </a:r>
            <a:r>
              <a:rPr lang="en-US"/>
              <a:t>11</a:t>
            </a:r>
            <a:r>
              <a:rPr lang="en-US">
                <a:solidFill>
                  <a:schemeClr val="tx1"/>
                </a:solidFill>
              </a:rPr>
              <a:t>xx</a:t>
            </a:r>
          </a:p>
        </p:txBody>
      </p:sp>
      <p:sp>
        <p:nvSpPr>
          <p:cNvPr id="1592346" name="Text Box 26"/>
          <p:cNvSpPr txBox="1">
            <a:spLocks noChangeArrowheads="1"/>
          </p:cNvSpPr>
          <p:nvPr/>
        </p:nvSpPr>
        <p:spPr bwMode="auto">
          <a:xfrm>
            <a:off x="5791200" y="609600"/>
            <a:ext cx="1644650" cy="366713"/>
          </a:xfrm>
          <a:prstGeom prst="rect">
            <a:avLst/>
          </a:prstGeom>
          <a:noFill/>
          <a:ln w="12700">
            <a:noFill/>
            <a:miter lim="800000"/>
            <a:headEnd/>
            <a:tailEnd/>
          </a:ln>
          <a:effectLst/>
        </p:spPr>
        <p:txBody>
          <a:bodyPr wrap="none">
            <a:spAutoFit/>
          </a:bodyPr>
          <a:lstStyle/>
          <a:p>
            <a:r>
              <a:rPr lang="en-US" b="1">
                <a:solidFill>
                  <a:schemeClr val="tx1"/>
                </a:solidFill>
              </a:rPr>
              <a:t>Main Memory</a:t>
            </a:r>
          </a:p>
        </p:txBody>
      </p:sp>
      <p:sp>
        <p:nvSpPr>
          <p:cNvPr id="1592348" name="Line 28"/>
          <p:cNvSpPr>
            <a:spLocks noChangeShapeType="1"/>
          </p:cNvSpPr>
          <p:nvPr/>
        </p:nvSpPr>
        <p:spPr bwMode="auto">
          <a:xfrm>
            <a:off x="4267200" y="2057400"/>
            <a:ext cx="990600" cy="0"/>
          </a:xfrm>
          <a:prstGeom prst="line">
            <a:avLst/>
          </a:prstGeom>
          <a:noFill/>
          <a:ln w="12700">
            <a:solidFill>
              <a:schemeClr val="tx1"/>
            </a:solidFill>
            <a:round/>
            <a:headEnd/>
            <a:tailEnd/>
          </a:ln>
          <a:effectLst/>
        </p:spPr>
        <p:txBody>
          <a:bodyPr wrap="none" anchor="ctr"/>
          <a:lstStyle/>
          <a:p>
            <a:endParaRPr lang="en-US"/>
          </a:p>
        </p:txBody>
      </p:sp>
      <p:sp>
        <p:nvSpPr>
          <p:cNvPr id="1592349" name="Line 29"/>
          <p:cNvSpPr>
            <a:spLocks noChangeShapeType="1"/>
          </p:cNvSpPr>
          <p:nvPr/>
        </p:nvSpPr>
        <p:spPr bwMode="auto">
          <a:xfrm>
            <a:off x="4267200" y="2362200"/>
            <a:ext cx="990600" cy="0"/>
          </a:xfrm>
          <a:prstGeom prst="line">
            <a:avLst/>
          </a:prstGeom>
          <a:noFill/>
          <a:ln w="12700">
            <a:solidFill>
              <a:schemeClr val="tx1"/>
            </a:solidFill>
            <a:round/>
            <a:headEnd/>
            <a:tailEnd/>
          </a:ln>
          <a:effectLst/>
        </p:spPr>
        <p:txBody>
          <a:bodyPr wrap="none" anchor="ctr"/>
          <a:lstStyle/>
          <a:p>
            <a:endParaRPr lang="en-US"/>
          </a:p>
        </p:txBody>
      </p:sp>
      <p:sp>
        <p:nvSpPr>
          <p:cNvPr id="1592350" name="Line 30"/>
          <p:cNvSpPr>
            <a:spLocks noChangeShapeType="1"/>
          </p:cNvSpPr>
          <p:nvPr/>
        </p:nvSpPr>
        <p:spPr bwMode="auto">
          <a:xfrm>
            <a:off x="4267200" y="2667000"/>
            <a:ext cx="990600" cy="0"/>
          </a:xfrm>
          <a:prstGeom prst="line">
            <a:avLst/>
          </a:prstGeom>
          <a:noFill/>
          <a:ln w="12700">
            <a:solidFill>
              <a:schemeClr val="tx1"/>
            </a:solidFill>
            <a:round/>
            <a:headEnd/>
            <a:tailEnd/>
          </a:ln>
          <a:effectLst/>
        </p:spPr>
        <p:txBody>
          <a:bodyPr wrap="none" anchor="ctr"/>
          <a:lstStyle/>
          <a:p>
            <a:endParaRPr lang="en-US"/>
          </a:p>
        </p:txBody>
      </p:sp>
      <p:sp>
        <p:nvSpPr>
          <p:cNvPr id="1592351" name="Line 31"/>
          <p:cNvSpPr>
            <a:spLocks noChangeShapeType="1"/>
          </p:cNvSpPr>
          <p:nvPr/>
        </p:nvSpPr>
        <p:spPr bwMode="auto">
          <a:xfrm>
            <a:off x="4267200" y="2971800"/>
            <a:ext cx="990600" cy="0"/>
          </a:xfrm>
          <a:prstGeom prst="line">
            <a:avLst/>
          </a:prstGeom>
          <a:noFill/>
          <a:ln w="12700">
            <a:solidFill>
              <a:schemeClr val="tx1"/>
            </a:solidFill>
            <a:round/>
            <a:headEnd/>
            <a:tailEnd/>
          </a:ln>
          <a:effectLst/>
        </p:spPr>
        <p:txBody>
          <a:bodyPr wrap="none" anchor="ctr"/>
          <a:lstStyle/>
          <a:p>
            <a:endParaRPr lang="en-US"/>
          </a:p>
        </p:txBody>
      </p:sp>
      <p:sp>
        <p:nvSpPr>
          <p:cNvPr id="1592352" name="Line 32"/>
          <p:cNvSpPr>
            <a:spLocks noChangeShapeType="1"/>
          </p:cNvSpPr>
          <p:nvPr/>
        </p:nvSpPr>
        <p:spPr bwMode="auto">
          <a:xfrm>
            <a:off x="4267200" y="3276600"/>
            <a:ext cx="990600" cy="0"/>
          </a:xfrm>
          <a:prstGeom prst="line">
            <a:avLst/>
          </a:prstGeom>
          <a:noFill/>
          <a:ln w="12700">
            <a:solidFill>
              <a:schemeClr val="tx1"/>
            </a:solidFill>
            <a:round/>
            <a:headEnd/>
            <a:tailEnd/>
          </a:ln>
          <a:effectLst/>
        </p:spPr>
        <p:txBody>
          <a:bodyPr wrap="none" anchor="ctr"/>
          <a:lstStyle/>
          <a:p>
            <a:endParaRPr lang="en-US"/>
          </a:p>
        </p:txBody>
      </p:sp>
      <p:sp>
        <p:nvSpPr>
          <p:cNvPr id="1592353" name="Line 33"/>
          <p:cNvSpPr>
            <a:spLocks noChangeShapeType="1"/>
          </p:cNvSpPr>
          <p:nvPr/>
        </p:nvSpPr>
        <p:spPr bwMode="auto">
          <a:xfrm>
            <a:off x="4267200" y="3581400"/>
            <a:ext cx="990600" cy="0"/>
          </a:xfrm>
          <a:prstGeom prst="line">
            <a:avLst/>
          </a:prstGeom>
          <a:noFill/>
          <a:ln w="12700">
            <a:solidFill>
              <a:schemeClr val="tx1"/>
            </a:solidFill>
            <a:round/>
            <a:headEnd/>
            <a:tailEnd/>
          </a:ln>
          <a:effectLst/>
        </p:spPr>
        <p:txBody>
          <a:bodyPr wrap="none" anchor="ctr"/>
          <a:lstStyle/>
          <a:p>
            <a:endParaRPr lang="en-US"/>
          </a:p>
        </p:txBody>
      </p:sp>
      <p:sp>
        <p:nvSpPr>
          <p:cNvPr id="1592354" name="Line 34"/>
          <p:cNvSpPr>
            <a:spLocks noChangeShapeType="1"/>
          </p:cNvSpPr>
          <p:nvPr/>
        </p:nvSpPr>
        <p:spPr bwMode="auto">
          <a:xfrm>
            <a:off x="4267200" y="4495800"/>
            <a:ext cx="990600" cy="0"/>
          </a:xfrm>
          <a:prstGeom prst="line">
            <a:avLst/>
          </a:prstGeom>
          <a:noFill/>
          <a:ln w="12700">
            <a:solidFill>
              <a:schemeClr val="tx1"/>
            </a:solidFill>
            <a:round/>
            <a:headEnd/>
            <a:tailEnd/>
          </a:ln>
          <a:effectLst/>
        </p:spPr>
        <p:txBody>
          <a:bodyPr wrap="none" anchor="ctr"/>
          <a:lstStyle/>
          <a:p>
            <a:endParaRPr lang="en-US"/>
          </a:p>
        </p:txBody>
      </p:sp>
      <p:sp>
        <p:nvSpPr>
          <p:cNvPr id="1592355" name="Line 35"/>
          <p:cNvSpPr>
            <a:spLocks noChangeShapeType="1"/>
          </p:cNvSpPr>
          <p:nvPr/>
        </p:nvSpPr>
        <p:spPr bwMode="auto">
          <a:xfrm>
            <a:off x="4267200" y="3886200"/>
            <a:ext cx="990600" cy="0"/>
          </a:xfrm>
          <a:prstGeom prst="line">
            <a:avLst/>
          </a:prstGeom>
          <a:noFill/>
          <a:ln w="12700">
            <a:solidFill>
              <a:schemeClr val="tx1"/>
            </a:solidFill>
            <a:round/>
            <a:headEnd/>
            <a:tailEnd/>
          </a:ln>
          <a:effectLst/>
        </p:spPr>
        <p:txBody>
          <a:bodyPr wrap="none" anchor="ctr"/>
          <a:lstStyle/>
          <a:p>
            <a:endParaRPr lang="en-US"/>
          </a:p>
        </p:txBody>
      </p:sp>
      <p:sp>
        <p:nvSpPr>
          <p:cNvPr id="1592356" name="Line 36"/>
          <p:cNvSpPr>
            <a:spLocks noChangeShapeType="1"/>
          </p:cNvSpPr>
          <p:nvPr/>
        </p:nvSpPr>
        <p:spPr bwMode="auto">
          <a:xfrm>
            <a:off x="4267200" y="4191000"/>
            <a:ext cx="990600" cy="0"/>
          </a:xfrm>
          <a:prstGeom prst="line">
            <a:avLst/>
          </a:prstGeom>
          <a:noFill/>
          <a:ln w="12700">
            <a:solidFill>
              <a:schemeClr val="tx1"/>
            </a:solidFill>
            <a:round/>
            <a:headEnd/>
            <a:tailEnd/>
          </a:ln>
          <a:effectLst/>
        </p:spPr>
        <p:txBody>
          <a:bodyPr wrap="none" anchor="ctr"/>
          <a:lstStyle/>
          <a:p>
            <a:endParaRPr lang="en-US"/>
          </a:p>
        </p:txBody>
      </p:sp>
      <p:grpSp>
        <p:nvGrpSpPr>
          <p:cNvPr id="3" name="Group 37"/>
          <p:cNvGrpSpPr>
            <a:grpSpLocks/>
          </p:cNvGrpSpPr>
          <p:nvPr/>
        </p:nvGrpSpPr>
        <p:grpSpPr bwMode="auto">
          <a:xfrm>
            <a:off x="1600200" y="2057400"/>
            <a:ext cx="609600" cy="1219200"/>
            <a:chOff x="1344" y="1056"/>
            <a:chExt cx="624" cy="768"/>
          </a:xfrm>
        </p:grpSpPr>
        <p:sp>
          <p:nvSpPr>
            <p:cNvPr id="1592358" name="Rectangle 38"/>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2359" name="Line 39"/>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2360" name="Line 40"/>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2361" name="Line 41"/>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592362" name="Text Box 42"/>
          <p:cNvSpPr txBox="1">
            <a:spLocks noChangeArrowheads="1"/>
          </p:cNvSpPr>
          <p:nvPr/>
        </p:nvSpPr>
        <p:spPr bwMode="auto">
          <a:xfrm>
            <a:off x="1600200" y="1600200"/>
            <a:ext cx="577850" cy="366713"/>
          </a:xfrm>
          <a:prstGeom prst="rect">
            <a:avLst/>
          </a:prstGeom>
          <a:noFill/>
          <a:ln w="12700">
            <a:noFill/>
            <a:miter lim="800000"/>
            <a:headEnd/>
            <a:tailEnd/>
          </a:ln>
          <a:effectLst/>
        </p:spPr>
        <p:txBody>
          <a:bodyPr wrap="none">
            <a:spAutoFit/>
          </a:bodyPr>
          <a:lstStyle/>
          <a:p>
            <a:r>
              <a:rPr lang="en-US">
                <a:solidFill>
                  <a:schemeClr val="accent2"/>
                </a:solidFill>
              </a:rPr>
              <a:t>Tag</a:t>
            </a:r>
          </a:p>
        </p:txBody>
      </p:sp>
      <p:sp>
        <p:nvSpPr>
          <p:cNvPr id="1592363" name="Text Box 43"/>
          <p:cNvSpPr txBox="1">
            <a:spLocks noChangeArrowheads="1"/>
          </p:cNvSpPr>
          <p:nvPr/>
        </p:nvSpPr>
        <p:spPr bwMode="auto">
          <a:xfrm>
            <a:off x="2362200" y="1600200"/>
            <a:ext cx="666750" cy="366713"/>
          </a:xfrm>
          <a:prstGeom prst="rect">
            <a:avLst/>
          </a:prstGeom>
          <a:noFill/>
          <a:ln w="12700">
            <a:noFill/>
            <a:miter lim="800000"/>
            <a:headEnd/>
            <a:tailEnd/>
          </a:ln>
          <a:effectLst/>
        </p:spPr>
        <p:txBody>
          <a:bodyPr wrap="none">
            <a:spAutoFit/>
          </a:bodyPr>
          <a:lstStyle/>
          <a:p>
            <a:r>
              <a:rPr lang="en-US">
                <a:solidFill>
                  <a:schemeClr val="tx1"/>
                </a:solidFill>
              </a:rPr>
              <a:t>Data</a:t>
            </a:r>
          </a:p>
        </p:txBody>
      </p:sp>
      <p:sp>
        <p:nvSpPr>
          <p:cNvPr id="1592364" name="Rectangle 44" descr="5%"/>
          <p:cNvSpPr>
            <a:spLocks noChangeArrowheads="1"/>
          </p:cNvSpPr>
          <p:nvPr/>
        </p:nvSpPr>
        <p:spPr bwMode="auto">
          <a:xfrm>
            <a:off x="4267200" y="838200"/>
            <a:ext cx="990600" cy="304800"/>
          </a:xfrm>
          <a:prstGeom prst="rect">
            <a:avLst/>
          </a:prstGeom>
          <a:pattFill prst="pct5">
            <a:fgClr>
              <a:schemeClr val="accent1"/>
            </a:fgClr>
            <a:bgClr>
              <a:srgbClr val="FFFFFF"/>
            </a:bgClr>
          </a:pattFill>
          <a:ln w="12700">
            <a:solidFill>
              <a:schemeClr val="accent1"/>
            </a:solidFill>
            <a:miter lim="800000"/>
            <a:headEnd/>
            <a:tailEnd/>
          </a:ln>
          <a:effectLst/>
        </p:spPr>
        <p:txBody>
          <a:bodyPr wrap="none" anchor="ctr"/>
          <a:lstStyle/>
          <a:p>
            <a:endParaRPr lang="en-US"/>
          </a:p>
        </p:txBody>
      </p:sp>
      <p:sp>
        <p:nvSpPr>
          <p:cNvPr id="1592365" name="Rectangle 45" descr="5%"/>
          <p:cNvSpPr>
            <a:spLocks noChangeArrowheads="1"/>
          </p:cNvSpPr>
          <p:nvPr/>
        </p:nvSpPr>
        <p:spPr bwMode="auto">
          <a:xfrm>
            <a:off x="2209800" y="2057400"/>
            <a:ext cx="990600" cy="304800"/>
          </a:xfrm>
          <a:prstGeom prst="rect">
            <a:avLst/>
          </a:prstGeom>
          <a:pattFill prst="pct5">
            <a:fgClr>
              <a:schemeClr val="accent1"/>
            </a:fgClr>
            <a:bgClr>
              <a:srgbClr val="FFFFFF"/>
            </a:bgClr>
          </a:pattFill>
          <a:ln w="12700">
            <a:solidFill>
              <a:schemeClr val="accent1"/>
            </a:solidFill>
            <a:miter lim="800000"/>
            <a:headEnd/>
            <a:tailEnd/>
          </a:ln>
          <a:effectLst/>
        </p:spPr>
        <p:txBody>
          <a:bodyPr wrap="none" anchor="ctr"/>
          <a:lstStyle/>
          <a:p>
            <a:endParaRPr lang="en-US"/>
          </a:p>
        </p:txBody>
      </p:sp>
      <p:sp>
        <p:nvSpPr>
          <p:cNvPr id="1592366" name="Rectangle 46" descr="5%"/>
          <p:cNvSpPr>
            <a:spLocks noChangeArrowheads="1"/>
          </p:cNvSpPr>
          <p:nvPr/>
        </p:nvSpPr>
        <p:spPr bwMode="auto">
          <a:xfrm>
            <a:off x="4267200" y="2057400"/>
            <a:ext cx="990600" cy="304800"/>
          </a:xfrm>
          <a:prstGeom prst="rect">
            <a:avLst/>
          </a:prstGeom>
          <a:pattFill prst="pct5">
            <a:fgClr>
              <a:schemeClr val="accent1"/>
            </a:fgClr>
            <a:bgClr>
              <a:srgbClr val="FFFFFF"/>
            </a:bgClr>
          </a:pattFill>
          <a:ln w="12700">
            <a:solidFill>
              <a:schemeClr val="accent1"/>
            </a:solidFill>
            <a:miter lim="800000"/>
            <a:headEnd/>
            <a:tailEnd/>
          </a:ln>
          <a:effectLst/>
        </p:spPr>
        <p:txBody>
          <a:bodyPr wrap="none" anchor="ctr"/>
          <a:lstStyle/>
          <a:p>
            <a:endParaRPr lang="en-US"/>
          </a:p>
        </p:txBody>
      </p:sp>
      <p:sp>
        <p:nvSpPr>
          <p:cNvPr id="1592367" name="Rectangle 47" descr="5%"/>
          <p:cNvSpPr>
            <a:spLocks noChangeArrowheads="1"/>
          </p:cNvSpPr>
          <p:nvPr/>
        </p:nvSpPr>
        <p:spPr bwMode="auto">
          <a:xfrm>
            <a:off x="4267200" y="3276600"/>
            <a:ext cx="990600" cy="304800"/>
          </a:xfrm>
          <a:prstGeom prst="rect">
            <a:avLst/>
          </a:prstGeom>
          <a:pattFill prst="pct5">
            <a:fgClr>
              <a:schemeClr val="accent1"/>
            </a:fgClr>
            <a:bgClr>
              <a:srgbClr val="FFFFFF"/>
            </a:bgClr>
          </a:pattFill>
          <a:ln w="12700">
            <a:solidFill>
              <a:schemeClr val="accent1"/>
            </a:solidFill>
            <a:miter lim="800000"/>
            <a:headEnd/>
            <a:tailEnd/>
          </a:ln>
          <a:effectLst/>
        </p:spPr>
        <p:txBody>
          <a:bodyPr wrap="none" anchor="ctr"/>
          <a:lstStyle/>
          <a:p>
            <a:endParaRPr lang="en-US"/>
          </a:p>
        </p:txBody>
      </p:sp>
      <p:sp>
        <p:nvSpPr>
          <p:cNvPr id="1592368" name="Rectangle 48" descr="5%"/>
          <p:cNvSpPr>
            <a:spLocks noChangeArrowheads="1"/>
          </p:cNvSpPr>
          <p:nvPr/>
        </p:nvSpPr>
        <p:spPr bwMode="auto">
          <a:xfrm>
            <a:off x="4267200" y="4495800"/>
            <a:ext cx="990600" cy="304800"/>
          </a:xfrm>
          <a:prstGeom prst="rect">
            <a:avLst/>
          </a:prstGeom>
          <a:pattFill prst="pct5">
            <a:fgClr>
              <a:schemeClr val="accent1"/>
            </a:fgClr>
            <a:bgClr>
              <a:srgbClr val="FFFFFF"/>
            </a:bgClr>
          </a:pattFill>
          <a:ln w="12700">
            <a:solidFill>
              <a:schemeClr val="accent1"/>
            </a:solidFill>
            <a:miter lim="800000"/>
            <a:headEnd/>
            <a:tailEnd/>
          </a:ln>
          <a:effectLst/>
        </p:spPr>
        <p:txBody>
          <a:bodyPr wrap="none" anchor="ctr"/>
          <a:lstStyle/>
          <a:p>
            <a:endParaRPr lang="en-US"/>
          </a:p>
        </p:txBody>
      </p:sp>
      <p:sp>
        <p:nvSpPr>
          <p:cNvPr id="1592369" name="Rectangle 49" descr="5%"/>
          <p:cNvSpPr>
            <a:spLocks noChangeArrowheads="1"/>
          </p:cNvSpPr>
          <p:nvPr/>
        </p:nvSpPr>
        <p:spPr bwMode="auto">
          <a:xfrm>
            <a:off x="4267200" y="5410200"/>
            <a:ext cx="990600" cy="304800"/>
          </a:xfrm>
          <a:prstGeom prst="rect">
            <a:avLst/>
          </a:prstGeom>
          <a:pattFill prst="pct5">
            <a:fgClr>
              <a:srgbClr val="009900"/>
            </a:fgClr>
            <a:bgClr>
              <a:srgbClr val="FFFFFF"/>
            </a:bgClr>
          </a:pattFill>
          <a:ln w="12700">
            <a:solidFill>
              <a:srgbClr val="009900"/>
            </a:solidFill>
            <a:miter lim="800000"/>
            <a:headEnd/>
            <a:tailEnd/>
          </a:ln>
          <a:effectLst/>
        </p:spPr>
        <p:txBody>
          <a:bodyPr wrap="none" anchor="ctr"/>
          <a:lstStyle/>
          <a:p>
            <a:endParaRPr lang="en-US"/>
          </a:p>
        </p:txBody>
      </p:sp>
      <p:sp>
        <p:nvSpPr>
          <p:cNvPr id="1592370" name="Rectangle 50" descr="5%"/>
          <p:cNvSpPr>
            <a:spLocks noChangeArrowheads="1"/>
          </p:cNvSpPr>
          <p:nvPr/>
        </p:nvSpPr>
        <p:spPr bwMode="auto">
          <a:xfrm>
            <a:off x="4267200" y="4191000"/>
            <a:ext cx="990600" cy="304800"/>
          </a:xfrm>
          <a:prstGeom prst="rect">
            <a:avLst/>
          </a:prstGeom>
          <a:pattFill prst="pct5">
            <a:fgClr>
              <a:srgbClr val="009900"/>
            </a:fgClr>
            <a:bgClr>
              <a:srgbClr val="FFFFFF"/>
            </a:bgClr>
          </a:pattFill>
          <a:ln w="12700">
            <a:solidFill>
              <a:srgbClr val="009900"/>
            </a:solidFill>
            <a:miter lim="800000"/>
            <a:headEnd/>
            <a:tailEnd/>
          </a:ln>
          <a:effectLst/>
        </p:spPr>
        <p:txBody>
          <a:bodyPr wrap="none" anchor="ctr"/>
          <a:lstStyle/>
          <a:p>
            <a:endParaRPr lang="en-US"/>
          </a:p>
        </p:txBody>
      </p:sp>
      <p:sp>
        <p:nvSpPr>
          <p:cNvPr id="1592371" name="Rectangle 51" descr="5%"/>
          <p:cNvSpPr>
            <a:spLocks noChangeArrowheads="1"/>
          </p:cNvSpPr>
          <p:nvPr/>
        </p:nvSpPr>
        <p:spPr bwMode="auto">
          <a:xfrm>
            <a:off x="4267200" y="2971800"/>
            <a:ext cx="990600" cy="304800"/>
          </a:xfrm>
          <a:prstGeom prst="rect">
            <a:avLst/>
          </a:prstGeom>
          <a:pattFill prst="pct5">
            <a:fgClr>
              <a:srgbClr val="009900"/>
            </a:fgClr>
            <a:bgClr>
              <a:srgbClr val="FFFFFF"/>
            </a:bgClr>
          </a:pattFill>
          <a:ln w="12700">
            <a:solidFill>
              <a:srgbClr val="009900"/>
            </a:solidFill>
            <a:miter lim="800000"/>
            <a:headEnd/>
            <a:tailEnd/>
          </a:ln>
          <a:effectLst/>
        </p:spPr>
        <p:txBody>
          <a:bodyPr wrap="none" anchor="ctr"/>
          <a:lstStyle/>
          <a:p>
            <a:endParaRPr lang="en-US"/>
          </a:p>
        </p:txBody>
      </p:sp>
      <p:sp>
        <p:nvSpPr>
          <p:cNvPr id="1592372" name="Rectangle 52" descr="5%"/>
          <p:cNvSpPr>
            <a:spLocks noChangeArrowheads="1"/>
          </p:cNvSpPr>
          <p:nvPr/>
        </p:nvSpPr>
        <p:spPr bwMode="auto">
          <a:xfrm>
            <a:off x="4267200" y="1752600"/>
            <a:ext cx="990600" cy="304800"/>
          </a:xfrm>
          <a:prstGeom prst="rect">
            <a:avLst/>
          </a:prstGeom>
          <a:pattFill prst="pct5">
            <a:fgClr>
              <a:srgbClr val="009900"/>
            </a:fgClr>
            <a:bgClr>
              <a:srgbClr val="FFFFFF"/>
            </a:bgClr>
          </a:pattFill>
          <a:ln w="12700">
            <a:solidFill>
              <a:srgbClr val="009900"/>
            </a:solidFill>
            <a:miter lim="800000"/>
            <a:headEnd/>
            <a:tailEnd/>
          </a:ln>
          <a:effectLst/>
        </p:spPr>
        <p:txBody>
          <a:bodyPr wrap="none" anchor="ctr"/>
          <a:lstStyle/>
          <a:p>
            <a:endParaRPr lang="en-US"/>
          </a:p>
        </p:txBody>
      </p:sp>
      <p:sp>
        <p:nvSpPr>
          <p:cNvPr id="1592373" name="Rectangle 53" descr="5%"/>
          <p:cNvSpPr>
            <a:spLocks noChangeArrowheads="1"/>
          </p:cNvSpPr>
          <p:nvPr/>
        </p:nvSpPr>
        <p:spPr bwMode="auto">
          <a:xfrm>
            <a:off x="2209800" y="2971800"/>
            <a:ext cx="990600" cy="304800"/>
          </a:xfrm>
          <a:prstGeom prst="rect">
            <a:avLst/>
          </a:prstGeom>
          <a:pattFill prst="pct5">
            <a:fgClr>
              <a:srgbClr val="009900"/>
            </a:fgClr>
            <a:bgClr>
              <a:srgbClr val="FFFFFF"/>
            </a:bgClr>
          </a:pattFill>
          <a:ln w="12700">
            <a:solidFill>
              <a:srgbClr val="009900"/>
            </a:solidFill>
            <a:miter lim="800000"/>
            <a:headEnd/>
            <a:tailEnd/>
          </a:ln>
          <a:effectLst/>
        </p:spPr>
        <p:txBody>
          <a:bodyPr wrap="none" anchor="ctr"/>
          <a:lstStyle/>
          <a:p>
            <a:endParaRPr lang="en-US"/>
          </a:p>
        </p:txBody>
      </p:sp>
      <p:sp>
        <p:nvSpPr>
          <p:cNvPr id="1592374" name="Rectangle 54" descr="5%"/>
          <p:cNvSpPr>
            <a:spLocks noChangeArrowheads="1"/>
          </p:cNvSpPr>
          <p:nvPr/>
        </p:nvSpPr>
        <p:spPr bwMode="auto">
          <a:xfrm>
            <a:off x="4267200" y="1143000"/>
            <a:ext cx="990600" cy="304800"/>
          </a:xfrm>
          <a:prstGeom prst="rect">
            <a:avLst/>
          </a:prstGeom>
          <a:pattFill prst="pct5">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592375" name="Rectangle 55" descr="5%"/>
          <p:cNvSpPr>
            <a:spLocks noChangeArrowheads="1"/>
          </p:cNvSpPr>
          <p:nvPr/>
        </p:nvSpPr>
        <p:spPr bwMode="auto">
          <a:xfrm>
            <a:off x="2209800" y="2362200"/>
            <a:ext cx="990600" cy="304800"/>
          </a:xfrm>
          <a:prstGeom prst="rect">
            <a:avLst/>
          </a:prstGeom>
          <a:pattFill prst="pct5">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592376" name="Rectangle 56" descr="5%"/>
          <p:cNvSpPr>
            <a:spLocks noChangeArrowheads="1"/>
          </p:cNvSpPr>
          <p:nvPr/>
        </p:nvSpPr>
        <p:spPr bwMode="auto">
          <a:xfrm>
            <a:off x="4267200" y="2362200"/>
            <a:ext cx="990600" cy="304800"/>
          </a:xfrm>
          <a:prstGeom prst="rect">
            <a:avLst/>
          </a:prstGeom>
          <a:pattFill prst="pct5">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592377" name="Rectangle 57" descr="5%"/>
          <p:cNvSpPr>
            <a:spLocks noChangeArrowheads="1"/>
          </p:cNvSpPr>
          <p:nvPr/>
        </p:nvSpPr>
        <p:spPr bwMode="auto">
          <a:xfrm>
            <a:off x="4267200" y="3581400"/>
            <a:ext cx="990600" cy="304800"/>
          </a:xfrm>
          <a:prstGeom prst="rect">
            <a:avLst/>
          </a:prstGeom>
          <a:pattFill prst="pct5">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592378" name="Rectangle 58" descr="5%"/>
          <p:cNvSpPr>
            <a:spLocks noChangeArrowheads="1"/>
          </p:cNvSpPr>
          <p:nvPr/>
        </p:nvSpPr>
        <p:spPr bwMode="auto">
          <a:xfrm>
            <a:off x="4267200" y="4800600"/>
            <a:ext cx="990600" cy="304800"/>
          </a:xfrm>
          <a:prstGeom prst="rect">
            <a:avLst/>
          </a:prstGeom>
          <a:pattFill prst="pct5">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592379" name="Rectangle 59" descr="5%"/>
          <p:cNvSpPr>
            <a:spLocks noChangeArrowheads="1"/>
          </p:cNvSpPr>
          <p:nvPr/>
        </p:nvSpPr>
        <p:spPr bwMode="auto">
          <a:xfrm>
            <a:off x="4267200" y="5105400"/>
            <a:ext cx="990600" cy="304800"/>
          </a:xfrm>
          <a:prstGeom prst="rect">
            <a:avLst/>
          </a:prstGeom>
          <a:pattFill prst="pct5">
            <a:fgClr>
              <a:schemeClr val="folHlink"/>
            </a:fgClr>
            <a:bgClr>
              <a:srgbClr val="FFFFFF"/>
            </a:bgClr>
          </a:pattFill>
          <a:ln w="12700">
            <a:solidFill>
              <a:schemeClr val="folHlink"/>
            </a:solidFill>
            <a:miter lim="800000"/>
            <a:headEnd/>
            <a:tailEnd/>
          </a:ln>
          <a:effectLst/>
        </p:spPr>
        <p:txBody>
          <a:bodyPr wrap="none" anchor="ctr"/>
          <a:lstStyle/>
          <a:p>
            <a:endParaRPr lang="en-US"/>
          </a:p>
        </p:txBody>
      </p:sp>
      <p:sp>
        <p:nvSpPr>
          <p:cNvPr id="1592380" name="Rectangle 60" descr="5%"/>
          <p:cNvSpPr>
            <a:spLocks noChangeArrowheads="1"/>
          </p:cNvSpPr>
          <p:nvPr/>
        </p:nvSpPr>
        <p:spPr bwMode="auto">
          <a:xfrm>
            <a:off x="4267200" y="3886200"/>
            <a:ext cx="990600" cy="304800"/>
          </a:xfrm>
          <a:prstGeom prst="rect">
            <a:avLst/>
          </a:prstGeom>
          <a:pattFill prst="pct5">
            <a:fgClr>
              <a:schemeClr val="folHlink"/>
            </a:fgClr>
            <a:bgClr>
              <a:srgbClr val="FFFFFF"/>
            </a:bgClr>
          </a:pattFill>
          <a:ln w="12700">
            <a:solidFill>
              <a:schemeClr val="folHlink"/>
            </a:solidFill>
            <a:miter lim="800000"/>
            <a:headEnd/>
            <a:tailEnd/>
          </a:ln>
          <a:effectLst/>
        </p:spPr>
        <p:txBody>
          <a:bodyPr wrap="none" anchor="ctr"/>
          <a:lstStyle/>
          <a:p>
            <a:endParaRPr lang="en-US"/>
          </a:p>
        </p:txBody>
      </p:sp>
      <p:sp>
        <p:nvSpPr>
          <p:cNvPr id="1592381" name="Rectangle 61" descr="5%"/>
          <p:cNvSpPr>
            <a:spLocks noChangeArrowheads="1"/>
          </p:cNvSpPr>
          <p:nvPr/>
        </p:nvSpPr>
        <p:spPr bwMode="auto">
          <a:xfrm>
            <a:off x="4267200" y="2667000"/>
            <a:ext cx="990600" cy="304800"/>
          </a:xfrm>
          <a:prstGeom prst="rect">
            <a:avLst/>
          </a:prstGeom>
          <a:pattFill prst="pct5">
            <a:fgClr>
              <a:schemeClr val="folHlink"/>
            </a:fgClr>
            <a:bgClr>
              <a:srgbClr val="FFFFFF"/>
            </a:bgClr>
          </a:pattFill>
          <a:ln w="12700">
            <a:solidFill>
              <a:schemeClr val="folHlink"/>
            </a:solidFill>
            <a:miter lim="800000"/>
            <a:headEnd/>
            <a:tailEnd/>
          </a:ln>
          <a:effectLst/>
        </p:spPr>
        <p:txBody>
          <a:bodyPr wrap="none" anchor="ctr"/>
          <a:lstStyle/>
          <a:p>
            <a:endParaRPr lang="en-US"/>
          </a:p>
        </p:txBody>
      </p:sp>
      <p:sp>
        <p:nvSpPr>
          <p:cNvPr id="1592382" name="Rectangle 62" descr="5%"/>
          <p:cNvSpPr>
            <a:spLocks noChangeArrowheads="1"/>
          </p:cNvSpPr>
          <p:nvPr/>
        </p:nvSpPr>
        <p:spPr bwMode="auto">
          <a:xfrm>
            <a:off x="4267200" y="1447800"/>
            <a:ext cx="990600" cy="304800"/>
          </a:xfrm>
          <a:prstGeom prst="rect">
            <a:avLst/>
          </a:prstGeom>
          <a:pattFill prst="pct5">
            <a:fgClr>
              <a:schemeClr val="folHlink"/>
            </a:fgClr>
            <a:bgClr>
              <a:srgbClr val="FFFFFF"/>
            </a:bgClr>
          </a:pattFill>
          <a:ln w="12700">
            <a:solidFill>
              <a:schemeClr val="folHlink"/>
            </a:solidFill>
            <a:miter lim="800000"/>
            <a:headEnd/>
            <a:tailEnd/>
          </a:ln>
          <a:effectLst/>
        </p:spPr>
        <p:txBody>
          <a:bodyPr wrap="none" anchor="ctr"/>
          <a:lstStyle/>
          <a:p>
            <a:endParaRPr lang="en-US"/>
          </a:p>
        </p:txBody>
      </p:sp>
      <p:sp>
        <p:nvSpPr>
          <p:cNvPr id="1592383" name="Rectangle 63" descr="5%"/>
          <p:cNvSpPr>
            <a:spLocks noChangeArrowheads="1"/>
          </p:cNvSpPr>
          <p:nvPr/>
        </p:nvSpPr>
        <p:spPr bwMode="auto">
          <a:xfrm>
            <a:off x="2209800" y="2667000"/>
            <a:ext cx="990600" cy="304800"/>
          </a:xfrm>
          <a:prstGeom prst="rect">
            <a:avLst/>
          </a:prstGeom>
          <a:pattFill prst="pct5">
            <a:fgClr>
              <a:schemeClr val="folHlink"/>
            </a:fgClr>
            <a:bgClr>
              <a:srgbClr val="FFFFFF"/>
            </a:bgClr>
          </a:pattFill>
          <a:ln w="12700">
            <a:solidFill>
              <a:schemeClr val="folHlink"/>
            </a:solidFill>
            <a:miter lim="800000"/>
            <a:headEnd/>
            <a:tailEnd/>
          </a:ln>
          <a:effectLst/>
        </p:spPr>
        <p:txBody>
          <a:bodyPr wrap="none" anchor="ctr"/>
          <a:lstStyle/>
          <a:p>
            <a:endParaRPr lang="en-US"/>
          </a:p>
        </p:txBody>
      </p:sp>
      <p:sp>
        <p:nvSpPr>
          <p:cNvPr id="1592384" name="Text Box 64"/>
          <p:cNvSpPr txBox="1">
            <a:spLocks noChangeArrowheads="1"/>
          </p:cNvSpPr>
          <p:nvPr/>
        </p:nvSpPr>
        <p:spPr bwMode="auto">
          <a:xfrm>
            <a:off x="609600" y="4038600"/>
            <a:ext cx="2819400" cy="2225675"/>
          </a:xfrm>
          <a:prstGeom prst="rect">
            <a:avLst/>
          </a:prstGeom>
          <a:noFill/>
          <a:ln w="12700">
            <a:noFill/>
            <a:miter lim="800000"/>
            <a:headEnd/>
            <a:tailEnd/>
          </a:ln>
          <a:effectLst/>
        </p:spPr>
        <p:txBody>
          <a:bodyPr>
            <a:spAutoFit/>
          </a:bodyPr>
          <a:lstStyle/>
          <a:p>
            <a:r>
              <a:rPr lang="en-US" sz="2000" dirty="0">
                <a:solidFill>
                  <a:schemeClr val="tx1"/>
                </a:solidFill>
              </a:rPr>
              <a:t>Q1: Is it there?</a:t>
            </a:r>
          </a:p>
          <a:p>
            <a:endParaRPr lang="en-US" sz="2000" dirty="0"/>
          </a:p>
          <a:p>
            <a:r>
              <a:rPr lang="en-US" sz="2000" dirty="0">
                <a:solidFill>
                  <a:schemeClr val="tx1"/>
                </a:solidFill>
              </a:rPr>
              <a:t>Compare the cache </a:t>
            </a:r>
            <a:r>
              <a:rPr lang="en-US" sz="2000" dirty="0">
                <a:solidFill>
                  <a:schemeClr val="accent2"/>
                </a:solidFill>
              </a:rPr>
              <a:t>tag</a:t>
            </a:r>
            <a:r>
              <a:rPr lang="en-US" sz="2000" dirty="0">
                <a:solidFill>
                  <a:schemeClr val="tx1"/>
                </a:solidFill>
              </a:rPr>
              <a:t> to the </a:t>
            </a:r>
            <a:r>
              <a:rPr lang="en-US" sz="2000" dirty="0">
                <a:solidFill>
                  <a:schemeClr val="accent2"/>
                </a:solidFill>
              </a:rPr>
              <a:t>high order 2 memory address bits</a:t>
            </a:r>
            <a:r>
              <a:rPr lang="en-US" sz="2000" dirty="0">
                <a:solidFill>
                  <a:schemeClr val="tx1"/>
                </a:solidFill>
              </a:rPr>
              <a:t> to tell if the memory block is in the cache</a:t>
            </a:r>
          </a:p>
        </p:txBody>
      </p:sp>
      <p:grpSp>
        <p:nvGrpSpPr>
          <p:cNvPr id="4" name="Group 65"/>
          <p:cNvGrpSpPr>
            <a:grpSpLocks/>
          </p:cNvGrpSpPr>
          <p:nvPr/>
        </p:nvGrpSpPr>
        <p:grpSpPr bwMode="auto">
          <a:xfrm>
            <a:off x="1219200" y="2057400"/>
            <a:ext cx="381000" cy="1219200"/>
            <a:chOff x="1344" y="1056"/>
            <a:chExt cx="624" cy="768"/>
          </a:xfrm>
        </p:grpSpPr>
        <p:sp>
          <p:nvSpPr>
            <p:cNvPr id="1592386" name="Rectangle 66"/>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2387" name="Line 67"/>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2388" name="Line 68"/>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2389" name="Line 69"/>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592390" name="Text Box 70"/>
          <p:cNvSpPr txBox="1">
            <a:spLocks noChangeArrowheads="1"/>
          </p:cNvSpPr>
          <p:nvPr/>
        </p:nvSpPr>
        <p:spPr bwMode="auto">
          <a:xfrm>
            <a:off x="990600" y="1600200"/>
            <a:ext cx="692150" cy="366713"/>
          </a:xfrm>
          <a:prstGeom prst="rect">
            <a:avLst/>
          </a:prstGeom>
          <a:noFill/>
          <a:ln w="12700">
            <a:noFill/>
            <a:miter lim="800000"/>
            <a:headEnd/>
            <a:tailEnd/>
          </a:ln>
          <a:effectLst/>
        </p:spPr>
        <p:txBody>
          <a:bodyPr wrap="none">
            <a:spAutoFit/>
          </a:bodyPr>
          <a:lstStyle/>
          <a:p>
            <a:r>
              <a:rPr lang="en-US">
                <a:solidFill>
                  <a:schemeClr val="tx1"/>
                </a:solidFill>
              </a:rPr>
              <a:t>Valid</a:t>
            </a:r>
          </a:p>
        </p:txBody>
      </p:sp>
      <p:sp>
        <p:nvSpPr>
          <p:cNvPr id="1592411" name="Text Box 91"/>
          <p:cNvSpPr txBox="1">
            <a:spLocks noChangeArrowheads="1"/>
          </p:cNvSpPr>
          <p:nvPr/>
        </p:nvSpPr>
        <p:spPr bwMode="auto">
          <a:xfrm>
            <a:off x="6248400" y="1066800"/>
            <a:ext cx="2514600" cy="1200329"/>
          </a:xfrm>
          <a:prstGeom prst="rect">
            <a:avLst/>
          </a:prstGeom>
          <a:noFill/>
          <a:ln w="12700">
            <a:noFill/>
            <a:miter lim="800000"/>
            <a:headEnd/>
            <a:tailEnd/>
          </a:ln>
          <a:effectLst/>
        </p:spPr>
        <p:txBody>
          <a:bodyPr>
            <a:spAutoFit/>
          </a:bodyPr>
          <a:lstStyle/>
          <a:p>
            <a:r>
              <a:rPr lang="en-US" dirty="0" smtClean="0">
                <a:solidFill>
                  <a:schemeClr val="tx1"/>
                </a:solidFill>
              </a:rPr>
              <a:t>One word blocks</a:t>
            </a:r>
          </a:p>
          <a:p>
            <a:r>
              <a:rPr lang="en-US" dirty="0" smtClean="0">
                <a:solidFill>
                  <a:schemeClr val="tx1"/>
                </a:solidFill>
              </a:rPr>
              <a:t>Two </a:t>
            </a:r>
            <a:r>
              <a:rPr lang="en-US" dirty="0">
                <a:solidFill>
                  <a:schemeClr val="tx1"/>
                </a:solidFill>
              </a:rPr>
              <a:t>low order bits define the byte in the word (</a:t>
            </a:r>
            <a:r>
              <a:rPr lang="en-US" dirty="0" smtClean="0">
                <a:solidFill>
                  <a:schemeClr val="tx1"/>
                </a:solidFill>
              </a:rPr>
              <a:t>32b </a:t>
            </a:r>
            <a:r>
              <a:rPr lang="en-US" dirty="0">
                <a:solidFill>
                  <a:schemeClr val="tx1"/>
                </a:solidFill>
              </a:rPr>
              <a:t>words)</a:t>
            </a:r>
          </a:p>
        </p:txBody>
      </p:sp>
      <p:sp>
        <p:nvSpPr>
          <p:cNvPr id="1592412" name="Text Box 92"/>
          <p:cNvSpPr txBox="1">
            <a:spLocks noChangeArrowheads="1"/>
          </p:cNvSpPr>
          <p:nvPr/>
        </p:nvSpPr>
        <p:spPr bwMode="auto">
          <a:xfrm>
            <a:off x="6172200" y="3124200"/>
            <a:ext cx="2743200" cy="2835275"/>
          </a:xfrm>
          <a:prstGeom prst="rect">
            <a:avLst/>
          </a:prstGeom>
          <a:noFill/>
          <a:ln w="12700">
            <a:noFill/>
            <a:miter lim="800000"/>
            <a:headEnd/>
            <a:tailEnd/>
          </a:ln>
          <a:effectLst/>
        </p:spPr>
        <p:txBody>
          <a:bodyPr>
            <a:spAutoFit/>
          </a:bodyPr>
          <a:lstStyle/>
          <a:p>
            <a:r>
              <a:rPr lang="en-US" sz="2000" dirty="0">
                <a:solidFill>
                  <a:schemeClr val="tx1"/>
                </a:solidFill>
              </a:rPr>
              <a:t>Q2: How do we find it?</a:t>
            </a:r>
          </a:p>
          <a:p>
            <a:endParaRPr lang="en-US" sz="2000" dirty="0"/>
          </a:p>
          <a:p>
            <a:r>
              <a:rPr lang="en-US" sz="2000" dirty="0">
                <a:solidFill>
                  <a:schemeClr val="tx1"/>
                </a:solidFill>
              </a:rPr>
              <a:t>Use</a:t>
            </a:r>
            <a:r>
              <a:rPr lang="en-US" sz="2000" dirty="0"/>
              <a:t> next 2 low order memory address bits</a:t>
            </a:r>
            <a:r>
              <a:rPr lang="en-US" sz="2000" dirty="0">
                <a:solidFill>
                  <a:schemeClr val="tx1"/>
                </a:solidFill>
              </a:rPr>
              <a:t> – the </a:t>
            </a:r>
            <a:r>
              <a:rPr lang="en-US" sz="2000" dirty="0"/>
              <a:t>index</a:t>
            </a:r>
            <a:r>
              <a:rPr lang="en-US" sz="2000" dirty="0">
                <a:solidFill>
                  <a:schemeClr val="tx1"/>
                </a:solidFill>
              </a:rPr>
              <a:t> </a:t>
            </a:r>
            <a:r>
              <a:rPr lang="en-US" dirty="0">
                <a:solidFill>
                  <a:schemeClr val="tx1"/>
                </a:solidFill>
              </a:rPr>
              <a:t>–</a:t>
            </a:r>
            <a:r>
              <a:rPr lang="en-US" sz="2000" dirty="0">
                <a:solidFill>
                  <a:schemeClr val="tx1"/>
                </a:solidFill>
              </a:rPr>
              <a:t> to determine which cache block (i.e., modulo the number of blocks in the cache)</a:t>
            </a:r>
          </a:p>
        </p:txBody>
      </p:sp>
      <p:sp>
        <p:nvSpPr>
          <p:cNvPr id="1592413" name="Text Box 93"/>
          <p:cNvSpPr txBox="1">
            <a:spLocks noChangeArrowheads="1"/>
          </p:cNvSpPr>
          <p:nvPr/>
        </p:nvSpPr>
        <p:spPr bwMode="auto">
          <a:xfrm>
            <a:off x="3276600" y="6172200"/>
            <a:ext cx="5486400" cy="366713"/>
          </a:xfrm>
          <a:prstGeom prst="rect">
            <a:avLst/>
          </a:prstGeom>
          <a:noFill/>
          <a:ln w="12700">
            <a:noFill/>
            <a:miter lim="800000"/>
            <a:headEnd/>
            <a:tailEnd/>
          </a:ln>
          <a:effectLst/>
        </p:spPr>
        <p:txBody>
          <a:bodyPr>
            <a:spAutoFit/>
          </a:bodyPr>
          <a:lstStyle/>
          <a:p>
            <a:r>
              <a:rPr lang="en-US" dirty="0">
                <a:solidFill>
                  <a:srgbClr val="FF0000"/>
                </a:solidFill>
              </a:rPr>
              <a:t>(block address) modulo (# of blocks in the cache)</a:t>
            </a:r>
          </a:p>
        </p:txBody>
      </p:sp>
      <p:sp>
        <p:nvSpPr>
          <p:cNvPr id="1592414" name="Text Box 94"/>
          <p:cNvSpPr txBox="1">
            <a:spLocks noChangeArrowheads="1"/>
          </p:cNvSpPr>
          <p:nvPr/>
        </p:nvSpPr>
        <p:spPr bwMode="auto">
          <a:xfrm>
            <a:off x="381000" y="1600200"/>
            <a:ext cx="742950" cy="366713"/>
          </a:xfrm>
          <a:prstGeom prst="rect">
            <a:avLst/>
          </a:prstGeom>
          <a:noFill/>
          <a:ln w="12700">
            <a:noFill/>
            <a:miter lim="800000"/>
            <a:headEnd/>
            <a:tailEnd/>
          </a:ln>
          <a:effectLst/>
        </p:spPr>
        <p:txBody>
          <a:bodyPr wrap="none">
            <a:spAutoFit/>
          </a:bodyPr>
          <a:lstStyle/>
          <a:p>
            <a:r>
              <a:rPr lang="en-US">
                <a:solidFill>
                  <a:schemeClr val="tx1"/>
                </a:solidFill>
              </a:rPr>
              <a:t>Index</a:t>
            </a:r>
          </a:p>
        </p:txBody>
      </p:sp>
    </p:spTree>
    <p:extLst>
      <p:ext uri="{BB962C8B-B14F-4D97-AF65-F5344CB8AC3E}">
        <p14:creationId xmlns:p14="http://schemas.microsoft.com/office/powerpoint/2010/main" val="5944492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923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924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2384" grpId="0" autoUpdateAnimBg="0"/>
      <p:bldP spid="159241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0930" name="Rectangle 2"/>
          <p:cNvSpPr>
            <a:spLocks noGrp="1" noChangeArrowheads="1"/>
          </p:cNvSpPr>
          <p:nvPr>
            <p:ph type="title"/>
          </p:nvPr>
        </p:nvSpPr>
        <p:spPr/>
        <p:txBody>
          <a:bodyPr/>
          <a:lstStyle/>
          <a:p>
            <a:r>
              <a:rPr lang="en-US"/>
              <a:t>Caching:  A Simple First Example</a:t>
            </a:r>
          </a:p>
        </p:txBody>
      </p:sp>
      <p:grpSp>
        <p:nvGrpSpPr>
          <p:cNvPr id="2" name="Group 3"/>
          <p:cNvGrpSpPr>
            <a:grpSpLocks/>
          </p:cNvGrpSpPr>
          <p:nvPr/>
        </p:nvGrpSpPr>
        <p:grpSpPr bwMode="auto">
          <a:xfrm>
            <a:off x="2209800" y="2057400"/>
            <a:ext cx="990600" cy="1219200"/>
            <a:chOff x="1344" y="1056"/>
            <a:chExt cx="624" cy="768"/>
          </a:xfrm>
        </p:grpSpPr>
        <p:sp>
          <p:nvSpPr>
            <p:cNvPr id="1660932"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0933"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60934"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60935"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0936" name="Line 8"/>
          <p:cNvSpPr>
            <a:spLocks noChangeShapeType="1"/>
          </p:cNvSpPr>
          <p:nvPr/>
        </p:nvSpPr>
        <p:spPr bwMode="auto">
          <a:xfrm>
            <a:off x="4267200" y="1447800"/>
            <a:ext cx="990600" cy="0"/>
          </a:xfrm>
          <a:prstGeom prst="line">
            <a:avLst/>
          </a:prstGeom>
          <a:noFill/>
          <a:ln w="12700">
            <a:solidFill>
              <a:schemeClr val="tx1"/>
            </a:solidFill>
            <a:round/>
            <a:headEnd/>
            <a:tailEnd/>
          </a:ln>
          <a:effectLst/>
        </p:spPr>
        <p:txBody>
          <a:bodyPr wrap="none" anchor="ctr"/>
          <a:lstStyle/>
          <a:p>
            <a:endParaRPr lang="en-US"/>
          </a:p>
        </p:txBody>
      </p:sp>
      <p:sp>
        <p:nvSpPr>
          <p:cNvPr id="1660937" name="Line 9"/>
          <p:cNvSpPr>
            <a:spLocks noChangeShapeType="1"/>
          </p:cNvSpPr>
          <p:nvPr/>
        </p:nvSpPr>
        <p:spPr bwMode="auto">
          <a:xfrm>
            <a:off x="4267200" y="1143000"/>
            <a:ext cx="990600" cy="0"/>
          </a:xfrm>
          <a:prstGeom prst="line">
            <a:avLst/>
          </a:prstGeom>
          <a:noFill/>
          <a:ln w="12700">
            <a:solidFill>
              <a:schemeClr val="tx1"/>
            </a:solidFill>
            <a:round/>
            <a:headEnd/>
            <a:tailEnd/>
          </a:ln>
          <a:effectLst/>
        </p:spPr>
        <p:txBody>
          <a:bodyPr wrap="none" anchor="ctr"/>
          <a:lstStyle/>
          <a:p>
            <a:endParaRPr lang="en-US"/>
          </a:p>
        </p:txBody>
      </p:sp>
      <p:sp>
        <p:nvSpPr>
          <p:cNvPr id="1660938" name="Line 10"/>
          <p:cNvSpPr>
            <a:spLocks noChangeShapeType="1"/>
          </p:cNvSpPr>
          <p:nvPr/>
        </p:nvSpPr>
        <p:spPr bwMode="auto">
          <a:xfrm>
            <a:off x="4267200" y="1752600"/>
            <a:ext cx="990600" cy="0"/>
          </a:xfrm>
          <a:prstGeom prst="line">
            <a:avLst/>
          </a:prstGeom>
          <a:noFill/>
          <a:ln w="12700">
            <a:solidFill>
              <a:schemeClr val="tx1"/>
            </a:solidFill>
            <a:round/>
            <a:headEnd/>
            <a:tailEnd/>
          </a:ln>
          <a:effectLst/>
        </p:spPr>
        <p:txBody>
          <a:bodyPr wrap="none" anchor="ctr"/>
          <a:lstStyle/>
          <a:p>
            <a:endParaRPr lang="en-US"/>
          </a:p>
        </p:txBody>
      </p:sp>
      <p:sp>
        <p:nvSpPr>
          <p:cNvPr id="1660939" name="Line 11"/>
          <p:cNvSpPr>
            <a:spLocks noChangeShapeType="1"/>
          </p:cNvSpPr>
          <p:nvPr/>
        </p:nvSpPr>
        <p:spPr bwMode="auto">
          <a:xfrm>
            <a:off x="4267200" y="838200"/>
            <a:ext cx="990600" cy="0"/>
          </a:xfrm>
          <a:prstGeom prst="line">
            <a:avLst/>
          </a:prstGeom>
          <a:noFill/>
          <a:ln w="12700">
            <a:solidFill>
              <a:schemeClr val="tx1"/>
            </a:solidFill>
            <a:round/>
            <a:headEnd/>
            <a:tailEnd/>
          </a:ln>
          <a:effectLst/>
        </p:spPr>
        <p:txBody>
          <a:bodyPr wrap="none" anchor="ctr"/>
          <a:lstStyle/>
          <a:p>
            <a:endParaRPr lang="en-US"/>
          </a:p>
        </p:txBody>
      </p:sp>
      <p:sp>
        <p:nvSpPr>
          <p:cNvPr id="1660940" name="Line 12"/>
          <p:cNvSpPr>
            <a:spLocks noChangeShapeType="1"/>
          </p:cNvSpPr>
          <p:nvPr/>
        </p:nvSpPr>
        <p:spPr bwMode="auto">
          <a:xfrm>
            <a:off x="4267200" y="838200"/>
            <a:ext cx="0" cy="3657600"/>
          </a:xfrm>
          <a:prstGeom prst="line">
            <a:avLst/>
          </a:prstGeom>
          <a:noFill/>
          <a:ln w="12700">
            <a:solidFill>
              <a:schemeClr val="tx1"/>
            </a:solidFill>
            <a:round/>
            <a:headEnd/>
            <a:tailEnd/>
          </a:ln>
          <a:effectLst/>
        </p:spPr>
        <p:txBody>
          <a:bodyPr wrap="none" anchor="ctr"/>
          <a:lstStyle/>
          <a:p>
            <a:endParaRPr lang="en-US"/>
          </a:p>
        </p:txBody>
      </p:sp>
      <p:sp>
        <p:nvSpPr>
          <p:cNvPr id="1660941" name="Line 13"/>
          <p:cNvSpPr>
            <a:spLocks noChangeShapeType="1"/>
          </p:cNvSpPr>
          <p:nvPr/>
        </p:nvSpPr>
        <p:spPr bwMode="auto">
          <a:xfrm>
            <a:off x="5257800" y="838200"/>
            <a:ext cx="0" cy="3657600"/>
          </a:xfrm>
          <a:prstGeom prst="line">
            <a:avLst/>
          </a:prstGeom>
          <a:noFill/>
          <a:ln w="12700">
            <a:solidFill>
              <a:schemeClr val="tx1"/>
            </a:solidFill>
            <a:round/>
            <a:headEnd/>
            <a:tailEnd/>
          </a:ln>
          <a:effectLst/>
        </p:spPr>
        <p:txBody>
          <a:bodyPr wrap="none" anchor="ctr"/>
          <a:lstStyle/>
          <a:p>
            <a:endParaRPr lang="en-US"/>
          </a:p>
        </p:txBody>
      </p:sp>
      <p:sp>
        <p:nvSpPr>
          <p:cNvPr id="1660942" name="Line 14"/>
          <p:cNvSpPr>
            <a:spLocks noChangeShapeType="1"/>
          </p:cNvSpPr>
          <p:nvPr/>
        </p:nvSpPr>
        <p:spPr bwMode="auto">
          <a:xfrm flipH="1" flipV="1">
            <a:off x="4267200" y="5105400"/>
            <a:ext cx="990600" cy="0"/>
          </a:xfrm>
          <a:prstGeom prst="line">
            <a:avLst/>
          </a:prstGeom>
          <a:noFill/>
          <a:ln w="12700">
            <a:solidFill>
              <a:schemeClr val="tx1"/>
            </a:solidFill>
            <a:round/>
            <a:headEnd/>
            <a:tailEnd/>
          </a:ln>
          <a:effectLst/>
        </p:spPr>
        <p:txBody>
          <a:bodyPr wrap="none" anchor="ctr"/>
          <a:lstStyle/>
          <a:p>
            <a:endParaRPr lang="en-US"/>
          </a:p>
        </p:txBody>
      </p:sp>
      <p:sp>
        <p:nvSpPr>
          <p:cNvPr id="1660943" name="Line 15"/>
          <p:cNvSpPr>
            <a:spLocks noChangeShapeType="1"/>
          </p:cNvSpPr>
          <p:nvPr/>
        </p:nvSpPr>
        <p:spPr bwMode="auto">
          <a:xfrm flipH="1" flipV="1">
            <a:off x="4267200" y="5410200"/>
            <a:ext cx="990600" cy="0"/>
          </a:xfrm>
          <a:prstGeom prst="line">
            <a:avLst/>
          </a:prstGeom>
          <a:noFill/>
          <a:ln w="12700">
            <a:solidFill>
              <a:schemeClr val="tx1"/>
            </a:solidFill>
            <a:round/>
            <a:headEnd/>
            <a:tailEnd/>
          </a:ln>
          <a:effectLst/>
        </p:spPr>
        <p:txBody>
          <a:bodyPr wrap="none" anchor="ctr"/>
          <a:lstStyle/>
          <a:p>
            <a:endParaRPr lang="en-US"/>
          </a:p>
        </p:txBody>
      </p:sp>
      <p:sp>
        <p:nvSpPr>
          <p:cNvPr id="1660944" name="Line 16"/>
          <p:cNvSpPr>
            <a:spLocks noChangeShapeType="1"/>
          </p:cNvSpPr>
          <p:nvPr/>
        </p:nvSpPr>
        <p:spPr bwMode="auto">
          <a:xfrm flipH="1" flipV="1">
            <a:off x="4267200" y="4800600"/>
            <a:ext cx="990600" cy="0"/>
          </a:xfrm>
          <a:prstGeom prst="line">
            <a:avLst/>
          </a:prstGeom>
          <a:noFill/>
          <a:ln w="12700">
            <a:solidFill>
              <a:schemeClr val="tx1"/>
            </a:solidFill>
            <a:round/>
            <a:headEnd/>
            <a:tailEnd/>
          </a:ln>
          <a:effectLst/>
        </p:spPr>
        <p:txBody>
          <a:bodyPr wrap="none" anchor="ctr"/>
          <a:lstStyle/>
          <a:p>
            <a:endParaRPr lang="en-US"/>
          </a:p>
        </p:txBody>
      </p:sp>
      <p:sp>
        <p:nvSpPr>
          <p:cNvPr id="1660945" name="Line 17"/>
          <p:cNvSpPr>
            <a:spLocks noChangeShapeType="1"/>
          </p:cNvSpPr>
          <p:nvPr/>
        </p:nvSpPr>
        <p:spPr bwMode="auto">
          <a:xfrm flipH="1" flipV="1">
            <a:off x="4267200" y="5715000"/>
            <a:ext cx="990600" cy="0"/>
          </a:xfrm>
          <a:prstGeom prst="line">
            <a:avLst/>
          </a:prstGeom>
          <a:noFill/>
          <a:ln w="12700">
            <a:solidFill>
              <a:schemeClr val="tx1"/>
            </a:solidFill>
            <a:round/>
            <a:headEnd/>
            <a:tailEnd/>
          </a:ln>
          <a:effectLst/>
        </p:spPr>
        <p:txBody>
          <a:bodyPr wrap="none" anchor="ctr"/>
          <a:lstStyle/>
          <a:p>
            <a:endParaRPr lang="en-US"/>
          </a:p>
        </p:txBody>
      </p:sp>
      <p:sp>
        <p:nvSpPr>
          <p:cNvPr id="1660946" name="Line 18"/>
          <p:cNvSpPr>
            <a:spLocks noChangeShapeType="1"/>
          </p:cNvSpPr>
          <p:nvPr/>
        </p:nvSpPr>
        <p:spPr bwMode="auto">
          <a:xfrm flipH="1" flipV="1">
            <a:off x="5257800" y="4495800"/>
            <a:ext cx="0" cy="1219200"/>
          </a:xfrm>
          <a:prstGeom prst="line">
            <a:avLst/>
          </a:prstGeom>
          <a:noFill/>
          <a:ln w="12700">
            <a:solidFill>
              <a:schemeClr val="tx1"/>
            </a:solidFill>
            <a:round/>
            <a:headEnd/>
            <a:tailEnd/>
          </a:ln>
          <a:effectLst/>
        </p:spPr>
        <p:txBody>
          <a:bodyPr wrap="none" anchor="ctr"/>
          <a:lstStyle/>
          <a:p>
            <a:endParaRPr lang="en-US"/>
          </a:p>
        </p:txBody>
      </p:sp>
      <p:sp>
        <p:nvSpPr>
          <p:cNvPr id="1660947" name="Text Box 19"/>
          <p:cNvSpPr txBox="1">
            <a:spLocks noChangeArrowheads="1"/>
          </p:cNvSpPr>
          <p:nvPr/>
        </p:nvSpPr>
        <p:spPr bwMode="auto">
          <a:xfrm>
            <a:off x="669925" y="2017713"/>
            <a:ext cx="438150" cy="366712"/>
          </a:xfrm>
          <a:prstGeom prst="rect">
            <a:avLst/>
          </a:prstGeom>
          <a:noFill/>
          <a:ln w="12700">
            <a:noFill/>
            <a:miter lim="800000"/>
            <a:headEnd/>
            <a:tailEnd/>
          </a:ln>
          <a:effectLst/>
        </p:spPr>
        <p:txBody>
          <a:bodyPr wrap="none">
            <a:spAutoFit/>
          </a:bodyPr>
          <a:lstStyle/>
          <a:p>
            <a:r>
              <a:rPr lang="en-US"/>
              <a:t>00</a:t>
            </a:r>
          </a:p>
        </p:txBody>
      </p:sp>
      <p:sp>
        <p:nvSpPr>
          <p:cNvPr id="1660948" name="Text Box 20"/>
          <p:cNvSpPr txBox="1">
            <a:spLocks noChangeArrowheads="1"/>
          </p:cNvSpPr>
          <p:nvPr/>
        </p:nvSpPr>
        <p:spPr bwMode="auto">
          <a:xfrm>
            <a:off x="685800" y="2362200"/>
            <a:ext cx="438150" cy="366713"/>
          </a:xfrm>
          <a:prstGeom prst="rect">
            <a:avLst/>
          </a:prstGeom>
          <a:noFill/>
          <a:ln w="12700">
            <a:noFill/>
            <a:miter lim="800000"/>
            <a:headEnd/>
            <a:tailEnd/>
          </a:ln>
          <a:effectLst/>
        </p:spPr>
        <p:txBody>
          <a:bodyPr wrap="none">
            <a:spAutoFit/>
          </a:bodyPr>
          <a:lstStyle/>
          <a:p>
            <a:r>
              <a:rPr lang="en-US"/>
              <a:t>01</a:t>
            </a:r>
          </a:p>
        </p:txBody>
      </p:sp>
      <p:sp>
        <p:nvSpPr>
          <p:cNvPr id="1660949" name="Text Box 21"/>
          <p:cNvSpPr txBox="1">
            <a:spLocks noChangeArrowheads="1"/>
          </p:cNvSpPr>
          <p:nvPr/>
        </p:nvSpPr>
        <p:spPr bwMode="auto">
          <a:xfrm>
            <a:off x="685800" y="2667000"/>
            <a:ext cx="438150" cy="366713"/>
          </a:xfrm>
          <a:prstGeom prst="rect">
            <a:avLst/>
          </a:prstGeom>
          <a:noFill/>
          <a:ln w="12700">
            <a:noFill/>
            <a:miter lim="800000"/>
            <a:headEnd/>
            <a:tailEnd/>
          </a:ln>
          <a:effectLst/>
        </p:spPr>
        <p:txBody>
          <a:bodyPr wrap="none">
            <a:spAutoFit/>
          </a:bodyPr>
          <a:lstStyle/>
          <a:p>
            <a:r>
              <a:rPr lang="en-US"/>
              <a:t>10</a:t>
            </a:r>
          </a:p>
        </p:txBody>
      </p:sp>
      <p:sp>
        <p:nvSpPr>
          <p:cNvPr id="1660950" name="Text Box 22"/>
          <p:cNvSpPr txBox="1">
            <a:spLocks noChangeArrowheads="1"/>
          </p:cNvSpPr>
          <p:nvPr/>
        </p:nvSpPr>
        <p:spPr bwMode="auto">
          <a:xfrm>
            <a:off x="685800" y="2971800"/>
            <a:ext cx="438150" cy="366713"/>
          </a:xfrm>
          <a:prstGeom prst="rect">
            <a:avLst/>
          </a:prstGeom>
          <a:noFill/>
          <a:ln w="12700">
            <a:noFill/>
            <a:miter lim="800000"/>
            <a:headEnd/>
            <a:tailEnd/>
          </a:ln>
          <a:effectLst/>
        </p:spPr>
        <p:txBody>
          <a:bodyPr wrap="none">
            <a:spAutoFit/>
          </a:bodyPr>
          <a:lstStyle/>
          <a:p>
            <a:r>
              <a:rPr lang="en-US"/>
              <a:t>11</a:t>
            </a:r>
          </a:p>
        </p:txBody>
      </p:sp>
      <p:sp>
        <p:nvSpPr>
          <p:cNvPr id="1660951" name="Text Box 23"/>
          <p:cNvSpPr txBox="1">
            <a:spLocks noChangeArrowheads="1"/>
          </p:cNvSpPr>
          <p:nvPr/>
        </p:nvSpPr>
        <p:spPr bwMode="auto">
          <a:xfrm>
            <a:off x="457200" y="1143000"/>
            <a:ext cx="869950" cy="366713"/>
          </a:xfrm>
          <a:prstGeom prst="rect">
            <a:avLst/>
          </a:prstGeom>
          <a:noFill/>
          <a:ln w="12700">
            <a:noFill/>
            <a:miter lim="800000"/>
            <a:headEnd/>
            <a:tailEnd/>
          </a:ln>
          <a:effectLst/>
        </p:spPr>
        <p:txBody>
          <a:bodyPr wrap="none">
            <a:spAutoFit/>
          </a:bodyPr>
          <a:lstStyle/>
          <a:p>
            <a:r>
              <a:rPr lang="en-US" b="1">
                <a:solidFill>
                  <a:schemeClr val="tx1"/>
                </a:solidFill>
              </a:rPr>
              <a:t>Cache</a:t>
            </a:r>
          </a:p>
        </p:txBody>
      </p:sp>
      <p:sp>
        <p:nvSpPr>
          <p:cNvPr id="1660953" name="Text Box 25"/>
          <p:cNvSpPr txBox="1">
            <a:spLocks noChangeArrowheads="1"/>
          </p:cNvSpPr>
          <p:nvPr/>
        </p:nvSpPr>
        <p:spPr bwMode="auto">
          <a:xfrm>
            <a:off x="5715000" y="609600"/>
            <a:ext cx="1644650" cy="366713"/>
          </a:xfrm>
          <a:prstGeom prst="rect">
            <a:avLst/>
          </a:prstGeom>
          <a:noFill/>
          <a:ln w="12700">
            <a:noFill/>
            <a:miter lim="800000"/>
            <a:headEnd/>
            <a:tailEnd/>
          </a:ln>
          <a:effectLst/>
        </p:spPr>
        <p:txBody>
          <a:bodyPr wrap="none">
            <a:spAutoFit/>
          </a:bodyPr>
          <a:lstStyle/>
          <a:p>
            <a:r>
              <a:rPr lang="en-US" b="1">
                <a:solidFill>
                  <a:schemeClr val="tx1"/>
                </a:solidFill>
              </a:rPr>
              <a:t>Main Memory</a:t>
            </a:r>
          </a:p>
        </p:txBody>
      </p:sp>
      <p:sp>
        <p:nvSpPr>
          <p:cNvPr id="1660954" name="Text Box 26"/>
          <p:cNvSpPr txBox="1">
            <a:spLocks noChangeArrowheads="1"/>
          </p:cNvSpPr>
          <p:nvPr/>
        </p:nvSpPr>
        <p:spPr bwMode="auto">
          <a:xfrm>
            <a:off x="6172200" y="3124200"/>
            <a:ext cx="2743200" cy="2835275"/>
          </a:xfrm>
          <a:prstGeom prst="rect">
            <a:avLst/>
          </a:prstGeom>
          <a:noFill/>
          <a:ln w="12700">
            <a:noFill/>
            <a:miter lim="800000"/>
            <a:headEnd/>
            <a:tailEnd/>
          </a:ln>
          <a:effectLst/>
        </p:spPr>
        <p:txBody>
          <a:bodyPr>
            <a:spAutoFit/>
          </a:bodyPr>
          <a:lstStyle/>
          <a:p>
            <a:r>
              <a:rPr lang="en-US" sz="2000">
                <a:solidFill>
                  <a:schemeClr val="tx1"/>
                </a:solidFill>
              </a:rPr>
              <a:t>Q2: How do we find it?</a:t>
            </a:r>
          </a:p>
          <a:p>
            <a:endParaRPr lang="en-US" sz="2000"/>
          </a:p>
          <a:p>
            <a:r>
              <a:rPr lang="en-US" sz="2000">
                <a:solidFill>
                  <a:schemeClr val="tx1"/>
                </a:solidFill>
              </a:rPr>
              <a:t>Use</a:t>
            </a:r>
            <a:r>
              <a:rPr lang="en-US" sz="2000"/>
              <a:t> next 2 low order memory address bits </a:t>
            </a:r>
            <a:r>
              <a:rPr lang="en-US" sz="2000">
                <a:solidFill>
                  <a:schemeClr val="tx1"/>
                </a:solidFill>
              </a:rPr>
              <a:t>– the</a:t>
            </a:r>
            <a:r>
              <a:rPr lang="en-US" sz="2000"/>
              <a:t> index </a:t>
            </a:r>
            <a:r>
              <a:rPr lang="en-US">
                <a:solidFill>
                  <a:schemeClr val="tx1"/>
                </a:solidFill>
              </a:rPr>
              <a:t>–</a:t>
            </a:r>
            <a:r>
              <a:rPr lang="en-US" sz="2000">
                <a:solidFill>
                  <a:schemeClr val="tx1"/>
                </a:solidFill>
              </a:rPr>
              <a:t> to determine which cache block (i.e., modulo the number of blocks in the cache)</a:t>
            </a:r>
          </a:p>
        </p:txBody>
      </p:sp>
      <p:sp>
        <p:nvSpPr>
          <p:cNvPr id="1660955" name="Line 27"/>
          <p:cNvSpPr>
            <a:spLocks noChangeShapeType="1"/>
          </p:cNvSpPr>
          <p:nvPr/>
        </p:nvSpPr>
        <p:spPr bwMode="auto">
          <a:xfrm>
            <a:off x="4267200" y="2057400"/>
            <a:ext cx="990600" cy="0"/>
          </a:xfrm>
          <a:prstGeom prst="line">
            <a:avLst/>
          </a:prstGeom>
          <a:noFill/>
          <a:ln w="12700">
            <a:solidFill>
              <a:schemeClr val="tx1"/>
            </a:solidFill>
            <a:round/>
            <a:headEnd/>
            <a:tailEnd/>
          </a:ln>
          <a:effectLst/>
        </p:spPr>
        <p:txBody>
          <a:bodyPr wrap="none" anchor="ctr"/>
          <a:lstStyle/>
          <a:p>
            <a:endParaRPr lang="en-US"/>
          </a:p>
        </p:txBody>
      </p:sp>
      <p:sp>
        <p:nvSpPr>
          <p:cNvPr id="1660956" name="Line 28"/>
          <p:cNvSpPr>
            <a:spLocks noChangeShapeType="1"/>
          </p:cNvSpPr>
          <p:nvPr/>
        </p:nvSpPr>
        <p:spPr bwMode="auto">
          <a:xfrm>
            <a:off x="4267200" y="2362200"/>
            <a:ext cx="990600" cy="0"/>
          </a:xfrm>
          <a:prstGeom prst="line">
            <a:avLst/>
          </a:prstGeom>
          <a:noFill/>
          <a:ln w="12700">
            <a:solidFill>
              <a:schemeClr val="tx1"/>
            </a:solidFill>
            <a:round/>
            <a:headEnd/>
            <a:tailEnd/>
          </a:ln>
          <a:effectLst/>
        </p:spPr>
        <p:txBody>
          <a:bodyPr wrap="none" anchor="ctr"/>
          <a:lstStyle/>
          <a:p>
            <a:endParaRPr lang="en-US"/>
          </a:p>
        </p:txBody>
      </p:sp>
      <p:sp>
        <p:nvSpPr>
          <p:cNvPr id="1660957" name="Line 29"/>
          <p:cNvSpPr>
            <a:spLocks noChangeShapeType="1"/>
          </p:cNvSpPr>
          <p:nvPr/>
        </p:nvSpPr>
        <p:spPr bwMode="auto">
          <a:xfrm>
            <a:off x="4267200" y="2667000"/>
            <a:ext cx="990600" cy="0"/>
          </a:xfrm>
          <a:prstGeom prst="line">
            <a:avLst/>
          </a:prstGeom>
          <a:noFill/>
          <a:ln w="12700">
            <a:solidFill>
              <a:schemeClr val="tx1"/>
            </a:solidFill>
            <a:round/>
            <a:headEnd/>
            <a:tailEnd/>
          </a:ln>
          <a:effectLst/>
        </p:spPr>
        <p:txBody>
          <a:bodyPr wrap="none" anchor="ctr"/>
          <a:lstStyle/>
          <a:p>
            <a:endParaRPr lang="en-US"/>
          </a:p>
        </p:txBody>
      </p:sp>
      <p:sp>
        <p:nvSpPr>
          <p:cNvPr id="1660958" name="Line 30"/>
          <p:cNvSpPr>
            <a:spLocks noChangeShapeType="1"/>
          </p:cNvSpPr>
          <p:nvPr/>
        </p:nvSpPr>
        <p:spPr bwMode="auto">
          <a:xfrm>
            <a:off x="4267200" y="2971800"/>
            <a:ext cx="990600" cy="0"/>
          </a:xfrm>
          <a:prstGeom prst="line">
            <a:avLst/>
          </a:prstGeom>
          <a:noFill/>
          <a:ln w="12700">
            <a:solidFill>
              <a:schemeClr val="tx1"/>
            </a:solidFill>
            <a:round/>
            <a:headEnd/>
            <a:tailEnd/>
          </a:ln>
          <a:effectLst/>
        </p:spPr>
        <p:txBody>
          <a:bodyPr wrap="none" anchor="ctr"/>
          <a:lstStyle/>
          <a:p>
            <a:endParaRPr lang="en-US"/>
          </a:p>
        </p:txBody>
      </p:sp>
      <p:sp>
        <p:nvSpPr>
          <p:cNvPr id="1660959" name="Line 31"/>
          <p:cNvSpPr>
            <a:spLocks noChangeShapeType="1"/>
          </p:cNvSpPr>
          <p:nvPr/>
        </p:nvSpPr>
        <p:spPr bwMode="auto">
          <a:xfrm>
            <a:off x="4267200" y="3276600"/>
            <a:ext cx="990600" cy="0"/>
          </a:xfrm>
          <a:prstGeom prst="line">
            <a:avLst/>
          </a:prstGeom>
          <a:noFill/>
          <a:ln w="12700">
            <a:solidFill>
              <a:schemeClr val="tx1"/>
            </a:solidFill>
            <a:round/>
            <a:headEnd/>
            <a:tailEnd/>
          </a:ln>
          <a:effectLst/>
        </p:spPr>
        <p:txBody>
          <a:bodyPr wrap="none" anchor="ctr"/>
          <a:lstStyle/>
          <a:p>
            <a:endParaRPr lang="en-US"/>
          </a:p>
        </p:txBody>
      </p:sp>
      <p:sp>
        <p:nvSpPr>
          <p:cNvPr id="1660960" name="Line 32"/>
          <p:cNvSpPr>
            <a:spLocks noChangeShapeType="1"/>
          </p:cNvSpPr>
          <p:nvPr/>
        </p:nvSpPr>
        <p:spPr bwMode="auto">
          <a:xfrm>
            <a:off x="4267200" y="3581400"/>
            <a:ext cx="990600" cy="0"/>
          </a:xfrm>
          <a:prstGeom prst="line">
            <a:avLst/>
          </a:prstGeom>
          <a:noFill/>
          <a:ln w="12700">
            <a:solidFill>
              <a:schemeClr val="tx1"/>
            </a:solidFill>
            <a:round/>
            <a:headEnd/>
            <a:tailEnd/>
          </a:ln>
          <a:effectLst/>
        </p:spPr>
        <p:txBody>
          <a:bodyPr wrap="none" anchor="ctr"/>
          <a:lstStyle/>
          <a:p>
            <a:endParaRPr lang="en-US"/>
          </a:p>
        </p:txBody>
      </p:sp>
      <p:sp>
        <p:nvSpPr>
          <p:cNvPr id="1660961" name="Line 33"/>
          <p:cNvSpPr>
            <a:spLocks noChangeShapeType="1"/>
          </p:cNvSpPr>
          <p:nvPr/>
        </p:nvSpPr>
        <p:spPr bwMode="auto">
          <a:xfrm>
            <a:off x="4267200" y="4495800"/>
            <a:ext cx="990600" cy="0"/>
          </a:xfrm>
          <a:prstGeom prst="line">
            <a:avLst/>
          </a:prstGeom>
          <a:noFill/>
          <a:ln w="12700">
            <a:solidFill>
              <a:schemeClr val="tx1"/>
            </a:solidFill>
            <a:round/>
            <a:headEnd/>
            <a:tailEnd/>
          </a:ln>
          <a:effectLst/>
        </p:spPr>
        <p:txBody>
          <a:bodyPr wrap="none" anchor="ctr"/>
          <a:lstStyle/>
          <a:p>
            <a:endParaRPr lang="en-US"/>
          </a:p>
        </p:txBody>
      </p:sp>
      <p:sp>
        <p:nvSpPr>
          <p:cNvPr id="1660962" name="Line 34"/>
          <p:cNvSpPr>
            <a:spLocks noChangeShapeType="1"/>
          </p:cNvSpPr>
          <p:nvPr/>
        </p:nvSpPr>
        <p:spPr bwMode="auto">
          <a:xfrm>
            <a:off x="4267200" y="3886200"/>
            <a:ext cx="990600" cy="0"/>
          </a:xfrm>
          <a:prstGeom prst="line">
            <a:avLst/>
          </a:prstGeom>
          <a:noFill/>
          <a:ln w="12700">
            <a:solidFill>
              <a:schemeClr val="tx1"/>
            </a:solidFill>
            <a:round/>
            <a:headEnd/>
            <a:tailEnd/>
          </a:ln>
          <a:effectLst/>
        </p:spPr>
        <p:txBody>
          <a:bodyPr wrap="none" anchor="ctr"/>
          <a:lstStyle/>
          <a:p>
            <a:endParaRPr lang="en-US"/>
          </a:p>
        </p:txBody>
      </p:sp>
      <p:sp>
        <p:nvSpPr>
          <p:cNvPr id="1660963" name="Line 35"/>
          <p:cNvSpPr>
            <a:spLocks noChangeShapeType="1"/>
          </p:cNvSpPr>
          <p:nvPr/>
        </p:nvSpPr>
        <p:spPr bwMode="auto">
          <a:xfrm>
            <a:off x="4267200" y="4191000"/>
            <a:ext cx="990600" cy="0"/>
          </a:xfrm>
          <a:prstGeom prst="line">
            <a:avLst/>
          </a:prstGeom>
          <a:noFill/>
          <a:ln w="12700">
            <a:solidFill>
              <a:schemeClr val="tx1"/>
            </a:solidFill>
            <a:round/>
            <a:headEnd/>
            <a:tailEnd/>
          </a:ln>
          <a:effectLst/>
        </p:spPr>
        <p:txBody>
          <a:bodyPr wrap="none" anchor="ctr"/>
          <a:lstStyle/>
          <a:p>
            <a:endParaRPr lang="en-US"/>
          </a:p>
        </p:txBody>
      </p:sp>
      <p:grpSp>
        <p:nvGrpSpPr>
          <p:cNvPr id="3" name="Group 36"/>
          <p:cNvGrpSpPr>
            <a:grpSpLocks/>
          </p:cNvGrpSpPr>
          <p:nvPr/>
        </p:nvGrpSpPr>
        <p:grpSpPr bwMode="auto">
          <a:xfrm>
            <a:off x="1600200" y="2057400"/>
            <a:ext cx="609600" cy="1219200"/>
            <a:chOff x="1344" y="1056"/>
            <a:chExt cx="624" cy="768"/>
          </a:xfrm>
        </p:grpSpPr>
        <p:sp>
          <p:nvSpPr>
            <p:cNvPr id="1660965"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0966"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60967"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60968"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0969" name="Text Box 41"/>
          <p:cNvSpPr txBox="1">
            <a:spLocks noChangeArrowheads="1"/>
          </p:cNvSpPr>
          <p:nvPr/>
        </p:nvSpPr>
        <p:spPr bwMode="auto">
          <a:xfrm>
            <a:off x="1600200" y="1600200"/>
            <a:ext cx="577850" cy="366713"/>
          </a:xfrm>
          <a:prstGeom prst="rect">
            <a:avLst/>
          </a:prstGeom>
          <a:noFill/>
          <a:ln w="12700">
            <a:noFill/>
            <a:miter lim="800000"/>
            <a:headEnd/>
            <a:tailEnd/>
          </a:ln>
          <a:effectLst/>
        </p:spPr>
        <p:txBody>
          <a:bodyPr wrap="none">
            <a:spAutoFit/>
          </a:bodyPr>
          <a:lstStyle/>
          <a:p>
            <a:r>
              <a:rPr lang="en-US">
                <a:solidFill>
                  <a:schemeClr val="accent2"/>
                </a:solidFill>
              </a:rPr>
              <a:t>Tag</a:t>
            </a:r>
          </a:p>
        </p:txBody>
      </p:sp>
      <p:sp>
        <p:nvSpPr>
          <p:cNvPr id="1660970" name="Text Box 42"/>
          <p:cNvSpPr txBox="1">
            <a:spLocks noChangeArrowheads="1"/>
          </p:cNvSpPr>
          <p:nvPr/>
        </p:nvSpPr>
        <p:spPr bwMode="auto">
          <a:xfrm>
            <a:off x="2362200" y="1600200"/>
            <a:ext cx="666750" cy="366713"/>
          </a:xfrm>
          <a:prstGeom prst="rect">
            <a:avLst/>
          </a:prstGeom>
          <a:noFill/>
          <a:ln w="12700">
            <a:noFill/>
            <a:miter lim="800000"/>
            <a:headEnd/>
            <a:tailEnd/>
          </a:ln>
          <a:effectLst/>
        </p:spPr>
        <p:txBody>
          <a:bodyPr wrap="none">
            <a:spAutoFit/>
          </a:bodyPr>
          <a:lstStyle/>
          <a:p>
            <a:r>
              <a:rPr lang="en-US">
                <a:solidFill>
                  <a:schemeClr val="tx1"/>
                </a:solidFill>
              </a:rPr>
              <a:t>Data</a:t>
            </a:r>
          </a:p>
        </p:txBody>
      </p:sp>
      <p:sp>
        <p:nvSpPr>
          <p:cNvPr id="1660971" name="Rectangle 43" descr="5%"/>
          <p:cNvSpPr>
            <a:spLocks noChangeArrowheads="1"/>
          </p:cNvSpPr>
          <p:nvPr/>
        </p:nvSpPr>
        <p:spPr bwMode="auto">
          <a:xfrm>
            <a:off x="4267200" y="838200"/>
            <a:ext cx="990600" cy="304800"/>
          </a:xfrm>
          <a:prstGeom prst="rect">
            <a:avLst/>
          </a:prstGeom>
          <a:pattFill prst="pct5">
            <a:fgClr>
              <a:schemeClr val="accent1"/>
            </a:fgClr>
            <a:bgClr>
              <a:srgbClr val="FFFFFF"/>
            </a:bgClr>
          </a:pattFill>
          <a:ln w="12700">
            <a:solidFill>
              <a:schemeClr val="accent1"/>
            </a:solidFill>
            <a:miter lim="800000"/>
            <a:headEnd/>
            <a:tailEnd/>
          </a:ln>
          <a:effectLst/>
        </p:spPr>
        <p:txBody>
          <a:bodyPr wrap="none" anchor="ctr"/>
          <a:lstStyle/>
          <a:p>
            <a:endParaRPr lang="en-US"/>
          </a:p>
        </p:txBody>
      </p:sp>
      <p:sp>
        <p:nvSpPr>
          <p:cNvPr id="1660972" name="Rectangle 44" descr="5%"/>
          <p:cNvSpPr>
            <a:spLocks noChangeArrowheads="1"/>
          </p:cNvSpPr>
          <p:nvPr/>
        </p:nvSpPr>
        <p:spPr bwMode="auto">
          <a:xfrm>
            <a:off x="2209800" y="2057400"/>
            <a:ext cx="990600" cy="304800"/>
          </a:xfrm>
          <a:prstGeom prst="rect">
            <a:avLst/>
          </a:prstGeom>
          <a:pattFill prst="pct5">
            <a:fgClr>
              <a:schemeClr val="accent1"/>
            </a:fgClr>
            <a:bgClr>
              <a:srgbClr val="FFFFFF"/>
            </a:bgClr>
          </a:pattFill>
          <a:ln w="12700">
            <a:solidFill>
              <a:schemeClr val="accent1"/>
            </a:solidFill>
            <a:miter lim="800000"/>
            <a:headEnd/>
            <a:tailEnd/>
          </a:ln>
          <a:effectLst/>
        </p:spPr>
        <p:txBody>
          <a:bodyPr wrap="none" anchor="ctr"/>
          <a:lstStyle/>
          <a:p>
            <a:endParaRPr lang="en-US"/>
          </a:p>
        </p:txBody>
      </p:sp>
      <p:sp>
        <p:nvSpPr>
          <p:cNvPr id="1660973" name="Rectangle 45" descr="5%"/>
          <p:cNvSpPr>
            <a:spLocks noChangeArrowheads="1"/>
          </p:cNvSpPr>
          <p:nvPr/>
        </p:nvSpPr>
        <p:spPr bwMode="auto">
          <a:xfrm>
            <a:off x="4267200" y="2057400"/>
            <a:ext cx="990600" cy="304800"/>
          </a:xfrm>
          <a:prstGeom prst="rect">
            <a:avLst/>
          </a:prstGeom>
          <a:pattFill prst="pct5">
            <a:fgClr>
              <a:schemeClr val="accent1"/>
            </a:fgClr>
            <a:bgClr>
              <a:srgbClr val="FFFFFF"/>
            </a:bgClr>
          </a:pattFill>
          <a:ln w="12700">
            <a:solidFill>
              <a:schemeClr val="accent1"/>
            </a:solidFill>
            <a:miter lim="800000"/>
            <a:headEnd/>
            <a:tailEnd/>
          </a:ln>
          <a:effectLst/>
        </p:spPr>
        <p:txBody>
          <a:bodyPr wrap="none" anchor="ctr"/>
          <a:lstStyle/>
          <a:p>
            <a:endParaRPr lang="en-US"/>
          </a:p>
        </p:txBody>
      </p:sp>
      <p:sp>
        <p:nvSpPr>
          <p:cNvPr id="1660974" name="Rectangle 46" descr="5%"/>
          <p:cNvSpPr>
            <a:spLocks noChangeArrowheads="1"/>
          </p:cNvSpPr>
          <p:nvPr/>
        </p:nvSpPr>
        <p:spPr bwMode="auto">
          <a:xfrm>
            <a:off x="4267200" y="3276600"/>
            <a:ext cx="990600" cy="304800"/>
          </a:xfrm>
          <a:prstGeom prst="rect">
            <a:avLst/>
          </a:prstGeom>
          <a:pattFill prst="pct5">
            <a:fgClr>
              <a:schemeClr val="accent1"/>
            </a:fgClr>
            <a:bgClr>
              <a:srgbClr val="FFFFFF"/>
            </a:bgClr>
          </a:pattFill>
          <a:ln w="12700">
            <a:solidFill>
              <a:schemeClr val="accent1"/>
            </a:solidFill>
            <a:miter lim="800000"/>
            <a:headEnd/>
            <a:tailEnd/>
          </a:ln>
          <a:effectLst/>
        </p:spPr>
        <p:txBody>
          <a:bodyPr wrap="none" anchor="ctr"/>
          <a:lstStyle/>
          <a:p>
            <a:endParaRPr lang="en-US"/>
          </a:p>
        </p:txBody>
      </p:sp>
      <p:sp>
        <p:nvSpPr>
          <p:cNvPr id="1660975" name="Rectangle 47" descr="5%"/>
          <p:cNvSpPr>
            <a:spLocks noChangeArrowheads="1"/>
          </p:cNvSpPr>
          <p:nvPr/>
        </p:nvSpPr>
        <p:spPr bwMode="auto">
          <a:xfrm>
            <a:off x="4267200" y="4495800"/>
            <a:ext cx="990600" cy="304800"/>
          </a:xfrm>
          <a:prstGeom prst="rect">
            <a:avLst/>
          </a:prstGeom>
          <a:pattFill prst="pct5">
            <a:fgClr>
              <a:schemeClr val="accent1"/>
            </a:fgClr>
            <a:bgClr>
              <a:srgbClr val="FFFFFF"/>
            </a:bgClr>
          </a:pattFill>
          <a:ln w="12700">
            <a:solidFill>
              <a:schemeClr val="accent1"/>
            </a:solidFill>
            <a:miter lim="800000"/>
            <a:headEnd/>
            <a:tailEnd/>
          </a:ln>
          <a:effectLst/>
        </p:spPr>
        <p:txBody>
          <a:bodyPr wrap="none" anchor="ctr"/>
          <a:lstStyle/>
          <a:p>
            <a:endParaRPr lang="en-US"/>
          </a:p>
        </p:txBody>
      </p:sp>
      <p:sp>
        <p:nvSpPr>
          <p:cNvPr id="1660976" name="Rectangle 48" descr="5%"/>
          <p:cNvSpPr>
            <a:spLocks noChangeArrowheads="1"/>
          </p:cNvSpPr>
          <p:nvPr/>
        </p:nvSpPr>
        <p:spPr bwMode="auto">
          <a:xfrm>
            <a:off x="4267200" y="5410200"/>
            <a:ext cx="990600" cy="304800"/>
          </a:xfrm>
          <a:prstGeom prst="rect">
            <a:avLst/>
          </a:prstGeom>
          <a:pattFill prst="pct5">
            <a:fgClr>
              <a:srgbClr val="009900"/>
            </a:fgClr>
            <a:bgClr>
              <a:srgbClr val="FFFFFF"/>
            </a:bgClr>
          </a:pattFill>
          <a:ln w="12700">
            <a:solidFill>
              <a:srgbClr val="009900"/>
            </a:solidFill>
            <a:miter lim="800000"/>
            <a:headEnd/>
            <a:tailEnd/>
          </a:ln>
          <a:effectLst/>
        </p:spPr>
        <p:txBody>
          <a:bodyPr wrap="none" anchor="ctr"/>
          <a:lstStyle/>
          <a:p>
            <a:endParaRPr lang="en-US"/>
          </a:p>
        </p:txBody>
      </p:sp>
      <p:sp>
        <p:nvSpPr>
          <p:cNvPr id="1660977" name="Rectangle 49" descr="5%"/>
          <p:cNvSpPr>
            <a:spLocks noChangeArrowheads="1"/>
          </p:cNvSpPr>
          <p:nvPr/>
        </p:nvSpPr>
        <p:spPr bwMode="auto">
          <a:xfrm>
            <a:off x="4267200" y="4191000"/>
            <a:ext cx="990600" cy="304800"/>
          </a:xfrm>
          <a:prstGeom prst="rect">
            <a:avLst/>
          </a:prstGeom>
          <a:pattFill prst="pct5">
            <a:fgClr>
              <a:srgbClr val="009900"/>
            </a:fgClr>
            <a:bgClr>
              <a:srgbClr val="FFFFFF"/>
            </a:bgClr>
          </a:pattFill>
          <a:ln w="12700">
            <a:solidFill>
              <a:srgbClr val="009900"/>
            </a:solidFill>
            <a:miter lim="800000"/>
            <a:headEnd/>
            <a:tailEnd/>
          </a:ln>
          <a:effectLst/>
        </p:spPr>
        <p:txBody>
          <a:bodyPr wrap="none" anchor="ctr"/>
          <a:lstStyle/>
          <a:p>
            <a:endParaRPr lang="en-US"/>
          </a:p>
        </p:txBody>
      </p:sp>
      <p:sp>
        <p:nvSpPr>
          <p:cNvPr id="1660978" name="Rectangle 50" descr="5%"/>
          <p:cNvSpPr>
            <a:spLocks noChangeArrowheads="1"/>
          </p:cNvSpPr>
          <p:nvPr/>
        </p:nvSpPr>
        <p:spPr bwMode="auto">
          <a:xfrm>
            <a:off x="4267200" y="2971800"/>
            <a:ext cx="990600" cy="304800"/>
          </a:xfrm>
          <a:prstGeom prst="rect">
            <a:avLst/>
          </a:prstGeom>
          <a:pattFill prst="pct5">
            <a:fgClr>
              <a:srgbClr val="009900"/>
            </a:fgClr>
            <a:bgClr>
              <a:srgbClr val="FFFFFF"/>
            </a:bgClr>
          </a:pattFill>
          <a:ln w="12700">
            <a:solidFill>
              <a:srgbClr val="009900"/>
            </a:solidFill>
            <a:miter lim="800000"/>
            <a:headEnd/>
            <a:tailEnd/>
          </a:ln>
          <a:effectLst/>
        </p:spPr>
        <p:txBody>
          <a:bodyPr wrap="none" anchor="ctr"/>
          <a:lstStyle/>
          <a:p>
            <a:endParaRPr lang="en-US"/>
          </a:p>
        </p:txBody>
      </p:sp>
      <p:sp>
        <p:nvSpPr>
          <p:cNvPr id="1660979" name="Rectangle 51" descr="5%"/>
          <p:cNvSpPr>
            <a:spLocks noChangeArrowheads="1"/>
          </p:cNvSpPr>
          <p:nvPr/>
        </p:nvSpPr>
        <p:spPr bwMode="auto">
          <a:xfrm>
            <a:off x="4267200" y="1752600"/>
            <a:ext cx="990600" cy="304800"/>
          </a:xfrm>
          <a:prstGeom prst="rect">
            <a:avLst/>
          </a:prstGeom>
          <a:pattFill prst="pct5">
            <a:fgClr>
              <a:srgbClr val="009900"/>
            </a:fgClr>
            <a:bgClr>
              <a:srgbClr val="FFFFFF"/>
            </a:bgClr>
          </a:pattFill>
          <a:ln w="12700">
            <a:solidFill>
              <a:srgbClr val="009900"/>
            </a:solidFill>
            <a:miter lim="800000"/>
            <a:headEnd/>
            <a:tailEnd/>
          </a:ln>
          <a:effectLst/>
        </p:spPr>
        <p:txBody>
          <a:bodyPr wrap="none" anchor="ctr"/>
          <a:lstStyle/>
          <a:p>
            <a:endParaRPr lang="en-US"/>
          </a:p>
        </p:txBody>
      </p:sp>
      <p:sp>
        <p:nvSpPr>
          <p:cNvPr id="1660980" name="Rectangle 52" descr="5%"/>
          <p:cNvSpPr>
            <a:spLocks noChangeArrowheads="1"/>
          </p:cNvSpPr>
          <p:nvPr/>
        </p:nvSpPr>
        <p:spPr bwMode="auto">
          <a:xfrm>
            <a:off x="2209800" y="2971800"/>
            <a:ext cx="990600" cy="304800"/>
          </a:xfrm>
          <a:prstGeom prst="rect">
            <a:avLst/>
          </a:prstGeom>
          <a:pattFill prst="pct5">
            <a:fgClr>
              <a:srgbClr val="009900"/>
            </a:fgClr>
            <a:bgClr>
              <a:srgbClr val="FFFFFF"/>
            </a:bgClr>
          </a:pattFill>
          <a:ln w="12700">
            <a:solidFill>
              <a:srgbClr val="009900"/>
            </a:solidFill>
            <a:miter lim="800000"/>
            <a:headEnd/>
            <a:tailEnd/>
          </a:ln>
          <a:effectLst/>
        </p:spPr>
        <p:txBody>
          <a:bodyPr wrap="none" anchor="ctr"/>
          <a:lstStyle/>
          <a:p>
            <a:endParaRPr lang="en-US"/>
          </a:p>
        </p:txBody>
      </p:sp>
      <p:sp>
        <p:nvSpPr>
          <p:cNvPr id="1660981" name="Rectangle 53" descr="5%"/>
          <p:cNvSpPr>
            <a:spLocks noChangeArrowheads="1"/>
          </p:cNvSpPr>
          <p:nvPr/>
        </p:nvSpPr>
        <p:spPr bwMode="auto">
          <a:xfrm>
            <a:off x="4267200" y="1143000"/>
            <a:ext cx="990600" cy="304800"/>
          </a:xfrm>
          <a:prstGeom prst="rect">
            <a:avLst/>
          </a:prstGeom>
          <a:pattFill prst="pct5">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660982" name="Rectangle 54" descr="5%"/>
          <p:cNvSpPr>
            <a:spLocks noChangeArrowheads="1"/>
          </p:cNvSpPr>
          <p:nvPr/>
        </p:nvSpPr>
        <p:spPr bwMode="auto">
          <a:xfrm>
            <a:off x="2209800" y="2362200"/>
            <a:ext cx="990600" cy="304800"/>
          </a:xfrm>
          <a:prstGeom prst="rect">
            <a:avLst/>
          </a:prstGeom>
          <a:pattFill prst="pct5">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660983" name="Rectangle 55" descr="5%"/>
          <p:cNvSpPr>
            <a:spLocks noChangeArrowheads="1"/>
          </p:cNvSpPr>
          <p:nvPr/>
        </p:nvSpPr>
        <p:spPr bwMode="auto">
          <a:xfrm>
            <a:off x="4267200" y="2362200"/>
            <a:ext cx="990600" cy="304800"/>
          </a:xfrm>
          <a:prstGeom prst="rect">
            <a:avLst/>
          </a:prstGeom>
          <a:pattFill prst="pct5">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660984" name="Rectangle 56" descr="5%"/>
          <p:cNvSpPr>
            <a:spLocks noChangeArrowheads="1"/>
          </p:cNvSpPr>
          <p:nvPr/>
        </p:nvSpPr>
        <p:spPr bwMode="auto">
          <a:xfrm>
            <a:off x="4267200" y="3581400"/>
            <a:ext cx="990600" cy="304800"/>
          </a:xfrm>
          <a:prstGeom prst="rect">
            <a:avLst/>
          </a:prstGeom>
          <a:pattFill prst="pct5">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660985" name="Rectangle 57" descr="5%"/>
          <p:cNvSpPr>
            <a:spLocks noChangeArrowheads="1"/>
          </p:cNvSpPr>
          <p:nvPr/>
        </p:nvSpPr>
        <p:spPr bwMode="auto">
          <a:xfrm>
            <a:off x="4267200" y="4800600"/>
            <a:ext cx="990600" cy="304800"/>
          </a:xfrm>
          <a:prstGeom prst="rect">
            <a:avLst/>
          </a:prstGeom>
          <a:pattFill prst="pct5">
            <a:fgClr>
              <a:schemeClr val="accent2"/>
            </a:fgClr>
            <a:bgClr>
              <a:srgbClr val="FFFFFF"/>
            </a:bgClr>
          </a:pattFill>
          <a:ln w="12700">
            <a:solidFill>
              <a:schemeClr val="accent2"/>
            </a:solidFill>
            <a:miter lim="800000"/>
            <a:headEnd/>
            <a:tailEnd/>
          </a:ln>
          <a:effectLst/>
        </p:spPr>
        <p:txBody>
          <a:bodyPr wrap="none" anchor="ctr"/>
          <a:lstStyle/>
          <a:p>
            <a:endParaRPr lang="en-US"/>
          </a:p>
        </p:txBody>
      </p:sp>
      <p:sp>
        <p:nvSpPr>
          <p:cNvPr id="1660986" name="Rectangle 58" descr="5%"/>
          <p:cNvSpPr>
            <a:spLocks noChangeArrowheads="1"/>
          </p:cNvSpPr>
          <p:nvPr/>
        </p:nvSpPr>
        <p:spPr bwMode="auto">
          <a:xfrm>
            <a:off x="4267200" y="5105400"/>
            <a:ext cx="990600" cy="304800"/>
          </a:xfrm>
          <a:prstGeom prst="rect">
            <a:avLst/>
          </a:prstGeom>
          <a:pattFill prst="pct5">
            <a:fgClr>
              <a:schemeClr val="folHlink"/>
            </a:fgClr>
            <a:bgClr>
              <a:srgbClr val="FFFFFF"/>
            </a:bgClr>
          </a:pattFill>
          <a:ln w="12700">
            <a:solidFill>
              <a:schemeClr val="folHlink"/>
            </a:solidFill>
            <a:miter lim="800000"/>
            <a:headEnd/>
            <a:tailEnd/>
          </a:ln>
          <a:effectLst/>
        </p:spPr>
        <p:txBody>
          <a:bodyPr wrap="none" anchor="ctr"/>
          <a:lstStyle/>
          <a:p>
            <a:endParaRPr lang="en-US"/>
          </a:p>
        </p:txBody>
      </p:sp>
      <p:sp>
        <p:nvSpPr>
          <p:cNvPr id="1660987" name="Rectangle 59" descr="5%"/>
          <p:cNvSpPr>
            <a:spLocks noChangeArrowheads="1"/>
          </p:cNvSpPr>
          <p:nvPr/>
        </p:nvSpPr>
        <p:spPr bwMode="auto">
          <a:xfrm>
            <a:off x="4267200" y="3886200"/>
            <a:ext cx="990600" cy="304800"/>
          </a:xfrm>
          <a:prstGeom prst="rect">
            <a:avLst/>
          </a:prstGeom>
          <a:pattFill prst="pct5">
            <a:fgClr>
              <a:schemeClr val="folHlink"/>
            </a:fgClr>
            <a:bgClr>
              <a:srgbClr val="FFFFFF"/>
            </a:bgClr>
          </a:pattFill>
          <a:ln w="12700">
            <a:solidFill>
              <a:schemeClr val="folHlink"/>
            </a:solidFill>
            <a:miter lim="800000"/>
            <a:headEnd/>
            <a:tailEnd/>
          </a:ln>
          <a:effectLst/>
        </p:spPr>
        <p:txBody>
          <a:bodyPr wrap="none" anchor="ctr"/>
          <a:lstStyle/>
          <a:p>
            <a:endParaRPr lang="en-US"/>
          </a:p>
        </p:txBody>
      </p:sp>
      <p:sp>
        <p:nvSpPr>
          <p:cNvPr id="1660988" name="Rectangle 60" descr="5%"/>
          <p:cNvSpPr>
            <a:spLocks noChangeArrowheads="1"/>
          </p:cNvSpPr>
          <p:nvPr/>
        </p:nvSpPr>
        <p:spPr bwMode="auto">
          <a:xfrm>
            <a:off x="4267200" y="2667000"/>
            <a:ext cx="990600" cy="304800"/>
          </a:xfrm>
          <a:prstGeom prst="rect">
            <a:avLst/>
          </a:prstGeom>
          <a:pattFill prst="pct5">
            <a:fgClr>
              <a:schemeClr val="folHlink"/>
            </a:fgClr>
            <a:bgClr>
              <a:srgbClr val="FFFFFF"/>
            </a:bgClr>
          </a:pattFill>
          <a:ln w="12700">
            <a:solidFill>
              <a:schemeClr val="folHlink"/>
            </a:solidFill>
            <a:miter lim="800000"/>
            <a:headEnd/>
            <a:tailEnd/>
          </a:ln>
          <a:effectLst/>
        </p:spPr>
        <p:txBody>
          <a:bodyPr wrap="none" anchor="ctr"/>
          <a:lstStyle/>
          <a:p>
            <a:endParaRPr lang="en-US"/>
          </a:p>
        </p:txBody>
      </p:sp>
      <p:sp>
        <p:nvSpPr>
          <p:cNvPr id="1660989" name="Rectangle 61" descr="5%"/>
          <p:cNvSpPr>
            <a:spLocks noChangeArrowheads="1"/>
          </p:cNvSpPr>
          <p:nvPr/>
        </p:nvSpPr>
        <p:spPr bwMode="auto">
          <a:xfrm>
            <a:off x="4267200" y="1447800"/>
            <a:ext cx="990600" cy="304800"/>
          </a:xfrm>
          <a:prstGeom prst="rect">
            <a:avLst/>
          </a:prstGeom>
          <a:pattFill prst="pct5">
            <a:fgClr>
              <a:schemeClr val="folHlink"/>
            </a:fgClr>
            <a:bgClr>
              <a:srgbClr val="FFFFFF"/>
            </a:bgClr>
          </a:pattFill>
          <a:ln w="12700">
            <a:solidFill>
              <a:schemeClr val="folHlink"/>
            </a:solidFill>
            <a:miter lim="800000"/>
            <a:headEnd/>
            <a:tailEnd/>
          </a:ln>
          <a:effectLst/>
        </p:spPr>
        <p:txBody>
          <a:bodyPr wrap="none" anchor="ctr"/>
          <a:lstStyle/>
          <a:p>
            <a:endParaRPr lang="en-US"/>
          </a:p>
        </p:txBody>
      </p:sp>
      <p:sp>
        <p:nvSpPr>
          <p:cNvPr id="1660990" name="Rectangle 62" descr="5%"/>
          <p:cNvSpPr>
            <a:spLocks noChangeArrowheads="1"/>
          </p:cNvSpPr>
          <p:nvPr/>
        </p:nvSpPr>
        <p:spPr bwMode="auto">
          <a:xfrm>
            <a:off x="2209800" y="2667000"/>
            <a:ext cx="990600" cy="304800"/>
          </a:xfrm>
          <a:prstGeom prst="rect">
            <a:avLst/>
          </a:prstGeom>
          <a:pattFill prst="pct5">
            <a:fgClr>
              <a:schemeClr val="folHlink"/>
            </a:fgClr>
            <a:bgClr>
              <a:srgbClr val="FFFFFF"/>
            </a:bgClr>
          </a:pattFill>
          <a:ln w="12700">
            <a:solidFill>
              <a:schemeClr val="folHlink"/>
            </a:solidFill>
            <a:miter lim="800000"/>
            <a:headEnd/>
            <a:tailEnd/>
          </a:ln>
          <a:effectLst/>
        </p:spPr>
        <p:txBody>
          <a:bodyPr wrap="none" anchor="ctr"/>
          <a:lstStyle/>
          <a:p>
            <a:endParaRPr lang="en-US"/>
          </a:p>
        </p:txBody>
      </p:sp>
      <p:sp>
        <p:nvSpPr>
          <p:cNvPr id="1660991" name="Text Box 63"/>
          <p:cNvSpPr txBox="1">
            <a:spLocks noChangeArrowheads="1"/>
          </p:cNvSpPr>
          <p:nvPr/>
        </p:nvSpPr>
        <p:spPr bwMode="auto">
          <a:xfrm>
            <a:off x="609600" y="4038600"/>
            <a:ext cx="2819400" cy="2225675"/>
          </a:xfrm>
          <a:prstGeom prst="rect">
            <a:avLst/>
          </a:prstGeom>
          <a:noFill/>
          <a:ln w="12700">
            <a:noFill/>
            <a:miter lim="800000"/>
            <a:headEnd/>
            <a:tailEnd/>
          </a:ln>
          <a:effectLst/>
        </p:spPr>
        <p:txBody>
          <a:bodyPr>
            <a:spAutoFit/>
          </a:bodyPr>
          <a:lstStyle/>
          <a:p>
            <a:r>
              <a:rPr lang="en-US" sz="2000">
                <a:solidFill>
                  <a:schemeClr val="tx1"/>
                </a:solidFill>
              </a:rPr>
              <a:t>Q1: Is it there?</a:t>
            </a:r>
          </a:p>
          <a:p>
            <a:endParaRPr lang="en-US" sz="2000"/>
          </a:p>
          <a:p>
            <a:r>
              <a:rPr lang="en-US" sz="2000">
                <a:solidFill>
                  <a:schemeClr val="tx1"/>
                </a:solidFill>
              </a:rPr>
              <a:t>Compare the cache </a:t>
            </a:r>
            <a:r>
              <a:rPr lang="en-US" sz="2000">
                <a:solidFill>
                  <a:schemeClr val="accent2"/>
                </a:solidFill>
              </a:rPr>
              <a:t>tag</a:t>
            </a:r>
            <a:r>
              <a:rPr lang="en-US" sz="2000">
                <a:solidFill>
                  <a:schemeClr val="tx1"/>
                </a:solidFill>
              </a:rPr>
              <a:t> to the </a:t>
            </a:r>
            <a:r>
              <a:rPr lang="en-US" sz="2000">
                <a:solidFill>
                  <a:schemeClr val="accent2"/>
                </a:solidFill>
              </a:rPr>
              <a:t>high order 2 memory address bits</a:t>
            </a:r>
            <a:r>
              <a:rPr lang="en-US" sz="2000">
                <a:solidFill>
                  <a:schemeClr val="tx1"/>
                </a:solidFill>
              </a:rPr>
              <a:t> to tell if the memory block is in the cache</a:t>
            </a:r>
          </a:p>
        </p:txBody>
      </p:sp>
      <p:grpSp>
        <p:nvGrpSpPr>
          <p:cNvPr id="4" name="Group 64"/>
          <p:cNvGrpSpPr>
            <a:grpSpLocks/>
          </p:cNvGrpSpPr>
          <p:nvPr/>
        </p:nvGrpSpPr>
        <p:grpSpPr bwMode="auto">
          <a:xfrm>
            <a:off x="1219200" y="2057400"/>
            <a:ext cx="381000" cy="1219200"/>
            <a:chOff x="1344" y="1056"/>
            <a:chExt cx="624" cy="768"/>
          </a:xfrm>
        </p:grpSpPr>
        <p:sp>
          <p:nvSpPr>
            <p:cNvPr id="1660993" name="Rectangle 65"/>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0994" name="Line 66"/>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60995" name="Line 67"/>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60996" name="Line 68"/>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0997" name="Text Box 69"/>
          <p:cNvSpPr txBox="1">
            <a:spLocks noChangeArrowheads="1"/>
          </p:cNvSpPr>
          <p:nvPr/>
        </p:nvSpPr>
        <p:spPr bwMode="auto">
          <a:xfrm>
            <a:off x="990600" y="1600200"/>
            <a:ext cx="692150" cy="366713"/>
          </a:xfrm>
          <a:prstGeom prst="rect">
            <a:avLst/>
          </a:prstGeom>
          <a:noFill/>
          <a:ln w="12700">
            <a:noFill/>
            <a:miter lim="800000"/>
            <a:headEnd/>
            <a:tailEnd/>
          </a:ln>
          <a:effectLst/>
        </p:spPr>
        <p:txBody>
          <a:bodyPr wrap="none">
            <a:spAutoFit/>
          </a:bodyPr>
          <a:lstStyle/>
          <a:p>
            <a:r>
              <a:rPr lang="en-US">
                <a:solidFill>
                  <a:schemeClr val="tx1"/>
                </a:solidFill>
              </a:rPr>
              <a:t>Valid</a:t>
            </a:r>
          </a:p>
        </p:txBody>
      </p:sp>
      <p:grpSp>
        <p:nvGrpSpPr>
          <p:cNvPr id="5" name="Group 70"/>
          <p:cNvGrpSpPr>
            <a:grpSpLocks/>
          </p:cNvGrpSpPr>
          <p:nvPr/>
        </p:nvGrpSpPr>
        <p:grpSpPr bwMode="auto">
          <a:xfrm>
            <a:off x="3200400" y="990600"/>
            <a:ext cx="1066800" cy="2133600"/>
            <a:chOff x="2016" y="624"/>
            <a:chExt cx="672" cy="1344"/>
          </a:xfrm>
        </p:grpSpPr>
        <p:sp>
          <p:nvSpPr>
            <p:cNvPr id="1660999" name="Line 71"/>
            <p:cNvSpPr>
              <a:spLocks noChangeShapeType="1"/>
            </p:cNvSpPr>
            <p:nvPr/>
          </p:nvSpPr>
          <p:spPr bwMode="auto">
            <a:xfrm flipH="1">
              <a:off x="2016" y="624"/>
              <a:ext cx="672" cy="768"/>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00" name="Line 72"/>
            <p:cNvSpPr>
              <a:spLocks noChangeShapeType="1"/>
            </p:cNvSpPr>
            <p:nvPr/>
          </p:nvSpPr>
          <p:spPr bwMode="auto">
            <a:xfrm flipH="1">
              <a:off x="2016" y="816"/>
              <a:ext cx="672" cy="768"/>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01" name="Line 73"/>
            <p:cNvSpPr>
              <a:spLocks noChangeShapeType="1"/>
            </p:cNvSpPr>
            <p:nvPr/>
          </p:nvSpPr>
          <p:spPr bwMode="auto">
            <a:xfrm flipH="1">
              <a:off x="2016" y="1008"/>
              <a:ext cx="672" cy="768"/>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02" name="Line 74"/>
            <p:cNvSpPr>
              <a:spLocks noChangeShapeType="1"/>
            </p:cNvSpPr>
            <p:nvPr/>
          </p:nvSpPr>
          <p:spPr bwMode="auto">
            <a:xfrm flipH="1">
              <a:off x="2016" y="1200"/>
              <a:ext cx="672" cy="768"/>
            </a:xfrm>
            <a:prstGeom prst="line">
              <a:avLst/>
            </a:prstGeom>
            <a:noFill/>
            <a:ln w="12700">
              <a:solidFill>
                <a:schemeClr val="tx1"/>
              </a:solidFill>
              <a:round/>
              <a:headEnd type="triangle" w="med" len="med"/>
              <a:tailEnd type="triangle" w="med" len="med"/>
            </a:ln>
            <a:effectLst/>
          </p:spPr>
          <p:txBody>
            <a:bodyPr/>
            <a:lstStyle/>
            <a:p>
              <a:endParaRPr lang="en-US"/>
            </a:p>
          </p:txBody>
        </p:sp>
      </p:grpSp>
      <p:grpSp>
        <p:nvGrpSpPr>
          <p:cNvPr id="6" name="Group 75"/>
          <p:cNvGrpSpPr>
            <a:grpSpLocks/>
          </p:cNvGrpSpPr>
          <p:nvPr/>
        </p:nvGrpSpPr>
        <p:grpSpPr bwMode="auto">
          <a:xfrm>
            <a:off x="3200400" y="2209800"/>
            <a:ext cx="1066800" cy="914400"/>
            <a:chOff x="2016" y="1392"/>
            <a:chExt cx="672" cy="576"/>
          </a:xfrm>
        </p:grpSpPr>
        <p:sp>
          <p:nvSpPr>
            <p:cNvPr id="1661004" name="Line 76"/>
            <p:cNvSpPr>
              <a:spLocks noChangeShapeType="1"/>
            </p:cNvSpPr>
            <p:nvPr/>
          </p:nvSpPr>
          <p:spPr bwMode="auto">
            <a:xfrm flipH="1">
              <a:off x="2016" y="1392"/>
              <a:ext cx="672" cy="0"/>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05" name="Line 77"/>
            <p:cNvSpPr>
              <a:spLocks noChangeShapeType="1"/>
            </p:cNvSpPr>
            <p:nvPr/>
          </p:nvSpPr>
          <p:spPr bwMode="auto">
            <a:xfrm flipH="1">
              <a:off x="2016" y="1584"/>
              <a:ext cx="672" cy="0"/>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06" name="Line 78"/>
            <p:cNvSpPr>
              <a:spLocks noChangeShapeType="1"/>
            </p:cNvSpPr>
            <p:nvPr/>
          </p:nvSpPr>
          <p:spPr bwMode="auto">
            <a:xfrm flipH="1">
              <a:off x="2016" y="1776"/>
              <a:ext cx="672" cy="0"/>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07" name="Line 79"/>
            <p:cNvSpPr>
              <a:spLocks noChangeShapeType="1"/>
            </p:cNvSpPr>
            <p:nvPr/>
          </p:nvSpPr>
          <p:spPr bwMode="auto">
            <a:xfrm flipH="1">
              <a:off x="2016" y="1968"/>
              <a:ext cx="672" cy="0"/>
            </a:xfrm>
            <a:prstGeom prst="line">
              <a:avLst/>
            </a:prstGeom>
            <a:noFill/>
            <a:ln w="12700">
              <a:solidFill>
                <a:schemeClr val="tx1"/>
              </a:solidFill>
              <a:round/>
              <a:headEnd type="triangle" w="med" len="med"/>
              <a:tailEnd type="triangle" w="med" len="med"/>
            </a:ln>
            <a:effectLst/>
          </p:spPr>
          <p:txBody>
            <a:bodyPr/>
            <a:lstStyle/>
            <a:p>
              <a:endParaRPr lang="en-US"/>
            </a:p>
          </p:txBody>
        </p:sp>
      </p:grpSp>
      <p:grpSp>
        <p:nvGrpSpPr>
          <p:cNvPr id="7" name="Group 80"/>
          <p:cNvGrpSpPr>
            <a:grpSpLocks/>
          </p:cNvGrpSpPr>
          <p:nvPr/>
        </p:nvGrpSpPr>
        <p:grpSpPr bwMode="auto">
          <a:xfrm>
            <a:off x="3200400" y="2286000"/>
            <a:ext cx="1066800" cy="2133600"/>
            <a:chOff x="2016" y="1392"/>
            <a:chExt cx="672" cy="1344"/>
          </a:xfrm>
        </p:grpSpPr>
        <p:sp>
          <p:nvSpPr>
            <p:cNvPr id="1661009" name="Line 81"/>
            <p:cNvSpPr>
              <a:spLocks noChangeShapeType="1"/>
            </p:cNvSpPr>
            <p:nvPr/>
          </p:nvSpPr>
          <p:spPr bwMode="auto">
            <a:xfrm flipH="1" flipV="1">
              <a:off x="2016" y="1392"/>
              <a:ext cx="672" cy="768"/>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10" name="Line 82"/>
            <p:cNvSpPr>
              <a:spLocks noChangeShapeType="1"/>
            </p:cNvSpPr>
            <p:nvPr/>
          </p:nvSpPr>
          <p:spPr bwMode="auto">
            <a:xfrm flipH="1" flipV="1">
              <a:off x="2016" y="1584"/>
              <a:ext cx="672" cy="768"/>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11" name="Line 83"/>
            <p:cNvSpPr>
              <a:spLocks noChangeShapeType="1"/>
            </p:cNvSpPr>
            <p:nvPr/>
          </p:nvSpPr>
          <p:spPr bwMode="auto">
            <a:xfrm flipH="1" flipV="1">
              <a:off x="2016" y="1776"/>
              <a:ext cx="672" cy="768"/>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12" name="Line 84"/>
            <p:cNvSpPr>
              <a:spLocks noChangeShapeType="1"/>
            </p:cNvSpPr>
            <p:nvPr/>
          </p:nvSpPr>
          <p:spPr bwMode="auto">
            <a:xfrm flipH="1" flipV="1">
              <a:off x="2016" y="1968"/>
              <a:ext cx="672" cy="768"/>
            </a:xfrm>
            <a:prstGeom prst="line">
              <a:avLst/>
            </a:prstGeom>
            <a:noFill/>
            <a:ln w="12700">
              <a:solidFill>
                <a:schemeClr val="tx1"/>
              </a:solidFill>
              <a:round/>
              <a:headEnd type="triangle" w="med" len="med"/>
              <a:tailEnd type="triangle" w="med" len="med"/>
            </a:ln>
            <a:effectLst/>
          </p:spPr>
          <p:txBody>
            <a:bodyPr/>
            <a:lstStyle/>
            <a:p>
              <a:endParaRPr lang="en-US"/>
            </a:p>
          </p:txBody>
        </p:sp>
      </p:grpSp>
      <p:grpSp>
        <p:nvGrpSpPr>
          <p:cNvPr id="8" name="Group 93"/>
          <p:cNvGrpSpPr>
            <a:grpSpLocks/>
          </p:cNvGrpSpPr>
          <p:nvPr/>
        </p:nvGrpSpPr>
        <p:grpSpPr bwMode="auto">
          <a:xfrm>
            <a:off x="3200400" y="2209800"/>
            <a:ext cx="1066800" cy="3352800"/>
            <a:chOff x="2016" y="2112"/>
            <a:chExt cx="672" cy="2112"/>
          </a:xfrm>
        </p:grpSpPr>
        <p:sp>
          <p:nvSpPr>
            <p:cNvPr id="1661015" name="Line 87"/>
            <p:cNvSpPr>
              <a:spLocks noChangeShapeType="1"/>
            </p:cNvSpPr>
            <p:nvPr/>
          </p:nvSpPr>
          <p:spPr bwMode="auto">
            <a:xfrm>
              <a:off x="2016" y="2112"/>
              <a:ext cx="672" cy="1536"/>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16" name="Line 88"/>
            <p:cNvSpPr>
              <a:spLocks noChangeShapeType="1"/>
            </p:cNvSpPr>
            <p:nvPr/>
          </p:nvSpPr>
          <p:spPr bwMode="auto">
            <a:xfrm>
              <a:off x="2016" y="2304"/>
              <a:ext cx="672" cy="1536"/>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17" name="Line 89"/>
            <p:cNvSpPr>
              <a:spLocks noChangeShapeType="1"/>
            </p:cNvSpPr>
            <p:nvPr/>
          </p:nvSpPr>
          <p:spPr bwMode="auto">
            <a:xfrm>
              <a:off x="2016" y="2496"/>
              <a:ext cx="672" cy="1536"/>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1661018" name="Line 90"/>
            <p:cNvSpPr>
              <a:spLocks noChangeShapeType="1"/>
            </p:cNvSpPr>
            <p:nvPr/>
          </p:nvSpPr>
          <p:spPr bwMode="auto">
            <a:xfrm>
              <a:off x="2016" y="2688"/>
              <a:ext cx="672" cy="1536"/>
            </a:xfrm>
            <a:prstGeom prst="line">
              <a:avLst/>
            </a:prstGeom>
            <a:noFill/>
            <a:ln w="12700">
              <a:solidFill>
                <a:schemeClr val="tx1"/>
              </a:solidFill>
              <a:round/>
              <a:headEnd type="triangle" w="med" len="med"/>
              <a:tailEnd type="triangle" w="med" len="med"/>
            </a:ln>
            <a:effectLst/>
          </p:spPr>
          <p:txBody>
            <a:bodyPr/>
            <a:lstStyle/>
            <a:p>
              <a:endParaRPr lang="en-US"/>
            </a:p>
          </p:txBody>
        </p:sp>
      </p:grpSp>
      <p:sp>
        <p:nvSpPr>
          <p:cNvPr id="1661019" name="Text Box 91"/>
          <p:cNvSpPr txBox="1">
            <a:spLocks noChangeArrowheads="1"/>
          </p:cNvSpPr>
          <p:nvPr/>
        </p:nvSpPr>
        <p:spPr bwMode="auto">
          <a:xfrm>
            <a:off x="5181600" y="838200"/>
            <a:ext cx="990600" cy="4918075"/>
          </a:xfrm>
          <a:prstGeom prst="rect">
            <a:avLst/>
          </a:prstGeom>
          <a:noFill/>
          <a:ln w="12700">
            <a:noFill/>
            <a:miter lim="800000"/>
            <a:headEnd/>
            <a:tailEnd/>
          </a:ln>
          <a:effectLst/>
        </p:spPr>
        <p:txBody>
          <a:bodyPr>
            <a:spAutoFit/>
          </a:bodyPr>
          <a:lstStyle/>
          <a:p>
            <a:pPr>
              <a:lnSpc>
                <a:spcPct val="110000"/>
              </a:lnSpc>
            </a:pPr>
            <a:r>
              <a:rPr lang="en-US">
                <a:solidFill>
                  <a:schemeClr val="accent2"/>
                </a:solidFill>
              </a:rPr>
              <a:t>00</a:t>
            </a:r>
            <a:r>
              <a:rPr lang="en-US"/>
              <a:t>00</a:t>
            </a:r>
            <a:r>
              <a:rPr lang="en-US">
                <a:solidFill>
                  <a:schemeClr val="tx1"/>
                </a:solidFill>
              </a:rPr>
              <a:t>xx</a:t>
            </a:r>
          </a:p>
          <a:p>
            <a:pPr>
              <a:lnSpc>
                <a:spcPct val="110000"/>
              </a:lnSpc>
            </a:pPr>
            <a:r>
              <a:rPr lang="en-US">
                <a:solidFill>
                  <a:schemeClr val="accent2"/>
                </a:solidFill>
              </a:rPr>
              <a:t>00</a:t>
            </a:r>
            <a:r>
              <a:rPr lang="en-US"/>
              <a:t>01</a:t>
            </a:r>
            <a:r>
              <a:rPr lang="en-US">
                <a:solidFill>
                  <a:schemeClr val="tx1"/>
                </a:solidFill>
              </a:rPr>
              <a:t>xx</a:t>
            </a:r>
          </a:p>
          <a:p>
            <a:pPr>
              <a:lnSpc>
                <a:spcPct val="110000"/>
              </a:lnSpc>
            </a:pPr>
            <a:r>
              <a:rPr lang="en-US">
                <a:solidFill>
                  <a:schemeClr val="accent2"/>
                </a:solidFill>
              </a:rPr>
              <a:t>00</a:t>
            </a:r>
            <a:r>
              <a:rPr lang="en-US"/>
              <a:t>10</a:t>
            </a:r>
            <a:r>
              <a:rPr lang="en-US">
                <a:solidFill>
                  <a:schemeClr val="tx1"/>
                </a:solidFill>
              </a:rPr>
              <a:t>xx</a:t>
            </a:r>
          </a:p>
          <a:p>
            <a:pPr>
              <a:lnSpc>
                <a:spcPct val="110000"/>
              </a:lnSpc>
            </a:pPr>
            <a:r>
              <a:rPr lang="en-US">
                <a:solidFill>
                  <a:schemeClr val="accent2"/>
                </a:solidFill>
              </a:rPr>
              <a:t>00</a:t>
            </a:r>
            <a:r>
              <a:rPr lang="en-US"/>
              <a:t>11</a:t>
            </a:r>
            <a:r>
              <a:rPr lang="en-US">
                <a:solidFill>
                  <a:schemeClr val="tx1"/>
                </a:solidFill>
              </a:rPr>
              <a:t>xx</a:t>
            </a:r>
          </a:p>
          <a:p>
            <a:pPr>
              <a:lnSpc>
                <a:spcPct val="110000"/>
              </a:lnSpc>
            </a:pPr>
            <a:r>
              <a:rPr lang="en-US">
                <a:solidFill>
                  <a:schemeClr val="accent2"/>
                </a:solidFill>
              </a:rPr>
              <a:t>01</a:t>
            </a:r>
            <a:r>
              <a:rPr lang="en-US"/>
              <a:t>00</a:t>
            </a:r>
            <a:r>
              <a:rPr lang="en-US">
                <a:solidFill>
                  <a:schemeClr val="tx1"/>
                </a:solidFill>
              </a:rPr>
              <a:t>xx</a:t>
            </a:r>
          </a:p>
          <a:p>
            <a:pPr>
              <a:lnSpc>
                <a:spcPct val="110000"/>
              </a:lnSpc>
            </a:pPr>
            <a:r>
              <a:rPr lang="en-US">
                <a:solidFill>
                  <a:schemeClr val="accent2"/>
                </a:solidFill>
              </a:rPr>
              <a:t>01</a:t>
            </a:r>
            <a:r>
              <a:rPr lang="en-US"/>
              <a:t>01</a:t>
            </a:r>
            <a:r>
              <a:rPr lang="en-US">
                <a:solidFill>
                  <a:schemeClr val="tx1"/>
                </a:solidFill>
              </a:rPr>
              <a:t>xx</a:t>
            </a:r>
          </a:p>
          <a:p>
            <a:pPr>
              <a:lnSpc>
                <a:spcPct val="110000"/>
              </a:lnSpc>
            </a:pPr>
            <a:r>
              <a:rPr lang="en-US">
                <a:solidFill>
                  <a:schemeClr val="accent2"/>
                </a:solidFill>
              </a:rPr>
              <a:t>01</a:t>
            </a:r>
            <a:r>
              <a:rPr lang="en-US"/>
              <a:t>10</a:t>
            </a:r>
            <a:r>
              <a:rPr lang="en-US">
                <a:solidFill>
                  <a:schemeClr val="tx1"/>
                </a:solidFill>
              </a:rPr>
              <a:t>xx</a:t>
            </a:r>
          </a:p>
          <a:p>
            <a:pPr>
              <a:lnSpc>
                <a:spcPct val="110000"/>
              </a:lnSpc>
            </a:pPr>
            <a:r>
              <a:rPr lang="en-US">
                <a:solidFill>
                  <a:schemeClr val="accent2"/>
                </a:solidFill>
              </a:rPr>
              <a:t>01</a:t>
            </a:r>
            <a:r>
              <a:rPr lang="en-US"/>
              <a:t>11</a:t>
            </a:r>
            <a:r>
              <a:rPr lang="en-US">
                <a:solidFill>
                  <a:schemeClr val="tx1"/>
                </a:solidFill>
              </a:rPr>
              <a:t>xx</a:t>
            </a:r>
          </a:p>
          <a:p>
            <a:pPr>
              <a:lnSpc>
                <a:spcPct val="110000"/>
              </a:lnSpc>
            </a:pPr>
            <a:r>
              <a:rPr lang="en-US">
                <a:solidFill>
                  <a:schemeClr val="accent2"/>
                </a:solidFill>
              </a:rPr>
              <a:t>10</a:t>
            </a:r>
            <a:r>
              <a:rPr lang="en-US"/>
              <a:t>00</a:t>
            </a:r>
            <a:r>
              <a:rPr lang="en-US">
                <a:solidFill>
                  <a:schemeClr val="tx1"/>
                </a:solidFill>
              </a:rPr>
              <a:t>xx</a:t>
            </a:r>
          </a:p>
          <a:p>
            <a:pPr>
              <a:lnSpc>
                <a:spcPct val="110000"/>
              </a:lnSpc>
            </a:pPr>
            <a:r>
              <a:rPr lang="en-US">
                <a:solidFill>
                  <a:schemeClr val="accent2"/>
                </a:solidFill>
              </a:rPr>
              <a:t>10</a:t>
            </a:r>
            <a:r>
              <a:rPr lang="en-US"/>
              <a:t>01</a:t>
            </a:r>
            <a:r>
              <a:rPr lang="en-US">
                <a:solidFill>
                  <a:schemeClr val="tx1"/>
                </a:solidFill>
              </a:rPr>
              <a:t>xx</a:t>
            </a:r>
          </a:p>
          <a:p>
            <a:pPr>
              <a:lnSpc>
                <a:spcPct val="110000"/>
              </a:lnSpc>
            </a:pPr>
            <a:r>
              <a:rPr lang="en-US">
                <a:solidFill>
                  <a:schemeClr val="accent2"/>
                </a:solidFill>
              </a:rPr>
              <a:t>10</a:t>
            </a:r>
            <a:r>
              <a:rPr lang="en-US"/>
              <a:t>10</a:t>
            </a:r>
            <a:r>
              <a:rPr lang="en-US">
                <a:solidFill>
                  <a:schemeClr val="tx1"/>
                </a:solidFill>
              </a:rPr>
              <a:t>xx</a:t>
            </a:r>
          </a:p>
          <a:p>
            <a:pPr>
              <a:lnSpc>
                <a:spcPct val="110000"/>
              </a:lnSpc>
            </a:pPr>
            <a:r>
              <a:rPr lang="en-US">
                <a:solidFill>
                  <a:schemeClr val="accent2"/>
                </a:solidFill>
              </a:rPr>
              <a:t>10</a:t>
            </a:r>
            <a:r>
              <a:rPr lang="en-US"/>
              <a:t>11</a:t>
            </a:r>
            <a:r>
              <a:rPr lang="en-US">
                <a:solidFill>
                  <a:schemeClr val="tx1"/>
                </a:solidFill>
              </a:rPr>
              <a:t>xx</a:t>
            </a:r>
          </a:p>
          <a:p>
            <a:pPr>
              <a:lnSpc>
                <a:spcPct val="110000"/>
              </a:lnSpc>
            </a:pPr>
            <a:r>
              <a:rPr lang="en-US">
                <a:solidFill>
                  <a:schemeClr val="accent2"/>
                </a:solidFill>
              </a:rPr>
              <a:t>11</a:t>
            </a:r>
            <a:r>
              <a:rPr lang="en-US"/>
              <a:t>00</a:t>
            </a:r>
            <a:r>
              <a:rPr lang="en-US">
                <a:solidFill>
                  <a:schemeClr val="tx1"/>
                </a:solidFill>
              </a:rPr>
              <a:t>xx</a:t>
            </a:r>
          </a:p>
          <a:p>
            <a:pPr>
              <a:lnSpc>
                <a:spcPct val="110000"/>
              </a:lnSpc>
            </a:pPr>
            <a:r>
              <a:rPr lang="en-US">
                <a:solidFill>
                  <a:schemeClr val="accent2"/>
                </a:solidFill>
              </a:rPr>
              <a:t>11</a:t>
            </a:r>
            <a:r>
              <a:rPr lang="en-US"/>
              <a:t>01</a:t>
            </a:r>
            <a:r>
              <a:rPr lang="en-US">
                <a:solidFill>
                  <a:schemeClr val="tx1"/>
                </a:solidFill>
              </a:rPr>
              <a:t>xx</a:t>
            </a:r>
          </a:p>
          <a:p>
            <a:pPr>
              <a:lnSpc>
                <a:spcPct val="110000"/>
              </a:lnSpc>
            </a:pPr>
            <a:r>
              <a:rPr lang="en-US">
                <a:solidFill>
                  <a:schemeClr val="accent2"/>
                </a:solidFill>
              </a:rPr>
              <a:t>11</a:t>
            </a:r>
            <a:r>
              <a:rPr lang="en-US"/>
              <a:t>10</a:t>
            </a:r>
            <a:r>
              <a:rPr lang="en-US">
                <a:solidFill>
                  <a:schemeClr val="tx1"/>
                </a:solidFill>
              </a:rPr>
              <a:t>xx</a:t>
            </a:r>
          </a:p>
          <a:p>
            <a:pPr>
              <a:lnSpc>
                <a:spcPct val="110000"/>
              </a:lnSpc>
            </a:pPr>
            <a:r>
              <a:rPr lang="en-US">
                <a:solidFill>
                  <a:schemeClr val="accent2"/>
                </a:solidFill>
              </a:rPr>
              <a:t>11</a:t>
            </a:r>
            <a:r>
              <a:rPr lang="en-US"/>
              <a:t>11</a:t>
            </a:r>
            <a:r>
              <a:rPr lang="en-US">
                <a:solidFill>
                  <a:schemeClr val="tx1"/>
                </a:solidFill>
              </a:rPr>
              <a:t>xx</a:t>
            </a:r>
          </a:p>
        </p:txBody>
      </p:sp>
      <p:sp>
        <p:nvSpPr>
          <p:cNvPr id="1661020" name="Text Box 92"/>
          <p:cNvSpPr txBox="1">
            <a:spLocks noChangeArrowheads="1"/>
          </p:cNvSpPr>
          <p:nvPr/>
        </p:nvSpPr>
        <p:spPr bwMode="auto">
          <a:xfrm>
            <a:off x="6248400" y="1066800"/>
            <a:ext cx="2514600" cy="1200329"/>
          </a:xfrm>
          <a:prstGeom prst="rect">
            <a:avLst/>
          </a:prstGeom>
          <a:noFill/>
          <a:ln w="12700">
            <a:noFill/>
            <a:miter lim="800000"/>
            <a:headEnd/>
            <a:tailEnd/>
          </a:ln>
          <a:effectLst/>
        </p:spPr>
        <p:txBody>
          <a:bodyPr>
            <a:spAutoFit/>
          </a:bodyPr>
          <a:lstStyle/>
          <a:p>
            <a:r>
              <a:rPr lang="en-US" dirty="0" smtClean="0">
                <a:solidFill>
                  <a:schemeClr val="tx1"/>
                </a:solidFill>
              </a:rPr>
              <a:t>One word blocks</a:t>
            </a:r>
          </a:p>
          <a:p>
            <a:r>
              <a:rPr lang="en-US" dirty="0" smtClean="0">
                <a:solidFill>
                  <a:schemeClr val="tx1"/>
                </a:solidFill>
              </a:rPr>
              <a:t>Two </a:t>
            </a:r>
            <a:r>
              <a:rPr lang="en-US" dirty="0">
                <a:solidFill>
                  <a:schemeClr val="tx1"/>
                </a:solidFill>
              </a:rPr>
              <a:t>low order bits define the byte in the word (32b words)</a:t>
            </a:r>
          </a:p>
        </p:txBody>
      </p:sp>
      <p:sp>
        <p:nvSpPr>
          <p:cNvPr id="1661022" name="Text Box 94"/>
          <p:cNvSpPr txBox="1">
            <a:spLocks noChangeArrowheads="1"/>
          </p:cNvSpPr>
          <p:nvPr/>
        </p:nvSpPr>
        <p:spPr bwMode="auto">
          <a:xfrm>
            <a:off x="3276600" y="6172200"/>
            <a:ext cx="5486400" cy="366713"/>
          </a:xfrm>
          <a:prstGeom prst="rect">
            <a:avLst/>
          </a:prstGeom>
          <a:noFill/>
          <a:ln w="12700">
            <a:noFill/>
            <a:miter lim="800000"/>
            <a:headEnd/>
            <a:tailEnd/>
          </a:ln>
          <a:effectLst/>
        </p:spPr>
        <p:txBody>
          <a:bodyPr>
            <a:spAutoFit/>
          </a:bodyPr>
          <a:lstStyle/>
          <a:p>
            <a:r>
              <a:rPr lang="en-US" dirty="0">
                <a:solidFill>
                  <a:srgbClr val="FF0000"/>
                </a:solidFill>
              </a:rPr>
              <a:t>(block address) modulo (# of blocks in the cache)</a:t>
            </a:r>
          </a:p>
        </p:txBody>
      </p:sp>
      <p:sp>
        <p:nvSpPr>
          <p:cNvPr id="1661023" name="Text Box 95"/>
          <p:cNvSpPr txBox="1">
            <a:spLocks noChangeArrowheads="1"/>
          </p:cNvSpPr>
          <p:nvPr/>
        </p:nvSpPr>
        <p:spPr bwMode="auto">
          <a:xfrm>
            <a:off x="381000" y="1600200"/>
            <a:ext cx="742950" cy="366713"/>
          </a:xfrm>
          <a:prstGeom prst="rect">
            <a:avLst/>
          </a:prstGeom>
          <a:noFill/>
          <a:ln w="12700">
            <a:noFill/>
            <a:miter lim="800000"/>
            <a:headEnd/>
            <a:tailEnd/>
          </a:ln>
          <a:effectLst/>
        </p:spPr>
        <p:txBody>
          <a:bodyPr wrap="none">
            <a:spAutoFit/>
          </a:bodyPr>
          <a:lstStyle/>
          <a:p>
            <a:r>
              <a:rPr lang="en-US">
                <a:solidFill>
                  <a:schemeClr val="tx1"/>
                </a:solidFill>
              </a:rPr>
              <a:t>Index</a:t>
            </a:r>
          </a:p>
        </p:txBody>
      </p:sp>
      <p:sp>
        <p:nvSpPr>
          <p:cNvPr id="93" name="Rectangle 95"/>
          <p:cNvSpPr>
            <a:spLocks noChangeArrowheads="1"/>
          </p:cNvSpPr>
          <p:nvPr/>
        </p:nvSpPr>
        <p:spPr bwMode="auto">
          <a:xfrm>
            <a:off x="1752600" y="2743200"/>
            <a:ext cx="304800" cy="228600"/>
          </a:xfrm>
          <a:prstGeom prst="rect">
            <a:avLst/>
          </a:prstGeom>
          <a:noFill/>
          <a:ln w="28575">
            <a:solidFill>
              <a:schemeClr val="accent2"/>
            </a:solidFill>
            <a:miter lim="800000"/>
            <a:headEnd/>
            <a:tailEnd/>
          </a:ln>
          <a:effectLst/>
        </p:spPr>
        <p:txBody>
          <a:bodyPr wrap="none" anchor="ctr"/>
          <a:lstStyle/>
          <a:p>
            <a:endParaRPr lang="en-US"/>
          </a:p>
        </p:txBody>
      </p:sp>
      <p:sp>
        <p:nvSpPr>
          <p:cNvPr id="94" name="Rectangle 94"/>
          <p:cNvSpPr>
            <a:spLocks noChangeArrowheads="1"/>
          </p:cNvSpPr>
          <p:nvPr/>
        </p:nvSpPr>
        <p:spPr bwMode="auto">
          <a:xfrm>
            <a:off x="5257800" y="5105400"/>
            <a:ext cx="304800" cy="228600"/>
          </a:xfrm>
          <a:prstGeom prst="rect">
            <a:avLst/>
          </a:prstGeom>
          <a:noFill/>
          <a:ln w="28575">
            <a:solidFill>
              <a:schemeClr val="accent2"/>
            </a:solidFill>
            <a:miter lim="800000"/>
            <a:headEnd/>
            <a:tailEnd/>
          </a:ln>
          <a:effectLst/>
        </p:spPr>
        <p:txBody>
          <a:bodyPr wrap="none" anchor="ctr"/>
          <a:lstStyle/>
          <a:p>
            <a:endParaRPr lang="en-US"/>
          </a:p>
        </p:txBody>
      </p:sp>
      <p:sp>
        <p:nvSpPr>
          <p:cNvPr id="95" name="Rectangle 94"/>
          <p:cNvSpPr>
            <a:spLocks noChangeArrowheads="1"/>
          </p:cNvSpPr>
          <p:nvPr/>
        </p:nvSpPr>
        <p:spPr bwMode="auto">
          <a:xfrm>
            <a:off x="5257800" y="3886200"/>
            <a:ext cx="304800" cy="228600"/>
          </a:xfrm>
          <a:prstGeom prst="rect">
            <a:avLst/>
          </a:prstGeom>
          <a:noFill/>
          <a:ln w="28575">
            <a:solidFill>
              <a:schemeClr val="accent2"/>
            </a:solidFill>
            <a:miter lim="800000"/>
            <a:headEnd/>
            <a:tailEnd/>
          </a:ln>
          <a:effectLst/>
        </p:spPr>
        <p:txBody>
          <a:bodyPr wrap="none" anchor="ctr"/>
          <a:lstStyle/>
          <a:p>
            <a:endParaRPr lang="en-US"/>
          </a:p>
        </p:txBody>
      </p:sp>
      <p:sp>
        <p:nvSpPr>
          <p:cNvPr id="96" name="Rectangle 95"/>
          <p:cNvSpPr>
            <a:spLocks noChangeArrowheads="1"/>
          </p:cNvSpPr>
          <p:nvPr/>
        </p:nvSpPr>
        <p:spPr bwMode="auto">
          <a:xfrm>
            <a:off x="5257800" y="2743200"/>
            <a:ext cx="304800" cy="228600"/>
          </a:xfrm>
          <a:prstGeom prst="rect">
            <a:avLst/>
          </a:prstGeom>
          <a:noFill/>
          <a:ln w="28575">
            <a:solidFill>
              <a:schemeClr val="accent2"/>
            </a:solidFill>
            <a:miter lim="800000"/>
            <a:headEnd/>
            <a:tailEnd/>
          </a:ln>
          <a:effectLst/>
        </p:spPr>
        <p:txBody>
          <a:bodyPr wrap="none" anchor="ctr"/>
          <a:lstStyle/>
          <a:p>
            <a:endParaRPr lang="en-US"/>
          </a:p>
        </p:txBody>
      </p:sp>
      <p:sp>
        <p:nvSpPr>
          <p:cNvPr id="97" name="Rectangle 96"/>
          <p:cNvSpPr>
            <a:spLocks noChangeArrowheads="1"/>
          </p:cNvSpPr>
          <p:nvPr/>
        </p:nvSpPr>
        <p:spPr bwMode="auto">
          <a:xfrm>
            <a:off x="5257800" y="1524000"/>
            <a:ext cx="304800" cy="228600"/>
          </a:xfrm>
          <a:prstGeom prst="rect">
            <a:avLst/>
          </a:prstGeom>
          <a:noFill/>
          <a:ln w="28575">
            <a:solidFill>
              <a:schemeClr val="accent2"/>
            </a:solidFill>
            <a:miter lim="800000"/>
            <a:headEnd/>
            <a:tailEnd/>
          </a:ln>
          <a:effectLst/>
        </p:spPr>
        <p:txBody>
          <a:bodyPr wrap="none" anchor="ctr"/>
          <a:lstStyle/>
          <a:p>
            <a:endParaRPr lang="en-US"/>
          </a:p>
        </p:txBody>
      </p:sp>
    </p:spTree>
    <p:extLst>
      <p:ext uri="{BB962C8B-B14F-4D97-AF65-F5344CB8AC3E}">
        <p14:creationId xmlns:p14="http://schemas.microsoft.com/office/powerpoint/2010/main" val="19424880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609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1000"/>
                                  </p:stCondLst>
                                  <p:childTnLst>
                                    <p:set>
                                      <p:cBhvr>
                                        <p:cTn id="13" dur="1" fill="hold">
                                          <p:stCondLst>
                                            <p:cond delay="0"/>
                                          </p:stCondLst>
                                        </p:cTn>
                                        <p:tgtEl>
                                          <p:spTgt spid="6"/>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1000"/>
                                  </p:stCondLst>
                                  <p:childTnLst>
                                    <p:set>
                                      <p:cBhvr>
                                        <p:cTn id="16" dur="1" fill="hold">
                                          <p:stCondLst>
                                            <p:cond delay="0"/>
                                          </p:stCondLst>
                                        </p:cTn>
                                        <p:tgtEl>
                                          <p:spTgt spid="7"/>
                                        </p:tgtEl>
                                        <p:attrNameLst>
                                          <p:attrName>style.visibility</p:attrName>
                                        </p:attrNameLst>
                                      </p:cBhvr>
                                      <p:to>
                                        <p:strVal val="visible"/>
                                      </p:to>
                                    </p:set>
                                  </p:childTnLst>
                                </p:cTn>
                              </p:par>
                            </p:childTnLst>
                          </p:cTn>
                        </p:par>
                        <p:par>
                          <p:cTn id="17" fill="hold">
                            <p:stCondLst>
                              <p:cond delay="2000"/>
                            </p:stCondLst>
                            <p:childTnLst>
                              <p:par>
                                <p:cTn id="18" presetID="1" presetClass="entr" presetSubtype="0" fill="hold" nodeType="afterEffect">
                                  <p:stCondLst>
                                    <p:cond delay="100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660991"/>
                                        </p:tgtEl>
                                        <p:attrNameLst>
                                          <p:attrName>style.visibility</p:attrName>
                                        </p:attrNameLst>
                                      </p:cBhvr>
                                      <p:to>
                                        <p:strVal val="visible"/>
                                      </p:to>
                                    </p:set>
                                  </p:childTnLst>
                                </p:cTn>
                              </p:par>
                              <p:par>
                                <p:cTn id="24" presetID="1" presetClass="entr" presetSubtype="0" fill="hold" grpId="0" nodeType="withEffect">
                                  <p:stCondLst>
                                    <p:cond delay="2000"/>
                                  </p:stCondLst>
                                  <p:childTnLst>
                                    <p:set>
                                      <p:cBhvr>
                                        <p:cTn id="25" dur="1" fill="hold">
                                          <p:stCondLst>
                                            <p:cond delay="0"/>
                                          </p:stCondLst>
                                        </p:cTn>
                                        <p:tgtEl>
                                          <p:spTgt spid="93"/>
                                        </p:tgtEl>
                                        <p:attrNameLst>
                                          <p:attrName>style.visibility</p:attrName>
                                        </p:attrNameLst>
                                      </p:cBhvr>
                                      <p:to>
                                        <p:strVal val="visible"/>
                                      </p:to>
                                    </p:set>
                                  </p:childTnLst>
                                </p:cTn>
                              </p:par>
                              <p:par>
                                <p:cTn id="26" presetID="1" presetClass="entr" presetSubtype="0" fill="hold" grpId="0" nodeType="withEffect">
                                  <p:stCondLst>
                                    <p:cond delay="2000"/>
                                  </p:stCondLst>
                                  <p:childTnLst>
                                    <p:set>
                                      <p:cBhvr>
                                        <p:cTn id="27" dur="1" fill="hold">
                                          <p:stCondLst>
                                            <p:cond delay="0"/>
                                          </p:stCondLst>
                                        </p:cTn>
                                        <p:tgtEl>
                                          <p:spTgt spid="94"/>
                                        </p:tgtEl>
                                        <p:attrNameLst>
                                          <p:attrName>style.visibility</p:attrName>
                                        </p:attrNameLst>
                                      </p:cBhvr>
                                      <p:to>
                                        <p:strVal val="visible"/>
                                      </p:to>
                                    </p:set>
                                  </p:childTnLst>
                                </p:cTn>
                              </p:par>
                              <p:par>
                                <p:cTn id="28" presetID="1" presetClass="entr" presetSubtype="0" fill="hold" grpId="0" nodeType="withEffect">
                                  <p:stCondLst>
                                    <p:cond delay="2000"/>
                                  </p:stCondLst>
                                  <p:childTnLst>
                                    <p:set>
                                      <p:cBhvr>
                                        <p:cTn id="29" dur="1" fill="hold">
                                          <p:stCondLst>
                                            <p:cond delay="0"/>
                                          </p:stCondLst>
                                        </p:cTn>
                                        <p:tgtEl>
                                          <p:spTgt spid="95"/>
                                        </p:tgtEl>
                                        <p:attrNameLst>
                                          <p:attrName>style.visibility</p:attrName>
                                        </p:attrNameLst>
                                      </p:cBhvr>
                                      <p:to>
                                        <p:strVal val="visible"/>
                                      </p:to>
                                    </p:set>
                                  </p:childTnLst>
                                </p:cTn>
                              </p:par>
                              <p:par>
                                <p:cTn id="30" presetID="1" presetClass="entr" presetSubtype="0" fill="hold" grpId="0" nodeType="withEffect">
                                  <p:stCondLst>
                                    <p:cond delay="2000"/>
                                  </p:stCondLst>
                                  <p:childTnLst>
                                    <p:set>
                                      <p:cBhvr>
                                        <p:cTn id="31" dur="1" fill="hold">
                                          <p:stCondLst>
                                            <p:cond delay="0"/>
                                          </p:stCondLst>
                                        </p:cTn>
                                        <p:tgtEl>
                                          <p:spTgt spid="96"/>
                                        </p:tgtEl>
                                        <p:attrNameLst>
                                          <p:attrName>style.visibility</p:attrName>
                                        </p:attrNameLst>
                                      </p:cBhvr>
                                      <p:to>
                                        <p:strVal val="visible"/>
                                      </p:to>
                                    </p:set>
                                  </p:childTnLst>
                                </p:cTn>
                              </p:par>
                              <p:par>
                                <p:cTn id="32" presetID="1" presetClass="entr" presetSubtype="0" fill="hold" grpId="0" nodeType="withEffect">
                                  <p:stCondLst>
                                    <p:cond delay="2000"/>
                                  </p:stCondLst>
                                  <p:childTnLst>
                                    <p:set>
                                      <p:cBhvr>
                                        <p:cTn id="33"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0954" grpId="0" autoUpdateAnimBg="0"/>
      <p:bldP spid="1660991" grpId="0" autoUpdateAnimBg="0"/>
      <p:bldP spid="93" grpId="0" animBg="1"/>
      <p:bldP spid="94" grpId="0" animBg="1"/>
      <p:bldP spid="95" grpId="0" animBg="1"/>
      <p:bldP spid="96" grpId="0" animBg="1"/>
      <p:bldP spid="97"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94370" name="Rectangle 2"/>
          <p:cNvSpPr>
            <a:spLocks noGrp="1" noChangeArrowheads="1"/>
          </p:cNvSpPr>
          <p:nvPr>
            <p:ph type="title"/>
          </p:nvPr>
        </p:nvSpPr>
        <p:spPr/>
        <p:txBody>
          <a:bodyPr/>
          <a:lstStyle/>
          <a:p>
            <a:r>
              <a:rPr lang="en-US"/>
              <a:t>Direct Mapped Cache</a:t>
            </a:r>
          </a:p>
        </p:txBody>
      </p:sp>
      <p:grpSp>
        <p:nvGrpSpPr>
          <p:cNvPr id="2" name="Group 3"/>
          <p:cNvGrpSpPr>
            <a:grpSpLocks/>
          </p:cNvGrpSpPr>
          <p:nvPr/>
        </p:nvGrpSpPr>
        <p:grpSpPr bwMode="auto">
          <a:xfrm>
            <a:off x="1295400" y="2249488"/>
            <a:ext cx="990600" cy="1219200"/>
            <a:chOff x="1344" y="1056"/>
            <a:chExt cx="624" cy="768"/>
          </a:xfrm>
        </p:grpSpPr>
        <p:sp>
          <p:nvSpPr>
            <p:cNvPr id="1594372"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373"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374"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375"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3" name="Group 8"/>
          <p:cNvGrpSpPr>
            <a:grpSpLocks/>
          </p:cNvGrpSpPr>
          <p:nvPr/>
        </p:nvGrpSpPr>
        <p:grpSpPr bwMode="auto">
          <a:xfrm>
            <a:off x="3276600" y="2249488"/>
            <a:ext cx="990600" cy="1219200"/>
            <a:chOff x="1344" y="1056"/>
            <a:chExt cx="624" cy="768"/>
          </a:xfrm>
        </p:grpSpPr>
        <p:sp>
          <p:nvSpPr>
            <p:cNvPr id="1594377" name="Rectangle 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378" name="Line 1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379" name="Line 1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380" name="Line 1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4" name="Group 13"/>
          <p:cNvGrpSpPr>
            <a:grpSpLocks/>
          </p:cNvGrpSpPr>
          <p:nvPr/>
        </p:nvGrpSpPr>
        <p:grpSpPr bwMode="auto">
          <a:xfrm>
            <a:off x="5334000" y="2249488"/>
            <a:ext cx="990600" cy="1219200"/>
            <a:chOff x="1344" y="1056"/>
            <a:chExt cx="624" cy="768"/>
          </a:xfrm>
        </p:grpSpPr>
        <p:sp>
          <p:nvSpPr>
            <p:cNvPr id="1594382" name="Rectangle 1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383" name="Line 1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384" name="Line 1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385" name="Line 1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5" name="Group 18"/>
          <p:cNvGrpSpPr>
            <a:grpSpLocks/>
          </p:cNvGrpSpPr>
          <p:nvPr/>
        </p:nvGrpSpPr>
        <p:grpSpPr bwMode="auto">
          <a:xfrm>
            <a:off x="7391400" y="2249488"/>
            <a:ext cx="990600" cy="1219200"/>
            <a:chOff x="1344" y="1056"/>
            <a:chExt cx="624" cy="768"/>
          </a:xfrm>
        </p:grpSpPr>
        <p:sp>
          <p:nvSpPr>
            <p:cNvPr id="1594387" name="Rectangle 1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388" name="Line 2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389" name="Line 2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390" name="Line 2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6" name="Group 23"/>
          <p:cNvGrpSpPr>
            <a:grpSpLocks/>
          </p:cNvGrpSpPr>
          <p:nvPr/>
        </p:nvGrpSpPr>
        <p:grpSpPr bwMode="auto">
          <a:xfrm>
            <a:off x="7391400" y="4078288"/>
            <a:ext cx="990600" cy="1219200"/>
            <a:chOff x="1344" y="1056"/>
            <a:chExt cx="624" cy="768"/>
          </a:xfrm>
        </p:grpSpPr>
        <p:sp>
          <p:nvSpPr>
            <p:cNvPr id="1594392" name="Rectangle 2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393" name="Line 2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394" name="Line 2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395" name="Line 2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7" name="Group 28"/>
          <p:cNvGrpSpPr>
            <a:grpSpLocks/>
          </p:cNvGrpSpPr>
          <p:nvPr/>
        </p:nvGrpSpPr>
        <p:grpSpPr bwMode="auto">
          <a:xfrm>
            <a:off x="5334000" y="4078288"/>
            <a:ext cx="990600" cy="1219200"/>
            <a:chOff x="1344" y="1056"/>
            <a:chExt cx="624" cy="768"/>
          </a:xfrm>
        </p:grpSpPr>
        <p:sp>
          <p:nvSpPr>
            <p:cNvPr id="1594397" name="Rectangle 2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398" name="Line 3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399" name="Line 3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400" name="Line 3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8" name="Group 33"/>
          <p:cNvGrpSpPr>
            <a:grpSpLocks/>
          </p:cNvGrpSpPr>
          <p:nvPr/>
        </p:nvGrpSpPr>
        <p:grpSpPr bwMode="auto">
          <a:xfrm>
            <a:off x="3352800" y="4078288"/>
            <a:ext cx="990600" cy="1219200"/>
            <a:chOff x="1344" y="1056"/>
            <a:chExt cx="624" cy="768"/>
          </a:xfrm>
        </p:grpSpPr>
        <p:sp>
          <p:nvSpPr>
            <p:cNvPr id="1594402" name="Rectangle 3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403" name="Line 3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404" name="Line 3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405" name="Line 3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9" name="Group 38"/>
          <p:cNvGrpSpPr>
            <a:grpSpLocks/>
          </p:cNvGrpSpPr>
          <p:nvPr/>
        </p:nvGrpSpPr>
        <p:grpSpPr bwMode="auto">
          <a:xfrm>
            <a:off x="1295400" y="4078288"/>
            <a:ext cx="990600" cy="1219200"/>
            <a:chOff x="1344" y="1056"/>
            <a:chExt cx="624" cy="768"/>
          </a:xfrm>
        </p:grpSpPr>
        <p:sp>
          <p:nvSpPr>
            <p:cNvPr id="1594407" name="Rectangle 3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408" name="Line 4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409" name="Line 4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410" name="Line 4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594411" name="Text Box 43"/>
          <p:cNvSpPr txBox="1">
            <a:spLocks noChangeArrowheads="1"/>
          </p:cNvSpPr>
          <p:nvPr/>
        </p:nvSpPr>
        <p:spPr bwMode="auto">
          <a:xfrm>
            <a:off x="1355725" y="1828800"/>
            <a:ext cx="311150" cy="366713"/>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594412" name="Text Box 44"/>
          <p:cNvSpPr txBox="1">
            <a:spLocks noChangeArrowheads="1"/>
          </p:cNvSpPr>
          <p:nvPr/>
        </p:nvSpPr>
        <p:spPr bwMode="auto">
          <a:xfrm>
            <a:off x="3260725" y="1828800"/>
            <a:ext cx="311150" cy="366713"/>
          </a:xfrm>
          <a:prstGeom prst="rect">
            <a:avLst/>
          </a:prstGeom>
          <a:noFill/>
          <a:ln w="12700">
            <a:noFill/>
            <a:miter lim="800000"/>
            <a:headEnd/>
            <a:tailEnd/>
          </a:ln>
          <a:effectLst/>
        </p:spPr>
        <p:txBody>
          <a:bodyPr wrap="none">
            <a:spAutoFit/>
          </a:bodyPr>
          <a:lstStyle/>
          <a:p>
            <a:r>
              <a:rPr lang="en-US" b="1">
                <a:solidFill>
                  <a:schemeClr val="tx1"/>
                </a:solidFill>
              </a:rPr>
              <a:t>1</a:t>
            </a:r>
          </a:p>
        </p:txBody>
      </p:sp>
      <p:sp>
        <p:nvSpPr>
          <p:cNvPr id="1594413" name="Text Box 45"/>
          <p:cNvSpPr txBox="1">
            <a:spLocks noChangeArrowheads="1"/>
          </p:cNvSpPr>
          <p:nvPr/>
        </p:nvSpPr>
        <p:spPr bwMode="auto">
          <a:xfrm>
            <a:off x="5241925" y="1828800"/>
            <a:ext cx="311150" cy="366713"/>
          </a:xfrm>
          <a:prstGeom prst="rect">
            <a:avLst/>
          </a:prstGeom>
          <a:noFill/>
          <a:ln w="12700">
            <a:noFill/>
            <a:miter lim="800000"/>
            <a:headEnd/>
            <a:tailEnd/>
          </a:ln>
          <a:effectLst/>
        </p:spPr>
        <p:txBody>
          <a:bodyPr wrap="none">
            <a:spAutoFit/>
          </a:bodyPr>
          <a:lstStyle/>
          <a:p>
            <a:r>
              <a:rPr lang="en-US" b="1">
                <a:solidFill>
                  <a:schemeClr val="tx1"/>
                </a:solidFill>
              </a:rPr>
              <a:t>2</a:t>
            </a:r>
          </a:p>
        </p:txBody>
      </p:sp>
      <p:sp>
        <p:nvSpPr>
          <p:cNvPr id="1594414" name="Text Box 46"/>
          <p:cNvSpPr txBox="1">
            <a:spLocks noChangeArrowheads="1"/>
          </p:cNvSpPr>
          <p:nvPr/>
        </p:nvSpPr>
        <p:spPr bwMode="auto">
          <a:xfrm>
            <a:off x="7375525" y="1828800"/>
            <a:ext cx="311150" cy="366713"/>
          </a:xfrm>
          <a:prstGeom prst="rect">
            <a:avLst/>
          </a:prstGeom>
          <a:noFill/>
          <a:ln w="12700">
            <a:noFill/>
            <a:miter lim="800000"/>
            <a:headEnd/>
            <a:tailEnd/>
          </a:ln>
          <a:effectLst/>
        </p:spPr>
        <p:txBody>
          <a:bodyPr wrap="none">
            <a:spAutoFit/>
          </a:bodyPr>
          <a:lstStyle/>
          <a:p>
            <a:r>
              <a:rPr lang="en-US" b="1">
                <a:solidFill>
                  <a:schemeClr val="tx1"/>
                </a:solidFill>
              </a:rPr>
              <a:t>3</a:t>
            </a:r>
          </a:p>
        </p:txBody>
      </p:sp>
      <p:sp>
        <p:nvSpPr>
          <p:cNvPr id="1594415" name="Text Box 47"/>
          <p:cNvSpPr txBox="1">
            <a:spLocks noChangeArrowheads="1"/>
          </p:cNvSpPr>
          <p:nvPr/>
        </p:nvSpPr>
        <p:spPr bwMode="auto">
          <a:xfrm>
            <a:off x="1219200" y="3697288"/>
            <a:ext cx="311150" cy="366712"/>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594416" name="Text Box 48"/>
          <p:cNvSpPr txBox="1">
            <a:spLocks noChangeArrowheads="1"/>
          </p:cNvSpPr>
          <p:nvPr/>
        </p:nvSpPr>
        <p:spPr bwMode="auto">
          <a:xfrm>
            <a:off x="3260725" y="3657600"/>
            <a:ext cx="311150" cy="366713"/>
          </a:xfrm>
          <a:prstGeom prst="rect">
            <a:avLst/>
          </a:prstGeom>
          <a:noFill/>
          <a:ln w="12700">
            <a:noFill/>
            <a:miter lim="800000"/>
            <a:headEnd/>
            <a:tailEnd/>
          </a:ln>
          <a:effectLst/>
        </p:spPr>
        <p:txBody>
          <a:bodyPr wrap="none">
            <a:spAutoFit/>
          </a:bodyPr>
          <a:lstStyle/>
          <a:p>
            <a:r>
              <a:rPr lang="en-US" b="1">
                <a:solidFill>
                  <a:schemeClr val="tx1"/>
                </a:solidFill>
              </a:rPr>
              <a:t>3</a:t>
            </a:r>
          </a:p>
        </p:txBody>
      </p:sp>
      <p:sp>
        <p:nvSpPr>
          <p:cNvPr id="1594417" name="Text Box 49"/>
          <p:cNvSpPr txBox="1">
            <a:spLocks noChangeArrowheads="1"/>
          </p:cNvSpPr>
          <p:nvPr/>
        </p:nvSpPr>
        <p:spPr bwMode="auto">
          <a:xfrm>
            <a:off x="5318125" y="3657600"/>
            <a:ext cx="311150" cy="366713"/>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594418" name="Text Box 50"/>
          <p:cNvSpPr txBox="1">
            <a:spLocks noChangeArrowheads="1"/>
          </p:cNvSpPr>
          <p:nvPr/>
        </p:nvSpPr>
        <p:spPr bwMode="auto">
          <a:xfrm>
            <a:off x="7299325" y="3657600"/>
            <a:ext cx="438150" cy="366713"/>
          </a:xfrm>
          <a:prstGeom prst="rect">
            <a:avLst/>
          </a:prstGeom>
          <a:noFill/>
          <a:ln w="12700">
            <a:noFill/>
            <a:miter lim="800000"/>
            <a:headEnd/>
            <a:tailEnd/>
          </a:ln>
          <a:effectLst/>
        </p:spPr>
        <p:txBody>
          <a:bodyPr wrap="none">
            <a:spAutoFit/>
          </a:bodyPr>
          <a:lstStyle/>
          <a:p>
            <a:r>
              <a:rPr lang="en-US" b="1">
                <a:solidFill>
                  <a:schemeClr val="tx1"/>
                </a:solidFill>
              </a:rPr>
              <a:t>15</a:t>
            </a:r>
          </a:p>
        </p:txBody>
      </p:sp>
      <p:grpSp>
        <p:nvGrpSpPr>
          <p:cNvPr id="10" name="Group 51"/>
          <p:cNvGrpSpPr>
            <a:grpSpLocks/>
          </p:cNvGrpSpPr>
          <p:nvPr/>
        </p:nvGrpSpPr>
        <p:grpSpPr bwMode="auto">
          <a:xfrm>
            <a:off x="762000" y="2249488"/>
            <a:ext cx="533400" cy="1219200"/>
            <a:chOff x="1344" y="1056"/>
            <a:chExt cx="624" cy="768"/>
          </a:xfrm>
        </p:grpSpPr>
        <p:sp>
          <p:nvSpPr>
            <p:cNvPr id="1594420" name="Rectangle 5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421" name="Line 5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422" name="Line 5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423" name="Line 5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1" name="Group 56"/>
          <p:cNvGrpSpPr>
            <a:grpSpLocks/>
          </p:cNvGrpSpPr>
          <p:nvPr/>
        </p:nvGrpSpPr>
        <p:grpSpPr bwMode="auto">
          <a:xfrm>
            <a:off x="2743200" y="2249488"/>
            <a:ext cx="533400" cy="1219200"/>
            <a:chOff x="1344" y="1056"/>
            <a:chExt cx="624" cy="768"/>
          </a:xfrm>
        </p:grpSpPr>
        <p:sp>
          <p:nvSpPr>
            <p:cNvPr id="1594425" name="Rectangle 5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426" name="Line 5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427" name="Line 5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428" name="Line 6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2" name="Group 61"/>
          <p:cNvGrpSpPr>
            <a:grpSpLocks/>
          </p:cNvGrpSpPr>
          <p:nvPr/>
        </p:nvGrpSpPr>
        <p:grpSpPr bwMode="auto">
          <a:xfrm>
            <a:off x="4800600" y="2249488"/>
            <a:ext cx="533400" cy="1219200"/>
            <a:chOff x="1344" y="1056"/>
            <a:chExt cx="624" cy="768"/>
          </a:xfrm>
        </p:grpSpPr>
        <p:sp>
          <p:nvSpPr>
            <p:cNvPr id="1594430" name="Rectangle 6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431" name="Line 6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432" name="Line 6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433" name="Line 6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3" name="Group 66"/>
          <p:cNvGrpSpPr>
            <a:grpSpLocks/>
          </p:cNvGrpSpPr>
          <p:nvPr/>
        </p:nvGrpSpPr>
        <p:grpSpPr bwMode="auto">
          <a:xfrm>
            <a:off x="6858000" y="2249488"/>
            <a:ext cx="533400" cy="1219200"/>
            <a:chOff x="1344" y="1056"/>
            <a:chExt cx="624" cy="768"/>
          </a:xfrm>
        </p:grpSpPr>
        <p:sp>
          <p:nvSpPr>
            <p:cNvPr id="1594435" name="Rectangle 6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436" name="Line 6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437" name="Line 6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438" name="Line 7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4" name="Group 71"/>
          <p:cNvGrpSpPr>
            <a:grpSpLocks/>
          </p:cNvGrpSpPr>
          <p:nvPr/>
        </p:nvGrpSpPr>
        <p:grpSpPr bwMode="auto">
          <a:xfrm>
            <a:off x="762000" y="4078288"/>
            <a:ext cx="533400" cy="1219200"/>
            <a:chOff x="1344" y="1056"/>
            <a:chExt cx="624" cy="768"/>
          </a:xfrm>
        </p:grpSpPr>
        <p:sp>
          <p:nvSpPr>
            <p:cNvPr id="1594440" name="Rectangle 7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441" name="Line 7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442" name="Line 7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443" name="Line 7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5" name="Group 76"/>
          <p:cNvGrpSpPr>
            <a:grpSpLocks/>
          </p:cNvGrpSpPr>
          <p:nvPr/>
        </p:nvGrpSpPr>
        <p:grpSpPr bwMode="auto">
          <a:xfrm>
            <a:off x="2819400" y="4078288"/>
            <a:ext cx="533400" cy="1219200"/>
            <a:chOff x="1344" y="1056"/>
            <a:chExt cx="624" cy="768"/>
          </a:xfrm>
        </p:grpSpPr>
        <p:sp>
          <p:nvSpPr>
            <p:cNvPr id="1594445" name="Rectangle 7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446" name="Line 7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447" name="Line 7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448" name="Line 8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6" name="Group 81"/>
          <p:cNvGrpSpPr>
            <a:grpSpLocks/>
          </p:cNvGrpSpPr>
          <p:nvPr/>
        </p:nvGrpSpPr>
        <p:grpSpPr bwMode="auto">
          <a:xfrm>
            <a:off x="4800600" y="4078288"/>
            <a:ext cx="533400" cy="1219200"/>
            <a:chOff x="1344" y="1056"/>
            <a:chExt cx="624" cy="768"/>
          </a:xfrm>
        </p:grpSpPr>
        <p:sp>
          <p:nvSpPr>
            <p:cNvPr id="1594450" name="Rectangle 8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451" name="Line 8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452" name="Line 8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453" name="Line 8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7" name="Group 86"/>
          <p:cNvGrpSpPr>
            <a:grpSpLocks/>
          </p:cNvGrpSpPr>
          <p:nvPr/>
        </p:nvGrpSpPr>
        <p:grpSpPr bwMode="auto">
          <a:xfrm>
            <a:off x="6858000" y="4078288"/>
            <a:ext cx="533400" cy="1219200"/>
            <a:chOff x="1344" y="1056"/>
            <a:chExt cx="624" cy="768"/>
          </a:xfrm>
        </p:grpSpPr>
        <p:sp>
          <p:nvSpPr>
            <p:cNvPr id="1594455" name="Rectangle 8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4456" name="Line 8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4457" name="Line 8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4458" name="Line 9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594459" name="Rectangle 91"/>
          <p:cNvSpPr>
            <a:spLocks noGrp="1" noChangeArrowheads="1"/>
          </p:cNvSpPr>
          <p:nvPr>
            <p:ph type="body" idx="1"/>
          </p:nvPr>
        </p:nvSpPr>
        <p:spPr>
          <a:xfrm>
            <a:off x="533400" y="762000"/>
            <a:ext cx="7848600" cy="768415"/>
          </a:xfrm>
          <a:noFill/>
          <a:ln/>
        </p:spPr>
        <p:txBody>
          <a:bodyPr/>
          <a:lstStyle/>
          <a:p>
            <a:r>
              <a:rPr lang="en-US" dirty="0"/>
              <a:t>Consider the main memory word reference string</a:t>
            </a:r>
          </a:p>
          <a:p>
            <a:pPr lvl="1" algn="ctr">
              <a:buFont typeface="Monotype Sorts" pitchFamily="2" charset="2"/>
              <a:buNone/>
            </a:pPr>
            <a:r>
              <a:rPr lang="en-US" dirty="0"/>
              <a:t>                          0   1   2   3   4   3   4   </a:t>
            </a:r>
            <a:r>
              <a:rPr lang="en-US" dirty="0" smtClean="0"/>
              <a:t>15</a:t>
            </a:r>
            <a:endParaRPr lang="en-US" dirty="0"/>
          </a:p>
        </p:txBody>
      </p:sp>
      <p:sp>
        <p:nvSpPr>
          <p:cNvPr id="1594460" name="Text Box 92"/>
          <p:cNvSpPr txBox="1">
            <a:spLocks noChangeArrowheads="1"/>
          </p:cNvSpPr>
          <p:nvPr/>
        </p:nvSpPr>
        <p:spPr bwMode="auto">
          <a:xfrm>
            <a:off x="457200" y="1143000"/>
            <a:ext cx="3429000" cy="581025"/>
          </a:xfrm>
          <a:prstGeom prst="rect">
            <a:avLst/>
          </a:prstGeom>
          <a:noFill/>
          <a:ln w="12700">
            <a:noFill/>
            <a:miter lim="800000"/>
            <a:headEnd/>
            <a:tailEnd/>
          </a:ln>
          <a:effectLst/>
        </p:spPr>
        <p:txBody>
          <a:bodyPr>
            <a:spAutoFit/>
          </a:bodyPr>
          <a:lstStyle/>
          <a:p>
            <a:r>
              <a:rPr lang="en-US" sz="1600">
                <a:solidFill>
                  <a:schemeClr val="tx1"/>
                </a:solidFill>
              </a:rPr>
              <a:t>Start with an empty cache - all blocks initially marked as not valid</a:t>
            </a:r>
          </a:p>
        </p:txBody>
      </p:sp>
    </p:spTree>
    <p:extLst>
      <p:ext uri="{BB962C8B-B14F-4D97-AF65-F5344CB8AC3E}">
        <p14:creationId xmlns:p14="http://schemas.microsoft.com/office/powerpoint/2010/main" val="1893094600"/>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6418" name="Rectangle 2"/>
          <p:cNvSpPr>
            <a:spLocks noGrp="1" noChangeArrowheads="1"/>
          </p:cNvSpPr>
          <p:nvPr>
            <p:ph type="title"/>
          </p:nvPr>
        </p:nvSpPr>
        <p:spPr/>
        <p:txBody>
          <a:bodyPr/>
          <a:lstStyle/>
          <a:p>
            <a:r>
              <a:rPr lang="en-US"/>
              <a:t>Direct Mapped Cache</a:t>
            </a:r>
          </a:p>
        </p:txBody>
      </p:sp>
      <p:grpSp>
        <p:nvGrpSpPr>
          <p:cNvPr id="2" name="Group 3"/>
          <p:cNvGrpSpPr>
            <a:grpSpLocks/>
          </p:cNvGrpSpPr>
          <p:nvPr/>
        </p:nvGrpSpPr>
        <p:grpSpPr bwMode="auto">
          <a:xfrm>
            <a:off x="1295400" y="2249488"/>
            <a:ext cx="990600" cy="1219200"/>
            <a:chOff x="1344" y="1056"/>
            <a:chExt cx="624" cy="768"/>
          </a:xfrm>
        </p:grpSpPr>
        <p:sp>
          <p:nvSpPr>
            <p:cNvPr id="1596420"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21"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22"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23"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3" name="Group 8"/>
          <p:cNvGrpSpPr>
            <a:grpSpLocks/>
          </p:cNvGrpSpPr>
          <p:nvPr/>
        </p:nvGrpSpPr>
        <p:grpSpPr bwMode="auto">
          <a:xfrm>
            <a:off x="3276600" y="2249488"/>
            <a:ext cx="990600" cy="1219200"/>
            <a:chOff x="1344" y="1056"/>
            <a:chExt cx="624" cy="768"/>
          </a:xfrm>
        </p:grpSpPr>
        <p:sp>
          <p:nvSpPr>
            <p:cNvPr id="1596425" name="Rectangle 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26" name="Line 1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27" name="Line 1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28" name="Line 1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4" name="Group 13"/>
          <p:cNvGrpSpPr>
            <a:grpSpLocks/>
          </p:cNvGrpSpPr>
          <p:nvPr/>
        </p:nvGrpSpPr>
        <p:grpSpPr bwMode="auto">
          <a:xfrm>
            <a:off x="5334000" y="2249488"/>
            <a:ext cx="990600" cy="1219200"/>
            <a:chOff x="1344" y="1056"/>
            <a:chExt cx="624" cy="768"/>
          </a:xfrm>
        </p:grpSpPr>
        <p:sp>
          <p:nvSpPr>
            <p:cNvPr id="1596430" name="Rectangle 1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31" name="Line 1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32" name="Line 1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33" name="Line 1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5" name="Group 18"/>
          <p:cNvGrpSpPr>
            <a:grpSpLocks/>
          </p:cNvGrpSpPr>
          <p:nvPr/>
        </p:nvGrpSpPr>
        <p:grpSpPr bwMode="auto">
          <a:xfrm>
            <a:off x="7391400" y="2249488"/>
            <a:ext cx="990600" cy="1219200"/>
            <a:chOff x="1344" y="1056"/>
            <a:chExt cx="624" cy="768"/>
          </a:xfrm>
        </p:grpSpPr>
        <p:sp>
          <p:nvSpPr>
            <p:cNvPr id="1596435" name="Rectangle 1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36" name="Line 2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37" name="Line 2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38" name="Line 2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6" name="Group 23"/>
          <p:cNvGrpSpPr>
            <a:grpSpLocks/>
          </p:cNvGrpSpPr>
          <p:nvPr/>
        </p:nvGrpSpPr>
        <p:grpSpPr bwMode="auto">
          <a:xfrm>
            <a:off x="7391400" y="4078288"/>
            <a:ext cx="990600" cy="1219200"/>
            <a:chOff x="1344" y="1056"/>
            <a:chExt cx="624" cy="768"/>
          </a:xfrm>
        </p:grpSpPr>
        <p:sp>
          <p:nvSpPr>
            <p:cNvPr id="1596440" name="Rectangle 2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41" name="Line 2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42" name="Line 2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43" name="Line 2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7" name="Group 28"/>
          <p:cNvGrpSpPr>
            <a:grpSpLocks/>
          </p:cNvGrpSpPr>
          <p:nvPr/>
        </p:nvGrpSpPr>
        <p:grpSpPr bwMode="auto">
          <a:xfrm>
            <a:off x="5334000" y="4078288"/>
            <a:ext cx="990600" cy="1219200"/>
            <a:chOff x="1344" y="1056"/>
            <a:chExt cx="624" cy="768"/>
          </a:xfrm>
        </p:grpSpPr>
        <p:sp>
          <p:nvSpPr>
            <p:cNvPr id="1596445" name="Rectangle 2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46" name="Line 3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47" name="Line 3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48" name="Line 3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8" name="Group 33"/>
          <p:cNvGrpSpPr>
            <a:grpSpLocks/>
          </p:cNvGrpSpPr>
          <p:nvPr/>
        </p:nvGrpSpPr>
        <p:grpSpPr bwMode="auto">
          <a:xfrm>
            <a:off x="3352800" y="4078288"/>
            <a:ext cx="990600" cy="1219200"/>
            <a:chOff x="1344" y="1056"/>
            <a:chExt cx="624" cy="768"/>
          </a:xfrm>
        </p:grpSpPr>
        <p:sp>
          <p:nvSpPr>
            <p:cNvPr id="1596450" name="Rectangle 3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51" name="Line 3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52" name="Line 3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53" name="Line 3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9" name="Group 38"/>
          <p:cNvGrpSpPr>
            <a:grpSpLocks/>
          </p:cNvGrpSpPr>
          <p:nvPr/>
        </p:nvGrpSpPr>
        <p:grpSpPr bwMode="auto">
          <a:xfrm>
            <a:off x="1295400" y="4078288"/>
            <a:ext cx="990600" cy="1219200"/>
            <a:chOff x="1344" y="1056"/>
            <a:chExt cx="624" cy="768"/>
          </a:xfrm>
        </p:grpSpPr>
        <p:sp>
          <p:nvSpPr>
            <p:cNvPr id="1596455" name="Rectangle 3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56" name="Line 4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57" name="Line 4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58" name="Line 4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596459" name="Text Box 43"/>
          <p:cNvSpPr txBox="1">
            <a:spLocks noChangeArrowheads="1"/>
          </p:cNvSpPr>
          <p:nvPr/>
        </p:nvSpPr>
        <p:spPr bwMode="auto">
          <a:xfrm>
            <a:off x="1355725" y="1828800"/>
            <a:ext cx="311150" cy="366713"/>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596460" name="Text Box 44"/>
          <p:cNvSpPr txBox="1">
            <a:spLocks noChangeArrowheads="1"/>
          </p:cNvSpPr>
          <p:nvPr/>
        </p:nvSpPr>
        <p:spPr bwMode="auto">
          <a:xfrm>
            <a:off x="3260725" y="1828800"/>
            <a:ext cx="311150" cy="366713"/>
          </a:xfrm>
          <a:prstGeom prst="rect">
            <a:avLst/>
          </a:prstGeom>
          <a:noFill/>
          <a:ln w="12700">
            <a:noFill/>
            <a:miter lim="800000"/>
            <a:headEnd/>
            <a:tailEnd/>
          </a:ln>
          <a:effectLst/>
        </p:spPr>
        <p:txBody>
          <a:bodyPr wrap="none">
            <a:spAutoFit/>
          </a:bodyPr>
          <a:lstStyle/>
          <a:p>
            <a:r>
              <a:rPr lang="en-US" b="1">
                <a:solidFill>
                  <a:schemeClr val="tx1"/>
                </a:solidFill>
              </a:rPr>
              <a:t>1</a:t>
            </a:r>
          </a:p>
        </p:txBody>
      </p:sp>
      <p:sp>
        <p:nvSpPr>
          <p:cNvPr id="1596461" name="Text Box 45"/>
          <p:cNvSpPr txBox="1">
            <a:spLocks noChangeArrowheads="1"/>
          </p:cNvSpPr>
          <p:nvPr/>
        </p:nvSpPr>
        <p:spPr bwMode="auto">
          <a:xfrm>
            <a:off x="5241925" y="1828800"/>
            <a:ext cx="311150" cy="366713"/>
          </a:xfrm>
          <a:prstGeom prst="rect">
            <a:avLst/>
          </a:prstGeom>
          <a:noFill/>
          <a:ln w="12700">
            <a:noFill/>
            <a:miter lim="800000"/>
            <a:headEnd/>
            <a:tailEnd/>
          </a:ln>
          <a:effectLst/>
        </p:spPr>
        <p:txBody>
          <a:bodyPr wrap="none">
            <a:spAutoFit/>
          </a:bodyPr>
          <a:lstStyle/>
          <a:p>
            <a:r>
              <a:rPr lang="en-US" b="1">
                <a:solidFill>
                  <a:schemeClr val="tx1"/>
                </a:solidFill>
              </a:rPr>
              <a:t>2</a:t>
            </a:r>
          </a:p>
        </p:txBody>
      </p:sp>
      <p:sp>
        <p:nvSpPr>
          <p:cNvPr id="1596462" name="Text Box 46"/>
          <p:cNvSpPr txBox="1">
            <a:spLocks noChangeArrowheads="1"/>
          </p:cNvSpPr>
          <p:nvPr/>
        </p:nvSpPr>
        <p:spPr bwMode="auto">
          <a:xfrm>
            <a:off x="7375525" y="1828800"/>
            <a:ext cx="311150" cy="366713"/>
          </a:xfrm>
          <a:prstGeom prst="rect">
            <a:avLst/>
          </a:prstGeom>
          <a:noFill/>
          <a:ln w="12700">
            <a:noFill/>
            <a:miter lim="800000"/>
            <a:headEnd/>
            <a:tailEnd/>
          </a:ln>
          <a:effectLst/>
        </p:spPr>
        <p:txBody>
          <a:bodyPr wrap="none">
            <a:spAutoFit/>
          </a:bodyPr>
          <a:lstStyle/>
          <a:p>
            <a:r>
              <a:rPr lang="en-US" b="1">
                <a:solidFill>
                  <a:schemeClr val="tx1"/>
                </a:solidFill>
              </a:rPr>
              <a:t>3</a:t>
            </a:r>
          </a:p>
        </p:txBody>
      </p:sp>
      <p:sp>
        <p:nvSpPr>
          <p:cNvPr id="1596463" name="Text Box 47"/>
          <p:cNvSpPr txBox="1">
            <a:spLocks noChangeArrowheads="1"/>
          </p:cNvSpPr>
          <p:nvPr/>
        </p:nvSpPr>
        <p:spPr bwMode="auto">
          <a:xfrm>
            <a:off x="1219200" y="3697288"/>
            <a:ext cx="311150" cy="366712"/>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596464" name="Text Box 48"/>
          <p:cNvSpPr txBox="1">
            <a:spLocks noChangeArrowheads="1"/>
          </p:cNvSpPr>
          <p:nvPr/>
        </p:nvSpPr>
        <p:spPr bwMode="auto">
          <a:xfrm>
            <a:off x="3260725" y="3657600"/>
            <a:ext cx="311150" cy="366713"/>
          </a:xfrm>
          <a:prstGeom prst="rect">
            <a:avLst/>
          </a:prstGeom>
          <a:noFill/>
          <a:ln w="12700">
            <a:noFill/>
            <a:miter lim="800000"/>
            <a:headEnd/>
            <a:tailEnd/>
          </a:ln>
          <a:effectLst/>
        </p:spPr>
        <p:txBody>
          <a:bodyPr wrap="none">
            <a:spAutoFit/>
          </a:bodyPr>
          <a:lstStyle/>
          <a:p>
            <a:r>
              <a:rPr lang="en-US" b="1">
                <a:solidFill>
                  <a:schemeClr val="tx1"/>
                </a:solidFill>
              </a:rPr>
              <a:t>3</a:t>
            </a:r>
          </a:p>
        </p:txBody>
      </p:sp>
      <p:sp>
        <p:nvSpPr>
          <p:cNvPr id="1596465" name="Text Box 49"/>
          <p:cNvSpPr txBox="1">
            <a:spLocks noChangeArrowheads="1"/>
          </p:cNvSpPr>
          <p:nvPr/>
        </p:nvSpPr>
        <p:spPr bwMode="auto">
          <a:xfrm>
            <a:off x="5318125" y="3657600"/>
            <a:ext cx="311150" cy="366713"/>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596466" name="Text Box 50"/>
          <p:cNvSpPr txBox="1">
            <a:spLocks noChangeArrowheads="1"/>
          </p:cNvSpPr>
          <p:nvPr/>
        </p:nvSpPr>
        <p:spPr bwMode="auto">
          <a:xfrm>
            <a:off x="7299325" y="3657600"/>
            <a:ext cx="438150" cy="366713"/>
          </a:xfrm>
          <a:prstGeom prst="rect">
            <a:avLst/>
          </a:prstGeom>
          <a:noFill/>
          <a:ln w="12700">
            <a:noFill/>
            <a:miter lim="800000"/>
            <a:headEnd/>
            <a:tailEnd/>
          </a:ln>
          <a:effectLst/>
        </p:spPr>
        <p:txBody>
          <a:bodyPr wrap="none">
            <a:spAutoFit/>
          </a:bodyPr>
          <a:lstStyle/>
          <a:p>
            <a:r>
              <a:rPr lang="en-US" b="1">
                <a:solidFill>
                  <a:schemeClr val="tx1"/>
                </a:solidFill>
              </a:rPr>
              <a:t>15</a:t>
            </a:r>
          </a:p>
        </p:txBody>
      </p:sp>
      <p:grpSp>
        <p:nvGrpSpPr>
          <p:cNvPr id="10" name="Group 51"/>
          <p:cNvGrpSpPr>
            <a:grpSpLocks/>
          </p:cNvGrpSpPr>
          <p:nvPr/>
        </p:nvGrpSpPr>
        <p:grpSpPr bwMode="auto">
          <a:xfrm>
            <a:off x="762000" y="2249488"/>
            <a:ext cx="533400" cy="1219200"/>
            <a:chOff x="1344" y="1056"/>
            <a:chExt cx="624" cy="768"/>
          </a:xfrm>
        </p:grpSpPr>
        <p:sp>
          <p:nvSpPr>
            <p:cNvPr id="1596468" name="Rectangle 5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69" name="Line 5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70" name="Line 5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71" name="Line 5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1" name="Group 56"/>
          <p:cNvGrpSpPr>
            <a:grpSpLocks/>
          </p:cNvGrpSpPr>
          <p:nvPr/>
        </p:nvGrpSpPr>
        <p:grpSpPr bwMode="auto">
          <a:xfrm>
            <a:off x="2743200" y="2249488"/>
            <a:ext cx="533400" cy="1219200"/>
            <a:chOff x="1344" y="1056"/>
            <a:chExt cx="624" cy="768"/>
          </a:xfrm>
        </p:grpSpPr>
        <p:sp>
          <p:nvSpPr>
            <p:cNvPr id="1596473" name="Rectangle 5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74" name="Line 5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75" name="Line 5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76" name="Line 6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2" name="Group 61"/>
          <p:cNvGrpSpPr>
            <a:grpSpLocks/>
          </p:cNvGrpSpPr>
          <p:nvPr/>
        </p:nvGrpSpPr>
        <p:grpSpPr bwMode="auto">
          <a:xfrm>
            <a:off x="4800600" y="2249488"/>
            <a:ext cx="533400" cy="1219200"/>
            <a:chOff x="1344" y="1056"/>
            <a:chExt cx="624" cy="768"/>
          </a:xfrm>
        </p:grpSpPr>
        <p:sp>
          <p:nvSpPr>
            <p:cNvPr id="1596478" name="Rectangle 6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79" name="Line 6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80" name="Line 6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81" name="Line 6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3" name="Group 66"/>
          <p:cNvGrpSpPr>
            <a:grpSpLocks/>
          </p:cNvGrpSpPr>
          <p:nvPr/>
        </p:nvGrpSpPr>
        <p:grpSpPr bwMode="auto">
          <a:xfrm>
            <a:off x="6858000" y="2249488"/>
            <a:ext cx="533400" cy="1219200"/>
            <a:chOff x="1344" y="1056"/>
            <a:chExt cx="624" cy="768"/>
          </a:xfrm>
        </p:grpSpPr>
        <p:sp>
          <p:nvSpPr>
            <p:cNvPr id="1596483" name="Rectangle 6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84" name="Line 6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85" name="Line 6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86" name="Line 7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4" name="Group 71"/>
          <p:cNvGrpSpPr>
            <a:grpSpLocks/>
          </p:cNvGrpSpPr>
          <p:nvPr/>
        </p:nvGrpSpPr>
        <p:grpSpPr bwMode="auto">
          <a:xfrm>
            <a:off x="762000" y="4078288"/>
            <a:ext cx="533400" cy="1219200"/>
            <a:chOff x="1344" y="1056"/>
            <a:chExt cx="624" cy="768"/>
          </a:xfrm>
        </p:grpSpPr>
        <p:sp>
          <p:nvSpPr>
            <p:cNvPr id="1596488" name="Rectangle 7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89" name="Line 7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90" name="Line 7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91" name="Line 7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5" name="Group 76"/>
          <p:cNvGrpSpPr>
            <a:grpSpLocks/>
          </p:cNvGrpSpPr>
          <p:nvPr/>
        </p:nvGrpSpPr>
        <p:grpSpPr bwMode="auto">
          <a:xfrm>
            <a:off x="2819400" y="4078288"/>
            <a:ext cx="533400" cy="1219200"/>
            <a:chOff x="1344" y="1056"/>
            <a:chExt cx="624" cy="768"/>
          </a:xfrm>
        </p:grpSpPr>
        <p:sp>
          <p:nvSpPr>
            <p:cNvPr id="1596493" name="Rectangle 7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94" name="Line 7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495" name="Line 7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496" name="Line 8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6" name="Group 81"/>
          <p:cNvGrpSpPr>
            <a:grpSpLocks/>
          </p:cNvGrpSpPr>
          <p:nvPr/>
        </p:nvGrpSpPr>
        <p:grpSpPr bwMode="auto">
          <a:xfrm>
            <a:off x="4800600" y="4078288"/>
            <a:ext cx="533400" cy="1219200"/>
            <a:chOff x="1344" y="1056"/>
            <a:chExt cx="624" cy="768"/>
          </a:xfrm>
        </p:grpSpPr>
        <p:sp>
          <p:nvSpPr>
            <p:cNvPr id="1596498" name="Rectangle 8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499" name="Line 8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500" name="Line 8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501" name="Line 8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7" name="Group 86"/>
          <p:cNvGrpSpPr>
            <a:grpSpLocks/>
          </p:cNvGrpSpPr>
          <p:nvPr/>
        </p:nvGrpSpPr>
        <p:grpSpPr bwMode="auto">
          <a:xfrm>
            <a:off x="6858000" y="4078288"/>
            <a:ext cx="533400" cy="1219200"/>
            <a:chOff x="1344" y="1056"/>
            <a:chExt cx="624" cy="768"/>
          </a:xfrm>
        </p:grpSpPr>
        <p:sp>
          <p:nvSpPr>
            <p:cNvPr id="1596503" name="Rectangle 8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6504" name="Line 8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96505" name="Line 8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96506" name="Line 9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596507" name="Rectangle 91"/>
          <p:cNvSpPr>
            <a:spLocks noGrp="1" noChangeArrowheads="1"/>
          </p:cNvSpPr>
          <p:nvPr>
            <p:ph type="body" idx="1"/>
          </p:nvPr>
        </p:nvSpPr>
        <p:spPr>
          <a:xfrm>
            <a:off x="533400" y="762000"/>
            <a:ext cx="7848600" cy="812800"/>
          </a:xfrm>
          <a:noFill/>
          <a:ln/>
        </p:spPr>
        <p:txBody>
          <a:bodyPr/>
          <a:lstStyle/>
          <a:p>
            <a:r>
              <a:rPr lang="en-US"/>
              <a:t>Consider the main memory word reference string</a:t>
            </a:r>
          </a:p>
          <a:p>
            <a:pPr lvl="1" algn="ctr">
              <a:buFont typeface="Monotype Sorts" pitchFamily="2" charset="2"/>
              <a:buNone/>
            </a:pPr>
            <a:r>
              <a:rPr lang="en-US"/>
              <a:t>                       0   1   2   3   4   3   4   15</a:t>
            </a:r>
          </a:p>
        </p:txBody>
      </p:sp>
      <p:sp>
        <p:nvSpPr>
          <p:cNvPr id="1596508" name="Text Box 92"/>
          <p:cNvSpPr txBox="1">
            <a:spLocks noChangeArrowheads="1"/>
          </p:cNvSpPr>
          <p:nvPr/>
        </p:nvSpPr>
        <p:spPr bwMode="auto">
          <a:xfrm>
            <a:off x="822325" y="2249488"/>
            <a:ext cx="1479550" cy="366712"/>
          </a:xfrm>
          <a:prstGeom prst="rect">
            <a:avLst/>
          </a:prstGeom>
          <a:noFill/>
          <a:ln w="12700">
            <a:noFill/>
            <a:miter lim="800000"/>
            <a:headEnd/>
            <a:tailEnd/>
          </a:ln>
          <a:effectLst/>
        </p:spPr>
        <p:txBody>
          <a:bodyPr wrap="none">
            <a:spAutoFit/>
          </a:bodyPr>
          <a:lstStyle/>
          <a:p>
            <a:r>
              <a:rPr lang="en-US">
                <a:solidFill>
                  <a:schemeClr val="tx1"/>
                </a:solidFill>
              </a:rPr>
              <a:t>00    Mem(0)</a:t>
            </a:r>
          </a:p>
        </p:txBody>
      </p:sp>
      <p:sp>
        <p:nvSpPr>
          <p:cNvPr id="1596509" name="Text Box 93"/>
          <p:cNvSpPr txBox="1">
            <a:spLocks noChangeArrowheads="1"/>
          </p:cNvSpPr>
          <p:nvPr/>
        </p:nvSpPr>
        <p:spPr bwMode="auto">
          <a:xfrm>
            <a:off x="4860925" y="2176463"/>
            <a:ext cx="1479550" cy="723900"/>
          </a:xfrm>
          <a:prstGeom prst="rect">
            <a:avLst/>
          </a:prstGeom>
          <a:noFill/>
          <a:ln w="12700">
            <a:noFill/>
            <a:miter lim="800000"/>
            <a:headEnd/>
            <a:tailEnd/>
          </a:ln>
          <a:effectLst/>
        </p:spPr>
        <p:txBody>
          <a:bodyPr wrap="none">
            <a:spAutoFit/>
          </a:bodyPr>
          <a:lstStyle/>
          <a:p>
            <a:pPr>
              <a:lnSpc>
                <a:spcPct val="115000"/>
              </a:lnSpc>
            </a:pPr>
            <a:r>
              <a:rPr lang="en-US">
                <a:solidFill>
                  <a:schemeClr val="tx1"/>
                </a:solidFill>
              </a:rPr>
              <a:t>00    Mem(0)</a:t>
            </a:r>
          </a:p>
          <a:p>
            <a:pPr>
              <a:lnSpc>
                <a:spcPct val="115000"/>
              </a:lnSpc>
            </a:pPr>
            <a:r>
              <a:rPr lang="en-US">
                <a:solidFill>
                  <a:schemeClr val="tx1"/>
                </a:solidFill>
              </a:rPr>
              <a:t>00    Mem(1)</a:t>
            </a:r>
          </a:p>
        </p:txBody>
      </p:sp>
      <p:sp>
        <p:nvSpPr>
          <p:cNvPr id="1596510" name="Text Box 94"/>
          <p:cNvSpPr txBox="1">
            <a:spLocks noChangeArrowheads="1"/>
          </p:cNvSpPr>
          <p:nvPr/>
        </p:nvSpPr>
        <p:spPr bwMode="auto">
          <a:xfrm>
            <a:off x="2727325" y="2209800"/>
            <a:ext cx="1479550" cy="407988"/>
          </a:xfrm>
          <a:prstGeom prst="rect">
            <a:avLst/>
          </a:prstGeom>
          <a:noFill/>
          <a:ln w="12700">
            <a:noFill/>
            <a:miter lim="800000"/>
            <a:headEnd/>
            <a:tailEnd/>
          </a:ln>
          <a:effectLst/>
        </p:spPr>
        <p:txBody>
          <a:bodyPr wrap="none">
            <a:spAutoFit/>
          </a:bodyPr>
          <a:lstStyle/>
          <a:p>
            <a:pPr>
              <a:lnSpc>
                <a:spcPct val="115000"/>
              </a:lnSpc>
            </a:pPr>
            <a:r>
              <a:rPr lang="en-US">
                <a:solidFill>
                  <a:schemeClr val="tx1"/>
                </a:solidFill>
              </a:rPr>
              <a:t>00    Mem(0)</a:t>
            </a:r>
          </a:p>
        </p:txBody>
      </p:sp>
      <p:sp>
        <p:nvSpPr>
          <p:cNvPr id="1596511" name="Text Box 95"/>
          <p:cNvSpPr txBox="1">
            <a:spLocks noChangeArrowheads="1"/>
          </p:cNvSpPr>
          <p:nvPr/>
        </p:nvSpPr>
        <p:spPr bwMode="auto">
          <a:xfrm>
            <a:off x="6918325" y="2209800"/>
            <a:ext cx="1479550" cy="1039813"/>
          </a:xfrm>
          <a:prstGeom prst="rect">
            <a:avLst/>
          </a:prstGeom>
          <a:noFill/>
          <a:ln w="12700">
            <a:noFill/>
            <a:miter lim="800000"/>
            <a:headEnd/>
            <a:tailEnd/>
          </a:ln>
          <a:effectLst/>
        </p:spPr>
        <p:txBody>
          <a:bodyPr wrap="none">
            <a:spAutoFit/>
          </a:bodyPr>
          <a:lstStyle/>
          <a:p>
            <a:pPr>
              <a:lnSpc>
                <a:spcPct val="115000"/>
              </a:lnSpc>
            </a:pPr>
            <a:r>
              <a:rPr lang="en-US">
                <a:solidFill>
                  <a:schemeClr val="tx1"/>
                </a:solidFill>
              </a:rPr>
              <a:t>00    Mem(0)</a:t>
            </a:r>
          </a:p>
          <a:p>
            <a:pPr>
              <a:lnSpc>
                <a:spcPct val="115000"/>
              </a:lnSpc>
            </a:pPr>
            <a:r>
              <a:rPr lang="en-US">
                <a:solidFill>
                  <a:schemeClr val="tx1"/>
                </a:solidFill>
              </a:rPr>
              <a:t>00    Mem(1)</a:t>
            </a:r>
          </a:p>
          <a:p>
            <a:pPr>
              <a:lnSpc>
                <a:spcPct val="115000"/>
              </a:lnSpc>
            </a:pPr>
            <a:r>
              <a:rPr lang="en-US">
                <a:solidFill>
                  <a:schemeClr val="tx1"/>
                </a:solidFill>
              </a:rPr>
              <a:t>00    Mem(2)</a:t>
            </a:r>
          </a:p>
        </p:txBody>
      </p:sp>
      <p:sp>
        <p:nvSpPr>
          <p:cNvPr id="1596512" name="Text Box 96"/>
          <p:cNvSpPr txBox="1">
            <a:spLocks noChangeArrowheads="1"/>
          </p:cNvSpPr>
          <p:nvPr/>
        </p:nvSpPr>
        <p:spPr bwMode="auto">
          <a:xfrm>
            <a:off x="1584325" y="1828800"/>
            <a:ext cx="654050" cy="366713"/>
          </a:xfrm>
          <a:prstGeom prst="rect">
            <a:avLst/>
          </a:prstGeom>
          <a:noFill/>
          <a:ln w="12700">
            <a:noFill/>
            <a:miter lim="800000"/>
            <a:headEnd/>
            <a:tailEnd/>
          </a:ln>
          <a:effectLst/>
        </p:spPr>
        <p:txBody>
          <a:bodyPr wrap="none">
            <a:spAutoFit/>
          </a:bodyPr>
          <a:lstStyle/>
          <a:p>
            <a:r>
              <a:rPr lang="en-US"/>
              <a:t>miss</a:t>
            </a:r>
          </a:p>
        </p:txBody>
      </p:sp>
      <p:sp>
        <p:nvSpPr>
          <p:cNvPr id="1596513" name="Text Box 97"/>
          <p:cNvSpPr txBox="1">
            <a:spLocks noChangeArrowheads="1"/>
          </p:cNvSpPr>
          <p:nvPr/>
        </p:nvSpPr>
        <p:spPr bwMode="auto">
          <a:xfrm>
            <a:off x="3489325" y="1828800"/>
            <a:ext cx="654050" cy="366713"/>
          </a:xfrm>
          <a:prstGeom prst="rect">
            <a:avLst/>
          </a:prstGeom>
          <a:noFill/>
          <a:ln w="12700">
            <a:noFill/>
            <a:miter lim="800000"/>
            <a:headEnd/>
            <a:tailEnd/>
          </a:ln>
          <a:effectLst/>
        </p:spPr>
        <p:txBody>
          <a:bodyPr wrap="none">
            <a:spAutoFit/>
          </a:bodyPr>
          <a:lstStyle/>
          <a:p>
            <a:r>
              <a:rPr lang="en-US"/>
              <a:t>miss</a:t>
            </a:r>
          </a:p>
        </p:txBody>
      </p:sp>
      <p:sp>
        <p:nvSpPr>
          <p:cNvPr id="1596514" name="Text Box 98"/>
          <p:cNvSpPr txBox="1">
            <a:spLocks noChangeArrowheads="1"/>
          </p:cNvSpPr>
          <p:nvPr/>
        </p:nvSpPr>
        <p:spPr bwMode="auto">
          <a:xfrm>
            <a:off x="5546725" y="1828800"/>
            <a:ext cx="654050" cy="366713"/>
          </a:xfrm>
          <a:prstGeom prst="rect">
            <a:avLst/>
          </a:prstGeom>
          <a:noFill/>
          <a:ln w="12700">
            <a:noFill/>
            <a:miter lim="800000"/>
            <a:headEnd/>
            <a:tailEnd/>
          </a:ln>
          <a:effectLst/>
        </p:spPr>
        <p:txBody>
          <a:bodyPr wrap="none">
            <a:spAutoFit/>
          </a:bodyPr>
          <a:lstStyle/>
          <a:p>
            <a:r>
              <a:rPr lang="en-US"/>
              <a:t>miss</a:t>
            </a:r>
          </a:p>
        </p:txBody>
      </p:sp>
      <p:sp>
        <p:nvSpPr>
          <p:cNvPr id="1596515" name="Text Box 99"/>
          <p:cNvSpPr txBox="1">
            <a:spLocks noChangeArrowheads="1"/>
          </p:cNvSpPr>
          <p:nvPr/>
        </p:nvSpPr>
        <p:spPr bwMode="auto">
          <a:xfrm>
            <a:off x="7680325" y="1828800"/>
            <a:ext cx="654050" cy="366713"/>
          </a:xfrm>
          <a:prstGeom prst="rect">
            <a:avLst/>
          </a:prstGeom>
          <a:noFill/>
          <a:ln w="12700">
            <a:noFill/>
            <a:miter lim="800000"/>
            <a:headEnd/>
            <a:tailEnd/>
          </a:ln>
          <a:effectLst/>
        </p:spPr>
        <p:txBody>
          <a:bodyPr wrap="none">
            <a:spAutoFit/>
          </a:bodyPr>
          <a:lstStyle/>
          <a:p>
            <a:r>
              <a:rPr lang="en-US"/>
              <a:t>miss</a:t>
            </a:r>
          </a:p>
        </p:txBody>
      </p:sp>
      <p:sp>
        <p:nvSpPr>
          <p:cNvPr id="1596516" name="Text Box 100"/>
          <p:cNvSpPr txBox="1">
            <a:spLocks noChangeArrowheads="1"/>
          </p:cNvSpPr>
          <p:nvPr/>
        </p:nvSpPr>
        <p:spPr bwMode="auto">
          <a:xfrm>
            <a:off x="1431925" y="3657600"/>
            <a:ext cx="654050" cy="366713"/>
          </a:xfrm>
          <a:prstGeom prst="rect">
            <a:avLst/>
          </a:prstGeom>
          <a:noFill/>
          <a:ln w="12700">
            <a:noFill/>
            <a:miter lim="800000"/>
            <a:headEnd/>
            <a:tailEnd/>
          </a:ln>
          <a:effectLst/>
        </p:spPr>
        <p:txBody>
          <a:bodyPr wrap="none">
            <a:spAutoFit/>
          </a:bodyPr>
          <a:lstStyle/>
          <a:p>
            <a:r>
              <a:rPr lang="en-US"/>
              <a:t>miss</a:t>
            </a:r>
          </a:p>
        </p:txBody>
      </p:sp>
      <p:sp>
        <p:nvSpPr>
          <p:cNvPr id="1596517" name="Text Box 101"/>
          <p:cNvSpPr txBox="1">
            <a:spLocks noChangeArrowheads="1"/>
          </p:cNvSpPr>
          <p:nvPr/>
        </p:nvSpPr>
        <p:spPr bwMode="auto">
          <a:xfrm>
            <a:off x="7680325" y="3657600"/>
            <a:ext cx="654050" cy="366713"/>
          </a:xfrm>
          <a:prstGeom prst="rect">
            <a:avLst/>
          </a:prstGeom>
          <a:noFill/>
          <a:ln w="12700">
            <a:noFill/>
            <a:miter lim="800000"/>
            <a:headEnd/>
            <a:tailEnd/>
          </a:ln>
          <a:effectLst/>
        </p:spPr>
        <p:txBody>
          <a:bodyPr wrap="none">
            <a:spAutoFit/>
          </a:bodyPr>
          <a:lstStyle/>
          <a:p>
            <a:r>
              <a:rPr lang="en-US"/>
              <a:t>miss</a:t>
            </a:r>
          </a:p>
        </p:txBody>
      </p:sp>
      <p:sp>
        <p:nvSpPr>
          <p:cNvPr id="1596518" name="Text Box 102"/>
          <p:cNvSpPr txBox="1">
            <a:spLocks noChangeArrowheads="1"/>
          </p:cNvSpPr>
          <p:nvPr/>
        </p:nvSpPr>
        <p:spPr bwMode="auto">
          <a:xfrm>
            <a:off x="3489325" y="3657600"/>
            <a:ext cx="425450" cy="366713"/>
          </a:xfrm>
          <a:prstGeom prst="rect">
            <a:avLst/>
          </a:prstGeom>
          <a:noFill/>
          <a:ln w="12700">
            <a:noFill/>
            <a:miter lim="800000"/>
            <a:headEnd/>
            <a:tailEnd/>
          </a:ln>
          <a:effectLst/>
        </p:spPr>
        <p:txBody>
          <a:bodyPr wrap="none">
            <a:spAutoFit/>
          </a:bodyPr>
          <a:lstStyle/>
          <a:p>
            <a:r>
              <a:rPr lang="en-US"/>
              <a:t>hit</a:t>
            </a:r>
          </a:p>
        </p:txBody>
      </p:sp>
      <p:sp>
        <p:nvSpPr>
          <p:cNvPr id="1596519" name="Text Box 103"/>
          <p:cNvSpPr txBox="1">
            <a:spLocks noChangeArrowheads="1"/>
          </p:cNvSpPr>
          <p:nvPr/>
        </p:nvSpPr>
        <p:spPr bwMode="auto">
          <a:xfrm>
            <a:off x="5699125" y="3657600"/>
            <a:ext cx="425450" cy="366713"/>
          </a:xfrm>
          <a:prstGeom prst="rect">
            <a:avLst/>
          </a:prstGeom>
          <a:noFill/>
          <a:ln w="12700">
            <a:noFill/>
            <a:miter lim="800000"/>
            <a:headEnd/>
            <a:tailEnd/>
          </a:ln>
          <a:effectLst/>
        </p:spPr>
        <p:txBody>
          <a:bodyPr wrap="none">
            <a:spAutoFit/>
          </a:bodyPr>
          <a:lstStyle/>
          <a:p>
            <a:r>
              <a:rPr lang="en-US"/>
              <a:t>hit</a:t>
            </a:r>
          </a:p>
        </p:txBody>
      </p:sp>
      <p:sp>
        <p:nvSpPr>
          <p:cNvPr id="1596520" name="Text Box 104"/>
          <p:cNvSpPr txBox="1">
            <a:spLocks noChangeArrowheads="1"/>
          </p:cNvSpPr>
          <p:nvPr/>
        </p:nvSpPr>
        <p:spPr bwMode="auto">
          <a:xfrm>
            <a:off x="822325" y="4038600"/>
            <a:ext cx="1479550" cy="1355725"/>
          </a:xfrm>
          <a:prstGeom prst="rect">
            <a:avLst/>
          </a:prstGeom>
          <a:noFill/>
          <a:ln w="12700">
            <a:noFill/>
            <a:miter lim="800000"/>
            <a:headEnd/>
            <a:tailEnd/>
          </a:ln>
          <a:effectLst/>
        </p:spPr>
        <p:txBody>
          <a:bodyPr wrap="none">
            <a:spAutoFit/>
          </a:bodyPr>
          <a:lstStyle/>
          <a:p>
            <a:pPr>
              <a:lnSpc>
                <a:spcPct val="115000"/>
              </a:lnSpc>
            </a:pPr>
            <a:r>
              <a:rPr lang="en-US">
                <a:solidFill>
                  <a:schemeClr val="tx1"/>
                </a:solidFill>
              </a:rPr>
              <a:t>00    Mem(0)</a:t>
            </a:r>
          </a:p>
          <a:p>
            <a:pPr>
              <a:lnSpc>
                <a:spcPct val="115000"/>
              </a:lnSpc>
            </a:pPr>
            <a:r>
              <a:rPr lang="en-US">
                <a:solidFill>
                  <a:schemeClr val="tx1"/>
                </a:solidFill>
              </a:rPr>
              <a:t>00    Mem(1)</a:t>
            </a:r>
          </a:p>
          <a:p>
            <a:pPr>
              <a:lnSpc>
                <a:spcPct val="115000"/>
              </a:lnSpc>
            </a:pPr>
            <a:r>
              <a:rPr lang="en-US">
                <a:solidFill>
                  <a:schemeClr val="tx1"/>
                </a:solidFill>
              </a:rPr>
              <a:t>00    Mem(2)</a:t>
            </a:r>
          </a:p>
          <a:p>
            <a:pPr>
              <a:lnSpc>
                <a:spcPct val="115000"/>
              </a:lnSpc>
            </a:pPr>
            <a:r>
              <a:rPr lang="en-US">
                <a:solidFill>
                  <a:schemeClr val="tx1"/>
                </a:solidFill>
              </a:rPr>
              <a:t>00    Mem(3)</a:t>
            </a:r>
          </a:p>
        </p:txBody>
      </p:sp>
      <p:sp>
        <p:nvSpPr>
          <p:cNvPr id="1596521" name="Text Box 105"/>
          <p:cNvSpPr txBox="1">
            <a:spLocks noChangeArrowheads="1"/>
          </p:cNvSpPr>
          <p:nvPr/>
        </p:nvSpPr>
        <p:spPr bwMode="auto">
          <a:xfrm>
            <a:off x="2879725" y="4038600"/>
            <a:ext cx="1479550" cy="1355725"/>
          </a:xfrm>
          <a:prstGeom prst="rect">
            <a:avLst/>
          </a:prstGeom>
          <a:noFill/>
          <a:ln w="12700">
            <a:noFill/>
            <a:miter lim="800000"/>
            <a:headEnd/>
            <a:tailEnd/>
          </a:ln>
          <a:effectLst/>
        </p:spPr>
        <p:txBody>
          <a:bodyPr wrap="none">
            <a:spAutoFit/>
          </a:bodyPr>
          <a:lstStyle/>
          <a:p>
            <a:pPr>
              <a:lnSpc>
                <a:spcPct val="115000"/>
              </a:lnSpc>
            </a:pPr>
            <a:r>
              <a:rPr lang="en-US">
                <a:solidFill>
                  <a:schemeClr val="tx1"/>
                </a:solidFill>
              </a:rPr>
              <a:t>01    Mem(4)</a:t>
            </a:r>
          </a:p>
          <a:p>
            <a:pPr>
              <a:lnSpc>
                <a:spcPct val="115000"/>
              </a:lnSpc>
            </a:pPr>
            <a:r>
              <a:rPr lang="en-US">
                <a:solidFill>
                  <a:schemeClr val="tx1"/>
                </a:solidFill>
              </a:rPr>
              <a:t>00    Mem(1)</a:t>
            </a:r>
          </a:p>
          <a:p>
            <a:pPr>
              <a:lnSpc>
                <a:spcPct val="115000"/>
              </a:lnSpc>
            </a:pPr>
            <a:r>
              <a:rPr lang="en-US">
                <a:solidFill>
                  <a:schemeClr val="tx1"/>
                </a:solidFill>
              </a:rPr>
              <a:t>00    Mem(2)</a:t>
            </a:r>
          </a:p>
          <a:p>
            <a:pPr>
              <a:lnSpc>
                <a:spcPct val="115000"/>
              </a:lnSpc>
            </a:pPr>
            <a:r>
              <a:rPr lang="en-US">
                <a:solidFill>
                  <a:schemeClr val="tx1"/>
                </a:solidFill>
              </a:rPr>
              <a:t>00    Mem(3)</a:t>
            </a:r>
          </a:p>
        </p:txBody>
      </p:sp>
      <p:sp>
        <p:nvSpPr>
          <p:cNvPr id="1596522" name="Text Box 106"/>
          <p:cNvSpPr txBox="1">
            <a:spLocks noChangeArrowheads="1"/>
          </p:cNvSpPr>
          <p:nvPr/>
        </p:nvSpPr>
        <p:spPr bwMode="auto">
          <a:xfrm>
            <a:off x="4860925" y="4038600"/>
            <a:ext cx="1479550" cy="1355725"/>
          </a:xfrm>
          <a:prstGeom prst="rect">
            <a:avLst/>
          </a:prstGeom>
          <a:noFill/>
          <a:ln w="12700">
            <a:noFill/>
            <a:miter lim="800000"/>
            <a:headEnd/>
            <a:tailEnd/>
          </a:ln>
          <a:effectLst/>
        </p:spPr>
        <p:txBody>
          <a:bodyPr wrap="none">
            <a:spAutoFit/>
          </a:bodyPr>
          <a:lstStyle/>
          <a:p>
            <a:pPr>
              <a:lnSpc>
                <a:spcPct val="115000"/>
              </a:lnSpc>
            </a:pPr>
            <a:r>
              <a:rPr lang="en-US">
                <a:solidFill>
                  <a:schemeClr val="tx1"/>
                </a:solidFill>
              </a:rPr>
              <a:t>01    Mem(4)</a:t>
            </a:r>
          </a:p>
          <a:p>
            <a:pPr>
              <a:lnSpc>
                <a:spcPct val="115000"/>
              </a:lnSpc>
            </a:pPr>
            <a:r>
              <a:rPr lang="en-US">
                <a:solidFill>
                  <a:schemeClr val="tx1"/>
                </a:solidFill>
              </a:rPr>
              <a:t>00    Mem(1)</a:t>
            </a:r>
          </a:p>
          <a:p>
            <a:pPr>
              <a:lnSpc>
                <a:spcPct val="115000"/>
              </a:lnSpc>
            </a:pPr>
            <a:r>
              <a:rPr lang="en-US">
                <a:solidFill>
                  <a:schemeClr val="tx1"/>
                </a:solidFill>
              </a:rPr>
              <a:t>00    Mem(2)</a:t>
            </a:r>
          </a:p>
          <a:p>
            <a:pPr>
              <a:lnSpc>
                <a:spcPct val="115000"/>
              </a:lnSpc>
            </a:pPr>
            <a:r>
              <a:rPr lang="en-US">
                <a:solidFill>
                  <a:schemeClr val="tx1"/>
                </a:solidFill>
              </a:rPr>
              <a:t>00    Mem(3)</a:t>
            </a:r>
          </a:p>
        </p:txBody>
      </p:sp>
      <p:sp>
        <p:nvSpPr>
          <p:cNvPr id="1596523" name="Text Box 107"/>
          <p:cNvSpPr txBox="1">
            <a:spLocks noChangeArrowheads="1"/>
          </p:cNvSpPr>
          <p:nvPr/>
        </p:nvSpPr>
        <p:spPr bwMode="auto">
          <a:xfrm>
            <a:off x="6918325" y="4038600"/>
            <a:ext cx="1479550" cy="1355725"/>
          </a:xfrm>
          <a:prstGeom prst="rect">
            <a:avLst/>
          </a:prstGeom>
          <a:noFill/>
          <a:ln w="12700">
            <a:noFill/>
            <a:miter lim="800000"/>
            <a:headEnd/>
            <a:tailEnd/>
          </a:ln>
          <a:effectLst/>
        </p:spPr>
        <p:txBody>
          <a:bodyPr wrap="none">
            <a:spAutoFit/>
          </a:bodyPr>
          <a:lstStyle/>
          <a:p>
            <a:pPr>
              <a:lnSpc>
                <a:spcPct val="115000"/>
              </a:lnSpc>
            </a:pPr>
            <a:r>
              <a:rPr lang="en-US">
                <a:solidFill>
                  <a:schemeClr val="tx1"/>
                </a:solidFill>
              </a:rPr>
              <a:t>01    Mem(4)</a:t>
            </a:r>
          </a:p>
          <a:p>
            <a:pPr>
              <a:lnSpc>
                <a:spcPct val="115000"/>
              </a:lnSpc>
            </a:pPr>
            <a:r>
              <a:rPr lang="en-US">
                <a:solidFill>
                  <a:schemeClr val="tx1"/>
                </a:solidFill>
              </a:rPr>
              <a:t>00    Mem(1)</a:t>
            </a:r>
          </a:p>
          <a:p>
            <a:pPr>
              <a:lnSpc>
                <a:spcPct val="115000"/>
              </a:lnSpc>
            </a:pPr>
            <a:r>
              <a:rPr lang="en-US">
                <a:solidFill>
                  <a:schemeClr val="tx1"/>
                </a:solidFill>
              </a:rPr>
              <a:t>00    Mem(2)</a:t>
            </a:r>
          </a:p>
          <a:p>
            <a:pPr>
              <a:lnSpc>
                <a:spcPct val="115000"/>
              </a:lnSpc>
            </a:pPr>
            <a:r>
              <a:rPr lang="en-US">
                <a:solidFill>
                  <a:schemeClr val="tx1"/>
                </a:solidFill>
              </a:rPr>
              <a:t>00    Mem(3)</a:t>
            </a:r>
          </a:p>
        </p:txBody>
      </p:sp>
      <p:grpSp>
        <p:nvGrpSpPr>
          <p:cNvPr id="18" name="Group 108"/>
          <p:cNvGrpSpPr>
            <a:grpSpLocks/>
          </p:cNvGrpSpPr>
          <p:nvPr/>
        </p:nvGrpSpPr>
        <p:grpSpPr bwMode="auto">
          <a:xfrm>
            <a:off x="441325" y="3886200"/>
            <a:ext cx="1835150" cy="457200"/>
            <a:chOff x="278" y="2567"/>
            <a:chExt cx="1156" cy="288"/>
          </a:xfrm>
        </p:grpSpPr>
        <p:sp>
          <p:nvSpPr>
            <p:cNvPr id="1596525" name="Line 109"/>
            <p:cNvSpPr>
              <a:spLocks noChangeShapeType="1"/>
            </p:cNvSpPr>
            <p:nvPr/>
          </p:nvSpPr>
          <p:spPr bwMode="auto">
            <a:xfrm>
              <a:off x="518" y="2711"/>
              <a:ext cx="240" cy="144"/>
            </a:xfrm>
            <a:prstGeom prst="line">
              <a:avLst/>
            </a:prstGeom>
            <a:noFill/>
            <a:ln w="28575">
              <a:solidFill>
                <a:schemeClr val="accent1"/>
              </a:solidFill>
              <a:round/>
              <a:headEnd/>
              <a:tailEnd/>
            </a:ln>
            <a:effectLst/>
          </p:spPr>
          <p:txBody>
            <a:bodyPr/>
            <a:lstStyle/>
            <a:p>
              <a:endParaRPr lang="en-US"/>
            </a:p>
          </p:txBody>
        </p:sp>
        <p:sp>
          <p:nvSpPr>
            <p:cNvPr id="1596526" name="Line 110"/>
            <p:cNvSpPr>
              <a:spLocks noChangeShapeType="1"/>
            </p:cNvSpPr>
            <p:nvPr/>
          </p:nvSpPr>
          <p:spPr bwMode="auto">
            <a:xfrm>
              <a:off x="1190" y="2711"/>
              <a:ext cx="240" cy="144"/>
            </a:xfrm>
            <a:prstGeom prst="line">
              <a:avLst/>
            </a:prstGeom>
            <a:noFill/>
            <a:ln w="28575">
              <a:solidFill>
                <a:schemeClr val="accent1"/>
              </a:solidFill>
              <a:round/>
              <a:headEnd/>
              <a:tailEnd/>
            </a:ln>
            <a:effectLst/>
          </p:spPr>
          <p:txBody>
            <a:bodyPr/>
            <a:lstStyle/>
            <a:p>
              <a:endParaRPr lang="en-US"/>
            </a:p>
          </p:txBody>
        </p:sp>
        <p:sp>
          <p:nvSpPr>
            <p:cNvPr id="1596527" name="Text Box 111"/>
            <p:cNvSpPr txBox="1">
              <a:spLocks noChangeArrowheads="1"/>
            </p:cNvSpPr>
            <p:nvPr/>
          </p:nvSpPr>
          <p:spPr bwMode="auto">
            <a:xfrm>
              <a:off x="278" y="2567"/>
              <a:ext cx="276" cy="231"/>
            </a:xfrm>
            <a:prstGeom prst="rect">
              <a:avLst/>
            </a:prstGeom>
            <a:noFill/>
            <a:ln w="12700">
              <a:noFill/>
              <a:miter lim="800000"/>
              <a:headEnd/>
              <a:tailEnd/>
            </a:ln>
            <a:effectLst/>
          </p:spPr>
          <p:txBody>
            <a:bodyPr wrap="none">
              <a:spAutoFit/>
            </a:bodyPr>
            <a:lstStyle/>
            <a:p>
              <a:r>
                <a:rPr lang="en-US"/>
                <a:t>01</a:t>
              </a:r>
            </a:p>
          </p:txBody>
        </p:sp>
        <p:sp>
          <p:nvSpPr>
            <p:cNvPr id="1596528" name="Text Box 112"/>
            <p:cNvSpPr txBox="1">
              <a:spLocks noChangeArrowheads="1"/>
            </p:cNvSpPr>
            <p:nvPr/>
          </p:nvSpPr>
          <p:spPr bwMode="auto">
            <a:xfrm>
              <a:off x="1238" y="2567"/>
              <a:ext cx="196" cy="231"/>
            </a:xfrm>
            <a:prstGeom prst="rect">
              <a:avLst/>
            </a:prstGeom>
            <a:noFill/>
            <a:ln w="12700">
              <a:noFill/>
              <a:miter lim="800000"/>
              <a:headEnd/>
              <a:tailEnd/>
            </a:ln>
            <a:effectLst/>
          </p:spPr>
          <p:txBody>
            <a:bodyPr wrap="none">
              <a:spAutoFit/>
            </a:bodyPr>
            <a:lstStyle/>
            <a:p>
              <a:r>
                <a:rPr lang="en-US"/>
                <a:t>4</a:t>
              </a:r>
            </a:p>
          </p:txBody>
        </p:sp>
      </p:grpSp>
      <p:grpSp>
        <p:nvGrpSpPr>
          <p:cNvPr id="19" name="Group 113"/>
          <p:cNvGrpSpPr>
            <a:grpSpLocks/>
          </p:cNvGrpSpPr>
          <p:nvPr/>
        </p:nvGrpSpPr>
        <p:grpSpPr bwMode="auto">
          <a:xfrm>
            <a:off x="6477000" y="5083175"/>
            <a:ext cx="2266950" cy="442913"/>
            <a:chOff x="4118" y="3095"/>
            <a:chExt cx="1428" cy="279"/>
          </a:xfrm>
        </p:grpSpPr>
        <p:sp>
          <p:nvSpPr>
            <p:cNvPr id="1596530" name="Line 114"/>
            <p:cNvSpPr>
              <a:spLocks noChangeShapeType="1"/>
            </p:cNvSpPr>
            <p:nvPr/>
          </p:nvSpPr>
          <p:spPr bwMode="auto">
            <a:xfrm>
              <a:off x="4358" y="3095"/>
              <a:ext cx="240" cy="144"/>
            </a:xfrm>
            <a:prstGeom prst="line">
              <a:avLst/>
            </a:prstGeom>
            <a:noFill/>
            <a:ln w="28575">
              <a:solidFill>
                <a:schemeClr val="accent1"/>
              </a:solidFill>
              <a:round/>
              <a:headEnd/>
              <a:tailEnd/>
            </a:ln>
            <a:effectLst/>
          </p:spPr>
          <p:txBody>
            <a:bodyPr/>
            <a:lstStyle/>
            <a:p>
              <a:endParaRPr lang="en-US"/>
            </a:p>
          </p:txBody>
        </p:sp>
        <p:sp>
          <p:nvSpPr>
            <p:cNvPr id="1596531" name="Line 115"/>
            <p:cNvSpPr>
              <a:spLocks noChangeShapeType="1"/>
            </p:cNvSpPr>
            <p:nvPr/>
          </p:nvSpPr>
          <p:spPr bwMode="auto">
            <a:xfrm>
              <a:off x="5030" y="3095"/>
              <a:ext cx="240" cy="144"/>
            </a:xfrm>
            <a:prstGeom prst="line">
              <a:avLst/>
            </a:prstGeom>
            <a:noFill/>
            <a:ln w="28575">
              <a:solidFill>
                <a:schemeClr val="accent1"/>
              </a:solidFill>
              <a:round/>
              <a:headEnd/>
              <a:tailEnd/>
            </a:ln>
            <a:effectLst/>
          </p:spPr>
          <p:txBody>
            <a:bodyPr/>
            <a:lstStyle/>
            <a:p>
              <a:endParaRPr lang="en-US"/>
            </a:p>
          </p:txBody>
        </p:sp>
        <p:sp>
          <p:nvSpPr>
            <p:cNvPr id="1596532" name="Text Box 116"/>
            <p:cNvSpPr txBox="1">
              <a:spLocks noChangeArrowheads="1"/>
            </p:cNvSpPr>
            <p:nvPr/>
          </p:nvSpPr>
          <p:spPr bwMode="auto">
            <a:xfrm>
              <a:off x="4118" y="3095"/>
              <a:ext cx="276" cy="231"/>
            </a:xfrm>
            <a:prstGeom prst="rect">
              <a:avLst/>
            </a:prstGeom>
            <a:noFill/>
            <a:ln w="12700">
              <a:noFill/>
              <a:miter lim="800000"/>
              <a:headEnd/>
              <a:tailEnd/>
            </a:ln>
            <a:effectLst/>
          </p:spPr>
          <p:txBody>
            <a:bodyPr wrap="none">
              <a:spAutoFit/>
            </a:bodyPr>
            <a:lstStyle/>
            <a:p>
              <a:r>
                <a:rPr lang="en-US"/>
                <a:t>11</a:t>
              </a:r>
            </a:p>
          </p:txBody>
        </p:sp>
        <p:sp>
          <p:nvSpPr>
            <p:cNvPr id="1596533" name="Text Box 117"/>
            <p:cNvSpPr txBox="1">
              <a:spLocks noChangeArrowheads="1"/>
            </p:cNvSpPr>
            <p:nvPr/>
          </p:nvSpPr>
          <p:spPr bwMode="auto">
            <a:xfrm>
              <a:off x="5270" y="3143"/>
              <a:ext cx="276" cy="231"/>
            </a:xfrm>
            <a:prstGeom prst="rect">
              <a:avLst/>
            </a:prstGeom>
            <a:noFill/>
            <a:ln w="12700">
              <a:noFill/>
              <a:miter lim="800000"/>
              <a:headEnd/>
              <a:tailEnd/>
            </a:ln>
            <a:effectLst/>
          </p:spPr>
          <p:txBody>
            <a:bodyPr wrap="none">
              <a:spAutoFit/>
            </a:bodyPr>
            <a:lstStyle/>
            <a:p>
              <a:r>
                <a:rPr lang="en-US"/>
                <a:t>15</a:t>
              </a:r>
            </a:p>
          </p:txBody>
        </p:sp>
      </p:grpSp>
      <p:sp>
        <p:nvSpPr>
          <p:cNvPr id="1596535" name="Text Box 119"/>
          <p:cNvSpPr txBox="1">
            <a:spLocks noChangeArrowheads="1"/>
          </p:cNvSpPr>
          <p:nvPr/>
        </p:nvSpPr>
        <p:spPr bwMode="auto">
          <a:xfrm>
            <a:off x="2743200" y="2554288"/>
            <a:ext cx="1479550" cy="407987"/>
          </a:xfrm>
          <a:prstGeom prst="rect">
            <a:avLst/>
          </a:prstGeom>
          <a:noFill/>
          <a:ln w="12700">
            <a:noFill/>
            <a:miter lim="800000"/>
            <a:headEnd/>
            <a:tailEnd/>
          </a:ln>
          <a:effectLst/>
        </p:spPr>
        <p:txBody>
          <a:bodyPr wrap="none">
            <a:spAutoFit/>
          </a:bodyPr>
          <a:lstStyle/>
          <a:p>
            <a:pPr>
              <a:lnSpc>
                <a:spcPct val="115000"/>
              </a:lnSpc>
            </a:pPr>
            <a:r>
              <a:rPr lang="en-US">
                <a:solidFill>
                  <a:schemeClr val="tx1"/>
                </a:solidFill>
              </a:rPr>
              <a:t>00    Mem(1)</a:t>
            </a:r>
          </a:p>
        </p:txBody>
      </p:sp>
      <p:sp>
        <p:nvSpPr>
          <p:cNvPr id="1596536" name="Text Box 120"/>
          <p:cNvSpPr txBox="1">
            <a:spLocks noChangeArrowheads="1"/>
          </p:cNvSpPr>
          <p:nvPr/>
        </p:nvSpPr>
        <p:spPr bwMode="auto">
          <a:xfrm>
            <a:off x="4876800" y="2832100"/>
            <a:ext cx="1479550" cy="407988"/>
          </a:xfrm>
          <a:prstGeom prst="rect">
            <a:avLst/>
          </a:prstGeom>
          <a:noFill/>
          <a:ln w="12700">
            <a:noFill/>
            <a:miter lim="800000"/>
            <a:headEnd/>
            <a:tailEnd/>
          </a:ln>
          <a:effectLst/>
        </p:spPr>
        <p:txBody>
          <a:bodyPr wrap="none">
            <a:spAutoFit/>
          </a:bodyPr>
          <a:lstStyle/>
          <a:p>
            <a:pPr>
              <a:lnSpc>
                <a:spcPct val="115000"/>
              </a:lnSpc>
            </a:pPr>
            <a:r>
              <a:rPr lang="en-US">
                <a:solidFill>
                  <a:schemeClr val="tx1"/>
                </a:solidFill>
              </a:rPr>
              <a:t>00    Mem(2)</a:t>
            </a:r>
          </a:p>
        </p:txBody>
      </p:sp>
      <p:sp>
        <p:nvSpPr>
          <p:cNvPr id="1596537" name="Text Box 121"/>
          <p:cNvSpPr txBox="1">
            <a:spLocks noChangeArrowheads="1"/>
          </p:cNvSpPr>
          <p:nvPr/>
        </p:nvSpPr>
        <p:spPr bwMode="auto">
          <a:xfrm>
            <a:off x="6934200" y="3163888"/>
            <a:ext cx="1479550" cy="407987"/>
          </a:xfrm>
          <a:prstGeom prst="rect">
            <a:avLst/>
          </a:prstGeom>
          <a:noFill/>
          <a:ln w="12700">
            <a:noFill/>
            <a:miter lim="800000"/>
            <a:headEnd/>
            <a:tailEnd/>
          </a:ln>
          <a:effectLst/>
        </p:spPr>
        <p:txBody>
          <a:bodyPr wrap="none">
            <a:spAutoFit/>
          </a:bodyPr>
          <a:lstStyle/>
          <a:p>
            <a:pPr>
              <a:lnSpc>
                <a:spcPct val="115000"/>
              </a:lnSpc>
            </a:pPr>
            <a:r>
              <a:rPr lang="en-US">
                <a:solidFill>
                  <a:schemeClr val="tx1"/>
                </a:solidFill>
              </a:rPr>
              <a:t>00    Mem(3)</a:t>
            </a:r>
          </a:p>
        </p:txBody>
      </p:sp>
      <p:sp>
        <p:nvSpPr>
          <p:cNvPr id="1596538" name="Text Box 122"/>
          <p:cNvSpPr txBox="1">
            <a:spLocks noChangeArrowheads="1"/>
          </p:cNvSpPr>
          <p:nvPr/>
        </p:nvSpPr>
        <p:spPr bwMode="auto">
          <a:xfrm>
            <a:off x="457200" y="1143000"/>
            <a:ext cx="3429000" cy="581025"/>
          </a:xfrm>
          <a:prstGeom prst="rect">
            <a:avLst/>
          </a:prstGeom>
          <a:noFill/>
          <a:ln w="12700">
            <a:noFill/>
            <a:miter lim="800000"/>
            <a:headEnd/>
            <a:tailEnd/>
          </a:ln>
          <a:effectLst/>
        </p:spPr>
        <p:txBody>
          <a:bodyPr>
            <a:spAutoFit/>
          </a:bodyPr>
          <a:lstStyle/>
          <a:p>
            <a:r>
              <a:rPr lang="en-US" sz="1600">
                <a:solidFill>
                  <a:schemeClr val="tx1"/>
                </a:solidFill>
              </a:rPr>
              <a:t>Start with an empty cache - all blocks initially marked as not valid</a:t>
            </a:r>
          </a:p>
        </p:txBody>
      </p:sp>
      <p:sp>
        <p:nvSpPr>
          <p:cNvPr id="1596540" name="Rectangle 124"/>
          <p:cNvSpPr>
            <a:spLocks noChangeArrowheads="1"/>
          </p:cNvSpPr>
          <p:nvPr/>
        </p:nvSpPr>
        <p:spPr bwMode="auto">
          <a:xfrm>
            <a:off x="457200" y="5562600"/>
            <a:ext cx="8153400" cy="355600"/>
          </a:xfrm>
          <a:prstGeom prst="rect">
            <a:avLst/>
          </a:prstGeom>
          <a:noFill/>
          <a:ln w="12700">
            <a:noFill/>
            <a:miter lim="800000"/>
            <a:headEnd/>
            <a:tailEnd/>
          </a:ln>
          <a:effectLst/>
        </p:spPr>
        <p:txBody>
          <a:bodyPr lIns="63500" tIns="25400" rIns="63500" bIns="25400">
            <a:spAutoFit/>
          </a:bodyPr>
          <a:lstStyle/>
          <a:p>
            <a:pPr marL="741363" lvl="1" indent="-246063">
              <a:spcBef>
                <a:spcPct val="30000"/>
              </a:spcBef>
              <a:buClr>
                <a:schemeClr val="accent1"/>
              </a:buClr>
              <a:buSzPct val="75000"/>
              <a:buFont typeface="Monotype Sorts" pitchFamily="2" charset="2"/>
              <a:buChar char="l"/>
            </a:pPr>
            <a:r>
              <a:rPr lang="en-US" sz="2000">
                <a:solidFill>
                  <a:schemeClr val="tx1"/>
                </a:solidFill>
              </a:rPr>
              <a:t>8 requests, 6 misses</a:t>
            </a:r>
          </a:p>
        </p:txBody>
      </p:sp>
    </p:spTree>
    <p:extLst>
      <p:ext uri="{BB962C8B-B14F-4D97-AF65-F5344CB8AC3E}">
        <p14:creationId xmlns:p14="http://schemas.microsoft.com/office/powerpoint/2010/main" val="9229284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965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965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965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965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5965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9650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5965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5965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965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5965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59653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965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5965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965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15965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5965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159651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5965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59651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499"/>
                                          </p:stCondLst>
                                        </p:cTn>
                                        <p:tgtEl>
                                          <p:spTgt spid="1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5965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6508" grpId="0" autoUpdateAnimBg="0"/>
      <p:bldP spid="1596509" grpId="0"/>
      <p:bldP spid="1596510" grpId="0"/>
      <p:bldP spid="1596511" grpId="0"/>
      <p:bldP spid="1596512" grpId="0" autoUpdateAnimBg="0"/>
      <p:bldP spid="1596513" grpId="0" autoUpdateAnimBg="0"/>
      <p:bldP spid="1596514" grpId="0" autoUpdateAnimBg="0"/>
      <p:bldP spid="1596515" grpId="0" autoUpdateAnimBg="0"/>
      <p:bldP spid="1596516" grpId="0" autoUpdateAnimBg="0"/>
      <p:bldP spid="1596517" grpId="0" autoUpdateAnimBg="0"/>
      <p:bldP spid="1596518" grpId="0" autoUpdateAnimBg="0"/>
      <p:bldP spid="1596519" grpId="0" autoUpdateAnimBg="0"/>
      <p:bldP spid="1596520" grpId="0"/>
      <p:bldP spid="1596521" grpId="0"/>
      <p:bldP spid="1596522" grpId="0"/>
      <p:bldP spid="1596523" grpId="0"/>
      <p:bldP spid="1596535" grpId="0" autoUpdateAnimBg="0"/>
      <p:bldP spid="1596536" grpId="0" autoUpdateAnimBg="0"/>
      <p:bldP spid="1596537" grpId="0" autoUpdateAnimBg="0"/>
      <p:bldP spid="159654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4610" name="Rectangle 2"/>
          <p:cNvSpPr>
            <a:spLocks noChangeArrowheads="1"/>
          </p:cNvSpPr>
          <p:nvPr/>
        </p:nvSpPr>
        <p:spPr bwMode="auto">
          <a:xfrm>
            <a:off x="225425" y="312738"/>
            <a:ext cx="3168650" cy="477837"/>
          </a:xfrm>
          <a:prstGeom prst="rect">
            <a:avLst/>
          </a:prstGeom>
          <a:noFill/>
          <a:ln w="12700">
            <a:noFill/>
            <a:miter lim="800000"/>
            <a:headEnd/>
            <a:tailEnd/>
          </a:ln>
          <a:effectLst/>
        </p:spPr>
        <p:txBody>
          <a:bodyPr wrap="none" anchor="ctr"/>
          <a:lstStyle/>
          <a:p>
            <a:endParaRPr lang="en-US"/>
          </a:p>
        </p:txBody>
      </p:sp>
      <p:sp>
        <p:nvSpPr>
          <p:cNvPr id="1604611" name="Rectangle 3"/>
          <p:cNvSpPr>
            <a:spLocks noGrp="1" noChangeArrowheads="1"/>
          </p:cNvSpPr>
          <p:nvPr>
            <p:ph type="body" idx="1"/>
          </p:nvPr>
        </p:nvSpPr>
        <p:spPr>
          <a:xfrm>
            <a:off x="457200" y="762001"/>
            <a:ext cx="8077200" cy="680699"/>
          </a:xfrm>
          <a:noFill/>
          <a:ln/>
        </p:spPr>
        <p:txBody>
          <a:bodyPr lIns="90488" tIns="44450" rIns="90488" bIns="44450"/>
          <a:lstStyle/>
          <a:p>
            <a:pPr marL="342900" indent="-342900">
              <a:lnSpc>
                <a:spcPct val="80000"/>
              </a:lnSpc>
            </a:pPr>
            <a:r>
              <a:rPr lang="en-US" dirty="0"/>
              <a:t>One </a:t>
            </a:r>
            <a:r>
              <a:rPr lang="en-US" dirty="0" smtClean="0"/>
              <a:t>word blocks, </a:t>
            </a:r>
            <a:r>
              <a:rPr lang="en-US" dirty="0"/>
              <a:t>cache size = 1K </a:t>
            </a:r>
            <a:r>
              <a:rPr lang="en-US" dirty="0" smtClean="0"/>
              <a:t>words (or 4KB)</a:t>
            </a:r>
            <a:r>
              <a:rPr lang="en-US" dirty="0"/>
              <a:t/>
            </a:r>
            <a:br>
              <a:rPr lang="en-US" dirty="0"/>
            </a:br>
            <a:endParaRPr lang="en-US" i="1" dirty="0">
              <a:solidFill>
                <a:schemeClr val="accent1"/>
              </a:solidFill>
            </a:endParaRPr>
          </a:p>
        </p:txBody>
      </p:sp>
      <p:sp>
        <p:nvSpPr>
          <p:cNvPr id="1604612" name="Rectangle 4"/>
          <p:cNvSpPr>
            <a:spLocks noGrp="1" noChangeArrowheads="1"/>
          </p:cNvSpPr>
          <p:nvPr>
            <p:ph type="title"/>
          </p:nvPr>
        </p:nvSpPr>
        <p:spPr>
          <a:noFill/>
          <a:ln/>
        </p:spPr>
        <p:txBody>
          <a:bodyPr lIns="90488" tIns="44450" rIns="90488" bIns="44450" anchor="ctr"/>
          <a:lstStyle/>
          <a:p>
            <a:r>
              <a:rPr lang="en-US"/>
              <a:t>MIPS Direct Mapped Cache Example</a:t>
            </a:r>
          </a:p>
        </p:txBody>
      </p:sp>
      <p:grpSp>
        <p:nvGrpSpPr>
          <p:cNvPr id="2" name="Group 11"/>
          <p:cNvGrpSpPr>
            <a:grpSpLocks/>
          </p:cNvGrpSpPr>
          <p:nvPr/>
        </p:nvGrpSpPr>
        <p:grpSpPr bwMode="auto">
          <a:xfrm>
            <a:off x="2301902" y="1992330"/>
            <a:ext cx="2927350" cy="3408363"/>
            <a:chOff x="1056" y="1183"/>
            <a:chExt cx="1844" cy="2147"/>
          </a:xfrm>
        </p:grpSpPr>
        <p:sp>
          <p:nvSpPr>
            <p:cNvPr id="1604620" name="Freeform 12"/>
            <p:cNvSpPr>
              <a:spLocks/>
            </p:cNvSpPr>
            <p:nvPr/>
          </p:nvSpPr>
          <p:spPr bwMode="auto">
            <a:xfrm>
              <a:off x="2430" y="3165"/>
              <a:ext cx="249" cy="165"/>
            </a:xfrm>
            <a:custGeom>
              <a:avLst/>
              <a:gdLst/>
              <a:ahLst/>
              <a:cxnLst>
                <a:cxn ang="0">
                  <a:pos x="125" y="162"/>
                </a:cxn>
                <a:cxn ang="0">
                  <a:pos x="145" y="162"/>
                </a:cxn>
                <a:cxn ang="0">
                  <a:pos x="165" y="160"/>
                </a:cxn>
                <a:cxn ang="0">
                  <a:pos x="182" y="154"/>
                </a:cxn>
                <a:cxn ang="0">
                  <a:pos x="199" y="147"/>
                </a:cxn>
                <a:cxn ang="0">
                  <a:pos x="216" y="140"/>
                </a:cxn>
                <a:cxn ang="0">
                  <a:pos x="226" y="130"/>
                </a:cxn>
                <a:cxn ang="0">
                  <a:pos x="236" y="121"/>
                </a:cxn>
                <a:cxn ang="0">
                  <a:pos x="246" y="108"/>
                </a:cxn>
                <a:cxn ang="0">
                  <a:pos x="249" y="94"/>
                </a:cxn>
                <a:cxn ang="0">
                  <a:pos x="249" y="81"/>
                </a:cxn>
                <a:cxn ang="0">
                  <a:pos x="249" y="68"/>
                </a:cxn>
                <a:cxn ang="0">
                  <a:pos x="246" y="57"/>
                </a:cxn>
                <a:cxn ang="0">
                  <a:pos x="236" y="44"/>
                </a:cxn>
                <a:cxn ang="0">
                  <a:pos x="226" y="35"/>
                </a:cxn>
                <a:cxn ang="0">
                  <a:pos x="216" y="24"/>
                </a:cxn>
                <a:cxn ang="0">
                  <a:pos x="199" y="15"/>
                </a:cxn>
                <a:cxn ang="0">
                  <a:pos x="182" y="9"/>
                </a:cxn>
                <a:cxn ang="0">
                  <a:pos x="165" y="4"/>
                </a:cxn>
                <a:cxn ang="0">
                  <a:pos x="145" y="2"/>
                </a:cxn>
                <a:cxn ang="0">
                  <a:pos x="125" y="0"/>
                </a:cxn>
                <a:cxn ang="0">
                  <a:pos x="105" y="2"/>
                </a:cxn>
                <a:cxn ang="0">
                  <a:pos x="88" y="4"/>
                </a:cxn>
                <a:cxn ang="0">
                  <a:pos x="68" y="9"/>
                </a:cxn>
                <a:cxn ang="0">
                  <a:pos x="51" y="15"/>
                </a:cxn>
                <a:cxn ang="0">
                  <a:pos x="37" y="24"/>
                </a:cxn>
                <a:cxn ang="0">
                  <a:pos x="24" y="35"/>
                </a:cxn>
                <a:cxn ang="0">
                  <a:pos x="14" y="44"/>
                </a:cxn>
                <a:cxn ang="0">
                  <a:pos x="7" y="57"/>
                </a:cxn>
                <a:cxn ang="0">
                  <a:pos x="4" y="68"/>
                </a:cxn>
                <a:cxn ang="0">
                  <a:pos x="0" y="81"/>
                </a:cxn>
                <a:cxn ang="0">
                  <a:pos x="4" y="94"/>
                </a:cxn>
                <a:cxn ang="0">
                  <a:pos x="7" y="108"/>
                </a:cxn>
                <a:cxn ang="0">
                  <a:pos x="14" y="121"/>
                </a:cxn>
                <a:cxn ang="0">
                  <a:pos x="24" y="130"/>
                </a:cxn>
                <a:cxn ang="0">
                  <a:pos x="37" y="140"/>
                </a:cxn>
                <a:cxn ang="0">
                  <a:pos x="51" y="147"/>
                </a:cxn>
                <a:cxn ang="0">
                  <a:pos x="68" y="154"/>
                </a:cxn>
                <a:cxn ang="0">
                  <a:pos x="88" y="160"/>
                </a:cxn>
                <a:cxn ang="0">
                  <a:pos x="105" y="162"/>
                </a:cxn>
                <a:cxn ang="0">
                  <a:pos x="125" y="165"/>
                </a:cxn>
                <a:cxn ang="0">
                  <a:pos x="125" y="165"/>
                </a:cxn>
              </a:cxnLst>
              <a:rect l="0" t="0" r="r" b="b"/>
              <a:pathLst>
                <a:path w="249" h="165">
                  <a:moveTo>
                    <a:pt x="125" y="162"/>
                  </a:moveTo>
                  <a:lnTo>
                    <a:pt x="145" y="162"/>
                  </a:lnTo>
                  <a:lnTo>
                    <a:pt x="165" y="160"/>
                  </a:lnTo>
                  <a:lnTo>
                    <a:pt x="182" y="154"/>
                  </a:lnTo>
                  <a:lnTo>
                    <a:pt x="199" y="147"/>
                  </a:lnTo>
                  <a:lnTo>
                    <a:pt x="216" y="140"/>
                  </a:lnTo>
                  <a:lnTo>
                    <a:pt x="226" y="130"/>
                  </a:lnTo>
                  <a:lnTo>
                    <a:pt x="236" y="121"/>
                  </a:lnTo>
                  <a:lnTo>
                    <a:pt x="246" y="108"/>
                  </a:lnTo>
                  <a:lnTo>
                    <a:pt x="249" y="94"/>
                  </a:lnTo>
                  <a:lnTo>
                    <a:pt x="249" y="81"/>
                  </a:lnTo>
                  <a:lnTo>
                    <a:pt x="249" y="68"/>
                  </a:lnTo>
                  <a:lnTo>
                    <a:pt x="246" y="57"/>
                  </a:lnTo>
                  <a:lnTo>
                    <a:pt x="236" y="44"/>
                  </a:lnTo>
                  <a:lnTo>
                    <a:pt x="226" y="35"/>
                  </a:lnTo>
                  <a:lnTo>
                    <a:pt x="216" y="24"/>
                  </a:lnTo>
                  <a:lnTo>
                    <a:pt x="199" y="15"/>
                  </a:lnTo>
                  <a:lnTo>
                    <a:pt x="182" y="9"/>
                  </a:lnTo>
                  <a:lnTo>
                    <a:pt x="165" y="4"/>
                  </a:lnTo>
                  <a:lnTo>
                    <a:pt x="145" y="2"/>
                  </a:lnTo>
                  <a:lnTo>
                    <a:pt x="125" y="0"/>
                  </a:lnTo>
                  <a:lnTo>
                    <a:pt x="105" y="2"/>
                  </a:lnTo>
                  <a:lnTo>
                    <a:pt x="88" y="4"/>
                  </a:lnTo>
                  <a:lnTo>
                    <a:pt x="68" y="9"/>
                  </a:lnTo>
                  <a:lnTo>
                    <a:pt x="51" y="15"/>
                  </a:lnTo>
                  <a:lnTo>
                    <a:pt x="37" y="24"/>
                  </a:lnTo>
                  <a:lnTo>
                    <a:pt x="24" y="35"/>
                  </a:lnTo>
                  <a:lnTo>
                    <a:pt x="14" y="44"/>
                  </a:lnTo>
                  <a:lnTo>
                    <a:pt x="7" y="57"/>
                  </a:lnTo>
                  <a:lnTo>
                    <a:pt x="4" y="68"/>
                  </a:lnTo>
                  <a:lnTo>
                    <a:pt x="0" y="81"/>
                  </a:lnTo>
                  <a:lnTo>
                    <a:pt x="4" y="94"/>
                  </a:lnTo>
                  <a:lnTo>
                    <a:pt x="7" y="108"/>
                  </a:lnTo>
                  <a:lnTo>
                    <a:pt x="14" y="121"/>
                  </a:lnTo>
                  <a:lnTo>
                    <a:pt x="24" y="130"/>
                  </a:lnTo>
                  <a:lnTo>
                    <a:pt x="37" y="140"/>
                  </a:lnTo>
                  <a:lnTo>
                    <a:pt x="51" y="147"/>
                  </a:lnTo>
                  <a:lnTo>
                    <a:pt x="68" y="154"/>
                  </a:lnTo>
                  <a:lnTo>
                    <a:pt x="88" y="160"/>
                  </a:lnTo>
                  <a:lnTo>
                    <a:pt x="105" y="162"/>
                  </a:lnTo>
                  <a:lnTo>
                    <a:pt x="125" y="165"/>
                  </a:lnTo>
                  <a:lnTo>
                    <a:pt x="125" y="165"/>
                  </a:lnTo>
                </a:path>
              </a:pathLst>
            </a:custGeom>
            <a:noFill/>
            <a:ln w="20638">
              <a:solidFill>
                <a:srgbClr val="000000"/>
              </a:solidFill>
              <a:prstDash val="solid"/>
              <a:round/>
              <a:headEnd/>
              <a:tailEnd/>
            </a:ln>
          </p:spPr>
          <p:txBody>
            <a:bodyPr/>
            <a:lstStyle/>
            <a:p>
              <a:endParaRPr lang="en-US"/>
            </a:p>
          </p:txBody>
        </p:sp>
        <p:sp>
          <p:nvSpPr>
            <p:cNvPr id="1604621" name="Freeform 13"/>
            <p:cNvSpPr>
              <a:spLocks noEditPoints="1"/>
            </p:cNvSpPr>
            <p:nvPr/>
          </p:nvSpPr>
          <p:spPr bwMode="auto">
            <a:xfrm>
              <a:off x="2518" y="3237"/>
              <a:ext cx="74" cy="25"/>
            </a:xfrm>
            <a:custGeom>
              <a:avLst/>
              <a:gdLst/>
              <a:ahLst/>
              <a:cxnLst>
                <a:cxn ang="0">
                  <a:pos x="0" y="0"/>
                </a:cxn>
                <a:cxn ang="0">
                  <a:pos x="74" y="0"/>
                </a:cxn>
                <a:cxn ang="0">
                  <a:pos x="74" y="7"/>
                </a:cxn>
                <a:cxn ang="0">
                  <a:pos x="3" y="7"/>
                </a:cxn>
                <a:cxn ang="0">
                  <a:pos x="3" y="0"/>
                </a:cxn>
                <a:cxn ang="0">
                  <a:pos x="3" y="0"/>
                </a:cxn>
                <a:cxn ang="0">
                  <a:pos x="0" y="0"/>
                </a:cxn>
                <a:cxn ang="0">
                  <a:pos x="3" y="18"/>
                </a:cxn>
                <a:cxn ang="0">
                  <a:pos x="74" y="18"/>
                </a:cxn>
                <a:cxn ang="0">
                  <a:pos x="74" y="25"/>
                </a:cxn>
                <a:cxn ang="0">
                  <a:pos x="3" y="25"/>
                </a:cxn>
                <a:cxn ang="0">
                  <a:pos x="3" y="18"/>
                </a:cxn>
                <a:cxn ang="0">
                  <a:pos x="3" y="18"/>
                </a:cxn>
              </a:cxnLst>
              <a:rect l="0" t="0" r="r" b="b"/>
              <a:pathLst>
                <a:path w="74" h="25">
                  <a:moveTo>
                    <a:pt x="0" y="0"/>
                  </a:moveTo>
                  <a:lnTo>
                    <a:pt x="74" y="0"/>
                  </a:lnTo>
                  <a:lnTo>
                    <a:pt x="74" y="7"/>
                  </a:lnTo>
                  <a:lnTo>
                    <a:pt x="3" y="7"/>
                  </a:lnTo>
                  <a:lnTo>
                    <a:pt x="3" y="0"/>
                  </a:lnTo>
                  <a:lnTo>
                    <a:pt x="3" y="0"/>
                  </a:lnTo>
                  <a:lnTo>
                    <a:pt x="0" y="0"/>
                  </a:lnTo>
                  <a:close/>
                  <a:moveTo>
                    <a:pt x="3" y="18"/>
                  </a:moveTo>
                  <a:lnTo>
                    <a:pt x="74" y="18"/>
                  </a:lnTo>
                  <a:lnTo>
                    <a:pt x="74" y="25"/>
                  </a:lnTo>
                  <a:lnTo>
                    <a:pt x="3" y="25"/>
                  </a:lnTo>
                  <a:lnTo>
                    <a:pt x="3" y="18"/>
                  </a:lnTo>
                  <a:lnTo>
                    <a:pt x="3" y="18"/>
                  </a:lnTo>
                  <a:close/>
                </a:path>
              </a:pathLst>
            </a:custGeom>
            <a:solidFill>
              <a:srgbClr val="000000"/>
            </a:solidFill>
            <a:ln w="9525">
              <a:noFill/>
              <a:round/>
              <a:headEnd/>
              <a:tailEnd/>
            </a:ln>
          </p:spPr>
          <p:txBody>
            <a:bodyPr/>
            <a:lstStyle/>
            <a:p>
              <a:endParaRPr lang="en-US"/>
            </a:p>
          </p:txBody>
        </p:sp>
        <p:grpSp>
          <p:nvGrpSpPr>
            <p:cNvPr id="3" name="Group 14"/>
            <p:cNvGrpSpPr>
              <a:grpSpLocks/>
            </p:cNvGrpSpPr>
            <p:nvPr/>
          </p:nvGrpSpPr>
          <p:grpSpPr bwMode="auto">
            <a:xfrm>
              <a:off x="1056" y="1183"/>
              <a:ext cx="1844" cy="2070"/>
              <a:chOff x="1056" y="1183"/>
              <a:chExt cx="1844" cy="2070"/>
            </a:xfrm>
          </p:grpSpPr>
          <p:sp>
            <p:nvSpPr>
              <p:cNvPr id="1604623" name="Text Box 15"/>
              <p:cNvSpPr txBox="1">
                <a:spLocks noChangeArrowheads="1"/>
              </p:cNvSpPr>
              <p:nvPr/>
            </p:nvSpPr>
            <p:spPr bwMode="auto">
              <a:xfrm>
                <a:off x="2640" y="1200"/>
                <a:ext cx="260" cy="213"/>
              </a:xfrm>
              <a:prstGeom prst="rect">
                <a:avLst/>
              </a:prstGeom>
              <a:noFill/>
              <a:ln w="12700">
                <a:noFill/>
                <a:miter lim="800000"/>
                <a:headEnd/>
                <a:tailEnd/>
              </a:ln>
              <a:effectLst/>
            </p:spPr>
            <p:txBody>
              <a:bodyPr wrap="none">
                <a:spAutoFit/>
              </a:bodyPr>
              <a:lstStyle/>
              <a:p>
                <a:r>
                  <a:rPr lang="en-US" sz="1600" dirty="0">
                    <a:solidFill>
                      <a:schemeClr val="tx1"/>
                    </a:solidFill>
                  </a:rPr>
                  <a:t>20</a:t>
                </a:r>
              </a:p>
            </p:txBody>
          </p:sp>
          <p:grpSp>
            <p:nvGrpSpPr>
              <p:cNvPr id="4" name="Group 16"/>
              <p:cNvGrpSpPr>
                <a:grpSpLocks/>
              </p:cNvGrpSpPr>
              <p:nvPr/>
            </p:nvGrpSpPr>
            <p:grpSpPr bwMode="auto">
              <a:xfrm>
                <a:off x="1056" y="1183"/>
                <a:ext cx="1681" cy="2070"/>
                <a:chOff x="1056" y="1183"/>
                <a:chExt cx="1681" cy="2070"/>
              </a:xfrm>
            </p:grpSpPr>
            <p:sp>
              <p:nvSpPr>
                <p:cNvPr id="1604625" name="Line 17"/>
                <p:cNvSpPr>
                  <a:spLocks noChangeShapeType="1"/>
                </p:cNvSpPr>
                <p:nvPr/>
              </p:nvSpPr>
              <p:spPr bwMode="auto">
                <a:xfrm>
                  <a:off x="2592" y="1296"/>
                  <a:ext cx="145" cy="55"/>
                </a:xfrm>
                <a:prstGeom prst="line">
                  <a:avLst/>
                </a:prstGeom>
                <a:noFill/>
                <a:ln w="20638">
                  <a:solidFill>
                    <a:srgbClr val="000000"/>
                  </a:solidFill>
                  <a:round/>
                  <a:headEnd/>
                  <a:tailEnd/>
                </a:ln>
              </p:spPr>
              <p:txBody>
                <a:bodyPr/>
                <a:lstStyle/>
                <a:p>
                  <a:endParaRPr lang="en-US"/>
                </a:p>
              </p:txBody>
            </p:sp>
            <p:sp>
              <p:nvSpPr>
                <p:cNvPr id="1604626" name="Freeform 18"/>
                <p:cNvSpPr>
                  <a:spLocks/>
                </p:cNvSpPr>
                <p:nvPr/>
              </p:nvSpPr>
              <p:spPr bwMode="auto">
                <a:xfrm>
                  <a:off x="1056" y="1200"/>
                  <a:ext cx="1620" cy="2053"/>
                </a:xfrm>
                <a:custGeom>
                  <a:avLst/>
                  <a:gdLst/>
                  <a:ahLst/>
                  <a:cxnLst>
                    <a:cxn ang="0">
                      <a:pos x="1540" y="0"/>
                    </a:cxn>
                    <a:cxn ang="0">
                      <a:pos x="1544" y="220"/>
                    </a:cxn>
                    <a:cxn ang="0">
                      <a:pos x="0" y="220"/>
                    </a:cxn>
                    <a:cxn ang="0">
                      <a:pos x="0" y="2040"/>
                    </a:cxn>
                    <a:cxn ang="0">
                      <a:pos x="1328" y="2040"/>
                    </a:cxn>
                  </a:cxnLst>
                  <a:rect l="0" t="0" r="r" b="b"/>
                  <a:pathLst>
                    <a:path w="1544" h="2040">
                      <a:moveTo>
                        <a:pt x="1540" y="0"/>
                      </a:moveTo>
                      <a:lnTo>
                        <a:pt x="1544" y="220"/>
                      </a:lnTo>
                      <a:lnTo>
                        <a:pt x="0" y="220"/>
                      </a:lnTo>
                      <a:lnTo>
                        <a:pt x="0" y="2040"/>
                      </a:lnTo>
                      <a:lnTo>
                        <a:pt x="1328" y="2040"/>
                      </a:lnTo>
                    </a:path>
                  </a:pathLst>
                </a:custGeom>
                <a:noFill/>
                <a:ln w="38100">
                  <a:solidFill>
                    <a:srgbClr val="000000"/>
                  </a:solidFill>
                  <a:prstDash val="solid"/>
                  <a:round/>
                  <a:headEnd type="none" w="med" len="med"/>
                  <a:tailEnd type="triangle" w="med" len="med"/>
                </a:ln>
              </p:spPr>
              <p:txBody>
                <a:bodyPr/>
                <a:lstStyle/>
                <a:p>
                  <a:endParaRPr lang="en-US"/>
                </a:p>
              </p:txBody>
            </p:sp>
            <p:sp>
              <p:nvSpPr>
                <p:cNvPr id="1604627" name="Text Box 19"/>
                <p:cNvSpPr txBox="1">
                  <a:spLocks noChangeArrowheads="1"/>
                </p:cNvSpPr>
                <p:nvPr/>
              </p:nvSpPr>
              <p:spPr bwMode="auto">
                <a:xfrm>
                  <a:off x="1632" y="1183"/>
                  <a:ext cx="336" cy="212"/>
                </a:xfrm>
                <a:prstGeom prst="rect">
                  <a:avLst/>
                </a:prstGeom>
                <a:noFill/>
                <a:ln w="12700">
                  <a:noFill/>
                  <a:miter lim="800000"/>
                  <a:headEnd/>
                  <a:tailEnd/>
                </a:ln>
                <a:effectLst/>
              </p:spPr>
              <p:txBody>
                <a:bodyPr wrap="none">
                  <a:spAutoFit/>
                </a:bodyPr>
                <a:lstStyle/>
                <a:p>
                  <a:r>
                    <a:rPr lang="en-US" sz="1600">
                      <a:solidFill>
                        <a:schemeClr val="tx1"/>
                      </a:solidFill>
                    </a:rPr>
                    <a:t>Tag</a:t>
                  </a:r>
                </a:p>
              </p:txBody>
            </p:sp>
          </p:grpSp>
        </p:grpSp>
      </p:grpSp>
      <p:grpSp>
        <p:nvGrpSpPr>
          <p:cNvPr id="5" name="Group 20"/>
          <p:cNvGrpSpPr>
            <a:grpSpLocks/>
          </p:cNvGrpSpPr>
          <p:nvPr/>
        </p:nvGrpSpPr>
        <p:grpSpPr bwMode="auto">
          <a:xfrm>
            <a:off x="2652740" y="2028843"/>
            <a:ext cx="3671887" cy="1811337"/>
            <a:chOff x="1277" y="1206"/>
            <a:chExt cx="2313" cy="1141"/>
          </a:xfrm>
        </p:grpSpPr>
        <p:sp>
          <p:nvSpPr>
            <p:cNvPr id="1604629" name="Line 21"/>
            <p:cNvSpPr>
              <a:spLocks noChangeShapeType="1"/>
            </p:cNvSpPr>
            <p:nvPr/>
          </p:nvSpPr>
          <p:spPr bwMode="auto">
            <a:xfrm>
              <a:off x="3282" y="1291"/>
              <a:ext cx="148" cy="57"/>
            </a:xfrm>
            <a:prstGeom prst="line">
              <a:avLst/>
            </a:prstGeom>
            <a:noFill/>
            <a:ln w="20638">
              <a:solidFill>
                <a:srgbClr val="000000"/>
              </a:solidFill>
              <a:round/>
              <a:headEnd/>
              <a:tailEnd/>
            </a:ln>
          </p:spPr>
          <p:txBody>
            <a:bodyPr/>
            <a:lstStyle/>
            <a:p>
              <a:endParaRPr lang="en-US"/>
            </a:p>
          </p:txBody>
        </p:sp>
        <p:sp>
          <p:nvSpPr>
            <p:cNvPr id="1604630" name="Freeform 22"/>
            <p:cNvSpPr>
              <a:spLocks/>
            </p:cNvSpPr>
            <p:nvPr/>
          </p:nvSpPr>
          <p:spPr bwMode="auto">
            <a:xfrm>
              <a:off x="1277" y="1206"/>
              <a:ext cx="2053" cy="1141"/>
            </a:xfrm>
            <a:custGeom>
              <a:avLst/>
              <a:gdLst/>
              <a:ahLst/>
              <a:cxnLst>
                <a:cxn ang="0">
                  <a:pos x="1974" y="0"/>
                </a:cxn>
                <a:cxn ang="0">
                  <a:pos x="1974" y="358"/>
                </a:cxn>
                <a:cxn ang="0">
                  <a:pos x="0" y="358"/>
                </a:cxn>
                <a:cxn ang="0">
                  <a:pos x="0" y="1110"/>
                </a:cxn>
                <a:cxn ang="0">
                  <a:pos x="884" y="1110"/>
                </a:cxn>
              </a:cxnLst>
              <a:rect l="0" t="0" r="r" b="b"/>
              <a:pathLst>
                <a:path w="1974" h="1110">
                  <a:moveTo>
                    <a:pt x="1974" y="0"/>
                  </a:moveTo>
                  <a:lnTo>
                    <a:pt x="1974" y="358"/>
                  </a:lnTo>
                  <a:lnTo>
                    <a:pt x="0" y="358"/>
                  </a:lnTo>
                  <a:lnTo>
                    <a:pt x="0" y="1110"/>
                  </a:lnTo>
                  <a:lnTo>
                    <a:pt x="884" y="1110"/>
                  </a:lnTo>
                </a:path>
              </a:pathLst>
            </a:custGeom>
            <a:noFill/>
            <a:ln w="38100">
              <a:solidFill>
                <a:srgbClr val="000000"/>
              </a:solidFill>
              <a:prstDash val="solid"/>
              <a:round/>
              <a:headEnd type="none" w="med" len="med"/>
              <a:tailEnd type="triangle" w="med" len="med"/>
            </a:ln>
          </p:spPr>
          <p:txBody>
            <a:bodyPr/>
            <a:lstStyle/>
            <a:p>
              <a:endParaRPr lang="en-US"/>
            </a:p>
          </p:txBody>
        </p:sp>
        <p:sp>
          <p:nvSpPr>
            <p:cNvPr id="1604631" name="Text Box 23"/>
            <p:cNvSpPr txBox="1">
              <a:spLocks noChangeArrowheads="1"/>
            </p:cNvSpPr>
            <p:nvPr/>
          </p:nvSpPr>
          <p:spPr bwMode="auto">
            <a:xfrm>
              <a:off x="3330" y="1243"/>
              <a:ext cx="260" cy="213"/>
            </a:xfrm>
            <a:prstGeom prst="rect">
              <a:avLst/>
            </a:prstGeom>
            <a:noFill/>
            <a:ln w="12700">
              <a:noFill/>
              <a:miter lim="800000"/>
              <a:headEnd/>
              <a:tailEnd/>
            </a:ln>
            <a:effectLst/>
          </p:spPr>
          <p:txBody>
            <a:bodyPr wrap="none">
              <a:spAutoFit/>
            </a:bodyPr>
            <a:lstStyle/>
            <a:p>
              <a:r>
                <a:rPr lang="en-US" sz="1600" dirty="0">
                  <a:solidFill>
                    <a:schemeClr val="tx1"/>
                  </a:solidFill>
                </a:rPr>
                <a:t>10</a:t>
              </a:r>
            </a:p>
          </p:txBody>
        </p:sp>
        <p:sp>
          <p:nvSpPr>
            <p:cNvPr id="1604632" name="Text Box 24"/>
            <p:cNvSpPr txBox="1">
              <a:spLocks noChangeArrowheads="1"/>
            </p:cNvSpPr>
            <p:nvPr/>
          </p:nvSpPr>
          <p:spPr bwMode="auto">
            <a:xfrm>
              <a:off x="2754" y="1370"/>
              <a:ext cx="429" cy="212"/>
            </a:xfrm>
            <a:prstGeom prst="rect">
              <a:avLst/>
            </a:prstGeom>
            <a:noFill/>
            <a:ln w="12700">
              <a:noFill/>
              <a:miter lim="800000"/>
              <a:headEnd/>
              <a:tailEnd/>
            </a:ln>
            <a:effectLst/>
          </p:spPr>
          <p:txBody>
            <a:bodyPr wrap="none">
              <a:spAutoFit/>
            </a:bodyPr>
            <a:lstStyle/>
            <a:p>
              <a:r>
                <a:rPr lang="en-US" sz="1600">
                  <a:solidFill>
                    <a:schemeClr val="tx1"/>
                  </a:solidFill>
                </a:rPr>
                <a:t>Index</a:t>
              </a:r>
            </a:p>
          </p:txBody>
        </p:sp>
      </p:grpSp>
      <p:grpSp>
        <p:nvGrpSpPr>
          <p:cNvPr id="6" name="Group 25"/>
          <p:cNvGrpSpPr>
            <a:grpSpLocks/>
          </p:cNvGrpSpPr>
          <p:nvPr/>
        </p:nvGrpSpPr>
        <p:grpSpPr bwMode="auto">
          <a:xfrm>
            <a:off x="3244877" y="2697180"/>
            <a:ext cx="4267200" cy="2135188"/>
            <a:chOff x="1650" y="1627"/>
            <a:chExt cx="2688" cy="1345"/>
          </a:xfrm>
        </p:grpSpPr>
        <p:sp>
          <p:nvSpPr>
            <p:cNvPr id="1604634" name="Freeform 26"/>
            <p:cNvSpPr>
              <a:spLocks/>
            </p:cNvSpPr>
            <p:nvPr/>
          </p:nvSpPr>
          <p:spPr bwMode="auto">
            <a:xfrm>
              <a:off x="2208" y="1824"/>
              <a:ext cx="2130" cy="1103"/>
            </a:xfrm>
            <a:custGeom>
              <a:avLst/>
              <a:gdLst/>
              <a:ahLst/>
              <a:cxnLst>
                <a:cxn ang="0">
                  <a:pos x="1608" y="1101"/>
                </a:cxn>
                <a:cxn ang="0">
                  <a:pos x="1608" y="0"/>
                </a:cxn>
                <a:cxn ang="0">
                  <a:pos x="0" y="0"/>
                </a:cxn>
                <a:cxn ang="0">
                  <a:pos x="0" y="1103"/>
                </a:cxn>
                <a:cxn ang="0">
                  <a:pos x="1608" y="1103"/>
                </a:cxn>
                <a:cxn ang="0">
                  <a:pos x="1608" y="1103"/>
                </a:cxn>
              </a:cxnLst>
              <a:rect l="0" t="0" r="r" b="b"/>
              <a:pathLst>
                <a:path w="1608" h="1103">
                  <a:moveTo>
                    <a:pt x="1608" y="1101"/>
                  </a:moveTo>
                  <a:lnTo>
                    <a:pt x="1608" y="0"/>
                  </a:lnTo>
                  <a:lnTo>
                    <a:pt x="0" y="0"/>
                  </a:lnTo>
                  <a:lnTo>
                    <a:pt x="0" y="1103"/>
                  </a:lnTo>
                  <a:lnTo>
                    <a:pt x="1608" y="1103"/>
                  </a:lnTo>
                  <a:lnTo>
                    <a:pt x="1608" y="1103"/>
                  </a:lnTo>
                </a:path>
              </a:pathLst>
            </a:custGeom>
            <a:noFill/>
            <a:ln w="20638">
              <a:solidFill>
                <a:srgbClr val="000000"/>
              </a:solidFill>
              <a:prstDash val="solid"/>
              <a:round/>
              <a:headEnd/>
              <a:tailEnd/>
            </a:ln>
          </p:spPr>
          <p:txBody>
            <a:bodyPr/>
            <a:lstStyle/>
            <a:p>
              <a:endParaRPr lang="en-US"/>
            </a:p>
          </p:txBody>
        </p:sp>
        <p:sp>
          <p:nvSpPr>
            <p:cNvPr id="1604635" name="Freeform 27"/>
            <p:cNvSpPr>
              <a:spLocks/>
            </p:cNvSpPr>
            <p:nvPr/>
          </p:nvSpPr>
          <p:spPr bwMode="auto">
            <a:xfrm>
              <a:off x="2208" y="2263"/>
              <a:ext cx="2130" cy="110"/>
            </a:xfrm>
            <a:custGeom>
              <a:avLst/>
              <a:gdLst/>
              <a:ahLst/>
              <a:cxnLst>
                <a:cxn ang="0">
                  <a:pos x="1608" y="110"/>
                </a:cxn>
                <a:cxn ang="0">
                  <a:pos x="1608" y="0"/>
                </a:cxn>
                <a:cxn ang="0">
                  <a:pos x="0" y="0"/>
                </a:cxn>
                <a:cxn ang="0">
                  <a:pos x="0" y="110"/>
                </a:cxn>
                <a:cxn ang="0">
                  <a:pos x="1608" y="110"/>
                </a:cxn>
                <a:cxn ang="0">
                  <a:pos x="1608" y="110"/>
                </a:cxn>
              </a:cxnLst>
              <a:rect l="0" t="0" r="r" b="b"/>
              <a:pathLst>
                <a:path w="1608" h="110">
                  <a:moveTo>
                    <a:pt x="1608" y="110"/>
                  </a:moveTo>
                  <a:lnTo>
                    <a:pt x="1608" y="0"/>
                  </a:lnTo>
                  <a:lnTo>
                    <a:pt x="0" y="0"/>
                  </a:lnTo>
                  <a:lnTo>
                    <a:pt x="0" y="110"/>
                  </a:lnTo>
                  <a:lnTo>
                    <a:pt x="1608" y="110"/>
                  </a:lnTo>
                  <a:lnTo>
                    <a:pt x="1608" y="110"/>
                  </a:lnTo>
                  <a:close/>
                </a:path>
              </a:pathLst>
            </a:custGeom>
            <a:solidFill>
              <a:schemeClr val="hlink"/>
            </a:solidFill>
            <a:ln w="9525">
              <a:solidFill>
                <a:schemeClr val="hlink"/>
              </a:solidFill>
              <a:round/>
              <a:headEnd/>
              <a:tailEnd/>
            </a:ln>
          </p:spPr>
          <p:txBody>
            <a:bodyPr/>
            <a:lstStyle/>
            <a:p>
              <a:endParaRPr lang="en-US"/>
            </a:p>
          </p:txBody>
        </p:sp>
        <p:sp>
          <p:nvSpPr>
            <p:cNvPr id="1604636" name="Freeform 28"/>
            <p:cNvSpPr>
              <a:spLocks/>
            </p:cNvSpPr>
            <p:nvPr/>
          </p:nvSpPr>
          <p:spPr bwMode="auto">
            <a:xfrm>
              <a:off x="2208" y="2263"/>
              <a:ext cx="2130" cy="110"/>
            </a:xfrm>
            <a:custGeom>
              <a:avLst/>
              <a:gdLst/>
              <a:ahLst/>
              <a:cxnLst>
                <a:cxn ang="0">
                  <a:pos x="1608" y="110"/>
                </a:cxn>
                <a:cxn ang="0">
                  <a:pos x="1608" y="0"/>
                </a:cxn>
                <a:cxn ang="0">
                  <a:pos x="0" y="0"/>
                </a:cxn>
                <a:cxn ang="0">
                  <a:pos x="0" y="110"/>
                </a:cxn>
                <a:cxn ang="0">
                  <a:pos x="1608" y="110"/>
                </a:cxn>
                <a:cxn ang="0">
                  <a:pos x="1608" y="110"/>
                </a:cxn>
              </a:cxnLst>
              <a:rect l="0" t="0" r="r" b="b"/>
              <a:pathLst>
                <a:path w="1608" h="110">
                  <a:moveTo>
                    <a:pt x="1608" y="110"/>
                  </a:moveTo>
                  <a:lnTo>
                    <a:pt x="1608" y="0"/>
                  </a:lnTo>
                  <a:lnTo>
                    <a:pt x="0" y="0"/>
                  </a:lnTo>
                  <a:lnTo>
                    <a:pt x="0" y="110"/>
                  </a:lnTo>
                  <a:lnTo>
                    <a:pt x="1608" y="110"/>
                  </a:lnTo>
                  <a:lnTo>
                    <a:pt x="1608" y="110"/>
                  </a:lnTo>
                </a:path>
              </a:pathLst>
            </a:custGeom>
            <a:noFill/>
            <a:ln w="20638">
              <a:solidFill>
                <a:srgbClr val="000000"/>
              </a:solidFill>
              <a:prstDash val="solid"/>
              <a:round/>
              <a:headEnd/>
              <a:tailEnd/>
            </a:ln>
          </p:spPr>
          <p:txBody>
            <a:bodyPr/>
            <a:lstStyle/>
            <a:p>
              <a:endParaRPr lang="en-US"/>
            </a:p>
          </p:txBody>
        </p:sp>
        <p:sp>
          <p:nvSpPr>
            <p:cNvPr id="1604637" name="Line 29"/>
            <p:cNvSpPr>
              <a:spLocks noChangeShapeType="1"/>
            </p:cNvSpPr>
            <p:nvPr/>
          </p:nvSpPr>
          <p:spPr bwMode="auto">
            <a:xfrm flipH="1">
              <a:off x="2208" y="1920"/>
              <a:ext cx="2130" cy="2"/>
            </a:xfrm>
            <a:prstGeom prst="line">
              <a:avLst/>
            </a:prstGeom>
            <a:noFill/>
            <a:ln w="20638">
              <a:solidFill>
                <a:srgbClr val="000000"/>
              </a:solidFill>
              <a:round/>
              <a:headEnd/>
              <a:tailEnd/>
            </a:ln>
          </p:spPr>
          <p:txBody>
            <a:bodyPr/>
            <a:lstStyle/>
            <a:p>
              <a:endParaRPr lang="en-US"/>
            </a:p>
          </p:txBody>
        </p:sp>
        <p:sp>
          <p:nvSpPr>
            <p:cNvPr id="1604638" name="Line 30"/>
            <p:cNvSpPr>
              <a:spLocks noChangeShapeType="1"/>
            </p:cNvSpPr>
            <p:nvPr/>
          </p:nvSpPr>
          <p:spPr bwMode="auto">
            <a:xfrm flipH="1">
              <a:off x="2208" y="2044"/>
              <a:ext cx="2130" cy="2"/>
            </a:xfrm>
            <a:prstGeom prst="line">
              <a:avLst/>
            </a:prstGeom>
            <a:noFill/>
            <a:ln w="20638">
              <a:solidFill>
                <a:srgbClr val="000000"/>
              </a:solidFill>
              <a:round/>
              <a:headEnd/>
              <a:tailEnd/>
            </a:ln>
          </p:spPr>
          <p:txBody>
            <a:bodyPr/>
            <a:lstStyle/>
            <a:p>
              <a:endParaRPr lang="en-US"/>
            </a:p>
          </p:txBody>
        </p:sp>
        <p:sp>
          <p:nvSpPr>
            <p:cNvPr id="1604639" name="Line 31"/>
            <p:cNvSpPr>
              <a:spLocks noChangeShapeType="1"/>
            </p:cNvSpPr>
            <p:nvPr/>
          </p:nvSpPr>
          <p:spPr bwMode="auto">
            <a:xfrm flipH="1">
              <a:off x="2208" y="2154"/>
              <a:ext cx="2130" cy="1"/>
            </a:xfrm>
            <a:prstGeom prst="line">
              <a:avLst/>
            </a:prstGeom>
            <a:noFill/>
            <a:ln w="20638">
              <a:solidFill>
                <a:srgbClr val="000000"/>
              </a:solidFill>
              <a:round/>
              <a:headEnd/>
              <a:tailEnd/>
            </a:ln>
          </p:spPr>
          <p:txBody>
            <a:bodyPr/>
            <a:lstStyle/>
            <a:p>
              <a:endParaRPr lang="en-US"/>
            </a:p>
          </p:txBody>
        </p:sp>
        <p:sp>
          <p:nvSpPr>
            <p:cNvPr id="1604640" name="Line 32"/>
            <p:cNvSpPr>
              <a:spLocks noChangeShapeType="1"/>
            </p:cNvSpPr>
            <p:nvPr/>
          </p:nvSpPr>
          <p:spPr bwMode="auto">
            <a:xfrm flipH="1">
              <a:off x="2208" y="2373"/>
              <a:ext cx="2130" cy="1"/>
            </a:xfrm>
            <a:prstGeom prst="line">
              <a:avLst/>
            </a:prstGeom>
            <a:noFill/>
            <a:ln w="20638">
              <a:solidFill>
                <a:srgbClr val="000000"/>
              </a:solidFill>
              <a:round/>
              <a:headEnd/>
              <a:tailEnd/>
            </a:ln>
          </p:spPr>
          <p:txBody>
            <a:bodyPr/>
            <a:lstStyle/>
            <a:p>
              <a:endParaRPr lang="en-US"/>
            </a:p>
          </p:txBody>
        </p:sp>
        <p:sp>
          <p:nvSpPr>
            <p:cNvPr id="1604641" name="Line 33"/>
            <p:cNvSpPr>
              <a:spLocks noChangeShapeType="1"/>
            </p:cNvSpPr>
            <p:nvPr/>
          </p:nvSpPr>
          <p:spPr bwMode="auto">
            <a:xfrm flipH="1">
              <a:off x="2208" y="2483"/>
              <a:ext cx="2130" cy="1"/>
            </a:xfrm>
            <a:prstGeom prst="line">
              <a:avLst/>
            </a:prstGeom>
            <a:noFill/>
            <a:ln w="20638">
              <a:solidFill>
                <a:srgbClr val="000000"/>
              </a:solidFill>
              <a:round/>
              <a:headEnd/>
              <a:tailEnd/>
            </a:ln>
          </p:spPr>
          <p:txBody>
            <a:bodyPr/>
            <a:lstStyle/>
            <a:p>
              <a:endParaRPr lang="en-US"/>
            </a:p>
          </p:txBody>
        </p:sp>
        <p:sp>
          <p:nvSpPr>
            <p:cNvPr id="1604642" name="Line 34"/>
            <p:cNvSpPr>
              <a:spLocks noChangeShapeType="1"/>
            </p:cNvSpPr>
            <p:nvPr/>
          </p:nvSpPr>
          <p:spPr bwMode="auto">
            <a:xfrm flipH="1">
              <a:off x="2208" y="2593"/>
              <a:ext cx="2130" cy="1"/>
            </a:xfrm>
            <a:prstGeom prst="line">
              <a:avLst/>
            </a:prstGeom>
            <a:noFill/>
            <a:ln w="20638">
              <a:solidFill>
                <a:srgbClr val="000000"/>
              </a:solidFill>
              <a:round/>
              <a:headEnd/>
              <a:tailEnd/>
            </a:ln>
          </p:spPr>
          <p:txBody>
            <a:bodyPr/>
            <a:lstStyle/>
            <a:p>
              <a:endParaRPr lang="en-US"/>
            </a:p>
          </p:txBody>
        </p:sp>
        <p:sp>
          <p:nvSpPr>
            <p:cNvPr id="1604643" name="Line 35"/>
            <p:cNvSpPr>
              <a:spLocks noChangeShapeType="1"/>
            </p:cNvSpPr>
            <p:nvPr/>
          </p:nvSpPr>
          <p:spPr bwMode="auto">
            <a:xfrm flipH="1">
              <a:off x="2208" y="2703"/>
              <a:ext cx="2130" cy="1"/>
            </a:xfrm>
            <a:prstGeom prst="line">
              <a:avLst/>
            </a:prstGeom>
            <a:noFill/>
            <a:ln w="20638">
              <a:solidFill>
                <a:srgbClr val="000000"/>
              </a:solidFill>
              <a:round/>
              <a:headEnd/>
              <a:tailEnd/>
            </a:ln>
          </p:spPr>
          <p:txBody>
            <a:bodyPr/>
            <a:lstStyle/>
            <a:p>
              <a:endParaRPr lang="en-US"/>
            </a:p>
          </p:txBody>
        </p:sp>
        <p:sp>
          <p:nvSpPr>
            <p:cNvPr id="1604644" name="Line 36"/>
            <p:cNvSpPr>
              <a:spLocks noChangeShapeType="1"/>
            </p:cNvSpPr>
            <p:nvPr/>
          </p:nvSpPr>
          <p:spPr bwMode="auto">
            <a:xfrm flipH="1">
              <a:off x="2208" y="2813"/>
              <a:ext cx="2130" cy="1"/>
            </a:xfrm>
            <a:prstGeom prst="line">
              <a:avLst/>
            </a:prstGeom>
            <a:noFill/>
            <a:ln w="20638">
              <a:solidFill>
                <a:srgbClr val="000000"/>
              </a:solidFill>
              <a:round/>
              <a:headEnd/>
              <a:tailEnd/>
            </a:ln>
          </p:spPr>
          <p:txBody>
            <a:bodyPr/>
            <a:lstStyle/>
            <a:p>
              <a:endParaRPr lang="en-US"/>
            </a:p>
          </p:txBody>
        </p:sp>
        <p:sp>
          <p:nvSpPr>
            <p:cNvPr id="1604645" name="Line 37"/>
            <p:cNvSpPr>
              <a:spLocks noChangeShapeType="1"/>
            </p:cNvSpPr>
            <p:nvPr/>
          </p:nvSpPr>
          <p:spPr bwMode="auto">
            <a:xfrm>
              <a:off x="2299" y="1830"/>
              <a:ext cx="5" cy="1100"/>
            </a:xfrm>
            <a:prstGeom prst="line">
              <a:avLst/>
            </a:prstGeom>
            <a:noFill/>
            <a:ln w="20638">
              <a:solidFill>
                <a:srgbClr val="000000"/>
              </a:solidFill>
              <a:round/>
              <a:headEnd/>
              <a:tailEnd/>
            </a:ln>
          </p:spPr>
          <p:txBody>
            <a:bodyPr/>
            <a:lstStyle/>
            <a:p>
              <a:endParaRPr lang="en-US"/>
            </a:p>
          </p:txBody>
        </p:sp>
        <p:sp>
          <p:nvSpPr>
            <p:cNvPr id="1604646" name="Line 38"/>
            <p:cNvSpPr>
              <a:spLocks noChangeShapeType="1"/>
            </p:cNvSpPr>
            <p:nvPr/>
          </p:nvSpPr>
          <p:spPr bwMode="auto">
            <a:xfrm>
              <a:off x="3186" y="1819"/>
              <a:ext cx="1" cy="1106"/>
            </a:xfrm>
            <a:prstGeom prst="line">
              <a:avLst/>
            </a:prstGeom>
            <a:noFill/>
            <a:ln w="20638">
              <a:solidFill>
                <a:srgbClr val="000000"/>
              </a:solidFill>
              <a:round/>
              <a:headEnd/>
              <a:tailEnd/>
            </a:ln>
          </p:spPr>
          <p:txBody>
            <a:bodyPr/>
            <a:lstStyle/>
            <a:p>
              <a:endParaRPr lang="en-US"/>
            </a:p>
          </p:txBody>
        </p:sp>
        <p:sp>
          <p:nvSpPr>
            <p:cNvPr id="1604647" name="Text Box 39"/>
            <p:cNvSpPr txBox="1">
              <a:spLocks noChangeArrowheads="1"/>
            </p:cNvSpPr>
            <p:nvPr/>
          </p:nvSpPr>
          <p:spPr bwMode="auto">
            <a:xfrm>
              <a:off x="3522" y="1627"/>
              <a:ext cx="352" cy="192"/>
            </a:xfrm>
            <a:prstGeom prst="rect">
              <a:avLst/>
            </a:prstGeom>
            <a:noFill/>
            <a:ln w="12700">
              <a:noFill/>
              <a:miter lim="800000"/>
              <a:headEnd/>
              <a:tailEnd/>
            </a:ln>
            <a:effectLst/>
          </p:spPr>
          <p:txBody>
            <a:bodyPr wrap="none">
              <a:spAutoFit/>
            </a:bodyPr>
            <a:lstStyle/>
            <a:p>
              <a:r>
                <a:rPr lang="en-US" sz="1400">
                  <a:solidFill>
                    <a:schemeClr val="tx1"/>
                  </a:solidFill>
                </a:rPr>
                <a:t>Data</a:t>
              </a:r>
            </a:p>
          </p:txBody>
        </p:sp>
        <p:sp>
          <p:nvSpPr>
            <p:cNvPr id="1604648" name="Text Box 40"/>
            <p:cNvSpPr txBox="1">
              <a:spLocks noChangeArrowheads="1"/>
            </p:cNvSpPr>
            <p:nvPr/>
          </p:nvSpPr>
          <p:spPr bwMode="auto">
            <a:xfrm>
              <a:off x="1650" y="1627"/>
              <a:ext cx="451" cy="192"/>
            </a:xfrm>
            <a:prstGeom prst="rect">
              <a:avLst/>
            </a:prstGeom>
            <a:noFill/>
            <a:ln w="12700">
              <a:noFill/>
              <a:miter lim="800000"/>
              <a:headEnd/>
              <a:tailEnd/>
            </a:ln>
            <a:effectLst/>
          </p:spPr>
          <p:txBody>
            <a:bodyPr wrap="none">
              <a:spAutoFit/>
            </a:bodyPr>
            <a:lstStyle/>
            <a:p>
              <a:r>
                <a:rPr lang="en-US" sz="1400">
                  <a:solidFill>
                    <a:schemeClr val="tx1"/>
                  </a:solidFill>
                </a:rPr>
                <a:t>  Index</a:t>
              </a:r>
            </a:p>
          </p:txBody>
        </p:sp>
        <p:sp>
          <p:nvSpPr>
            <p:cNvPr id="1604649" name="Text Box 41"/>
            <p:cNvSpPr txBox="1">
              <a:spLocks noChangeArrowheads="1"/>
            </p:cNvSpPr>
            <p:nvPr/>
          </p:nvSpPr>
          <p:spPr bwMode="auto">
            <a:xfrm>
              <a:off x="2466" y="1627"/>
              <a:ext cx="308" cy="192"/>
            </a:xfrm>
            <a:prstGeom prst="rect">
              <a:avLst/>
            </a:prstGeom>
            <a:noFill/>
            <a:ln w="12700">
              <a:noFill/>
              <a:miter lim="800000"/>
              <a:headEnd/>
              <a:tailEnd/>
            </a:ln>
            <a:effectLst/>
          </p:spPr>
          <p:txBody>
            <a:bodyPr wrap="none">
              <a:spAutoFit/>
            </a:bodyPr>
            <a:lstStyle/>
            <a:p>
              <a:r>
                <a:rPr lang="en-US" sz="1400">
                  <a:solidFill>
                    <a:schemeClr val="tx1"/>
                  </a:solidFill>
                </a:rPr>
                <a:t>Tag</a:t>
              </a:r>
            </a:p>
          </p:txBody>
        </p:sp>
        <p:sp>
          <p:nvSpPr>
            <p:cNvPr id="1604650" name="Text Box 42"/>
            <p:cNvSpPr txBox="1">
              <a:spLocks noChangeArrowheads="1"/>
            </p:cNvSpPr>
            <p:nvPr/>
          </p:nvSpPr>
          <p:spPr bwMode="auto">
            <a:xfrm>
              <a:off x="2034" y="1627"/>
              <a:ext cx="365" cy="192"/>
            </a:xfrm>
            <a:prstGeom prst="rect">
              <a:avLst/>
            </a:prstGeom>
            <a:noFill/>
            <a:ln w="12700">
              <a:noFill/>
              <a:miter lim="800000"/>
              <a:headEnd/>
              <a:tailEnd/>
            </a:ln>
            <a:effectLst/>
          </p:spPr>
          <p:txBody>
            <a:bodyPr wrap="none">
              <a:spAutoFit/>
            </a:bodyPr>
            <a:lstStyle/>
            <a:p>
              <a:r>
                <a:rPr lang="en-US" sz="1400">
                  <a:solidFill>
                    <a:schemeClr val="tx1"/>
                  </a:solidFill>
                </a:rPr>
                <a:t>Valid</a:t>
              </a:r>
            </a:p>
          </p:txBody>
        </p:sp>
        <p:sp>
          <p:nvSpPr>
            <p:cNvPr id="1604651" name="Text Box 43"/>
            <p:cNvSpPr txBox="1">
              <a:spLocks noChangeArrowheads="1"/>
            </p:cNvSpPr>
            <p:nvPr/>
          </p:nvSpPr>
          <p:spPr bwMode="auto">
            <a:xfrm>
              <a:off x="1746" y="1771"/>
              <a:ext cx="328" cy="1201"/>
            </a:xfrm>
            <a:prstGeom prst="rect">
              <a:avLst/>
            </a:prstGeom>
            <a:noFill/>
            <a:ln w="12700">
              <a:noFill/>
              <a:miter lim="800000"/>
              <a:headEnd/>
              <a:tailEnd/>
            </a:ln>
            <a:effectLst/>
          </p:spPr>
          <p:txBody>
            <a:bodyPr wrap="none">
              <a:spAutoFit/>
            </a:bodyPr>
            <a:lstStyle/>
            <a:p>
              <a:pPr algn="r">
                <a:lnSpc>
                  <a:spcPct val="110000"/>
                </a:lnSpc>
              </a:pPr>
              <a:r>
                <a:rPr lang="en-US" sz="1200">
                  <a:solidFill>
                    <a:schemeClr val="tx1"/>
                  </a:solidFill>
                </a:rPr>
                <a:t>0</a:t>
              </a:r>
            </a:p>
            <a:p>
              <a:pPr algn="r">
                <a:lnSpc>
                  <a:spcPct val="110000"/>
                </a:lnSpc>
              </a:pPr>
              <a:r>
                <a:rPr lang="en-US" sz="1200">
                  <a:solidFill>
                    <a:schemeClr val="tx1"/>
                  </a:solidFill>
                </a:rPr>
                <a:t>1</a:t>
              </a:r>
            </a:p>
            <a:p>
              <a:pPr algn="r">
                <a:lnSpc>
                  <a:spcPct val="110000"/>
                </a:lnSpc>
              </a:pPr>
              <a:r>
                <a:rPr lang="en-US" sz="1200">
                  <a:solidFill>
                    <a:schemeClr val="tx1"/>
                  </a:solidFill>
                </a:rPr>
                <a:t>2</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1021</a:t>
              </a:r>
            </a:p>
            <a:p>
              <a:pPr algn="r">
                <a:lnSpc>
                  <a:spcPct val="110000"/>
                </a:lnSpc>
              </a:pPr>
              <a:r>
                <a:rPr lang="en-US" sz="1200">
                  <a:solidFill>
                    <a:schemeClr val="tx1"/>
                  </a:solidFill>
                </a:rPr>
                <a:t>1022</a:t>
              </a:r>
            </a:p>
            <a:p>
              <a:pPr algn="r">
                <a:lnSpc>
                  <a:spcPct val="110000"/>
                </a:lnSpc>
              </a:pPr>
              <a:r>
                <a:rPr lang="en-US" sz="1200">
                  <a:solidFill>
                    <a:schemeClr val="tx1"/>
                  </a:solidFill>
                </a:rPr>
                <a:t>1023</a:t>
              </a:r>
            </a:p>
          </p:txBody>
        </p:sp>
      </p:grpSp>
      <p:grpSp>
        <p:nvGrpSpPr>
          <p:cNvPr id="7" name="Group 44"/>
          <p:cNvGrpSpPr>
            <a:grpSpLocks/>
          </p:cNvGrpSpPr>
          <p:nvPr/>
        </p:nvGrpSpPr>
        <p:grpSpPr bwMode="auto">
          <a:xfrm>
            <a:off x="3914802" y="1325580"/>
            <a:ext cx="3597275" cy="709613"/>
            <a:chOff x="2072" y="763"/>
            <a:chExt cx="2266" cy="447"/>
          </a:xfrm>
        </p:grpSpPr>
        <p:sp>
          <p:nvSpPr>
            <p:cNvPr id="1604653" name="Line 45"/>
            <p:cNvSpPr>
              <a:spLocks noChangeShapeType="1"/>
            </p:cNvSpPr>
            <p:nvPr/>
          </p:nvSpPr>
          <p:spPr bwMode="auto">
            <a:xfrm flipV="1">
              <a:off x="3026" y="1061"/>
              <a:ext cx="3" cy="149"/>
            </a:xfrm>
            <a:prstGeom prst="line">
              <a:avLst/>
            </a:prstGeom>
            <a:noFill/>
            <a:ln w="20638">
              <a:solidFill>
                <a:srgbClr val="000000"/>
              </a:solidFill>
              <a:round/>
              <a:headEnd/>
              <a:tailEnd/>
            </a:ln>
          </p:spPr>
          <p:txBody>
            <a:bodyPr/>
            <a:lstStyle/>
            <a:p>
              <a:endParaRPr lang="en-US"/>
            </a:p>
          </p:txBody>
        </p:sp>
        <p:sp>
          <p:nvSpPr>
            <p:cNvPr id="1604654" name="Line 46"/>
            <p:cNvSpPr>
              <a:spLocks noChangeShapeType="1"/>
            </p:cNvSpPr>
            <p:nvPr/>
          </p:nvSpPr>
          <p:spPr bwMode="auto">
            <a:xfrm flipV="1">
              <a:off x="3570" y="1051"/>
              <a:ext cx="1" cy="145"/>
            </a:xfrm>
            <a:prstGeom prst="line">
              <a:avLst/>
            </a:prstGeom>
            <a:noFill/>
            <a:ln w="20638">
              <a:solidFill>
                <a:srgbClr val="000000"/>
              </a:solidFill>
              <a:round/>
              <a:headEnd/>
              <a:tailEnd/>
            </a:ln>
          </p:spPr>
          <p:txBody>
            <a:bodyPr/>
            <a:lstStyle/>
            <a:p>
              <a:endParaRPr lang="en-US"/>
            </a:p>
          </p:txBody>
        </p:sp>
        <p:sp>
          <p:nvSpPr>
            <p:cNvPr id="1604655" name="Freeform 47"/>
            <p:cNvSpPr>
              <a:spLocks/>
            </p:cNvSpPr>
            <p:nvPr/>
          </p:nvSpPr>
          <p:spPr bwMode="auto">
            <a:xfrm>
              <a:off x="2158" y="1059"/>
              <a:ext cx="1570" cy="151"/>
            </a:xfrm>
            <a:custGeom>
              <a:avLst/>
              <a:gdLst/>
              <a:ahLst/>
              <a:cxnLst>
                <a:cxn ang="0">
                  <a:pos x="0" y="149"/>
                </a:cxn>
                <a:cxn ang="0">
                  <a:pos x="3" y="0"/>
                </a:cxn>
                <a:cxn ang="0">
                  <a:pos x="1570" y="0"/>
                </a:cxn>
                <a:cxn ang="0">
                  <a:pos x="1570" y="151"/>
                </a:cxn>
                <a:cxn ang="0">
                  <a:pos x="3" y="151"/>
                </a:cxn>
                <a:cxn ang="0">
                  <a:pos x="3" y="151"/>
                </a:cxn>
              </a:cxnLst>
              <a:rect l="0" t="0" r="r" b="b"/>
              <a:pathLst>
                <a:path w="1570" h="151">
                  <a:moveTo>
                    <a:pt x="0" y="149"/>
                  </a:moveTo>
                  <a:lnTo>
                    <a:pt x="3" y="0"/>
                  </a:lnTo>
                  <a:lnTo>
                    <a:pt x="1570" y="0"/>
                  </a:lnTo>
                  <a:lnTo>
                    <a:pt x="1570" y="151"/>
                  </a:lnTo>
                  <a:lnTo>
                    <a:pt x="3" y="151"/>
                  </a:lnTo>
                  <a:lnTo>
                    <a:pt x="3" y="151"/>
                  </a:lnTo>
                </a:path>
              </a:pathLst>
            </a:custGeom>
            <a:noFill/>
            <a:ln w="20638">
              <a:solidFill>
                <a:srgbClr val="000000"/>
              </a:solidFill>
              <a:prstDash val="solid"/>
              <a:round/>
              <a:headEnd/>
              <a:tailEnd/>
            </a:ln>
          </p:spPr>
          <p:txBody>
            <a:bodyPr/>
            <a:lstStyle/>
            <a:p>
              <a:endParaRPr lang="en-US"/>
            </a:p>
          </p:txBody>
        </p:sp>
        <p:sp>
          <p:nvSpPr>
            <p:cNvPr id="1604656" name="Text Box 48"/>
            <p:cNvSpPr txBox="1">
              <a:spLocks noChangeArrowheads="1"/>
            </p:cNvSpPr>
            <p:nvPr/>
          </p:nvSpPr>
          <p:spPr bwMode="auto">
            <a:xfrm>
              <a:off x="2072" y="896"/>
              <a:ext cx="1786" cy="154"/>
            </a:xfrm>
            <a:prstGeom prst="rect">
              <a:avLst/>
            </a:prstGeom>
            <a:noFill/>
            <a:ln w="12700">
              <a:noFill/>
              <a:miter lim="800000"/>
              <a:headEnd/>
              <a:tailEnd/>
            </a:ln>
            <a:effectLst/>
          </p:spPr>
          <p:txBody>
            <a:bodyPr>
              <a:spAutoFit/>
            </a:bodyPr>
            <a:lstStyle/>
            <a:p>
              <a:r>
                <a:rPr lang="en-US" sz="1000">
                  <a:solidFill>
                    <a:schemeClr val="tx1"/>
                  </a:solidFill>
                </a:rPr>
                <a:t>31 30       . . .        13 12  11     . . .        2  1  0</a:t>
              </a:r>
            </a:p>
          </p:txBody>
        </p:sp>
        <p:sp>
          <p:nvSpPr>
            <p:cNvPr id="1604657" name="Text Box 49"/>
            <p:cNvSpPr txBox="1">
              <a:spLocks noChangeArrowheads="1"/>
            </p:cNvSpPr>
            <p:nvPr/>
          </p:nvSpPr>
          <p:spPr bwMode="auto">
            <a:xfrm>
              <a:off x="3810" y="763"/>
              <a:ext cx="528" cy="366"/>
            </a:xfrm>
            <a:prstGeom prst="rect">
              <a:avLst/>
            </a:prstGeom>
            <a:noFill/>
            <a:ln w="12700">
              <a:noFill/>
              <a:miter lim="800000"/>
              <a:headEnd/>
              <a:tailEnd/>
            </a:ln>
            <a:effectLst/>
          </p:spPr>
          <p:txBody>
            <a:bodyPr>
              <a:spAutoFit/>
            </a:bodyPr>
            <a:lstStyle/>
            <a:p>
              <a:r>
                <a:rPr lang="en-US" sz="1600">
                  <a:solidFill>
                    <a:schemeClr val="tx1"/>
                  </a:solidFill>
                </a:rPr>
                <a:t>Byte offset</a:t>
              </a:r>
            </a:p>
          </p:txBody>
        </p:sp>
        <p:sp>
          <p:nvSpPr>
            <p:cNvPr id="1604658" name="Line 50"/>
            <p:cNvSpPr>
              <a:spLocks noChangeShapeType="1"/>
            </p:cNvSpPr>
            <p:nvPr/>
          </p:nvSpPr>
          <p:spPr bwMode="auto">
            <a:xfrm flipH="1">
              <a:off x="3666" y="955"/>
              <a:ext cx="192" cy="192"/>
            </a:xfrm>
            <a:prstGeom prst="line">
              <a:avLst/>
            </a:prstGeom>
            <a:noFill/>
            <a:ln w="12700">
              <a:solidFill>
                <a:schemeClr val="tx1"/>
              </a:solidFill>
              <a:round/>
              <a:headEnd/>
              <a:tailEnd type="triangle" w="med" len="med"/>
            </a:ln>
            <a:effectLst/>
          </p:spPr>
          <p:txBody>
            <a:bodyPr/>
            <a:lstStyle/>
            <a:p>
              <a:endParaRPr lang="en-US"/>
            </a:p>
          </p:txBody>
        </p:sp>
      </p:grpSp>
      <p:sp>
        <p:nvSpPr>
          <p:cNvPr id="1604659" name="Rectangle 51"/>
          <p:cNvSpPr>
            <a:spLocks noChangeArrowheads="1"/>
          </p:cNvSpPr>
          <p:nvPr/>
        </p:nvSpPr>
        <p:spPr bwMode="auto">
          <a:xfrm>
            <a:off x="533400" y="6096000"/>
            <a:ext cx="8077200" cy="457200"/>
          </a:xfrm>
          <a:prstGeom prst="rect">
            <a:avLst/>
          </a:prstGeom>
          <a:noFill/>
          <a:ln w="12700">
            <a:noFill/>
            <a:miter lim="800000"/>
            <a:headEnd/>
            <a:tailEnd/>
          </a:ln>
          <a:effectLst/>
        </p:spPr>
        <p:txBody>
          <a:bodyPr lIns="90488" tIns="44450" rIns="90488" bIns="44450"/>
          <a:lstStyle/>
          <a:p>
            <a:pPr marL="342900" indent="-342900" algn="ctr">
              <a:lnSpc>
                <a:spcPct val="90000"/>
              </a:lnSpc>
              <a:spcBef>
                <a:spcPct val="65000"/>
              </a:spcBef>
              <a:buClr>
                <a:schemeClr val="accent1"/>
              </a:buClr>
              <a:buSzPct val="75000"/>
              <a:buFont typeface="Wingdings" pitchFamily="2" charset="2"/>
              <a:buNone/>
            </a:pPr>
            <a:r>
              <a:rPr lang="en-US" sz="2400" i="1"/>
              <a:t>What kind of locality are we taking advantage of?</a:t>
            </a:r>
          </a:p>
        </p:txBody>
      </p:sp>
      <p:grpSp>
        <p:nvGrpSpPr>
          <p:cNvPr id="8" name="Group 52"/>
          <p:cNvGrpSpPr>
            <a:grpSpLocks/>
          </p:cNvGrpSpPr>
          <p:nvPr/>
        </p:nvGrpSpPr>
        <p:grpSpPr bwMode="auto">
          <a:xfrm>
            <a:off x="4511702" y="3771918"/>
            <a:ext cx="623888" cy="1371600"/>
            <a:chOff x="2477" y="2299"/>
            <a:chExt cx="393" cy="864"/>
          </a:xfrm>
        </p:grpSpPr>
        <p:sp>
          <p:nvSpPr>
            <p:cNvPr id="1604661" name="Line 53"/>
            <p:cNvSpPr>
              <a:spLocks noChangeShapeType="1"/>
            </p:cNvSpPr>
            <p:nvPr/>
          </p:nvSpPr>
          <p:spPr bwMode="auto">
            <a:xfrm>
              <a:off x="2477" y="2976"/>
              <a:ext cx="196" cy="54"/>
            </a:xfrm>
            <a:prstGeom prst="line">
              <a:avLst/>
            </a:prstGeom>
            <a:noFill/>
            <a:ln w="20638">
              <a:solidFill>
                <a:srgbClr val="000000"/>
              </a:solidFill>
              <a:round/>
              <a:headEnd/>
              <a:tailEnd/>
            </a:ln>
          </p:spPr>
          <p:txBody>
            <a:bodyPr/>
            <a:lstStyle/>
            <a:p>
              <a:endParaRPr lang="en-US"/>
            </a:p>
          </p:txBody>
        </p:sp>
        <p:sp>
          <p:nvSpPr>
            <p:cNvPr id="1604662" name="Line 54"/>
            <p:cNvSpPr>
              <a:spLocks noChangeShapeType="1"/>
            </p:cNvSpPr>
            <p:nvPr/>
          </p:nvSpPr>
          <p:spPr bwMode="auto">
            <a:xfrm>
              <a:off x="2562" y="2299"/>
              <a:ext cx="0" cy="864"/>
            </a:xfrm>
            <a:prstGeom prst="line">
              <a:avLst/>
            </a:prstGeom>
            <a:noFill/>
            <a:ln w="38100">
              <a:solidFill>
                <a:srgbClr val="000000"/>
              </a:solidFill>
              <a:round/>
              <a:headEnd type="oval" w="sm" len="sm"/>
              <a:tailEnd type="triangle" w="med" len="med"/>
            </a:ln>
          </p:spPr>
          <p:txBody>
            <a:bodyPr/>
            <a:lstStyle/>
            <a:p>
              <a:endParaRPr lang="en-US"/>
            </a:p>
          </p:txBody>
        </p:sp>
        <p:sp>
          <p:nvSpPr>
            <p:cNvPr id="1604663" name="Text Box 55"/>
            <p:cNvSpPr txBox="1">
              <a:spLocks noChangeArrowheads="1"/>
            </p:cNvSpPr>
            <p:nvPr/>
          </p:nvSpPr>
          <p:spPr bwMode="auto">
            <a:xfrm>
              <a:off x="2610" y="2923"/>
              <a:ext cx="260" cy="213"/>
            </a:xfrm>
            <a:prstGeom prst="rect">
              <a:avLst/>
            </a:prstGeom>
            <a:noFill/>
            <a:ln w="12700">
              <a:noFill/>
              <a:miter lim="800000"/>
              <a:headEnd/>
              <a:tailEnd/>
            </a:ln>
            <a:effectLst/>
          </p:spPr>
          <p:txBody>
            <a:bodyPr wrap="none">
              <a:spAutoFit/>
            </a:bodyPr>
            <a:lstStyle/>
            <a:p>
              <a:r>
                <a:rPr lang="en-US" sz="1600" dirty="0">
                  <a:solidFill>
                    <a:schemeClr val="tx1"/>
                  </a:solidFill>
                </a:rPr>
                <a:t>20</a:t>
              </a:r>
            </a:p>
          </p:txBody>
        </p:sp>
      </p:grpSp>
      <p:grpSp>
        <p:nvGrpSpPr>
          <p:cNvPr id="9" name="Group 56"/>
          <p:cNvGrpSpPr>
            <a:grpSpLocks/>
          </p:cNvGrpSpPr>
          <p:nvPr/>
        </p:nvGrpSpPr>
        <p:grpSpPr bwMode="auto">
          <a:xfrm>
            <a:off x="6369077" y="2060593"/>
            <a:ext cx="2060575" cy="3043237"/>
            <a:chOff x="3618" y="1226"/>
            <a:chExt cx="1298" cy="1917"/>
          </a:xfrm>
        </p:grpSpPr>
        <p:sp>
          <p:nvSpPr>
            <p:cNvPr id="1604665" name="Freeform 57"/>
            <p:cNvSpPr>
              <a:spLocks/>
            </p:cNvSpPr>
            <p:nvPr/>
          </p:nvSpPr>
          <p:spPr bwMode="auto">
            <a:xfrm>
              <a:off x="3714" y="1404"/>
              <a:ext cx="996" cy="1739"/>
            </a:xfrm>
            <a:custGeom>
              <a:avLst/>
              <a:gdLst/>
              <a:ahLst/>
              <a:cxnLst>
                <a:cxn ang="0">
                  <a:pos x="0" y="919"/>
                </a:cxn>
                <a:cxn ang="0">
                  <a:pos x="3" y="1739"/>
                </a:cxn>
                <a:cxn ang="0">
                  <a:pos x="1432" y="1739"/>
                </a:cxn>
                <a:cxn ang="0">
                  <a:pos x="1432" y="0"/>
                </a:cxn>
              </a:cxnLst>
              <a:rect l="0" t="0" r="r" b="b"/>
              <a:pathLst>
                <a:path w="1432" h="1739">
                  <a:moveTo>
                    <a:pt x="0" y="919"/>
                  </a:moveTo>
                  <a:lnTo>
                    <a:pt x="3" y="1739"/>
                  </a:lnTo>
                  <a:lnTo>
                    <a:pt x="1432" y="1739"/>
                  </a:lnTo>
                  <a:lnTo>
                    <a:pt x="1432" y="0"/>
                  </a:lnTo>
                </a:path>
              </a:pathLst>
            </a:custGeom>
            <a:noFill/>
            <a:ln w="42926">
              <a:solidFill>
                <a:srgbClr val="000000"/>
              </a:solidFill>
              <a:prstDash val="solid"/>
              <a:round/>
              <a:headEnd type="oval" w="sm" len="sm"/>
              <a:tailEnd type="triangle" w="med" len="med"/>
            </a:ln>
          </p:spPr>
          <p:txBody>
            <a:bodyPr/>
            <a:lstStyle/>
            <a:p>
              <a:endParaRPr lang="en-US"/>
            </a:p>
          </p:txBody>
        </p:sp>
        <p:sp>
          <p:nvSpPr>
            <p:cNvPr id="1604666" name="Line 58"/>
            <p:cNvSpPr>
              <a:spLocks noChangeShapeType="1"/>
            </p:cNvSpPr>
            <p:nvPr/>
          </p:nvSpPr>
          <p:spPr bwMode="auto">
            <a:xfrm>
              <a:off x="3618" y="3019"/>
              <a:ext cx="192" cy="57"/>
            </a:xfrm>
            <a:prstGeom prst="line">
              <a:avLst/>
            </a:prstGeom>
            <a:noFill/>
            <a:ln w="20638">
              <a:solidFill>
                <a:srgbClr val="000000"/>
              </a:solidFill>
              <a:round/>
              <a:headEnd/>
              <a:tailEnd/>
            </a:ln>
          </p:spPr>
          <p:txBody>
            <a:bodyPr/>
            <a:lstStyle/>
            <a:p>
              <a:endParaRPr lang="en-US"/>
            </a:p>
          </p:txBody>
        </p:sp>
        <p:sp>
          <p:nvSpPr>
            <p:cNvPr id="1604667" name="Text Box 59"/>
            <p:cNvSpPr txBox="1">
              <a:spLocks noChangeArrowheads="1"/>
            </p:cNvSpPr>
            <p:nvPr/>
          </p:nvSpPr>
          <p:spPr bwMode="auto">
            <a:xfrm>
              <a:off x="4530" y="1226"/>
              <a:ext cx="386" cy="212"/>
            </a:xfrm>
            <a:prstGeom prst="rect">
              <a:avLst/>
            </a:prstGeom>
            <a:noFill/>
            <a:ln w="12700">
              <a:noFill/>
              <a:miter lim="800000"/>
              <a:headEnd/>
              <a:tailEnd/>
            </a:ln>
            <a:effectLst/>
          </p:spPr>
          <p:txBody>
            <a:bodyPr wrap="none">
              <a:spAutoFit/>
            </a:bodyPr>
            <a:lstStyle/>
            <a:p>
              <a:r>
                <a:rPr lang="en-US" sz="1600">
                  <a:solidFill>
                    <a:schemeClr val="tx1"/>
                  </a:solidFill>
                </a:rPr>
                <a:t>Data</a:t>
              </a:r>
            </a:p>
          </p:txBody>
        </p:sp>
        <p:sp>
          <p:nvSpPr>
            <p:cNvPr id="1604668" name="Text Box 60"/>
            <p:cNvSpPr txBox="1">
              <a:spLocks noChangeArrowheads="1"/>
            </p:cNvSpPr>
            <p:nvPr/>
          </p:nvSpPr>
          <p:spPr bwMode="auto">
            <a:xfrm>
              <a:off x="3762" y="2923"/>
              <a:ext cx="260" cy="213"/>
            </a:xfrm>
            <a:prstGeom prst="rect">
              <a:avLst/>
            </a:prstGeom>
            <a:noFill/>
            <a:ln w="12700">
              <a:noFill/>
              <a:miter lim="800000"/>
              <a:headEnd/>
              <a:tailEnd/>
            </a:ln>
            <a:effectLst/>
          </p:spPr>
          <p:txBody>
            <a:bodyPr wrap="none">
              <a:spAutoFit/>
            </a:bodyPr>
            <a:lstStyle/>
            <a:p>
              <a:r>
                <a:rPr lang="en-US" sz="1600" dirty="0">
                  <a:solidFill>
                    <a:schemeClr val="tx1"/>
                  </a:solidFill>
                </a:rPr>
                <a:t>32</a:t>
              </a:r>
            </a:p>
          </p:txBody>
        </p:sp>
      </p:grpSp>
      <p:grpSp>
        <p:nvGrpSpPr>
          <p:cNvPr id="10" name="Group 5"/>
          <p:cNvGrpSpPr>
            <a:grpSpLocks/>
          </p:cNvGrpSpPr>
          <p:nvPr/>
        </p:nvGrpSpPr>
        <p:grpSpPr bwMode="auto">
          <a:xfrm>
            <a:off x="1768502" y="2095518"/>
            <a:ext cx="2913063" cy="3905250"/>
            <a:chOff x="720" y="1248"/>
            <a:chExt cx="1835" cy="2460"/>
          </a:xfrm>
        </p:grpSpPr>
        <p:sp>
          <p:nvSpPr>
            <p:cNvPr id="1604614" name="Freeform 6"/>
            <p:cNvSpPr>
              <a:spLocks/>
            </p:cNvSpPr>
            <p:nvPr/>
          </p:nvSpPr>
          <p:spPr bwMode="auto">
            <a:xfrm>
              <a:off x="2222" y="3468"/>
              <a:ext cx="222" cy="172"/>
            </a:xfrm>
            <a:custGeom>
              <a:avLst/>
              <a:gdLst/>
              <a:ahLst/>
              <a:cxnLst>
                <a:cxn ang="0">
                  <a:pos x="0" y="101"/>
                </a:cxn>
                <a:cxn ang="0">
                  <a:pos x="3" y="114"/>
                </a:cxn>
                <a:cxn ang="0">
                  <a:pos x="7" y="125"/>
                </a:cxn>
                <a:cxn ang="0">
                  <a:pos x="13" y="134"/>
                </a:cxn>
                <a:cxn ang="0">
                  <a:pos x="23" y="143"/>
                </a:cxn>
                <a:cxn ang="0">
                  <a:pos x="33" y="152"/>
                </a:cxn>
                <a:cxn ang="0">
                  <a:pos x="47" y="158"/>
                </a:cxn>
                <a:cxn ang="0">
                  <a:pos x="60" y="165"/>
                </a:cxn>
                <a:cxn ang="0">
                  <a:pos x="77" y="169"/>
                </a:cxn>
                <a:cxn ang="0">
                  <a:pos x="94" y="172"/>
                </a:cxn>
                <a:cxn ang="0">
                  <a:pos x="111" y="172"/>
                </a:cxn>
                <a:cxn ang="0">
                  <a:pos x="131" y="172"/>
                </a:cxn>
                <a:cxn ang="0">
                  <a:pos x="148" y="169"/>
                </a:cxn>
                <a:cxn ang="0">
                  <a:pos x="161" y="165"/>
                </a:cxn>
                <a:cxn ang="0">
                  <a:pos x="178" y="158"/>
                </a:cxn>
                <a:cxn ang="0">
                  <a:pos x="188" y="152"/>
                </a:cxn>
                <a:cxn ang="0">
                  <a:pos x="202" y="143"/>
                </a:cxn>
                <a:cxn ang="0">
                  <a:pos x="208" y="134"/>
                </a:cxn>
                <a:cxn ang="0">
                  <a:pos x="215" y="125"/>
                </a:cxn>
                <a:cxn ang="0">
                  <a:pos x="222" y="114"/>
                </a:cxn>
                <a:cxn ang="0">
                  <a:pos x="222" y="104"/>
                </a:cxn>
                <a:cxn ang="0">
                  <a:pos x="222" y="0"/>
                </a:cxn>
                <a:cxn ang="0">
                  <a:pos x="3" y="0"/>
                </a:cxn>
                <a:cxn ang="0">
                  <a:pos x="3" y="104"/>
                </a:cxn>
                <a:cxn ang="0">
                  <a:pos x="3" y="104"/>
                </a:cxn>
              </a:cxnLst>
              <a:rect l="0" t="0" r="r" b="b"/>
              <a:pathLst>
                <a:path w="222" h="172">
                  <a:moveTo>
                    <a:pt x="0" y="101"/>
                  </a:moveTo>
                  <a:lnTo>
                    <a:pt x="3" y="114"/>
                  </a:lnTo>
                  <a:lnTo>
                    <a:pt x="7" y="125"/>
                  </a:lnTo>
                  <a:lnTo>
                    <a:pt x="13" y="134"/>
                  </a:lnTo>
                  <a:lnTo>
                    <a:pt x="23" y="143"/>
                  </a:lnTo>
                  <a:lnTo>
                    <a:pt x="33" y="152"/>
                  </a:lnTo>
                  <a:lnTo>
                    <a:pt x="47" y="158"/>
                  </a:lnTo>
                  <a:lnTo>
                    <a:pt x="60" y="165"/>
                  </a:lnTo>
                  <a:lnTo>
                    <a:pt x="77" y="169"/>
                  </a:lnTo>
                  <a:lnTo>
                    <a:pt x="94" y="172"/>
                  </a:lnTo>
                  <a:lnTo>
                    <a:pt x="111" y="172"/>
                  </a:lnTo>
                  <a:lnTo>
                    <a:pt x="131" y="172"/>
                  </a:lnTo>
                  <a:lnTo>
                    <a:pt x="148" y="169"/>
                  </a:lnTo>
                  <a:lnTo>
                    <a:pt x="161" y="165"/>
                  </a:lnTo>
                  <a:lnTo>
                    <a:pt x="178" y="158"/>
                  </a:lnTo>
                  <a:lnTo>
                    <a:pt x="188" y="152"/>
                  </a:lnTo>
                  <a:lnTo>
                    <a:pt x="202" y="143"/>
                  </a:lnTo>
                  <a:lnTo>
                    <a:pt x="208" y="134"/>
                  </a:lnTo>
                  <a:lnTo>
                    <a:pt x="215" y="125"/>
                  </a:lnTo>
                  <a:lnTo>
                    <a:pt x="222" y="114"/>
                  </a:lnTo>
                  <a:lnTo>
                    <a:pt x="222" y="104"/>
                  </a:lnTo>
                  <a:lnTo>
                    <a:pt x="222" y="0"/>
                  </a:lnTo>
                  <a:lnTo>
                    <a:pt x="3" y="0"/>
                  </a:lnTo>
                  <a:lnTo>
                    <a:pt x="3" y="104"/>
                  </a:lnTo>
                  <a:lnTo>
                    <a:pt x="3" y="104"/>
                  </a:lnTo>
                </a:path>
              </a:pathLst>
            </a:custGeom>
            <a:noFill/>
            <a:ln w="20638">
              <a:solidFill>
                <a:srgbClr val="000000"/>
              </a:solidFill>
              <a:prstDash val="solid"/>
              <a:round/>
              <a:headEnd/>
              <a:tailEnd/>
            </a:ln>
          </p:spPr>
          <p:txBody>
            <a:bodyPr/>
            <a:lstStyle/>
            <a:p>
              <a:endParaRPr lang="en-US"/>
            </a:p>
          </p:txBody>
        </p:sp>
        <p:sp>
          <p:nvSpPr>
            <p:cNvPr id="1604615" name="Line 7"/>
            <p:cNvSpPr>
              <a:spLocks noChangeShapeType="1"/>
            </p:cNvSpPr>
            <p:nvPr/>
          </p:nvSpPr>
          <p:spPr bwMode="auto">
            <a:xfrm>
              <a:off x="2252" y="2316"/>
              <a:ext cx="7" cy="1150"/>
            </a:xfrm>
            <a:prstGeom prst="line">
              <a:avLst/>
            </a:prstGeom>
            <a:noFill/>
            <a:ln w="20701">
              <a:solidFill>
                <a:srgbClr val="000000"/>
              </a:solidFill>
              <a:round/>
              <a:headEnd type="oval" w="sm" len="sm"/>
              <a:tailEnd/>
            </a:ln>
          </p:spPr>
          <p:txBody>
            <a:bodyPr/>
            <a:lstStyle/>
            <a:p>
              <a:endParaRPr lang="en-US"/>
            </a:p>
          </p:txBody>
        </p:sp>
        <p:sp>
          <p:nvSpPr>
            <p:cNvPr id="1604616" name="Freeform 8"/>
            <p:cNvSpPr>
              <a:spLocks/>
            </p:cNvSpPr>
            <p:nvPr/>
          </p:nvSpPr>
          <p:spPr bwMode="auto">
            <a:xfrm>
              <a:off x="2303" y="3330"/>
              <a:ext cx="252" cy="136"/>
            </a:xfrm>
            <a:custGeom>
              <a:avLst/>
              <a:gdLst/>
              <a:ahLst/>
              <a:cxnLst>
                <a:cxn ang="0">
                  <a:pos x="248" y="0"/>
                </a:cxn>
                <a:cxn ang="0">
                  <a:pos x="252" y="68"/>
                </a:cxn>
                <a:cxn ang="0">
                  <a:pos x="0" y="68"/>
                </a:cxn>
                <a:cxn ang="0">
                  <a:pos x="0" y="136"/>
                </a:cxn>
              </a:cxnLst>
              <a:rect l="0" t="0" r="r" b="b"/>
              <a:pathLst>
                <a:path w="252" h="136">
                  <a:moveTo>
                    <a:pt x="248" y="0"/>
                  </a:moveTo>
                  <a:lnTo>
                    <a:pt x="252" y="68"/>
                  </a:lnTo>
                  <a:lnTo>
                    <a:pt x="0" y="68"/>
                  </a:lnTo>
                  <a:lnTo>
                    <a:pt x="0" y="136"/>
                  </a:lnTo>
                </a:path>
              </a:pathLst>
            </a:custGeom>
            <a:noFill/>
            <a:ln w="20638">
              <a:solidFill>
                <a:srgbClr val="000000"/>
              </a:solidFill>
              <a:prstDash val="solid"/>
              <a:round/>
              <a:headEnd/>
              <a:tailEnd/>
            </a:ln>
          </p:spPr>
          <p:txBody>
            <a:bodyPr/>
            <a:lstStyle/>
            <a:p>
              <a:endParaRPr lang="en-US"/>
            </a:p>
          </p:txBody>
        </p:sp>
        <p:sp>
          <p:nvSpPr>
            <p:cNvPr id="1604617" name="Freeform 9"/>
            <p:cNvSpPr>
              <a:spLocks/>
            </p:cNvSpPr>
            <p:nvPr/>
          </p:nvSpPr>
          <p:spPr bwMode="auto">
            <a:xfrm>
              <a:off x="857" y="1410"/>
              <a:ext cx="1476" cy="2298"/>
            </a:xfrm>
            <a:custGeom>
              <a:avLst/>
              <a:gdLst/>
              <a:ahLst/>
              <a:cxnLst>
                <a:cxn ang="0">
                  <a:pos x="1476" y="2230"/>
                </a:cxn>
                <a:cxn ang="0">
                  <a:pos x="1476" y="2298"/>
                </a:cxn>
                <a:cxn ang="0">
                  <a:pos x="0" y="2298"/>
                </a:cxn>
                <a:cxn ang="0">
                  <a:pos x="0" y="0"/>
                </a:cxn>
              </a:cxnLst>
              <a:rect l="0" t="0" r="r" b="b"/>
              <a:pathLst>
                <a:path w="1476" h="2298">
                  <a:moveTo>
                    <a:pt x="1476" y="2230"/>
                  </a:moveTo>
                  <a:lnTo>
                    <a:pt x="1476" y="2298"/>
                  </a:lnTo>
                  <a:lnTo>
                    <a:pt x="0" y="2298"/>
                  </a:lnTo>
                  <a:lnTo>
                    <a:pt x="0" y="0"/>
                  </a:lnTo>
                </a:path>
              </a:pathLst>
            </a:custGeom>
            <a:noFill/>
            <a:ln w="20638">
              <a:solidFill>
                <a:srgbClr val="000000"/>
              </a:solidFill>
              <a:prstDash val="solid"/>
              <a:round/>
              <a:headEnd type="none" w="med" len="med"/>
              <a:tailEnd type="triangle" w="med" len="med"/>
            </a:ln>
          </p:spPr>
          <p:txBody>
            <a:bodyPr/>
            <a:lstStyle/>
            <a:p>
              <a:endParaRPr lang="en-US"/>
            </a:p>
          </p:txBody>
        </p:sp>
        <p:sp>
          <p:nvSpPr>
            <p:cNvPr id="1604618" name="Text Box 10"/>
            <p:cNvSpPr txBox="1">
              <a:spLocks noChangeArrowheads="1"/>
            </p:cNvSpPr>
            <p:nvPr/>
          </p:nvSpPr>
          <p:spPr bwMode="auto">
            <a:xfrm>
              <a:off x="720" y="1248"/>
              <a:ext cx="272" cy="212"/>
            </a:xfrm>
            <a:prstGeom prst="rect">
              <a:avLst/>
            </a:prstGeom>
            <a:noFill/>
            <a:ln w="12700">
              <a:noFill/>
              <a:miter lim="800000"/>
              <a:headEnd/>
              <a:tailEnd/>
            </a:ln>
            <a:effectLst/>
          </p:spPr>
          <p:txBody>
            <a:bodyPr wrap="none">
              <a:spAutoFit/>
            </a:bodyPr>
            <a:lstStyle/>
            <a:p>
              <a:r>
                <a:rPr lang="en-US" sz="1600">
                  <a:solidFill>
                    <a:schemeClr val="tx1"/>
                  </a:solidFill>
                </a:rPr>
                <a:t>Hit</a:t>
              </a:r>
            </a:p>
          </p:txBody>
        </p:sp>
      </p:grpSp>
      <p:sp>
        <p:nvSpPr>
          <p:cNvPr id="62" name="Rectangle 3"/>
          <p:cNvSpPr txBox="1">
            <a:spLocks noChangeArrowheads="1"/>
          </p:cNvSpPr>
          <p:nvPr/>
        </p:nvSpPr>
        <p:spPr bwMode="auto">
          <a:xfrm>
            <a:off x="428596" y="1139901"/>
            <a:ext cx="3500462" cy="1074653"/>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spAutoFit/>
          </a:bodyPr>
          <a:lstStyle/>
          <a:p>
            <a:pPr marL="796925" marR="0" lvl="1" indent="-342900" algn="l" defTabSz="914400" rtl="0" eaLnBrk="0" fontAlgn="base" latinLnBrk="0" hangingPunct="0">
              <a:lnSpc>
                <a:spcPct val="80000"/>
              </a:lnSpc>
              <a:spcBef>
                <a:spcPct val="30000"/>
              </a:spcBef>
              <a:spcAft>
                <a:spcPct val="0"/>
              </a:spcAft>
              <a:buClr>
                <a:schemeClr val="accent1"/>
              </a:buClr>
              <a:buSzPct val="75000"/>
              <a:tabLst/>
              <a:defRPr/>
            </a:pPr>
            <a:r>
              <a:rPr kumimoji="0" lang="en-US" sz="2000" b="0" i="0" u="none" strike="noStrike" kern="0" cap="none" spc="0" normalizeH="0" baseline="0" noProof="0" dirty="0" smtClean="0">
                <a:ln>
                  <a:noFill/>
                </a:ln>
                <a:solidFill>
                  <a:schemeClr val="tx1"/>
                </a:solidFill>
                <a:effectLst/>
                <a:uLnTx/>
                <a:uFillTx/>
                <a:latin typeface="+mn-lt"/>
              </a:rPr>
              <a:t>32bit address from the PC (</a:t>
            </a:r>
            <a:r>
              <a:rPr kumimoji="0" lang="en-US" sz="2000" b="0" i="0" u="none" strike="noStrike" kern="0" cap="none" spc="0" normalizeH="0" baseline="0" noProof="0" dirty="0" err="1" smtClean="0">
                <a:ln>
                  <a:noFill/>
                </a:ln>
                <a:solidFill>
                  <a:schemeClr val="tx1"/>
                </a:solidFill>
                <a:effectLst/>
                <a:uLnTx/>
                <a:uFillTx/>
                <a:latin typeface="+mn-lt"/>
              </a:rPr>
              <a:t>Instr</a:t>
            </a:r>
            <a:r>
              <a:rPr kumimoji="0" lang="en-US" sz="2000" b="0" i="0" u="none" strike="noStrike" kern="0" cap="none" spc="0" normalizeH="0" baseline="0" noProof="0" dirty="0" smtClean="0">
                <a:ln>
                  <a:noFill/>
                </a:ln>
                <a:solidFill>
                  <a:schemeClr val="tx1"/>
                </a:solidFill>
                <a:effectLst/>
                <a:uLnTx/>
                <a:uFillTx/>
                <a:latin typeface="+mn-lt"/>
              </a:rPr>
              <a:t> Fetch) or ALU (load, store </a:t>
            </a:r>
            <a:r>
              <a:rPr kumimoji="0" lang="en-US" sz="2000" b="0" i="0" u="none" strike="noStrike" kern="0" cap="none" spc="0" normalizeH="0" baseline="0" noProof="0" dirty="0" err="1" smtClean="0">
                <a:ln>
                  <a:noFill/>
                </a:ln>
                <a:solidFill>
                  <a:schemeClr val="tx1"/>
                </a:solidFill>
                <a:effectLst/>
                <a:uLnTx/>
                <a:uFillTx/>
                <a:latin typeface="+mn-lt"/>
              </a:rPr>
              <a:t>addr</a:t>
            </a:r>
            <a:r>
              <a:rPr kumimoji="0" lang="en-US" sz="2000" b="0" i="0" u="none" strike="noStrike" kern="0" cap="none" spc="0" normalizeH="0" baseline="0" noProof="0" dirty="0" smtClean="0">
                <a:ln>
                  <a:noFill/>
                </a:ln>
                <a:solidFill>
                  <a:schemeClr val="tx1"/>
                </a:solidFill>
                <a:effectLst/>
                <a:uLnTx/>
                <a:uFillTx/>
                <a:latin typeface="+mn-lt"/>
              </a:rPr>
              <a:t>)</a:t>
            </a:r>
            <a:br>
              <a:rPr kumimoji="0" lang="en-US" sz="2000" b="0" i="0" u="none" strike="noStrike" kern="0" cap="none" spc="0" normalizeH="0" baseline="0" noProof="0" dirty="0" smtClean="0">
                <a:ln>
                  <a:noFill/>
                </a:ln>
                <a:solidFill>
                  <a:schemeClr val="tx1"/>
                </a:solidFill>
                <a:effectLst/>
                <a:uLnTx/>
                <a:uFillTx/>
                <a:latin typeface="+mn-lt"/>
              </a:rPr>
            </a:br>
            <a:endParaRPr kumimoji="0" lang="en-US" sz="2000" b="0" i="1" u="none" strike="noStrike" kern="0" cap="none" spc="0" normalizeH="0" baseline="0" noProof="0" dirty="0">
              <a:ln>
                <a:noFill/>
              </a:ln>
              <a:solidFill>
                <a:schemeClr val="accent1"/>
              </a:solidFill>
              <a:effectLst/>
              <a:uLnTx/>
              <a:uFillTx/>
              <a:latin typeface="+mn-lt"/>
            </a:endParaRPr>
          </a:p>
        </p:txBody>
      </p:sp>
    </p:spTree>
    <p:extLst>
      <p:ext uri="{BB962C8B-B14F-4D97-AF65-F5344CB8AC3E}">
        <p14:creationId xmlns:p14="http://schemas.microsoft.com/office/powerpoint/2010/main" val="72089864"/>
      </p:ext>
    </p:extLst>
  </p:cSld>
  <p:clrMapOvr>
    <a:masterClrMapping/>
  </p:clrMapOvr>
  <p:transition advTm="2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046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465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Field Sizes</a:t>
            </a:r>
            <a:endParaRPr lang="en-US" dirty="0"/>
          </a:p>
        </p:txBody>
      </p:sp>
      <p:sp>
        <p:nvSpPr>
          <p:cNvPr id="3" name="Content Placeholder 2"/>
          <p:cNvSpPr>
            <a:spLocks noGrp="1"/>
          </p:cNvSpPr>
          <p:nvPr>
            <p:ph idx="1"/>
          </p:nvPr>
        </p:nvSpPr>
        <p:spPr>
          <a:xfrm>
            <a:off x="533400" y="914400"/>
            <a:ext cx="8153400" cy="5329664"/>
          </a:xfrm>
        </p:spPr>
        <p:txBody>
          <a:bodyPr/>
          <a:lstStyle/>
          <a:p>
            <a:pPr>
              <a:lnSpc>
                <a:spcPct val="100000"/>
              </a:lnSpc>
              <a:spcBef>
                <a:spcPts val="600"/>
              </a:spcBef>
            </a:pPr>
            <a:r>
              <a:rPr lang="en-US" dirty="0" smtClean="0"/>
              <a:t>The number of bits in a cache includes both the storage for data and for the tags</a:t>
            </a:r>
          </a:p>
          <a:p>
            <a:pPr lvl="1">
              <a:lnSpc>
                <a:spcPct val="100000"/>
              </a:lnSpc>
              <a:spcBef>
                <a:spcPts val="600"/>
              </a:spcBef>
            </a:pPr>
            <a:r>
              <a:rPr lang="en-US" dirty="0" smtClean="0"/>
              <a:t>32-bit byte address</a:t>
            </a:r>
          </a:p>
          <a:p>
            <a:pPr lvl="1">
              <a:lnSpc>
                <a:spcPct val="100000"/>
              </a:lnSpc>
              <a:spcBef>
                <a:spcPts val="600"/>
              </a:spcBef>
            </a:pPr>
            <a:r>
              <a:rPr lang="en-US" dirty="0" smtClean="0"/>
              <a:t>For a direct mapped cache with 2</a:t>
            </a:r>
            <a:r>
              <a:rPr lang="en-US" baseline="30000" dirty="0" smtClean="0"/>
              <a:t>n</a:t>
            </a:r>
            <a:r>
              <a:rPr lang="en-US" dirty="0" smtClean="0"/>
              <a:t> blocks, </a:t>
            </a:r>
            <a:r>
              <a:rPr lang="en-US" i="1" dirty="0" smtClean="0"/>
              <a:t>n</a:t>
            </a:r>
            <a:r>
              <a:rPr lang="en-US" dirty="0" smtClean="0"/>
              <a:t> bits are used for the index</a:t>
            </a:r>
          </a:p>
          <a:p>
            <a:pPr lvl="1">
              <a:lnSpc>
                <a:spcPct val="100000"/>
              </a:lnSpc>
              <a:spcBef>
                <a:spcPts val="600"/>
              </a:spcBef>
            </a:pPr>
            <a:r>
              <a:rPr lang="en-US" dirty="0" smtClean="0"/>
              <a:t>For a block size of 2</a:t>
            </a:r>
            <a:r>
              <a:rPr lang="en-US" baseline="30000" dirty="0" smtClean="0"/>
              <a:t>m</a:t>
            </a:r>
            <a:r>
              <a:rPr lang="en-US" dirty="0" smtClean="0"/>
              <a:t> words (2</a:t>
            </a:r>
            <a:r>
              <a:rPr lang="en-US" baseline="30000" dirty="0" smtClean="0"/>
              <a:t>m+2</a:t>
            </a:r>
            <a:r>
              <a:rPr lang="en-US" dirty="0" smtClean="0"/>
              <a:t> bytes), </a:t>
            </a:r>
            <a:r>
              <a:rPr lang="en-US" i="1" dirty="0" smtClean="0"/>
              <a:t>m</a:t>
            </a:r>
            <a:r>
              <a:rPr lang="en-US" dirty="0" smtClean="0"/>
              <a:t> bits are used to address the word within the block and 2 bits are used to address the byte within the word</a:t>
            </a:r>
          </a:p>
          <a:p>
            <a:pPr>
              <a:lnSpc>
                <a:spcPct val="100000"/>
              </a:lnSpc>
              <a:spcBef>
                <a:spcPts val="600"/>
              </a:spcBef>
            </a:pPr>
            <a:r>
              <a:rPr lang="en-US" dirty="0" smtClean="0"/>
              <a:t>What is the size of the tag field?</a:t>
            </a:r>
          </a:p>
          <a:p>
            <a:pPr>
              <a:lnSpc>
                <a:spcPct val="100000"/>
              </a:lnSpc>
              <a:spcBef>
                <a:spcPts val="600"/>
              </a:spcBef>
            </a:pPr>
            <a:r>
              <a:rPr lang="en-US" dirty="0" smtClean="0"/>
              <a:t>The total number of bits in a direct-mapped cache is then</a:t>
            </a:r>
          </a:p>
          <a:p>
            <a:pPr lvl="1" algn="ctr">
              <a:lnSpc>
                <a:spcPct val="100000"/>
              </a:lnSpc>
              <a:spcBef>
                <a:spcPts val="600"/>
              </a:spcBef>
              <a:buNone/>
            </a:pPr>
            <a:r>
              <a:rPr lang="en-US" dirty="0" smtClean="0"/>
              <a:t>2</a:t>
            </a:r>
            <a:r>
              <a:rPr lang="en-US" baseline="30000" dirty="0" smtClean="0"/>
              <a:t>n</a:t>
            </a:r>
            <a:r>
              <a:rPr lang="en-US" dirty="0" smtClean="0"/>
              <a:t> x (block size + tag field size + valid field size)</a:t>
            </a:r>
          </a:p>
          <a:p>
            <a:pPr>
              <a:lnSpc>
                <a:spcPct val="100000"/>
              </a:lnSpc>
              <a:spcBef>
                <a:spcPts val="600"/>
              </a:spcBef>
            </a:pPr>
            <a:r>
              <a:rPr lang="en-US" dirty="0" smtClean="0"/>
              <a:t>How many total bits are required for a direct mapped cache with 16KB of data and 4-word blocks assuming a 32-bit address?</a:t>
            </a:r>
          </a:p>
        </p:txBody>
      </p:sp>
    </p:spTree>
    <p:extLst>
      <p:ext uri="{BB962C8B-B14F-4D97-AF65-F5344CB8AC3E}">
        <p14:creationId xmlns:p14="http://schemas.microsoft.com/office/powerpoint/2010/main" val="19093574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682" name="Rectangle 2"/>
          <p:cNvSpPr>
            <a:spLocks noGrp="1" noChangeArrowheads="1"/>
          </p:cNvSpPr>
          <p:nvPr>
            <p:ph type="body" idx="1"/>
          </p:nvPr>
        </p:nvSpPr>
        <p:spPr>
          <a:xfrm>
            <a:off x="381000" y="762000"/>
            <a:ext cx="8382000" cy="5491247"/>
          </a:xfrm>
          <a:noFill/>
          <a:ln/>
        </p:spPr>
        <p:txBody>
          <a:bodyPr lIns="90488" tIns="44450" rIns="90488" bIns="44450"/>
          <a:lstStyle/>
          <a:p>
            <a:pPr marL="342900" indent="-342900">
              <a:lnSpc>
                <a:spcPct val="100000"/>
              </a:lnSpc>
              <a:spcBef>
                <a:spcPts val="600"/>
              </a:spcBef>
            </a:pPr>
            <a:r>
              <a:rPr lang="en-US" dirty="0"/>
              <a:t>Read hits </a:t>
            </a:r>
            <a:r>
              <a:rPr lang="en-US" dirty="0" smtClean="0"/>
              <a:t>(L1I</a:t>
            </a:r>
            <a:r>
              <a:rPr lang="en-US" dirty="0"/>
              <a:t>$ and </a:t>
            </a:r>
            <a:r>
              <a:rPr lang="en-US" dirty="0" smtClean="0"/>
              <a:t>L1D</a:t>
            </a:r>
            <a:r>
              <a:rPr lang="en-US" dirty="0"/>
              <a:t>$)</a:t>
            </a:r>
          </a:p>
          <a:p>
            <a:pPr marL="742950" lvl="1" indent="-285750">
              <a:lnSpc>
                <a:spcPct val="100000"/>
              </a:lnSpc>
              <a:spcBef>
                <a:spcPts val="600"/>
              </a:spcBef>
            </a:pPr>
            <a:r>
              <a:rPr lang="en-US" dirty="0"/>
              <a:t>this is what we want!</a:t>
            </a:r>
          </a:p>
          <a:p>
            <a:pPr marL="1143000" lvl="2" indent="-228600">
              <a:lnSpc>
                <a:spcPct val="100000"/>
              </a:lnSpc>
              <a:spcBef>
                <a:spcPts val="600"/>
              </a:spcBef>
            </a:pPr>
            <a:endParaRPr lang="en-US" dirty="0"/>
          </a:p>
          <a:p>
            <a:pPr marL="342900" indent="-342900">
              <a:lnSpc>
                <a:spcPct val="100000"/>
              </a:lnSpc>
              <a:spcBef>
                <a:spcPts val="600"/>
              </a:spcBef>
            </a:pPr>
            <a:r>
              <a:rPr lang="en-US" dirty="0"/>
              <a:t>Write hits </a:t>
            </a:r>
            <a:r>
              <a:rPr lang="en-US" dirty="0" smtClean="0"/>
              <a:t>(L1D</a:t>
            </a:r>
            <a:r>
              <a:rPr lang="en-US" dirty="0"/>
              <a:t>$ only)</a:t>
            </a:r>
          </a:p>
          <a:p>
            <a:pPr marL="742950" lvl="1" indent="-285750">
              <a:lnSpc>
                <a:spcPct val="100000"/>
              </a:lnSpc>
              <a:spcBef>
                <a:spcPts val="600"/>
              </a:spcBef>
            </a:pPr>
            <a:r>
              <a:rPr lang="en-US" dirty="0" smtClean="0"/>
              <a:t>require the cache and memory to be </a:t>
            </a:r>
            <a:r>
              <a:rPr lang="en-US" dirty="0" smtClean="0">
                <a:solidFill>
                  <a:schemeClr val="accent1"/>
                </a:solidFill>
              </a:rPr>
              <a:t>consistent</a:t>
            </a:r>
          </a:p>
          <a:p>
            <a:pPr marL="1143000" lvl="2" indent="-228600">
              <a:lnSpc>
                <a:spcPct val="100000"/>
              </a:lnSpc>
              <a:spcBef>
                <a:spcPts val="600"/>
              </a:spcBef>
            </a:pPr>
            <a:r>
              <a:rPr lang="en-US" dirty="0" smtClean="0"/>
              <a:t>always write the data into both the cache block and the next level in the memory hierarchy (</a:t>
            </a:r>
            <a:r>
              <a:rPr lang="en-US" dirty="0" smtClean="0">
                <a:solidFill>
                  <a:schemeClr val="accent1"/>
                </a:solidFill>
              </a:rPr>
              <a:t>write-through</a:t>
            </a:r>
            <a:r>
              <a:rPr lang="en-US" dirty="0" smtClean="0"/>
              <a:t>)</a:t>
            </a:r>
          </a:p>
          <a:p>
            <a:pPr marL="1143000" lvl="2" indent="-228600">
              <a:lnSpc>
                <a:spcPct val="100000"/>
              </a:lnSpc>
              <a:spcBef>
                <a:spcPts val="600"/>
              </a:spcBef>
            </a:pPr>
            <a:r>
              <a:rPr lang="en-US" dirty="0" smtClean="0"/>
              <a:t>writes run at the speed of the next level in the memory hierarchy – so slow! – or can use a </a:t>
            </a:r>
            <a:r>
              <a:rPr lang="en-US" dirty="0" smtClean="0">
                <a:solidFill>
                  <a:schemeClr val="accent1"/>
                </a:solidFill>
              </a:rPr>
              <a:t>write buffer </a:t>
            </a:r>
            <a:r>
              <a:rPr lang="en-US" dirty="0" smtClean="0"/>
              <a:t>and stall only if the write buffer is full</a:t>
            </a:r>
          </a:p>
          <a:p>
            <a:pPr marL="742950" lvl="1" indent="-285750">
              <a:lnSpc>
                <a:spcPct val="100000"/>
              </a:lnSpc>
              <a:spcBef>
                <a:spcPts val="600"/>
              </a:spcBef>
            </a:pPr>
            <a:r>
              <a:rPr lang="en-US" dirty="0" smtClean="0"/>
              <a:t>allow </a:t>
            </a:r>
            <a:r>
              <a:rPr lang="en-US" dirty="0"/>
              <a:t>cache and memory to be </a:t>
            </a:r>
            <a:r>
              <a:rPr lang="en-US" dirty="0">
                <a:solidFill>
                  <a:schemeClr val="accent1"/>
                </a:solidFill>
              </a:rPr>
              <a:t>inconsistent</a:t>
            </a:r>
          </a:p>
          <a:p>
            <a:pPr marL="1143000" lvl="2" indent="-228600">
              <a:lnSpc>
                <a:spcPct val="100000"/>
              </a:lnSpc>
              <a:spcBef>
                <a:spcPts val="600"/>
              </a:spcBef>
            </a:pPr>
            <a:r>
              <a:rPr lang="en-US" dirty="0"/>
              <a:t>write the data only into the cache block (</a:t>
            </a:r>
            <a:r>
              <a:rPr lang="en-US" dirty="0">
                <a:solidFill>
                  <a:schemeClr val="accent1"/>
                </a:solidFill>
              </a:rPr>
              <a:t>write-back</a:t>
            </a:r>
            <a:r>
              <a:rPr lang="en-US" dirty="0"/>
              <a:t> the cache </a:t>
            </a:r>
            <a:r>
              <a:rPr lang="en-US" dirty="0" smtClean="0"/>
              <a:t>block to </a:t>
            </a:r>
            <a:r>
              <a:rPr lang="en-US" dirty="0"/>
              <a:t>the next level in the memory hierarchy when that cache block is “evicted”)</a:t>
            </a:r>
          </a:p>
          <a:p>
            <a:pPr marL="1143000" lvl="2" indent="-228600">
              <a:lnSpc>
                <a:spcPct val="100000"/>
              </a:lnSpc>
              <a:spcBef>
                <a:spcPts val="600"/>
              </a:spcBef>
            </a:pPr>
            <a:r>
              <a:rPr lang="en-US" dirty="0"/>
              <a:t>need a </a:t>
            </a:r>
            <a:r>
              <a:rPr lang="en-US" dirty="0">
                <a:solidFill>
                  <a:schemeClr val="accent1"/>
                </a:solidFill>
              </a:rPr>
              <a:t>dirty</a:t>
            </a:r>
            <a:r>
              <a:rPr lang="en-US" dirty="0"/>
              <a:t> bit for each data cache block to tell if it needs to be written back to memory when it is </a:t>
            </a:r>
            <a:r>
              <a:rPr lang="en-US" dirty="0" smtClean="0"/>
              <a:t>evicted – can use a </a:t>
            </a:r>
            <a:r>
              <a:rPr lang="en-US" dirty="0" smtClean="0">
                <a:solidFill>
                  <a:srgbClr val="FF0000"/>
                </a:solidFill>
              </a:rPr>
              <a:t>write buffer </a:t>
            </a:r>
            <a:r>
              <a:rPr lang="en-US" dirty="0" smtClean="0"/>
              <a:t>to help “buffer” write-backs of dirty blocks</a:t>
            </a:r>
            <a:endParaRPr lang="en-US" dirty="0"/>
          </a:p>
        </p:txBody>
      </p:sp>
      <p:sp>
        <p:nvSpPr>
          <p:cNvPr id="1607683" name="Rectangle 3"/>
          <p:cNvSpPr>
            <a:spLocks noGrp="1" noChangeArrowheads="1"/>
          </p:cNvSpPr>
          <p:nvPr>
            <p:ph type="title"/>
          </p:nvPr>
        </p:nvSpPr>
        <p:spPr>
          <a:noFill/>
          <a:ln/>
        </p:spPr>
        <p:txBody>
          <a:bodyPr lIns="90488" tIns="44450" rIns="90488" bIns="44450" anchor="ctr"/>
          <a:lstStyle/>
          <a:p>
            <a:r>
              <a:rPr lang="en-US"/>
              <a:t>Handling Cache Hits</a:t>
            </a:r>
          </a:p>
        </p:txBody>
      </p:sp>
    </p:spTree>
    <p:extLst>
      <p:ext uri="{BB962C8B-B14F-4D97-AF65-F5344CB8AC3E}">
        <p14:creationId xmlns:p14="http://schemas.microsoft.com/office/powerpoint/2010/main" val="1361383337"/>
      </p:ext>
    </p:extLst>
  </p:cSld>
  <p:clrMapOvr>
    <a:masterClrMapping/>
  </p:clrMapOvr>
  <p:transition advTm="2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16076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076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0768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0768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60768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60768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607682">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1607682">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160768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2" grpId="0" build="p" bldLvl="2"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2562" name="Rectangle 2"/>
          <p:cNvSpPr>
            <a:spLocks noGrp="1" noChangeArrowheads="1"/>
          </p:cNvSpPr>
          <p:nvPr>
            <p:ph type="title"/>
          </p:nvPr>
        </p:nvSpPr>
        <p:spPr>
          <a:xfrm>
            <a:off x="533400" y="304800"/>
            <a:ext cx="4422775" cy="422275"/>
          </a:xfrm>
          <a:noFill/>
          <a:ln/>
        </p:spPr>
        <p:txBody>
          <a:bodyPr wrap="none"/>
          <a:lstStyle/>
          <a:p>
            <a:r>
              <a:rPr lang="en-US"/>
              <a:t>Sources of Cache Misses</a:t>
            </a:r>
          </a:p>
        </p:txBody>
      </p:sp>
      <p:sp>
        <p:nvSpPr>
          <p:cNvPr id="1602563" name="Rectangle 3"/>
          <p:cNvSpPr>
            <a:spLocks noGrp="1" noChangeArrowheads="1"/>
          </p:cNvSpPr>
          <p:nvPr>
            <p:ph type="body" idx="1"/>
          </p:nvPr>
        </p:nvSpPr>
        <p:spPr>
          <a:xfrm>
            <a:off x="546100" y="850900"/>
            <a:ext cx="7988300" cy="5782096"/>
          </a:xfrm>
          <a:noFill/>
          <a:ln/>
        </p:spPr>
        <p:txBody>
          <a:bodyPr/>
          <a:lstStyle/>
          <a:p>
            <a:r>
              <a:rPr lang="en-US" dirty="0">
                <a:solidFill>
                  <a:schemeClr val="accent1"/>
                </a:solidFill>
              </a:rPr>
              <a:t>Compulsory</a:t>
            </a:r>
            <a:r>
              <a:rPr lang="en-US" dirty="0"/>
              <a:t> (cold start or process migration, first reference):</a:t>
            </a:r>
          </a:p>
          <a:p>
            <a:pPr lvl="1"/>
            <a:r>
              <a:rPr lang="en-US" dirty="0"/>
              <a:t>First access to a block, “cold” fact of life, not a whole lot you can do about </a:t>
            </a:r>
            <a:r>
              <a:rPr lang="en-US" dirty="0" smtClean="0"/>
              <a:t>it.  If </a:t>
            </a:r>
            <a:r>
              <a:rPr lang="en-US" dirty="0"/>
              <a:t>you are going to run “millions” of instruction, compulsory misses are </a:t>
            </a:r>
            <a:r>
              <a:rPr lang="en-US" dirty="0" smtClean="0"/>
              <a:t>insignificant</a:t>
            </a:r>
          </a:p>
          <a:p>
            <a:pPr lvl="1"/>
            <a:r>
              <a:rPr lang="en-US" dirty="0" smtClean="0"/>
              <a:t>Solution: increase block size (increases miss penalty; very large blocks could increase miss rate)</a:t>
            </a:r>
            <a:endParaRPr lang="en-US" dirty="0"/>
          </a:p>
          <a:p>
            <a:r>
              <a:rPr lang="en-US" dirty="0" smtClean="0">
                <a:solidFill>
                  <a:schemeClr val="accent1"/>
                </a:solidFill>
              </a:rPr>
              <a:t>Capacity</a:t>
            </a:r>
            <a:r>
              <a:rPr lang="en-US" dirty="0" smtClean="0"/>
              <a:t>:</a:t>
            </a:r>
          </a:p>
          <a:p>
            <a:pPr lvl="1"/>
            <a:r>
              <a:rPr lang="en-US" dirty="0" smtClean="0"/>
              <a:t>Cache cannot contain all blocks accessed by the program (its working set size)</a:t>
            </a:r>
          </a:p>
          <a:p>
            <a:pPr lvl="1"/>
            <a:r>
              <a:rPr lang="en-US" dirty="0" smtClean="0"/>
              <a:t>Solution: increase cache size (may increase access time)</a:t>
            </a:r>
          </a:p>
          <a:p>
            <a:r>
              <a:rPr lang="en-US" dirty="0" smtClean="0">
                <a:solidFill>
                  <a:schemeClr val="accent1"/>
                </a:solidFill>
              </a:rPr>
              <a:t>Conflict </a:t>
            </a:r>
            <a:r>
              <a:rPr lang="en-US" dirty="0"/>
              <a:t>(collision):</a:t>
            </a:r>
          </a:p>
          <a:p>
            <a:pPr lvl="1"/>
            <a:r>
              <a:rPr lang="en-US" dirty="0"/>
              <a:t>Multiple memory locations mapped to the same cache location</a:t>
            </a:r>
          </a:p>
          <a:p>
            <a:pPr lvl="1"/>
            <a:r>
              <a:rPr lang="en-US" dirty="0"/>
              <a:t>Solution 1: increase cache size</a:t>
            </a:r>
          </a:p>
          <a:p>
            <a:pPr lvl="1"/>
            <a:r>
              <a:rPr lang="en-US" dirty="0"/>
              <a:t>Solution 2: increase </a:t>
            </a:r>
            <a:r>
              <a:rPr lang="en-US" dirty="0" err="1"/>
              <a:t>associativity</a:t>
            </a:r>
            <a:r>
              <a:rPr lang="en-US" dirty="0"/>
              <a:t> </a:t>
            </a:r>
            <a:r>
              <a:rPr lang="en-US" dirty="0" smtClean="0"/>
              <a:t>(may increase access time)</a:t>
            </a:r>
            <a:endParaRPr lang="en-US" dirty="0"/>
          </a:p>
        </p:txBody>
      </p:sp>
    </p:spTree>
    <p:extLst>
      <p:ext uri="{BB962C8B-B14F-4D97-AF65-F5344CB8AC3E}">
        <p14:creationId xmlns:p14="http://schemas.microsoft.com/office/powerpoint/2010/main" val="16109142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16025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6025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6025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025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6025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6025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0256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60256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160256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16025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256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14850" name="Rectangle 2"/>
          <p:cNvSpPr>
            <a:spLocks noGrp="1" noChangeArrowheads="1"/>
          </p:cNvSpPr>
          <p:nvPr>
            <p:ph type="title"/>
          </p:nvPr>
        </p:nvSpPr>
        <p:spPr/>
        <p:txBody>
          <a:bodyPr/>
          <a:lstStyle/>
          <a:p>
            <a:r>
              <a:rPr lang="en-US"/>
              <a:t>Taking Advantage of Spatial Locality </a:t>
            </a:r>
          </a:p>
        </p:txBody>
      </p:sp>
      <p:grpSp>
        <p:nvGrpSpPr>
          <p:cNvPr id="2" name="Group 3"/>
          <p:cNvGrpSpPr>
            <a:grpSpLocks/>
          </p:cNvGrpSpPr>
          <p:nvPr/>
        </p:nvGrpSpPr>
        <p:grpSpPr bwMode="auto">
          <a:xfrm>
            <a:off x="533400" y="1828800"/>
            <a:ext cx="2514600" cy="990600"/>
            <a:chOff x="336" y="1248"/>
            <a:chExt cx="1584" cy="624"/>
          </a:xfrm>
        </p:grpSpPr>
        <p:sp>
          <p:nvSpPr>
            <p:cNvPr id="1614852" name="Rectangle 4"/>
            <p:cNvSpPr>
              <a:spLocks noChangeArrowheads="1"/>
            </p:cNvSpPr>
            <p:nvPr/>
          </p:nvSpPr>
          <p:spPr bwMode="auto">
            <a:xfrm>
              <a:off x="672"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53" name="Line 5"/>
            <p:cNvSpPr>
              <a:spLocks noChangeShapeType="1"/>
            </p:cNvSpPr>
            <p:nvPr/>
          </p:nvSpPr>
          <p:spPr bwMode="auto">
            <a:xfrm>
              <a:off x="672" y="1680"/>
              <a:ext cx="624" cy="0"/>
            </a:xfrm>
            <a:prstGeom prst="line">
              <a:avLst/>
            </a:prstGeom>
            <a:noFill/>
            <a:ln w="12700">
              <a:solidFill>
                <a:schemeClr val="tx1"/>
              </a:solidFill>
              <a:round/>
              <a:headEnd/>
              <a:tailEnd/>
            </a:ln>
            <a:effectLst/>
          </p:spPr>
          <p:txBody>
            <a:bodyPr wrap="none" anchor="ctr"/>
            <a:lstStyle/>
            <a:p>
              <a:endParaRPr lang="en-US"/>
            </a:p>
          </p:txBody>
        </p:sp>
        <p:sp>
          <p:nvSpPr>
            <p:cNvPr id="1614854" name="Rectangle 6"/>
            <p:cNvSpPr>
              <a:spLocks noChangeArrowheads="1"/>
            </p:cNvSpPr>
            <p:nvPr/>
          </p:nvSpPr>
          <p:spPr bwMode="auto">
            <a:xfrm>
              <a:off x="1296"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55" name="Line 7"/>
            <p:cNvSpPr>
              <a:spLocks noChangeShapeType="1"/>
            </p:cNvSpPr>
            <p:nvPr/>
          </p:nvSpPr>
          <p:spPr bwMode="auto">
            <a:xfrm>
              <a:off x="1296" y="1680"/>
              <a:ext cx="624" cy="0"/>
            </a:xfrm>
            <a:prstGeom prst="line">
              <a:avLst/>
            </a:prstGeom>
            <a:noFill/>
            <a:ln w="12700">
              <a:solidFill>
                <a:schemeClr val="tx1"/>
              </a:solidFill>
              <a:round/>
              <a:headEnd/>
              <a:tailEnd/>
            </a:ln>
            <a:effectLst/>
          </p:spPr>
          <p:txBody>
            <a:bodyPr wrap="none" anchor="ctr"/>
            <a:lstStyle/>
            <a:p>
              <a:endParaRPr lang="en-US"/>
            </a:p>
          </p:txBody>
        </p:sp>
        <p:sp>
          <p:nvSpPr>
            <p:cNvPr id="1614856" name="Text Box 8"/>
            <p:cNvSpPr txBox="1">
              <a:spLocks noChangeArrowheads="1"/>
            </p:cNvSpPr>
            <p:nvPr/>
          </p:nvSpPr>
          <p:spPr bwMode="auto">
            <a:xfrm>
              <a:off x="960" y="1248"/>
              <a:ext cx="196" cy="231"/>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614857" name="Rectangle 9"/>
            <p:cNvSpPr>
              <a:spLocks noChangeArrowheads="1"/>
            </p:cNvSpPr>
            <p:nvPr/>
          </p:nvSpPr>
          <p:spPr bwMode="auto">
            <a:xfrm>
              <a:off x="336" y="1488"/>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4858" name="Line 10"/>
            <p:cNvSpPr>
              <a:spLocks noChangeShapeType="1"/>
            </p:cNvSpPr>
            <p:nvPr/>
          </p:nvSpPr>
          <p:spPr bwMode="auto">
            <a:xfrm>
              <a:off x="336" y="1680"/>
              <a:ext cx="336" cy="0"/>
            </a:xfrm>
            <a:prstGeom prst="line">
              <a:avLst/>
            </a:prstGeom>
            <a:noFill/>
            <a:ln w="12700">
              <a:solidFill>
                <a:schemeClr val="tx1"/>
              </a:solidFill>
              <a:round/>
              <a:headEnd/>
              <a:tailEnd/>
            </a:ln>
            <a:effectLst/>
          </p:spPr>
          <p:txBody>
            <a:bodyPr wrap="none" anchor="ctr"/>
            <a:lstStyle/>
            <a:p>
              <a:endParaRPr lang="en-US"/>
            </a:p>
          </p:txBody>
        </p:sp>
      </p:grpSp>
      <p:sp>
        <p:nvSpPr>
          <p:cNvPr id="1614859" name="Rectangle 11"/>
          <p:cNvSpPr>
            <a:spLocks noGrp="1" noChangeArrowheads="1"/>
          </p:cNvSpPr>
          <p:nvPr>
            <p:ph type="body" idx="1"/>
          </p:nvPr>
        </p:nvSpPr>
        <p:spPr>
          <a:xfrm>
            <a:off x="685800" y="762000"/>
            <a:ext cx="7848600" cy="812800"/>
          </a:xfrm>
          <a:noFill/>
          <a:ln/>
        </p:spPr>
        <p:txBody>
          <a:bodyPr/>
          <a:lstStyle/>
          <a:p>
            <a:r>
              <a:rPr lang="en-US"/>
              <a:t>Let cache block hold more than one word</a:t>
            </a:r>
          </a:p>
          <a:p>
            <a:pPr lvl="1" algn="ctr">
              <a:buFont typeface="Monotype Sorts" pitchFamily="2" charset="2"/>
              <a:buNone/>
            </a:pPr>
            <a:r>
              <a:rPr lang="en-US"/>
              <a:t>                          0   1   2   3   4   3   4   15</a:t>
            </a:r>
          </a:p>
        </p:txBody>
      </p:sp>
      <p:grpSp>
        <p:nvGrpSpPr>
          <p:cNvPr id="3" name="Group 13"/>
          <p:cNvGrpSpPr>
            <a:grpSpLocks/>
          </p:cNvGrpSpPr>
          <p:nvPr/>
        </p:nvGrpSpPr>
        <p:grpSpPr bwMode="auto">
          <a:xfrm>
            <a:off x="3429000" y="1843088"/>
            <a:ext cx="2514600" cy="976312"/>
            <a:chOff x="2160" y="1257"/>
            <a:chExt cx="1584" cy="615"/>
          </a:xfrm>
        </p:grpSpPr>
        <p:sp>
          <p:nvSpPr>
            <p:cNvPr id="1614862" name="Text Box 14"/>
            <p:cNvSpPr txBox="1">
              <a:spLocks noChangeArrowheads="1"/>
            </p:cNvSpPr>
            <p:nvPr/>
          </p:nvSpPr>
          <p:spPr bwMode="auto">
            <a:xfrm>
              <a:off x="2832" y="1257"/>
              <a:ext cx="196" cy="231"/>
            </a:xfrm>
            <a:prstGeom prst="rect">
              <a:avLst/>
            </a:prstGeom>
            <a:noFill/>
            <a:ln w="12700">
              <a:noFill/>
              <a:miter lim="800000"/>
              <a:headEnd/>
              <a:tailEnd/>
            </a:ln>
            <a:effectLst/>
          </p:spPr>
          <p:txBody>
            <a:bodyPr wrap="none">
              <a:spAutoFit/>
            </a:bodyPr>
            <a:lstStyle/>
            <a:p>
              <a:r>
                <a:rPr lang="en-US" b="1">
                  <a:solidFill>
                    <a:schemeClr val="tx1"/>
                  </a:solidFill>
                </a:rPr>
                <a:t>1</a:t>
              </a:r>
            </a:p>
          </p:txBody>
        </p:sp>
        <p:sp>
          <p:nvSpPr>
            <p:cNvPr id="1614863" name="Rectangle 15"/>
            <p:cNvSpPr>
              <a:spLocks noChangeArrowheads="1"/>
            </p:cNvSpPr>
            <p:nvPr/>
          </p:nvSpPr>
          <p:spPr bwMode="auto">
            <a:xfrm>
              <a:off x="2496"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64" name="Line 16"/>
            <p:cNvSpPr>
              <a:spLocks noChangeShapeType="1"/>
            </p:cNvSpPr>
            <p:nvPr/>
          </p:nvSpPr>
          <p:spPr bwMode="auto">
            <a:xfrm>
              <a:off x="2496" y="1680"/>
              <a:ext cx="624" cy="0"/>
            </a:xfrm>
            <a:prstGeom prst="line">
              <a:avLst/>
            </a:prstGeom>
            <a:noFill/>
            <a:ln w="12700">
              <a:solidFill>
                <a:schemeClr val="tx1"/>
              </a:solidFill>
              <a:round/>
              <a:headEnd/>
              <a:tailEnd/>
            </a:ln>
            <a:effectLst/>
          </p:spPr>
          <p:txBody>
            <a:bodyPr wrap="none" anchor="ctr"/>
            <a:lstStyle/>
            <a:p>
              <a:endParaRPr lang="en-US"/>
            </a:p>
          </p:txBody>
        </p:sp>
        <p:sp>
          <p:nvSpPr>
            <p:cNvPr id="1614865" name="Rectangle 17"/>
            <p:cNvSpPr>
              <a:spLocks noChangeArrowheads="1"/>
            </p:cNvSpPr>
            <p:nvPr/>
          </p:nvSpPr>
          <p:spPr bwMode="auto">
            <a:xfrm>
              <a:off x="3120"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66" name="Line 18"/>
            <p:cNvSpPr>
              <a:spLocks noChangeShapeType="1"/>
            </p:cNvSpPr>
            <p:nvPr/>
          </p:nvSpPr>
          <p:spPr bwMode="auto">
            <a:xfrm>
              <a:off x="3120" y="1680"/>
              <a:ext cx="624" cy="0"/>
            </a:xfrm>
            <a:prstGeom prst="line">
              <a:avLst/>
            </a:prstGeom>
            <a:noFill/>
            <a:ln w="12700">
              <a:solidFill>
                <a:schemeClr val="tx1"/>
              </a:solidFill>
              <a:round/>
              <a:headEnd/>
              <a:tailEnd/>
            </a:ln>
            <a:effectLst/>
          </p:spPr>
          <p:txBody>
            <a:bodyPr wrap="none" anchor="ctr"/>
            <a:lstStyle/>
            <a:p>
              <a:endParaRPr lang="en-US"/>
            </a:p>
          </p:txBody>
        </p:sp>
        <p:sp>
          <p:nvSpPr>
            <p:cNvPr id="1614867" name="Rectangle 19"/>
            <p:cNvSpPr>
              <a:spLocks noChangeArrowheads="1"/>
            </p:cNvSpPr>
            <p:nvPr/>
          </p:nvSpPr>
          <p:spPr bwMode="auto">
            <a:xfrm>
              <a:off x="2160" y="1488"/>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4868" name="Line 20"/>
            <p:cNvSpPr>
              <a:spLocks noChangeShapeType="1"/>
            </p:cNvSpPr>
            <p:nvPr/>
          </p:nvSpPr>
          <p:spPr bwMode="auto">
            <a:xfrm>
              <a:off x="2160" y="1680"/>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4" name="Group 21"/>
          <p:cNvGrpSpPr>
            <a:grpSpLocks/>
          </p:cNvGrpSpPr>
          <p:nvPr/>
        </p:nvGrpSpPr>
        <p:grpSpPr bwMode="auto">
          <a:xfrm>
            <a:off x="6248400" y="1868488"/>
            <a:ext cx="2514600" cy="950912"/>
            <a:chOff x="3936" y="1273"/>
            <a:chExt cx="1584" cy="599"/>
          </a:xfrm>
        </p:grpSpPr>
        <p:sp>
          <p:nvSpPr>
            <p:cNvPr id="1614870" name="Text Box 22"/>
            <p:cNvSpPr txBox="1">
              <a:spLocks noChangeArrowheads="1"/>
            </p:cNvSpPr>
            <p:nvPr/>
          </p:nvSpPr>
          <p:spPr bwMode="auto">
            <a:xfrm>
              <a:off x="4608" y="1273"/>
              <a:ext cx="196" cy="231"/>
            </a:xfrm>
            <a:prstGeom prst="rect">
              <a:avLst/>
            </a:prstGeom>
            <a:noFill/>
            <a:ln w="12700">
              <a:noFill/>
              <a:miter lim="800000"/>
              <a:headEnd/>
              <a:tailEnd/>
            </a:ln>
            <a:effectLst/>
          </p:spPr>
          <p:txBody>
            <a:bodyPr wrap="none">
              <a:spAutoFit/>
            </a:bodyPr>
            <a:lstStyle/>
            <a:p>
              <a:r>
                <a:rPr lang="en-US" b="1">
                  <a:solidFill>
                    <a:schemeClr val="tx1"/>
                  </a:solidFill>
                </a:rPr>
                <a:t>2</a:t>
              </a:r>
            </a:p>
          </p:txBody>
        </p:sp>
        <p:sp>
          <p:nvSpPr>
            <p:cNvPr id="1614871" name="Rectangle 23"/>
            <p:cNvSpPr>
              <a:spLocks noChangeArrowheads="1"/>
            </p:cNvSpPr>
            <p:nvPr/>
          </p:nvSpPr>
          <p:spPr bwMode="auto">
            <a:xfrm>
              <a:off x="4272"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72" name="Line 24"/>
            <p:cNvSpPr>
              <a:spLocks noChangeShapeType="1"/>
            </p:cNvSpPr>
            <p:nvPr/>
          </p:nvSpPr>
          <p:spPr bwMode="auto">
            <a:xfrm>
              <a:off x="4272" y="1680"/>
              <a:ext cx="624" cy="0"/>
            </a:xfrm>
            <a:prstGeom prst="line">
              <a:avLst/>
            </a:prstGeom>
            <a:noFill/>
            <a:ln w="12700">
              <a:solidFill>
                <a:schemeClr val="tx1"/>
              </a:solidFill>
              <a:round/>
              <a:headEnd/>
              <a:tailEnd/>
            </a:ln>
            <a:effectLst/>
          </p:spPr>
          <p:txBody>
            <a:bodyPr wrap="none" anchor="ctr"/>
            <a:lstStyle/>
            <a:p>
              <a:endParaRPr lang="en-US"/>
            </a:p>
          </p:txBody>
        </p:sp>
        <p:sp>
          <p:nvSpPr>
            <p:cNvPr id="1614873" name="Rectangle 25"/>
            <p:cNvSpPr>
              <a:spLocks noChangeArrowheads="1"/>
            </p:cNvSpPr>
            <p:nvPr/>
          </p:nvSpPr>
          <p:spPr bwMode="auto">
            <a:xfrm>
              <a:off x="4896"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74" name="Line 26"/>
            <p:cNvSpPr>
              <a:spLocks noChangeShapeType="1"/>
            </p:cNvSpPr>
            <p:nvPr/>
          </p:nvSpPr>
          <p:spPr bwMode="auto">
            <a:xfrm>
              <a:off x="4896" y="1680"/>
              <a:ext cx="624" cy="0"/>
            </a:xfrm>
            <a:prstGeom prst="line">
              <a:avLst/>
            </a:prstGeom>
            <a:noFill/>
            <a:ln w="12700">
              <a:solidFill>
                <a:schemeClr val="tx1"/>
              </a:solidFill>
              <a:round/>
              <a:headEnd/>
              <a:tailEnd/>
            </a:ln>
            <a:effectLst/>
          </p:spPr>
          <p:txBody>
            <a:bodyPr wrap="none" anchor="ctr"/>
            <a:lstStyle/>
            <a:p>
              <a:endParaRPr lang="en-US"/>
            </a:p>
          </p:txBody>
        </p:sp>
        <p:sp>
          <p:nvSpPr>
            <p:cNvPr id="1614875" name="Rectangle 27"/>
            <p:cNvSpPr>
              <a:spLocks noChangeArrowheads="1"/>
            </p:cNvSpPr>
            <p:nvPr/>
          </p:nvSpPr>
          <p:spPr bwMode="auto">
            <a:xfrm>
              <a:off x="3936" y="1488"/>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4876" name="Line 28"/>
            <p:cNvSpPr>
              <a:spLocks noChangeShapeType="1"/>
            </p:cNvSpPr>
            <p:nvPr/>
          </p:nvSpPr>
          <p:spPr bwMode="auto">
            <a:xfrm>
              <a:off x="3936" y="1680"/>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5" name="Group 29"/>
          <p:cNvGrpSpPr>
            <a:grpSpLocks/>
          </p:cNvGrpSpPr>
          <p:nvPr/>
        </p:nvGrpSpPr>
        <p:grpSpPr bwMode="auto">
          <a:xfrm>
            <a:off x="533400" y="3200400"/>
            <a:ext cx="2514600" cy="990600"/>
            <a:chOff x="336" y="2112"/>
            <a:chExt cx="1584" cy="624"/>
          </a:xfrm>
        </p:grpSpPr>
        <p:sp>
          <p:nvSpPr>
            <p:cNvPr id="1614878" name="Text Box 30"/>
            <p:cNvSpPr txBox="1">
              <a:spLocks noChangeArrowheads="1"/>
            </p:cNvSpPr>
            <p:nvPr/>
          </p:nvSpPr>
          <p:spPr bwMode="auto">
            <a:xfrm>
              <a:off x="1008" y="2112"/>
              <a:ext cx="196" cy="231"/>
            </a:xfrm>
            <a:prstGeom prst="rect">
              <a:avLst/>
            </a:prstGeom>
            <a:noFill/>
            <a:ln w="12700">
              <a:noFill/>
              <a:miter lim="800000"/>
              <a:headEnd/>
              <a:tailEnd/>
            </a:ln>
            <a:effectLst/>
          </p:spPr>
          <p:txBody>
            <a:bodyPr wrap="none">
              <a:spAutoFit/>
            </a:bodyPr>
            <a:lstStyle/>
            <a:p>
              <a:r>
                <a:rPr lang="en-US" b="1">
                  <a:solidFill>
                    <a:schemeClr val="tx1"/>
                  </a:solidFill>
                </a:rPr>
                <a:t>3</a:t>
              </a:r>
            </a:p>
          </p:txBody>
        </p:sp>
        <p:sp>
          <p:nvSpPr>
            <p:cNvPr id="1614879" name="Rectangle 31"/>
            <p:cNvSpPr>
              <a:spLocks noChangeArrowheads="1"/>
            </p:cNvSpPr>
            <p:nvPr/>
          </p:nvSpPr>
          <p:spPr bwMode="auto">
            <a:xfrm>
              <a:off x="672"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80" name="Line 32"/>
            <p:cNvSpPr>
              <a:spLocks noChangeShapeType="1"/>
            </p:cNvSpPr>
            <p:nvPr/>
          </p:nvSpPr>
          <p:spPr bwMode="auto">
            <a:xfrm>
              <a:off x="672" y="2544"/>
              <a:ext cx="624" cy="0"/>
            </a:xfrm>
            <a:prstGeom prst="line">
              <a:avLst/>
            </a:prstGeom>
            <a:noFill/>
            <a:ln w="12700">
              <a:solidFill>
                <a:schemeClr val="tx1"/>
              </a:solidFill>
              <a:round/>
              <a:headEnd/>
              <a:tailEnd/>
            </a:ln>
            <a:effectLst/>
          </p:spPr>
          <p:txBody>
            <a:bodyPr wrap="none" anchor="ctr"/>
            <a:lstStyle/>
            <a:p>
              <a:endParaRPr lang="en-US"/>
            </a:p>
          </p:txBody>
        </p:sp>
        <p:sp>
          <p:nvSpPr>
            <p:cNvPr id="1614881" name="Rectangle 33"/>
            <p:cNvSpPr>
              <a:spLocks noChangeArrowheads="1"/>
            </p:cNvSpPr>
            <p:nvPr/>
          </p:nvSpPr>
          <p:spPr bwMode="auto">
            <a:xfrm>
              <a:off x="1296"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82" name="Line 34"/>
            <p:cNvSpPr>
              <a:spLocks noChangeShapeType="1"/>
            </p:cNvSpPr>
            <p:nvPr/>
          </p:nvSpPr>
          <p:spPr bwMode="auto">
            <a:xfrm>
              <a:off x="1296" y="2544"/>
              <a:ext cx="624" cy="0"/>
            </a:xfrm>
            <a:prstGeom prst="line">
              <a:avLst/>
            </a:prstGeom>
            <a:noFill/>
            <a:ln w="12700">
              <a:solidFill>
                <a:schemeClr val="tx1"/>
              </a:solidFill>
              <a:round/>
              <a:headEnd/>
              <a:tailEnd/>
            </a:ln>
            <a:effectLst/>
          </p:spPr>
          <p:txBody>
            <a:bodyPr wrap="none" anchor="ctr"/>
            <a:lstStyle/>
            <a:p>
              <a:endParaRPr lang="en-US"/>
            </a:p>
          </p:txBody>
        </p:sp>
        <p:sp>
          <p:nvSpPr>
            <p:cNvPr id="1614883" name="Rectangle 35"/>
            <p:cNvSpPr>
              <a:spLocks noChangeArrowheads="1"/>
            </p:cNvSpPr>
            <p:nvPr/>
          </p:nvSpPr>
          <p:spPr bwMode="auto">
            <a:xfrm>
              <a:off x="336" y="2352"/>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4884" name="Line 36"/>
            <p:cNvSpPr>
              <a:spLocks noChangeShapeType="1"/>
            </p:cNvSpPr>
            <p:nvPr/>
          </p:nvSpPr>
          <p:spPr bwMode="auto">
            <a:xfrm>
              <a:off x="336" y="2544"/>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6" name="Group 37"/>
          <p:cNvGrpSpPr>
            <a:grpSpLocks/>
          </p:cNvGrpSpPr>
          <p:nvPr/>
        </p:nvGrpSpPr>
        <p:grpSpPr bwMode="auto">
          <a:xfrm>
            <a:off x="3429000" y="3200400"/>
            <a:ext cx="2514600" cy="990600"/>
            <a:chOff x="2160" y="2112"/>
            <a:chExt cx="1584" cy="624"/>
          </a:xfrm>
        </p:grpSpPr>
        <p:sp>
          <p:nvSpPr>
            <p:cNvPr id="1614886" name="Text Box 38"/>
            <p:cNvSpPr txBox="1">
              <a:spLocks noChangeArrowheads="1"/>
            </p:cNvSpPr>
            <p:nvPr/>
          </p:nvSpPr>
          <p:spPr bwMode="auto">
            <a:xfrm>
              <a:off x="2880" y="2112"/>
              <a:ext cx="196" cy="231"/>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614887" name="Rectangle 39"/>
            <p:cNvSpPr>
              <a:spLocks noChangeArrowheads="1"/>
            </p:cNvSpPr>
            <p:nvPr/>
          </p:nvSpPr>
          <p:spPr bwMode="auto">
            <a:xfrm>
              <a:off x="2496"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88" name="Line 40"/>
            <p:cNvSpPr>
              <a:spLocks noChangeShapeType="1"/>
            </p:cNvSpPr>
            <p:nvPr/>
          </p:nvSpPr>
          <p:spPr bwMode="auto">
            <a:xfrm>
              <a:off x="2496" y="2544"/>
              <a:ext cx="624" cy="0"/>
            </a:xfrm>
            <a:prstGeom prst="line">
              <a:avLst/>
            </a:prstGeom>
            <a:noFill/>
            <a:ln w="12700">
              <a:solidFill>
                <a:schemeClr val="tx1"/>
              </a:solidFill>
              <a:round/>
              <a:headEnd/>
              <a:tailEnd/>
            </a:ln>
            <a:effectLst/>
          </p:spPr>
          <p:txBody>
            <a:bodyPr wrap="none" anchor="ctr"/>
            <a:lstStyle/>
            <a:p>
              <a:endParaRPr lang="en-US"/>
            </a:p>
          </p:txBody>
        </p:sp>
        <p:sp>
          <p:nvSpPr>
            <p:cNvPr id="1614889" name="Rectangle 41"/>
            <p:cNvSpPr>
              <a:spLocks noChangeArrowheads="1"/>
            </p:cNvSpPr>
            <p:nvPr/>
          </p:nvSpPr>
          <p:spPr bwMode="auto">
            <a:xfrm>
              <a:off x="3120"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90" name="Line 42"/>
            <p:cNvSpPr>
              <a:spLocks noChangeShapeType="1"/>
            </p:cNvSpPr>
            <p:nvPr/>
          </p:nvSpPr>
          <p:spPr bwMode="auto">
            <a:xfrm>
              <a:off x="3120" y="2544"/>
              <a:ext cx="624" cy="0"/>
            </a:xfrm>
            <a:prstGeom prst="line">
              <a:avLst/>
            </a:prstGeom>
            <a:noFill/>
            <a:ln w="12700">
              <a:solidFill>
                <a:schemeClr val="tx1"/>
              </a:solidFill>
              <a:round/>
              <a:headEnd/>
              <a:tailEnd/>
            </a:ln>
            <a:effectLst/>
          </p:spPr>
          <p:txBody>
            <a:bodyPr wrap="none" anchor="ctr"/>
            <a:lstStyle/>
            <a:p>
              <a:endParaRPr lang="en-US"/>
            </a:p>
          </p:txBody>
        </p:sp>
        <p:sp>
          <p:nvSpPr>
            <p:cNvPr id="1614891" name="Rectangle 43"/>
            <p:cNvSpPr>
              <a:spLocks noChangeArrowheads="1"/>
            </p:cNvSpPr>
            <p:nvPr/>
          </p:nvSpPr>
          <p:spPr bwMode="auto">
            <a:xfrm>
              <a:off x="2160" y="2352"/>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4892" name="Line 44"/>
            <p:cNvSpPr>
              <a:spLocks noChangeShapeType="1"/>
            </p:cNvSpPr>
            <p:nvPr/>
          </p:nvSpPr>
          <p:spPr bwMode="auto">
            <a:xfrm>
              <a:off x="2160" y="2544"/>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7" name="Group 45"/>
          <p:cNvGrpSpPr>
            <a:grpSpLocks/>
          </p:cNvGrpSpPr>
          <p:nvPr/>
        </p:nvGrpSpPr>
        <p:grpSpPr bwMode="auto">
          <a:xfrm>
            <a:off x="6248400" y="3200400"/>
            <a:ext cx="2514600" cy="990600"/>
            <a:chOff x="3936" y="2112"/>
            <a:chExt cx="1584" cy="624"/>
          </a:xfrm>
        </p:grpSpPr>
        <p:sp>
          <p:nvSpPr>
            <p:cNvPr id="1614894" name="Text Box 46"/>
            <p:cNvSpPr txBox="1">
              <a:spLocks noChangeArrowheads="1"/>
            </p:cNvSpPr>
            <p:nvPr/>
          </p:nvSpPr>
          <p:spPr bwMode="auto">
            <a:xfrm>
              <a:off x="4608" y="2112"/>
              <a:ext cx="196" cy="231"/>
            </a:xfrm>
            <a:prstGeom prst="rect">
              <a:avLst/>
            </a:prstGeom>
            <a:noFill/>
            <a:ln w="12700">
              <a:noFill/>
              <a:miter lim="800000"/>
              <a:headEnd/>
              <a:tailEnd/>
            </a:ln>
            <a:effectLst/>
          </p:spPr>
          <p:txBody>
            <a:bodyPr wrap="none">
              <a:spAutoFit/>
            </a:bodyPr>
            <a:lstStyle/>
            <a:p>
              <a:r>
                <a:rPr lang="en-US" b="1">
                  <a:solidFill>
                    <a:schemeClr val="tx1"/>
                  </a:solidFill>
                </a:rPr>
                <a:t>3</a:t>
              </a:r>
            </a:p>
          </p:txBody>
        </p:sp>
        <p:sp>
          <p:nvSpPr>
            <p:cNvPr id="1614895" name="Rectangle 47"/>
            <p:cNvSpPr>
              <a:spLocks noChangeArrowheads="1"/>
            </p:cNvSpPr>
            <p:nvPr/>
          </p:nvSpPr>
          <p:spPr bwMode="auto">
            <a:xfrm>
              <a:off x="4272"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96" name="Line 48"/>
            <p:cNvSpPr>
              <a:spLocks noChangeShapeType="1"/>
            </p:cNvSpPr>
            <p:nvPr/>
          </p:nvSpPr>
          <p:spPr bwMode="auto">
            <a:xfrm>
              <a:off x="4272" y="2544"/>
              <a:ext cx="624" cy="0"/>
            </a:xfrm>
            <a:prstGeom prst="line">
              <a:avLst/>
            </a:prstGeom>
            <a:noFill/>
            <a:ln w="12700">
              <a:solidFill>
                <a:schemeClr val="tx1"/>
              </a:solidFill>
              <a:round/>
              <a:headEnd/>
              <a:tailEnd/>
            </a:ln>
            <a:effectLst/>
          </p:spPr>
          <p:txBody>
            <a:bodyPr wrap="none" anchor="ctr"/>
            <a:lstStyle/>
            <a:p>
              <a:endParaRPr lang="en-US"/>
            </a:p>
          </p:txBody>
        </p:sp>
        <p:sp>
          <p:nvSpPr>
            <p:cNvPr id="1614897" name="Rectangle 49"/>
            <p:cNvSpPr>
              <a:spLocks noChangeArrowheads="1"/>
            </p:cNvSpPr>
            <p:nvPr/>
          </p:nvSpPr>
          <p:spPr bwMode="auto">
            <a:xfrm>
              <a:off x="4896"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898" name="Line 50"/>
            <p:cNvSpPr>
              <a:spLocks noChangeShapeType="1"/>
            </p:cNvSpPr>
            <p:nvPr/>
          </p:nvSpPr>
          <p:spPr bwMode="auto">
            <a:xfrm>
              <a:off x="4896" y="2544"/>
              <a:ext cx="624" cy="0"/>
            </a:xfrm>
            <a:prstGeom prst="line">
              <a:avLst/>
            </a:prstGeom>
            <a:noFill/>
            <a:ln w="12700">
              <a:solidFill>
                <a:schemeClr val="tx1"/>
              </a:solidFill>
              <a:round/>
              <a:headEnd/>
              <a:tailEnd/>
            </a:ln>
            <a:effectLst/>
          </p:spPr>
          <p:txBody>
            <a:bodyPr wrap="none" anchor="ctr"/>
            <a:lstStyle/>
            <a:p>
              <a:endParaRPr lang="en-US"/>
            </a:p>
          </p:txBody>
        </p:sp>
        <p:sp>
          <p:nvSpPr>
            <p:cNvPr id="1614899" name="Rectangle 51"/>
            <p:cNvSpPr>
              <a:spLocks noChangeArrowheads="1"/>
            </p:cNvSpPr>
            <p:nvPr/>
          </p:nvSpPr>
          <p:spPr bwMode="auto">
            <a:xfrm>
              <a:off x="3936" y="2352"/>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4900" name="Line 52"/>
            <p:cNvSpPr>
              <a:spLocks noChangeShapeType="1"/>
            </p:cNvSpPr>
            <p:nvPr/>
          </p:nvSpPr>
          <p:spPr bwMode="auto">
            <a:xfrm>
              <a:off x="3936" y="2544"/>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8" name="Group 53"/>
          <p:cNvGrpSpPr>
            <a:grpSpLocks/>
          </p:cNvGrpSpPr>
          <p:nvPr/>
        </p:nvGrpSpPr>
        <p:grpSpPr bwMode="auto">
          <a:xfrm>
            <a:off x="1905000" y="4572000"/>
            <a:ext cx="2514600" cy="990600"/>
            <a:chOff x="1200" y="2976"/>
            <a:chExt cx="1584" cy="624"/>
          </a:xfrm>
        </p:grpSpPr>
        <p:sp>
          <p:nvSpPr>
            <p:cNvPr id="1614902" name="Text Box 54"/>
            <p:cNvSpPr txBox="1">
              <a:spLocks noChangeArrowheads="1"/>
            </p:cNvSpPr>
            <p:nvPr/>
          </p:nvSpPr>
          <p:spPr bwMode="auto">
            <a:xfrm>
              <a:off x="1824" y="2976"/>
              <a:ext cx="196" cy="231"/>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614903" name="Rectangle 55"/>
            <p:cNvSpPr>
              <a:spLocks noChangeArrowheads="1"/>
            </p:cNvSpPr>
            <p:nvPr/>
          </p:nvSpPr>
          <p:spPr bwMode="auto">
            <a:xfrm>
              <a:off x="1536" y="3216"/>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904" name="Line 56"/>
            <p:cNvSpPr>
              <a:spLocks noChangeShapeType="1"/>
            </p:cNvSpPr>
            <p:nvPr/>
          </p:nvSpPr>
          <p:spPr bwMode="auto">
            <a:xfrm>
              <a:off x="1536" y="3408"/>
              <a:ext cx="624" cy="0"/>
            </a:xfrm>
            <a:prstGeom prst="line">
              <a:avLst/>
            </a:prstGeom>
            <a:noFill/>
            <a:ln w="12700">
              <a:solidFill>
                <a:schemeClr val="tx1"/>
              </a:solidFill>
              <a:round/>
              <a:headEnd/>
              <a:tailEnd/>
            </a:ln>
            <a:effectLst/>
          </p:spPr>
          <p:txBody>
            <a:bodyPr wrap="none" anchor="ctr"/>
            <a:lstStyle/>
            <a:p>
              <a:endParaRPr lang="en-US"/>
            </a:p>
          </p:txBody>
        </p:sp>
        <p:sp>
          <p:nvSpPr>
            <p:cNvPr id="1614905" name="Rectangle 57"/>
            <p:cNvSpPr>
              <a:spLocks noChangeArrowheads="1"/>
            </p:cNvSpPr>
            <p:nvPr/>
          </p:nvSpPr>
          <p:spPr bwMode="auto">
            <a:xfrm>
              <a:off x="2160" y="3216"/>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906" name="Line 58"/>
            <p:cNvSpPr>
              <a:spLocks noChangeShapeType="1"/>
            </p:cNvSpPr>
            <p:nvPr/>
          </p:nvSpPr>
          <p:spPr bwMode="auto">
            <a:xfrm>
              <a:off x="2160" y="3408"/>
              <a:ext cx="624" cy="0"/>
            </a:xfrm>
            <a:prstGeom prst="line">
              <a:avLst/>
            </a:prstGeom>
            <a:noFill/>
            <a:ln w="12700">
              <a:solidFill>
                <a:schemeClr val="tx1"/>
              </a:solidFill>
              <a:round/>
              <a:headEnd/>
              <a:tailEnd/>
            </a:ln>
            <a:effectLst/>
          </p:spPr>
          <p:txBody>
            <a:bodyPr wrap="none" anchor="ctr"/>
            <a:lstStyle/>
            <a:p>
              <a:endParaRPr lang="en-US"/>
            </a:p>
          </p:txBody>
        </p:sp>
        <p:sp>
          <p:nvSpPr>
            <p:cNvPr id="1614907" name="Rectangle 59"/>
            <p:cNvSpPr>
              <a:spLocks noChangeArrowheads="1"/>
            </p:cNvSpPr>
            <p:nvPr/>
          </p:nvSpPr>
          <p:spPr bwMode="auto">
            <a:xfrm>
              <a:off x="1200" y="3216"/>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4908" name="Line 60"/>
            <p:cNvSpPr>
              <a:spLocks noChangeShapeType="1"/>
            </p:cNvSpPr>
            <p:nvPr/>
          </p:nvSpPr>
          <p:spPr bwMode="auto">
            <a:xfrm>
              <a:off x="1200" y="3408"/>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9" name="Group 61"/>
          <p:cNvGrpSpPr>
            <a:grpSpLocks/>
          </p:cNvGrpSpPr>
          <p:nvPr/>
        </p:nvGrpSpPr>
        <p:grpSpPr bwMode="auto">
          <a:xfrm>
            <a:off x="4953000" y="4572000"/>
            <a:ext cx="2514600" cy="990600"/>
            <a:chOff x="3120" y="2976"/>
            <a:chExt cx="1584" cy="624"/>
          </a:xfrm>
        </p:grpSpPr>
        <p:sp>
          <p:nvSpPr>
            <p:cNvPr id="1614910" name="Text Box 62"/>
            <p:cNvSpPr txBox="1">
              <a:spLocks noChangeArrowheads="1"/>
            </p:cNvSpPr>
            <p:nvPr/>
          </p:nvSpPr>
          <p:spPr bwMode="auto">
            <a:xfrm>
              <a:off x="3888" y="2976"/>
              <a:ext cx="276" cy="231"/>
            </a:xfrm>
            <a:prstGeom prst="rect">
              <a:avLst/>
            </a:prstGeom>
            <a:noFill/>
            <a:ln w="12700">
              <a:noFill/>
              <a:miter lim="800000"/>
              <a:headEnd/>
              <a:tailEnd/>
            </a:ln>
            <a:effectLst/>
          </p:spPr>
          <p:txBody>
            <a:bodyPr wrap="none">
              <a:spAutoFit/>
            </a:bodyPr>
            <a:lstStyle/>
            <a:p>
              <a:r>
                <a:rPr lang="en-US" b="1">
                  <a:solidFill>
                    <a:schemeClr val="tx1"/>
                  </a:solidFill>
                </a:rPr>
                <a:t>15</a:t>
              </a:r>
            </a:p>
          </p:txBody>
        </p:sp>
        <p:sp>
          <p:nvSpPr>
            <p:cNvPr id="1614911" name="Rectangle 63"/>
            <p:cNvSpPr>
              <a:spLocks noChangeArrowheads="1"/>
            </p:cNvSpPr>
            <p:nvPr/>
          </p:nvSpPr>
          <p:spPr bwMode="auto">
            <a:xfrm>
              <a:off x="3456" y="3216"/>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912" name="Line 64"/>
            <p:cNvSpPr>
              <a:spLocks noChangeShapeType="1"/>
            </p:cNvSpPr>
            <p:nvPr/>
          </p:nvSpPr>
          <p:spPr bwMode="auto">
            <a:xfrm>
              <a:off x="3456" y="3408"/>
              <a:ext cx="624" cy="0"/>
            </a:xfrm>
            <a:prstGeom prst="line">
              <a:avLst/>
            </a:prstGeom>
            <a:noFill/>
            <a:ln w="12700">
              <a:solidFill>
                <a:schemeClr val="tx1"/>
              </a:solidFill>
              <a:round/>
              <a:headEnd/>
              <a:tailEnd/>
            </a:ln>
            <a:effectLst/>
          </p:spPr>
          <p:txBody>
            <a:bodyPr wrap="none" anchor="ctr"/>
            <a:lstStyle/>
            <a:p>
              <a:endParaRPr lang="en-US"/>
            </a:p>
          </p:txBody>
        </p:sp>
        <p:sp>
          <p:nvSpPr>
            <p:cNvPr id="1614913" name="Rectangle 65"/>
            <p:cNvSpPr>
              <a:spLocks noChangeArrowheads="1"/>
            </p:cNvSpPr>
            <p:nvPr/>
          </p:nvSpPr>
          <p:spPr bwMode="auto">
            <a:xfrm>
              <a:off x="4080" y="3216"/>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4914" name="Line 66"/>
            <p:cNvSpPr>
              <a:spLocks noChangeShapeType="1"/>
            </p:cNvSpPr>
            <p:nvPr/>
          </p:nvSpPr>
          <p:spPr bwMode="auto">
            <a:xfrm>
              <a:off x="4080" y="3408"/>
              <a:ext cx="624" cy="0"/>
            </a:xfrm>
            <a:prstGeom prst="line">
              <a:avLst/>
            </a:prstGeom>
            <a:noFill/>
            <a:ln w="12700">
              <a:solidFill>
                <a:schemeClr val="tx1"/>
              </a:solidFill>
              <a:round/>
              <a:headEnd/>
              <a:tailEnd/>
            </a:ln>
            <a:effectLst/>
          </p:spPr>
          <p:txBody>
            <a:bodyPr wrap="none" anchor="ctr"/>
            <a:lstStyle/>
            <a:p>
              <a:endParaRPr lang="en-US"/>
            </a:p>
          </p:txBody>
        </p:sp>
        <p:sp>
          <p:nvSpPr>
            <p:cNvPr id="1614915" name="Rectangle 67"/>
            <p:cNvSpPr>
              <a:spLocks noChangeArrowheads="1"/>
            </p:cNvSpPr>
            <p:nvPr/>
          </p:nvSpPr>
          <p:spPr bwMode="auto">
            <a:xfrm>
              <a:off x="3120" y="3216"/>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4916" name="Line 68"/>
            <p:cNvSpPr>
              <a:spLocks noChangeShapeType="1"/>
            </p:cNvSpPr>
            <p:nvPr/>
          </p:nvSpPr>
          <p:spPr bwMode="auto">
            <a:xfrm>
              <a:off x="3120" y="3408"/>
              <a:ext cx="336" cy="0"/>
            </a:xfrm>
            <a:prstGeom prst="line">
              <a:avLst/>
            </a:prstGeom>
            <a:noFill/>
            <a:ln w="12700">
              <a:solidFill>
                <a:schemeClr val="tx1"/>
              </a:solidFill>
              <a:round/>
              <a:headEnd/>
              <a:tailEnd/>
            </a:ln>
            <a:effectLst/>
          </p:spPr>
          <p:txBody>
            <a:bodyPr wrap="none" anchor="ctr"/>
            <a:lstStyle/>
            <a:p>
              <a:endParaRPr lang="en-US"/>
            </a:p>
          </p:txBody>
        </p:sp>
      </p:grpSp>
      <p:sp>
        <p:nvSpPr>
          <p:cNvPr id="1614917" name="Text Box 69"/>
          <p:cNvSpPr txBox="1">
            <a:spLocks noChangeArrowheads="1"/>
          </p:cNvSpPr>
          <p:nvPr/>
        </p:nvSpPr>
        <p:spPr bwMode="auto">
          <a:xfrm>
            <a:off x="457200" y="1143000"/>
            <a:ext cx="3429000" cy="581025"/>
          </a:xfrm>
          <a:prstGeom prst="rect">
            <a:avLst/>
          </a:prstGeom>
          <a:noFill/>
          <a:ln w="12700">
            <a:noFill/>
            <a:miter lim="800000"/>
            <a:headEnd/>
            <a:tailEnd/>
          </a:ln>
          <a:effectLst/>
        </p:spPr>
        <p:txBody>
          <a:bodyPr>
            <a:spAutoFit/>
          </a:bodyPr>
          <a:lstStyle/>
          <a:p>
            <a:r>
              <a:rPr lang="en-US" sz="1600">
                <a:solidFill>
                  <a:schemeClr val="tx1"/>
                </a:solidFill>
              </a:rPr>
              <a:t>Start with an empty cache - all blocks initially marked as not valid</a:t>
            </a:r>
          </a:p>
        </p:txBody>
      </p:sp>
    </p:spTree>
    <p:extLst>
      <p:ext uri="{BB962C8B-B14F-4D97-AF65-F5344CB8AC3E}">
        <p14:creationId xmlns:p14="http://schemas.microsoft.com/office/powerpoint/2010/main" val="1602275482"/>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6898" name="Rectangle 2"/>
          <p:cNvSpPr>
            <a:spLocks noGrp="1" noChangeArrowheads="1"/>
          </p:cNvSpPr>
          <p:nvPr>
            <p:ph type="title"/>
          </p:nvPr>
        </p:nvSpPr>
        <p:spPr/>
        <p:txBody>
          <a:bodyPr/>
          <a:lstStyle/>
          <a:p>
            <a:r>
              <a:rPr lang="en-US"/>
              <a:t>Taking Advantage of Spatial Locality </a:t>
            </a:r>
          </a:p>
        </p:txBody>
      </p:sp>
      <p:grpSp>
        <p:nvGrpSpPr>
          <p:cNvPr id="2" name="Group 3"/>
          <p:cNvGrpSpPr>
            <a:grpSpLocks/>
          </p:cNvGrpSpPr>
          <p:nvPr/>
        </p:nvGrpSpPr>
        <p:grpSpPr bwMode="auto">
          <a:xfrm>
            <a:off x="533400" y="1828800"/>
            <a:ext cx="2514600" cy="990600"/>
            <a:chOff x="336" y="1248"/>
            <a:chExt cx="1584" cy="624"/>
          </a:xfrm>
        </p:grpSpPr>
        <p:sp>
          <p:nvSpPr>
            <p:cNvPr id="1616900" name="Rectangle 4"/>
            <p:cNvSpPr>
              <a:spLocks noChangeArrowheads="1"/>
            </p:cNvSpPr>
            <p:nvPr/>
          </p:nvSpPr>
          <p:spPr bwMode="auto">
            <a:xfrm>
              <a:off x="672"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01" name="Line 5"/>
            <p:cNvSpPr>
              <a:spLocks noChangeShapeType="1"/>
            </p:cNvSpPr>
            <p:nvPr/>
          </p:nvSpPr>
          <p:spPr bwMode="auto">
            <a:xfrm>
              <a:off x="672" y="1680"/>
              <a:ext cx="624" cy="0"/>
            </a:xfrm>
            <a:prstGeom prst="line">
              <a:avLst/>
            </a:prstGeom>
            <a:noFill/>
            <a:ln w="12700">
              <a:solidFill>
                <a:schemeClr val="tx1"/>
              </a:solidFill>
              <a:round/>
              <a:headEnd/>
              <a:tailEnd/>
            </a:ln>
            <a:effectLst/>
          </p:spPr>
          <p:txBody>
            <a:bodyPr wrap="none" anchor="ctr"/>
            <a:lstStyle/>
            <a:p>
              <a:endParaRPr lang="en-US"/>
            </a:p>
          </p:txBody>
        </p:sp>
        <p:sp>
          <p:nvSpPr>
            <p:cNvPr id="1616902" name="Rectangle 6"/>
            <p:cNvSpPr>
              <a:spLocks noChangeArrowheads="1"/>
            </p:cNvSpPr>
            <p:nvPr/>
          </p:nvSpPr>
          <p:spPr bwMode="auto">
            <a:xfrm>
              <a:off x="1296"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03" name="Line 7"/>
            <p:cNvSpPr>
              <a:spLocks noChangeShapeType="1"/>
            </p:cNvSpPr>
            <p:nvPr/>
          </p:nvSpPr>
          <p:spPr bwMode="auto">
            <a:xfrm>
              <a:off x="1296" y="1680"/>
              <a:ext cx="624" cy="0"/>
            </a:xfrm>
            <a:prstGeom prst="line">
              <a:avLst/>
            </a:prstGeom>
            <a:noFill/>
            <a:ln w="12700">
              <a:solidFill>
                <a:schemeClr val="tx1"/>
              </a:solidFill>
              <a:round/>
              <a:headEnd/>
              <a:tailEnd/>
            </a:ln>
            <a:effectLst/>
          </p:spPr>
          <p:txBody>
            <a:bodyPr wrap="none" anchor="ctr"/>
            <a:lstStyle/>
            <a:p>
              <a:endParaRPr lang="en-US"/>
            </a:p>
          </p:txBody>
        </p:sp>
        <p:sp>
          <p:nvSpPr>
            <p:cNvPr id="1616904" name="Text Box 8"/>
            <p:cNvSpPr txBox="1">
              <a:spLocks noChangeArrowheads="1"/>
            </p:cNvSpPr>
            <p:nvPr/>
          </p:nvSpPr>
          <p:spPr bwMode="auto">
            <a:xfrm>
              <a:off x="960" y="1248"/>
              <a:ext cx="196" cy="231"/>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616905" name="Rectangle 9"/>
            <p:cNvSpPr>
              <a:spLocks noChangeArrowheads="1"/>
            </p:cNvSpPr>
            <p:nvPr/>
          </p:nvSpPr>
          <p:spPr bwMode="auto">
            <a:xfrm>
              <a:off x="336" y="1488"/>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6906" name="Line 10"/>
            <p:cNvSpPr>
              <a:spLocks noChangeShapeType="1"/>
            </p:cNvSpPr>
            <p:nvPr/>
          </p:nvSpPr>
          <p:spPr bwMode="auto">
            <a:xfrm>
              <a:off x="336" y="1680"/>
              <a:ext cx="336" cy="0"/>
            </a:xfrm>
            <a:prstGeom prst="line">
              <a:avLst/>
            </a:prstGeom>
            <a:noFill/>
            <a:ln w="12700">
              <a:solidFill>
                <a:schemeClr val="tx1"/>
              </a:solidFill>
              <a:round/>
              <a:headEnd/>
              <a:tailEnd/>
            </a:ln>
            <a:effectLst/>
          </p:spPr>
          <p:txBody>
            <a:bodyPr wrap="none" anchor="ctr"/>
            <a:lstStyle/>
            <a:p>
              <a:endParaRPr lang="en-US"/>
            </a:p>
          </p:txBody>
        </p:sp>
      </p:grpSp>
      <p:sp>
        <p:nvSpPr>
          <p:cNvPr id="1616907" name="Rectangle 11"/>
          <p:cNvSpPr>
            <a:spLocks noGrp="1" noChangeArrowheads="1"/>
          </p:cNvSpPr>
          <p:nvPr>
            <p:ph type="body" idx="1"/>
          </p:nvPr>
        </p:nvSpPr>
        <p:spPr>
          <a:xfrm>
            <a:off x="685800" y="762000"/>
            <a:ext cx="7848600" cy="812800"/>
          </a:xfrm>
          <a:noFill/>
          <a:ln/>
        </p:spPr>
        <p:txBody>
          <a:bodyPr/>
          <a:lstStyle/>
          <a:p>
            <a:r>
              <a:rPr lang="en-US"/>
              <a:t>Let cache block hold more than one word</a:t>
            </a:r>
          </a:p>
          <a:p>
            <a:pPr lvl="1" algn="ctr">
              <a:buFont typeface="Monotype Sorts" pitchFamily="2" charset="2"/>
              <a:buNone/>
            </a:pPr>
            <a:r>
              <a:rPr lang="en-US"/>
              <a:t>                          0   1   2   3   4   3   4   15</a:t>
            </a:r>
          </a:p>
        </p:txBody>
      </p:sp>
      <p:grpSp>
        <p:nvGrpSpPr>
          <p:cNvPr id="3" name="Group 13"/>
          <p:cNvGrpSpPr>
            <a:grpSpLocks/>
          </p:cNvGrpSpPr>
          <p:nvPr/>
        </p:nvGrpSpPr>
        <p:grpSpPr bwMode="auto">
          <a:xfrm>
            <a:off x="3429000" y="1843088"/>
            <a:ext cx="2514600" cy="976312"/>
            <a:chOff x="2160" y="1257"/>
            <a:chExt cx="1584" cy="615"/>
          </a:xfrm>
        </p:grpSpPr>
        <p:sp>
          <p:nvSpPr>
            <p:cNvPr id="1616910" name="Text Box 14"/>
            <p:cNvSpPr txBox="1">
              <a:spLocks noChangeArrowheads="1"/>
            </p:cNvSpPr>
            <p:nvPr/>
          </p:nvSpPr>
          <p:spPr bwMode="auto">
            <a:xfrm>
              <a:off x="2832" y="1257"/>
              <a:ext cx="196" cy="231"/>
            </a:xfrm>
            <a:prstGeom prst="rect">
              <a:avLst/>
            </a:prstGeom>
            <a:noFill/>
            <a:ln w="12700">
              <a:noFill/>
              <a:miter lim="800000"/>
              <a:headEnd/>
              <a:tailEnd/>
            </a:ln>
            <a:effectLst/>
          </p:spPr>
          <p:txBody>
            <a:bodyPr wrap="none">
              <a:spAutoFit/>
            </a:bodyPr>
            <a:lstStyle/>
            <a:p>
              <a:r>
                <a:rPr lang="en-US" b="1">
                  <a:solidFill>
                    <a:schemeClr val="tx1"/>
                  </a:solidFill>
                </a:rPr>
                <a:t>1</a:t>
              </a:r>
            </a:p>
          </p:txBody>
        </p:sp>
        <p:sp>
          <p:nvSpPr>
            <p:cNvPr id="1616911" name="Rectangle 15"/>
            <p:cNvSpPr>
              <a:spLocks noChangeArrowheads="1"/>
            </p:cNvSpPr>
            <p:nvPr/>
          </p:nvSpPr>
          <p:spPr bwMode="auto">
            <a:xfrm>
              <a:off x="2496"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12" name="Line 16"/>
            <p:cNvSpPr>
              <a:spLocks noChangeShapeType="1"/>
            </p:cNvSpPr>
            <p:nvPr/>
          </p:nvSpPr>
          <p:spPr bwMode="auto">
            <a:xfrm>
              <a:off x="2496" y="1680"/>
              <a:ext cx="624" cy="0"/>
            </a:xfrm>
            <a:prstGeom prst="line">
              <a:avLst/>
            </a:prstGeom>
            <a:noFill/>
            <a:ln w="12700">
              <a:solidFill>
                <a:schemeClr val="tx1"/>
              </a:solidFill>
              <a:round/>
              <a:headEnd/>
              <a:tailEnd/>
            </a:ln>
            <a:effectLst/>
          </p:spPr>
          <p:txBody>
            <a:bodyPr wrap="none" anchor="ctr"/>
            <a:lstStyle/>
            <a:p>
              <a:endParaRPr lang="en-US"/>
            </a:p>
          </p:txBody>
        </p:sp>
        <p:sp>
          <p:nvSpPr>
            <p:cNvPr id="1616913" name="Rectangle 17"/>
            <p:cNvSpPr>
              <a:spLocks noChangeArrowheads="1"/>
            </p:cNvSpPr>
            <p:nvPr/>
          </p:nvSpPr>
          <p:spPr bwMode="auto">
            <a:xfrm>
              <a:off x="3120"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14" name="Line 18"/>
            <p:cNvSpPr>
              <a:spLocks noChangeShapeType="1"/>
            </p:cNvSpPr>
            <p:nvPr/>
          </p:nvSpPr>
          <p:spPr bwMode="auto">
            <a:xfrm>
              <a:off x="3120" y="1680"/>
              <a:ext cx="624" cy="0"/>
            </a:xfrm>
            <a:prstGeom prst="line">
              <a:avLst/>
            </a:prstGeom>
            <a:noFill/>
            <a:ln w="12700">
              <a:solidFill>
                <a:schemeClr val="tx1"/>
              </a:solidFill>
              <a:round/>
              <a:headEnd/>
              <a:tailEnd/>
            </a:ln>
            <a:effectLst/>
          </p:spPr>
          <p:txBody>
            <a:bodyPr wrap="none" anchor="ctr"/>
            <a:lstStyle/>
            <a:p>
              <a:endParaRPr lang="en-US"/>
            </a:p>
          </p:txBody>
        </p:sp>
        <p:sp>
          <p:nvSpPr>
            <p:cNvPr id="1616915" name="Rectangle 19"/>
            <p:cNvSpPr>
              <a:spLocks noChangeArrowheads="1"/>
            </p:cNvSpPr>
            <p:nvPr/>
          </p:nvSpPr>
          <p:spPr bwMode="auto">
            <a:xfrm>
              <a:off x="2160" y="1488"/>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6916" name="Line 20"/>
            <p:cNvSpPr>
              <a:spLocks noChangeShapeType="1"/>
            </p:cNvSpPr>
            <p:nvPr/>
          </p:nvSpPr>
          <p:spPr bwMode="auto">
            <a:xfrm>
              <a:off x="2160" y="1680"/>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4" name="Group 21"/>
          <p:cNvGrpSpPr>
            <a:grpSpLocks/>
          </p:cNvGrpSpPr>
          <p:nvPr/>
        </p:nvGrpSpPr>
        <p:grpSpPr bwMode="auto">
          <a:xfrm>
            <a:off x="6248400" y="1868488"/>
            <a:ext cx="2514600" cy="950912"/>
            <a:chOff x="3936" y="1273"/>
            <a:chExt cx="1584" cy="599"/>
          </a:xfrm>
        </p:grpSpPr>
        <p:sp>
          <p:nvSpPr>
            <p:cNvPr id="1616918" name="Text Box 22"/>
            <p:cNvSpPr txBox="1">
              <a:spLocks noChangeArrowheads="1"/>
            </p:cNvSpPr>
            <p:nvPr/>
          </p:nvSpPr>
          <p:spPr bwMode="auto">
            <a:xfrm>
              <a:off x="4608" y="1273"/>
              <a:ext cx="196" cy="231"/>
            </a:xfrm>
            <a:prstGeom prst="rect">
              <a:avLst/>
            </a:prstGeom>
            <a:noFill/>
            <a:ln w="12700">
              <a:noFill/>
              <a:miter lim="800000"/>
              <a:headEnd/>
              <a:tailEnd/>
            </a:ln>
            <a:effectLst/>
          </p:spPr>
          <p:txBody>
            <a:bodyPr wrap="none">
              <a:spAutoFit/>
            </a:bodyPr>
            <a:lstStyle/>
            <a:p>
              <a:r>
                <a:rPr lang="en-US" b="1">
                  <a:solidFill>
                    <a:schemeClr val="tx1"/>
                  </a:solidFill>
                </a:rPr>
                <a:t>2</a:t>
              </a:r>
            </a:p>
          </p:txBody>
        </p:sp>
        <p:sp>
          <p:nvSpPr>
            <p:cNvPr id="1616919" name="Rectangle 23"/>
            <p:cNvSpPr>
              <a:spLocks noChangeArrowheads="1"/>
            </p:cNvSpPr>
            <p:nvPr/>
          </p:nvSpPr>
          <p:spPr bwMode="auto">
            <a:xfrm>
              <a:off x="4272"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20" name="Line 24"/>
            <p:cNvSpPr>
              <a:spLocks noChangeShapeType="1"/>
            </p:cNvSpPr>
            <p:nvPr/>
          </p:nvSpPr>
          <p:spPr bwMode="auto">
            <a:xfrm>
              <a:off x="4272" y="1680"/>
              <a:ext cx="624" cy="0"/>
            </a:xfrm>
            <a:prstGeom prst="line">
              <a:avLst/>
            </a:prstGeom>
            <a:noFill/>
            <a:ln w="12700">
              <a:solidFill>
                <a:schemeClr val="tx1"/>
              </a:solidFill>
              <a:round/>
              <a:headEnd/>
              <a:tailEnd/>
            </a:ln>
            <a:effectLst/>
          </p:spPr>
          <p:txBody>
            <a:bodyPr wrap="none" anchor="ctr"/>
            <a:lstStyle/>
            <a:p>
              <a:endParaRPr lang="en-US"/>
            </a:p>
          </p:txBody>
        </p:sp>
        <p:sp>
          <p:nvSpPr>
            <p:cNvPr id="1616921" name="Rectangle 25"/>
            <p:cNvSpPr>
              <a:spLocks noChangeArrowheads="1"/>
            </p:cNvSpPr>
            <p:nvPr/>
          </p:nvSpPr>
          <p:spPr bwMode="auto">
            <a:xfrm>
              <a:off x="4896" y="1488"/>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22" name="Line 26"/>
            <p:cNvSpPr>
              <a:spLocks noChangeShapeType="1"/>
            </p:cNvSpPr>
            <p:nvPr/>
          </p:nvSpPr>
          <p:spPr bwMode="auto">
            <a:xfrm>
              <a:off x="4896" y="1680"/>
              <a:ext cx="624" cy="0"/>
            </a:xfrm>
            <a:prstGeom prst="line">
              <a:avLst/>
            </a:prstGeom>
            <a:noFill/>
            <a:ln w="12700">
              <a:solidFill>
                <a:schemeClr val="tx1"/>
              </a:solidFill>
              <a:round/>
              <a:headEnd/>
              <a:tailEnd/>
            </a:ln>
            <a:effectLst/>
          </p:spPr>
          <p:txBody>
            <a:bodyPr wrap="none" anchor="ctr"/>
            <a:lstStyle/>
            <a:p>
              <a:endParaRPr lang="en-US"/>
            </a:p>
          </p:txBody>
        </p:sp>
        <p:sp>
          <p:nvSpPr>
            <p:cNvPr id="1616923" name="Rectangle 27"/>
            <p:cNvSpPr>
              <a:spLocks noChangeArrowheads="1"/>
            </p:cNvSpPr>
            <p:nvPr/>
          </p:nvSpPr>
          <p:spPr bwMode="auto">
            <a:xfrm>
              <a:off x="3936" y="1488"/>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6924" name="Line 28"/>
            <p:cNvSpPr>
              <a:spLocks noChangeShapeType="1"/>
            </p:cNvSpPr>
            <p:nvPr/>
          </p:nvSpPr>
          <p:spPr bwMode="auto">
            <a:xfrm>
              <a:off x="3936" y="1680"/>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5" name="Group 29"/>
          <p:cNvGrpSpPr>
            <a:grpSpLocks/>
          </p:cNvGrpSpPr>
          <p:nvPr/>
        </p:nvGrpSpPr>
        <p:grpSpPr bwMode="auto">
          <a:xfrm>
            <a:off x="533400" y="3200400"/>
            <a:ext cx="2514600" cy="990600"/>
            <a:chOff x="336" y="2112"/>
            <a:chExt cx="1584" cy="624"/>
          </a:xfrm>
        </p:grpSpPr>
        <p:sp>
          <p:nvSpPr>
            <p:cNvPr id="1616926" name="Text Box 30"/>
            <p:cNvSpPr txBox="1">
              <a:spLocks noChangeArrowheads="1"/>
            </p:cNvSpPr>
            <p:nvPr/>
          </p:nvSpPr>
          <p:spPr bwMode="auto">
            <a:xfrm>
              <a:off x="1008" y="2112"/>
              <a:ext cx="196" cy="231"/>
            </a:xfrm>
            <a:prstGeom prst="rect">
              <a:avLst/>
            </a:prstGeom>
            <a:noFill/>
            <a:ln w="12700">
              <a:noFill/>
              <a:miter lim="800000"/>
              <a:headEnd/>
              <a:tailEnd/>
            </a:ln>
            <a:effectLst/>
          </p:spPr>
          <p:txBody>
            <a:bodyPr wrap="none">
              <a:spAutoFit/>
            </a:bodyPr>
            <a:lstStyle/>
            <a:p>
              <a:r>
                <a:rPr lang="en-US" b="1">
                  <a:solidFill>
                    <a:schemeClr val="tx1"/>
                  </a:solidFill>
                </a:rPr>
                <a:t>3</a:t>
              </a:r>
            </a:p>
          </p:txBody>
        </p:sp>
        <p:sp>
          <p:nvSpPr>
            <p:cNvPr id="1616927" name="Rectangle 31"/>
            <p:cNvSpPr>
              <a:spLocks noChangeArrowheads="1"/>
            </p:cNvSpPr>
            <p:nvPr/>
          </p:nvSpPr>
          <p:spPr bwMode="auto">
            <a:xfrm>
              <a:off x="672"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28" name="Line 32"/>
            <p:cNvSpPr>
              <a:spLocks noChangeShapeType="1"/>
            </p:cNvSpPr>
            <p:nvPr/>
          </p:nvSpPr>
          <p:spPr bwMode="auto">
            <a:xfrm>
              <a:off x="672" y="2544"/>
              <a:ext cx="624" cy="0"/>
            </a:xfrm>
            <a:prstGeom prst="line">
              <a:avLst/>
            </a:prstGeom>
            <a:noFill/>
            <a:ln w="12700">
              <a:solidFill>
                <a:schemeClr val="tx1"/>
              </a:solidFill>
              <a:round/>
              <a:headEnd/>
              <a:tailEnd/>
            </a:ln>
            <a:effectLst/>
          </p:spPr>
          <p:txBody>
            <a:bodyPr wrap="none" anchor="ctr"/>
            <a:lstStyle/>
            <a:p>
              <a:endParaRPr lang="en-US"/>
            </a:p>
          </p:txBody>
        </p:sp>
        <p:sp>
          <p:nvSpPr>
            <p:cNvPr id="1616929" name="Rectangle 33"/>
            <p:cNvSpPr>
              <a:spLocks noChangeArrowheads="1"/>
            </p:cNvSpPr>
            <p:nvPr/>
          </p:nvSpPr>
          <p:spPr bwMode="auto">
            <a:xfrm>
              <a:off x="1296"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30" name="Line 34"/>
            <p:cNvSpPr>
              <a:spLocks noChangeShapeType="1"/>
            </p:cNvSpPr>
            <p:nvPr/>
          </p:nvSpPr>
          <p:spPr bwMode="auto">
            <a:xfrm>
              <a:off x="1296" y="2544"/>
              <a:ext cx="624" cy="0"/>
            </a:xfrm>
            <a:prstGeom prst="line">
              <a:avLst/>
            </a:prstGeom>
            <a:noFill/>
            <a:ln w="12700">
              <a:solidFill>
                <a:schemeClr val="tx1"/>
              </a:solidFill>
              <a:round/>
              <a:headEnd/>
              <a:tailEnd/>
            </a:ln>
            <a:effectLst/>
          </p:spPr>
          <p:txBody>
            <a:bodyPr wrap="none" anchor="ctr"/>
            <a:lstStyle/>
            <a:p>
              <a:endParaRPr lang="en-US"/>
            </a:p>
          </p:txBody>
        </p:sp>
        <p:sp>
          <p:nvSpPr>
            <p:cNvPr id="1616931" name="Rectangle 35"/>
            <p:cNvSpPr>
              <a:spLocks noChangeArrowheads="1"/>
            </p:cNvSpPr>
            <p:nvPr/>
          </p:nvSpPr>
          <p:spPr bwMode="auto">
            <a:xfrm>
              <a:off x="336" y="2352"/>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6932" name="Line 36"/>
            <p:cNvSpPr>
              <a:spLocks noChangeShapeType="1"/>
            </p:cNvSpPr>
            <p:nvPr/>
          </p:nvSpPr>
          <p:spPr bwMode="auto">
            <a:xfrm>
              <a:off x="336" y="2544"/>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6" name="Group 37"/>
          <p:cNvGrpSpPr>
            <a:grpSpLocks/>
          </p:cNvGrpSpPr>
          <p:nvPr/>
        </p:nvGrpSpPr>
        <p:grpSpPr bwMode="auto">
          <a:xfrm>
            <a:off x="3429000" y="3200400"/>
            <a:ext cx="2514600" cy="990600"/>
            <a:chOff x="2160" y="2112"/>
            <a:chExt cx="1584" cy="624"/>
          </a:xfrm>
        </p:grpSpPr>
        <p:sp>
          <p:nvSpPr>
            <p:cNvPr id="1616934" name="Text Box 38"/>
            <p:cNvSpPr txBox="1">
              <a:spLocks noChangeArrowheads="1"/>
            </p:cNvSpPr>
            <p:nvPr/>
          </p:nvSpPr>
          <p:spPr bwMode="auto">
            <a:xfrm>
              <a:off x="2880" y="2112"/>
              <a:ext cx="196" cy="231"/>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616935" name="Rectangle 39"/>
            <p:cNvSpPr>
              <a:spLocks noChangeArrowheads="1"/>
            </p:cNvSpPr>
            <p:nvPr/>
          </p:nvSpPr>
          <p:spPr bwMode="auto">
            <a:xfrm>
              <a:off x="2496"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36" name="Line 40"/>
            <p:cNvSpPr>
              <a:spLocks noChangeShapeType="1"/>
            </p:cNvSpPr>
            <p:nvPr/>
          </p:nvSpPr>
          <p:spPr bwMode="auto">
            <a:xfrm>
              <a:off x="2496" y="2544"/>
              <a:ext cx="624" cy="0"/>
            </a:xfrm>
            <a:prstGeom prst="line">
              <a:avLst/>
            </a:prstGeom>
            <a:noFill/>
            <a:ln w="12700">
              <a:solidFill>
                <a:schemeClr val="tx1"/>
              </a:solidFill>
              <a:round/>
              <a:headEnd/>
              <a:tailEnd/>
            </a:ln>
            <a:effectLst/>
          </p:spPr>
          <p:txBody>
            <a:bodyPr wrap="none" anchor="ctr"/>
            <a:lstStyle/>
            <a:p>
              <a:endParaRPr lang="en-US"/>
            </a:p>
          </p:txBody>
        </p:sp>
        <p:sp>
          <p:nvSpPr>
            <p:cNvPr id="1616937" name="Rectangle 41"/>
            <p:cNvSpPr>
              <a:spLocks noChangeArrowheads="1"/>
            </p:cNvSpPr>
            <p:nvPr/>
          </p:nvSpPr>
          <p:spPr bwMode="auto">
            <a:xfrm>
              <a:off x="3120"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38" name="Line 42"/>
            <p:cNvSpPr>
              <a:spLocks noChangeShapeType="1"/>
            </p:cNvSpPr>
            <p:nvPr/>
          </p:nvSpPr>
          <p:spPr bwMode="auto">
            <a:xfrm>
              <a:off x="3120" y="2544"/>
              <a:ext cx="624" cy="0"/>
            </a:xfrm>
            <a:prstGeom prst="line">
              <a:avLst/>
            </a:prstGeom>
            <a:noFill/>
            <a:ln w="12700">
              <a:solidFill>
                <a:schemeClr val="tx1"/>
              </a:solidFill>
              <a:round/>
              <a:headEnd/>
              <a:tailEnd/>
            </a:ln>
            <a:effectLst/>
          </p:spPr>
          <p:txBody>
            <a:bodyPr wrap="none" anchor="ctr"/>
            <a:lstStyle/>
            <a:p>
              <a:endParaRPr lang="en-US"/>
            </a:p>
          </p:txBody>
        </p:sp>
        <p:sp>
          <p:nvSpPr>
            <p:cNvPr id="1616939" name="Rectangle 43"/>
            <p:cNvSpPr>
              <a:spLocks noChangeArrowheads="1"/>
            </p:cNvSpPr>
            <p:nvPr/>
          </p:nvSpPr>
          <p:spPr bwMode="auto">
            <a:xfrm>
              <a:off x="2160" y="2352"/>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6940" name="Line 44"/>
            <p:cNvSpPr>
              <a:spLocks noChangeShapeType="1"/>
            </p:cNvSpPr>
            <p:nvPr/>
          </p:nvSpPr>
          <p:spPr bwMode="auto">
            <a:xfrm>
              <a:off x="2160" y="2544"/>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7" name="Group 45"/>
          <p:cNvGrpSpPr>
            <a:grpSpLocks/>
          </p:cNvGrpSpPr>
          <p:nvPr/>
        </p:nvGrpSpPr>
        <p:grpSpPr bwMode="auto">
          <a:xfrm>
            <a:off x="6248400" y="3200400"/>
            <a:ext cx="2514600" cy="990600"/>
            <a:chOff x="3936" y="2112"/>
            <a:chExt cx="1584" cy="624"/>
          </a:xfrm>
        </p:grpSpPr>
        <p:sp>
          <p:nvSpPr>
            <p:cNvPr id="1616942" name="Text Box 46"/>
            <p:cNvSpPr txBox="1">
              <a:spLocks noChangeArrowheads="1"/>
            </p:cNvSpPr>
            <p:nvPr/>
          </p:nvSpPr>
          <p:spPr bwMode="auto">
            <a:xfrm>
              <a:off x="4608" y="2112"/>
              <a:ext cx="196" cy="231"/>
            </a:xfrm>
            <a:prstGeom prst="rect">
              <a:avLst/>
            </a:prstGeom>
            <a:noFill/>
            <a:ln w="12700">
              <a:noFill/>
              <a:miter lim="800000"/>
              <a:headEnd/>
              <a:tailEnd/>
            </a:ln>
            <a:effectLst/>
          </p:spPr>
          <p:txBody>
            <a:bodyPr wrap="none">
              <a:spAutoFit/>
            </a:bodyPr>
            <a:lstStyle/>
            <a:p>
              <a:r>
                <a:rPr lang="en-US" b="1">
                  <a:solidFill>
                    <a:schemeClr val="tx1"/>
                  </a:solidFill>
                </a:rPr>
                <a:t>3</a:t>
              </a:r>
            </a:p>
          </p:txBody>
        </p:sp>
        <p:sp>
          <p:nvSpPr>
            <p:cNvPr id="1616943" name="Rectangle 47"/>
            <p:cNvSpPr>
              <a:spLocks noChangeArrowheads="1"/>
            </p:cNvSpPr>
            <p:nvPr/>
          </p:nvSpPr>
          <p:spPr bwMode="auto">
            <a:xfrm>
              <a:off x="4272"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44" name="Line 48"/>
            <p:cNvSpPr>
              <a:spLocks noChangeShapeType="1"/>
            </p:cNvSpPr>
            <p:nvPr/>
          </p:nvSpPr>
          <p:spPr bwMode="auto">
            <a:xfrm>
              <a:off x="4272" y="2544"/>
              <a:ext cx="624" cy="0"/>
            </a:xfrm>
            <a:prstGeom prst="line">
              <a:avLst/>
            </a:prstGeom>
            <a:noFill/>
            <a:ln w="12700">
              <a:solidFill>
                <a:schemeClr val="tx1"/>
              </a:solidFill>
              <a:round/>
              <a:headEnd/>
              <a:tailEnd/>
            </a:ln>
            <a:effectLst/>
          </p:spPr>
          <p:txBody>
            <a:bodyPr wrap="none" anchor="ctr"/>
            <a:lstStyle/>
            <a:p>
              <a:endParaRPr lang="en-US"/>
            </a:p>
          </p:txBody>
        </p:sp>
        <p:sp>
          <p:nvSpPr>
            <p:cNvPr id="1616945" name="Rectangle 49"/>
            <p:cNvSpPr>
              <a:spLocks noChangeArrowheads="1"/>
            </p:cNvSpPr>
            <p:nvPr/>
          </p:nvSpPr>
          <p:spPr bwMode="auto">
            <a:xfrm>
              <a:off x="4896" y="2352"/>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46" name="Line 50"/>
            <p:cNvSpPr>
              <a:spLocks noChangeShapeType="1"/>
            </p:cNvSpPr>
            <p:nvPr/>
          </p:nvSpPr>
          <p:spPr bwMode="auto">
            <a:xfrm>
              <a:off x="4896" y="2544"/>
              <a:ext cx="624" cy="0"/>
            </a:xfrm>
            <a:prstGeom prst="line">
              <a:avLst/>
            </a:prstGeom>
            <a:noFill/>
            <a:ln w="12700">
              <a:solidFill>
                <a:schemeClr val="tx1"/>
              </a:solidFill>
              <a:round/>
              <a:headEnd/>
              <a:tailEnd/>
            </a:ln>
            <a:effectLst/>
          </p:spPr>
          <p:txBody>
            <a:bodyPr wrap="none" anchor="ctr"/>
            <a:lstStyle/>
            <a:p>
              <a:endParaRPr lang="en-US"/>
            </a:p>
          </p:txBody>
        </p:sp>
        <p:sp>
          <p:nvSpPr>
            <p:cNvPr id="1616947" name="Rectangle 51"/>
            <p:cNvSpPr>
              <a:spLocks noChangeArrowheads="1"/>
            </p:cNvSpPr>
            <p:nvPr/>
          </p:nvSpPr>
          <p:spPr bwMode="auto">
            <a:xfrm>
              <a:off x="3936" y="2352"/>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6948" name="Line 52"/>
            <p:cNvSpPr>
              <a:spLocks noChangeShapeType="1"/>
            </p:cNvSpPr>
            <p:nvPr/>
          </p:nvSpPr>
          <p:spPr bwMode="auto">
            <a:xfrm>
              <a:off x="3936" y="2544"/>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8" name="Group 53"/>
          <p:cNvGrpSpPr>
            <a:grpSpLocks/>
          </p:cNvGrpSpPr>
          <p:nvPr/>
        </p:nvGrpSpPr>
        <p:grpSpPr bwMode="auto">
          <a:xfrm>
            <a:off x="1905000" y="4572000"/>
            <a:ext cx="2514600" cy="990600"/>
            <a:chOff x="1200" y="2976"/>
            <a:chExt cx="1584" cy="624"/>
          </a:xfrm>
        </p:grpSpPr>
        <p:sp>
          <p:nvSpPr>
            <p:cNvPr id="1616950" name="Text Box 54"/>
            <p:cNvSpPr txBox="1">
              <a:spLocks noChangeArrowheads="1"/>
            </p:cNvSpPr>
            <p:nvPr/>
          </p:nvSpPr>
          <p:spPr bwMode="auto">
            <a:xfrm>
              <a:off x="1824" y="2976"/>
              <a:ext cx="196" cy="231"/>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616951" name="Rectangle 55"/>
            <p:cNvSpPr>
              <a:spLocks noChangeArrowheads="1"/>
            </p:cNvSpPr>
            <p:nvPr/>
          </p:nvSpPr>
          <p:spPr bwMode="auto">
            <a:xfrm>
              <a:off x="1536" y="3216"/>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52" name="Line 56"/>
            <p:cNvSpPr>
              <a:spLocks noChangeShapeType="1"/>
            </p:cNvSpPr>
            <p:nvPr/>
          </p:nvSpPr>
          <p:spPr bwMode="auto">
            <a:xfrm>
              <a:off x="1536" y="3408"/>
              <a:ext cx="624" cy="0"/>
            </a:xfrm>
            <a:prstGeom prst="line">
              <a:avLst/>
            </a:prstGeom>
            <a:noFill/>
            <a:ln w="12700">
              <a:solidFill>
                <a:schemeClr val="tx1"/>
              </a:solidFill>
              <a:round/>
              <a:headEnd/>
              <a:tailEnd/>
            </a:ln>
            <a:effectLst/>
          </p:spPr>
          <p:txBody>
            <a:bodyPr wrap="none" anchor="ctr"/>
            <a:lstStyle/>
            <a:p>
              <a:endParaRPr lang="en-US"/>
            </a:p>
          </p:txBody>
        </p:sp>
        <p:sp>
          <p:nvSpPr>
            <p:cNvPr id="1616953" name="Rectangle 57"/>
            <p:cNvSpPr>
              <a:spLocks noChangeArrowheads="1"/>
            </p:cNvSpPr>
            <p:nvPr/>
          </p:nvSpPr>
          <p:spPr bwMode="auto">
            <a:xfrm>
              <a:off x="2160" y="3216"/>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54" name="Line 58"/>
            <p:cNvSpPr>
              <a:spLocks noChangeShapeType="1"/>
            </p:cNvSpPr>
            <p:nvPr/>
          </p:nvSpPr>
          <p:spPr bwMode="auto">
            <a:xfrm>
              <a:off x="2160" y="3408"/>
              <a:ext cx="624" cy="0"/>
            </a:xfrm>
            <a:prstGeom prst="line">
              <a:avLst/>
            </a:prstGeom>
            <a:noFill/>
            <a:ln w="12700">
              <a:solidFill>
                <a:schemeClr val="tx1"/>
              </a:solidFill>
              <a:round/>
              <a:headEnd/>
              <a:tailEnd/>
            </a:ln>
            <a:effectLst/>
          </p:spPr>
          <p:txBody>
            <a:bodyPr wrap="none" anchor="ctr"/>
            <a:lstStyle/>
            <a:p>
              <a:endParaRPr lang="en-US"/>
            </a:p>
          </p:txBody>
        </p:sp>
        <p:sp>
          <p:nvSpPr>
            <p:cNvPr id="1616955" name="Rectangle 59"/>
            <p:cNvSpPr>
              <a:spLocks noChangeArrowheads="1"/>
            </p:cNvSpPr>
            <p:nvPr/>
          </p:nvSpPr>
          <p:spPr bwMode="auto">
            <a:xfrm>
              <a:off x="1200" y="3216"/>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6956" name="Line 60"/>
            <p:cNvSpPr>
              <a:spLocks noChangeShapeType="1"/>
            </p:cNvSpPr>
            <p:nvPr/>
          </p:nvSpPr>
          <p:spPr bwMode="auto">
            <a:xfrm>
              <a:off x="1200" y="3408"/>
              <a:ext cx="336" cy="0"/>
            </a:xfrm>
            <a:prstGeom prst="line">
              <a:avLst/>
            </a:prstGeom>
            <a:noFill/>
            <a:ln w="12700">
              <a:solidFill>
                <a:schemeClr val="tx1"/>
              </a:solidFill>
              <a:round/>
              <a:headEnd/>
              <a:tailEnd/>
            </a:ln>
            <a:effectLst/>
          </p:spPr>
          <p:txBody>
            <a:bodyPr wrap="none" anchor="ctr"/>
            <a:lstStyle/>
            <a:p>
              <a:endParaRPr lang="en-US"/>
            </a:p>
          </p:txBody>
        </p:sp>
      </p:grpSp>
      <p:grpSp>
        <p:nvGrpSpPr>
          <p:cNvPr id="9" name="Group 61"/>
          <p:cNvGrpSpPr>
            <a:grpSpLocks/>
          </p:cNvGrpSpPr>
          <p:nvPr/>
        </p:nvGrpSpPr>
        <p:grpSpPr bwMode="auto">
          <a:xfrm>
            <a:off x="4953000" y="4572000"/>
            <a:ext cx="2514600" cy="990600"/>
            <a:chOff x="3120" y="2976"/>
            <a:chExt cx="1584" cy="624"/>
          </a:xfrm>
        </p:grpSpPr>
        <p:sp>
          <p:nvSpPr>
            <p:cNvPr id="1616958" name="Text Box 62"/>
            <p:cNvSpPr txBox="1">
              <a:spLocks noChangeArrowheads="1"/>
            </p:cNvSpPr>
            <p:nvPr/>
          </p:nvSpPr>
          <p:spPr bwMode="auto">
            <a:xfrm>
              <a:off x="3888" y="2976"/>
              <a:ext cx="276" cy="231"/>
            </a:xfrm>
            <a:prstGeom prst="rect">
              <a:avLst/>
            </a:prstGeom>
            <a:noFill/>
            <a:ln w="12700">
              <a:noFill/>
              <a:miter lim="800000"/>
              <a:headEnd/>
              <a:tailEnd/>
            </a:ln>
            <a:effectLst/>
          </p:spPr>
          <p:txBody>
            <a:bodyPr wrap="none">
              <a:spAutoFit/>
            </a:bodyPr>
            <a:lstStyle/>
            <a:p>
              <a:r>
                <a:rPr lang="en-US" b="1">
                  <a:solidFill>
                    <a:schemeClr val="tx1"/>
                  </a:solidFill>
                </a:rPr>
                <a:t>15</a:t>
              </a:r>
            </a:p>
          </p:txBody>
        </p:sp>
        <p:sp>
          <p:nvSpPr>
            <p:cNvPr id="1616959" name="Rectangle 63"/>
            <p:cNvSpPr>
              <a:spLocks noChangeArrowheads="1"/>
            </p:cNvSpPr>
            <p:nvPr/>
          </p:nvSpPr>
          <p:spPr bwMode="auto">
            <a:xfrm>
              <a:off x="3456" y="3216"/>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60" name="Line 64"/>
            <p:cNvSpPr>
              <a:spLocks noChangeShapeType="1"/>
            </p:cNvSpPr>
            <p:nvPr/>
          </p:nvSpPr>
          <p:spPr bwMode="auto">
            <a:xfrm>
              <a:off x="3456" y="3408"/>
              <a:ext cx="624" cy="0"/>
            </a:xfrm>
            <a:prstGeom prst="line">
              <a:avLst/>
            </a:prstGeom>
            <a:noFill/>
            <a:ln w="12700">
              <a:solidFill>
                <a:schemeClr val="tx1"/>
              </a:solidFill>
              <a:round/>
              <a:headEnd/>
              <a:tailEnd/>
            </a:ln>
            <a:effectLst/>
          </p:spPr>
          <p:txBody>
            <a:bodyPr wrap="none" anchor="ctr"/>
            <a:lstStyle/>
            <a:p>
              <a:endParaRPr lang="en-US"/>
            </a:p>
          </p:txBody>
        </p:sp>
        <p:sp>
          <p:nvSpPr>
            <p:cNvPr id="1616961" name="Rectangle 65"/>
            <p:cNvSpPr>
              <a:spLocks noChangeArrowheads="1"/>
            </p:cNvSpPr>
            <p:nvPr/>
          </p:nvSpPr>
          <p:spPr bwMode="auto">
            <a:xfrm>
              <a:off x="4080" y="3216"/>
              <a:ext cx="624" cy="384"/>
            </a:xfrm>
            <a:prstGeom prst="rect">
              <a:avLst/>
            </a:prstGeom>
            <a:noFill/>
            <a:ln w="12700">
              <a:solidFill>
                <a:schemeClr val="tx1"/>
              </a:solidFill>
              <a:miter lim="800000"/>
              <a:headEnd/>
              <a:tailEnd/>
            </a:ln>
            <a:effectLst/>
          </p:spPr>
          <p:txBody>
            <a:bodyPr wrap="none" anchor="ctr"/>
            <a:lstStyle/>
            <a:p>
              <a:endParaRPr lang="en-US"/>
            </a:p>
          </p:txBody>
        </p:sp>
        <p:sp>
          <p:nvSpPr>
            <p:cNvPr id="1616962" name="Line 66"/>
            <p:cNvSpPr>
              <a:spLocks noChangeShapeType="1"/>
            </p:cNvSpPr>
            <p:nvPr/>
          </p:nvSpPr>
          <p:spPr bwMode="auto">
            <a:xfrm>
              <a:off x="4080" y="3408"/>
              <a:ext cx="624" cy="0"/>
            </a:xfrm>
            <a:prstGeom prst="line">
              <a:avLst/>
            </a:prstGeom>
            <a:noFill/>
            <a:ln w="12700">
              <a:solidFill>
                <a:schemeClr val="tx1"/>
              </a:solidFill>
              <a:round/>
              <a:headEnd/>
              <a:tailEnd/>
            </a:ln>
            <a:effectLst/>
          </p:spPr>
          <p:txBody>
            <a:bodyPr wrap="none" anchor="ctr"/>
            <a:lstStyle/>
            <a:p>
              <a:endParaRPr lang="en-US"/>
            </a:p>
          </p:txBody>
        </p:sp>
        <p:sp>
          <p:nvSpPr>
            <p:cNvPr id="1616963" name="Rectangle 67"/>
            <p:cNvSpPr>
              <a:spLocks noChangeArrowheads="1"/>
            </p:cNvSpPr>
            <p:nvPr/>
          </p:nvSpPr>
          <p:spPr bwMode="auto">
            <a:xfrm>
              <a:off x="3120" y="3216"/>
              <a:ext cx="336" cy="384"/>
            </a:xfrm>
            <a:prstGeom prst="rect">
              <a:avLst/>
            </a:prstGeom>
            <a:noFill/>
            <a:ln w="12700">
              <a:solidFill>
                <a:schemeClr val="tx1"/>
              </a:solidFill>
              <a:miter lim="800000"/>
              <a:headEnd/>
              <a:tailEnd/>
            </a:ln>
            <a:effectLst/>
          </p:spPr>
          <p:txBody>
            <a:bodyPr wrap="none" anchor="ctr"/>
            <a:lstStyle/>
            <a:p>
              <a:endParaRPr lang="en-US"/>
            </a:p>
          </p:txBody>
        </p:sp>
        <p:sp>
          <p:nvSpPr>
            <p:cNvPr id="1616964" name="Line 68"/>
            <p:cNvSpPr>
              <a:spLocks noChangeShapeType="1"/>
            </p:cNvSpPr>
            <p:nvPr/>
          </p:nvSpPr>
          <p:spPr bwMode="auto">
            <a:xfrm>
              <a:off x="3120" y="3408"/>
              <a:ext cx="336" cy="0"/>
            </a:xfrm>
            <a:prstGeom prst="line">
              <a:avLst/>
            </a:prstGeom>
            <a:noFill/>
            <a:ln w="12700">
              <a:solidFill>
                <a:schemeClr val="tx1"/>
              </a:solidFill>
              <a:round/>
              <a:headEnd/>
              <a:tailEnd/>
            </a:ln>
            <a:effectLst/>
          </p:spPr>
          <p:txBody>
            <a:bodyPr wrap="none" anchor="ctr"/>
            <a:lstStyle/>
            <a:p>
              <a:endParaRPr lang="en-US"/>
            </a:p>
          </p:txBody>
        </p:sp>
      </p:grpSp>
      <p:sp>
        <p:nvSpPr>
          <p:cNvPr id="1616965" name="Text Box 69"/>
          <p:cNvSpPr txBox="1">
            <a:spLocks noChangeArrowheads="1"/>
          </p:cNvSpPr>
          <p:nvPr/>
        </p:nvSpPr>
        <p:spPr bwMode="auto">
          <a:xfrm>
            <a:off x="533400" y="2224088"/>
            <a:ext cx="2520950" cy="366712"/>
          </a:xfrm>
          <a:prstGeom prst="rect">
            <a:avLst/>
          </a:prstGeom>
          <a:noFill/>
          <a:ln w="12700">
            <a:noFill/>
            <a:miter lim="800000"/>
            <a:headEnd/>
            <a:tailEnd/>
          </a:ln>
          <a:effectLst/>
        </p:spPr>
        <p:txBody>
          <a:bodyPr wrap="none">
            <a:spAutoFit/>
          </a:bodyPr>
          <a:lstStyle/>
          <a:p>
            <a:r>
              <a:rPr lang="en-US">
                <a:solidFill>
                  <a:schemeClr val="tx1"/>
                </a:solidFill>
              </a:rPr>
              <a:t>00    Mem(1)    Mem(0)</a:t>
            </a:r>
          </a:p>
        </p:txBody>
      </p:sp>
      <p:sp>
        <p:nvSpPr>
          <p:cNvPr id="1616966" name="Text Box 70"/>
          <p:cNvSpPr txBox="1">
            <a:spLocks noChangeArrowheads="1"/>
          </p:cNvSpPr>
          <p:nvPr/>
        </p:nvSpPr>
        <p:spPr bwMode="auto">
          <a:xfrm>
            <a:off x="1752600" y="1828800"/>
            <a:ext cx="654050" cy="366713"/>
          </a:xfrm>
          <a:prstGeom prst="rect">
            <a:avLst/>
          </a:prstGeom>
          <a:noFill/>
          <a:ln w="12700">
            <a:noFill/>
            <a:miter lim="800000"/>
            <a:headEnd/>
            <a:tailEnd/>
          </a:ln>
          <a:effectLst/>
        </p:spPr>
        <p:txBody>
          <a:bodyPr wrap="none">
            <a:spAutoFit/>
          </a:bodyPr>
          <a:lstStyle/>
          <a:p>
            <a:r>
              <a:rPr lang="en-US"/>
              <a:t>miss</a:t>
            </a:r>
          </a:p>
        </p:txBody>
      </p:sp>
      <p:sp>
        <p:nvSpPr>
          <p:cNvPr id="1616967" name="Text Box 71"/>
          <p:cNvSpPr txBox="1">
            <a:spLocks noChangeArrowheads="1"/>
          </p:cNvSpPr>
          <p:nvPr/>
        </p:nvSpPr>
        <p:spPr bwMode="auto">
          <a:xfrm>
            <a:off x="3429000" y="2209800"/>
            <a:ext cx="2520950" cy="366713"/>
          </a:xfrm>
          <a:prstGeom prst="rect">
            <a:avLst/>
          </a:prstGeom>
          <a:noFill/>
          <a:ln w="12700">
            <a:noFill/>
            <a:miter lim="800000"/>
            <a:headEnd/>
            <a:tailEnd/>
          </a:ln>
          <a:effectLst/>
        </p:spPr>
        <p:txBody>
          <a:bodyPr wrap="none">
            <a:spAutoFit/>
          </a:bodyPr>
          <a:lstStyle/>
          <a:p>
            <a:r>
              <a:rPr lang="en-US">
                <a:solidFill>
                  <a:schemeClr val="tx1"/>
                </a:solidFill>
              </a:rPr>
              <a:t>00    Mem(1)    Mem(0)</a:t>
            </a:r>
          </a:p>
        </p:txBody>
      </p:sp>
      <p:sp>
        <p:nvSpPr>
          <p:cNvPr id="1616968" name="Text Box 72"/>
          <p:cNvSpPr txBox="1">
            <a:spLocks noChangeArrowheads="1"/>
          </p:cNvSpPr>
          <p:nvPr/>
        </p:nvSpPr>
        <p:spPr bwMode="auto">
          <a:xfrm>
            <a:off x="4724400" y="1828800"/>
            <a:ext cx="425450" cy="366713"/>
          </a:xfrm>
          <a:prstGeom prst="rect">
            <a:avLst/>
          </a:prstGeom>
          <a:noFill/>
          <a:ln w="12700">
            <a:noFill/>
            <a:miter lim="800000"/>
            <a:headEnd/>
            <a:tailEnd/>
          </a:ln>
          <a:effectLst/>
        </p:spPr>
        <p:txBody>
          <a:bodyPr wrap="none">
            <a:spAutoFit/>
          </a:bodyPr>
          <a:lstStyle/>
          <a:p>
            <a:r>
              <a:rPr lang="en-US"/>
              <a:t>hit</a:t>
            </a:r>
          </a:p>
        </p:txBody>
      </p:sp>
      <p:sp>
        <p:nvSpPr>
          <p:cNvPr id="1616969" name="Text Box 73"/>
          <p:cNvSpPr txBox="1">
            <a:spLocks noChangeArrowheads="1"/>
          </p:cNvSpPr>
          <p:nvPr/>
        </p:nvSpPr>
        <p:spPr bwMode="auto">
          <a:xfrm>
            <a:off x="6248400" y="2514600"/>
            <a:ext cx="2520950" cy="366713"/>
          </a:xfrm>
          <a:prstGeom prst="rect">
            <a:avLst/>
          </a:prstGeom>
          <a:noFill/>
          <a:ln w="12700">
            <a:noFill/>
            <a:miter lim="800000"/>
            <a:headEnd/>
            <a:tailEnd/>
          </a:ln>
          <a:effectLst/>
        </p:spPr>
        <p:txBody>
          <a:bodyPr wrap="none">
            <a:spAutoFit/>
          </a:bodyPr>
          <a:lstStyle/>
          <a:p>
            <a:r>
              <a:rPr lang="en-US">
                <a:solidFill>
                  <a:schemeClr val="tx1"/>
                </a:solidFill>
              </a:rPr>
              <a:t>00    Mem(3)    Mem(2)</a:t>
            </a:r>
          </a:p>
        </p:txBody>
      </p:sp>
      <p:sp>
        <p:nvSpPr>
          <p:cNvPr id="1616970" name="Text Box 74"/>
          <p:cNvSpPr txBox="1">
            <a:spLocks noChangeArrowheads="1"/>
          </p:cNvSpPr>
          <p:nvPr/>
        </p:nvSpPr>
        <p:spPr bwMode="auto">
          <a:xfrm>
            <a:off x="6248400" y="2209800"/>
            <a:ext cx="2520950" cy="366713"/>
          </a:xfrm>
          <a:prstGeom prst="rect">
            <a:avLst/>
          </a:prstGeom>
          <a:noFill/>
          <a:ln w="12700">
            <a:noFill/>
            <a:miter lim="800000"/>
            <a:headEnd/>
            <a:tailEnd/>
          </a:ln>
          <a:effectLst/>
        </p:spPr>
        <p:txBody>
          <a:bodyPr wrap="none">
            <a:spAutoFit/>
          </a:bodyPr>
          <a:lstStyle/>
          <a:p>
            <a:r>
              <a:rPr lang="en-US">
                <a:solidFill>
                  <a:schemeClr val="tx1"/>
                </a:solidFill>
              </a:rPr>
              <a:t>00    Mem(1)    Mem(0)</a:t>
            </a:r>
          </a:p>
        </p:txBody>
      </p:sp>
      <p:sp>
        <p:nvSpPr>
          <p:cNvPr id="1616971" name="Text Box 75"/>
          <p:cNvSpPr txBox="1">
            <a:spLocks noChangeArrowheads="1"/>
          </p:cNvSpPr>
          <p:nvPr/>
        </p:nvSpPr>
        <p:spPr bwMode="auto">
          <a:xfrm>
            <a:off x="7543800" y="1828800"/>
            <a:ext cx="654050" cy="366713"/>
          </a:xfrm>
          <a:prstGeom prst="rect">
            <a:avLst/>
          </a:prstGeom>
          <a:noFill/>
          <a:ln w="12700">
            <a:noFill/>
            <a:miter lim="800000"/>
            <a:headEnd/>
            <a:tailEnd/>
          </a:ln>
          <a:effectLst/>
        </p:spPr>
        <p:txBody>
          <a:bodyPr wrap="none">
            <a:spAutoFit/>
          </a:bodyPr>
          <a:lstStyle/>
          <a:p>
            <a:r>
              <a:rPr lang="en-US"/>
              <a:t>miss</a:t>
            </a:r>
          </a:p>
        </p:txBody>
      </p:sp>
      <p:sp>
        <p:nvSpPr>
          <p:cNvPr id="1616972" name="Text Box 76"/>
          <p:cNvSpPr txBox="1">
            <a:spLocks noChangeArrowheads="1"/>
          </p:cNvSpPr>
          <p:nvPr/>
        </p:nvSpPr>
        <p:spPr bwMode="auto">
          <a:xfrm>
            <a:off x="1828800" y="3200400"/>
            <a:ext cx="425450" cy="366713"/>
          </a:xfrm>
          <a:prstGeom prst="rect">
            <a:avLst/>
          </a:prstGeom>
          <a:noFill/>
          <a:ln w="12700">
            <a:noFill/>
            <a:miter lim="800000"/>
            <a:headEnd/>
            <a:tailEnd/>
          </a:ln>
          <a:effectLst/>
        </p:spPr>
        <p:txBody>
          <a:bodyPr wrap="none">
            <a:spAutoFit/>
          </a:bodyPr>
          <a:lstStyle/>
          <a:p>
            <a:r>
              <a:rPr lang="en-US"/>
              <a:t>hit</a:t>
            </a:r>
          </a:p>
        </p:txBody>
      </p:sp>
      <p:sp>
        <p:nvSpPr>
          <p:cNvPr id="1616973" name="Text Box 77"/>
          <p:cNvSpPr txBox="1">
            <a:spLocks noChangeArrowheads="1"/>
          </p:cNvSpPr>
          <p:nvPr/>
        </p:nvSpPr>
        <p:spPr bwMode="auto">
          <a:xfrm>
            <a:off x="533400" y="3886200"/>
            <a:ext cx="2520950" cy="366713"/>
          </a:xfrm>
          <a:prstGeom prst="rect">
            <a:avLst/>
          </a:prstGeom>
          <a:noFill/>
          <a:ln w="12700">
            <a:noFill/>
            <a:miter lim="800000"/>
            <a:headEnd/>
            <a:tailEnd/>
          </a:ln>
          <a:effectLst/>
        </p:spPr>
        <p:txBody>
          <a:bodyPr wrap="none">
            <a:spAutoFit/>
          </a:bodyPr>
          <a:lstStyle/>
          <a:p>
            <a:r>
              <a:rPr lang="en-US">
                <a:solidFill>
                  <a:schemeClr val="tx1"/>
                </a:solidFill>
              </a:rPr>
              <a:t>00    Mem(3)    Mem(2)</a:t>
            </a:r>
          </a:p>
        </p:txBody>
      </p:sp>
      <p:sp>
        <p:nvSpPr>
          <p:cNvPr id="1616974" name="Text Box 78"/>
          <p:cNvSpPr txBox="1">
            <a:spLocks noChangeArrowheads="1"/>
          </p:cNvSpPr>
          <p:nvPr/>
        </p:nvSpPr>
        <p:spPr bwMode="auto">
          <a:xfrm>
            <a:off x="533400" y="3581400"/>
            <a:ext cx="2520950" cy="366713"/>
          </a:xfrm>
          <a:prstGeom prst="rect">
            <a:avLst/>
          </a:prstGeom>
          <a:noFill/>
          <a:ln w="12700">
            <a:noFill/>
            <a:miter lim="800000"/>
            <a:headEnd/>
            <a:tailEnd/>
          </a:ln>
          <a:effectLst/>
        </p:spPr>
        <p:txBody>
          <a:bodyPr wrap="none">
            <a:spAutoFit/>
          </a:bodyPr>
          <a:lstStyle/>
          <a:p>
            <a:r>
              <a:rPr lang="en-US">
                <a:solidFill>
                  <a:schemeClr val="tx1"/>
                </a:solidFill>
              </a:rPr>
              <a:t>00    Mem(1)    Mem(0)</a:t>
            </a:r>
          </a:p>
        </p:txBody>
      </p:sp>
      <p:sp>
        <p:nvSpPr>
          <p:cNvPr id="1616975" name="Text Box 79"/>
          <p:cNvSpPr txBox="1">
            <a:spLocks noChangeArrowheads="1"/>
          </p:cNvSpPr>
          <p:nvPr/>
        </p:nvSpPr>
        <p:spPr bwMode="auto">
          <a:xfrm>
            <a:off x="4800600" y="3200400"/>
            <a:ext cx="654050" cy="366713"/>
          </a:xfrm>
          <a:prstGeom prst="rect">
            <a:avLst/>
          </a:prstGeom>
          <a:noFill/>
          <a:ln w="12700">
            <a:noFill/>
            <a:miter lim="800000"/>
            <a:headEnd/>
            <a:tailEnd/>
          </a:ln>
          <a:effectLst/>
        </p:spPr>
        <p:txBody>
          <a:bodyPr wrap="none">
            <a:spAutoFit/>
          </a:bodyPr>
          <a:lstStyle/>
          <a:p>
            <a:r>
              <a:rPr lang="en-US"/>
              <a:t>miss</a:t>
            </a:r>
          </a:p>
        </p:txBody>
      </p:sp>
      <p:sp>
        <p:nvSpPr>
          <p:cNvPr id="1616977" name="Text Box 81"/>
          <p:cNvSpPr txBox="1">
            <a:spLocks noChangeArrowheads="1"/>
          </p:cNvSpPr>
          <p:nvPr/>
        </p:nvSpPr>
        <p:spPr bwMode="auto">
          <a:xfrm>
            <a:off x="3429000" y="3886200"/>
            <a:ext cx="2520950" cy="366713"/>
          </a:xfrm>
          <a:prstGeom prst="rect">
            <a:avLst/>
          </a:prstGeom>
          <a:noFill/>
          <a:ln w="12700">
            <a:noFill/>
            <a:miter lim="800000"/>
            <a:headEnd/>
            <a:tailEnd/>
          </a:ln>
          <a:effectLst/>
        </p:spPr>
        <p:txBody>
          <a:bodyPr wrap="none">
            <a:spAutoFit/>
          </a:bodyPr>
          <a:lstStyle/>
          <a:p>
            <a:r>
              <a:rPr lang="en-US">
                <a:solidFill>
                  <a:schemeClr val="tx1"/>
                </a:solidFill>
              </a:rPr>
              <a:t>00    Mem(3)    Mem(2)</a:t>
            </a:r>
          </a:p>
        </p:txBody>
      </p:sp>
      <p:sp>
        <p:nvSpPr>
          <p:cNvPr id="1616978" name="Text Box 82"/>
          <p:cNvSpPr txBox="1">
            <a:spLocks noChangeArrowheads="1"/>
          </p:cNvSpPr>
          <p:nvPr/>
        </p:nvSpPr>
        <p:spPr bwMode="auto">
          <a:xfrm>
            <a:off x="3429000" y="3581400"/>
            <a:ext cx="2520950" cy="366713"/>
          </a:xfrm>
          <a:prstGeom prst="rect">
            <a:avLst/>
          </a:prstGeom>
          <a:noFill/>
          <a:ln w="12700">
            <a:noFill/>
            <a:miter lim="800000"/>
            <a:headEnd/>
            <a:tailEnd/>
          </a:ln>
          <a:effectLst/>
        </p:spPr>
        <p:txBody>
          <a:bodyPr wrap="none">
            <a:spAutoFit/>
          </a:bodyPr>
          <a:lstStyle/>
          <a:p>
            <a:r>
              <a:rPr lang="en-US">
                <a:solidFill>
                  <a:schemeClr val="tx1"/>
                </a:solidFill>
              </a:rPr>
              <a:t>00    Mem(1)    Mem(0)</a:t>
            </a:r>
          </a:p>
        </p:txBody>
      </p:sp>
      <p:grpSp>
        <p:nvGrpSpPr>
          <p:cNvPr id="10" name="Group 83"/>
          <p:cNvGrpSpPr>
            <a:grpSpLocks/>
          </p:cNvGrpSpPr>
          <p:nvPr/>
        </p:nvGrpSpPr>
        <p:grpSpPr bwMode="auto">
          <a:xfrm>
            <a:off x="3200400" y="3352800"/>
            <a:ext cx="2825750" cy="533400"/>
            <a:chOff x="2016" y="2208"/>
            <a:chExt cx="1780" cy="336"/>
          </a:xfrm>
        </p:grpSpPr>
        <p:sp>
          <p:nvSpPr>
            <p:cNvPr id="1616980" name="Line 84"/>
            <p:cNvSpPr>
              <a:spLocks noChangeShapeType="1"/>
            </p:cNvSpPr>
            <p:nvPr/>
          </p:nvSpPr>
          <p:spPr bwMode="auto">
            <a:xfrm>
              <a:off x="2208" y="2400"/>
              <a:ext cx="240" cy="144"/>
            </a:xfrm>
            <a:prstGeom prst="line">
              <a:avLst/>
            </a:prstGeom>
            <a:noFill/>
            <a:ln w="28575">
              <a:solidFill>
                <a:schemeClr val="accent1"/>
              </a:solidFill>
              <a:round/>
              <a:headEnd/>
              <a:tailEnd/>
            </a:ln>
            <a:effectLst/>
          </p:spPr>
          <p:txBody>
            <a:bodyPr/>
            <a:lstStyle/>
            <a:p>
              <a:endParaRPr lang="en-US"/>
            </a:p>
          </p:txBody>
        </p:sp>
        <p:sp>
          <p:nvSpPr>
            <p:cNvPr id="1616981" name="Line 85"/>
            <p:cNvSpPr>
              <a:spLocks noChangeShapeType="1"/>
            </p:cNvSpPr>
            <p:nvPr/>
          </p:nvSpPr>
          <p:spPr bwMode="auto">
            <a:xfrm>
              <a:off x="3504" y="2400"/>
              <a:ext cx="240" cy="144"/>
            </a:xfrm>
            <a:prstGeom prst="line">
              <a:avLst/>
            </a:prstGeom>
            <a:noFill/>
            <a:ln w="28575">
              <a:solidFill>
                <a:schemeClr val="accent1"/>
              </a:solidFill>
              <a:round/>
              <a:headEnd/>
              <a:tailEnd/>
            </a:ln>
            <a:effectLst/>
          </p:spPr>
          <p:txBody>
            <a:bodyPr/>
            <a:lstStyle/>
            <a:p>
              <a:endParaRPr lang="en-US"/>
            </a:p>
          </p:txBody>
        </p:sp>
        <p:sp>
          <p:nvSpPr>
            <p:cNvPr id="1616982" name="Text Box 86"/>
            <p:cNvSpPr txBox="1">
              <a:spLocks noChangeArrowheads="1"/>
            </p:cNvSpPr>
            <p:nvPr/>
          </p:nvSpPr>
          <p:spPr bwMode="auto">
            <a:xfrm>
              <a:off x="2016" y="2208"/>
              <a:ext cx="276" cy="231"/>
            </a:xfrm>
            <a:prstGeom prst="rect">
              <a:avLst/>
            </a:prstGeom>
            <a:noFill/>
            <a:ln w="12700">
              <a:noFill/>
              <a:miter lim="800000"/>
              <a:headEnd/>
              <a:tailEnd/>
            </a:ln>
            <a:effectLst/>
          </p:spPr>
          <p:txBody>
            <a:bodyPr wrap="none">
              <a:spAutoFit/>
            </a:bodyPr>
            <a:lstStyle/>
            <a:p>
              <a:r>
                <a:rPr lang="en-US"/>
                <a:t>01</a:t>
              </a:r>
            </a:p>
          </p:txBody>
        </p:sp>
        <p:sp>
          <p:nvSpPr>
            <p:cNvPr id="1616983" name="Text Box 87"/>
            <p:cNvSpPr txBox="1">
              <a:spLocks noChangeArrowheads="1"/>
            </p:cNvSpPr>
            <p:nvPr/>
          </p:nvSpPr>
          <p:spPr bwMode="auto">
            <a:xfrm>
              <a:off x="2928" y="2256"/>
              <a:ext cx="196" cy="231"/>
            </a:xfrm>
            <a:prstGeom prst="rect">
              <a:avLst/>
            </a:prstGeom>
            <a:noFill/>
            <a:ln w="12700">
              <a:noFill/>
              <a:miter lim="800000"/>
              <a:headEnd/>
              <a:tailEnd/>
            </a:ln>
            <a:effectLst/>
          </p:spPr>
          <p:txBody>
            <a:bodyPr wrap="none">
              <a:spAutoFit/>
            </a:bodyPr>
            <a:lstStyle/>
            <a:p>
              <a:r>
                <a:rPr lang="en-US"/>
                <a:t>5</a:t>
              </a:r>
            </a:p>
          </p:txBody>
        </p:sp>
        <p:sp>
          <p:nvSpPr>
            <p:cNvPr id="1616984" name="Line 88"/>
            <p:cNvSpPr>
              <a:spLocks noChangeShapeType="1"/>
            </p:cNvSpPr>
            <p:nvPr/>
          </p:nvSpPr>
          <p:spPr bwMode="auto">
            <a:xfrm>
              <a:off x="2784" y="2400"/>
              <a:ext cx="240" cy="144"/>
            </a:xfrm>
            <a:prstGeom prst="line">
              <a:avLst/>
            </a:prstGeom>
            <a:noFill/>
            <a:ln w="28575">
              <a:solidFill>
                <a:schemeClr val="accent1"/>
              </a:solidFill>
              <a:round/>
              <a:headEnd/>
              <a:tailEnd/>
            </a:ln>
            <a:effectLst/>
          </p:spPr>
          <p:txBody>
            <a:bodyPr/>
            <a:lstStyle/>
            <a:p>
              <a:endParaRPr lang="en-US"/>
            </a:p>
          </p:txBody>
        </p:sp>
        <p:sp>
          <p:nvSpPr>
            <p:cNvPr id="1616985" name="Text Box 89"/>
            <p:cNvSpPr txBox="1">
              <a:spLocks noChangeArrowheads="1"/>
            </p:cNvSpPr>
            <p:nvPr/>
          </p:nvSpPr>
          <p:spPr bwMode="auto">
            <a:xfrm>
              <a:off x="3600" y="2256"/>
              <a:ext cx="196" cy="231"/>
            </a:xfrm>
            <a:prstGeom prst="rect">
              <a:avLst/>
            </a:prstGeom>
            <a:noFill/>
            <a:ln w="12700">
              <a:noFill/>
              <a:miter lim="800000"/>
              <a:headEnd/>
              <a:tailEnd/>
            </a:ln>
            <a:effectLst/>
          </p:spPr>
          <p:txBody>
            <a:bodyPr wrap="none">
              <a:spAutoFit/>
            </a:bodyPr>
            <a:lstStyle/>
            <a:p>
              <a:r>
                <a:rPr lang="en-US"/>
                <a:t>4</a:t>
              </a:r>
            </a:p>
          </p:txBody>
        </p:sp>
      </p:grpSp>
      <p:sp>
        <p:nvSpPr>
          <p:cNvPr id="1616986" name="Text Box 90"/>
          <p:cNvSpPr txBox="1">
            <a:spLocks noChangeArrowheads="1"/>
          </p:cNvSpPr>
          <p:nvPr/>
        </p:nvSpPr>
        <p:spPr bwMode="auto">
          <a:xfrm>
            <a:off x="7467600" y="3200400"/>
            <a:ext cx="425450" cy="366713"/>
          </a:xfrm>
          <a:prstGeom prst="rect">
            <a:avLst/>
          </a:prstGeom>
          <a:noFill/>
          <a:ln w="12700">
            <a:noFill/>
            <a:miter lim="800000"/>
            <a:headEnd/>
            <a:tailEnd/>
          </a:ln>
          <a:effectLst/>
        </p:spPr>
        <p:txBody>
          <a:bodyPr wrap="none">
            <a:spAutoFit/>
          </a:bodyPr>
          <a:lstStyle/>
          <a:p>
            <a:r>
              <a:rPr lang="en-US"/>
              <a:t>hit</a:t>
            </a:r>
          </a:p>
        </p:txBody>
      </p:sp>
      <p:sp>
        <p:nvSpPr>
          <p:cNvPr id="1616988" name="Text Box 92"/>
          <p:cNvSpPr txBox="1">
            <a:spLocks noChangeArrowheads="1"/>
          </p:cNvSpPr>
          <p:nvPr/>
        </p:nvSpPr>
        <p:spPr bwMode="auto">
          <a:xfrm>
            <a:off x="6248400" y="3886200"/>
            <a:ext cx="2520950" cy="366713"/>
          </a:xfrm>
          <a:prstGeom prst="rect">
            <a:avLst/>
          </a:prstGeom>
          <a:noFill/>
          <a:ln w="12700">
            <a:noFill/>
            <a:miter lim="800000"/>
            <a:headEnd/>
            <a:tailEnd/>
          </a:ln>
          <a:effectLst/>
        </p:spPr>
        <p:txBody>
          <a:bodyPr wrap="none">
            <a:spAutoFit/>
          </a:bodyPr>
          <a:lstStyle/>
          <a:p>
            <a:r>
              <a:rPr lang="en-US">
                <a:solidFill>
                  <a:schemeClr val="tx1"/>
                </a:solidFill>
              </a:rPr>
              <a:t>00    Mem(3)    Mem(2)</a:t>
            </a:r>
          </a:p>
        </p:txBody>
      </p:sp>
      <p:sp>
        <p:nvSpPr>
          <p:cNvPr id="1616989" name="Text Box 93"/>
          <p:cNvSpPr txBox="1">
            <a:spLocks noChangeArrowheads="1"/>
          </p:cNvSpPr>
          <p:nvPr/>
        </p:nvSpPr>
        <p:spPr bwMode="auto">
          <a:xfrm>
            <a:off x="6248400" y="3581400"/>
            <a:ext cx="2520950" cy="366713"/>
          </a:xfrm>
          <a:prstGeom prst="rect">
            <a:avLst/>
          </a:prstGeom>
          <a:noFill/>
          <a:ln w="12700">
            <a:noFill/>
            <a:miter lim="800000"/>
            <a:headEnd/>
            <a:tailEnd/>
          </a:ln>
          <a:effectLst/>
        </p:spPr>
        <p:txBody>
          <a:bodyPr wrap="none">
            <a:spAutoFit/>
          </a:bodyPr>
          <a:lstStyle/>
          <a:p>
            <a:r>
              <a:rPr lang="en-US">
                <a:solidFill>
                  <a:schemeClr val="tx1"/>
                </a:solidFill>
              </a:rPr>
              <a:t>01    Mem(5)    Mem(4)</a:t>
            </a:r>
          </a:p>
        </p:txBody>
      </p:sp>
      <p:sp>
        <p:nvSpPr>
          <p:cNvPr id="1616990" name="Text Box 94"/>
          <p:cNvSpPr txBox="1">
            <a:spLocks noChangeArrowheads="1"/>
          </p:cNvSpPr>
          <p:nvPr/>
        </p:nvSpPr>
        <p:spPr bwMode="auto">
          <a:xfrm>
            <a:off x="3124200" y="4572000"/>
            <a:ext cx="425450" cy="366713"/>
          </a:xfrm>
          <a:prstGeom prst="rect">
            <a:avLst/>
          </a:prstGeom>
          <a:noFill/>
          <a:ln w="12700">
            <a:noFill/>
            <a:miter lim="800000"/>
            <a:headEnd/>
            <a:tailEnd/>
          </a:ln>
          <a:effectLst/>
        </p:spPr>
        <p:txBody>
          <a:bodyPr wrap="none">
            <a:spAutoFit/>
          </a:bodyPr>
          <a:lstStyle/>
          <a:p>
            <a:r>
              <a:rPr lang="en-US"/>
              <a:t>hit</a:t>
            </a:r>
          </a:p>
        </p:txBody>
      </p:sp>
      <p:sp>
        <p:nvSpPr>
          <p:cNvPr id="1616992" name="Text Box 96"/>
          <p:cNvSpPr txBox="1">
            <a:spLocks noChangeArrowheads="1"/>
          </p:cNvSpPr>
          <p:nvPr/>
        </p:nvSpPr>
        <p:spPr bwMode="auto">
          <a:xfrm>
            <a:off x="1905000" y="5257800"/>
            <a:ext cx="2520950" cy="366713"/>
          </a:xfrm>
          <a:prstGeom prst="rect">
            <a:avLst/>
          </a:prstGeom>
          <a:noFill/>
          <a:ln w="12700">
            <a:noFill/>
            <a:miter lim="800000"/>
            <a:headEnd/>
            <a:tailEnd/>
          </a:ln>
          <a:effectLst/>
        </p:spPr>
        <p:txBody>
          <a:bodyPr wrap="none">
            <a:spAutoFit/>
          </a:bodyPr>
          <a:lstStyle/>
          <a:p>
            <a:r>
              <a:rPr lang="en-US">
                <a:solidFill>
                  <a:schemeClr val="tx1"/>
                </a:solidFill>
              </a:rPr>
              <a:t>00    Mem(3)    Mem(2)</a:t>
            </a:r>
          </a:p>
        </p:txBody>
      </p:sp>
      <p:sp>
        <p:nvSpPr>
          <p:cNvPr id="1616993" name="Text Box 97"/>
          <p:cNvSpPr txBox="1">
            <a:spLocks noChangeArrowheads="1"/>
          </p:cNvSpPr>
          <p:nvPr/>
        </p:nvSpPr>
        <p:spPr bwMode="auto">
          <a:xfrm>
            <a:off x="1905000" y="4953000"/>
            <a:ext cx="2520950" cy="366713"/>
          </a:xfrm>
          <a:prstGeom prst="rect">
            <a:avLst/>
          </a:prstGeom>
          <a:noFill/>
          <a:ln w="12700">
            <a:noFill/>
            <a:miter lim="800000"/>
            <a:headEnd/>
            <a:tailEnd/>
          </a:ln>
          <a:effectLst/>
        </p:spPr>
        <p:txBody>
          <a:bodyPr wrap="none">
            <a:spAutoFit/>
          </a:bodyPr>
          <a:lstStyle/>
          <a:p>
            <a:r>
              <a:rPr lang="en-US">
                <a:solidFill>
                  <a:schemeClr val="tx1"/>
                </a:solidFill>
              </a:rPr>
              <a:t>01    Mem(5)    Mem(4)</a:t>
            </a:r>
          </a:p>
        </p:txBody>
      </p:sp>
      <p:sp>
        <p:nvSpPr>
          <p:cNvPr id="1616995" name="Text Box 99"/>
          <p:cNvSpPr txBox="1">
            <a:spLocks noChangeArrowheads="1"/>
          </p:cNvSpPr>
          <p:nvPr/>
        </p:nvSpPr>
        <p:spPr bwMode="auto">
          <a:xfrm>
            <a:off x="4953000" y="5257800"/>
            <a:ext cx="2520950" cy="366713"/>
          </a:xfrm>
          <a:prstGeom prst="rect">
            <a:avLst/>
          </a:prstGeom>
          <a:noFill/>
          <a:ln w="12700">
            <a:noFill/>
            <a:miter lim="800000"/>
            <a:headEnd/>
            <a:tailEnd/>
          </a:ln>
          <a:effectLst/>
        </p:spPr>
        <p:txBody>
          <a:bodyPr wrap="none">
            <a:spAutoFit/>
          </a:bodyPr>
          <a:lstStyle/>
          <a:p>
            <a:r>
              <a:rPr lang="en-US">
                <a:solidFill>
                  <a:schemeClr val="tx1"/>
                </a:solidFill>
              </a:rPr>
              <a:t>00    Mem(3)    Mem(2)</a:t>
            </a:r>
          </a:p>
        </p:txBody>
      </p:sp>
      <p:sp>
        <p:nvSpPr>
          <p:cNvPr id="1616996" name="Text Box 100"/>
          <p:cNvSpPr txBox="1">
            <a:spLocks noChangeArrowheads="1"/>
          </p:cNvSpPr>
          <p:nvPr/>
        </p:nvSpPr>
        <p:spPr bwMode="auto">
          <a:xfrm>
            <a:off x="4953000" y="4953000"/>
            <a:ext cx="2520950" cy="366713"/>
          </a:xfrm>
          <a:prstGeom prst="rect">
            <a:avLst/>
          </a:prstGeom>
          <a:noFill/>
          <a:ln w="12700">
            <a:noFill/>
            <a:miter lim="800000"/>
            <a:headEnd/>
            <a:tailEnd/>
          </a:ln>
          <a:effectLst/>
        </p:spPr>
        <p:txBody>
          <a:bodyPr wrap="none">
            <a:spAutoFit/>
          </a:bodyPr>
          <a:lstStyle/>
          <a:p>
            <a:r>
              <a:rPr lang="en-US">
                <a:solidFill>
                  <a:schemeClr val="tx1"/>
                </a:solidFill>
              </a:rPr>
              <a:t>01    Mem(5)    Mem(4)</a:t>
            </a:r>
          </a:p>
        </p:txBody>
      </p:sp>
      <p:sp>
        <p:nvSpPr>
          <p:cNvPr id="1616997" name="Text Box 101"/>
          <p:cNvSpPr txBox="1">
            <a:spLocks noChangeArrowheads="1"/>
          </p:cNvSpPr>
          <p:nvPr/>
        </p:nvSpPr>
        <p:spPr bwMode="auto">
          <a:xfrm>
            <a:off x="6477000" y="4572000"/>
            <a:ext cx="654050" cy="366713"/>
          </a:xfrm>
          <a:prstGeom prst="rect">
            <a:avLst/>
          </a:prstGeom>
          <a:noFill/>
          <a:ln w="12700">
            <a:noFill/>
            <a:miter lim="800000"/>
            <a:headEnd/>
            <a:tailEnd/>
          </a:ln>
          <a:effectLst/>
        </p:spPr>
        <p:txBody>
          <a:bodyPr wrap="none">
            <a:spAutoFit/>
          </a:bodyPr>
          <a:lstStyle/>
          <a:p>
            <a:r>
              <a:rPr lang="en-US"/>
              <a:t>miss</a:t>
            </a:r>
          </a:p>
        </p:txBody>
      </p:sp>
      <p:grpSp>
        <p:nvGrpSpPr>
          <p:cNvPr id="11" name="Group 102"/>
          <p:cNvGrpSpPr>
            <a:grpSpLocks/>
          </p:cNvGrpSpPr>
          <p:nvPr/>
        </p:nvGrpSpPr>
        <p:grpSpPr bwMode="auto">
          <a:xfrm>
            <a:off x="4724400" y="5029200"/>
            <a:ext cx="2952750" cy="533400"/>
            <a:chOff x="2016" y="2208"/>
            <a:chExt cx="1860" cy="336"/>
          </a:xfrm>
        </p:grpSpPr>
        <p:sp>
          <p:nvSpPr>
            <p:cNvPr id="1616999" name="Line 103"/>
            <p:cNvSpPr>
              <a:spLocks noChangeShapeType="1"/>
            </p:cNvSpPr>
            <p:nvPr/>
          </p:nvSpPr>
          <p:spPr bwMode="auto">
            <a:xfrm>
              <a:off x="2208" y="2400"/>
              <a:ext cx="240" cy="144"/>
            </a:xfrm>
            <a:prstGeom prst="line">
              <a:avLst/>
            </a:prstGeom>
            <a:noFill/>
            <a:ln w="28575">
              <a:solidFill>
                <a:schemeClr val="accent1"/>
              </a:solidFill>
              <a:round/>
              <a:headEnd/>
              <a:tailEnd/>
            </a:ln>
            <a:effectLst/>
          </p:spPr>
          <p:txBody>
            <a:bodyPr/>
            <a:lstStyle/>
            <a:p>
              <a:endParaRPr lang="en-US"/>
            </a:p>
          </p:txBody>
        </p:sp>
        <p:sp>
          <p:nvSpPr>
            <p:cNvPr id="1617000" name="Line 104"/>
            <p:cNvSpPr>
              <a:spLocks noChangeShapeType="1"/>
            </p:cNvSpPr>
            <p:nvPr/>
          </p:nvSpPr>
          <p:spPr bwMode="auto">
            <a:xfrm>
              <a:off x="3504" y="2400"/>
              <a:ext cx="240" cy="144"/>
            </a:xfrm>
            <a:prstGeom prst="line">
              <a:avLst/>
            </a:prstGeom>
            <a:noFill/>
            <a:ln w="28575">
              <a:solidFill>
                <a:schemeClr val="accent1"/>
              </a:solidFill>
              <a:round/>
              <a:headEnd/>
              <a:tailEnd/>
            </a:ln>
            <a:effectLst/>
          </p:spPr>
          <p:txBody>
            <a:bodyPr/>
            <a:lstStyle/>
            <a:p>
              <a:endParaRPr lang="en-US"/>
            </a:p>
          </p:txBody>
        </p:sp>
        <p:sp>
          <p:nvSpPr>
            <p:cNvPr id="1617001" name="Text Box 105"/>
            <p:cNvSpPr txBox="1">
              <a:spLocks noChangeArrowheads="1"/>
            </p:cNvSpPr>
            <p:nvPr/>
          </p:nvSpPr>
          <p:spPr bwMode="auto">
            <a:xfrm>
              <a:off x="2016" y="2208"/>
              <a:ext cx="276" cy="231"/>
            </a:xfrm>
            <a:prstGeom prst="rect">
              <a:avLst/>
            </a:prstGeom>
            <a:noFill/>
            <a:ln w="12700">
              <a:noFill/>
              <a:miter lim="800000"/>
              <a:headEnd/>
              <a:tailEnd/>
            </a:ln>
            <a:effectLst/>
          </p:spPr>
          <p:txBody>
            <a:bodyPr wrap="none">
              <a:spAutoFit/>
            </a:bodyPr>
            <a:lstStyle/>
            <a:p>
              <a:r>
                <a:rPr lang="en-US"/>
                <a:t>11</a:t>
              </a:r>
            </a:p>
          </p:txBody>
        </p:sp>
        <p:sp>
          <p:nvSpPr>
            <p:cNvPr id="1617002" name="Text Box 106"/>
            <p:cNvSpPr txBox="1">
              <a:spLocks noChangeArrowheads="1"/>
            </p:cNvSpPr>
            <p:nvPr/>
          </p:nvSpPr>
          <p:spPr bwMode="auto">
            <a:xfrm>
              <a:off x="2928" y="2256"/>
              <a:ext cx="276" cy="231"/>
            </a:xfrm>
            <a:prstGeom prst="rect">
              <a:avLst/>
            </a:prstGeom>
            <a:noFill/>
            <a:ln w="12700">
              <a:noFill/>
              <a:miter lim="800000"/>
              <a:headEnd/>
              <a:tailEnd/>
            </a:ln>
            <a:effectLst/>
          </p:spPr>
          <p:txBody>
            <a:bodyPr wrap="none">
              <a:spAutoFit/>
            </a:bodyPr>
            <a:lstStyle/>
            <a:p>
              <a:r>
                <a:rPr lang="en-US"/>
                <a:t>15</a:t>
              </a:r>
            </a:p>
          </p:txBody>
        </p:sp>
        <p:sp>
          <p:nvSpPr>
            <p:cNvPr id="1617003" name="Line 107"/>
            <p:cNvSpPr>
              <a:spLocks noChangeShapeType="1"/>
            </p:cNvSpPr>
            <p:nvPr/>
          </p:nvSpPr>
          <p:spPr bwMode="auto">
            <a:xfrm>
              <a:off x="2784" y="2400"/>
              <a:ext cx="240" cy="144"/>
            </a:xfrm>
            <a:prstGeom prst="line">
              <a:avLst/>
            </a:prstGeom>
            <a:noFill/>
            <a:ln w="28575">
              <a:solidFill>
                <a:schemeClr val="accent1"/>
              </a:solidFill>
              <a:round/>
              <a:headEnd/>
              <a:tailEnd/>
            </a:ln>
            <a:effectLst/>
          </p:spPr>
          <p:txBody>
            <a:bodyPr/>
            <a:lstStyle/>
            <a:p>
              <a:endParaRPr lang="en-US"/>
            </a:p>
          </p:txBody>
        </p:sp>
        <p:sp>
          <p:nvSpPr>
            <p:cNvPr id="1617004" name="Text Box 108"/>
            <p:cNvSpPr txBox="1">
              <a:spLocks noChangeArrowheads="1"/>
            </p:cNvSpPr>
            <p:nvPr/>
          </p:nvSpPr>
          <p:spPr bwMode="auto">
            <a:xfrm>
              <a:off x="3600" y="2256"/>
              <a:ext cx="276" cy="231"/>
            </a:xfrm>
            <a:prstGeom prst="rect">
              <a:avLst/>
            </a:prstGeom>
            <a:noFill/>
            <a:ln w="12700">
              <a:noFill/>
              <a:miter lim="800000"/>
              <a:headEnd/>
              <a:tailEnd/>
            </a:ln>
            <a:effectLst/>
          </p:spPr>
          <p:txBody>
            <a:bodyPr wrap="none">
              <a:spAutoFit/>
            </a:bodyPr>
            <a:lstStyle/>
            <a:p>
              <a:r>
                <a:rPr lang="en-US"/>
                <a:t>14</a:t>
              </a:r>
            </a:p>
          </p:txBody>
        </p:sp>
      </p:grpSp>
      <p:sp>
        <p:nvSpPr>
          <p:cNvPr id="1617005" name="Text Box 109"/>
          <p:cNvSpPr txBox="1">
            <a:spLocks noChangeArrowheads="1"/>
          </p:cNvSpPr>
          <p:nvPr/>
        </p:nvSpPr>
        <p:spPr bwMode="auto">
          <a:xfrm>
            <a:off x="457200" y="1143000"/>
            <a:ext cx="3429000" cy="581025"/>
          </a:xfrm>
          <a:prstGeom prst="rect">
            <a:avLst/>
          </a:prstGeom>
          <a:noFill/>
          <a:ln w="12700">
            <a:noFill/>
            <a:miter lim="800000"/>
            <a:headEnd/>
            <a:tailEnd/>
          </a:ln>
          <a:effectLst/>
        </p:spPr>
        <p:txBody>
          <a:bodyPr>
            <a:spAutoFit/>
          </a:bodyPr>
          <a:lstStyle/>
          <a:p>
            <a:r>
              <a:rPr lang="en-US" sz="1600">
                <a:solidFill>
                  <a:schemeClr val="tx1"/>
                </a:solidFill>
              </a:rPr>
              <a:t>Start with an empty cache - all blocks initially marked as not valid</a:t>
            </a:r>
          </a:p>
        </p:txBody>
      </p:sp>
      <p:sp>
        <p:nvSpPr>
          <p:cNvPr id="1617006" name="Rectangle 110"/>
          <p:cNvSpPr>
            <a:spLocks noChangeArrowheads="1"/>
          </p:cNvSpPr>
          <p:nvPr/>
        </p:nvSpPr>
        <p:spPr bwMode="auto">
          <a:xfrm>
            <a:off x="762000" y="5791200"/>
            <a:ext cx="8153400" cy="355600"/>
          </a:xfrm>
          <a:prstGeom prst="rect">
            <a:avLst/>
          </a:prstGeom>
          <a:noFill/>
          <a:ln w="12700">
            <a:noFill/>
            <a:miter lim="800000"/>
            <a:headEnd/>
            <a:tailEnd/>
          </a:ln>
          <a:effectLst/>
        </p:spPr>
        <p:txBody>
          <a:bodyPr lIns="63500" tIns="25400" rIns="63500" bIns="25400">
            <a:spAutoFit/>
          </a:bodyPr>
          <a:lstStyle/>
          <a:p>
            <a:pPr marL="741363" lvl="1" indent="-246063">
              <a:spcBef>
                <a:spcPct val="30000"/>
              </a:spcBef>
              <a:buClr>
                <a:schemeClr val="accent1"/>
              </a:buClr>
              <a:buSzPct val="75000"/>
              <a:buFont typeface="Monotype Sorts" pitchFamily="2" charset="2"/>
              <a:buChar char="l"/>
            </a:pPr>
            <a:r>
              <a:rPr lang="en-US" sz="2000">
                <a:solidFill>
                  <a:schemeClr val="tx1"/>
                </a:solidFill>
              </a:rPr>
              <a:t>8 requests, 4 misses</a:t>
            </a:r>
          </a:p>
        </p:txBody>
      </p:sp>
    </p:spTree>
    <p:extLst>
      <p:ext uri="{BB962C8B-B14F-4D97-AF65-F5344CB8AC3E}">
        <p14:creationId xmlns:p14="http://schemas.microsoft.com/office/powerpoint/2010/main" val="19290965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169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169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169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169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169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6169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61696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1697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1697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161697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1697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1697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61697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1698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1698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161698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61699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61699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161699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61699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61699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161699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499"/>
                                          </p:stCondLst>
                                        </p:cTn>
                                        <p:tgtEl>
                                          <p:spTgt spid="1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617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6965" grpId="0" autoUpdateAnimBg="0"/>
      <p:bldP spid="1616966" grpId="0" autoUpdateAnimBg="0"/>
      <p:bldP spid="1616967" grpId="0"/>
      <p:bldP spid="1616968" grpId="0" autoUpdateAnimBg="0"/>
      <p:bldP spid="1616969" grpId="0" autoUpdateAnimBg="0"/>
      <p:bldP spid="1616970" grpId="0"/>
      <p:bldP spid="1616971" grpId="0" autoUpdateAnimBg="0"/>
      <p:bldP spid="1616972" grpId="0" autoUpdateAnimBg="0"/>
      <p:bldP spid="1616973" grpId="0"/>
      <p:bldP spid="1616974" grpId="0"/>
      <p:bldP spid="1616975" grpId="0" autoUpdateAnimBg="0"/>
      <p:bldP spid="1616977" grpId="0"/>
      <p:bldP spid="1616978" grpId="0"/>
      <p:bldP spid="1616986" grpId="0" autoUpdateAnimBg="0"/>
      <p:bldP spid="1616988" grpId="0"/>
      <p:bldP spid="1616989" grpId="0"/>
      <p:bldP spid="1616990" grpId="0" autoUpdateAnimBg="0"/>
      <p:bldP spid="1616992" grpId="0"/>
      <p:bldP spid="1616993" grpId="0"/>
      <p:bldP spid="1616995" grpId="0"/>
      <p:bldP spid="1616996" grpId="0"/>
      <p:bldP spid="1616997" grpId="0" autoUpdateAnimBg="0"/>
      <p:bldP spid="161700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8946" name="Rectangle 2"/>
          <p:cNvSpPr>
            <a:spLocks noChangeArrowheads="1"/>
          </p:cNvSpPr>
          <p:nvPr/>
        </p:nvSpPr>
        <p:spPr bwMode="auto">
          <a:xfrm>
            <a:off x="225425" y="312738"/>
            <a:ext cx="3168650" cy="477837"/>
          </a:xfrm>
          <a:prstGeom prst="rect">
            <a:avLst/>
          </a:prstGeom>
          <a:noFill/>
          <a:ln w="12700">
            <a:noFill/>
            <a:miter lim="800000"/>
            <a:headEnd/>
            <a:tailEnd/>
          </a:ln>
          <a:effectLst/>
        </p:spPr>
        <p:txBody>
          <a:bodyPr wrap="none" anchor="ctr"/>
          <a:lstStyle/>
          <a:p>
            <a:endParaRPr lang="en-US"/>
          </a:p>
        </p:txBody>
      </p:sp>
      <p:sp>
        <p:nvSpPr>
          <p:cNvPr id="1618947" name="Rectangle 3"/>
          <p:cNvSpPr>
            <a:spLocks noGrp="1" noChangeArrowheads="1"/>
          </p:cNvSpPr>
          <p:nvPr>
            <p:ph type="title"/>
          </p:nvPr>
        </p:nvSpPr>
        <p:spPr>
          <a:noFill/>
          <a:ln/>
        </p:spPr>
        <p:txBody>
          <a:bodyPr lIns="90488" tIns="44450" rIns="90488" bIns="44450" anchor="ctr"/>
          <a:lstStyle/>
          <a:p>
            <a:r>
              <a:rPr lang="en-US"/>
              <a:t>Multiword Block Direct Mapped Cache</a:t>
            </a:r>
          </a:p>
        </p:txBody>
      </p:sp>
      <p:grpSp>
        <p:nvGrpSpPr>
          <p:cNvPr id="2" name="Group 4"/>
          <p:cNvGrpSpPr>
            <a:grpSpLocks/>
          </p:cNvGrpSpPr>
          <p:nvPr/>
        </p:nvGrpSpPr>
        <p:grpSpPr bwMode="auto">
          <a:xfrm>
            <a:off x="914400" y="1828800"/>
            <a:ext cx="3727450" cy="1828800"/>
            <a:chOff x="576" y="1248"/>
            <a:chExt cx="2348" cy="1152"/>
          </a:xfrm>
        </p:grpSpPr>
        <p:grpSp>
          <p:nvGrpSpPr>
            <p:cNvPr id="3" name="Group 5"/>
            <p:cNvGrpSpPr>
              <a:grpSpLocks/>
            </p:cNvGrpSpPr>
            <p:nvPr/>
          </p:nvGrpSpPr>
          <p:grpSpPr bwMode="auto">
            <a:xfrm>
              <a:off x="576" y="1248"/>
              <a:ext cx="2348" cy="1152"/>
              <a:chOff x="576" y="1248"/>
              <a:chExt cx="2348" cy="1152"/>
            </a:xfrm>
          </p:grpSpPr>
          <p:sp>
            <p:nvSpPr>
              <p:cNvPr id="1618950" name="Line 6"/>
              <p:cNvSpPr>
                <a:spLocks noChangeShapeType="1"/>
              </p:cNvSpPr>
              <p:nvPr/>
            </p:nvSpPr>
            <p:spPr bwMode="auto">
              <a:xfrm>
                <a:off x="2640" y="1344"/>
                <a:ext cx="148" cy="57"/>
              </a:xfrm>
              <a:prstGeom prst="line">
                <a:avLst/>
              </a:prstGeom>
              <a:noFill/>
              <a:ln w="20638">
                <a:solidFill>
                  <a:srgbClr val="000000"/>
                </a:solidFill>
                <a:round/>
                <a:headEnd/>
                <a:tailEnd/>
              </a:ln>
            </p:spPr>
            <p:txBody>
              <a:bodyPr/>
              <a:lstStyle/>
              <a:p>
                <a:endParaRPr lang="en-US"/>
              </a:p>
            </p:txBody>
          </p:sp>
          <p:sp>
            <p:nvSpPr>
              <p:cNvPr id="1618951" name="Text Box 7"/>
              <p:cNvSpPr txBox="1">
                <a:spLocks noChangeArrowheads="1"/>
              </p:cNvSpPr>
              <p:nvPr/>
            </p:nvSpPr>
            <p:spPr bwMode="auto">
              <a:xfrm>
                <a:off x="2736" y="1296"/>
                <a:ext cx="188" cy="213"/>
              </a:xfrm>
              <a:prstGeom prst="rect">
                <a:avLst/>
              </a:prstGeom>
              <a:noFill/>
              <a:ln w="12700">
                <a:noFill/>
                <a:miter lim="800000"/>
                <a:headEnd/>
                <a:tailEnd/>
              </a:ln>
              <a:effectLst/>
            </p:spPr>
            <p:txBody>
              <a:bodyPr wrap="none">
                <a:spAutoFit/>
              </a:bodyPr>
              <a:lstStyle/>
              <a:p>
                <a:r>
                  <a:rPr lang="en-US" sz="1600" dirty="0">
                    <a:solidFill>
                      <a:schemeClr val="tx1"/>
                    </a:solidFill>
                  </a:rPr>
                  <a:t>8</a:t>
                </a:r>
              </a:p>
            </p:txBody>
          </p:sp>
          <p:sp>
            <p:nvSpPr>
              <p:cNvPr id="1618952" name="Text Box 8"/>
              <p:cNvSpPr txBox="1">
                <a:spLocks noChangeArrowheads="1"/>
              </p:cNvSpPr>
              <p:nvPr/>
            </p:nvSpPr>
            <p:spPr bwMode="auto">
              <a:xfrm>
                <a:off x="2208" y="1423"/>
                <a:ext cx="429" cy="212"/>
              </a:xfrm>
              <a:prstGeom prst="rect">
                <a:avLst/>
              </a:prstGeom>
              <a:noFill/>
              <a:ln w="12700">
                <a:noFill/>
                <a:miter lim="800000"/>
                <a:headEnd/>
                <a:tailEnd/>
              </a:ln>
              <a:effectLst/>
            </p:spPr>
            <p:txBody>
              <a:bodyPr wrap="none">
                <a:spAutoFit/>
              </a:bodyPr>
              <a:lstStyle/>
              <a:p>
                <a:r>
                  <a:rPr lang="en-US" sz="1600">
                    <a:solidFill>
                      <a:schemeClr val="tx1"/>
                    </a:solidFill>
                  </a:rPr>
                  <a:t>Index</a:t>
                </a:r>
              </a:p>
            </p:txBody>
          </p:sp>
          <p:sp>
            <p:nvSpPr>
              <p:cNvPr id="1618953" name="Line 9"/>
              <p:cNvSpPr>
                <a:spLocks noChangeShapeType="1"/>
              </p:cNvSpPr>
              <p:nvPr/>
            </p:nvSpPr>
            <p:spPr bwMode="auto">
              <a:xfrm>
                <a:off x="2736" y="1248"/>
                <a:ext cx="0" cy="384"/>
              </a:xfrm>
              <a:prstGeom prst="line">
                <a:avLst/>
              </a:prstGeom>
              <a:noFill/>
              <a:ln w="28575">
                <a:solidFill>
                  <a:schemeClr val="tx1"/>
                </a:solidFill>
                <a:round/>
                <a:headEnd/>
                <a:tailEnd/>
              </a:ln>
              <a:effectLst/>
            </p:spPr>
            <p:txBody>
              <a:bodyPr/>
              <a:lstStyle/>
              <a:p>
                <a:endParaRPr lang="en-US"/>
              </a:p>
            </p:txBody>
          </p:sp>
          <p:sp>
            <p:nvSpPr>
              <p:cNvPr id="1618954" name="Line 10"/>
              <p:cNvSpPr>
                <a:spLocks noChangeShapeType="1"/>
              </p:cNvSpPr>
              <p:nvPr/>
            </p:nvSpPr>
            <p:spPr bwMode="auto">
              <a:xfrm>
                <a:off x="576" y="1632"/>
                <a:ext cx="2160" cy="0"/>
              </a:xfrm>
              <a:prstGeom prst="line">
                <a:avLst/>
              </a:prstGeom>
              <a:noFill/>
              <a:ln w="38100">
                <a:solidFill>
                  <a:schemeClr val="tx1"/>
                </a:solidFill>
                <a:round/>
                <a:headEnd/>
                <a:tailEnd/>
              </a:ln>
              <a:effectLst/>
            </p:spPr>
            <p:txBody>
              <a:bodyPr/>
              <a:lstStyle/>
              <a:p>
                <a:endParaRPr lang="en-US"/>
              </a:p>
            </p:txBody>
          </p:sp>
          <p:sp>
            <p:nvSpPr>
              <p:cNvPr id="1618955" name="Line 11"/>
              <p:cNvSpPr>
                <a:spLocks noChangeShapeType="1"/>
              </p:cNvSpPr>
              <p:nvPr/>
            </p:nvSpPr>
            <p:spPr bwMode="auto">
              <a:xfrm>
                <a:off x="576" y="1632"/>
                <a:ext cx="0" cy="768"/>
              </a:xfrm>
              <a:prstGeom prst="line">
                <a:avLst/>
              </a:prstGeom>
              <a:noFill/>
              <a:ln w="28575">
                <a:solidFill>
                  <a:schemeClr val="tx1"/>
                </a:solidFill>
                <a:round/>
                <a:headEnd/>
                <a:tailEnd/>
              </a:ln>
              <a:effectLst/>
            </p:spPr>
            <p:txBody>
              <a:bodyPr/>
              <a:lstStyle/>
              <a:p>
                <a:endParaRPr lang="en-US"/>
              </a:p>
            </p:txBody>
          </p:sp>
        </p:grpSp>
        <p:sp>
          <p:nvSpPr>
            <p:cNvPr id="1618956" name="Line 12"/>
            <p:cNvSpPr>
              <a:spLocks noChangeShapeType="1"/>
            </p:cNvSpPr>
            <p:nvPr/>
          </p:nvSpPr>
          <p:spPr bwMode="auto">
            <a:xfrm>
              <a:off x="576" y="2400"/>
              <a:ext cx="384" cy="0"/>
            </a:xfrm>
            <a:prstGeom prst="line">
              <a:avLst/>
            </a:prstGeom>
            <a:noFill/>
            <a:ln w="28575">
              <a:solidFill>
                <a:schemeClr val="tx1"/>
              </a:solidFill>
              <a:round/>
              <a:headEnd/>
              <a:tailEnd type="triangle" w="med" len="med"/>
            </a:ln>
            <a:effectLst/>
          </p:spPr>
          <p:txBody>
            <a:bodyPr/>
            <a:lstStyle/>
            <a:p>
              <a:endParaRPr lang="en-US"/>
            </a:p>
          </p:txBody>
        </p:sp>
      </p:grpSp>
      <p:grpSp>
        <p:nvGrpSpPr>
          <p:cNvPr id="4" name="Group 13"/>
          <p:cNvGrpSpPr>
            <a:grpSpLocks/>
          </p:cNvGrpSpPr>
          <p:nvPr/>
        </p:nvGrpSpPr>
        <p:grpSpPr bwMode="auto">
          <a:xfrm>
            <a:off x="914400" y="2514600"/>
            <a:ext cx="7391400" cy="2211388"/>
            <a:chOff x="576" y="1680"/>
            <a:chExt cx="4656" cy="1393"/>
          </a:xfrm>
        </p:grpSpPr>
        <p:sp>
          <p:nvSpPr>
            <p:cNvPr id="1618958" name="Freeform 14"/>
            <p:cNvSpPr>
              <a:spLocks/>
            </p:cNvSpPr>
            <p:nvPr/>
          </p:nvSpPr>
          <p:spPr bwMode="auto">
            <a:xfrm>
              <a:off x="960" y="2352"/>
              <a:ext cx="4260" cy="96"/>
            </a:xfrm>
            <a:custGeom>
              <a:avLst/>
              <a:gdLst/>
              <a:ahLst/>
              <a:cxnLst>
                <a:cxn ang="0">
                  <a:pos x="1608" y="110"/>
                </a:cxn>
                <a:cxn ang="0">
                  <a:pos x="1608" y="0"/>
                </a:cxn>
                <a:cxn ang="0">
                  <a:pos x="0" y="0"/>
                </a:cxn>
                <a:cxn ang="0">
                  <a:pos x="0" y="110"/>
                </a:cxn>
                <a:cxn ang="0">
                  <a:pos x="1608" y="110"/>
                </a:cxn>
                <a:cxn ang="0">
                  <a:pos x="1608" y="110"/>
                </a:cxn>
              </a:cxnLst>
              <a:rect l="0" t="0" r="r" b="b"/>
              <a:pathLst>
                <a:path w="1608" h="110">
                  <a:moveTo>
                    <a:pt x="1608" y="110"/>
                  </a:moveTo>
                  <a:lnTo>
                    <a:pt x="1608" y="0"/>
                  </a:lnTo>
                  <a:lnTo>
                    <a:pt x="0" y="0"/>
                  </a:lnTo>
                  <a:lnTo>
                    <a:pt x="0" y="110"/>
                  </a:lnTo>
                  <a:lnTo>
                    <a:pt x="1608" y="110"/>
                  </a:lnTo>
                  <a:lnTo>
                    <a:pt x="1608" y="110"/>
                  </a:lnTo>
                  <a:close/>
                </a:path>
              </a:pathLst>
            </a:custGeom>
            <a:solidFill>
              <a:schemeClr val="hlink"/>
            </a:solidFill>
            <a:ln w="9525">
              <a:solidFill>
                <a:schemeClr val="hlink"/>
              </a:solidFill>
              <a:round/>
              <a:headEnd/>
              <a:tailEnd/>
            </a:ln>
          </p:spPr>
          <p:txBody>
            <a:bodyPr/>
            <a:lstStyle/>
            <a:p>
              <a:endParaRPr lang="en-US"/>
            </a:p>
          </p:txBody>
        </p:sp>
        <p:sp>
          <p:nvSpPr>
            <p:cNvPr id="1618959" name="Freeform 15"/>
            <p:cNvSpPr>
              <a:spLocks/>
            </p:cNvSpPr>
            <p:nvPr/>
          </p:nvSpPr>
          <p:spPr bwMode="auto">
            <a:xfrm>
              <a:off x="960" y="2352"/>
              <a:ext cx="4272" cy="96"/>
            </a:xfrm>
            <a:custGeom>
              <a:avLst/>
              <a:gdLst/>
              <a:ahLst/>
              <a:cxnLst>
                <a:cxn ang="0">
                  <a:pos x="1608" y="110"/>
                </a:cxn>
                <a:cxn ang="0">
                  <a:pos x="1608" y="0"/>
                </a:cxn>
                <a:cxn ang="0">
                  <a:pos x="0" y="0"/>
                </a:cxn>
                <a:cxn ang="0">
                  <a:pos x="0" y="110"/>
                </a:cxn>
                <a:cxn ang="0">
                  <a:pos x="1608" y="110"/>
                </a:cxn>
                <a:cxn ang="0">
                  <a:pos x="1608" y="110"/>
                </a:cxn>
              </a:cxnLst>
              <a:rect l="0" t="0" r="r" b="b"/>
              <a:pathLst>
                <a:path w="1608" h="110">
                  <a:moveTo>
                    <a:pt x="1608" y="110"/>
                  </a:moveTo>
                  <a:lnTo>
                    <a:pt x="1608" y="0"/>
                  </a:lnTo>
                  <a:lnTo>
                    <a:pt x="0" y="0"/>
                  </a:lnTo>
                  <a:lnTo>
                    <a:pt x="0" y="110"/>
                  </a:lnTo>
                  <a:lnTo>
                    <a:pt x="1608" y="110"/>
                  </a:lnTo>
                  <a:lnTo>
                    <a:pt x="1608" y="110"/>
                  </a:lnTo>
                </a:path>
              </a:pathLst>
            </a:custGeom>
            <a:noFill/>
            <a:ln w="20638">
              <a:solidFill>
                <a:srgbClr val="000000"/>
              </a:solidFill>
              <a:prstDash val="solid"/>
              <a:round/>
              <a:headEnd/>
              <a:tailEnd/>
            </a:ln>
          </p:spPr>
          <p:txBody>
            <a:bodyPr/>
            <a:lstStyle/>
            <a:p>
              <a:endParaRPr lang="en-US"/>
            </a:p>
          </p:txBody>
        </p:sp>
        <p:sp>
          <p:nvSpPr>
            <p:cNvPr id="1618960" name="Line 16"/>
            <p:cNvSpPr>
              <a:spLocks noChangeShapeType="1"/>
            </p:cNvSpPr>
            <p:nvPr/>
          </p:nvSpPr>
          <p:spPr bwMode="auto">
            <a:xfrm flipH="1">
              <a:off x="960" y="2011"/>
              <a:ext cx="4260" cy="0"/>
            </a:xfrm>
            <a:prstGeom prst="line">
              <a:avLst/>
            </a:prstGeom>
            <a:noFill/>
            <a:ln w="20638">
              <a:solidFill>
                <a:srgbClr val="000000"/>
              </a:solidFill>
              <a:round/>
              <a:headEnd/>
              <a:tailEnd/>
            </a:ln>
          </p:spPr>
          <p:txBody>
            <a:bodyPr/>
            <a:lstStyle/>
            <a:p>
              <a:endParaRPr lang="en-US"/>
            </a:p>
          </p:txBody>
        </p:sp>
        <p:sp>
          <p:nvSpPr>
            <p:cNvPr id="1618961" name="Line 17"/>
            <p:cNvSpPr>
              <a:spLocks noChangeShapeType="1"/>
            </p:cNvSpPr>
            <p:nvPr/>
          </p:nvSpPr>
          <p:spPr bwMode="auto">
            <a:xfrm flipH="1">
              <a:off x="960" y="2121"/>
              <a:ext cx="4260" cy="0"/>
            </a:xfrm>
            <a:prstGeom prst="line">
              <a:avLst/>
            </a:prstGeom>
            <a:noFill/>
            <a:ln w="20638">
              <a:solidFill>
                <a:srgbClr val="000000"/>
              </a:solidFill>
              <a:round/>
              <a:headEnd/>
              <a:tailEnd/>
            </a:ln>
          </p:spPr>
          <p:txBody>
            <a:bodyPr/>
            <a:lstStyle/>
            <a:p>
              <a:endParaRPr lang="en-US"/>
            </a:p>
          </p:txBody>
        </p:sp>
        <p:sp>
          <p:nvSpPr>
            <p:cNvPr id="1618962" name="Line 18"/>
            <p:cNvSpPr>
              <a:spLocks noChangeShapeType="1"/>
            </p:cNvSpPr>
            <p:nvPr/>
          </p:nvSpPr>
          <p:spPr bwMode="auto">
            <a:xfrm flipH="1">
              <a:off x="960" y="2230"/>
              <a:ext cx="4260" cy="0"/>
            </a:xfrm>
            <a:prstGeom prst="line">
              <a:avLst/>
            </a:prstGeom>
            <a:noFill/>
            <a:ln w="20638">
              <a:solidFill>
                <a:srgbClr val="000000"/>
              </a:solidFill>
              <a:round/>
              <a:headEnd/>
              <a:tailEnd/>
            </a:ln>
          </p:spPr>
          <p:txBody>
            <a:bodyPr/>
            <a:lstStyle/>
            <a:p>
              <a:endParaRPr lang="en-US"/>
            </a:p>
          </p:txBody>
        </p:sp>
        <p:sp>
          <p:nvSpPr>
            <p:cNvPr id="1618963" name="Line 19"/>
            <p:cNvSpPr>
              <a:spLocks noChangeShapeType="1"/>
            </p:cNvSpPr>
            <p:nvPr/>
          </p:nvSpPr>
          <p:spPr bwMode="auto">
            <a:xfrm flipH="1">
              <a:off x="960" y="2559"/>
              <a:ext cx="4260" cy="0"/>
            </a:xfrm>
            <a:prstGeom prst="line">
              <a:avLst/>
            </a:prstGeom>
            <a:noFill/>
            <a:ln w="20638">
              <a:solidFill>
                <a:srgbClr val="000000"/>
              </a:solidFill>
              <a:round/>
              <a:headEnd/>
              <a:tailEnd/>
            </a:ln>
          </p:spPr>
          <p:txBody>
            <a:bodyPr/>
            <a:lstStyle/>
            <a:p>
              <a:endParaRPr lang="en-US"/>
            </a:p>
          </p:txBody>
        </p:sp>
        <p:sp>
          <p:nvSpPr>
            <p:cNvPr id="1618964" name="Line 20"/>
            <p:cNvSpPr>
              <a:spLocks noChangeShapeType="1"/>
            </p:cNvSpPr>
            <p:nvPr/>
          </p:nvSpPr>
          <p:spPr bwMode="auto">
            <a:xfrm flipH="1">
              <a:off x="960" y="2669"/>
              <a:ext cx="4260" cy="0"/>
            </a:xfrm>
            <a:prstGeom prst="line">
              <a:avLst/>
            </a:prstGeom>
            <a:noFill/>
            <a:ln w="20638">
              <a:solidFill>
                <a:srgbClr val="000000"/>
              </a:solidFill>
              <a:round/>
              <a:headEnd/>
              <a:tailEnd/>
            </a:ln>
          </p:spPr>
          <p:txBody>
            <a:bodyPr/>
            <a:lstStyle/>
            <a:p>
              <a:endParaRPr lang="en-US"/>
            </a:p>
          </p:txBody>
        </p:sp>
        <p:sp>
          <p:nvSpPr>
            <p:cNvPr id="1618965" name="Line 21"/>
            <p:cNvSpPr>
              <a:spLocks noChangeShapeType="1"/>
            </p:cNvSpPr>
            <p:nvPr/>
          </p:nvSpPr>
          <p:spPr bwMode="auto">
            <a:xfrm flipH="1">
              <a:off x="960" y="2779"/>
              <a:ext cx="4260" cy="0"/>
            </a:xfrm>
            <a:prstGeom prst="line">
              <a:avLst/>
            </a:prstGeom>
            <a:noFill/>
            <a:ln w="20638">
              <a:solidFill>
                <a:srgbClr val="000000"/>
              </a:solidFill>
              <a:round/>
              <a:headEnd/>
              <a:tailEnd/>
            </a:ln>
          </p:spPr>
          <p:txBody>
            <a:bodyPr/>
            <a:lstStyle/>
            <a:p>
              <a:endParaRPr lang="en-US"/>
            </a:p>
          </p:txBody>
        </p:sp>
        <p:sp>
          <p:nvSpPr>
            <p:cNvPr id="1618966" name="Line 22"/>
            <p:cNvSpPr>
              <a:spLocks noChangeShapeType="1"/>
            </p:cNvSpPr>
            <p:nvPr/>
          </p:nvSpPr>
          <p:spPr bwMode="auto">
            <a:xfrm flipH="1">
              <a:off x="960" y="2889"/>
              <a:ext cx="4260" cy="0"/>
            </a:xfrm>
            <a:prstGeom prst="line">
              <a:avLst/>
            </a:prstGeom>
            <a:noFill/>
            <a:ln w="20638">
              <a:solidFill>
                <a:srgbClr val="000000"/>
              </a:solidFill>
              <a:round/>
              <a:headEnd/>
              <a:tailEnd/>
            </a:ln>
          </p:spPr>
          <p:txBody>
            <a:bodyPr/>
            <a:lstStyle/>
            <a:p>
              <a:endParaRPr lang="en-US"/>
            </a:p>
          </p:txBody>
        </p:sp>
        <p:sp>
          <p:nvSpPr>
            <p:cNvPr id="1618967" name="Text Box 23"/>
            <p:cNvSpPr txBox="1">
              <a:spLocks noChangeArrowheads="1"/>
            </p:cNvSpPr>
            <p:nvPr/>
          </p:nvSpPr>
          <p:spPr bwMode="auto">
            <a:xfrm>
              <a:off x="3216" y="1680"/>
              <a:ext cx="352" cy="192"/>
            </a:xfrm>
            <a:prstGeom prst="rect">
              <a:avLst/>
            </a:prstGeom>
            <a:noFill/>
            <a:ln w="12700">
              <a:noFill/>
              <a:miter lim="800000"/>
              <a:headEnd/>
              <a:tailEnd/>
            </a:ln>
            <a:effectLst/>
          </p:spPr>
          <p:txBody>
            <a:bodyPr wrap="none">
              <a:spAutoFit/>
            </a:bodyPr>
            <a:lstStyle/>
            <a:p>
              <a:r>
                <a:rPr lang="en-US" sz="1400">
                  <a:solidFill>
                    <a:schemeClr val="tx1"/>
                  </a:solidFill>
                </a:rPr>
                <a:t>Data</a:t>
              </a:r>
            </a:p>
          </p:txBody>
        </p:sp>
        <p:sp>
          <p:nvSpPr>
            <p:cNvPr id="1618968" name="Text Box 24"/>
            <p:cNvSpPr txBox="1">
              <a:spLocks noChangeArrowheads="1"/>
            </p:cNvSpPr>
            <p:nvPr/>
          </p:nvSpPr>
          <p:spPr bwMode="auto">
            <a:xfrm>
              <a:off x="576" y="1728"/>
              <a:ext cx="389" cy="192"/>
            </a:xfrm>
            <a:prstGeom prst="rect">
              <a:avLst/>
            </a:prstGeom>
            <a:noFill/>
            <a:ln w="12700">
              <a:noFill/>
              <a:miter lim="800000"/>
              <a:headEnd/>
              <a:tailEnd/>
            </a:ln>
            <a:effectLst/>
          </p:spPr>
          <p:txBody>
            <a:bodyPr wrap="none">
              <a:spAutoFit/>
            </a:bodyPr>
            <a:lstStyle/>
            <a:p>
              <a:r>
                <a:rPr lang="en-US" sz="1400">
                  <a:solidFill>
                    <a:schemeClr val="tx1"/>
                  </a:solidFill>
                </a:rPr>
                <a:t>Index</a:t>
              </a:r>
            </a:p>
          </p:txBody>
        </p:sp>
        <p:sp>
          <p:nvSpPr>
            <p:cNvPr id="1618969" name="Text Box 25"/>
            <p:cNvSpPr txBox="1">
              <a:spLocks noChangeArrowheads="1"/>
            </p:cNvSpPr>
            <p:nvPr/>
          </p:nvSpPr>
          <p:spPr bwMode="auto">
            <a:xfrm>
              <a:off x="1200" y="1728"/>
              <a:ext cx="308" cy="192"/>
            </a:xfrm>
            <a:prstGeom prst="rect">
              <a:avLst/>
            </a:prstGeom>
            <a:noFill/>
            <a:ln w="12700">
              <a:noFill/>
              <a:miter lim="800000"/>
              <a:headEnd/>
              <a:tailEnd/>
            </a:ln>
            <a:effectLst/>
          </p:spPr>
          <p:txBody>
            <a:bodyPr wrap="none">
              <a:spAutoFit/>
            </a:bodyPr>
            <a:lstStyle/>
            <a:p>
              <a:r>
                <a:rPr lang="en-US" sz="1400">
                  <a:solidFill>
                    <a:schemeClr val="tx1"/>
                  </a:solidFill>
                </a:rPr>
                <a:t>Tag</a:t>
              </a:r>
            </a:p>
          </p:txBody>
        </p:sp>
        <p:sp>
          <p:nvSpPr>
            <p:cNvPr id="1618970" name="Text Box 26"/>
            <p:cNvSpPr txBox="1">
              <a:spLocks noChangeArrowheads="1"/>
            </p:cNvSpPr>
            <p:nvPr/>
          </p:nvSpPr>
          <p:spPr bwMode="auto">
            <a:xfrm>
              <a:off x="864" y="1728"/>
              <a:ext cx="365" cy="192"/>
            </a:xfrm>
            <a:prstGeom prst="rect">
              <a:avLst/>
            </a:prstGeom>
            <a:noFill/>
            <a:ln w="12700">
              <a:noFill/>
              <a:miter lim="800000"/>
              <a:headEnd/>
              <a:tailEnd/>
            </a:ln>
            <a:effectLst/>
          </p:spPr>
          <p:txBody>
            <a:bodyPr wrap="none">
              <a:spAutoFit/>
            </a:bodyPr>
            <a:lstStyle/>
            <a:p>
              <a:r>
                <a:rPr lang="en-US" sz="1400">
                  <a:solidFill>
                    <a:schemeClr val="tx1"/>
                  </a:solidFill>
                </a:rPr>
                <a:t>Valid</a:t>
              </a:r>
            </a:p>
          </p:txBody>
        </p:sp>
        <p:sp>
          <p:nvSpPr>
            <p:cNvPr id="1618971" name="Text Box 27"/>
            <p:cNvSpPr txBox="1">
              <a:spLocks noChangeArrowheads="1"/>
            </p:cNvSpPr>
            <p:nvPr/>
          </p:nvSpPr>
          <p:spPr bwMode="auto">
            <a:xfrm>
              <a:off x="677" y="1872"/>
              <a:ext cx="275" cy="1201"/>
            </a:xfrm>
            <a:prstGeom prst="rect">
              <a:avLst/>
            </a:prstGeom>
            <a:noFill/>
            <a:ln w="12700">
              <a:noFill/>
              <a:miter lim="800000"/>
              <a:headEnd/>
              <a:tailEnd/>
            </a:ln>
            <a:effectLst/>
          </p:spPr>
          <p:txBody>
            <a:bodyPr wrap="none">
              <a:spAutoFit/>
            </a:bodyPr>
            <a:lstStyle/>
            <a:p>
              <a:pPr algn="r">
                <a:lnSpc>
                  <a:spcPct val="110000"/>
                </a:lnSpc>
              </a:pPr>
              <a:r>
                <a:rPr lang="en-US" sz="1200">
                  <a:solidFill>
                    <a:schemeClr val="tx1"/>
                  </a:solidFill>
                </a:rPr>
                <a:t>0</a:t>
              </a:r>
            </a:p>
            <a:p>
              <a:pPr algn="r">
                <a:lnSpc>
                  <a:spcPct val="110000"/>
                </a:lnSpc>
              </a:pPr>
              <a:r>
                <a:rPr lang="en-US" sz="1200">
                  <a:solidFill>
                    <a:schemeClr val="tx1"/>
                  </a:solidFill>
                </a:rPr>
                <a:t>1</a:t>
              </a:r>
            </a:p>
            <a:p>
              <a:pPr algn="r">
                <a:lnSpc>
                  <a:spcPct val="110000"/>
                </a:lnSpc>
              </a:pPr>
              <a:r>
                <a:rPr lang="en-US" sz="1200">
                  <a:solidFill>
                    <a:schemeClr val="tx1"/>
                  </a:solidFill>
                </a:rPr>
                <a:t>2</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253</a:t>
              </a:r>
            </a:p>
            <a:p>
              <a:pPr algn="r">
                <a:lnSpc>
                  <a:spcPct val="110000"/>
                </a:lnSpc>
              </a:pPr>
              <a:r>
                <a:rPr lang="en-US" sz="1200">
                  <a:solidFill>
                    <a:schemeClr val="tx1"/>
                  </a:solidFill>
                </a:rPr>
                <a:t>254</a:t>
              </a:r>
            </a:p>
            <a:p>
              <a:pPr algn="r">
                <a:lnSpc>
                  <a:spcPct val="110000"/>
                </a:lnSpc>
              </a:pPr>
              <a:r>
                <a:rPr lang="en-US" sz="1200">
                  <a:solidFill>
                    <a:schemeClr val="tx1"/>
                  </a:solidFill>
                </a:rPr>
                <a:t>255</a:t>
              </a:r>
            </a:p>
          </p:txBody>
        </p:sp>
        <p:sp>
          <p:nvSpPr>
            <p:cNvPr id="1618972" name="Rectangle 28"/>
            <p:cNvSpPr>
              <a:spLocks noChangeArrowheads="1"/>
            </p:cNvSpPr>
            <p:nvPr/>
          </p:nvSpPr>
          <p:spPr bwMode="auto">
            <a:xfrm>
              <a:off x="960" y="1920"/>
              <a:ext cx="4272" cy="1104"/>
            </a:xfrm>
            <a:prstGeom prst="rect">
              <a:avLst/>
            </a:prstGeom>
            <a:noFill/>
            <a:ln w="28575">
              <a:solidFill>
                <a:schemeClr val="tx1"/>
              </a:solidFill>
              <a:miter lim="800000"/>
              <a:headEnd/>
              <a:tailEnd/>
            </a:ln>
            <a:effectLst/>
          </p:spPr>
          <p:txBody>
            <a:bodyPr wrap="none" anchor="ctr"/>
            <a:lstStyle/>
            <a:p>
              <a:endParaRPr lang="en-US"/>
            </a:p>
          </p:txBody>
        </p:sp>
        <p:sp>
          <p:nvSpPr>
            <p:cNvPr id="1618973" name="Line 29"/>
            <p:cNvSpPr>
              <a:spLocks noChangeShapeType="1"/>
            </p:cNvSpPr>
            <p:nvPr/>
          </p:nvSpPr>
          <p:spPr bwMode="auto">
            <a:xfrm>
              <a:off x="3408" y="1920"/>
              <a:ext cx="1" cy="1106"/>
            </a:xfrm>
            <a:prstGeom prst="line">
              <a:avLst/>
            </a:prstGeom>
            <a:noFill/>
            <a:ln w="20638">
              <a:solidFill>
                <a:srgbClr val="000000"/>
              </a:solidFill>
              <a:round/>
              <a:headEnd/>
              <a:tailEnd/>
            </a:ln>
          </p:spPr>
          <p:txBody>
            <a:bodyPr/>
            <a:lstStyle/>
            <a:p>
              <a:endParaRPr lang="en-US"/>
            </a:p>
          </p:txBody>
        </p:sp>
        <p:sp>
          <p:nvSpPr>
            <p:cNvPr id="1618974" name="Line 30"/>
            <p:cNvSpPr>
              <a:spLocks noChangeShapeType="1"/>
            </p:cNvSpPr>
            <p:nvPr/>
          </p:nvSpPr>
          <p:spPr bwMode="auto">
            <a:xfrm>
              <a:off x="4320" y="1920"/>
              <a:ext cx="1" cy="1106"/>
            </a:xfrm>
            <a:prstGeom prst="line">
              <a:avLst/>
            </a:prstGeom>
            <a:noFill/>
            <a:ln w="20638">
              <a:solidFill>
                <a:srgbClr val="000000"/>
              </a:solidFill>
              <a:round/>
              <a:headEnd/>
              <a:tailEnd/>
            </a:ln>
          </p:spPr>
          <p:txBody>
            <a:bodyPr/>
            <a:lstStyle/>
            <a:p>
              <a:endParaRPr lang="en-US"/>
            </a:p>
          </p:txBody>
        </p:sp>
        <p:sp>
          <p:nvSpPr>
            <p:cNvPr id="1618975" name="Line 31"/>
            <p:cNvSpPr>
              <a:spLocks noChangeShapeType="1"/>
            </p:cNvSpPr>
            <p:nvPr/>
          </p:nvSpPr>
          <p:spPr bwMode="auto">
            <a:xfrm>
              <a:off x="2496" y="1920"/>
              <a:ext cx="1" cy="1106"/>
            </a:xfrm>
            <a:prstGeom prst="line">
              <a:avLst/>
            </a:prstGeom>
            <a:noFill/>
            <a:ln w="20638">
              <a:solidFill>
                <a:srgbClr val="000000"/>
              </a:solidFill>
              <a:round/>
              <a:headEnd/>
              <a:tailEnd/>
            </a:ln>
          </p:spPr>
          <p:txBody>
            <a:bodyPr/>
            <a:lstStyle/>
            <a:p>
              <a:endParaRPr lang="en-US"/>
            </a:p>
          </p:txBody>
        </p:sp>
        <p:sp>
          <p:nvSpPr>
            <p:cNvPr id="1618976" name="Line 32"/>
            <p:cNvSpPr>
              <a:spLocks noChangeShapeType="1"/>
            </p:cNvSpPr>
            <p:nvPr/>
          </p:nvSpPr>
          <p:spPr bwMode="auto">
            <a:xfrm>
              <a:off x="1584" y="1920"/>
              <a:ext cx="0" cy="1104"/>
            </a:xfrm>
            <a:prstGeom prst="line">
              <a:avLst/>
            </a:prstGeom>
            <a:noFill/>
            <a:ln w="20638">
              <a:solidFill>
                <a:srgbClr val="000000"/>
              </a:solidFill>
              <a:round/>
              <a:headEnd/>
              <a:tailEnd/>
            </a:ln>
          </p:spPr>
          <p:txBody>
            <a:bodyPr/>
            <a:lstStyle/>
            <a:p>
              <a:endParaRPr lang="en-US"/>
            </a:p>
          </p:txBody>
        </p:sp>
        <p:sp>
          <p:nvSpPr>
            <p:cNvPr id="1618977" name="Line 33"/>
            <p:cNvSpPr>
              <a:spLocks noChangeShapeType="1"/>
            </p:cNvSpPr>
            <p:nvPr/>
          </p:nvSpPr>
          <p:spPr bwMode="auto">
            <a:xfrm>
              <a:off x="1056" y="1920"/>
              <a:ext cx="1" cy="1106"/>
            </a:xfrm>
            <a:prstGeom prst="line">
              <a:avLst/>
            </a:prstGeom>
            <a:noFill/>
            <a:ln w="20638">
              <a:solidFill>
                <a:srgbClr val="000000"/>
              </a:solidFill>
              <a:round/>
              <a:headEnd/>
              <a:tailEnd/>
            </a:ln>
          </p:spPr>
          <p:txBody>
            <a:bodyPr/>
            <a:lstStyle/>
            <a:p>
              <a:endParaRPr lang="en-US"/>
            </a:p>
          </p:txBody>
        </p:sp>
        <p:sp>
          <p:nvSpPr>
            <p:cNvPr id="1618978" name="Line 34"/>
            <p:cNvSpPr>
              <a:spLocks noChangeShapeType="1"/>
            </p:cNvSpPr>
            <p:nvPr/>
          </p:nvSpPr>
          <p:spPr bwMode="auto">
            <a:xfrm>
              <a:off x="1584" y="1824"/>
              <a:ext cx="3648" cy="0"/>
            </a:xfrm>
            <a:prstGeom prst="line">
              <a:avLst/>
            </a:prstGeom>
            <a:noFill/>
            <a:ln w="12700">
              <a:solidFill>
                <a:schemeClr val="tx1"/>
              </a:solidFill>
              <a:round/>
              <a:headEnd type="triangle" w="med" len="med"/>
              <a:tailEnd type="triangle" w="med" len="med"/>
            </a:ln>
            <a:effectLst/>
          </p:spPr>
          <p:txBody>
            <a:bodyPr/>
            <a:lstStyle/>
            <a:p>
              <a:endParaRPr lang="en-US"/>
            </a:p>
          </p:txBody>
        </p:sp>
      </p:grpSp>
      <p:grpSp>
        <p:nvGrpSpPr>
          <p:cNvPr id="5" name="Group 35"/>
          <p:cNvGrpSpPr>
            <a:grpSpLocks/>
          </p:cNvGrpSpPr>
          <p:nvPr/>
        </p:nvGrpSpPr>
        <p:grpSpPr bwMode="auto">
          <a:xfrm>
            <a:off x="2590800" y="1219200"/>
            <a:ext cx="3505200" cy="633413"/>
            <a:chOff x="1632" y="864"/>
            <a:chExt cx="2208" cy="399"/>
          </a:xfrm>
        </p:grpSpPr>
        <p:sp>
          <p:nvSpPr>
            <p:cNvPr id="1618980" name="Line 36"/>
            <p:cNvSpPr>
              <a:spLocks noChangeShapeType="1"/>
            </p:cNvSpPr>
            <p:nvPr/>
          </p:nvSpPr>
          <p:spPr bwMode="auto">
            <a:xfrm flipV="1">
              <a:off x="2528" y="1114"/>
              <a:ext cx="3" cy="149"/>
            </a:xfrm>
            <a:prstGeom prst="line">
              <a:avLst/>
            </a:prstGeom>
            <a:noFill/>
            <a:ln w="20638">
              <a:solidFill>
                <a:srgbClr val="000000"/>
              </a:solidFill>
              <a:round/>
              <a:headEnd/>
              <a:tailEnd/>
            </a:ln>
          </p:spPr>
          <p:txBody>
            <a:bodyPr/>
            <a:lstStyle/>
            <a:p>
              <a:endParaRPr lang="en-US"/>
            </a:p>
          </p:txBody>
        </p:sp>
        <p:sp>
          <p:nvSpPr>
            <p:cNvPr id="1618981" name="Line 37"/>
            <p:cNvSpPr>
              <a:spLocks noChangeShapeType="1"/>
            </p:cNvSpPr>
            <p:nvPr/>
          </p:nvSpPr>
          <p:spPr bwMode="auto">
            <a:xfrm flipV="1">
              <a:off x="3072" y="1104"/>
              <a:ext cx="1" cy="145"/>
            </a:xfrm>
            <a:prstGeom prst="line">
              <a:avLst/>
            </a:prstGeom>
            <a:noFill/>
            <a:ln w="20638">
              <a:solidFill>
                <a:srgbClr val="000000"/>
              </a:solidFill>
              <a:round/>
              <a:headEnd/>
              <a:tailEnd/>
            </a:ln>
          </p:spPr>
          <p:txBody>
            <a:bodyPr/>
            <a:lstStyle/>
            <a:p>
              <a:endParaRPr lang="en-US"/>
            </a:p>
          </p:txBody>
        </p:sp>
        <p:sp>
          <p:nvSpPr>
            <p:cNvPr id="1618982" name="Freeform 38"/>
            <p:cNvSpPr>
              <a:spLocks/>
            </p:cNvSpPr>
            <p:nvPr/>
          </p:nvSpPr>
          <p:spPr bwMode="auto">
            <a:xfrm>
              <a:off x="1660" y="1112"/>
              <a:ext cx="1570" cy="151"/>
            </a:xfrm>
            <a:custGeom>
              <a:avLst/>
              <a:gdLst/>
              <a:ahLst/>
              <a:cxnLst>
                <a:cxn ang="0">
                  <a:pos x="0" y="149"/>
                </a:cxn>
                <a:cxn ang="0">
                  <a:pos x="3" y="0"/>
                </a:cxn>
                <a:cxn ang="0">
                  <a:pos x="1570" y="0"/>
                </a:cxn>
                <a:cxn ang="0">
                  <a:pos x="1570" y="151"/>
                </a:cxn>
                <a:cxn ang="0">
                  <a:pos x="3" y="151"/>
                </a:cxn>
                <a:cxn ang="0">
                  <a:pos x="3" y="151"/>
                </a:cxn>
              </a:cxnLst>
              <a:rect l="0" t="0" r="r" b="b"/>
              <a:pathLst>
                <a:path w="1570" h="151">
                  <a:moveTo>
                    <a:pt x="0" y="149"/>
                  </a:moveTo>
                  <a:lnTo>
                    <a:pt x="3" y="0"/>
                  </a:lnTo>
                  <a:lnTo>
                    <a:pt x="1570" y="0"/>
                  </a:lnTo>
                  <a:lnTo>
                    <a:pt x="1570" y="151"/>
                  </a:lnTo>
                  <a:lnTo>
                    <a:pt x="3" y="151"/>
                  </a:lnTo>
                  <a:lnTo>
                    <a:pt x="3" y="151"/>
                  </a:lnTo>
                </a:path>
              </a:pathLst>
            </a:custGeom>
            <a:noFill/>
            <a:ln w="20638">
              <a:solidFill>
                <a:srgbClr val="000000"/>
              </a:solidFill>
              <a:prstDash val="solid"/>
              <a:round/>
              <a:headEnd/>
              <a:tailEnd/>
            </a:ln>
          </p:spPr>
          <p:txBody>
            <a:bodyPr/>
            <a:lstStyle/>
            <a:p>
              <a:endParaRPr lang="en-US"/>
            </a:p>
          </p:txBody>
        </p:sp>
        <p:sp>
          <p:nvSpPr>
            <p:cNvPr id="1618983" name="Text Box 39"/>
            <p:cNvSpPr txBox="1">
              <a:spLocks noChangeArrowheads="1"/>
            </p:cNvSpPr>
            <p:nvPr/>
          </p:nvSpPr>
          <p:spPr bwMode="auto">
            <a:xfrm>
              <a:off x="1632" y="960"/>
              <a:ext cx="1930" cy="154"/>
            </a:xfrm>
            <a:prstGeom prst="rect">
              <a:avLst/>
            </a:prstGeom>
            <a:noFill/>
            <a:ln w="12700">
              <a:noFill/>
              <a:miter lim="800000"/>
              <a:headEnd/>
              <a:tailEnd/>
            </a:ln>
            <a:effectLst/>
          </p:spPr>
          <p:txBody>
            <a:bodyPr>
              <a:spAutoFit/>
            </a:bodyPr>
            <a:lstStyle/>
            <a:p>
              <a:r>
                <a:rPr lang="en-US" sz="1000">
                  <a:solidFill>
                    <a:schemeClr val="tx1"/>
                  </a:solidFill>
                </a:rPr>
                <a:t>31 30   . . .         13 12  11    . . .    4  3 2  1 0</a:t>
              </a:r>
            </a:p>
          </p:txBody>
        </p:sp>
        <p:sp>
          <p:nvSpPr>
            <p:cNvPr id="1618984" name="Line 40"/>
            <p:cNvSpPr>
              <a:spLocks noChangeShapeType="1"/>
            </p:cNvSpPr>
            <p:nvPr/>
          </p:nvSpPr>
          <p:spPr bwMode="auto">
            <a:xfrm flipV="1">
              <a:off x="2928" y="1104"/>
              <a:ext cx="1" cy="145"/>
            </a:xfrm>
            <a:prstGeom prst="line">
              <a:avLst/>
            </a:prstGeom>
            <a:noFill/>
            <a:ln w="20638">
              <a:solidFill>
                <a:srgbClr val="000000"/>
              </a:solidFill>
              <a:round/>
              <a:headEnd/>
              <a:tailEnd/>
            </a:ln>
          </p:spPr>
          <p:txBody>
            <a:bodyPr/>
            <a:lstStyle/>
            <a:p>
              <a:endParaRPr lang="en-US"/>
            </a:p>
          </p:txBody>
        </p:sp>
        <p:sp>
          <p:nvSpPr>
            <p:cNvPr id="1618985" name="Text Box 41"/>
            <p:cNvSpPr txBox="1">
              <a:spLocks noChangeArrowheads="1"/>
            </p:cNvSpPr>
            <p:nvPr/>
          </p:nvSpPr>
          <p:spPr bwMode="auto">
            <a:xfrm>
              <a:off x="3312" y="864"/>
              <a:ext cx="528" cy="366"/>
            </a:xfrm>
            <a:prstGeom prst="rect">
              <a:avLst/>
            </a:prstGeom>
            <a:noFill/>
            <a:ln w="12700">
              <a:noFill/>
              <a:miter lim="800000"/>
              <a:headEnd/>
              <a:tailEnd/>
            </a:ln>
            <a:effectLst/>
          </p:spPr>
          <p:txBody>
            <a:bodyPr>
              <a:spAutoFit/>
            </a:bodyPr>
            <a:lstStyle/>
            <a:p>
              <a:r>
                <a:rPr lang="en-US" sz="1600">
                  <a:solidFill>
                    <a:schemeClr val="tx1"/>
                  </a:solidFill>
                </a:rPr>
                <a:t>Byte offset</a:t>
              </a:r>
            </a:p>
          </p:txBody>
        </p:sp>
        <p:sp>
          <p:nvSpPr>
            <p:cNvPr id="1618986" name="Line 42"/>
            <p:cNvSpPr>
              <a:spLocks noChangeShapeType="1"/>
            </p:cNvSpPr>
            <p:nvPr/>
          </p:nvSpPr>
          <p:spPr bwMode="auto">
            <a:xfrm flipH="1">
              <a:off x="3168" y="1056"/>
              <a:ext cx="192" cy="144"/>
            </a:xfrm>
            <a:prstGeom prst="line">
              <a:avLst/>
            </a:prstGeom>
            <a:noFill/>
            <a:ln w="12700">
              <a:solidFill>
                <a:schemeClr val="tx1"/>
              </a:solidFill>
              <a:round/>
              <a:headEnd/>
              <a:tailEnd type="triangle" w="med" len="med"/>
            </a:ln>
            <a:effectLst/>
          </p:spPr>
          <p:txBody>
            <a:bodyPr/>
            <a:lstStyle/>
            <a:p>
              <a:endParaRPr lang="en-US"/>
            </a:p>
          </p:txBody>
        </p:sp>
      </p:grpSp>
      <p:grpSp>
        <p:nvGrpSpPr>
          <p:cNvPr id="6" name="Group 43"/>
          <p:cNvGrpSpPr>
            <a:grpSpLocks/>
          </p:cNvGrpSpPr>
          <p:nvPr/>
        </p:nvGrpSpPr>
        <p:grpSpPr bwMode="auto">
          <a:xfrm>
            <a:off x="1981200" y="3657600"/>
            <a:ext cx="623888" cy="1371600"/>
            <a:chOff x="1229" y="2400"/>
            <a:chExt cx="393" cy="864"/>
          </a:xfrm>
        </p:grpSpPr>
        <p:sp>
          <p:nvSpPr>
            <p:cNvPr id="1618988" name="Line 44"/>
            <p:cNvSpPr>
              <a:spLocks noChangeShapeType="1"/>
            </p:cNvSpPr>
            <p:nvPr/>
          </p:nvSpPr>
          <p:spPr bwMode="auto">
            <a:xfrm>
              <a:off x="1229" y="3071"/>
              <a:ext cx="196" cy="54"/>
            </a:xfrm>
            <a:prstGeom prst="line">
              <a:avLst/>
            </a:prstGeom>
            <a:noFill/>
            <a:ln w="20638">
              <a:solidFill>
                <a:srgbClr val="000000"/>
              </a:solidFill>
              <a:round/>
              <a:headEnd/>
              <a:tailEnd/>
            </a:ln>
          </p:spPr>
          <p:txBody>
            <a:bodyPr/>
            <a:lstStyle/>
            <a:p>
              <a:endParaRPr lang="en-US"/>
            </a:p>
          </p:txBody>
        </p:sp>
        <p:sp>
          <p:nvSpPr>
            <p:cNvPr id="1618989" name="Text Box 45"/>
            <p:cNvSpPr txBox="1">
              <a:spLocks noChangeArrowheads="1"/>
            </p:cNvSpPr>
            <p:nvPr/>
          </p:nvSpPr>
          <p:spPr bwMode="auto">
            <a:xfrm>
              <a:off x="1362" y="2998"/>
              <a:ext cx="260" cy="213"/>
            </a:xfrm>
            <a:prstGeom prst="rect">
              <a:avLst/>
            </a:prstGeom>
            <a:noFill/>
            <a:ln w="12700">
              <a:noFill/>
              <a:miter lim="800000"/>
              <a:headEnd/>
              <a:tailEnd/>
            </a:ln>
            <a:effectLst/>
          </p:spPr>
          <p:txBody>
            <a:bodyPr wrap="none">
              <a:spAutoFit/>
            </a:bodyPr>
            <a:lstStyle/>
            <a:p>
              <a:r>
                <a:rPr lang="en-US" sz="1600" dirty="0">
                  <a:solidFill>
                    <a:schemeClr val="tx1"/>
                  </a:solidFill>
                </a:rPr>
                <a:t>20</a:t>
              </a:r>
            </a:p>
          </p:txBody>
        </p:sp>
        <p:sp>
          <p:nvSpPr>
            <p:cNvPr id="1618990" name="Line 46"/>
            <p:cNvSpPr>
              <a:spLocks noChangeShapeType="1"/>
            </p:cNvSpPr>
            <p:nvPr/>
          </p:nvSpPr>
          <p:spPr bwMode="auto">
            <a:xfrm>
              <a:off x="1296" y="2400"/>
              <a:ext cx="0" cy="864"/>
            </a:xfrm>
            <a:prstGeom prst="line">
              <a:avLst/>
            </a:prstGeom>
            <a:noFill/>
            <a:ln w="28575">
              <a:solidFill>
                <a:schemeClr val="tx1"/>
              </a:solidFill>
              <a:round/>
              <a:headEnd type="oval" w="sm" len="sm"/>
              <a:tailEnd type="triangle" w="med" len="med"/>
            </a:ln>
            <a:effectLst/>
          </p:spPr>
          <p:txBody>
            <a:bodyPr/>
            <a:lstStyle/>
            <a:p>
              <a:endParaRPr lang="en-US"/>
            </a:p>
          </p:txBody>
        </p:sp>
      </p:grpSp>
      <p:grpSp>
        <p:nvGrpSpPr>
          <p:cNvPr id="7" name="Group 47"/>
          <p:cNvGrpSpPr>
            <a:grpSpLocks/>
          </p:cNvGrpSpPr>
          <p:nvPr/>
        </p:nvGrpSpPr>
        <p:grpSpPr bwMode="auto">
          <a:xfrm>
            <a:off x="762000" y="1828800"/>
            <a:ext cx="3003550" cy="3424238"/>
            <a:chOff x="480" y="1248"/>
            <a:chExt cx="1892" cy="2157"/>
          </a:xfrm>
        </p:grpSpPr>
        <p:grpSp>
          <p:nvGrpSpPr>
            <p:cNvPr id="8" name="Group 48"/>
            <p:cNvGrpSpPr>
              <a:grpSpLocks/>
            </p:cNvGrpSpPr>
            <p:nvPr/>
          </p:nvGrpSpPr>
          <p:grpSpPr bwMode="auto">
            <a:xfrm>
              <a:off x="480" y="1248"/>
              <a:ext cx="1892" cy="2064"/>
              <a:chOff x="432" y="1248"/>
              <a:chExt cx="1892" cy="2064"/>
            </a:xfrm>
          </p:grpSpPr>
          <p:sp>
            <p:nvSpPr>
              <p:cNvPr id="1618993" name="Line 49"/>
              <p:cNvSpPr>
                <a:spLocks noChangeShapeType="1"/>
              </p:cNvSpPr>
              <p:nvPr/>
            </p:nvSpPr>
            <p:spPr bwMode="auto">
              <a:xfrm>
                <a:off x="2016" y="1344"/>
                <a:ext cx="145" cy="55"/>
              </a:xfrm>
              <a:prstGeom prst="line">
                <a:avLst/>
              </a:prstGeom>
              <a:noFill/>
              <a:ln w="20638">
                <a:solidFill>
                  <a:srgbClr val="000000"/>
                </a:solidFill>
                <a:round/>
                <a:headEnd/>
                <a:tailEnd/>
              </a:ln>
            </p:spPr>
            <p:txBody>
              <a:bodyPr/>
              <a:lstStyle/>
              <a:p>
                <a:endParaRPr lang="en-US"/>
              </a:p>
            </p:txBody>
          </p:sp>
          <p:sp>
            <p:nvSpPr>
              <p:cNvPr id="1618994" name="Text Box 50"/>
              <p:cNvSpPr txBox="1">
                <a:spLocks noChangeArrowheads="1"/>
              </p:cNvSpPr>
              <p:nvPr/>
            </p:nvSpPr>
            <p:spPr bwMode="auto">
              <a:xfrm>
                <a:off x="2064" y="1248"/>
                <a:ext cx="260" cy="213"/>
              </a:xfrm>
              <a:prstGeom prst="rect">
                <a:avLst/>
              </a:prstGeom>
              <a:noFill/>
              <a:ln w="12700">
                <a:noFill/>
                <a:miter lim="800000"/>
                <a:headEnd/>
                <a:tailEnd/>
              </a:ln>
              <a:effectLst/>
            </p:spPr>
            <p:txBody>
              <a:bodyPr wrap="none">
                <a:spAutoFit/>
              </a:bodyPr>
              <a:lstStyle/>
              <a:p>
                <a:r>
                  <a:rPr lang="en-US" sz="1600" dirty="0">
                    <a:solidFill>
                      <a:schemeClr val="tx1"/>
                    </a:solidFill>
                  </a:rPr>
                  <a:t>20</a:t>
                </a:r>
              </a:p>
            </p:txBody>
          </p:sp>
          <p:sp>
            <p:nvSpPr>
              <p:cNvPr id="1618995" name="Text Box 51"/>
              <p:cNvSpPr txBox="1">
                <a:spLocks noChangeArrowheads="1"/>
              </p:cNvSpPr>
              <p:nvPr/>
            </p:nvSpPr>
            <p:spPr bwMode="auto">
              <a:xfrm>
                <a:off x="1152" y="1279"/>
                <a:ext cx="336" cy="212"/>
              </a:xfrm>
              <a:prstGeom prst="rect">
                <a:avLst/>
              </a:prstGeom>
              <a:noFill/>
              <a:ln w="12700">
                <a:noFill/>
                <a:miter lim="800000"/>
                <a:headEnd/>
                <a:tailEnd/>
              </a:ln>
              <a:effectLst/>
            </p:spPr>
            <p:txBody>
              <a:bodyPr wrap="none">
                <a:spAutoFit/>
              </a:bodyPr>
              <a:lstStyle/>
              <a:p>
                <a:r>
                  <a:rPr lang="en-US" sz="1600">
                    <a:solidFill>
                      <a:schemeClr val="tx1"/>
                    </a:solidFill>
                  </a:rPr>
                  <a:t>Tag</a:t>
                </a:r>
              </a:p>
            </p:txBody>
          </p:sp>
          <p:sp>
            <p:nvSpPr>
              <p:cNvPr id="1618996" name="Line 52"/>
              <p:cNvSpPr>
                <a:spLocks noChangeShapeType="1"/>
              </p:cNvSpPr>
              <p:nvPr/>
            </p:nvSpPr>
            <p:spPr bwMode="auto">
              <a:xfrm>
                <a:off x="2112" y="1248"/>
                <a:ext cx="0" cy="240"/>
              </a:xfrm>
              <a:prstGeom prst="line">
                <a:avLst/>
              </a:prstGeom>
              <a:noFill/>
              <a:ln w="28575">
                <a:solidFill>
                  <a:schemeClr val="tx1"/>
                </a:solidFill>
                <a:round/>
                <a:headEnd/>
                <a:tailEnd/>
              </a:ln>
              <a:effectLst/>
            </p:spPr>
            <p:txBody>
              <a:bodyPr/>
              <a:lstStyle/>
              <a:p>
                <a:endParaRPr lang="en-US"/>
              </a:p>
            </p:txBody>
          </p:sp>
          <p:sp>
            <p:nvSpPr>
              <p:cNvPr id="1618997" name="Line 53"/>
              <p:cNvSpPr>
                <a:spLocks noChangeShapeType="1"/>
              </p:cNvSpPr>
              <p:nvPr/>
            </p:nvSpPr>
            <p:spPr bwMode="auto">
              <a:xfrm>
                <a:off x="432" y="1488"/>
                <a:ext cx="1680" cy="0"/>
              </a:xfrm>
              <a:prstGeom prst="line">
                <a:avLst/>
              </a:prstGeom>
              <a:noFill/>
              <a:ln w="38100">
                <a:solidFill>
                  <a:schemeClr val="tx1"/>
                </a:solidFill>
                <a:round/>
                <a:headEnd/>
                <a:tailEnd/>
              </a:ln>
              <a:effectLst/>
            </p:spPr>
            <p:txBody>
              <a:bodyPr/>
              <a:lstStyle/>
              <a:p>
                <a:endParaRPr lang="en-US"/>
              </a:p>
            </p:txBody>
          </p:sp>
          <p:sp>
            <p:nvSpPr>
              <p:cNvPr id="1618998" name="Line 54"/>
              <p:cNvSpPr>
                <a:spLocks noChangeShapeType="1"/>
              </p:cNvSpPr>
              <p:nvPr/>
            </p:nvSpPr>
            <p:spPr bwMode="auto">
              <a:xfrm>
                <a:off x="432" y="1488"/>
                <a:ext cx="0" cy="1824"/>
              </a:xfrm>
              <a:prstGeom prst="line">
                <a:avLst/>
              </a:prstGeom>
              <a:noFill/>
              <a:ln w="28575">
                <a:solidFill>
                  <a:schemeClr val="tx1"/>
                </a:solidFill>
                <a:round/>
                <a:headEnd/>
                <a:tailEnd/>
              </a:ln>
              <a:effectLst/>
            </p:spPr>
            <p:txBody>
              <a:bodyPr/>
              <a:lstStyle/>
              <a:p>
                <a:endParaRPr lang="en-US"/>
              </a:p>
            </p:txBody>
          </p:sp>
          <p:sp>
            <p:nvSpPr>
              <p:cNvPr id="1618999" name="Line 55"/>
              <p:cNvSpPr>
                <a:spLocks noChangeShapeType="1"/>
              </p:cNvSpPr>
              <p:nvPr/>
            </p:nvSpPr>
            <p:spPr bwMode="auto">
              <a:xfrm>
                <a:off x="432" y="3312"/>
                <a:ext cx="720" cy="0"/>
              </a:xfrm>
              <a:prstGeom prst="line">
                <a:avLst/>
              </a:prstGeom>
              <a:noFill/>
              <a:ln w="28575">
                <a:solidFill>
                  <a:schemeClr val="tx1"/>
                </a:solidFill>
                <a:round/>
                <a:headEnd/>
                <a:tailEnd type="triangle" w="med" len="med"/>
              </a:ln>
              <a:effectLst/>
            </p:spPr>
            <p:txBody>
              <a:bodyPr/>
              <a:lstStyle/>
              <a:p>
                <a:endParaRPr lang="en-US"/>
              </a:p>
            </p:txBody>
          </p:sp>
        </p:grpSp>
        <p:sp>
          <p:nvSpPr>
            <p:cNvPr id="1619000" name="Freeform 56"/>
            <p:cNvSpPr>
              <a:spLocks/>
            </p:cNvSpPr>
            <p:nvPr/>
          </p:nvSpPr>
          <p:spPr bwMode="auto">
            <a:xfrm>
              <a:off x="1182" y="3240"/>
              <a:ext cx="249" cy="165"/>
            </a:xfrm>
            <a:custGeom>
              <a:avLst/>
              <a:gdLst/>
              <a:ahLst/>
              <a:cxnLst>
                <a:cxn ang="0">
                  <a:pos x="125" y="162"/>
                </a:cxn>
                <a:cxn ang="0">
                  <a:pos x="145" y="162"/>
                </a:cxn>
                <a:cxn ang="0">
                  <a:pos x="165" y="160"/>
                </a:cxn>
                <a:cxn ang="0">
                  <a:pos x="182" y="154"/>
                </a:cxn>
                <a:cxn ang="0">
                  <a:pos x="199" y="147"/>
                </a:cxn>
                <a:cxn ang="0">
                  <a:pos x="216" y="140"/>
                </a:cxn>
                <a:cxn ang="0">
                  <a:pos x="226" y="130"/>
                </a:cxn>
                <a:cxn ang="0">
                  <a:pos x="236" y="121"/>
                </a:cxn>
                <a:cxn ang="0">
                  <a:pos x="246" y="108"/>
                </a:cxn>
                <a:cxn ang="0">
                  <a:pos x="249" y="94"/>
                </a:cxn>
                <a:cxn ang="0">
                  <a:pos x="249" y="81"/>
                </a:cxn>
                <a:cxn ang="0">
                  <a:pos x="249" y="68"/>
                </a:cxn>
                <a:cxn ang="0">
                  <a:pos x="246" y="57"/>
                </a:cxn>
                <a:cxn ang="0">
                  <a:pos x="236" y="44"/>
                </a:cxn>
                <a:cxn ang="0">
                  <a:pos x="226" y="35"/>
                </a:cxn>
                <a:cxn ang="0">
                  <a:pos x="216" y="24"/>
                </a:cxn>
                <a:cxn ang="0">
                  <a:pos x="199" y="15"/>
                </a:cxn>
                <a:cxn ang="0">
                  <a:pos x="182" y="9"/>
                </a:cxn>
                <a:cxn ang="0">
                  <a:pos x="165" y="4"/>
                </a:cxn>
                <a:cxn ang="0">
                  <a:pos x="145" y="2"/>
                </a:cxn>
                <a:cxn ang="0">
                  <a:pos x="125" y="0"/>
                </a:cxn>
                <a:cxn ang="0">
                  <a:pos x="105" y="2"/>
                </a:cxn>
                <a:cxn ang="0">
                  <a:pos x="88" y="4"/>
                </a:cxn>
                <a:cxn ang="0">
                  <a:pos x="68" y="9"/>
                </a:cxn>
                <a:cxn ang="0">
                  <a:pos x="51" y="15"/>
                </a:cxn>
                <a:cxn ang="0">
                  <a:pos x="37" y="24"/>
                </a:cxn>
                <a:cxn ang="0">
                  <a:pos x="24" y="35"/>
                </a:cxn>
                <a:cxn ang="0">
                  <a:pos x="14" y="44"/>
                </a:cxn>
                <a:cxn ang="0">
                  <a:pos x="7" y="57"/>
                </a:cxn>
                <a:cxn ang="0">
                  <a:pos x="4" y="68"/>
                </a:cxn>
                <a:cxn ang="0">
                  <a:pos x="0" y="81"/>
                </a:cxn>
                <a:cxn ang="0">
                  <a:pos x="4" y="94"/>
                </a:cxn>
                <a:cxn ang="0">
                  <a:pos x="7" y="108"/>
                </a:cxn>
                <a:cxn ang="0">
                  <a:pos x="14" y="121"/>
                </a:cxn>
                <a:cxn ang="0">
                  <a:pos x="24" y="130"/>
                </a:cxn>
                <a:cxn ang="0">
                  <a:pos x="37" y="140"/>
                </a:cxn>
                <a:cxn ang="0">
                  <a:pos x="51" y="147"/>
                </a:cxn>
                <a:cxn ang="0">
                  <a:pos x="68" y="154"/>
                </a:cxn>
                <a:cxn ang="0">
                  <a:pos x="88" y="160"/>
                </a:cxn>
                <a:cxn ang="0">
                  <a:pos x="105" y="162"/>
                </a:cxn>
                <a:cxn ang="0">
                  <a:pos x="125" y="165"/>
                </a:cxn>
                <a:cxn ang="0">
                  <a:pos x="125" y="165"/>
                </a:cxn>
              </a:cxnLst>
              <a:rect l="0" t="0" r="r" b="b"/>
              <a:pathLst>
                <a:path w="249" h="165">
                  <a:moveTo>
                    <a:pt x="125" y="162"/>
                  </a:moveTo>
                  <a:lnTo>
                    <a:pt x="145" y="162"/>
                  </a:lnTo>
                  <a:lnTo>
                    <a:pt x="165" y="160"/>
                  </a:lnTo>
                  <a:lnTo>
                    <a:pt x="182" y="154"/>
                  </a:lnTo>
                  <a:lnTo>
                    <a:pt x="199" y="147"/>
                  </a:lnTo>
                  <a:lnTo>
                    <a:pt x="216" y="140"/>
                  </a:lnTo>
                  <a:lnTo>
                    <a:pt x="226" y="130"/>
                  </a:lnTo>
                  <a:lnTo>
                    <a:pt x="236" y="121"/>
                  </a:lnTo>
                  <a:lnTo>
                    <a:pt x="246" y="108"/>
                  </a:lnTo>
                  <a:lnTo>
                    <a:pt x="249" y="94"/>
                  </a:lnTo>
                  <a:lnTo>
                    <a:pt x="249" y="81"/>
                  </a:lnTo>
                  <a:lnTo>
                    <a:pt x="249" y="68"/>
                  </a:lnTo>
                  <a:lnTo>
                    <a:pt x="246" y="57"/>
                  </a:lnTo>
                  <a:lnTo>
                    <a:pt x="236" y="44"/>
                  </a:lnTo>
                  <a:lnTo>
                    <a:pt x="226" y="35"/>
                  </a:lnTo>
                  <a:lnTo>
                    <a:pt x="216" y="24"/>
                  </a:lnTo>
                  <a:lnTo>
                    <a:pt x="199" y="15"/>
                  </a:lnTo>
                  <a:lnTo>
                    <a:pt x="182" y="9"/>
                  </a:lnTo>
                  <a:lnTo>
                    <a:pt x="165" y="4"/>
                  </a:lnTo>
                  <a:lnTo>
                    <a:pt x="145" y="2"/>
                  </a:lnTo>
                  <a:lnTo>
                    <a:pt x="125" y="0"/>
                  </a:lnTo>
                  <a:lnTo>
                    <a:pt x="105" y="2"/>
                  </a:lnTo>
                  <a:lnTo>
                    <a:pt x="88" y="4"/>
                  </a:lnTo>
                  <a:lnTo>
                    <a:pt x="68" y="9"/>
                  </a:lnTo>
                  <a:lnTo>
                    <a:pt x="51" y="15"/>
                  </a:lnTo>
                  <a:lnTo>
                    <a:pt x="37" y="24"/>
                  </a:lnTo>
                  <a:lnTo>
                    <a:pt x="24" y="35"/>
                  </a:lnTo>
                  <a:lnTo>
                    <a:pt x="14" y="44"/>
                  </a:lnTo>
                  <a:lnTo>
                    <a:pt x="7" y="57"/>
                  </a:lnTo>
                  <a:lnTo>
                    <a:pt x="4" y="68"/>
                  </a:lnTo>
                  <a:lnTo>
                    <a:pt x="0" y="81"/>
                  </a:lnTo>
                  <a:lnTo>
                    <a:pt x="4" y="94"/>
                  </a:lnTo>
                  <a:lnTo>
                    <a:pt x="7" y="108"/>
                  </a:lnTo>
                  <a:lnTo>
                    <a:pt x="14" y="121"/>
                  </a:lnTo>
                  <a:lnTo>
                    <a:pt x="24" y="130"/>
                  </a:lnTo>
                  <a:lnTo>
                    <a:pt x="37" y="140"/>
                  </a:lnTo>
                  <a:lnTo>
                    <a:pt x="51" y="147"/>
                  </a:lnTo>
                  <a:lnTo>
                    <a:pt x="68" y="154"/>
                  </a:lnTo>
                  <a:lnTo>
                    <a:pt x="88" y="160"/>
                  </a:lnTo>
                  <a:lnTo>
                    <a:pt x="105" y="162"/>
                  </a:lnTo>
                  <a:lnTo>
                    <a:pt x="125" y="165"/>
                  </a:lnTo>
                  <a:lnTo>
                    <a:pt x="125" y="165"/>
                  </a:lnTo>
                </a:path>
              </a:pathLst>
            </a:custGeom>
            <a:noFill/>
            <a:ln w="20638">
              <a:solidFill>
                <a:srgbClr val="000000"/>
              </a:solidFill>
              <a:prstDash val="solid"/>
              <a:round/>
              <a:headEnd/>
              <a:tailEnd/>
            </a:ln>
          </p:spPr>
          <p:txBody>
            <a:bodyPr/>
            <a:lstStyle/>
            <a:p>
              <a:endParaRPr lang="en-US"/>
            </a:p>
          </p:txBody>
        </p:sp>
        <p:sp>
          <p:nvSpPr>
            <p:cNvPr id="1619001" name="Freeform 57"/>
            <p:cNvSpPr>
              <a:spLocks noEditPoints="1"/>
            </p:cNvSpPr>
            <p:nvPr/>
          </p:nvSpPr>
          <p:spPr bwMode="auto">
            <a:xfrm>
              <a:off x="1270" y="3312"/>
              <a:ext cx="74" cy="25"/>
            </a:xfrm>
            <a:custGeom>
              <a:avLst/>
              <a:gdLst/>
              <a:ahLst/>
              <a:cxnLst>
                <a:cxn ang="0">
                  <a:pos x="0" y="0"/>
                </a:cxn>
                <a:cxn ang="0">
                  <a:pos x="74" y="0"/>
                </a:cxn>
                <a:cxn ang="0">
                  <a:pos x="74" y="7"/>
                </a:cxn>
                <a:cxn ang="0">
                  <a:pos x="3" y="7"/>
                </a:cxn>
                <a:cxn ang="0">
                  <a:pos x="3" y="0"/>
                </a:cxn>
                <a:cxn ang="0">
                  <a:pos x="3" y="0"/>
                </a:cxn>
                <a:cxn ang="0">
                  <a:pos x="0" y="0"/>
                </a:cxn>
                <a:cxn ang="0">
                  <a:pos x="3" y="18"/>
                </a:cxn>
                <a:cxn ang="0">
                  <a:pos x="74" y="18"/>
                </a:cxn>
                <a:cxn ang="0">
                  <a:pos x="74" y="25"/>
                </a:cxn>
                <a:cxn ang="0">
                  <a:pos x="3" y="25"/>
                </a:cxn>
                <a:cxn ang="0">
                  <a:pos x="3" y="18"/>
                </a:cxn>
                <a:cxn ang="0">
                  <a:pos x="3" y="18"/>
                </a:cxn>
              </a:cxnLst>
              <a:rect l="0" t="0" r="r" b="b"/>
              <a:pathLst>
                <a:path w="74" h="25">
                  <a:moveTo>
                    <a:pt x="0" y="0"/>
                  </a:moveTo>
                  <a:lnTo>
                    <a:pt x="74" y="0"/>
                  </a:lnTo>
                  <a:lnTo>
                    <a:pt x="74" y="7"/>
                  </a:lnTo>
                  <a:lnTo>
                    <a:pt x="3" y="7"/>
                  </a:lnTo>
                  <a:lnTo>
                    <a:pt x="3" y="0"/>
                  </a:lnTo>
                  <a:lnTo>
                    <a:pt x="3" y="0"/>
                  </a:lnTo>
                  <a:lnTo>
                    <a:pt x="0" y="0"/>
                  </a:lnTo>
                  <a:close/>
                  <a:moveTo>
                    <a:pt x="3" y="18"/>
                  </a:moveTo>
                  <a:lnTo>
                    <a:pt x="74" y="18"/>
                  </a:lnTo>
                  <a:lnTo>
                    <a:pt x="74" y="25"/>
                  </a:lnTo>
                  <a:lnTo>
                    <a:pt x="3" y="25"/>
                  </a:lnTo>
                  <a:lnTo>
                    <a:pt x="3" y="18"/>
                  </a:lnTo>
                  <a:lnTo>
                    <a:pt x="3" y="18"/>
                  </a:lnTo>
                  <a:close/>
                </a:path>
              </a:pathLst>
            </a:custGeom>
            <a:solidFill>
              <a:srgbClr val="000000"/>
            </a:solidFill>
            <a:ln w="9525">
              <a:noFill/>
              <a:round/>
              <a:headEnd/>
              <a:tailEnd/>
            </a:ln>
          </p:spPr>
          <p:txBody>
            <a:bodyPr/>
            <a:lstStyle/>
            <a:p>
              <a:endParaRPr lang="en-US"/>
            </a:p>
          </p:txBody>
        </p:sp>
      </p:grpSp>
      <p:grpSp>
        <p:nvGrpSpPr>
          <p:cNvPr id="9" name="Group 58"/>
          <p:cNvGrpSpPr>
            <a:grpSpLocks/>
          </p:cNvGrpSpPr>
          <p:nvPr/>
        </p:nvGrpSpPr>
        <p:grpSpPr bwMode="auto">
          <a:xfrm>
            <a:off x="304800" y="1371600"/>
            <a:ext cx="1770063" cy="4572000"/>
            <a:chOff x="192" y="960"/>
            <a:chExt cx="1115" cy="2880"/>
          </a:xfrm>
        </p:grpSpPr>
        <p:sp>
          <p:nvSpPr>
            <p:cNvPr id="1619003" name="Freeform 59"/>
            <p:cNvSpPr>
              <a:spLocks/>
            </p:cNvSpPr>
            <p:nvPr/>
          </p:nvSpPr>
          <p:spPr bwMode="auto">
            <a:xfrm>
              <a:off x="912" y="3552"/>
              <a:ext cx="222" cy="172"/>
            </a:xfrm>
            <a:custGeom>
              <a:avLst/>
              <a:gdLst/>
              <a:ahLst/>
              <a:cxnLst>
                <a:cxn ang="0">
                  <a:pos x="0" y="101"/>
                </a:cxn>
                <a:cxn ang="0">
                  <a:pos x="3" y="114"/>
                </a:cxn>
                <a:cxn ang="0">
                  <a:pos x="7" y="125"/>
                </a:cxn>
                <a:cxn ang="0">
                  <a:pos x="13" y="134"/>
                </a:cxn>
                <a:cxn ang="0">
                  <a:pos x="23" y="143"/>
                </a:cxn>
                <a:cxn ang="0">
                  <a:pos x="33" y="152"/>
                </a:cxn>
                <a:cxn ang="0">
                  <a:pos x="47" y="158"/>
                </a:cxn>
                <a:cxn ang="0">
                  <a:pos x="60" y="165"/>
                </a:cxn>
                <a:cxn ang="0">
                  <a:pos x="77" y="169"/>
                </a:cxn>
                <a:cxn ang="0">
                  <a:pos x="94" y="172"/>
                </a:cxn>
                <a:cxn ang="0">
                  <a:pos x="111" y="172"/>
                </a:cxn>
                <a:cxn ang="0">
                  <a:pos x="131" y="172"/>
                </a:cxn>
                <a:cxn ang="0">
                  <a:pos x="148" y="169"/>
                </a:cxn>
                <a:cxn ang="0">
                  <a:pos x="161" y="165"/>
                </a:cxn>
                <a:cxn ang="0">
                  <a:pos x="178" y="158"/>
                </a:cxn>
                <a:cxn ang="0">
                  <a:pos x="188" y="152"/>
                </a:cxn>
                <a:cxn ang="0">
                  <a:pos x="202" y="143"/>
                </a:cxn>
                <a:cxn ang="0">
                  <a:pos x="208" y="134"/>
                </a:cxn>
                <a:cxn ang="0">
                  <a:pos x="215" y="125"/>
                </a:cxn>
                <a:cxn ang="0">
                  <a:pos x="222" y="114"/>
                </a:cxn>
                <a:cxn ang="0">
                  <a:pos x="222" y="104"/>
                </a:cxn>
                <a:cxn ang="0">
                  <a:pos x="222" y="0"/>
                </a:cxn>
                <a:cxn ang="0">
                  <a:pos x="3" y="0"/>
                </a:cxn>
                <a:cxn ang="0">
                  <a:pos x="3" y="104"/>
                </a:cxn>
                <a:cxn ang="0">
                  <a:pos x="3" y="104"/>
                </a:cxn>
              </a:cxnLst>
              <a:rect l="0" t="0" r="r" b="b"/>
              <a:pathLst>
                <a:path w="222" h="172">
                  <a:moveTo>
                    <a:pt x="0" y="101"/>
                  </a:moveTo>
                  <a:lnTo>
                    <a:pt x="3" y="114"/>
                  </a:lnTo>
                  <a:lnTo>
                    <a:pt x="7" y="125"/>
                  </a:lnTo>
                  <a:lnTo>
                    <a:pt x="13" y="134"/>
                  </a:lnTo>
                  <a:lnTo>
                    <a:pt x="23" y="143"/>
                  </a:lnTo>
                  <a:lnTo>
                    <a:pt x="33" y="152"/>
                  </a:lnTo>
                  <a:lnTo>
                    <a:pt x="47" y="158"/>
                  </a:lnTo>
                  <a:lnTo>
                    <a:pt x="60" y="165"/>
                  </a:lnTo>
                  <a:lnTo>
                    <a:pt x="77" y="169"/>
                  </a:lnTo>
                  <a:lnTo>
                    <a:pt x="94" y="172"/>
                  </a:lnTo>
                  <a:lnTo>
                    <a:pt x="111" y="172"/>
                  </a:lnTo>
                  <a:lnTo>
                    <a:pt x="131" y="172"/>
                  </a:lnTo>
                  <a:lnTo>
                    <a:pt x="148" y="169"/>
                  </a:lnTo>
                  <a:lnTo>
                    <a:pt x="161" y="165"/>
                  </a:lnTo>
                  <a:lnTo>
                    <a:pt x="178" y="158"/>
                  </a:lnTo>
                  <a:lnTo>
                    <a:pt x="188" y="152"/>
                  </a:lnTo>
                  <a:lnTo>
                    <a:pt x="202" y="143"/>
                  </a:lnTo>
                  <a:lnTo>
                    <a:pt x="208" y="134"/>
                  </a:lnTo>
                  <a:lnTo>
                    <a:pt x="215" y="125"/>
                  </a:lnTo>
                  <a:lnTo>
                    <a:pt x="222" y="114"/>
                  </a:lnTo>
                  <a:lnTo>
                    <a:pt x="222" y="104"/>
                  </a:lnTo>
                  <a:lnTo>
                    <a:pt x="222" y="0"/>
                  </a:lnTo>
                  <a:lnTo>
                    <a:pt x="3" y="0"/>
                  </a:lnTo>
                  <a:lnTo>
                    <a:pt x="3" y="104"/>
                  </a:lnTo>
                  <a:lnTo>
                    <a:pt x="3" y="104"/>
                  </a:lnTo>
                </a:path>
              </a:pathLst>
            </a:custGeom>
            <a:noFill/>
            <a:ln w="20638">
              <a:solidFill>
                <a:srgbClr val="000000"/>
              </a:solidFill>
              <a:prstDash val="solid"/>
              <a:round/>
              <a:headEnd/>
              <a:tailEnd/>
            </a:ln>
          </p:spPr>
          <p:txBody>
            <a:bodyPr/>
            <a:lstStyle/>
            <a:p>
              <a:endParaRPr lang="en-US"/>
            </a:p>
          </p:txBody>
        </p:sp>
        <p:sp>
          <p:nvSpPr>
            <p:cNvPr id="1619004" name="Line 60"/>
            <p:cNvSpPr>
              <a:spLocks noChangeShapeType="1"/>
            </p:cNvSpPr>
            <p:nvPr/>
          </p:nvSpPr>
          <p:spPr bwMode="auto">
            <a:xfrm>
              <a:off x="1004" y="2391"/>
              <a:ext cx="4" cy="1161"/>
            </a:xfrm>
            <a:prstGeom prst="line">
              <a:avLst/>
            </a:prstGeom>
            <a:noFill/>
            <a:ln w="20701">
              <a:solidFill>
                <a:srgbClr val="000000"/>
              </a:solidFill>
              <a:round/>
              <a:headEnd type="oval" w="sm" len="sm"/>
              <a:tailEnd/>
            </a:ln>
          </p:spPr>
          <p:txBody>
            <a:bodyPr/>
            <a:lstStyle/>
            <a:p>
              <a:endParaRPr lang="en-US"/>
            </a:p>
          </p:txBody>
        </p:sp>
        <p:sp>
          <p:nvSpPr>
            <p:cNvPr id="1619005" name="Freeform 61"/>
            <p:cNvSpPr>
              <a:spLocks/>
            </p:cNvSpPr>
            <p:nvPr/>
          </p:nvSpPr>
          <p:spPr bwMode="auto">
            <a:xfrm>
              <a:off x="1055" y="3405"/>
              <a:ext cx="252" cy="136"/>
            </a:xfrm>
            <a:custGeom>
              <a:avLst/>
              <a:gdLst/>
              <a:ahLst/>
              <a:cxnLst>
                <a:cxn ang="0">
                  <a:pos x="248" y="0"/>
                </a:cxn>
                <a:cxn ang="0">
                  <a:pos x="252" y="68"/>
                </a:cxn>
                <a:cxn ang="0">
                  <a:pos x="0" y="68"/>
                </a:cxn>
                <a:cxn ang="0">
                  <a:pos x="0" y="136"/>
                </a:cxn>
              </a:cxnLst>
              <a:rect l="0" t="0" r="r" b="b"/>
              <a:pathLst>
                <a:path w="252" h="136">
                  <a:moveTo>
                    <a:pt x="248" y="0"/>
                  </a:moveTo>
                  <a:lnTo>
                    <a:pt x="252" y="68"/>
                  </a:lnTo>
                  <a:lnTo>
                    <a:pt x="0" y="68"/>
                  </a:lnTo>
                  <a:lnTo>
                    <a:pt x="0" y="136"/>
                  </a:lnTo>
                </a:path>
              </a:pathLst>
            </a:custGeom>
            <a:noFill/>
            <a:ln w="20638">
              <a:solidFill>
                <a:srgbClr val="000000"/>
              </a:solidFill>
              <a:prstDash val="solid"/>
              <a:round/>
              <a:headEnd/>
              <a:tailEnd/>
            </a:ln>
          </p:spPr>
          <p:txBody>
            <a:bodyPr/>
            <a:lstStyle/>
            <a:p>
              <a:endParaRPr lang="en-US"/>
            </a:p>
          </p:txBody>
        </p:sp>
        <p:sp>
          <p:nvSpPr>
            <p:cNvPr id="1619006" name="Text Box 62"/>
            <p:cNvSpPr txBox="1">
              <a:spLocks noChangeArrowheads="1"/>
            </p:cNvSpPr>
            <p:nvPr/>
          </p:nvSpPr>
          <p:spPr bwMode="auto">
            <a:xfrm>
              <a:off x="192" y="960"/>
              <a:ext cx="272" cy="212"/>
            </a:xfrm>
            <a:prstGeom prst="rect">
              <a:avLst/>
            </a:prstGeom>
            <a:noFill/>
            <a:ln w="12700">
              <a:noFill/>
              <a:miter lim="800000"/>
              <a:headEnd/>
              <a:tailEnd/>
            </a:ln>
            <a:effectLst/>
          </p:spPr>
          <p:txBody>
            <a:bodyPr wrap="none">
              <a:spAutoFit/>
            </a:bodyPr>
            <a:lstStyle/>
            <a:p>
              <a:r>
                <a:rPr lang="en-US" sz="1600">
                  <a:solidFill>
                    <a:schemeClr val="tx1"/>
                  </a:solidFill>
                </a:rPr>
                <a:t>Hit</a:t>
              </a:r>
            </a:p>
          </p:txBody>
        </p:sp>
        <p:sp>
          <p:nvSpPr>
            <p:cNvPr id="1619007" name="Line 63"/>
            <p:cNvSpPr>
              <a:spLocks noChangeShapeType="1"/>
            </p:cNvSpPr>
            <p:nvPr/>
          </p:nvSpPr>
          <p:spPr bwMode="auto">
            <a:xfrm>
              <a:off x="1008" y="3744"/>
              <a:ext cx="0" cy="96"/>
            </a:xfrm>
            <a:prstGeom prst="line">
              <a:avLst/>
            </a:prstGeom>
            <a:noFill/>
            <a:ln w="12700">
              <a:solidFill>
                <a:schemeClr val="tx1"/>
              </a:solidFill>
              <a:round/>
              <a:headEnd/>
              <a:tailEnd/>
            </a:ln>
            <a:effectLst/>
          </p:spPr>
          <p:txBody>
            <a:bodyPr/>
            <a:lstStyle/>
            <a:p>
              <a:endParaRPr lang="en-US"/>
            </a:p>
          </p:txBody>
        </p:sp>
        <p:sp>
          <p:nvSpPr>
            <p:cNvPr id="1619008" name="Line 64"/>
            <p:cNvSpPr>
              <a:spLocks noChangeShapeType="1"/>
            </p:cNvSpPr>
            <p:nvPr/>
          </p:nvSpPr>
          <p:spPr bwMode="auto">
            <a:xfrm flipH="1">
              <a:off x="288" y="3840"/>
              <a:ext cx="720" cy="0"/>
            </a:xfrm>
            <a:prstGeom prst="line">
              <a:avLst/>
            </a:prstGeom>
            <a:noFill/>
            <a:ln w="12700">
              <a:solidFill>
                <a:schemeClr val="tx1"/>
              </a:solidFill>
              <a:round/>
              <a:headEnd/>
              <a:tailEnd/>
            </a:ln>
            <a:effectLst/>
          </p:spPr>
          <p:txBody>
            <a:bodyPr/>
            <a:lstStyle/>
            <a:p>
              <a:endParaRPr lang="en-US"/>
            </a:p>
          </p:txBody>
        </p:sp>
        <p:sp>
          <p:nvSpPr>
            <p:cNvPr id="1619009" name="Line 65"/>
            <p:cNvSpPr>
              <a:spLocks noChangeShapeType="1"/>
            </p:cNvSpPr>
            <p:nvPr/>
          </p:nvSpPr>
          <p:spPr bwMode="auto">
            <a:xfrm flipV="1">
              <a:off x="288" y="1200"/>
              <a:ext cx="0" cy="2640"/>
            </a:xfrm>
            <a:prstGeom prst="line">
              <a:avLst/>
            </a:prstGeom>
            <a:noFill/>
            <a:ln w="12700">
              <a:solidFill>
                <a:schemeClr val="tx1"/>
              </a:solidFill>
              <a:round/>
              <a:headEnd/>
              <a:tailEnd type="triangle" w="med" len="med"/>
            </a:ln>
            <a:effectLst/>
          </p:spPr>
          <p:txBody>
            <a:bodyPr/>
            <a:lstStyle/>
            <a:p>
              <a:endParaRPr lang="en-US"/>
            </a:p>
          </p:txBody>
        </p:sp>
      </p:grpSp>
      <p:grpSp>
        <p:nvGrpSpPr>
          <p:cNvPr id="10" name="Group 66"/>
          <p:cNvGrpSpPr>
            <a:grpSpLocks/>
          </p:cNvGrpSpPr>
          <p:nvPr/>
        </p:nvGrpSpPr>
        <p:grpSpPr bwMode="auto">
          <a:xfrm>
            <a:off x="3124200" y="1371600"/>
            <a:ext cx="5794375" cy="4757738"/>
            <a:chOff x="1968" y="960"/>
            <a:chExt cx="3650" cy="2997"/>
          </a:xfrm>
        </p:grpSpPr>
        <p:sp>
          <p:nvSpPr>
            <p:cNvPr id="1619011" name="Line 67"/>
            <p:cNvSpPr>
              <a:spLocks noChangeShapeType="1"/>
            </p:cNvSpPr>
            <p:nvPr/>
          </p:nvSpPr>
          <p:spPr bwMode="auto">
            <a:xfrm>
              <a:off x="3888" y="3696"/>
              <a:ext cx="144" cy="96"/>
            </a:xfrm>
            <a:prstGeom prst="line">
              <a:avLst/>
            </a:prstGeom>
            <a:noFill/>
            <a:ln w="20638">
              <a:solidFill>
                <a:srgbClr val="000000"/>
              </a:solidFill>
              <a:round/>
              <a:headEnd/>
              <a:tailEnd/>
            </a:ln>
          </p:spPr>
          <p:txBody>
            <a:bodyPr/>
            <a:lstStyle/>
            <a:p>
              <a:endParaRPr lang="en-US"/>
            </a:p>
          </p:txBody>
        </p:sp>
        <p:sp>
          <p:nvSpPr>
            <p:cNvPr id="1619012" name="Text Box 68"/>
            <p:cNvSpPr txBox="1">
              <a:spLocks noChangeArrowheads="1"/>
            </p:cNvSpPr>
            <p:nvPr/>
          </p:nvSpPr>
          <p:spPr bwMode="auto">
            <a:xfrm>
              <a:off x="5232" y="960"/>
              <a:ext cx="386" cy="212"/>
            </a:xfrm>
            <a:prstGeom prst="rect">
              <a:avLst/>
            </a:prstGeom>
            <a:noFill/>
            <a:ln w="12700">
              <a:noFill/>
              <a:miter lim="800000"/>
              <a:headEnd/>
              <a:tailEnd/>
            </a:ln>
            <a:effectLst/>
          </p:spPr>
          <p:txBody>
            <a:bodyPr wrap="none">
              <a:spAutoFit/>
            </a:bodyPr>
            <a:lstStyle/>
            <a:p>
              <a:r>
                <a:rPr lang="en-US" sz="1600">
                  <a:solidFill>
                    <a:schemeClr val="tx1"/>
                  </a:solidFill>
                </a:rPr>
                <a:t>Data</a:t>
              </a:r>
            </a:p>
          </p:txBody>
        </p:sp>
        <p:sp>
          <p:nvSpPr>
            <p:cNvPr id="1619013" name="Text Box 69"/>
            <p:cNvSpPr txBox="1">
              <a:spLocks noChangeArrowheads="1"/>
            </p:cNvSpPr>
            <p:nvPr/>
          </p:nvSpPr>
          <p:spPr bwMode="auto">
            <a:xfrm>
              <a:off x="3984" y="3744"/>
              <a:ext cx="260" cy="213"/>
            </a:xfrm>
            <a:prstGeom prst="rect">
              <a:avLst/>
            </a:prstGeom>
            <a:noFill/>
            <a:ln w="12700">
              <a:noFill/>
              <a:miter lim="800000"/>
              <a:headEnd/>
              <a:tailEnd/>
            </a:ln>
            <a:effectLst/>
          </p:spPr>
          <p:txBody>
            <a:bodyPr wrap="none">
              <a:spAutoFit/>
            </a:bodyPr>
            <a:lstStyle/>
            <a:p>
              <a:r>
                <a:rPr lang="en-US" sz="1600" dirty="0">
                  <a:solidFill>
                    <a:schemeClr val="tx1"/>
                  </a:solidFill>
                </a:rPr>
                <a:t>32</a:t>
              </a:r>
            </a:p>
          </p:txBody>
        </p:sp>
        <p:sp>
          <p:nvSpPr>
            <p:cNvPr id="1619014" name="Text Box 70"/>
            <p:cNvSpPr txBox="1">
              <a:spLocks noChangeArrowheads="1"/>
            </p:cNvSpPr>
            <p:nvPr/>
          </p:nvSpPr>
          <p:spPr bwMode="auto">
            <a:xfrm>
              <a:off x="3984" y="1248"/>
              <a:ext cx="1008" cy="212"/>
            </a:xfrm>
            <a:prstGeom prst="rect">
              <a:avLst/>
            </a:prstGeom>
            <a:noFill/>
            <a:ln w="12700">
              <a:noFill/>
              <a:miter lim="800000"/>
              <a:headEnd/>
              <a:tailEnd/>
            </a:ln>
            <a:effectLst/>
          </p:spPr>
          <p:txBody>
            <a:bodyPr>
              <a:spAutoFit/>
            </a:bodyPr>
            <a:lstStyle/>
            <a:p>
              <a:r>
                <a:rPr lang="en-US" sz="1600" dirty="0">
                  <a:solidFill>
                    <a:schemeClr val="tx1"/>
                  </a:solidFill>
                </a:rPr>
                <a:t>Block offset</a:t>
              </a:r>
            </a:p>
          </p:txBody>
        </p:sp>
        <p:sp>
          <p:nvSpPr>
            <p:cNvPr id="1619015" name="Line 71"/>
            <p:cNvSpPr>
              <a:spLocks noChangeShapeType="1"/>
            </p:cNvSpPr>
            <p:nvPr/>
          </p:nvSpPr>
          <p:spPr bwMode="auto">
            <a:xfrm>
              <a:off x="5424" y="1200"/>
              <a:ext cx="0" cy="2544"/>
            </a:xfrm>
            <a:prstGeom prst="line">
              <a:avLst/>
            </a:prstGeom>
            <a:noFill/>
            <a:ln w="28575">
              <a:solidFill>
                <a:schemeClr val="tx1"/>
              </a:solidFill>
              <a:round/>
              <a:headEnd type="triangle" w="med" len="med"/>
              <a:tailEnd/>
            </a:ln>
            <a:effectLst/>
          </p:spPr>
          <p:txBody>
            <a:bodyPr/>
            <a:lstStyle/>
            <a:p>
              <a:endParaRPr lang="en-US"/>
            </a:p>
          </p:txBody>
        </p:sp>
        <p:sp>
          <p:nvSpPr>
            <p:cNvPr id="1619016" name="AutoShape 72"/>
            <p:cNvSpPr>
              <a:spLocks noChangeArrowheads="1"/>
            </p:cNvSpPr>
            <p:nvPr/>
          </p:nvSpPr>
          <p:spPr bwMode="auto">
            <a:xfrm>
              <a:off x="2832" y="3456"/>
              <a:ext cx="1008" cy="144"/>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noFill/>
            <a:ln w="12700">
              <a:solidFill>
                <a:schemeClr val="tx1"/>
              </a:solidFill>
              <a:miter lim="800000"/>
              <a:headEnd/>
              <a:tailEnd/>
            </a:ln>
            <a:effectLst/>
          </p:spPr>
          <p:txBody>
            <a:bodyPr wrap="none" anchor="ctr"/>
            <a:lstStyle/>
            <a:p>
              <a:endParaRPr lang="en-US"/>
            </a:p>
          </p:txBody>
        </p:sp>
        <p:sp>
          <p:nvSpPr>
            <p:cNvPr id="1619017" name="Line 73"/>
            <p:cNvSpPr>
              <a:spLocks noChangeShapeType="1"/>
            </p:cNvSpPr>
            <p:nvPr/>
          </p:nvSpPr>
          <p:spPr bwMode="auto">
            <a:xfrm>
              <a:off x="1968" y="2400"/>
              <a:ext cx="0" cy="864"/>
            </a:xfrm>
            <a:prstGeom prst="line">
              <a:avLst/>
            </a:prstGeom>
            <a:noFill/>
            <a:ln w="28575">
              <a:solidFill>
                <a:schemeClr val="tx1"/>
              </a:solidFill>
              <a:round/>
              <a:headEnd type="oval" w="sm" len="sm"/>
              <a:tailEnd/>
            </a:ln>
            <a:effectLst/>
          </p:spPr>
          <p:txBody>
            <a:bodyPr/>
            <a:lstStyle/>
            <a:p>
              <a:endParaRPr lang="en-US"/>
            </a:p>
          </p:txBody>
        </p:sp>
        <p:sp>
          <p:nvSpPr>
            <p:cNvPr id="1619018" name="Line 74"/>
            <p:cNvSpPr>
              <a:spLocks noChangeShapeType="1"/>
            </p:cNvSpPr>
            <p:nvPr/>
          </p:nvSpPr>
          <p:spPr bwMode="auto">
            <a:xfrm>
              <a:off x="2928" y="2400"/>
              <a:ext cx="0" cy="768"/>
            </a:xfrm>
            <a:prstGeom prst="line">
              <a:avLst/>
            </a:prstGeom>
            <a:noFill/>
            <a:ln w="28575">
              <a:solidFill>
                <a:schemeClr val="tx1"/>
              </a:solidFill>
              <a:round/>
              <a:headEnd type="oval" w="sm" len="sm"/>
              <a:tailEnd/>
            </a:ln>
            <a:effectLst/>
          </p:spPr>
          <p:txBody>
            <a:bodyPr/>
            <a:lstStyle/>
            <a:p>
              <a:endParaRPr lang="en-US"/>
            </a:p>
          </p:txBody>
        </p:sp>
        <p:sp>
          <p:nvSpPr>
            <p:cNvPr id="1619019" name="Line 75"/>
            <p:cNvSpPr>
              <a:spLocks noChangeShapeType="1"/>
            </p:cNvSpPr>
            <p:nvPr/>
          </p:nvSpPr>
          <p:spPr bwMode="auto">
            <a:xfrm>
              <a:off x="3840" y="2400"/>
              <a:ext cx="0" cy="768"/>
            </a:xfrm>
            <a:prstGeom prst="line">
              <a:avLst/>
            </a:prstGeom>
            <a:noFill/>
            <a:ln w="28575">
              <a:solidFill>
                <a:schemeClr val="tx1"/>
              </a:solidFill>
              <a:round/>
              <a:headEnd type="oval" w="sm" len="sm"/>
              <a:tailEnd/>
            </a:ln>
            <a:effectLst/>
          </p:spPr>
          <p:txBody>
            <a:bodyPr/>
            <a:lstStyle/>
            <a:p>
              <a:endParaRPr lang="en-US"/>
            </a:p>
          </p:txBody>
        </p:sp>
        <p:sp>
          <p:nvSpPr>
            <p:cNvPr id="1619020" name="Line 76"/>
            <p:cNvSpPr>
              <a:spLocks noChangeShapeType="1"/>
            </p:cNvSpPr>
            <p:nvPr/>
          </p:nvSpPr>
          <p:spPr bwMode="auto">
            <a:xfrm>
              <a:off x="4752" y="2400"/>
              <a:ext cx="0" cy="864"/>
            </a:xfrm>
            <a:prstGeom prst="line">
              <a:avLst/>
            </a:prstGeom>
            <a:noFill/>
            <a:ln w="28575">
              <a:solidFill>
                <a:schemeClr val="tx1"/>
              </a:solidFill>
              <a:round/>
              <a:headEnd type="oval" w="sm" len="sm"/>
              <a:tailEnd/>
            </a:ln>
            <a:effectLst/>
          </p:spPr>
          <p:txBody>
            <a:bodyPr/>
            <a:lstStyle/>
            <a:p>
              <a:endParaRPr lang="en-US"/>
            </a:p>
          </p:txBody>
        </p:sp>
        <p:sp>
          <p:nvSpPr>
            <p:cNvPr id="1619021" name="Line 77"/>
            <p:cNvSpPr>
              <a:spLocks noChangeShapeType="1"/>
            </p:cNvSpPr>
            <p:nvPr/>
          </p:nvSpPr>
          <p:spPr bwMode="auto">
            <a:xfrm>
              <a:off x="1968" y="3264"/>
              <a:ext cx="1056" cy="0"/>
            </a:xfrm>
            <a:prstGeom prst="line">
              <a:avLst/>
            </a:prstGeom>
            <a:noFill/>
            <a:ln w="28575">
              <a:solidFill>
                <a:schemeClr val="tx1"/>
              </a:solidFill>
              <a:round/>
              <a:headEnd/>
              <a:tailEnd/>
            </a:ln>
            <a:effectLst/>
          </p:spPr>
          <p:txBody>
            <a:bodyPr/>
            <a:lstStyle/>
            <a:p>
              <a:endParaRPr lang="en-US"/>
            </a:p>
          </p:txBody>
        </p:sp>
        <p:sp>
          <p:nvSpPr>
            <p:cNvPr id="1619022" name="Line 78"/>
            <p:cNvSpPr>
              <a:spLocks noChangeShapeType="1"/>
            </p:cNvSpPr>
            <p:nvPr/>
          </p:nvSpPr>
          <p:spPr bwMode="auto">
            <a:xfrm>
              <a:off x="3744" y="3264"/>
              <a:ext cx="1008" cy="0"/>
            </a:xfrm>
            <a:prstGeom prst="line">
              <a:avLst/>
            </a:prstGeom>
            <a:noFill/>
            <a:ln w="28575">
              <a:solidFill>
                <a:schemeClr val="tx1"/>
              </a:solidFill>
              <a:round/>
              <a:headEnd/>
              <a:tailEnd/>
            </a:ln>
            <a:effectLst/>
          </p:spPr>
          <p:txBody>
            <a:bodyPr/>
            <a:lstStyle/>
            <a:p>
              <a:endParaRPr lang="en-US"/>
            </a:p>
          </p:txBody>
        </p:sp>
        <p:sp>
          <p:nvSpPr>
            <p:cNvPr id="1619023" name="Line 79"/>
            <p:cNvSpPr>
              <a:spLocks noChangeShapeType="1"/>
            </p:cNvSpPr>
            <p:nvPr/>
          </p:nvSpPr>
          <p:spPr bwMode="auto">
            <a:xfrm>
              <a:off x="3504" y="3168"/>
              <a:ext cx="336" cy="0"/>
            </a:xfrm>
            <a:prstGeom prst="line">
              <a:avLst/>
            </a:prstGeom>
            <a:noFill/>
            <a:ln w="28575">
              <a:solidFill>
                <a:schemeClr val="tx1"/>
              </a:solidFill>
              <a:round/>
              <a:headEnd/>
              <a:tailEnd/>
            </a:ln>
            <a:effectLst/>
          </p:spPr>
          <p:txBody>
            <a:bodyPr/>
            <a:lstStyle/>
            <a:p>
              <a:endParaRPr lang="en-US"/>
            </a:p>
          </p:txBody>
        </p:sp>
        <p:sp>
          <p:nvSpPr>
            <p:cNvPr id="1619024" name="Line 80"/>
            <p:cNvSpPr>
              <a:spLocks noChangeShapeType="1"/>
            </p:cNvSpPr>
            <p:nvPr/>
          </p:nvSpPr>
          <p:spPr bwMode="auto">
            <a:xfrm>
              <a:off x="2928" y="3168"/>
              <a:ext cx="336" cy="0"/>
            </a:xfrm>
            <a:prstGeom prst="line">
              <a:avLst/>
            </a:prstGeom>
            <a:noFill/>
            <a:ln w="28575">
              <a:solidFill>
                <a:schemeClr val="tx1"/>
              </a:solidFill>
              <a:round/>
              <a:headEnd/>
              <a:tailEnd/>
            </a:ln>
            <a:effectLst/>
          </p:spPr>
          <p:txBody>
            <a:bodyPr/>
            <a:lstStyle/>
            <a:p>
              <a:endParaRPr lang="en-US"/>
            </a:p>
          </p:txBody>
        </p:sp>
        <p:sp>
          <p:nvSpPr>
            <p:cNvPr id="1619025" name="Line 81"/>
            <p:cNvSpPr>
              <a:spLocks noChangeShapeType="1"/>
            </p:cNvSpPr>
            <p:nvPr/>
          </p:nvSpPr>
          <p:spPr bwMode="auto">
            <a:xfrm>
              <a:off x="3264" y="3168"/>
              <a:ext cx="0" cy="288"/>
            </a:xfrm>
            <a:prstGeom prst="line">
              <a:avLst/>
            </a:prstGeom>
            <a:noFill/>
            <a:ln w="28575">
              <a:solidFill>
                <a:schemeClr val="tx1"/>
              </a:solidFill>
              <a:round/>
              <a:headEnd/>
              <a:tailEnd type="triangle" w="med" len="med"/>
            </a:ln>
            <a:effectLst/>
          </p:spPr>
          <p:txBody>
            <a:bodyPr/>
            <a:lstStyle/>
            <a:p>
              <a:endParaRPr lang="en-US"/>
            </a:p>
          </p:txBody>
        </p:sp>
        <p:sp>
          <p:nvSpPr>
            <p:cNvPr id="1619026" name="Line 82"/>
            <p:cNvSpPr>
              <a:spLocks noChangeShapeType="1"/>
            </p:cNvSpPr>
            <p:nvPr/>
          </p:nvSpPr>
          <p:spPr bwMode="auto">
            <a:xfrm>
              <a:off x="3504" y="3168"/>
              <a:ext cx="0" cy="288"/>
            </a:xfrm>
            <a:prstGeom prst="line">
              <a:avLst/>
            </a:prstGeom>
            <a:noFill/>
            <a:ln w="28575">
              <a:solidFill>
                <a:schemeClr val="tx1"/>
              </a:solidFill>
              <a:round/>
              <a:headEnd/>
              <a:tailEnd type="triangle" w="med" len="med"/>
            </a:ln>
            <a:effectLst/>
          </p:spPr>
          <p:txBody>
            <a:bodyPr/>
            <a:lstStyle/>
            <a:p>
              <a:endParaRPr lang="en-US"/>
            </a:p>
          </p:txBody>
        </p:sp>
        <p:sp>
          <p:nvSpPr>
            <p:cNvPr id="1619027" name="Line 83"/>
            <p:cNvSpPr>
              <a:spLocks noChangeShapeType="1"/>
            </p:cNvSpPr>
            <p:nvPr/>
          </p:nvSpPr>
          <p:spPr bwMode="auto">
            <a:xfrm>
              <a:off x="3744" y="3264"/>
              <a:ext cx="0" cy="192"/>
            </a:xfrm>
            <a:prstGeom prst="line">
              <a:avLst/>
            </a:prstGeom>
            <a:noFill/>
            <a:ln w="28575">
              <a:solidFill>
                <a:schemeClr val="tx1"/>
              </a:solidFill>
              <a:round/>
              <a:headEnd/>
              <a:tailEnd type="triangle" w="med" len="med"/>
            </a:ln>
            <a:effectLst/>
          </p:spPr>
          <p:txBody>
            <a:bodyPr/>
            <a:lstStyle/>
            <a:p>
              <a:endParaRPr lang="en-US"/>
            </a:p>
          </p:txBody>
        </p:sp>
        <p:sp>
          <p:nvSpPr>
            <p:cNvPr id="1619028" name="Line 84"/>
            <p:cNvSpPr>
              <a:spLocks noChangeShapeType="1"/>
            </p:cNvSpPr>
            <p:nvPr/>
          </p:nvSpPr>
          <p:spPr bwMode="auto">
            <a:xfrm>
              <a:off x="3024" y="3264"/>
              <a:ext cx="0" cy="192"/>
            </a:xfrm>
            <a:prstGeom prst="line">
              <a:avLst/>
            </a:prstGeom>
            <a:noFill/>
            <a:ln w="28575">
              <a:solidFill>
                <a:schemeClr val="tx1"/>
              </a:solidFill>
              <a:round/>
              <a:headEnd/>
              <a:tailEnd type="triangle" w="med" len="med"/>
            </a:ln>
            <a:effectLst/>
          </p:spPr>
          <p:txBody>
            <a:bodyPr/>
            <a:lstStyle/>
            <a:p>
              <a:endParaRPr lang="en-US"/>
            </a:p>
          </p:txBody>
        </p:sp>
        <p:sp>
          <p:nvSpPr>
            <p:cNvPr id="1619029" name="Line 85"/>
            <p:cNvSpPr>
              <a:spLocks noChangeShapeType="1"/>
            </p:cNvSpPr>
            <p:nvPr/>
          </p:nvSpPr>
          <p:spPr bwMode="auto">
            <a:xfrm>
              <a:off x="3024" y="1248"/>
              <a:ext cx="0" cy="192"/>
            </a:xfrm>
            <a:prstGeom prst="line">
              <a:avLst/>
            </a:prstGeom>
            <a:noFill/>
            <a:ln w="12700">
              <a:solidFill>
                <a:schemeClr val="tx1"/>
              </a:solidFill>
              <a:round/>
              <a:headEnd/>
              <a:tailEnd/>
            </a:ln>
            <a:effectLst/>
          </p:spPr>
          <p:txBody>
            <a:bodyPr/>
            <a:lstStyle/>
            <a:p>
              <a:endParaRPr lang="en-US"/>
            </a:p>
          </p:txBody>
        </p:sp>
        <p:sp>
          <p:nvSpPr>
            <p:cNvPr id="1619030" name="Line 86"/>
            <p:cNvSpPr>
              <a:spLocks noChangeShapeType="1"/>
            </p:cNvSpPr>
            <p:nvPr/>
          </p:nvSpPr>
          <p:spPr bwMode="auto">
            <a:xfrm>
              <a:off x="3024" y="1440"/>
              <a:ext cx="2304" cy="0"/>
            </a:xfrm>
            <a:prstGeom prst="line">
              <a:avLst/>
            </a:prstGeom>
            <a:noFill/>
            <a:ln w="12700">
              <a:solidFill>
                <a:schemeClr val="tx1"/>
              </a:solidFill>
              <a:round/>
              <a:headEnd/>
              <a:tailEnd/>
            </a:ln>
            <a:effectLst/>
          </p:spPr>
          <p:txBody>
            <a:bodyPr/>
            <a:lstStyle/>
            <a:p>
              <a:endParaRPr lang="en-US"/>
            </a:p>
          </p:txBody>
        </p:sp>
        <p:sp>
          <p:nvSpPr>
            <p:cNvPr id="1619031" name="Line 87"/>
            <p:cNvSpPr>
              <a:spLocks noChangeShapeType="1"/>
            </p:cNvSpPr>
            <p:nvPr/>
          </p:nvSpPr>
          <p:spPr bwMode="auto">
            <a:xfrm>
              <a:off x="5328" y="1440"/>
              <a:ext cx="0" cy="2112"/>
            </a:xfrm>
            <a:prstGeom prst="line">
              <a:avLst/>
            </a:prstGeom>
            <a:noFill/>
            <a:ln w="12700">
              <a:solidFill>
                <a:schemeClr val="tx1"/>
              </a:solidFill>
              <a:round/>
              <a:headEnd/>
              <a:tailEnd/>
            </a:ln>
            <a:effectLst/>
          </p:spPr>
          <p:txBody>
            <a:bodyPr/>
            <a:lstStyle/>
            <a:p>
              <a:endParaRPr lang="en-US"/>
            </a:p>
          </p:txBody>
        </p:sp>
        <p:sp>
          <p:nvSpPr>
            <p:cNvPr id="1619032" name="Line 88"/>
            <p:cNvSpPr>
              <a:spLocks noChangeShapeType="1"/>
            </p:cNvSpPr>
            <p:nvPr/>
          </p:nvSpPr>
          <p:spPr bwMode="auto">
            <a:xfrm flipH="1">
              <a:off x="3696" y="3552"/>
              <a:ext cx="1632" cy="0"/>
            </a:xfrm>
            <a:prstGeom prst="line">
              <a:avLst/>
            </a:prstGeom>
            <a:noFill/>
            <a:ln w="12700">
              <a:solidFill>
                <a:schemeClr val="tx1"/>
              </a:solidFill>
              <a:round/>
              <a:headEnd/>
              <a:tailEnd type="triangle" w="med" len="med"/>
            </a:ln>
            <a:effectLst/>
          </p:spPr>
          <p:txBody>
            <a:bodyPr/>
            <a:lstStyle/>
            <a:p>
              <a:endParaRPr lang="en-US"/>
            </a:p>
          </p:txBody>
        </p:sp>
        <p:sp>
          <p:nvSpPr>
            <p:cNvPr id="1619033" name="Line 89"/>
            <p:cNvSpPr>
              <a:spLocks noChangeShapeType="1"/>
            </p:cNvSpPr>
            <p:nvPr/>
          </p:nvSpPr>
          <p:spPr bwMode="auto">
            <a:xfrm>
              <a:off x="3360" y="3600"/>
              <a:ext cx="0" cy="144"/>
            </a:xfrm>
            <a:prstGeom prst="line">
              <a:avLst/>
            </a:prstGeom>
            <a:noFill/>
            <a:ln w="28575">
              <a:solidFill>
                <a:schemeClr val="tx1"/>
              </a:solidFill>
              <a:round/>
              <a:headEnd/>
              <a:tailEnd/>
            </a:ln>
            <a:effectLst/>
          </p:spPr>
          <p:txBody>
            <a:bodyPr/>
            <a:lstStyle/>
            <a:p>
              <a:endParaRPr lang="en-US"/>
            </a:p>
          </p:txBody>
        </p:sp>
        <p:sp>
          <p:nvSpPr>
            <p:cNvPr id="1619034" name="Line 90"/>
            <p:cNvSpPr>
              <a:spLocks noChangeShapeType="1"/>
            </p:cNvSpPr>
            <p:nvPr/>
          </p:nvSpPr>
          <p:spPr bwMode="auto">
            <a:xfrm>
              <a:off x="3360" y="3744"/>
              <a:ext cx="2064" cy="0"/>
            </a:xfrm>
            <a:prstGeom prst="line">
              <a:avLst/>
            </a:prstGeom>
            <a:noFill/>
            <a:ln w="28575">
              <a:solidFill>
                <a:schemeClr val="tx1"/>
              </a:solidFill>
              <a:round/>
              <a:headEnd/>
              <a:tailEnd/>
            </a:ln>
            <a:effectLst/>
          </p:spPr>
          <p:txBody>
            <a:bodyPr/>
            <a:lstStyle/>
            <a:p>
              <a:endParaRPr lang="en-US"/>
            </a:p>
          </p:txBody>
        </p:sp>
      </p:grpSp>
      <p:sp>
        <p:nvSpPr>
          <p:cNvPr id="1619035" name="Rectangle 91"/>
          <p:cNvSpPr>
            <a:spLocks noGrp="1" noChangeArrowheads="1"/>
          </p:cNvSpPr>
          <p:nvPr>
            <p:ph type="body" idx="1"/>
          </p:nvPr>
        </p:nvSpPr>
        <p:spPr>
          <a:xfrm>
            <a:off x="457200" y="762000"/>
            <a:ext cx="8077200" cy="533400"/>
          </a:xfrm>
          <a:noFill/>
          <a:ln/>
        </p:spPr>
        <p:txBody>
          <a:bodyPr lIns="90488" tIns="44450" rIns="90488" bIns="44450"/>
          <a:lstStyle/>
          <a:p>
            <a:pPr marL="342900" indent="-342900">
              <a:lnSpc>
                <a:spcPct val="80000"/>
              </a:lnSpc>
            </a:pPr>
            <a:r>
              <a:rPr lang="en-US"/>
              <a:t>Four  words/block, cache size = 1K words</a:t>
            </a:r>
            <a:br>
              <a:rPr lang="en-US"/>
            </a:br>
            <a:endParaRPr lang="en-US" i="1">
              <a:solidFill>
                <a:schemeClr val="accent1"/>
              </a:solidFill>
            </a:endParaRPr>
          </a:p>
        </p:txBody>
      </p:sp>
      <p:sp>
        <p:nvSpPr>
          <p:cNvPr id="1619036" name="Rectangle 92"/>
          <p:cNvSpPr>
            <a:spLocks noChangeArrowheads="1"/>
          </p:cNvSpPr>
          <p:nvPr/>
        </p:nvSpPr>
        <p:spPr bwMode="auto">
          <a:xfrm>
            <a:off x="533400" y="6172200"/>
            <a:ext cx="8077200" cy="457200"/>
          </a:xfrm>
          <a:prstGeom prst="rect">
            <a:avLst/>
          </a:prstGeom>
          <a:noFill/>
          <a:ln w="12700">
            <a:noFill/>
            <a:miter lim="800000"/>
            <a:headEnd/>
            <a:tailEnd/>
          </a:ln>
          <a:effectLst/>
        </p:spPr>
        <p:txBody>
          <a:bodyPr lIns="90488" tIns="44450" rIns="90488" bIns="44450"/>
          <a:lstStyle/>
          <a:p>
            <a:pPr marL="342900" indent="-342900" algn="ctr">
              <a:lnSpc>
                <a:spcPct val="90000"/>
              </a:lnSpc>
              <a:spcBef>
                <a:spcPct val="65000"/>
              </a:spcBef>
              <a:buClr>
                <a:schemeClr val="accent1"/>
              </a:buClr>
              <a:buSzPct val="75000"/>
              <a:buFont typeface="Wingdings" pitchFamily="2" charset="2"/>
              <a:buNone/>
            </a:pPr>
            <a:r>
              <a:rPr lang="en-US" sz="2400" i="1"/>
              <a:t>What kind of locality are we taking advantage of?</a:t>
            </a:r>
          </a:p>
        </p:txBody>
      </p:sp>
    </p:spTree>
    <p:extLst>
      <p:ext uri="{BB962C8B-B14F-4D97-AF65-F5344CB8AC3E}">
        <p14:creationId xmlns:p14="http://schemas.microsoft.com/office/powerpoint/2010/main" val="423072089"/>
      </p:ext>
    </p:extLst>
  </p:cSld>
  <p:clrMapOvr>
    <a:masterClrMapping/>
  </p:clrMapOvr>
  <p:transition advTm="2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19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9036"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3042" name="Rectangle 2"/>
          <p:cNvSpPr>
            <a:spLocks noGrp="1" noChangeArrowheads="1"/>
          </p:cNvSpPr>
          <p:nvPr>
            <p:ph type="title"/>
          </p:nvPr>
        </p:nvSpPr>
        <p:spPr/>
        <p:txBody>
          <a:bodyPr/>
          <a:lstStyle/>
          <a:p>
            <a:r>
              <a:rPr lang="en-US"/>
              <a:t>Miss Rate vs Block Size vs Cache Size</a:t>
            </a:r>
          </a:p>
        </p:txBody>
      </p:sp>
      <p:graphicFrame>
        <p:nvGraphicFramePr>
          <p:cNvPr id="5" name="Object 3"/>
          <p:cNvGraphicFramePr>
            <a:graphicFrameLocks noGrp="1" noChangeAspect="1"/>
          </p:cNvGraphicFramePr>
          <p:nvPr>
            <p:ph type="chart" idx="1"/>
          </p:nvPr>
        </p:nvGraphicFramePr>
        <p:xfrm>
          <a:off x="685800" y="766763"/>
          <a:ext cx="7896225" cy="4238625"/>
        </p:xfrm>
        <a:graphic>
          <a:graphicData uri="http://schemas.openxmlformats.org/drawingml/2006/chart">
            <c:chart xmlns:c="http://schemas.openxmlformats.org/drawingml/2006/chart" xmlns:r="http://schemas.openxmlformats.org/officeDocument/2006/relationships" r:id="rId3"/>
          </a:graphicData>
        </a:graphic>
      </p:graphicFrame>
      <p:sp>
        <p:nvSpPr>
          <p:cNvPr id="1623045" name="Rectangle 5"/>
          <p:cNvSpPr>
            <a:spLocks noChangeArrowheads="1"/>
          </p:cNvSpPr>
          <p:nvPr/>
        </p:nvSpPr>
        <p:spPr bwMode="auto">
          <a:xfrm>
            <a:off x="533400" y="4953000"/>
            <a:ext cx="8382000" cy="1511300"/>
          </a:xfrm>
          <a:prstGeom prst="rect">
            <a:avLst/>
          </a:prstGeom>
          <a:noFill/>
          <a:ln w="12700">
            <a:noFill/>
            <a:miter lim="800000"/>
            <a:headEnd/>
            <a:tailEnd/>
          </a:ln>
          <a:effectLst/>
        </p:spPr>
        <p:txBody>
          <a:bodyPr lIns="63500" tIns="25400" rIns="63500" bIns="25400">
            <a:spAutoFit/>
          </a:bodyPr>
          <a:lstStyle/>
          <a:p>
            <a:pPr marL="287338" indent="-287338">
              <a:buClr>
                <a:schemeClr val="accent1"/>
              </a:buClr>
              <a:buSzPct val="75000"/>
              <a:buFont typeface="Wingdings" pitchFamily="2" charset="2"/>
              <a:buChar char="q"/>
            </a:pPr>
            <a:r>
              <a:rPr lang="en-US" sz="2400">
                <a:solidFill>
                  <a:schemeClr val="tx1"/>
                </a:solidFill>
              </a:rPr>
              <a:t>Miss rate goes up if the block size becomes a significant fraction of the cache size because the number of blocks that can be held in the same size cache is smaller (increasing </a:t>
            </a:r>
            <a:r>
              <a:rPr lang="en-US" sz="2400"/>
              <a:t>capacity</a:t>
            </a:r>
            <a:r>
              <a:rPr lang="en-US" sz="2400">
                <a:solidFill>
                  <a:schemeClr val="tx1"/>
                </a:solidFill>
              </a:rPr>
              <a:t> misses)</a:t>
            </a:r>
          </a:p>
        </p:txBody>
      </p:sp>
    </p:spTree>
    <p:extLst>
      <p:ext uri="{BB962C8B-B14F-4D97-AF65-F5344CB8AC3E}">
        <p14:creationId xmlns:p14="http://schemas.microsoft.com/office/powerpoint/2010/main" val="929815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graphicEl>
                                              <a:chart seriesIdx="0" categoryIdx="-4" bldStep="series"/>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
                                            <p:graphicEl>
                                              <a:chart seriesIdx="1" categoryIdx="-4" bldStep="series"/>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
                                            <p:graphicEl>
                                              <a:chart seriesIdx="2" categoryIdx="-4" bldStep="series"/>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
                                            <p:graphicEl>
                                              <a:chart seriesIdx="3" categoryIdx="-4" bldStep="series"/>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230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series" animBg="0"/>
        </p:bldSub>
      </p:bldGraphic>
      <p:bldP spid="162304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546" name="Rectangle 2"/>
          <p:cNvSpPr>
            <a:spLocks noGrp="1" noChangeArrowheads="1"/>
          </p:cNvSpPr>
          <p:nvPr>
            <p:ph type="title"/>
          </p:nvPr>
        </p:nvSpPr>
        <p:spPr>
          <a:xfrm>
            <a:off x="758825" y="263525"/>
            <a:ext cx="3448050" cy="422275"/>
          </a:xfrm>
          <a:noFill/>
          <a:ln/>
        </p:spPr>
        <p:txBody>
          <a:bodyPr/>
          <a:lstStyle/>
          <a:p>
            <a:r>
              <a:rPr lang="en-US"/>
              <a:t>Block Size Tradeoff</a:t>
            </a:r>
          </a:p>
        </p:txBody>
      </p:sp>
      <p:sp>
        <p:nvSpPr>
          <p:cNvPr id="1132547" name="Rectangle 3"/>
          <p:cNvSpPr>
            <a:spLocks noGrp="1" noChangeArrowheads="1"/>
          </p:cNvSpPr>
          <p:nvPr>
            <p:ph type="body" idx="1"/>
          </p:nvPr>
        </p:nvSpPr>
        <p:spPr>
          <a:xfrm>
            <a:off x="228600" y="1905000"/>
            <a:ext cx="8610600" cy="657616"/>
          </a:xfrm>
          <a:noFill/>
          <a:ln/>
        </p:spPr>
        <p:txBody>
          <a:bodyPr/>
          <a:lstStyle/>
          <a:p>
            <a:pPr lvl="1">
              <a:lnSpc>
                <a:spcPct val="85000"/>
              </a:lnSpc>
            </a:pPr>
            <a:r>
              <a:rPr lang="en-US" sz="2200" dirty="0"/>
              <a:t>Larger block size means larger miss penalty</a:t>
            </a:r>
          </a:p>
          <a:p>
            <a:pPr lvl="2">
              <a:lnSpc>
                <a:spcPct val="85000"/>
              </a:lnSpc>
            </a:pPr>
            <a:r>
              <a:rPr lang="en-US" dirty="0"/>
              <a:t>Latency to first word in block + transfer time for remaining words</a:t>
            </a:r>
          </a:p>
        </p:txBody>
      </p:sp>
      <p:grpSp>
        <p:nvGrpSpPr>
          <p:cNvPr id="2" name="Group 4"/>
          <p:cNvGrpSpPr>
            <a:grpSpLocks/>
          </p:cNvGrpSpPr>
          <p:nvPr/>
        </p:nvGrpSpPr>
        <p:grpSpPr bwMode="auto">
          <a:xfrm>
            <a:off x="3581400" y="2895600"/>
            <a:ext cx="2416175" cy="2162175"/>
            <a:chOff x="288" y="2688"/>
            <a:chExt cx="1522" cy="1362"/>
          </a:xfrm>
        </p:grpSpPr>
        <p:sp>
          <p:nvSpPr>
            <p:cNvPr id="1132549" name="Line 5"/>
            <p:cNvSpPr>
              <a:spLocks noChangeShapeType="1"/>
            </p:cNvSpPr>
            <p:nvPr/>
          </p:nvSpPr>
          <p:spPr bwMode="auto">
            <a:xfrm>
              <a:off x="489" y="2936"/>
              <a:ext cx="0" cy="896"/>
            </a:xfrm>
            <a:prstGeom prst="line">
              <a:avLst/>
            </a:prstGeom>
            <a:noFill/>
            <a:ln w="25400">
              <a:solidFill>
                <a:schemeClr val="tx1"/>
              </a:solidFill>
              <a:round/>
              <a:headEnd type="triangle" w="med" len="med"/>
              <a:tailEnd/>
            </a:ln>
            <a:effectLst/>
          </p:spPr>
          <p:txBody>
            <a:bodyPr wrap="none" anchor="ctr"/>
            <a:lstStyle/>
            <a:p>
              <a:endParaRPr lang="en-US"/>
            </a:p>
          </p:txBody>
        </p:sp>
        <p:sp>
          <p:nvSpPr>
            <p:cNvPr id="1132550" name="Line 6"/>
            <p:cNvSpPr>
              <a:spLocks noChangeShapeType="1"/>
            </p:cNvSpPr>
            <p:nvPr/>
          </p:nvSpPr>
          <p:spPr bwMode="auto">
            <a:xfrm>
              <a:off x="497" y="3840"/>
              <a:ext cx="1232"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132551" name="Rectangle 7"/>
            <p:cNvSpPr>
              <a:spLocks noChangeArrowheads="1"/>
            </p:cNvSpPr>
            <p:nvPr/>
          </p:nvSpPr>
          <p:spPr bwMode="auto">
            <a:xfrm>
              <a:off x="288" y="2688"/>
              <a:ext cx="535" cy="294"/>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sz="1600" b="1">
                  <a:solidFill>
                    <a:schemeClr val="tx1"/>
                  </a:solidFill>
                </a:rPr>
                <a:t>Miss</a:t>
              </a:r>
            </a:p>
            <a:p>
              <a:pPr>
                <a:lnSpc>
                  <a:spcPct val="85000"/>
                </a:lnSpc>
              </a:pPr>
              <a:r>
                <a:rPr lang="en-US" sz="1600" b="1">
                  <a:solidFill>
                    <a:schemeClr val="tx1"/>
                  </a:solidFill>
                </a:rPr>
                <a:t>Penalty</a:t>
              </a:r>
            </a:p>
          </p:txBody>
        </p:sp>
        <p:sp>
          <p:nvSpPr>
            <p:cNvPr id="1132552" name="Line 8"/>
            <p:cNvSpPr>
              <a:spLocks noChangeShapeType="1"/>
            </p:cNvSpPr>
            <p:nvPr/>
          </p:nvSpPr>
          <p:spPr bwMode="auto">
            <a:xfrm flipV="1">
              <a:off x="497" y="3064"/>
              <a:ext cx="944" cy="496"/>
            </a:xfrm>
            <a:prstGeom prst="line">
              <a:avLst/>
            </a:prstGeom>
            <a:noFill/>
            <a:ln w="25400">
              <a:solidFill>
                <a:schemeClr val="accent1"/>
              </a:solidFill>
              <a:round/>
              <a:headEnd/>
              <a:tailEnd/>
            </a:ln>
            <a:effectLst/>
          </p:spPr>
          <p:txBody>
            <a:bodyPr wrap="none" anchor="ctr"/>
            <a:lstStyle/>
            <a:p>
              <a:endParaRPr lang="en-US"/>
            </a:p>
          </p:txBody>
        </p:sp>
        <p:sp>
          <p:nvSpPr>
            <p:cNvPr id="1132553" name="Rectangle 9"/>
            <p:cNvSpPr>
              <a:spLocks noChangeArrowheads="1"/>
            </p:cNvSpPr>
            <p:nvPr/>
          </p:nvSpPr>
          <p:spPr bwMode="auto">
            <a:xfrm>
              <a:off x="1056" y="3840"/>
              <a:ext cx="754"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Block Size</a:t>
              </a:r>
            </a:p>
          </p:txBody>
        </p:sp>
      </p:grpSp>
      <p:grpSp>
        <p:nvGrpSpPr>
          <p:cNvPr id="3" name="Group 10"/>
          <p:cNvGrpSpPr>
            <a:grpSpLocks/>
          </p:cNvGrpSpPr>
          <p:nvPr/>
        </p:nvGrpSpPr>
        <p:grpSpPr bwMode="auto">
          <a:xfrm>
            <a:off x="381000" y="2819400"/>
            <a:ext cx="3100388" cy="2212975"/>
            <a:chOff x="1889" y="2656"/>
            <a:chExt cx="1953" cy="1394"/>
          </a:xfrm>
        </p:grpSpPr>
        <p:sp>
          <p:nvSpPr>
            <p:cNvPr id="1132555" name="Line 11"/>
            <p:cNvSpPr>
              <a:spLocks noChangeShapeType="1"/>
            </p:cNvSpPr>
            <p:nvPr/>
          </p:nvSpPr>
          <p:spPr bwMode="auto">
            <a:xfrm>
              <a:off x="2121" y="2936"/>
              <a:ext cx="0" cy="896"/>
            </a:xfrm>
            <a:prstGeom prst="line">
              <a:avLst/>
            </a:prstGeom>
            <a:noFill/>
            <a:ln w="25400">
              <a:solidFill>
                <a:schemeClr val="tx1"/>
              </a:solidFill>
              <a:round/>
              <a:headEnd type="triangle" w="med" len="med"/>
              <a:tailEnd/>
            </a:ln>
            <a:effectLst/>
          </p:spPr>
          <p:txBody>
            <a:bodyPr wrap="none" anchor="ctr"/>
            <a:lstStyle/>
            <a:p>
              <a:endParaRPr lang="en-US"/>
            </a:p>
          </p:txBody>
        </p:sp>
        <p:sp>
          <p:nvSpPr>
            <p:cNvPr id="1132556" name="Line 12"/>
            <p:cNvSpPr>
              <a:spLocks noChangeShapeType="1"/>
            </p:cNvSpPr>
            <p:nvPr/>
          </p:nvSpPr>
          <p:spPr bwMode="auto">
            <a:xfrm>
              <a:off x="2129" y="3840"/>
              <a:ext cx="1232"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132557" name="Rectangle 13"/>
            <p:cNvSpPr>
              <a:spLocks noChangeArrowheads="1"/>
            </p:cNvSpPr>
            <p:nvPr/>
          </p:nvSpPr>
          <p:spPr bwMode="auto">
            <a:xfrm>
              <a:off x="1889" y="2656"/>
              <a:ext cx="400" cy="326"/>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a:solidFill>
                    <a:schemeClr val="tx1"/>
                  </a:solidFill>
                </a:rPr>
                <a:t>Miss</a:t>
              </a:r>
            </a:p>
            <a:p>
              <a:pPr>
                <a:lnSpc>
                  <a:spcPct val="85000"/>
                </a:lnSpc>
              </a:pPr>
              <a:r>
                <a:rPr lang="en-US" b="1">
                  <a:solidFill>
                    <a:schemeClr val="tx1"/>
                  </a:solidFill>
                </a:rPr>
                <a:t>Rate</a:t>
              </a:r>
            </a:p>
          </p:txBody>
        </p:sp>
        <p:sp>
          <p:nvSpPr>
            <p:cNvPr id="1132558" name="Line 14"/>
            <p:cNvSpPr>
              <a:spLocks noChangeShapeType="1"/>
            </p:cNvSpPr>
            <p:nvPr/>
          </p:nvSpPr>
          <p:spPr bwMode="auto">
            <a:xfrm>
              <a:off x="2225" y="3080"/>
              <a:ext cx="80" cy="320"/>
            </a:xfrm>
            <a:prstGeom prst="line">
              <a:avLst/>
            </a:prstGeom>
            <a:noFill/>
            <a:ln w="25400">
              <a:solidFill>
                <a:schemeClr val="hlink"/>
              </a:solidFill>
              <a:round/>
              <a:headEnd/>
              <a:tailEnd/>
            </a:ln>
            <a:effectLst/>
          </p:spPr>
          <p:txBody>
            <a:bodyPr wrap="none" anchor="ctr"/>
            <a:lstStyle/>
            <a:p>
              <a:endParaRPr lang="en-US"/>
            </a:p>
          </p:txBody>
        </p:sp>
        <p:sp>
          <p:nvSpPr>
            <p:cNvPr id="1132559" name="Line 15"/>
            <p:cNvSpPr>
              <a:spLocks noChangeShapeType="1"/>
            </p:cNvSpPr>
            <p:nvPr/>
          </p:nvSpPr>
          <p:spPr bwMode="auto">
            <a:xfrm>
              <a:off x="2321" y="3416"/>
              <a:ext cx="176" cy="272"/>
            </a:xfrm>
            <a:prstGeom prst="line">
              <a:avLst/>
            </a:prstGeom>
            <a:noFill/>
            <a:ln w="25400">
              <a:solidFill>
                <a:schemeClr val="hlink"/>
              </a:solidFill>
              <a:round/>
              <a:headEnd/>
              <a:tailEnd/>
            </a:ln>
            <a:effectLst/>
          </p:spPr>
          <p:txBody>
            <a:bodyPr wrap="none" anchor="ctr"/>
            <a:lstStyle/>
            <a:p>
              <a:endParaRPr lang="en-US"/>
            </a:p>
          </p:txBody>
        </p:sp>
        <p:sp>
          <p:nvSpPr>
            <p:cNvPr id="1132560" name="Line 16"/>
            <p:cNvSpPr>
              <a:spLocks noChangeShapeType="1"/>
            </p:cNvSpPr>
            <p:nvPr/>
          </p:nvSpPr>
          <p:spPr bwMode="auto">
            <a:xfrm>
              <a:off x="2513" y="3704"/>
              <a:ext cx="224" cy="32"/>
            </a:xfrm>
            <a:prstGeom prst="line">
              <a:avLst/>
            </a:prstGeom>
            <a:noFill/>
            <a:ln w="25400">
              <a:solidFill>
                <a:schemeClr val="hlink"/>
              </a:solidFill>
              <a:round/>
              <a:headEnd/>
              <a:tailEnd/>
            </a:ln>
            <a:effectLst/>
          </p:spPr>
          <p:txBody>
            <a:bodyPr wrap="none" anchor="ctr"/>
            <a:lstStyle/>
            <a:p>
              <a:endParaRPr lang="en-US"/>
            </a:p>
          </p:txBody>
        </p:sp>
        <p:sp>
          <p:nvSpPr>
            <p:cNvPr id="1132561" name="Line 17"/>
            <p:cNvSpPr>
              <a:spLocks noChangeShapeType="1"/>
            </p:cNvSpPr>
            <p:nvPr/>
          </p:nvSpPr>
          <p:spPr bwMode="auto">
            <a:xfrm>
              <a:off x="2753" y="3744"/>
              <a:ext cx="224" cy="0"/>
            </a:xfrm>
            <a:prstGeom prst="line">
              <a:avLst/>
            </a:prstGeom>
            <a:noFill/>
            <a:ln w="25400">
              <a:solidFill>
                <a:schemeClr val="hlink"/>
              </a:solidFill>
              <a:round/>
              <a:headEnd/>
              <a:tailEnd/>
            </a:ln>
            <a:effectLst/>
          </p:spPr>
          <p:txBody>
            <a:bodyPr wrap="none" anchor="ctr"/>
            <a:lstStyle/>
            <a:p>
              <a:endParaRPr lang="en-US"/>
            </a:p>
          </p:txBody>
        </p:sp>
        <p:sp>
          <p:nvSpPr>
            <p:cNvPr id="1132562" name="Line 18"/>
            <p:cNvSpPr>
              <a:spLocks noChangeShapeType="1"/>
            </p:cNvSpPr>
            <p:nvPr/>
          </p:nvSpPr>
          <p:spPr bwMode="auto">
            <a:xfrm flipV="1">
              <a:off x="2993" y="3640"/>
              <a:ext cx="224" cy="112"/>
            </a:xfrm>
            <a:prstGeom prst="line">
              <a:avLst/>
            </a:prstGeom>
            <a:noFill/>
            <a:ln w="25400">
              <a:solidFill>
                <a:schemeClr val="hlink"/>
              </a:solidFill>
              <a:round/>
              <a:headEnd/>
              <a:tailEnd/>
            </a:ln>
            <a:effectLst/>
          </p:spPr>
          <p:txBody>
            <a:bodyPr wrap="none" anchor="ctr"/>
            <a:lstStyle/>
            <a:p>
              <a:endParaRPr lang="en-US"/>
            </a:p>
          </p:txBody>
        </p:sp>
        <p:sp>
          <p:nvSpPr>
            <p:cNvPr id="1132563" name="Line 19"/>
            <p:cNvSpPr>
              <a:spLocks noChangeShapeType="1"/>
            </p:cNvSpPr>
            <p:nvPr/>
          </p:nvSpPr>
          <p:spPr bwMode="auto">
            <a:xfrm flipV="1">
              <a:off x="2413" y="2924"/>
              <a:ext cx="184" cy="536"/>
            </a:xfrm>
            <a:prstGeom prst="line">
              <a:avLst/>
            </a:prstGeom>
            <a:noFill/>
            <a:ln w="12700">
              <a:solidFill>
                <a:schemeClr val="tx1"/>
              </a:solidFill>
              <a:round/>
              <a:headEnd/>
              <a:tailEnd/>
            </a:ln>
            <a:effectLst/>
          </p:spPr>
          <p:txBody>
            <a:bodyPr wrap="none" anchor="ctr"/>
            <a:lstStyle/>
            <a:p>
              <a:endParaRPr lang="en-US"/>
            </a:p>
          </p:txBody>
        </p:sp>
        <p:sp>
          <p:nvSpPr>
            <p:cNvPr id="1132564" name="Rectangle 20"/>
            <p:cNvSpPr>
              <a:spLocks noChangeArrowheads="1"/>
            </p:cNvSpPr>
            <p:nvPr/>
          </p:nvSpPr>
          <p:spPr bwMode="auto">
            <a:xfrm>
              <a:off x="2321" y="2736"/>
              <a:ext cx="1422" cy="163"/>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sz="1600">
                  <a:solidFill>
                    <a:schemeClr val="tx1"/>
                  </a:solidFill>
                </a:rPr>
                <a:t>Exploits Spatial Locality</a:t>
              </a:r>
            </a:p>
          </p:txBody>
        </p:sp>
        <p:sp>
          <p:nvSpPr>
            <p:cNvPr id="1132565" name="Line 21"/>
            <p:cNvSpPr>
              <a:spLocks noChangeShapeType="1"/>
            </p:cNvSpPr>
            <p:nvPr/>
          </p:nvSpPr>
          <p:spPr bwMode="auto">
            <a:xfrm flipV="1">
              <a:off x="3133" y="3500"/>
              <a:ext cx="40" cy="152"/>
            </a:xfrm>
            <a:prstGeom prst="line">
              <a:avLst/>
            </a:prstGeom>
            <a:noFill/>
            <a:ln w="12700">
              <a:solidFill>
                <a:schemeClr val="tx1"/>
              </a:solidFill>
              <a:round/>
              <a:headEnd/>
              <a:tailEnd/>
            </a:ln>
            <a:effectLst/>
          </p:spPr>
          <p:txBody>
            <a:bodyPr wrap="none" anchor="ctr"/>
            <a:lstStyle/>
            <a:p>
              <a:endParaRPr lang="en-US"/>
            </a:p>
          </p:txBody>
        </p:sp>
        <p:sp>
          <p:nvSpPr>
            <p:cNvPr id="1132566" name="Rectangle 22"/>
            <p:cNvSpPr>
              <a:spLocks noChangeArrowheads="1"/>
            </p:cNvSpPr>
            <p:nvPr/>
          </p:nvSpPr>
          <p:spPr bwMode="auto">
            <a:xfrm>
              <a:off x="2753" y="3100"/>
              <a:ext cx="1089" cy="425"/>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sz="1600">
                  <a:solidFill>
                    <a:schemeClr val="tx1"/>
                  </a:solidFill>
                </a:rPr>
                <a:t>Fewer blocks </a:t>
              </a:r>
            </a:p>
            <a:p>
              <a:pPr>
                <a:lnSpc>
                  <a:spcPct val="85000"/>
                </a:lnSpc>
              </a:pPr>
              <a:r>
                <a:rPr lang="en-US" sz="1600">
                  <a:solidFill>
                    <a:schemeClr val="tx1"/>
                  </a:solidFill>
                </a:rPr>
                <a:t>compromises</a:t>
              </a:r>
            </a:p>
            <a:p>
              <a:pPr>
                <a:lnSpc>
                  <a:spcPct val="85000"/>
                </a:lnSpc>
              </a:pPr>
              <a:r>
                <a:rPr lang="en-US" sz="1600">
                  <a:solidFill>
                    <a:schemeClr val="tx1"/>
                  </a:solidFill>
                </a:rPr>
                <a:t>Temporal Locality</a:t>
              </a:r>
            </a:p>
          </p:txBody>
        </p:sp>
        <p:sp>
          <p:nvSpPr>
            <p:cNvPr id="1132567" name="Rectangle 23"/>
            <p:cNvSpPr>
              <a:spLocks noChangeArrowheads="1"/>
            </p:cNvSpPr>
            <p:nvPr/>
          </p:nvSpPr>
          <p:spPr bwMode="auto">
            <a:xfrm>
              <a:off x="2640" y="3840"/>
              <a:ext cx="754"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Block Size</a:t>
              </a:r>
            </a:p>
          </p:txBody>
        </p:sp>
      </p:grpSp>
      <p:grpSp>
        <p:nvGrpSpPr>
          <p:cNvPr id="4" name="Group 24"/>
          <p:cNvGrpSpPr>
            <a:grpSpLocks/>
          </p:cNvGrpSpPr>
          <p:nvPr/>
        </p:nvGrpSpPr>
        <p:grpSpPr bwMode="auto">
          <a:xfrm>
            <a:off x="6005513" y="2667000"/>
            <a:ext cx="2959100" cy="2422525"/>
            <a:chOff x="3800" y="2524"/>
            <a:chExt cx="1864" cy="1526"/>
          </a:xfrm>
        </p:grpSpPr>
        <p:sp>
          <p:nvSpPr>
            <p:cNvPr id="1132569" name="Line 25"/>
            <p:cNvSpPr>
              <a:spLocks noChangeShapeType="1"/>
            </p:cNvSpPr>
            <p:nvPr/>
          </p:nvSpPr>
          <p:spPr bwMode="auto">
            <a:xfrm>
              <a:off x="4080" y="2936"/>
              <a:ext cx="0" cy="896"/>
            </a:xfrm>
            <a:prstGeom prst="line">
              <a:avLst/>
            </a:prstGeom>
            <a:noFill/>
            <a:ln w="25400">
              <a:solidFill>
                <a:schemeClr val="tx1"/>
              </a:solidFill>
              <a:round/>
              <a:headEnd type="triangle" w="med" len="med"/>
              <a:tailEnd/>
            </a:ln>
            <a:effectLst/>
          </p:spPr>
          <p:txBody>
            <a:bodyPr wrap="none" anchor="ctr"/>
            <a:lstStyle/>
            <a:p>
              <a:endParaRPr lang="en-US"/>
            </a:p>
          </p:txBody>
        </p:sp>
        <p:sp>
          <p:nvSpPr>
            <p:cNvPr id="1132570" name="Line 26"/>
            <p:cNvSpPr>
              <a:spLocks noChangeShapeType="1"/>
            </p:cNvSpPr>
            <p:nvPr/>
          </p:nvSpPr>
          <p:spPr bwMode="auto">
            <a:xfrm>
              <a:off x="4088" y="3840"/>
              <a:ext cx="1096"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1132571" name="Rectangle 27"/>
            <p:cNvSpPr>
              <a:spLocks noChangeArrowheads="1"/>
            </p:cNvSpPr>
            <p:nvPr/>
          </p:nvSpPr>
          <p:spPr bwMode="auto">
            <a:xfrm>
              <a:off x="3800" y="2524"/>
              <a:ext cx="584" cy="425"/>
            </a:xfrm>
            <a:prstGeom prst="rect">
              <a:avLst/>
            </a:prstGeom>
            <a:noFill/>
            <a:ln w="12700">
              <a:noFill/>
              <a:miter lim="800000"/>
              <a:headEnd/>
              <a:tailEnd/>
            </a:ln>
            <a:effectLst/>
          </p:spPr>
          <p:txBody>
            <a:bodyPr wrap="none" lIns="63500" tIns="25400" rIns="63500" bIns="25400">
              <a:spAutoFit/>
            </a:bodyPr>
            <a:lstStyle/>
            <a:p>
              <a:pPr algn="ctr">
                <a:lnSpc>
                  <a:spcPct val="85000"/>
                </a:lnSpc>
              </a:pPr>
              <a:r>
                <a:rPr lang="en-US" sz="1600" b="1">
                  <a:solidFill>
                    <a:schemeClr val="tx1"/>
                  </a:solidFill>
                </a:rPr>
                <a:t>Average</a:t>
              </a:r>
            </a:p>
            <a:p>
              <a:pPr algn="ctr">
                <a:lnSpc>
                  <a:spcPct val="85000"/>
                </a:lnSpc>
              </a:pPr>
              <a:r>
                <a:rPr lang="en-US" sz="1600" b="1">
                  <a:solidFill>
                    <a:schemeClr val="tx1"/>
                  </a:solidFill>
                </a:rPr>
                <a:t>Access</a:t>
              </a:r>
            </a:p>
            <a:p>
              <a:pPr algn="ctr">
                <a:lnSpc>
                  <a:spcPct val="85000"/>
                </a:lnSpc>
              </a:pPr>
              <a:r>
                <a:rPr lang="en-US" sz="1600" b="1">
                  <a:solidFill>
                    <a:schemeClr val="tx1"/>
                  </a:solidFill>
                </a:rPr>
                <a:t>Time</a:t>
              </a:r>
            </a:p>
          </p:txBody>
        </p:sp>
        <p:sp>
          <p:nvSpPr>
            <p:cNvPr id="1132572" name="Line 28"/>
            <p:cNvSpPr>
              <a:spLocks noChangeShapeType="1"/>
            </p:cNvSpPr>
            <p:nvPr/>
          </p:nvSpPr>
          <p:spPr bwMode="auto">
            <a:xfrm>
              <a:off x="4184" y="3080"/>
              <a:ext cx="80" cy="320"/>
            </a:xfrm>
            <a:prstGeom prst="line">
              <a:avLst/>
            </a:prstGeom>
            <a:noFill/>
            <a:ln w="25400">
              <a:solidFill>
                <a:schemeClr val="accent2"/>
              </a:solidFill>
              <a:round/>
              <a:headEnd/>
              <a:tailEnd/>
            </a:ln>
            <a:effectLst/>
          </p:spPr>
          <p:txBody>
            <a:bodyPr wrap="none" anchor="ctr"/>
            <a:lstStyle/>
            <a:p>
              <a:endParaRPr lang="en-US"/>
            </a:p>
          </p:txBody>
        </p:sp>
        <p:sp>
          <p:nvSpPr>
            <p:cNvPr id="1132573" name="Line 29"/>
            <p:cNvSpPr>
              <a:spLocks noChangeShapeType="1"/>
            </p:cNvSpPr>
            <p:nvPr/>
          </p:nvSpPr>
          <p:spPr bwMode="auto">
            <a:xfrm>
              <a:off x="4280" y="3416"/>
              <a:ext cx="176" cy="272"/>
            </a:xfrm>
            <a:prstGeom prst="line">
              <a:avLst/>
            </a:prstGeom>
            <a:noFill/>
            <a:ln w="25400">
              <a:solidFill>
                <a:schemeClr val="accent2"/>
              </a:solidFill>
              <a:round/>
              <a:headEnd/>
              <a:tailEnd/>
            </a:ln>
            <a:effectLst/>
          </p:spPr>
          <p:txBody>
            <a:bodyPr wrap="none" anchor="ctr"/>
            <a:lstStyle/>
            <a:p>
              <a:endParaRPr lang="en-US"/>
            </a:p>
          </p:txBody>
        </p:sp>
        <p:sp>
          <p:nvSpPr>
            <p:cNvPr id="1132574" name="Line 30"/>
            <p:cNvSpPr>
              <a:spLocks noChangeShapeType="1"/>
            </p:cNvSpPr>
            <p:nvPr/>
          </p:nvSpPr>
          <p:spPr bwMode="auto">
            <a:xfrm>
              <a:off x="4472" y="3704"/>
              <a:ext cx="224" cy="32"/>
            </a:xfrm>
            <a:prstGeom prst="line">
              <a:avLst/>
            </a:prstGeom>
            <a:noFill/>
            <a:ln w="25400">
              <a:solidFill>
                <a:schemeClr val="accent2"/>
              </a:solidFill>
              <a:round/>
              <a:headEnd/>
              <a:tailEnd/>
            </a:ln>
            <a:effectLst/>
          </p:spPr>
          <p:txBody>
            <a:bodyPr wrap="none" anchor="ctr"/>
            <a:lstStyle/>
            <a:p>
              <a:endParaRPr lang="en-US"/>
            </a:p>
          </p:txBody>
        </p:sp>
        <p:sp>
          <p:nvSpPr>
            <p:cNvPr id="1132575" name="Line 31"/>
            <p:cNvSpPr>
              <a:spLocks noChangeShapeType="1"/>
            </p:cNvSpPr>
            <p:nvPr/>
          </p:nvSpPr>
          <p:spPr bwMode="auto">
            <a:xfrm flipV="1">
              <a:off x="4712" y="3640"/>
              <a:ext cx="176" cy="112"/>
            </a:xfrm>
            <a:prstGeom prst="line">
              <a:avLst/>
            </a:prstGeom>
            <a:noFill/>
            <a:ln w="25400">
              <a:solidFill>
                <a:schemeClr val="accent2"/>
              </a:solidFill>
              <a:round/>
              <a:headEnd/>
              <a:tailEnd/>
            </a:ln>
            <a:effectLst/>
          </p:spPr>
          <p:txBody>
            <a:bodyPr wrap="none" anchor="ctr"/>
            <a:lstStyle/>
            <a:p>
              <a:endParaRPr lang="en-US"/>
            </a:p>
          </p:txBody>
        </p:sp>
        <p:sp>
          <p:nvSpPr>
            <p:cNvPr id="1132576" name="Line 32"/>
            <p:cNvSpPr>
              <a:spLocks noChangeShapeType="1"/>
            </p:cNvSpPr>
            <p:nvPr/>
          </p:nvSpPr>
          <p:spPr bwMode="auto">
            <a:xfrm flipV="1">
              <a:off x="4904" y="3448"/>
              <a:ext cx="128" cy="208"/>
            </a:xfrm>
            <a:prstGeom prst="line">
              <a:avLst/>
            </a:prstGeom>
            <a:noFill/>
            <a:ln w="25400">
              <a:solidFill>
                <a:schemeClr val="accent2"/>
              </a:solidFill>
              <a:round/>
              <a:headEnd/>
              <a:tailEnd/>
            </a:ln>
            <a:effectLst/>
          </p:spPr>
          <p:txBody>
            <a:bodyPr wrap="none" anchor="ctr"/>
            <a:lstStyle/>
            <a:p>
              <a:endParaRPr lang="en-US"/>
            </a:p>
          </p:txBody>
        </p:sp>
        <p:sp>
          <p:nvSpPr>
            <p:cNvPr id="1132577" name="Line 33"/>
            <p:cNvSpPr>
              <a:spLocks noChangeShapeType="1"/>
            </p:cNvSpPr>
            <p:nvPr/>
          </p:nvSpPr>
          <p:spPr bwMode="auto">
            <a:xfrm flipH="1" flipV="1">
              <a:off x="4944" y="3360"/>
              <a:ext cx="4" cy="244"/>
            </a:xfrm>
            <a:prstGeom prst="line">
              <a:avLst/>
            </a:prstGeom>
            <a:noFill/>
            <a:ln w="12700">
              <a:solidFill>
                <a:schemeClr val="tx1"/>
              </a:solidFill>
              <a:round/>
              <a:headEnd/>
              <a:tailEnd/>
            </a:ln>
            <a:effectLst/>
          </p:spPr>
          <p:txBody>
            <a:bodyPr wrap="none" anchor="ctr"/>
            <a:lstStyle/>
            <a:p>
              <a:endParaRPr lang="en-US"/>
            </a:p>
          </p:txBody>
        </p:sp>
        <p:sp>
          <p:nvSpPr>
            <p:cNvPr id="1132578" name="Rectangle 34"/>
            <p:cNvSpPr>
              <a:spLocks noChangeArrowheads="1"/>
            </p:cNvSpPr>
            <p:nvPr/>
          </p:nvSpPr>
          <p:spPr bwMode="auto">
            <a:xfrm>
              <a:off x="4464" y="2928"/>
              <a:ext cx="1200" cy="425"/>
            </a:xfrm>
            <a:prstGeom prst="rect">
              <a:avLst/>
            </a:prstGeom>
            <a:noFill/>
            <a:ln w="12700">
              <a:noFill/>
              <a:miter lim="800000"/>
              <a:headEnd/>
              <a:tailEnd/>
            </a:ln>
            <a:effectLst/>
          </p:spPr>
          <p:txBody>
            <a:bodyPr lIns="63500" tIns="25400" rIns="63500" bIns="25400">
              <a:spAutoFit/>
            </a:bodyPr>
            <a:lstStyle/>
            <a:p>
              <a:pPr algn="ctr">
                <a:lnSpc>
                  <a:spcPct val="85000"/>
                </a:lnSpc>
              </a:pPr>
              <a:r>
                <a:rPr lang="en-US" sz="1600">
                  <a:solidFill>
                    <a:schemeClr val="tx1"/>
                  </a:solidFill>
                </a:rPr>
                <a:t>Increased Miss Penalty</a:t>
              </a:r>
            </a:p>
            <a:p>
              <a:pPr algn="ctr">
                <a:lnSpc>
                  <a:spcPct val="85000"/>
                </a:lnSpc>
              </a:pPr>
              <a:r>
                <a:rPr lang="en-US" sz="1600">
                  <a:solidFill>
                    <a:schemeClr val="tx1"/>
                  </a:solidFill>
                </a:rPr>
                <a:t>&amp; Miss Rate</a:t>
              </a:r>
            </a:p>
          </p:txBody>
        </p:sp>
        <p:sp>
          <p:nvSpPr>
            <p:cNvPr id="1132579" name="Rectangle 35"/>
            <p:cNvSpPr>
              <a:spLocks noChangeArrowheads="1"/>
            </p:cNvSpPr>
            <p:nvPr/>
          </p:nvSpPr>
          <p:spPr bwMode="auto">
            <a:xfrm>
              <a:off x="4464" y="3840"/>
              <a:ext cx="754" cy="210"/>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Block Size</a:t>
              </a:r>
            </a:p>
          </p:txBody>
        </p:sp>
      </p:grpSp>
      <p:sp>
        <p:nvSpPr>
          <p:cNvPr id="1132580" name="Rectangle 36"/>
          <p:cNvSpPr>
            <a:spLocks noChangeArrowheads="1"/>
          </p:cNvSpPr>
          <p:nvPr/>
        </p:nvSpPr>
        <p:spPr bwMode="auto">
          <a:xfrm>
            <a:off x="533400" y="5562600"/>
            <a:ext cx="8382000" cy="760413"/>
          </a:xfrm>
          <a:prstGeom prst="rect">
            <a:avLst/>
          </a:prstGeom>
          <a:noFill/>
          <a:ln w="12700">
            <a:noFill/>
            <a:miter lim="800000"/>
            <a:headEnd/>
            <a:tailEnd/>
          </a:ln>
          <a:effectLst/>
        </p:spPr>
        <p:txBody>
          <a:bodyPr lIns="63500" tIns="25400" rIns="63500" bIns="25400">
            <a:spAutoFit/>
          </a:bodyPr>
          <a:lstStyle/>
          <a:p>
            <a:pPr marL="287338" indent="-287338">
              <a:lnSpc>
                <a:spcPct val="90000"/>
              </a:lnSpc>
              <a:spcBef>
                <a:spcPct val="65000"/>
              </a:spcBef>
              <a:buClr>
                <a:schemeClr val="accent1"/>
              </a:buClr>
              <a:buSzPct val="75000"/>
              <a:buFont typeface="Wingdings" pitchFamily="2" charset="2"/>
              <a:buChar char="q"/>
            </a:pPr>
            <a:r>
              <a:rPr lang="en-US" sz="2400">
                <a:solidFill>
                  <a:schemeClr val="tx1"/>
                </a:solidFill>
              </a:rPr>
              <a:t>In general, </a:t>
            </a:r>
            <a:r>
              <a:rPr lang="en-US" sz="2400">
                <a:solidFill>
                  <a:schemeClr val="accent2"/>
                </a:solidFill>
              </a:rPr>
              <a:t>Average Memory Access Time</a:t>
            </a:r>
          </a:p>
          <a:p>
            <a:pPr marL="741363" lvl="1" indent="-246063">
              <a:lnSpc>
                <a:spcPct val="85000"/>
              </a:lnSpc>
              <a:spcBef>
                <a:spcPct val="40000"/>
              </a:spcBef>
              <a:buClr>
                <a:schemeClr val="accent1"/>
              </a:buClr>
              <a:buSzPct val="75000"/>
              <a:buFont typeface="Monotype Sorts" pitchFamily="2" charset="2"/>
              <a:buNone/>
            </a:pPr>
            <a:r>
              <a:rPr lang="en-US" sz="2000">
                <a:solidFill>
                  <a:schemeClr val="accent2"/>
                </a:solidFill>
              </a:rPr>
              <a:t>                   = Hit Time  +   Miss Penalty x Miss Rate</a:t>
            </a:r>
          </a:p>
        </p:txBody>
      </p:sp>
      <p:sp>
        <p:nvSpPr>
          <p:cNvPr id="1132581" name="Rectangle 37"/>
          <p:cNvSpPr>
            <a:spLocks noChangeArrowheads="1"/>
          </p:cNvSpPr>
          <p:nvPr/>
        </p:nvSpPr>
        <p:spPr bwMode="auto">
          <a:xfrm>
            <a:off x="304800" y="781050"/>
            <a:ext cx="8610600" cy="1147763"/>
          </a:xfrm>
          <a:prstGeom prst="rect">
            <a:avLst/>
          </a:prstGeom>
          <a:noFill/>
          <a:ln w="12700">
            <a:noFill/>
            <a:miter lim="800000"/>
            <a:headEnd/>
            <a:tailEnd/>
          </a:ln>
          <a:effectLst/>
        </p:spPr>
        <p:txBody>
          <a:bodyPr lIns="63500" tIns="25400" rIns="63500" bIns="25400">
            <a:spAutoFit/>
          </a:bodyPr>
          <a:lstStyle/>
          <a:p>
            <a:pPr marL="287338" indent="-287338">
              <a:lnSpc>
                <a:spcPct val="95000"/>
              </a:lnSpc>
              <a:spcBef>
                <a:spcPct val="25000"/>
              </a:spcBef>
              <a:buClr>
                <a:schemeClr val="accent1"/>
              </a:buClr>
              <a:buSzPct val="75000"/>
              <a:buFont typeface="Wingdings" pitchFamily="2" charset="2"/>
              <a:buChar char="q"/>
            </a:pPr>
            <a:r>
              <a:rPr lang="en-US" sz="2600" dirty="0">
                <a:solidFill>
                  <a:schemeClr val="tx1"/>
                </a:solidFill>
              </a:rPr>
              <a:t>Larger block sizes take advantage of spatial locality </a:t>
            </a:r>
            <a:r>
              <a:rPr lang="en-US" sz="2600" dirty="0"/>
              <a:t>but</a:t>
            </a:r>
            <a:endParaRPr lang="en-US" sz="2600" dirty="0">
              <a:solidFill>
                <a:schemeClr val="tx1"/>
              </a:solidFill>
            </a:endParaRPr>
          </a:p>
          <a:p>
            <a:pPr marL="741363" lvl="1" indent="-246063">
              <a:lnSpc>
                <a:spcPct val="95000"/>
              </a:lnSpc>
              <a:spcBef>
                <a:spcPct val="25000"/>
              </a:spcBef>
              <a:buClr>
                <a:schemeClr val="accent1"/>
              </a:buClr>
              <a:buSzPct val="75000"/>
              <a:buFont typeface="Monotype Sorts" pitchFamily="2" charset="2"/>
              <a:buChar char="l"/>
            </a:pPr>
            <a:r>
              <a:rPr lang="en-US" sz="2200" dirty="0">
                <a:solidFill>
                  <a:schemeClr val="tx1"/>
                </a:solidFill>
              </a:rPr>
              <a:t>If the block size is too big relative to the cache size, the miss rate will go up</a:t>
            </a:r>
          </a:p>
        </p:txBody>
      </p:sp>
    </p:spTree>
    <p:extLst>
      <p:ext uri="{BB962C8B-B14F-4D97-AF65-F5344CB8AC3E}">
        <p14:creationId xmlns:p14="http://schemas.microsoft.com/office/powerpoint/2010/main" val="7850457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2547">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2547">
                                            <p:txEl>
                                              <p:pRg st="1" end="1"/>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499"/>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132580"/>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47" grpId="0" build="p"/>
      <p:bldP spid="1132580"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346" name="Rectangle 2"/>
          <p:cNvSpPr>
            <a:spLocks noGrp="1" noChangeArrowheads="1"/>
          </p:cNvSpPr>
          <p:nvPr>
            <p:ph type="title"/>
          </p:nvPr>
        </p:nvSpPr>
        <p:spPr/>
        <p:txBody>
          <a:bodyPr/>
          <a:lstStyle/>
          <a:p>
            <a:r>
              <a:rPr lang="en-US"/>
              <a:t>Other Ways to Reduce Cache Miss Rates</a:t>
            </a:r>
          </a:p>
        </p:txBody>
      </p:sp>
      <p:sp>
        <p:nvSpPr>
          <p:cNvPr id="1209347" name="Rectangle 3"/>
          <p:cNvSpPr>
            <a:spLocks noGrp="1" noChangeArrowheads="1"/>
          </p:cNvSpPr>
          <p:nvPr>
            <p:ph type="body" idx="1"/>
          </p:nvPr>
        </p:nvSpPr>
        <p:spPr>
          <a:xfrm>
            <a:off x="685800" y="914400"/>
            <a:ext cx="8077200" cy="5283498"/>
          </a:xfrm>
        </p:spPr>
        <p:txBody>
          <a:bodyPr/>
          <a:lstStyle/>
          <a:p>
            <a:pPr marL="495300" indent="-495300"/>
            <a:r>
              <a:rPr lang="en-US" dirty="0"/>
              <a:t>Allow more flexible block placement</a:t>
            </a:r>
          </a:p>
          <a:p>
            <a:pPr marL="914400" lvl="1" indent="-419100"/>
            <a:r>
              <a:rPr lang="en-US" dirty="0"/>
              <a:t>In a </a:t>
            </a:r>
            <a:r>
              <a:rPr lang="en-US" dirty="0">
                <a:solidFill>
                  <a:schemeClr val="accent1"/>
                </a:solidFill>
              </a:rPr>
              <a:t>direct mapped</a:t>
            </a:r>
            <a:r>
              <a:rPr lang="en-US" dirty="0"/>
              <a:t> </a:t>
            </a:r>
            <a:r>
              <a:rPr lang="en-US" dirty="0">
                <a:solidFill>
                  <a:schemeClr val="accent1"/>
                </a:solidFill>
              </a:rPr>
              <a:t>cache</a:t>
            </a:r>
            <a:r>
              <a:rPr lang="en-US" dirty="0"/>
              <a:t> a memory block maps to exactly one cache block</a:t>
            </a:r>
          </a:p>
          <a:p>
            <a:pPr marL="914400" lvl="1" indent="-419100"/>
            <a:r>
              <a:rPr lang="en-US" dirty="0"/>
              <a:t>At the other extreme, could allow a memory block to be mapped to any cache block – </a:t>
            </a:r>
            <a:r>
              <a:rPr lang="en-US" dirty="0">
                <a:solidFill>
                  <a:schemeClr val="accent1"/>
                </a:solidFill>
              </a:rPr>
              <a:t>fully associative cache</a:t>
            </a:r>
          </a:p>
          <a:p>
            <a:pPr marL="914400" lvl="1" indent="-419100"/>
            <a:r>
              <a:rPr lang="en-US" dirty="0"/>
              <a:t>A compromise is to divide the cache into </a:t>
            </a:r>
            <a:r>
              <a:rPr lang="en-US" dirty="0">
                <a:solidFill>
                  <a:schemeClr val="accent1"/>
                </a:solidFill>
              </a:rPr>
              <a:t>sets</a:t>
            </a:r>
            <a:r>
              <a:rPr lang="en-US" dirty="0"/>
              <a:t> each of which consists of n “ways</a:t>
            </a:r>
            <a:r>
              <a:rPr lang="en-US" dirty="0" smtClean="0"/>
              <a:t>” – </a:t>
            </a:r>
            <a:r>
              <a:rPr lang="en-US" dirty="0" smtClean="0">
                <a:solidFill>
                  <a:schemeClr val="accent1"/>
                </a:solidFill>
              </a:rPr>
              <a:t>n-way </a:t>
            </a:r>
            <a:r>
              <a:rPr lang="en-US" dirty="0">
                <a:solidFill>
                  <a:schemeClr val="accent1"/>
                </a:solidFill>
              </a:rPr>
              <a:t>set </a:t>
            </a:r>
            <a:r>
              <a:rPr lang="en-US" dirty="0" smtClean="0">
                <a:solidFill>
                  <a:schemeClr val="accent1"/>
                </a:solidFill>
              </a:rPr>
              <a:t>associative</a:t>
            </a:r>
            <a:r>
              <a:rPr lang="en-US" dirty="0">
                <a:solidFill>
                  <a:schemeClr val="accent1"/>
                </a:solidFill>
              </a:rPr>
              <a:t> </a:t>
            </a:r>
            <a:r>
              <a:rPr lang="en-US" dirty="0" smtClean="0">
                <a:solidFill>
                  <a:schemeClr val="accent1"/>
                </a:solidFill>
              </a:rPr>
              <a:t>cache</a:t>
            </a:r>
            <a:endParaRPr lang="en-US" dirty="0">
              <a:solidFill>
                <a:schemeClr val="accent1"/>
              </a:solidFill>
            </a:endParaRPr>
          </a:p>
          <a:p>
            <a:pPr marL="495300" indent="-495300"/>
            <a:r>
              <a:rPr lang="en-US" dirty="0"/>
              <a:t>Use multiple levels of caches</a:t>
            </a:r>
          </a:p>
          <a:p>
            <a:pPr marL="914400" lvl="1" indent="-419100"/>
            <a:r>
              <a:rPr lang="en-US" dirty="0"/>
              <a:t>Add a second level of caches on chip – normally a </a:t>
            </a:r>
            <a:r>
              <a:rPr lang="en-US" dirty="0">
                <a:solidFill>
                  <a:schemeClr val="accent1"/>
                </a:solidFill>
              </a:rPr>
              <a:t>unified</a:t>
            </a:r>
            <a:r>
              <a:rPr lang="en-US" dirty="0"/>
              <a:t> L2 cache </a:t>
            </a:r>
            <a:r>
              <a:rPr lang="en-US" dirty="0" smtClean="0"/>
              <a:t>(it </a:t>
            </a:r>
            <a:r>
              <a:rPr lang="en-US" dirty="0"/>
              <a:t>holds both instructions and data)</a:t>
            </a:r>
          </a:p>
          <a:p>
            <a:pPr marL="1350963" lvl="2" indent="-381000"/>
            <a:r>
              <a:rPr lang="en-US" dirty="0"/>
              <a:t>L1 caches focuses on </a:t>
            </a:r>
            <a:r>
              <a:rPr lang="en-US" dirty="0">
                <a:solidFill>
                  <a:schemeClr val="accent1"/>
                </a:solidFill>
              </a:rPr>
              <a:t>minimizing hit time</a:t>
            </a:r>
            <a:r>
              <a:rPr lang="en-US" dirty="0"/>
              <a:t> in support of a </a:t>
            </a:r>
            <a:r>
              <a:rPr lang="en-US" dirty="0" smtClean="0"/>
              <a:t>faster clock </a:t>
            </a:r>
            <a:r>
              <a:rPr lang="en-US" dirty="0"/>
              <a:t>cycle (</a:t>
            </a:r>
            <a:r>
              <a:rPr lang="en-US" dirty="0" smtClean="0"/>
              <a:t>so smaller </a:t>
            </a:r>
            <a:r>
              <a:rPr lang="en-US" dirty="0"/>
              <a:t>with smaller block sizes)</a:t>
            </a:r>
          </a:p>
          <a:p>
            <a:pPr marL="1350963" lvl="2" indent="-381000"/>
            <a:r>
              <a:rPr lang="en-US" dirty="0"/>
              <a:t>L2 cache focuses on </a:t>
            </a:r>
            <a:r>
              <a:rPr lang="en-US" dirty="0">
                <a:solidFill>
                  <a:schemeClr val="accent1"/>
                </a:solidFill>
              </a:rPr>
              <a:t>reducing miss rate</a:t>
            </a:r>
            <a:r>
              <a:rPr lang="en-US" dirty="0"/>
              <a:t> to reduce the penalty of long main memory access times </a:t>
            </a:r>
            <a:r>
              <a:rPr lang="en-US" dirty="0" smtClean="0"/>
              <a:t>(so larger </a:t>
            </a:r>
            <a:r>
              <a:rPr lang="en-US" dirty="0"/>
              <a:t>with larger block sizes)</a:t>
            </a:r>
          </a:p>
        </p:txBody>
      </p:sp>
    </p:spTree>
    <p:extLst>
      <p:ext uri="{BB962C8B-B14F-4D97-AF65-F5344CB8AC3E}">
        <p14:creationId xmlns:p14="http://schemas.microsoft.com/office/powerpoint/2010/main" val="19625278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093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093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093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0934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093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0934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0934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093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934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8338" name="Rectangle 2"/>
          <p:cNvSpPr>
            <a:spLocks noGrp="1" noChangeArrowheads="1"/>
          </p:cNvSpPr>
          <p:nvPr>
            <p:ph type="title"/>
          </p:nvPr>
        </p:nvSpPr>
        <p:spPr/>
        <p:txBody>
          <a:bodyPr/>
          <a:lstStyle/>
          <a:p>
            <a:r>
              <a:rPr lang="en-US"/>
              <a:t>Reducing Cache Miss Rates #1</a:t>
            </a:r>
          </a:p>
        </p:txBody>
      </p:sp>
      <p:sp>
        <p:nvSpPr>
          <p:cNvPr id="1678339" name="Rectangle 3"/>
          <p:cNvSpPr>
            <a:spLocks noGrp="1" noChangeArrowheads="1"/>
          </p:cNvSpPr>
          <p:nvPr>
            <p:ph type="body" idx="1"/>
          </p:nvPr>
        </p:nvSpPr>
        <p:spPr>
          <a:xfrm>
            <a:off x="533400" y="914400"/>
            <a:ext cx="8153400" cy="4480201"/>
          </a:xfrm>
        </p:spPr>
        <p:txBody>
          <a:bodyPr/>
          <a:lstStyle/>
          <a:p>
            <a:pPr marL="457200" indent="-457200">
              <a:buFont typeface="Wingdings" pitchFamily="2" charset="2"/>
              <a:buAutoNum type="arabicPeriod"/>
            </a:pPr>
            <a:r>
              <a:rPr lang="en-US" dirty="0"/>
              <a:t>Allow more flexible block </a:t>
            </a:r>
            <a:r>
              <a:rPr lang="en-US" dirty="0" smtClean="0"/>
              <a:t>placement</a:t>
            </a:r>
            <a:endParaRPr lang="en-US" dirty="0"/>
          </a:p>
          <a:p>
            <a:pPr marL="457200" indent="-457200"/>
            <a:r>
              <a:rPr lang="en-US" dirty="0"/>
              <a:t>In a </a:t>
            </a:r>
            <a:r>
              <a:rPr lang="en-US" dirty="0">
                <a:solidFill>
                  <a:schemeClr val="accent1"/>
                </a:solidFill>
              </a:rPr>
              <a:t>direct mapped</a:t>
            </a:r>
            <a:r>
              <a:rPr lang="en-US" dirty="0"/>
              <a:t> </a:t>
            </a:r>
            <a:r>
              <a:rPr lang="en-US" dirty="0">
                <a:solidFill>
                  <a:schemeClr val="accent1"/>
                </a:solidFill>
              </a:rPr>
              <a:t>cache</a:t>
            </a:r>
            <a:r>
              <a:rPr lang="en-US" dirty="0"/>
              <a:t> a memory block maps to exactly one cache block</a:t>
            </a:r>
          </a:p>
          <a:p>
            <a:pPr marL="457200" indent="-457200"/>
            <a:r>
              <a:rPr lang="en-US" dirty="0"/>
              <a:t>At the other extreme, could allow a memory block to be mapped to any cache block – </a:t>
            </a:r>
            <a:r>
              <a:rPr lang="en-US" dirty="0">
                <a:solidFill>
                  <a:schemeClr val="accent1"/>
                </a:solidFill>
              </a:rPr>
              <a:t>fully associative </a:t>
            </a:r>
            <a:r>
              <a:rPr lang="en-US" dirty="0" smtClean="0">
                <a:solidFill>
                  <a:schemeClr val="accent1"/>
                </a:solidFill>
              </a:rPr>
              <a:t>cache</a:t>
            </a:r>
            <a:endParaRPr lang="en-US" dirty="0">
              <a:solidFill>
                <a:schemeClr val="accent1"/>
              </a:solidFill>
            </a:endParaRPr>
          </a:p>
          <a:p>
            <a:pPr marL="457200" indent="-457200"/>
            <a:r>
              <a:rPr lang="en-US" dirty="0"/>
              <a:t>A compromise is to divide the cache into </a:t>
            </a:r>
            <a:r>
              <a:rPr lang="en-US" dirty="0">
                <a:solidFill>
                  <a:schemeClr val="accent1"/>
                </a:solidFill>
              </a:rPr>
              <a:t>sets</a:t>
            </a:r>
            <a:r>
              <a:rPr lang="en-US" dirty="0"/>
              <a:t> each of which consists of n “ways” (</a:t>
            </a:r>
            <a:r>
              <a:rPr lang="en-US" dirty="0">
                <a:solidFill>
                  <a:schemeClr val="accent1"/>
                </a:solidFill>
              </a:rPr>
              <a:t>n-way set associative</a:t>
            </a:r>
            <a:r>
              <a:rPr lang="en-US" dirty="0"/>
              <a:t>).  A memory block maps to a unique set (specified by the index field) and can be placed in any way of that set (so there are n choices)</a:t>
            </a:r>
            <a:endParaRPr lang="en-US" dirty="0">
              <a:solidFill>
                <a:schemeClr val="accent1"/>
              </a:solidFill>
            </a:endParaRPr>
          </a:p>
          <a:p>
            <a:pPr marL="876300" lvl="1" indent="-381000" algn="ctr">
              <a:buFont typeface="Monotype Sorts" pitchFamily="2" charset="2"/>
              <a:buNone/>
            </a:pPr>
            <a:r>
              <a:rPr lang="en-US" dirty="0">
                <a:solidFill>
                  <a:schemeClr val="accent2"/>
                </a:solidFill>
              </a:rPr>
              <a:t>(block address) modulo (# sets in the cache)</a:t>
            </a:r>
          </a:p>
        </p:txBody>
      </p:sp>
    </p:spTree>
    <p:extLst>
      <p:ext uri="{BB962C8B-B14F-4D97-AF65-F5344CB8AC3E}">
        <p14:creationId xmlns:p14="http://schemas.microsoft.com/office/powerpoint/2010/main" val="10039213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783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783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783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78339">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783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8339"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62" name="Rectangle 2"/>
          <p:cNvSpPr>
            <a:spLocks noGrp="1" noChangeArrowheads="1"/>
          </p:cNvSpPr>
          <p:nvPr>
            <p:ph type="title"/>
          </p:nvPr>
        </p:nvSpPr>
        <p:spPr/>
        <p:txBody>
          <a:bodyPr/>
          <a:lstStyle/>
          <a:p>
            <a:r>
              <a:rPr lang="en-US"/>
              <a:t>Set Associative Cache Example</a:t>
            </a:r>
          </a:p>
        </p:txBody>
      </p:sp>
      <p:grpSp>
        <p:nvGrpSpPr>
          <p:cNvPr id="1679363" name="Group 3"/>
          <p:cNvGrpSpPr>
            <a:grpSpLocks/>
          </p:cNvGrpSpPr>
          <p:nvPr/>
        </p:nvGrpSpPr>
        <p:grpSpPr bwMode="auto">
          <a:xfrm>
            <a:off x="2209800" y="2057400"/>
            <a:ext cx="990600" cy="1219200"/>
            <a:chOff x="1344" y="1056"/>
            <a:chExt cx="624" cy="768"/>
          </a:xfrm>
        </p:grpSpPr>
        <p:sp>
          <p:nvSpPr>
            <p:cNvPr id="1679364"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65" name="Line 5"/>
            <p:cNvSpPr>
              <a:spLocks noChangeShapeType="1"/>
            </p:cNvSpPr>
            <p:nvPr/>
          </p:nvSpPr>
          <p:spPr bwMode="auto">
            <a:xfrm>
              <a:off x="1344" y="1440"/>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66" name="Line 6"/>
            <p:cNvSpPr>
              <a:spLocks noChangeShapeType="1"/>
            </p:cNvSpPr>
            <p:nvPr/>
          </p:nvSpPr>
          <p:spPr bwMode="auto">
            <a:xfrm>
              <a:off x="1344" y="124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67" name="Line 7"/>
            <p:cNvSpPr>
              <a:spLocks noChangeShapeType="1"/>
            </p:cNvSpPr>
            <p:nvPr/>
          </p:nvSpPr>
          <p:spPr bwMode="auto">
            <a:xfrm>
              <a:off x="1344" y="163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679368" name="Line 8"/>
          <p:cNvSpPr>
            <a:spLocks noChangeShapeType="1"/>
          </p:cNvSpPr>
          <p:nvPr/>
        </p:nvSpPr>
        <p:spPr bwMode="auto">
          <a:xfrm>
            <a:off x="4267200" y="14478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69" name="Line 9"/>
          <p:cNvSpPr>
            <a:spLocks noChangeShapeType="1"/>
          </p:cNvSpPr>
          <p:nvPr/>
        </p:nvSpPr>
        <p:spPr bwMode="auto">
          <a:xfrm>
            <a:off x="4267200" y="11430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70" name="Line 10"/>
          <p:cNvSpPr>
            <a:spLocks noChangeShapeType="1"/>
          </p:cNvSpPr>
          <p:nvPr/>
        </p:nvSpPr>
        <p:spPr bwMode="auto">
          <a:xfrm>
            <a:off x="4267200" y="17526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71" name="Line 11"/>
          <p:cNvSpPr>
            <a:spLocks noChangeShapeType="1"/>
          </p:cNvSpPr>
          <p:nvPr/>
        </p:nvSpPr>
        <p:spPr bwMode="auto">
          <a:xfrm>
            <a:off x="4267200" y="8382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72" name="Line 12"/>
          <p:cNvSpPr>
            <a:spLocks noChangeShapeType="1"/>
          </p:cNvSpPr>
          <p:nvPr/>
        </p:nvSpPr>
        <p:spPr bwMode="auto">
          <a:xfrm>
            <a:off x="4267200" y="838200"/>
            <a:ext cx="0" cy="3657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73" name="Line 13"/>
          <p:cNvSpPr>
            <a:spLocks noChangeShapeType="1"/>
          </p:cNvSpPr>
          <p:nvPr/>
        </p:nvSpPr>
        <p:spPr bwMode="auto">
          <a:xfrm>
            <a:off x="5257800" y="838200"/>
            <a:ext cx="0" cy="3657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74" name="Line 14"/>
          <p:cNvSpPr>
            <a:spLocks noChangeShapeType="1"/>
          </p:cNvSpPr>
          <p:nvPr/>
        </p:nvSpPr>
        <p:spPr bwMode="auto">
          <a:xfrm flipH="1" flipV="1">
            <a:off x="4267200" y="51054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75" name="Line 15"/>
          <p:cNvSpPr>
            <a:spLocks noChangeShapeType="1"/>
          </p:cNvSpPr>
          <p:nvPr/>
        </p:nvSpPr>
        <p:spPr bwMode="auto">
          <a:xfrm flipH="1" flipV="1">
            <a:off x="4267200" y="54102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76" name="Line 16"/>
          <p:cNvSpPr>
            <a:spLocks noChangeShapeType="1"/>
          </p:cNvSpPr>
          <p:nvPr/>
        </p:nvSpPr>
        <p:spPr bwMode="auto">
          <a:xfrm flipH="1" flipV="1">
            <a:off x="4267200" y="48006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77" name="Line 17"/>
          <p:cNvSpPr>
            <a:spLocks noChangeShapeType="1"/>
          </p:cNvSpPr>
          <p:nvPr/>
        </p:nvSpPr>
        <p:spPr bwMode="auto">
          <a:xfrm flipH="1" flipV="1">
            <a:off x="4267200" y="57150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78" name="Line 18"/>
          <p:cNvSpPr>
            <a:spLocks noChangeShapeType="1"/>
          </p:cNvSpPr>
          <p:nvPr/>
        </p:nvSpPr>
        <p:spPr bwMode="auto">
          <a:xfrm flipH="1" flipV="1">
            <a:off x="5257800" y="4495800"/>
            <a:ext cx="0" cy="1219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79" name="Text Box 19"/>
          <p:cNvSpPr txBox="1">
            <a:spLocks noChangeArrowheads="1"/>
          </p:cNvSpPr>
          <p:nvPr/>
        </p:nvSpPr>
        <p:spPr bwMode="auto">
          <a:xfrm>
            <a:off x="892175" y="20177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0</a:t>
            </a:r>
          </a:p>
        </p:txBody>
      </p:sp>
      <p:sp>
        <p:nvSpPr>
          <p:cNvPr id="1679383" name="Text Box 23"/>
          <p:cNvSpPr txBox="1">
            <a:spLocks noChangeArrowheads="1"/>
          </p:cNvSpPr>
          <p:nvPr/>
        </p:nvSpPr>
        <p:spPr bwMode="auto">
          <a:xfrm>
            <a:off x="457200" y="114300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tx1"/>
                </a:solidFill>
              </a:rPr>
              <a:t>Cache</a:t>
            </a:r>
          </a:p>
        </p:txBody>
      </p:sp>
      <p:sp>
        <p:nvSpPr>
          <p:cNvPr id="1679384" name="Text Box 24"/>
          <p:cNvSpPr txBox="1">
            <a:spLocks noChangeArrowheads="1"/>
          </p:cNvSpPr>
          <p:nvPr/>
        </p:nvSpPr>
        <p:spPr bwMode="auto">
          <a:xfrm>
            <a:off x="5715000" y="609600"/>
            <a:ext cx="1644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tx1"/>
                </a:solidFill>
              </a:rPr>
              <a:t>Main Memory</a:t>
            </a:r>
          </a:p>
        </p:txBody>
      </p:sp>
      <p:sp>
        <p:nvSpPr>
          <p:cNvPr id="1679385" name="Text Box 25"/>
          <p:cNvSpPr txBox="1">
            <a:spLocks noChangeArrowheads="1"/>
          </p:cNvSpPr>
          <p:nvPr/>
        </p:nvSpPr>
        <p:spPr bwMode="auto">
          <a:xfrm>
            <a:off x="6172200" y="3124200"/>
            <a:ext cx="27432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a:solidFill>
                  <a:schemeClr val="tx1"/>
                </a:solidFill>
              </a:rPr>
              <a:t>Q2: How do we find it?</a:t>
            </a:r>
          </a:p>
          <a:p>
            <a:endParaRPr lang="en-US" sz="2000"/>
          </a:p>
          <a:p>
            <a:r>
              <a:rPr lang="en-US" sz="2000">
                <a:solidFill>
                  <a:schemeClr val="tx1"/>
                </a:solidFill>
              </a:rPr>
              <a:t>Use</a:t>
            </a:r>
            <a:r>
              <a:rPr lang="en-US" sz="2000"/>
              <a:t> next 1 low order memory address bit</a:t>
            </a:r>
            <a:r>
              <a:rPr lang="en-US" sz="2000">
                <a:solidFill>
                  <a:schemeClr val="tx1"/>
                </a:solidFill>
              </a:rPr>
              <a:t> to determine which cache set (i.e., modulo the number of sets in the cache)</a:t>
            </a:r>
          </a:p>
        </p:txBody>
      </p:sp>
      <p:sp>
        <p:nvSpPr>
          <p:cNvPr id="1679386" name="Line 26"/>
          <p:cNvSpPr>
            <a:spLocks noChangeShapeType="1"/>
          </p:cNvSpPr>
          <p:nvPr/>
        </p:nvSpPr>
        <p:spPr bwMode="auto">
          <a:xfrm>
            <a:off x="4267200" y="20574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87" name="Line 27"/>
          <p:cNvSpPr>
            <a:spLocks noChangeShapeType="1"/>
          </p:cNvSpPr>
          <p:nvPr/>
        </p:nvSpPr>
        <p:spPr bwMode="auto">
          <a:xfrm>
            <a:off x="4267200" y="23622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88" name="Line 28"/>
          <p:cNvSpPr>
            <a:spLocks noChangeShapeType="1"/>
          </p:cNvSpPr>
          <p:nvPr/>
        </p:nvSpPr>
        <p:spPr bwMode="auto">
          <a:xfrm>
            <a:off x="4267200" y="26670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89" name="Line 29"/>
          <p:cNvSpPr>
            <a:spLocks noChangeShapeType="1"/>
          </p:cNvSpPr>
          <p:nvPr/>
        </p:nvSpPr>
        <p:spPr bwMode="auto">
          <a:xfrm>
            <a:off x="4267200" y="29718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90" name="Line 30"/>
          <p:cNvSpPr>
            <a:spLocks noChangeShapeType="1"/>
          </p:cNvSpPr>
          <p:nvPr/>
        </p:nvSpPr>
        <p:spPr bwMode="auto">
          <a:xfrm>
            <a:off x="4267200" y="32766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91" name="Line 31"/>
          <p:cNvSpPr>
            <a:spLocks noChangeShapeType="1"/>
          </p:cNvSpPr>
          <p:nvPr/>
        </p:nvSpPr>
        <p:spPr bwMode="auto">
          <a:xfrm>
            <a:off x="4267200" y="35814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92" name="Line 32"/>
          <p:cNvSpPr>
            <a:spLocks noChangeShapeType="1"/>
          </p:cNvSpPr>
          <p:nvPr/>
        </p:nvSpPr>
        <p:spPr bwMode="auto">
          <a:xfrm>
            <a:off x="4267200" y="44958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93" name="Line 33"/>
          <p:cNvSpPr>
            <a:spLocks noChangeShapeType="1"/>
          </p:cNvSpPr>
          <p:nvPr/>
        </p:nvSpPr>
        <p:spPr bwMode="auto">
          <a:xfrm>
            <a:off x="4267200" y="38862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94" name="Line 34"/>
          <p:cNvSpPr>
            <a:spLocks noChangeShapeType="1"/>
          </p:cNvSpPr>
          <p:nvPr/>
        </p:nvSpPr>
        <p:spPr bwMode="auto">
          <a:xfrm>
            <a:off x="4267200" y="41910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679395" name="Group 35"/>
          <p:cNvGrpSpPr>
            <a:grpSpLocks/>
          </p:cNvGrpSpPr>
          <p:nvPr/>
        </p:nvGrpSpPr>
        <p:grpSpPr bwMode="auto">
          <a:xfrm>
            <a:off x="1600200" y="2057400"/>
            <a:ext cx="609600" cy="1219200"/>
            <a:chOff x="1344" y="1056"/>
            <a:chExt cx="624" cy="768"/>
          </a:xfrm>
        </p:grpSpPr>
        <p:sp>
          <p:nvSpPr>
            <p:cNvPr id="1679396" name="Rectangle 36"/>
            <p:cNvSpPr>
              <a:spLocks noChangeArrowheads="1"/>
            </p:cNvSpPr>
            <p:nvPr/>
          </p:nvSpPr>
          <p:spPr bwMode="auto">
            <a:xfrm>
              <a:off x="1344" y="1056"/>
              <a:ext cx="624" cy="7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97" name="Line 37"/>
            <p:cNvSpPr>
              <a:spLocks noChangeShapeType="1"/>
            </p:cNvSpPr>
            <p:nvPr/>
          </p:nvSpPr>
          <p:spPr bwMode="auto">
            <a:xfrm>
              <a:off x="1344" y="1440"/>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98" name="Line 38"/>
            <p:cNvSpPr>
              <a:spLocks noChangeShapeType="1"/>
            </p:cNvSpPr>
            <p:nvPr/>
          </p:nvSpPr>
          <p:spPr bwMode="auto">
            <a:xfrm>
              <a:off x="1344" y="124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99" name="Line 39"/>
            <p:cNvSpPr>
              <a:spLocks noChangeShapeType="1"/>
            </p:cNvSpPr>
            <p:nvPr/>
          </p:nvSpPr>
          <p:spPr bwMode="auto">
            <a:xfrm>
              <a:off x="1344" y="163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679400" name="Text Box 40"/>
          <p:cNvSpPr txBox="1">
            <a:spLocks noChangeArrowheads="1"/>
          </p:cNvSpPr>
          <p:nvPr/>
        </p:nvSpPr>
        <p:spPr bwMode="auto">
          <a:xfrm>
            <a:off x="1600200" y="1600200"/>
            <a:ext cx="577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accent2"/>
                </a:solidFill>
              </a:rPr>
              <a:t>Tag</a:t>
            </a:r>
          </a:p>
        </p:txBody>
      </p:sp>
      <p:sp>
        <p:nvSpPr>
          <p:cNvPr id="1679401" name="Text Box 41"/>
          <p:cNvSpPr txBox="1">
            <a:spLocks noChangeArrowheads="1"/>
          </p:cNvSpPr>
          <p:nvPr/>
        </p:nvSpPr>
        <p:spPr bwMode="auto">
          <a:xfrm>
            <a:off x="2362200" y="1600200"/>
            <a:ext cx="666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Data</a:t>
            </a:r>
          </a:p>
        </p:txBody>
      </p:sp>
      <p:sp>
        <p:nvSpPr>
          <p:cNvPr id="1679402" name="Rectangle 42" descr="5%"/>
          <p:cNvSpPr>
            <a:spLocks noChangeArrowheads="1"/>
          </p:cNvSpPr>
          <p:nvPr/>
        </p:nvSpPr>
        <p:spPr bwMode="auto">
          <a:xfrm>
            <a:off x="4267200" y="838200"/>
            <a:ext cx="990600" cy="304800"/>
          </a:xfrm>
          <a:prstGeom prst="rect">
            <a:avLst/>
          </a:prstGeom>
          <a:pattFill prst="pct5">
            <a:fgClr>
              <a:schemeClr val="accent1"/>
            </a:fgClr>
            <a:bgClr>
              <a:srgbClr val="FFFFFF"/>
            </a:bgClr>
          </a:patt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03" name="Rectangle 43" descr="10%"/>
          <p:cNvSpPr>
            <a:spLocks noChangeArrowheads="1"/>
          </p:cNvSpPr>
          <p:nvPr/>
        </p:nvSpPr>
        <p:spPr bwMode="auto">
          <a:xfrm>
            <a:off x="2209800" y="2057400"/>
            <a:ext cx="990600" cy="304800"/>
          </a:xfrm>
          <a:prstGeom prst="rect">
            <a:avLst/>
          </a:prstGeom>
          <a:pattFill prst="pct10">
            <a:fgClr>
              <a:schemeClr val="accent1"/>
            </a:fgClr>
            <a:bgClr>
              <a:srgbClr val="FFFFFF"/>
            </a:bgClr>
          </a:patt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04" name="Rectangle 44" descr="5%"/>
          <p:cNvSpPr>
            <a:spLocks noChangeArrowheads="1"/>
          </p:cNvSpPr>
          <p:nvPr/>
        </p:nvSpPr>
        <p:spPr bwMode="auto">
          <a:xfrm>
            <a:off x="4267200" y="2057400"/>
            <a:ext cx="990600" cy="304800"/>
          </a:xfrm>
          <a:prstGeom prst="rect">
            <a:avLst/>
          </a:prstGeom>
          <a:pattFill prst="pct5">
            <a:fgClr>
              <a:schemeClr val="accent1"/>
            </a:fgClr>
            <a:bgClr>
              <a:srgbClr val="FFFFFF"/>
            </a:bgClr>
          </a:patt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05" name="Rectangle 45" descr="5%"/>
          <p:cNvSpPr>
            <a:spLocks noChangeArrowheads="1"/>
          </p:cNvSpPr>
          <p:nvPr/>
        </p:nvSpPr>
        <p:spPr bwMode="auto">
          <a:xfrm>
            <a:off x="4267200" y="3276600"/>
            <a:ext cx="990600" cy="304800"/>
          </a:xfrm>
          <a:prstGeom prst="rect">
            <a:avLst/>
          </a:prstGeom>
          <a:pattFill prst="pct5">
            <a:fgClr>
              <a:schemeClr val="accent1"/>
            </a:fgClr>
            <a:bgClr>
              <a:srgbClr val="FFFFFF"/>
            </a:bgClr>
          </a:patt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06" name="Rectangle 46" descr="5%"/>
          <p:cNvSpPr>
            <a:spLocks noChangeArrowheads="1"/>
          </p:cNvSpPr>
          <p:nvPr/>
        </p:nvSpPr>
        <p:spPr bwMode="auto">
          <a:xfrm>
            <a:off x="4267200" y="4495800"/>
            <a:ext cx="990600" cy="304800"/>
          </a:xfrm>
          <a:prstGeom prst="rect">
            <a:avLst/>
          </a:prstGeom>
          <a:pattFill prst="pct5">
            <a:fgClr>
              <a:schemeClr val="accent1"/>
            </a:fgClr>
            <a:bgClr>
              <a:srgbClr val="FFFFFF"/>
            </a:bgClr>
          </a:patt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07" name="Rectangle 47" descr="5%"/>
          <p:cNvSpPr>
            <a:spLocks noChangeArrowheads="1"/>
          </p:cNvSpPr>
          <p:nvPr/>
        </p:nvSpPr>
        <p:spPr bwMode="auto">
          <a:xfrm>
            <a:off x="4267200" y="5410200"/>
            <a:ext cx="990600" cy="304800"/>
          </a:xfrm>
          <a:prstGeom prst="rect">
            <a:avLst/>
          </a:prstGeom>
          <a:pattFill prst="pct5">
            <a:fgClr>
              <a:srgbClr val="009900"/>
            </a:fgClr>
            <a:bgClr>
              <a:srgbClr val="FFFFFF"/>
            </a:bgClr>
          </a:pattFill>
          <a:ln w="12700">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08" name="Rectangle 48" descr="5%"/>
          <p:cNvSpPr>
            <a:spLocks noChangeArrowheads="1"/>
          </p:cNvSpPr>
          <p:nvPr/>
        </p:nvSpPr>
        <p:spPr bwMode="auto">
          <a:xfrm>
            <a:off x="4267200" y="4191000"/>
            <a:ext cx="990600" cy="304800"/>
          </a:xfrm>
          <a:prstGeom prst="rect">
            <a:avLst/>
          </a:prstGeom>
          <a:pattFill prst="pct5">
            <a:fgClr>
              <a:srgbClr val="009900"/>
            </a:fgClr>
            <a:bgClr>
              <a:srgbClr val="FFFFFF"/>
            </a:bgClr>
          </a:pattFill>
          <a:ln w="12700">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09" name="Rectangle 49" descr="5%"/>
          <p:cNvSpPr>
            <a:spLocks noChangeArrowheads="1"/>
          </p:cNvSpPr>
          <p:nvPr/>
        </p:nvSpPr>
        <p:spPr bwMode="auto">
          <a:xfrm>
            <a:off x="4267200" y="2971800"/>
            <a:ext cx="990600" cy="304800"/>
          </a:xfrm>
          <a:prstGeom prst="rect">
            <a:avLst/>
          </a:prstGeom>
          <a:pattFill prst="pct5">
            <a:fgClr>
              <a:srgbClr val="009900"/>
            </a:fgClr>
            <a:bgClr>
              <a:srgbClr val="FFFFFF"/>
            </a:bgClr>
          </a:pattFill>
          <a:ln w="12700">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10" name="Rectangle 50" descr="5%"/>
          <p:cNvSpPr>
            <a:spLocks noChangeArrowheads="1"/>
          </p:cNvSpPr>
          <p:nvPr/>
        </p:nvSpPr>
        <p:spPr bwMode="auto">
          <a:xfrm>
            <a:off x="4267200" y="1752600"/>
            <a:ext cx="990600" cy="304800"/>
          </a:xfrm>
          <a:prstGeom prst="rect">
            <a:avLst/>
          </a:prstGeom>
          <a:pattFill prst="pct5">
            <a:fgClr>
              <a:srgbClr val="009900"/>
            </a:fgClr>
            <a:bgClr>
              <a:srgbClr val="FFFFFF"/>
            </a:bgClr>
          </a:pattFill>
          <a:ln w="12700">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11" name="Rectangle 51" descr="5%"/>
          <p:cNvSpPr>
            <a:spLocks noChangeArrowheads="1"/>
          </p:cNvSpPr>
          <p:nvPr/>
        </p:nvSpPr>
        <p:spPr bwMode="auto">
          <a:xfrm>
            <a:off x="2209800" y="2362200"/>
            <a:ext cx="990600" cy="304800"/>
          </a:xfrm>
          <a:prstGeom prst="rect">
            <a:avLst/>
          </a:prstGeom>
          <a:pattFill prst="pct5">
            <a:fgClr>
              <a:srgbClr val="009900"/>
            </a:fgClr>
            <a:bgClr>
              <a:srgbClr val="FFFFFF"/>
            </a:bgClr>
          </a:pattFill>
          <a:ln w="12700">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22" name="Text Box 62"/>
          <p:cNvSpPr txBox="1">
            <a:spLocks noChangeArrowheads="1"/>
          </p:cNvSpPr>
          <p:nvPr/>
        </p:nvSpPr>
        <p:spPr bwMode="auto">
          <a:xfrm>
            <a:off x="533400" y="3886200"/>
            <a:ext cx="28194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a:solidFill>
                  <a:schemeClr val="tx1"/>
                </a:solidFill>
              </a:rPr>
              <a:t>Q1: Is it there?</a:t>
            </a:r>
          </a:p>
          <a:p>
            <a:endParaRPr lang="en-US" sz="2000"/>
          </a:p>
          <a:p>
            <a:r>
              <a:rPr lang="en-US" sz="2000">
                <a:solidFill>
                  <a:schemeClr val="tx1"/>
                </a:solidFill>
              </a:rPr>
              <a:t>Compare </a:t>
            </a:r>
            <a:r>
              <a:rPr lang="en-US" sz="2000" i="1">
                <a:solidFill>
                  <a:schemeClr val="tx1"/>
                </a:solidFill>
              </a:rPr>
              <a:t>all</a:t>
            </a:r>
            <a:r>
              <a:rPr lang="en-US" sz="2000">
                <a:solidFill>
                  <a:schemeClr val="tx1"/>
                </a:solidFill>
              </a:rPr>
              <a:t> the cache </a:t>
            </a:r>
            <a:r>
              <a:rPr lang="en-US" sz="2000">
                <a:solidFill>
                  <a:schemeClr val="accent2"/>
                </a:solidFill>
              </a:rPr>
              <a:t>tags</a:t>
            </a:r>
            <a:r>
              <a:rPr lang="en-US" sz="2000">
                <a:solidFill>
                  <a:schemeClr val="tx1"/>
                </a:solidFill>
              </a:rPr>
              <a:t> in the set to the </a:t>
            </a:r>
            <a:r>
              <a:rPr lang="en-US" sz="2000">
                <a:solidFill>
                  <a:schemeClr val="accent2"/>
                </a:solidFill>
              </a:rPr>
              <a:t>high order 3 memory address bits</a:t>
            </a:r>
            <a:r>
              <a:rPr lang="en-US" sz="2000">
                <a:solidFill>
                  <a:schemeClr val="tx1"/>
                </a:solidFill>
              </a:rPr>
              <a:t> to tell if the memory block is in the cache</a:t>
            </a:r>
          </a:p>
        </p:txBody>
      </p:sp>
      <p:grpSp>
        <p:nvGrpSpPr>
          <p:cNvPr id="1679423" name="Group 63"/>
          <p:cNvGrpSpPr>
            <a:grpSpLocks/>
          </p:cNvGrpSpPr>
          <p:nvPr/>
        </p:nvGrpSpPr>
        <p:grpSpPr bwMode="auto">
          <a:xfrm>
            <a:off x="1219200" y="2057400"/>
            <a:ext cx="381000" cy="1219200"/>
            <a:chOff x="1344" y="1056"/>
            <a:chExt cx="624" cy="768"/>
          </a:xfrm>
        </p:grpSpPr>
        <p:sp>
          <p:nvSpPr>
            <p:cNvPr id="1679424" name="Rectangle 64"/>
            <p:cNvSpPr>
              <a:spLocks noChangeArrowheads="1"/>
            </p:cNvSpPr>
            <p:nvPr/>
          </p:nvSpPr>
          <p:spPr bwMode="auto">
            <a:xfrm>
              <a:off x="1344" y="1056"/>
              <a:ext cx="624" cy="7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25" name="Line 65"/>
            <p:cNvSpPr>
              <a:spLocks noChangeShapeType="1"/>
            </p:cNvSpPr>
            <p:nvPr/>
          </p:nvSpPr>
          <p:spPr bwMode="auto">
            <a:xfrm>
              <a:off x="1344" y="1440"/>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26" name="Line 66"/>
            <p:cNvSpPr>
              <a:spLocks noChangeShapeType="1"/>
            </p:cNvSpPr>
            <p:nvPr/>
          </p:nvSpPr>
          <p:spPr bwMode="auto">
            <a:xfrm>
              <a:off x="1344" y="124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27" name="Line 67"/>
            <p:cNvSpPr>
              <a:spLocks noChangeShapeType="1"/>
            </p:cNvSpPr>
            <p:nvPr/>
          </p:nvSpPr>
          <p:spPr bwMode="auto">
            <a:xfrm>
              <a:off x="1344" y="163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679428" name="Text Box 68"/>
          <p:cNvSpPr txBox="1">
            <a:spLocks noChangeArrowheads="1"/>
          </p:cNvSpPr>
          <p:nvPr/>
        </p:nvSpPr>
        <p:spPr bwMode="auto">
          <a:xfrm>
            <a:off x="1219200" y="1600200"/>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V</a:t>
            </a:r>
          </a:p>
        </p:txBody>
      </p:sp>
      <p:grpSp>
        <p:nvGrpSpPr>
          <p:cNvPr id="1679472" name="Group 112"/>
          <p:cNvGrpSpPr>
            <a:grpSpLocks/>
          </p:cNvGrpSpPr>
          <p:nvPr/>
        </p:nvGrpSpPr>
        <p:grpSpPr bwMode="auto">
          <a:xfrm>
            <a:off x="3200400" y="990600"/>
            <a:ext cx="1066800" cy="1905000"/>
            <a:chOff x="2016" y="624"/>
            <a:chExt cx="672" cy="1200"/>
          </a:xfrm>
        </p:grpSpPr>
        <p:sp>
          <p:nvSpPr>
            <p:cNvPr id="1679430" name="Line 70"/>
            <p:cNvSpPr>
              <a:spLocks noChangeShapeType="1"/>
            </p:cNvSpPr>
            <p:nvPr/>
          </p:nvSpPr>
          <p:spPr bwMode="auto">
            <a:xfrm flipH="1">
              <a:off x="2016" y="624"/>
              <a:ext cx="672" cy="768"/>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432" name="Line 72"/>
            <p:cNvSpPr>
              <a:spLocks noChangeShapeType="1"/>
            </p:cNvSpPr>
            <p:nvPr/>
          </p:nvSpPr>
          <p:spPr bwMode="auto">
            <a:xfrm flipH="1">
              <a:off x="2016" y="624"/>
              <a:ext cx="672" cy="12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679473" name="Group 113"/>
          <p:cNvGrpSpPr>
            <a:grpSpLocks/>
          </p:cNvGrpSpPr>
          <p:nvPr/>
        </p:nvGrpSpPr>
        <p:grpSpPr bwMode="auto">
          <a:xfrm>
            <a:off x="3200400" y="2514600"/>
            <a:ext cx="1066800" cy="3048000"/>
            <a:chOff x="2016" y="1584"/>
            <a:chExt cx="672" cy="1920"/>
          </a:xfrm>
        </p:grpSpPr>
        <p:sp>
          <p:nvSpPr>
            <p:cNvPr id="1679446" name="Line 86"/>
            <p:cNvSpPr>
              <a:spLocks noChangeShapeType="1"/>
            </p:cNvSpPr>
            <p:nvPr/>
          </p:nvSpPr>
          <p:spPr bwMode="auto">
            <a:xfrm>
              <a:off x="2016" y="1968"/>
              <a:ext cx="672" cy="1536"/>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447" name="Line 87"/>
            <p:cNvSpPr>
              <a:spLocks noChangeShapeType="1"/>
            </p:cNvSpPr>
            <p:nvPr/>
          </p:nvSpPr>
          <p:spPr bwMode="auto">
            <a:xfrm>
              <a:off x="2016" y="1584"/>
              <a:ext cx="672" cy="192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679450" name="Text Box 90"/>
          <p:cNvSpPr txBox="1">
            <a:spLocks noChangeArrowheads="1"/>
          </p:cNvSpPr>
          <p:nvPr/>
        </p:nvSpPr>
        <p:spPr bwMode="auto">
          <a:xfrm>
            <a:off x="5181600" y="838200"/>
            <a:ext cx="990600" cy="491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solidFill>
                  <a:schemeClr val="accent2"/>
                </a:solidFill>
              </a:rPr>
              <a:t>000</a:t>
            </a:r>
            <a:r>
              <a:rPr lang="en-US"/>
              <a:t>0</a:t>
            </a:r>
            <a:r>
              <a:rPr lang="en-US">
                <a:solidFill>
                  <a:schemeClr val="tx1"/>
                </a:solidFill>
              </a:rPr>
              <a:t>xx</a:t>
            </a:r>
          </a:p>
          <a:p>
            <a:pPr>
              <a:lnSpc>
                <a:spcPct val="110000"/>
              </a:lnSpc>
            </a:pPr>
            <a:r>
              <a:rPr lang="en-US">
                <a:solidFill>
                  <a:schemeClr val="accent2"/>
                </a:solidFill>
              </a:rPr>
              <a:t>000</a:t>
            </a:r>
            <a:r>
              <a:rPr lang="en-US"/>
              <a:t>1</a:t>
            </a:r>
            <a:r>
              <a:rPr lang="en-US">
                <a:solidFill>
                  <a:schemeClr val="tx1"/>
                </a:solidFill>
              </a:rPr>
              <a:t>xx</a:t>
            </a:r>
          </a:p>
          <a:p>
            <a:pPr>
              <a:lnSpc>
                <a:spcPct val="110000"/>
              </a:lnSpc>
            </a:pPr>
            <a:r>
              <a:rPr lang="en-US">
                <a:solidFill>
                  <a:schemeClr val="accent2"/>
                </a:solidFill>
              </a:rPr>
              <a:t>001</a:t>
            </a:r>
            <a:r>
              <a:rPr lang="en-US"/>
              <a:t>0</a:t>
            </a:r>
            <a:r>
              <a:rPr lang="en-US">
                <a:solidFill>
                  <a:schemeClr val="tx1"/>
                </a:solidFill>
              </a:rPr>
              <a:t>xx</a:t>
            </a:r>
          </a:p>
          <a:p>
            <a:pPr>
              <a:lnSpc>
                <a:spcPct val="110000"/>
              </a:lnSpc>
            </a:pPr>
            <a:r>
              <a:rPr lang="en-US">
                <a:solidFill>
                  <a:schemeClr val="accent2"/>
                </a:solidFill>
              </a:rPr>
              <a:t>001</a:t>
            </a:r>
            <a:r>
              <a:rPr lang="en-US"/>
              <a:t>1</a:t>
            </a:r>
            <a:r>
              <a:rPr lang="en-US">
                <a:solidFill>
                  <a:schemeClr val="tx1"/>
                </a:solidFill>
              </a:rPr>
              <a:t>xx</a:t>
            </a:r>
          </a:p>
          <a:p>
            <a:pPr>
              <a:lnSpc>
                <a:spcPct val="110000"/>
              </a:lnSpc>
            </a:pPr>
            <a:r>
              <a:rPr lang="en-US">
                <a:solidFill>
                  <a:schemeClr val="accent2"/>
                </a:solidFill>
              </a:rPr>
              <a:t>010</a:t>
            </a:r>
            <a:r>
              <a:rPr lang="en-US"/>
              <a:t>0</a:t>
            </a:r>
            <a:r>
              <a:rPr lang="en-US">
                <a:solidFill>
                  <a:schemeClr val="tx1"/>
                </a:solidFill>
              </a:rPr>
              <a:t>xx</a:t>
            </a:r>
          </a:p>
          <a:p>
            <a:pPr>
              <a:lnSpc>
                <a:spcPct val="110000"/>
              </a:lnSpc>
            </a:pPr>
            <a:r>
              <a:rPr lang="en-US">
                <a:solidFill>
                  <a:schemeClr val="accent2"/>
                </a:solidFill>
              </a:rPr>
              <a:t>010</a:t>
            </a:r>
            <a:r>
              <a:rPr lang="en-US"/>
              <a:t>1</a:t>
            </a:r>
            <a:r>
              <a:rPr lang="en-US">
                <a:solidFill>
                  <a:schemeClr val="tx1"/>
                </a:solidFill>
              </a:rPr>
              <a:t>xx</a:t>
            </a:r>
          </a:p>
          <a:p>
            <a:pPr>
              <a:lnSpc>
                <a:spcPct val="110000"/>
              </a:lnSpc>
            </a:pPr>
            <a:r>
              <a:rPr lang="en-US">
                <a:solidFill>
                  <a:schemeClr val="accent2"/>
                </a:solidFill>
              </a:rPr>
              <a:t>011</a:t>
            </a:r>
            <a:r>
              <a:rPr lang="en-US"/>
              <a:t>0</a:t>
            </a:r>
            <a:r>
              <a:rPr lang="en-US">
                <a:solidFill>
                  <a:schemeClr val="tx1"/>
                </a:solidFill>
              </a:rPr>
              <a:t>xx</a:t>
            </a:r>
          </a:p>
          <a:p>
            <a:pPr>
              <a:lnSpc>
                <a:spcPct val="110000"/>
              </a:lnSpc>
            </a:pPr>
            <a:r>
              <a:rPr lang="en-US">
                <a:solidFill>
                  <a:schemeClr val="accent2"/>
                </a:solidFill>
              </a:rPr>
              <a:t>011</a:t>
            </a:r>
            <a:r>
              <a:rPr lang="en-US"/>
              <a:t>1</a:t>
            </a:r>
            <a:r>
              <a:rPr lang="en-US">
                <a:solidFill>
                  <a:schemeClr val="tx1"/>
                </a:solidFill>
              </a:rPr>
              <a:t>xx</a:t>
            </a:r>
          </a:p>
          <a:p>
            <a:pPr>
              <a:lnSpc>
                <a:spcPct val="110000"/>
              </a:lnSpc>
            </a:pPr>
            <a:r>
              <a:rPr lang="en-US">
                <a:solidFill>
                  <a:schemeClr val="accent2"/>
                </a:solidFill>
              </a:rPr>
              <a:t>100</a:t>
            </a:r>
            <a:r>
              <a:rPr lang="en-US"/>
              <a:t>0</a:t>
            </a:r>
            <a:r>
              <a:rPr lang="en-US">
                <a:solidFill>
                  <a:schemeClr val="tx1"/>
                </a:solidFill>
              </a:rPr>
              <a:t>xx</a:t>
            </a:r>
          </a:p>
          <a:p>
            <a:pPr>
              <a:lnSpc>
                <a:spcPct val="110000"/>
              </a:lnSpc>
            </a:pPr>
            <a:r>
              <a:rPr lang="en-US">
                <a:solidFill>
                  <a:schemeClr val="accent2"/>
                </a:solidFill>
              </a:rPr>
              <a:t>100</a:t>
            </a:r>
            <a:r>
              <a:rPr lang="en-US"/>
              <a:t>1</a:t>
            </a:r>
            <a:r>
              <a:rPr lang="en-US">
                <a:solidFill>
                  <a:schemeClr val="tx1"/>
                </a:solidFill>
              </a:rPr>
              <a:t>xx</a:t>
            </a:r>
          </a:p>
          <a:p>
            <a:pPr>
              <a:lnSpc>
                <a:spcPct val="110000"/>
              </a:lnSpc>
            </a:pPr>
            <a:r>
              <a:rPr lang="en-US">
                <a:solidFill>
                  <a:schemeClr val="accent2"/>
                </a:solidFill>
              </a:rPr>
              <a:t>101</a:t>
            </a:r>
            <a:r>
              <a:rPr lang="en-US"/>
              <a:t>0</a:t>
            </a:r>
            <a:r>
              <a:rPr lang="en-US">
                <a:solidFill>
                  <a:schemeClr val="tx1"/>
                </a:solidFill>
              </a:rPr>
              <a:t>xx</a:t>
            </a:r>
          </a:p>
          <a:p>
            <a:pPr>
              <a:lnSpc>
                <a:spcPct val="110000"/>
              </a:lnSpc>
            </a:pPr>
            <a:r>
              <a:rPr lang="en-US">
                <a:solidFill>
                  <a:schemeClr val="accent2"/>
                </a:solidFill>
              </a:rPr>
              <a:t>101</a:t>
            </a:r>
            <a:r>
              <a:rPr lang="en-US"/>
              <a:t>1</a:t>
            </a:r>
            <a:r>
              <a:rPr lang="en-US">
                <a:solidFill>
                  <a:schemeClr val="tx1"/>
                </a:solidFill>
              </a:rPr>
              <a:t>xx</a:t>
            </a:r>
          </a:p>
          <a:p>
            <a:pPr>
              <a:lnSpc>
                <a:spcPct val="110000"/>
              </a:lnSpc>
            </a:pPr>
            <a:r>
              <a:rPr lang="en-US">
                <a:solidFill>
                  <a:schemeClr val="accent2"/>
                </a:solidFill>
              </a:rPr>
              <a:t>110</a:t>
            </a:r>
            <a:r>
              <a:rPr lang="en-US"/>
              <a:t>0</a:t>
            </a:r>
            <a:r>
              <a:rPr lang="en-US">
                <a:solidFill>
                  <a:schemeClr val="tx1"/>
                </a:solidFill>
              </a:rPr>
              <a:t>xx</a:t>
            </a:r>
          </a:p>
          <a:p>
            <a:pPr>
              <a:lnSpc>
                <a:spcPct val="110000"/>
              </a:lnSpc>
            </a:pPr>
            <a:r>
              <a:rPr lang="en-US">
                <a:solidFill>
                  <a:schemeClr val="accent2"/>
                </a:solidFill>
              </a:rPr>
              <a:t>110</a:t>
            </a:r>
            <a:r>
              <a:rPr lang="en-US"/>
              <a:t>1</a:t>
            </a:r>
            <a:r>
              <a:rPr lang="en-US">
                <a:solidFill>
                  <a:schemeClr val="tx1"/>
                </a:solidFill>
              </a:rPr>
              <a:t>xx</a:t>
            </a:r>
          </a:p>
          <a:p>
            <a:pPr>
              <a:lnSpc>
                <a:spcPct val="110000"/>
              </a:lnSpc>
            </a:pPr>
            <a:r>
              <a:rPr lang="en-US">
                <a:solidFill>
                  <a:schemeClr val="accent2"/>
                </a:solidFill>
              </a:rPr>
              <a:t>111</a:t>
            </a:r>
            <a:r>
              <a:rPr lang="en-US"/>
              <a:t>0</a:t>
            </a:r>
            <a:r>
              <a:rPr lang="en-US">
                <a:solidFill>
                  <a:schemeClr val="tx1"/>
                </a:solidFill>
              </a:rPr>
              <a:t>xx</a:t>
            </a:r>
          </a:p>
          <a:p>
            <a:pPr>
              <a:lnSpc>
                <a:spcPct val="110000"/>
              </a:lnSpc>
            </a:pPr>
            <a:r>
              <a:rPr lang="en-US">
                <a:solidFill>
                  <a:schemeClr val="accent2"/>
                </a:solidFill>
              </a:rPr>
              <a:t>111</a:t>
            </a:r>
            <a:r>
              <a:rPr lang="en-US"/>
              <a:t>1</a:t>
            </a:r>
            <a:r>
              <a:rPr lang="en-US">
                <a:solidFill>
                  <a:schemeClr val="tx1"/>
                </a:solidFill>
              </a:rPr>
              <a:t>xx</a:t>
            </a:r>
          </a:p>
        </p:txBody>
      </p:sp>
      <p:sp>
        <p:nvSpPr>
          <p:cNvPr id="1679451" name="Text Box 91"/>
          <p:cNvSpPr txBox="1">
            <a:spLocks noChangeArrowheads="1"/>
          </p:cNvSpPr>
          <p:nvPr/>
        </p:nvSpPr>
        <p:spPr bwMode="auto">
          <a:xfrm>
            <a:off x="6248400" y="1066800"/>
            <a:ext cx="2514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b="1">
                <a:solidFill>
                  <a:schemeClr val="tx1"/>
                </a:solidFill>
              </a:rPr>
              <a:t>Two low order bits define the byte in the word (32-b words)</a:t>
            </a:r>
          </a:p>
          <a:p>
            <a:r>
              <a:rPr lang="en-US" b="1">
                <a:solidFill>
                  <a:schemeClr val="tx1"/>
                </a:solidFill>
              </a:rPr>
              <a:t>One word blocks</a:t>
            </a:r>
          </a:p>
        </p:txBody>
      </p:sp>
      <p:sp>
        <p:nvSpPr>
          <p:cNvPr id="1679452" name="Rectangle 92" descr="10%"/>
          <p:cNvSpPr>
            <a:spLocks noChangeArrowheads="1"/>
          </p:cNvSpPr>
          <p:nvPr/>
        </p:nvSpPr>
        <p:spPr bwMode="auto">
          <a:xfrm>
            <a:off x="2209800" y="2667000"/>
            <a:ext cx="990600" cy="304800"/>
          </a:xfrm>
          <a:prstGeom prst="rect">
            <a:avLst/>
          </a:prstGeom>
          <a:pattFill prst="pct10">
            <a:fgClr>
              <a:schemeClr val="accent1"/>
            </a:fgClr>
            <a:bgClr>
              <a:srgbClr val="FFFFFF"/>
            </a:bgClr>
          </a:patt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53" name="Rectangle 93" descr="5%"/>
          <p:cNvSpPr>
            <a:spLocks noChangeArrowheads="1"/>
          </p:cNvSpPr>
          <p:nvPr/>
        </p:nvSpPr>
        <p:spPr bwMode="auto">
          <a:xfrm>
            <a:off x="2209800" y="2971800"/>
            <a:ext cx="990600" cy="304800"/>
          </a:xfrm>
          <a:prstGeom prst="rect">
            <a:avLst/>
          </a:prstGeom>
          <a:pattFill prst="pct5">
            <a:fgClr>
              <a:srgbClr val="009900"/>
            </a:fgClr>
            <a:bgClr>
              <a:srgbClr val="FFFFFF"/>
            </a:bgClr>
          </a:pattFill>
          <a:ln w="12700">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54" name="Line 94"/>
          <p:cNvSpPr>
            <a:spLocks noChangeShapeType="1"/>
          </p:cNvSpPr>
          <p:nvPr/>
        </p:nvSpPr>
        <p:spPr bwMode="auto">
          <a:xfrm>
            <a:off x="685800" y="2667000"/>
            <a:ext cx="2590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455" name="Text Box 95"/>
          <p:cNvSpPr txBox="1">
            <a:spLocks noChangeArrowheads="1"/>
          </p:cNvSpPr>
          <p:nvPr/>
        </p:nvSpPr>
        <p:spPr bwMode="auto">
          <a:xfrm>
            <a:off x="762000" y="1600200"/>
            <a:ext cx="527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Set</a:t>
            </a:r>
          </a:p>
        </p:txBody>
      </p:sp>
      <p:sp>
        <p:nvSpPr>
          <p:cNvPr id="1679456" name="Rectangle 96" descr="5%"/>
          <p:cNvSpPr>
            <a:spLocks noChangeArrowheads="1"/>
          </p:cNvSpPr>
          <p:nvPr/>
        </p:nvSpPr>
        <p:spPr bwMode="auto">
          <a:xfrm>
            <a:off x="4267200" y="1143000"/>
            <a:ext cx="990600" cy="304800"/>
          </a:xfrm>
          <a:prstGeom prst="rect">
            <a:avLst/>
          </a:prstGeom>
          <a:pattFill prst="pct5">
            <a:fgClr>
              <a:srgbClr val="009900"/>
            </a:fgClr>
            <a:bgClr>
              <a:srgbClr val="FFFFFF"/>
            </a:bgClr>
          </a:pattFill>
          <a:ln w="12700">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57" name="Rectangle 97" descr="5%"/>
          <p:cNvSpPr>
            <a:spLocks noChangeArrowheads="1"/>
          </p:cNvSpPr>
          <p:nvPr/>
        </p:nvSpPr>
        <p:spPr bwMode="auto">
          <a:xfrm>
            <a:off x="4267200" y="1447800"/>
            <a:ext cx="990600" cy="304800"/>
          </a:xfrm>
          <a:prstGeom prst="rect">
            <a:avLst/>
          </a:prstGeom>
          <a:pattFill prst="pct5">
            <a:fgClr>
              <a:schemeClr val="accent1"/>
            </a:fgClr>
            <a:bgClr>
              <a:srgbClr val="FFFFFF"/>
            </a:bgClr>
          </a:patt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58" name="Rectangle 98" descr="5%"/>
          <p:cNvSpPr>
            <a:spLocks noChangeArrowheads="1"/>
          </p:cNvSpPr>
          <p:nvPr/>
        </p:nvSpPr>
        <p:spPr bwMode="auto">
          <a:xfrm>
            <a:off x="4267200" y="2362200"/>
            <a:ext cx="990600" cy="304800"/>
          </a:xfrm>
          <a:prstGeom prst="rect">
            <a:avLst/>
          </a:prstGeom>
          <a:pattFill prst="pct5">
            <a:fgClr>
              <a:srgbClr val="009900"/>
            </a:fgClr>
            <a:bgClr>
              <a:srgbClr val="FFFFFF"/>
            </a:bgClr>
          </a:pattFill>
          <a:ln w="12700">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59" name="Rectangle 99" descr="5%"/>
          <p:cNvSpPr>
            <a:spLocks noChangeArrowheads="1"/>
          </p:cNvSpPr>
          <p:nvPr/>
        </p:nvSpPr>
        <p:spPr bwMode="auto">
          <a:xfrm>
            <a:off x="4267200" y="2667000"/>
            <a:ext cx="990600" cy="304800"/>
          </a:xfrm>
          <a:prstGeom prst="rect">
            <a:avLst/>
          </a:prstGeom>
          <a:pattFill prst="pct5">
            <a:fgClr>
              <a:schemeClr val="accent1"/>
            </a:fgClr>
            <a:bgClr>
              <a:srgbClr val="FFFFFF"/>
            </a:bgClr>
          </a:patt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60" name="Rectangle 100" descr="5%"/>
          <p:cNvSpPr>
            <a:spLocks noChangeArrowheads="1"/>
          </p:cNvSpPr>
          <p:nvPr/>
        </p:nvSpPr>
        <p:spPr bwMode="auto">
          <a:xfrm>
            <a:off x="4267200" y="3581400"/>
            <a:ext cx="990600" cy="304800"/>
          </a:xfrm>
          <a:prstGeom prst="rect">
            <a:avLst/>
          </a:prstGeom>
          <a:pattFill prst="pct5">
            <a:fgClr>
              <a:srgbClr val="009900"/>
            </a:fgClr>
            <a:bgClr>
              <a:srgbClr val="FFFFFF"/>
            </a:bgClr>
          </a:pattFill>
          <a:ln w="12700">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61" name="Rectangle 101" descr="5%"/>
          <p:cNvSpPr>
            <a:spLocks noChangeArrowheads="1"/>
          </p:cNvSpPr>
          <p:nvPr/>
        </p:nvSpPr>
        <p:spPr bwMode="auto">
          <a:xfrm>
            <a:off x="4267200" y="3886200"/>
            <a:ext cx="990600" cy="304800"/>
          </a:xfrm>
          <a:prstGeom prst="rect">
            <a:avLst/>
          </a:prstGeom>
          <a:pattFill prst="pct5">
            <a:fgClr>
              <a:schemeClr val="accent1"/>
            </a:fgClr>
            <a:bgClr>
              <a:srgbClr val="FFFFFF"/>
            </a:bgClr>
          </a:patt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62" name="Rectangle 102" descr="5%"/>
          <p:cNvSpPr>
            <a:spLocks noChangeArrowheads="1"/>
          </p:cNvSpPr>
          <p:nvPr/>
        </p:nvSpPr>
        <p:spPr bwMode="auto">
          <a:xfrm>
            <a:off x="4267200" y="4800600"/>
            <a:ext cx="990600" cy="304800"/>
          </a:xfrm>
          <a:prstGeom prst="rect">
            <a:avLst/>
          </a:prstGeom>
          <a:pattFill prst="pct5">
            <a:fgClr>
              <a:srgbClr val="009900"/>
            </a:fgClr>
            <a:bgClr>
              <a:srgbClr val="FFFFFF"/>
            </a:bgClr>
          </a:pattFill>
          <a:ln w="12700">
            <a:solidFill>
              <a:srgbClr val="00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63" name="Rectangle 103" descr="5%"/>
          <p:cNvSpPr>
            <a:spLocks noChangeArrowheads="1"/>
          </p:cNvSpPr>
          <p:nvPr/>
        </p:nvSpPr>
        <p:spPr bwMode="auto">
          <a:xfrm>
            <a:off x="4267200" y="5105400"/>
            <a:ext cx="990600" cy="304800"/>
          </a:xfrm>
          <a:prstGeom prst="rect">
            <a:avLst/>
          </a:prstGeom>
          <a:pattFill prst="pct5">
            <a:fgClr>
              <a:schemeClr val="accent1"/>
            </a:fgClr>
            <a:bgClr>
              <a:srgbClr val="FFFFFF"/>
            </a:bgClr>
          </a:patt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66" name="Text Box 106"/>
          <p:cNvSpPr txBox="1">
            <a:spLocks noChangeArrowheads="1"/>
          </p:cNvSpPr>
          <p:nvPr/>
        </p:nvSpPr>
        <p:spPr bwMode="auto">
          <a:xfrm>
            <a:off x="908050" y="22860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009900"/>
                </a:solidFill>
              </a:rPr>
              <a:t>1</a:t>
            </a:r>
          </a:p>
        </p:txBody>
      </p:sp>
      <p:sp>
        <p:nvSpPr>
          <p:cNvPr id="1679467" name="Text Box 107"/>
          <p:cNvSpPr txBox="1">
            <a:spLocks noChangeArrowheads="1"/>
          </p:cNvSpPr>
          <p:nvPr/>
        </p:nvSpPr>
        <p:spPr bwMode="auto">
          <a:xfrm>
            <a:off x="898525" y="26670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0</a:t>
            </a:r>
          </a:p>
        </p:txBody>
      </p:sp>
      <p:sp>
        <p:nvSpPr>
          <p:cNvPr id="1679468" name="Text Box 108"/>
          <p:cNvSpPr txBox="1">
            <a:spLocks noChangeArrowheads="1"/>
          </p:cNvSpPr>
          <p:nvPr/>
        </p:nvSpPr>
        <p:spPr bwMode="auto">
          <a:xfrm>
            <a:off x="914400" y="293528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009900"/>
                </a:solidFill>
              </a:rPr>
              <a:t>1</a:t>
            </a:r>
          </a:p>
        </p:txBody>
      </p:sp>
      <p:sp>
        <p:nvSpPr>
          <p:cNvPr id="1679469" name="Text Box 109"/>
          <p:cNvSpPr txBox="1">
            <a:spLocks noChangeArrowheads="1"/>
          </p:cNvSpPr>
          <p:nvPr/>
        </p:nvSpPr>
        <p:spPr bwMode="auto">
          <a:xfrm>
            <a:off x="228600" y="1600200"/>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Way</a:t>
            </a:r>
          </a:p>
        </p:txBody>
      </p:sp>
      <p:sp>
        <p:nvSpPr>
          <p:cNvPr id="1679470" name="Text Box 110"/>
          <p:cNvSpPr txBox="1">
            <a:spLocks noChangeArrowheads="1"/>
          </p:cNvSpPr>
          <p:nvPr/>
        </p:nvSpPr>
        <p:spPr bwMode="auto">
          <a:xfrm>
            <a:off x="457200" y="21336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009900"/>
                </a:solidFill>
              </a:rPr>
              <a:t>0</a:t>
            </a:r>
          </a:p>
        </p:txBody>
      </p:sp>
      <p:sp>
        <p:nvSpPr>
          <p:cNvPr id="1679471" name="Text Box 111"/>
          <p:cNvSpPr txBox="1">
            <a:spLocks noChangeArrowheads="1"/>
          </p:cNvSpPr>
          <p:nvPr/>
        </p:nvSpPr>
        <p:spPr bwMode="auto">
          <a:xfrm>
            <a:off x="457200" y="28194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rgbClr val="009900"/>
                </a:solidFill>
              </a:rPr>
              <a:t>1</a:t>
            </a:r>
          </a:p>
        </p:txBody>
      </p:sp>
    </p:spTree>
    <p:extLst>
      <p:ext uri="{BB962C8B-B14F-4D97-AF65-F5344CB8AC3E}">
        <p14:creationId xmlns:p14="http://schemas.microsoft.com/office/powerpoint/2010/main" val="1270141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7938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79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5" grpId="0" autoUpdateAnimBg="0"/>
      <p:bldP spid="167942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17186" name="Rectangle 2"/>
          <p:cNvSpPr>
            <a:spLocks noGrp="1" noChangeArrowheads="1"/>
          </p:cNvSpPr>
          <p:nvPr>
            <p:ph type="title"/>
          </p:nvPr>
        </p:nvSpPr>
        <p:spPr/>
        <p:txBody>
          <a:bodyPr/>
          <a:lstStyle/>
          <a:p>
            <a:r>
              <a:rPr lang="en-US"/>
              <a:t>Another Reference String Mapping</a:t>
            </a:r>
          </a:p>
        </p:txBody>
      </p:sp>
      <p:grpSp>
        <p:nvGrpSpPr>
          <p:cNvPr id="2" name="Group 3"/>
          <p:cNvGrpSpPr>
            <a:grpSpLocks/>
          </p:cNvGrpSpPr>
          <p:nvPr/>
        </p:nvGrpSpPr>
        <p:grpSpPr bwMode="auto">
          <a:xfrm>
            <a:off x="1295400" y="2325688"/>
            <a:ext cx="990600" cy="1219200"/>
            <a:chOff x="1344" y="1056"/>
            <a:chExt cx="624" cy="768"/>
          </a:xfrm>
        </p:grpSpPr>
        <p:sp>
          <p:nvSpPr>
            <p:cNvPr id="1117188"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189"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190"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191"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3" name="Group 8"/>
          <p:cNvGrpSpPr>
            <a:grpSpLocks/>
          </p:cNvGrpSpPr>
          <p:nvPr/>
        </p:nvGrpSpPr>
        <p:grpSpPr bwMode="auto">
          <a:xfrm>
            <a:off x="3276600" y="2325688"/>
            <a:ext cx="990600" cy="1219200"/>
            <a:chOff x="1344" y="1056"/>
            <a:chExt cx="624" cy="768"/>
          </a:xfrm>
        </p:grpSpPr>
        <p:sp>
          <p:nvSpPr>
            <p:cNvPr id="1117193" name="Rectangle 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194" name="Line 1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195" name="Line 1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196" name="Line 1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4" name="Group 13"/>
          <p:cNvGrpSpPr>
            <a:grpSpLocks/>
          </p:cNvGrpSpPr>
          <p:nvPr/>
        </p:nvGrpSpPr>
        <p:grpSpPr bwMode="auto">
          <a:xfrm>
            <a:off x="5334000" y="2325688"/>
            <a:ext cx="990600" cy="1219200"/>
            <a:chOff x="1344" y="1056"/>
            <a:chExt cx="624" cy="768"/>
          </a:xfrm>
        </p:grpSpPr>
        <p:sp>
          <p:nvSpPr>
            <p:cNvPr id="1117198" name="Rectangle 1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199" name="Line 1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00" name="Line 1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01" name="Line 1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5" name="Group 18"/>
          <p:cNvGrpSpPr>
            <a:grpSpLocks/>
          </p:cNvGrpSpPr>
          <p:nvPr/>
        </p:nvGrpSpPr>
        <p:grpSpPr bwMode="auto">
          <a:xfrm>
            <a:off x="7391400" y="2325688"/>
            <a:ext cx="990600" cy="1219200"/>
            <a:chOff x="1344" y="1056"/>
            <a:chExt cx="624" cy="768"/>
          </a:xfrm>
        </p:grpSpPr>
        <p:sp>
          <p:nvSpPr>
            <p:cNvPr id="1117203" name="Rectangle 1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04" name="Line 2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05" name="Line 2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06" name="Line 2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6" name="Group 23"/>
          <p:cNvGrpSpPr>
            <a:grpSpLocks/>
          </p:cNvGrpSpPr>
          <p:nvPr/>
        </p:nvGrpSpPr>
        <p:grpSpPr bwMode="auto">
          <a:xfrm>
            <a:off x="7391400" y="4154488"/>
            <a:ext cx="990600" cy="1219200"/>
            <a:chOff x="1344" y="1056"/>
            <a:chExt cx="624" cy="768"/>
          </a:xfrm>
        </p:grpSpPr>
        <p:sp>
          <p:nvSpPr>
            <p:cNvPr id="1117208" name="Rectangle 2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09" name="Line 2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10" name="Line 2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11" name="Line 2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7" name="Group 28"/>
          <p:cNvGrpSpPr>
            <a:grpSpLocks/>
          </p:cNvGrpSpPr>
          <p:nvPr/>
        </p:nvGrpSpPr>
        <p:grpSpPr bwMode="auto">
          <a:xfrm>
            <a:off x="5334000" y="4154488"/>
            <a:ext cx="990600" cy="1219200"/>
            <a:chOff x="1344" y="1056"/>
            <a:chExt cx="624" cy="768"/>
          </a:xfrm>
        </p:grpSpPr>
        <p:sp>
          <p:nvSpPr>
            <p:cNvPr id="1117213" name="Rectangle 2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14" name="Line 3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15" name="Line 3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16" name="Line 3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8" name="Group 33"/>
          <p:cNvGrpSpPr>
            <a:grpSpLocks/>
          </p:cNvGrpSpPr>
          <p:nvPr/>
        </p:nvGrpSpPr>
        <p:grpSpPr bwMode="auto">
          <a:xfrm>
            <a:off x="3352800" y="4154488"/>
            <a:ext cx="990600" cy="1219200"/>
            <a:chOff x="1344" y="1056"/>
            <a:chExt cx="624" cy="768"/>
          </a:xfrm>
        </p:grpSpPr>
        <p:sp>
          <p:nvSpPr>
            <p:cNvPr id="1117218" name="Rectangle 3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19" name="Line 3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20" name="Line 3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21" name="Line 3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9" name="Group 38"/>
          <p:cNvGrpSpPr>
            <a:grpSpLocks/>
          </p:cNvGrpSpPr>
          <p:nvPr/>
        </p:nvGrpSpPr>
        <p:grpSpPr bwMode="auto">
          <a:xfrm>
            <a:off x="1295400" y="4154488"/>
            <a:ext cx="990600" cy="1219200"/>
            <a:chOff x="1344" y="1056"/>
            <a:chExt cx="624" cy="768"/>
          </a:xfrm>
        </p:grpSpPr>
        <p:sp>
          <p:nvSpPr>
            <p:cNvPr id="1117223" name="Rectangle 3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24" name="Line 4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25" name="Line 4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26" name="Line 4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117227" name="Text Box 43"/>
          <p:cNvSpPr txBox="1">
            <a:spLocks noChangeArrowheads="1"/>
          </p:cNvSpPr>
          <p:nvPr/>
        </p:nvSpPr>
        <p:spPr bwMode="auto">
          <a:xfrm>
            <a:off x="1355725" y="1905000"/>
            <a:ext cx="311150" cy="366713"/>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117228" name="Text Box 44"/>
          <p:cNvSpPr txBox="1">
            <a:spLocks noChangeArrowheads="1"/>
          </p:cNvSpPr>
          <p:nvPr/>
        </p:nvSpPr>
        <p:spPr bwMode="auto">
          <a:xfrm>
            <a:off x="3260725" y="1905000"/>
            <a:ext cx="311150" cy="366713"/>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117229" name="Text Box 45"/>
          <p:cNvSpPr txBox="1">
            <a:spLocks noChangeArrowheads="1"/>
          </p:cNvSpPr>
          <p:nvPr/>
        </p:nvSpPr>
        <p:spPr bwMode="auto">
          <a:xfrm>
            <a:off x="5241925" y="1905000"/>
            <a:ext cx="311150" cy="366713"/>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117230" name="Text Box 46"/>
          <p:cNvSpPr txBox="1">
            <a:spLocks noChangeArrowheads="1"/>
          </p:cNvSpPr>
          <p:nvPr/>
        </p:nvSpPr>
        <p:spPr bwMode="auto">
          <a:xfrm>
            <a:off x="7375525" y="1905000"/>
            <a:ext cx="311150" cy="366713"/>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117231" name="Text Box 47"/>
          <p:cNvSpPr txBox="1">
            <a:spLocks noChangeArrowheads="1"/>
          </p:cNvSpPr>
          <p:nvPr/>
        </p:nvSpPr>
        <p:spPr bwMode="auto">
          <a:xfrm>
            <a:off x="1219200" y="3773488"/>
            <a:ext cx="311150" cy="366712"/>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117232" name="Text Box 48"/>
          <p:cNvSpPr txBox="1">
            <a:spLocks noChangeArrowheads="1"/>
          </p:cNvSpPr>
          <p:nvPr/>
        </p:nvSpPr>
        <p:spPr bwMode="auto">
          <a:xfrm>
            <a:off x="3260725" y="3733800"/>
            <a:ext cx="311150" cy="366713"/>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117233" name="Text Box 49"/>
          <p:cNvSpPr txBox="1">
            <a:spLocks noChangeArrowheads="1"/>
          </p:cNvSpPr>
          <p:nvPr/>
        </p:nvSpPr>
        <p:spPr bwMode="auto">
          <a:xfrm>
            <a:off x="5318125" y="3733800"/>
            <a:ext cx="311150" cy="366713"/>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117234" name="Text Box 50"/>
          <p:cNvSpPr txBox="1">
            <a:spLocks noChangeArrowheads="1"/>
          </p:cNvSpPr>
          <p:nvPr/>
        </p:nvSpPr>
        <p:spPr bwMode="auto">
          <a:xfrm>
            <a:off x="7299325" y="3733800"/>
            <a:ext cx="311150" cy="366713"/>
          </a:xfrm>
          <a:prstGeom prst="rect">
            <a:avLst/>
          </a:prstGeom>
          <a:noFill/>
          <a:ln w="12700">
            <a:noFill/>
            <a:miter lim="800000"/>
            <a:headEnd/>
            <a:tailEnd/>
          </a:ln>
          <a:effectLst/>
        </p:spPr>
        <p:txBody>
          <a:bodyPr wrap="none">
            <a:spAutoFit/>
          </a:bodyPr>
          <a:lstStyle/>
          <a:p>
            <a:r>
              <a:rPr lang="en-US" b="1">
                <a:solidFill>
                  <a:schemeClr val="tx1"/>
                </a:solidFill>
              </a:rPr>
              <a:t>4</a:t>
            </a:r>
          </a:p>
        </p:txBody>
      </p:sp>
      <p:grpSp>
        <p:nvGrpSpPr>
          <p:cNvPr id="10" name="Group 51"/>
          <p:cNvGrpSpPr>
            <a:grpSpLocks/>
          </p:cNvGrpSpPr>
          <p:nvPr/>
        </p:nvGrpSpPr>
        <p:grpSpPr bwMode="auto">
          <a:xfrm>
            <a:off x="762000" y="2325688"/>
            <a:ext cx="533400" cy="1219200"/>
            <a:chOff x="1344" y="1056"/>
            <a:chExt cx="624" cy="768"/>
          </a:xfrm>
        </p:grpSpPr>
        <p:sp>
          <p:nvSpPr>
            <p:cNvPr id="1117236" name="Rectangle 5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37" name="Line 5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38" name="Line 5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39" name="Line 5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1" name="Group 56"/>
          <p:cNvGrpSpPr>
            <a:grpSpLocks/>
          </p:cNvGrpSpPr>
          <p:nvPr/>
        </p:nvGrpSpPr>
        <p:grpSpPr bwMode="auto">
          <a:xfrm>
            <a:off x="2743200" y="2325688"/>
            <a:ext cx="533400" cy="1219200"/>
            <a:chOff x="1344" y="1056"/>
            <a:chExt cx="624" cy="768"/>
          </a:xfrm>
        </p:grpSpPr>
        <p:sp>
          <p:nvSpPr>
            <p:cNvPr id="1117241" name="Rectangle 5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42" name="Line 5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43" name="Line 5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44" name="Line 6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2" name="Group 61"/>
          <p:cNvGrpSpPr>
            <a:grpSpLocks/>
          </p:cNvGrpSpPr>
          <p:nvPr/>
        </p:nvGrpSpPr>
        <p:grpSpPr bwMode="auto">
          <a:xfrm>
            <a:off x="4800600" y="2325688"/>
            <a:ext cx="533400" cy="1219200"/>
            <a:chOff x="1344" y="1056"/>
            <a:chExt cx="624" cy="768"/>
          </a:xfrm>
        </p:grpSpPr>
        <p:sp>
          <p:nvSpPr>
            <p:cNvPr id="1117246" name="Rectangle 6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47" name="Line 6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48" name="Line 6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49" name="Line 6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3" name="Group 66"/>
          <p:cNvGrpSpPr>
            <a:grpSpLocks/>
          </p:cNvGrpSpPr>
          <p:nvPr/>
        </p:nvGrpSpPr>
        <p:grpSpPr bwMode="auto">
          <a:xfrm>
            <a:off x="6858000" y="2325688"/>
            <a:ext cx="533400" cy="1219200"/>
            <a:chOff x="1344" y="1056"/>
            <a:chExt cx="624" cy="768"/>
          </a:xfrm>
        </p:grpSpPr>
        <p:sp>
          <p:nvSpPr>
            <p:cNvPr id="1117251" name="Rectangle 6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52" name="Line 6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53" name="Line 6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54" name="Line 7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4" name="Group 71"/>
          <p:cNvGrpSpPr>
            <a:grpSpLocks/>
          </p:cNvGrpSpPr>
          <p:nvPr/>
        </p:nvGrpSpPr>
        <p:grpSpPr bwMode="auto">
          <a:xfrm>
            <a:off x="762000" y="4154488"/>
            <a:ext cx="533400" cy="1219200"/>
            <a:chOff x="1344" y="1056"/>
            <a:chExt cx="624" cy="768"/>
          </a:xfrm>
        </p:grpSpPr>
        <p:sp>
          <p:nvSpPr>
            <p:cNvPr id="1117256" name="Rectangle 7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57" name="Line 7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58" name="Line 7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59" name="Line 7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5" name="Group 76"/>
          <p:cNvGrpSpPr>
            <a:grpSpLocks/>
          </p:cNvGrpSpPr>
          <p:nvPr/>
        </p:nvGrpSpPr>
        <p:grpSpPr bwMode="auto">
          <a:xfrm>
            <a:off x="2819400" y="4154488"/>
            <a:ext cx="533400" cy="1219200"/>
            <a:chOff x="1344" y="1056"/>
            <a:chExt cx="624" cy="768"/>
          </a:xfrm>
        </p:grpSpPr>
        <p:sp>
          <p:nvSpPr>
            <p:cNvPr id="1117261" name="Rectangle 7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62" name="Line 7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63" name="Line 7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64" name="Line 8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6" name="Group 81"/>
          <p:cNvGrpSpPr>
            <a:grpSpLocks/>
          </p:cNvGrpSpPr>
          <p:nvPr/>
        </p:nvGrpSpPr>
        <p:grpSpPr bwMode="auto">
          <a:xfrm>
            <a:off x="4800600" y="4154488"/>
            <a:ext cx="533400" cy="1219200"/>
            <a:chOff x="1344" y="1056"/>
            <a:chExt cx="624" cy="768"/>
          </a:xfrm>
        </p:grpSpPr>
        <p:sp>
          <p:nvSpPr>
            <p:cNvPr id="1117266" name="Rectangle 8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67" name="Line 8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68" name="Line 8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69" name="Line 8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7" name="Group 86"/>
          <p:cNvGrpSpPr>
            <a:grpSpLocks/>
          </p:cNvGrpSpPr>
          <p:nvPr/>
        </p:nvGrpSpPr>
        <p:grpSpPr bwMode="auto">
          <a:xfrm>
            <a:off x="6858000" y="4154488"/>
            <a:ext cx="533400" cy="1219200"/>
            <a:chOff x="1344" y="1056"/>
            <a:chExt cx="624" cy="768"/>
          </a:xfrm>
        </p:grpSpPr>
        <p:sp>
          <p:nvSpPr>
            <p:cNvPr id="1117271" name="Rectangle 8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17272" name="Line 8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17273" name="Line 8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17274" name="Line 9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117275" name="Rectangle 91"/>
          <p:cNvSpPr>
            <a:spLocks noGrp="1" noChangeArrowheads="1"/>
          </p:cNvSpPr>
          <p:nvPr>
            <p:ph type="body" idx="1"/>
          </p:nvPr>
        </p:nvSpPr>
        <p:spPr>
          <a:xfrm>
            <a:off x="533400" y="762000"/>
            <a:ext cx="8153400" cy="812800"/>
          </a:xfrm>
          <a:noFill/>
          <a:ln/>
        </p:spPr>
        <p:txBody>
          <a:bodyPr/>
          <a:lstStyle/>
          <a:p>
            <a:r>
              <a:rPr lang="en-US"/>
              <a:t>Consider the main memory word reference string</a:t>
            </a:r>
          </a:p>
          <a:p>
            <a:pPr lvl="1" algn="ctr">
              <a:buFont typeface="Monotype Sorts" pitchFamily="2" charset="2"/>
              <a:buNone/>
            </a:pPr>
            <a:r>
              <a:rPr lang="en-US"/>
              <a:t>              0   4   0   4   0   4   0   4</a:t>
            </a:r>
          </a:p>
        </p:txBody>
      </p:sp>
      <p:sp>
        <p:nvSpPr>
          <p:cNvPr id="1117276" name="Text Box 92"/>
          <p:cNvSpPr txBox="1">
            <a:spLocks noChangeArrowheads="1"/>
          </p:cNvSpPr>
          <p:nvPr/>
        </p:nvSpPr>
        <p:spPr bwMode="auto">
          <a:xfrm>
            <a:off x="457200" y="1143000"/>
            <a:ext cx="3429000" cy="581025"/>
          </a:xfrm>
          <a:prstGeom prst="rect">
            <a:avLst/>
          </a:prstGeom>
          <a:noFill/>
          <a:ln w="12700">
            <a:noFill/>
            <a:miter lim="800000"/>
            <a:headEnd/>
            <a:tailEnd/>
          </a:ln>
          <a:effectLst/>
        </p:spPr>
        <p:txBody>
          <a:bodyPr>
            <a:spAutoFit/>
          </a:bodyPr>
          <a:lstStyle/>
          <a:p>
            <a:r>
              <a:rPr lang="en-US" sz="1600">
                <a:solidFill>
                  <a:schemeClr val="tx1"/>
                </a:solidFill>
              </a:rPr>
              <a:t>Start with an empty cache - all blocks initially marked as not valid</a:t>
            </a:r>
          </a:p>
        </p:txBody>
      </p:sp>
    </p:spTree>
    <p:extLst>
      <p:ext uri="{BB962C8B-B14F-4D97-AF65-F5344CB8AC3E}">
        <p14:creationId xmlns:p14="http://schemas.microsoft.com/office/powerpoint/2010/main" val="498667476"/>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p:txBody>
          <a:bodyPr/>
          <a:lstStyle/>
          <a:p>
            <a:r>
              <a:rPr lang="en-US"/>
              <a:t>Another Reference String Mapping</a:t>
            </a:r>
          </a:p>
        </p:txBody>
      </p:sp>
      <p:sp>
        <p:nvSpPr>
          <p:cNvPr id="1119235" name="Rectangle 3"/>
          <p:cNvSpPr>
            <a:spLocks noChangeArrowheads="1"/>
          </p:cNvSpPr>
          <p:nvPr/>
        </p:nvSpPr>
        <p:spPr bwMode="auto">
          <a:xfrm>
            <a:off x="1295400" y="2209800"/>
            <a:ext cx="9906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36" name="Line 4"/>
          <p:cNvSpPr>
            <a:spLocks noChangeShapeType="1"/>
          </p:cNvSpPr>
          <p:nvPr/>
        </p:nvSpPr>
        <p:spPr bwMode="auto">
          <a:xfrm>
            <a:off x="1295400" y="2819400"/>
            <a:ext cx="990600" cy="0"/>
          </a:xfrm>
          <a:prstGeom prst="line">
            <a:avLst/>
          </a:prstGeom>
          <a:noFill/>
          <a:ln w="12700">
            <a:solidFill>
              <a:schemeClr val="tx1"/>
            </a:solidFill>
            <a:round/>
            <a:headEnd/>
            <a:tailEnd/>
          </a:ln>
          <a:effectLst/>
        </p:spPr>
        <p:txBody>
          <a:bodyPr wrap="none" anchor="ctr"/>
          <a:lstStyle/>
          <a:p>
            <a:endParaRPr lang="en-US"/>
          </a:p>
        </p:txBody>
      </p:sp>
      <p:sp>
        <p:nvSpPr>
          <p:cNvPr id="1119237" name="Line 5"/>
          <p:cNvSpPr>
            <a:spLocks noChangeShapeType="1"/>
          </p:cNvSpPr>
          <p:nvPr/>
        </p:nvSpPr>
        <p:spPr bwMode="auto">
          <a:xfrm>
            <a:off x="1295400" y="2514600"/>
            <a:ext cx="990600" cy="0"/>
          </a:xfrm>
          <a:prstGeom prst="line">
            <a:avLst/>
          </a:prstGeom>
          <a:noFill/>
          <a:ln w="12700">
            <a:solidFill>
              <a:schemeClr val="tx1"/>
            </a:solidFill>
            <a:round/>
            <a:headEnd/>
            <a:tailEnd/>
          </a:ln>
          <a:effectLst/>
        </p:spPr>
        <p:txBody>
          <a:bodyPr wrap="none" anchor="ctr"/>
          <a:lstStyle/>
          <a:p>
            <a:endParaRPr lang="en-US"/>
          </a:p>
        </p:txBody>
      </p:sp>
      <p:sp>
        <p:nvSpPr>
          <p:cNvPr id="1119238" name="Line 6"/>
          <p:cNvSpPr>
            <a:spLocks noChangeShapeType="1"/>
          </p:cNvSpPr>
          <p:nvPr/>
        </p:nvSpPr>
        <p:spPr bwMode="auto">
          <a:xfrm>
            <a:off x="1295400" y="3124200"/>
            <a:ext cx="990600" cy="0"/>
          </a:xfrm>
          <a:prstGeom prst="line">
            <a:avLst/>
          </a:prstGeom>
          <a:noFill/>
          <a:ln w="12700">
            <a:solidFill>
              <a:schemeClr val="tx1"/>
            </a:solidFill>
            <a:round/>
            <a:headEnd/>
            <a:tailEnd/>
          </a:ln>
          <a:effectLst/>
        </p:spPr>
        <p:txBody>
          <a:bodyPr wrap="none" anchor="ctr"/>
          <a:lstStyle/>
          <a:p>
            <a:endParaRPr lang="en-US"/>
          </a:p>
        </p:txBody>
      </p:sp>
      <p:sp>
        <p:nvSpPr>
          <p:cNvPr id="1119239" name="Rectangle 7"/>
          <p:cNvSpPr>
            <a:spLocks noChangeArrowheads="1"/>
          </p:cNvSpPr>
          <p:nvPr/>
        </p:nvSpPr>
        <p:spPr bwMode="auto">
          <a:xfrm>
            <a:off x="3276600" y="2209800"/>
            <a:ext cx="9906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40" name="Line 8"/>
          <p:cNvSpPr>
            <a:spLocks noChangeShapeType="1"/>
          </p:cNvSpPr>
          <p:nvPr/>
        </p:nvSpPr>
        <p:spPr bwMode="auto">
          <a:xfrm>
            <a:off x="3276600" y="2819400"/>
            <a:ext cx="990600" cy="0"/>
          </a:xfrm>
          <a:prstGeom prst="line">
            <a:avLst/>
          </a:prstGeom>
          <a:noFill/>
          <a:ln w="12700">
            <a:solidFill>
              <a:schemeClr val="tx1"/>
            </a:solidFill>
            <a:round/>
            <a:headEnd/>
            <a:tailEnd/>
          </a:ln>
          <a:effectLst/>
        </p:spPr>
        <p:txBody>
          <a:bodyPr wrap="none" anchor="ctr"/>
          <a:lstStyle/>
          <a:p>
            <a:endParaRPr lang="en-US"/>
          </a:p>
        </p:txBody>
      </p:sp>
      <p:sp>
        <p:nvSpPr>
          <p:cNvPr id="1119241" name="Line 9"/>
          <p:cNvSpPr>
            <a:spLocks noChangeShapeType="1"/>
          </p:cNvSpPr>
          <p:nvPr/>
        </p:nvSpPr>
        <p:spPr bwMode="auto">
          <a:xfrm>
            <a:off x="3276600" y="2514600"/>
            <a:ext cx="990600" cy="0"/>
          </a:xfrm>
          <a:prstGeom prst="line">
            <a:avLst/>
          </a:prstGeom>
          <a:noFill/>
          <a:ln w="12700">
            <a:solidFill>
              <a:schemeClr val="tx1"/>
            </a:solidFill>
            <a:round/>
            <a:headEnd/>
            <a:tailEnd/>
          </a:ln>
          <a:effectLst/>
        </p:spPr>
        <p:txBody>
          <a:bodyPr wrap="none" anchor="ctr"/>
          <a:lstStyle/>
          <a:p>
            <a:endParaRPr lang="en-US"/>
          </a:p>
        </p:txBody>
      </p:sp>
      <p:sp>
        <p:nvSpPr>
          <p:cNvPr id="1119242" name="Line 10"/>
          <p:cNvSpPr>
            <a:spLocks noChangeShapeType="1"/>
          </p:cNvSpPr>
          <p:nvPr/>
        </p:nvSpPr>
        <p:spPr bwMode="auto">
          <a:xfrm>
            <a:off x="3276600" y="3124200"/>
            <a:ext cx="990600" cy="0"/>
          </a:xfrm>
          <a:prstGeom prst="line">
            <a:avLst/>
          </a:prstGeom>
          <a:noFill/>
          <a:ln w="12700">
            <a:solidFill>
              <a:schemeClr val="tx1"/>
            </a:solidFill>
            <a:round/>
            <a:headEnd/>
            <a:tailEnd/>
          </a:ln>
          <a:effectLst/>
        </p:spPr>
        <p:txBody>
          <a:bodyPr wrap="none" anchor="ctr"/>
          <a:lstStyle/>
          <a:p>
            <a:endParaRPr lang="en-US"/>
          </a:p>
        </p:txBody>
      </p:sp>
      <p:sp>
        <p:nvSpPr>
          <p:cNvPr id="1119243" name="Rectangle 11"/>
          <p:cNvSpPr>
            <a:spLocks noChangeArrowheads="1"/>
          </p:cNvSpPr>
          <p:nvPr/>
        </p:nvSpPr>
        <p:spPr bwMode="auto">
          <a:xfrm>
            <a:off x="5334000" y="2209800"/>
            <a:ext cx="9906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44" name="Line 12"/>
          <p:cNvSpPr>
            <a:spLocks noChangeShapeType="1"/>
          </p:cNvSpPr>
          <p:nvPr/>
        </p:nvSpPr>
        <p:spPr bwMode="auto">
          <a:xfrm>
            <a:off x="5334000" y="2819400"/>
            <a:ext cx="990600" cy="0"/>
          </a:xfrm>
          <a:prstGeom prst="line">
            <a:avLst/>
          </a:prstGeom>
          <a:noFill/>
          <a:ln w="12700">
            <a:solidFill>
              <a:schemeClr val="tx1"/>
            </a:solidFill>
            <a:round/>
            <a:headEnd/>
            <a:tailEnd/>
          </a:ln>
          <a:effectLst/>
        </p:spPr>
        <p:txBody>
          <a:bodyPr wrap="none" anchor="ctr"/>
          <a:lstStyle/>
          <a:p>
            <a:endParaRPr lang="en-US"/>
          </a:p>
        </p:txBody>
      </p:sp>
      <p:sp>
        <p:nvSpPr>
          <p:cNvPr id="1119245" name="Line 13"/>
          <p:cNvSpPr>
            <a:spLocks noChangeShapeType="1"/>
          </p:cNvSpPr>
          <p:nvPr/>
        </p:nvSpPr>
        <p:spPr bwMode="auto">
          <a:xfrm>
            <a:off x="5334000" y="2514600"/>
            <a:ext cx="990600" cy="0"/>
          </a:xfrm>
          <a:prstGeom prst="line">
            <a:avLst/>
          </a:prstGeom>
          <a:noFill/>
          <a:ln w="12700">
            <a:solidFill>
              <a:schemeClr val="tx1"/>
            </a:solidFill>
            <a:round/>
            <a:headEnd/>
            <a:tailEnd/>
          </a:ln>
          <a:effectLst/>
        </p:spPr>
        <p:txBody>
          <a:bodyPr wrap="none" anchor="ctr"/>
          <a:lstStyle/>
          <a:p>
            <a:endParaRPr lang="en-US"/>
          </a:p>
        </p:txBody>
      </p:sp>
      <p:sp>
        <p:nvSpPr>
          <p:cNvPr id="1119246" name="Line 14"/>
          <p:cNvSpPr>
            <a:spLocks noChangeShapeType="1"/>
          </p:cNvSpPr>
          <p:nvPr/>
        </p:nvSpPr>
        <p:spPr bwMode="auto">
          <a:xfrm>
            <a:off x="5334000" y="3124200"/>
            <a:ext cx="990600" cy="0"/>
          </a:xfrm>
          <a:prstGeom prst="line">
            <a:avLst/>
          </a:prstGeom>
          <a:noFill/>
          <a:ln w="12700">
            <a:solidFill>
              <a:schemeClr val="tx1"/>
            </a:solidFill>
            <a:round/>
            <a:headEnd/>
            <a:tailEnd/>
          </a:ln>
          <a:effectLst/>
        </p:spPr>
        <p:txBody>
          <a:bodyPr wrap="none" anchor="ctr"/>
          <a:lstStyle/>
          <a:p>
            <a:endParaRPr lang="en-US"/>
          </a:p>
        </p:txBody>
      </p:sp>
      <p:sp>
        <p:nvSpPr>
          <p:cNvPr id="1119247" name="Rectangle 15"/>
          <p:cNvSpPr>
            <a:spLocks noChangeArrowheads="1"/>
          </p:cNvSpPr>
          <p:nvPr/>
        </p:nvSpPr>
        <p:spPr bwMode="auto">
          <a:xfrm>
            <a:off x="7391400" y="2209800"/>
            <a:ext cx="9906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48" name="Line 16"/>
          <p:cNvSpPr>
            <a:spLocks noChangeShapeType="1"/>
          </p:cNvSpPr>
          <p:nvPr/>
        </p:nvSpPr>
        <p:spPr bwMode="auto">
          <a:xfrm>
            <a:off x="7391400" y="2819400"/>
            <a:ext cx="990600" cy="0"/>
          </a:xfrm>
          <a:prstGeom prst="line">
            <a:avLst/>
          </a:prstGeom>
          <a:noFill/>
          <a:ln w="12700">
            <a:solidFill>
              <a:schemeClr val="tx1"/>
            </a:solidFill>
            <a:round/>
            <a:headEnd/>
            <a:tailEnd/>
          </a:ln>
          <a:effectLst/>
        </p:spPr>
        <p:txBody>
          <a:bodyPr wrap="none" anchor="ctr"/>
          <a:lstStyle/>
          <a:p>
            <a:endParaRPr lang="en-US"/>
          </a:p>
        </p:txBody>
      </p:sp>
      <p:sp>
        <p:nvSpPr>
          <p:cNvPr id="1119249" name="Line 17"/>
          <p:cNvSpPr>
            <a:spLocks noChangeShapeType="1"/>
          </p:cNvSpPr>
          <p:nvPr/>
        </p:nvSpPr>
        <p:spPr bwMode="auto">
          <a:xfrm>
            <a:off x="7391400" y="2514600"/>
            <a:ext cx="990600" cy="0"/>
          </a:xfrm>
          <a:prstGeom prst="line">
            <a:avLst/>
          </a:prstGeom>
          <a:noFill/>
          <a:ln w="12700">
            <a:solidFill>
              <a:schemeClr val="tx1"/>
            </a:solidFill>
            <a:round/>
            <a:headEnd/>
            <a:tailEnd/>
          </a:ln>
          <a:effectLst/>
        </p:spPr>
        <p:txBody>
          <a:bodyPr wrap="none" anchor="ctr"/>
          <a:lstStyle/>
          <a:p>
            <a:endParaRPr lang="en-US"/>
          </a:p>
        </p:txBody>
      </p:sp>
      <p:sp>
        <p:nvSpPr>
          <p:cNvPr id="1119250" name="Line 18"/>
          <p:cNvSpPr>
            <a:spLocks noChangeShapeType="1"/>
          </p:cNvSpPr>
          <p:nvPr/>
        </p:nvSpPr>
        <p:spPr bwMode="auto">
          <a:xfrm>
            <a:off x="7391400" y="3124200"/>
            <a:ext cx="990600" cy="0"/>
          </a:xfrm>
          <a:prstGeom prst="line">
            <a:avLst/>
          </a:prstGeom>
          <a:noFill/>
          <a:ln w="12700">
            <a:solidFill>
              <a:schemeClr val="tx1"/>
            </a:solidFill>
            <a:round/>
            <a:headEnd/>
            <a:tailEnd/>
          </a:ln>
          <a:effectLst/>
        </p:spPr>
        <p:txBody>
          <a:bodyPr wrap="none" anchor="ctr"/>
          <a:lstStyle/>
          <a:p>
            <a:endParaRPr lang="en-US"/>
          </a:p>
        </p:txBody>
      </p:sp>
      <p:sp>
        <p:nvSpPr>
          <p:cNvPr id="1119251" name="Rectangle 19"/>
          <p:cNvSpPr>
            <a:spLocks noChangeArrowheads="1"/>
          </p:cNvSpPr>
          <p:nvPr/>
        </p:nvSpPr>
        <p:spPr bwMode="auto">
          <a:xfrm>
            <a:off x="7391400" y="4038600"/>
            <a:ext cx="9906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52" name="Line 20"/>
          <p:cNvSpPr>
            <a:spLocks noChangeShapeType="1"/>
          </p:cNvSpPr>
          <p:nvPr/>
        </p:nvSpPr>
        <p:spPr bwMode="auto">
          <a:xfrm>
            <a:off x="7391400" y="4648200"/>
            <a:ext cx="990600" cy="0"/>
          </a:xfrm>
          <a:prstGeom prst="line">
            <a:avLst/>
          </a:prstGeom>
          <a:noFill/>
          <a:ln w="12700">
            <a:solidFill>
              <a:schemeClr val="tx1"/>
            </a:solidFill>
            <a:round/>
            <a:headEnd/>
            <a:tailEnd/>
          </a:ln>
          <a:effectLst/>
        </p:spPr>
        <p:txBody>
          <a:bodyPr wrap="none" anchor="ctr"/>
          <a:lstStyle/>
          <a:p>
            <a:endParaRPr lang="en-US"/>
          </a:p>
        </p:txBody>
      </p:sp>
      <p:sp>
        <p:nvSpPr>
          <p:cNvPr id="1119253" name="Line 21"/>
          <p:cNvSpPr>
            <a:spLocks noChangeShapeType="1"/>
          </p:cNvSpPr>
          <p:nvPr/>
        </p:nvSpPr>
        <p:spPr bwMode="auto">
          <a:xfrm>
            <a:off x="7391400" y="4343400"/>
            <a:ext cx="990600" cy="0"/>
          </a:xfrm>
          <a:prstGeom prst="line">
            <a:avLst/>
          </a:prstGeom>
          <a:noFill/>
          <a:ln w="12700">
            <a:solidFill>
              <a:schemeClr val="tx1"/>
            </a:solidFill>
            <a:round/>
            <a:headEnd/>
            <a:tailEnd/>
          </a:ln>
          <a:effectLst/>
        </p:spPr>
        <p:txBody>
          <a:bodyPr wrap="none" anchor="ctr"/>
          <a:lstStyle/>
          <a:p>
            <a:endParaRPr lang="en-US"/>
          </a:p>
        </p:txBody>
      </p:sp>
      <p:sp>
        <p:nvSpPr>
          <p:cNvPr id="1119254" name="Line 22"/>
          <p:cNvSpPr>
            <a:spLocks noChangeShapeType="1"/>
          </p:cNvSpPr>
          <p:nvPr/>
        </p:nvSpPr>
        <p:spPr bwMode="auto">
          <a:xfrm>
            <a:off x="7391400" y="4953000"/>
            <a:ext cx="990600" cy="0"/>
          </a:xfrm>
          <a:prstGeom prst="line">
            <a:avLst/>
          </a:prstGeom>
          <a:noFill/>
          <a:ln w="12700">
            <a:solidFill>
              <a:schemeClr val="tx1"/>
            </a:solidFill>
            <a:round/>
            <a:headEnd/>
            <a:tailEnd/>
          </a:ln>
          <a:effectLst/>
        </p:spPr>
        <p:txBody>
          <a:bodyPr wrap="none" anchor="ctr"/>
          <a:lstStyle/>
          <a:p>
            <a:endParaRPr lang="en-US"/>
          </a:p>
        </p:txBody>
      </p:sp>
      <p:sp>
        <p:nvSpPr>
          <p:cNvPr id="1119255" name="Rectangle 23"/>
          <p:cNvSpPr>
            <a:spLocks noChangeArrowheads="1"/>
          </p:cNvSpPr>
          <p:nvPr/>
        </p:nvSpPr>
        <p:spPr bwMode="auto">
          <a:xfrm>
            <a:off x="5334000" y="4038600"/>
            <a:ext cx="9906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56" name="Line 24"/>
          <p:cNvSpPr>
            <a:spLocks noChangeShapeType="1"/>
          </p:cNvSpPr>
          <p:nvPr/>
        </p:nvSpPr>
        <p:spPr bwMode="auto">
          <a:xfrm>
            <a:off x="5334000" y="4648200"/>
            <a:ext cx="990600" cy="0"/>
          </a:xfrm>
          <a:prstGeom prst="line">
            <a:avLst/>
          </a:prstGeom>
          <a:noFill/>
          <a:ln w="12700">
            <a:solidFill>
              <a:schemeClr val="tx1"/>
            </a:solidFill>
            <a:round/>
            <a:headEnd/>
            <a:tailEnd/>
          </a:ln>
          <a:effectLst/>
        </p:spPr>
        <p:txBody>
          <a:bodyPr wrap="none" anchor="ctr"/>
          <a:lstStyle/>
          <a:p>
            <a:endParaRPr lang="en-US"/>
          </a:p>
        </p:txBody>
      </p:sp>
      <p:sp>
        <p:nvSpPr>
          <p:cNvPr id="1119257" name="Line 25"/>
          <p:cNvSpPr>
            <a:spLocks noChangeShapeType="1"/>
          </p:cNvSpPr>
          <p:nvPr/>
        </p:nvSpPr>
        <p:spPr bwMode="auto">
          <a:xfrm>
            <a:off x="5334000" y="4343400"/>
            <a:ext cx="990600" cy="0"/>
          </a:xfrm>
          <a:prstGeom prst="line">
            <a:avLst/>
          </a:prstGeom>
          <a:noFill/>
          <a:ln w="12700">
            <a:solidFill>
              <a:schemeClr val="tx1"/>
            </a:solidFill>
            <a:round/>
            <a:headEnd/>
            <a:tailEnd/>
          </a:ln>
          <a:effectLst/>
        </p:spPr>
        <p:txBody>
          <a:bodyPr wrap="none" anchor="ctr"/>
          <a:lstStyle/>
          <a:p>
            <a:endParaRPr lang="en-US"/>
          </a:p>
        </p:txBody>
      </p:sp>
      <p:sp>
        <p:nvSpPr>
          <p:cNvPr id="1119258" name="Line 26"/>
          <p:cNvSpPr>
            <a:spLocks noChangeShapeType="1"/>
          </p:cNvSpPr>
          <p:nvPr/>
        </p:nvSpPr>
        <p:spPr bwMode="auto">
          <a:xfrm>
            <a:off x="5334000" y="4953000"/>
            <a:ext cx="990600" cy="0"/>
          </a:xfrm>
          <a:prstGeom prst="line">
            <a:avLst/>
          </a:prstGeom>
          <a:noFill/>
          <a:ln w="12700">
            <a:solidFill>
              <a:schemeClr val="tx1"/>
            </a:solidFill>
            <a:round/>
            <a:headEnd/>
            <a:tailEnd/>
          </a:ln>
          <a:effectLst/>
        </p:spPr>
        <p:txBody>
          <a:bodyPr wrap="none" anchor="ctr"/>
          <a:lstStyle/>
          <a:p>
            <a:endParaRPr lang="en-US"/>
          </a:p>
        </p:txBody>
      </p:sp>
      <p:sp>
        <p:nvSpPr>
          <p:cNvPr id="1119259" name="Rectangle 27"/>
          <p:cNvSpPr>
            <a:spLocks noChangeArrowheads="1"/>
          </p:cNvSpPr>
          <p:nvPr/>
        </p:nvSpPr>
        <p:spPr bwMode="auto">
          <a:xfrm>
            <a:off x="3352800" y="4038600"/>
            <a:ext cx="9906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60" name="Line 28"/>
          <p:cNvSpPr>
            <a:spLocks noChangeShapeType="1"/>
          </p:cNvSpPr>
          <p:nvPr/>
        </p:nvSpPr>
        <p:spPr bwMode="auto">
          <a:xfrm>
            <a:off x="3352800" y="4648200"/>
            <a:ext cx="990600" cy="0"/>
          </a:xfrm>
          <a:prstGeom prst="line">
            <a:avLst/>
          </a:prstGeom>
          <a:noFill/>
          <a:ln w="12700">
            <a:solidFill>
              <a:schemeClr val="tx1"/>
            </a:solidFill>
            <a:round/>
            <a:headEnd/>
            <a:tailEnd/>
          </a:ln>
          <a:effectLst/>
        </p:spPr>
        <p:txBody>
          <a:bodyPr wrap="none" anchor="ctr"/>
          <a:lstStyle/>
          <a:p>
            <a:endParaRPr lang="en-US"/>
          </a:p>
        </p:txBody>
      </p:sp>
      <p:sp>
        <p:nvSpPr>
          <p:cNvPr id="1119261" name="Line 29"/>
          <p:cNvSpPr>
            <a:spLocks noChangeShapeType="1"/>
          </p:cNvSpPr>
          <p:nvPr/>
        </p:nvSpPr>
        <p:spPr bwMode="auto">
          <a:xfrm>
            <a:off x="3352800" y="4343400"/>
            <a:ext cx="990600" cy="0"/>
          </a:xfrm>
          <a:prstGeom prst="line">
            <a:avLst/>
          </a:prstGeom>
          <a:noFill/>
          <a:ln w="12700">
            <a:solidFill>
              <a:schemeClr val="tx1"/>
            </a:solidFill>
            <a:round/>
            <a:headEnd/>
            <a:tailEnd/>
          </a:ln>
          <a:effectLst/>
        </p:spPr>
        <p:txBody>
          <a:bodyPr wrap="none" anchor="ctr"/>
          <a:lstStyle/>
          <a:p>
            <a:endParaRPr lang="en-US"/>
          </a:p>
        </p:txBody>
      </p:sp>
      <p:sp>
        <p:nvSpPr>
          <p:cNvPr id="1119262" name="Line 30"/>
          <p:cNvSpPr>
            <a:spLocks noChangeShapeType="1"/>
          </p:cNvSpPr>
          <p:nvPr/>
        </p:nvSpPr>
        <p:spPr bwMode="auto">
          <a:xfrm>
            <a:off x="3352800" y="4953000"/>
            <a:ext cx="990600" cy="0"/>
          </a:xfrm>
          <a:prstGeom prst="line">
            <a:avLst/>
          </a:prstGeom>
          <a:noFill/>
          <a:ln w="12700">
            <a:solidFill>
              <a:schemeClr val="tx1"/>
            </a:solidFill>
            <a:round/>
            <a:headEnd/>
            <a:tailEnd/>
          </a:ln>
          <a:effectLst/>
        </p:spPr>
        <p:txBody>
          <a:bodyPr wrap="none" anchor="ctr"/>
          <a:lstStyle/>
          <a:p>
            <a:endParaRPr lang="en-US"/>
          </a:p>
        </p:txBody>
      </p:sp>
      <p:sp>
        <p:nvSpPr>
          <p:cNvPr id="1119263" name="Rectangle 31"/>
          <p:cNvSpPr>
            <a:spLocks noChangeArrowheads="1"/>
          </p:cNvSpPr>
          <p:nvPr/>
        </p:nvSpPr>
        <p:spPr bwMode="auto">
          <a:xfrm>
            <a:off x="1295400" y="4038600"/>
            <a:ext cx="9906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64" name="Line 32"/>
          <p:cNvSpPr>
            <a:spLocks noChangeShapeType="1"/>
          </p:cNvSpPr>
          <p:nvPr/>
        </p:nvSpPr>
        <p:spPr bwMode="auto">
          <a:xfrm>
            <a:off x="1295400" y="4648200"/>
            <a:ext cx="990600" cy="0"/>
          </a:xfrm>
          <a:prstGeom prst="line">
            <a:avLst/>
          </a:prstGeom>
          <a:noFill/>
          <a:ln w="12700">
            <a:solidFill>
              <a:schemeClr val="tx1"/>
            </a:solidFill>
            <a:round/>
            <a:headEnd/>
            <a:tailEnd/>
          </a:ln>
          <a:effectLst/>
        </p:spPr>
        <p:txBody>
          <a:bodyPr wrap="none" anchor="ctr"/>
          <a:lstStyle/>
          <a:p>
            <a:endParaRPr lang="en-US"/>
          </a:p>
        </p:txBody>
      </p:sp>
      <p:sp>
        <p:nvSpPr>
          <p:cNvPr id="1119265" name="Line 33"/>
          <p:cNvSpPr>
            <a:spLocks noChangeShapeType="1"/>
          </p:cNvSpPr>
          <p:nvPr/>
        </p:nvSpPr>
        <p:spPr bwMode="auto">
          <a:xfrm>
            <a:off x="1295400" y="4343400"/>
            <a:ext cx="990600" cy="0"/>
          </a:xfrm>
          <a:prstGeom prst="line">
            <a:avLst/>
          </a:prstGeom>
          <a:noFill/>
          <a:ln w="12700">
            <a:solidFill>
              <a:schemeClr val="tx1"/>
            </a:solidFill>
            <a:round/>
            <a:headEnd/>
            <a:tailEnd/>
          </a:ln>
          <a:effectLst/>
        </p:spPr>
        <p:txBody>
          <a:bodyPr wrap="none" anchor="ctr"/>
          <a:lstStyle/>
          <a:p>
            <a:endParaRPr lang="en-US"/>
          </a:p>
        </p:txBody>
      </p:sp>
      <p:sp>
        <p:nvSpPr>
          <p:cNvPr id="1119266" name="Line 34"/>
          <p:cNvSpPr>
            <a:spLocks noChangeShapeType="1"/>
          </p:cNvSpPr>
          <p:nvPr/>
        </p:nvSpPr>
        <p:spPr bwMode="auto">
          <a:xfrm>
            <a:off x="1295400" y="4953000"/>
            <a:ext cx="990600" cy="0"/>
          </a:xfrm>
          <a:prstGeom prst="line">
            <a:avLst/>
          </a:prstGeom>
          <a:noFill/>
          <a:ln w="12700">
            <a:solidFill>
              <a:schemeClr val="tx1"/>
            </a:solidFill>
            <a:round/>
            <a:headEnd/>
            <a:tailEnd/>
          </a:ln>
          <a:effectLst/>
        </p:spPr>
        <p:txBody>
          <a:bodyPr wrap="none" anchor="ctr"/>
          <a:lstStyle/>
          <a:p>
            <a:endParaRPr lang="en-US"/>
          </a:p>
        </p:txBody>
      </p:sp>
      <p:sp>
        <p:nvSpPr>
          <p:cNvPr id="1119267" name="Text Box 35"/>
          <p:cNvSpPr txBox="1">
            <a:spLocks noChangeArrowheads="1"/>
          </p:cNvSpPr>
          <p:nvPr/>
        </p:nvSpPr>
        <p:spPr bwMode="auto">
          <a:xfrm>
            <a:off x="1355725" y="1789113"/>
            <a:ext cx="311150" cy="366712"/>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119268" name="Text Box 36"/>
          <p:cNvSpPr txBox="1">
            <a:spLocks noChangeArrowheads="1"/>
          </p:cNvSpPr>
          <p:nvPr/>
        </p:nvSpPr>
        <p:spPr bwMode="auto">
          <a:xfrm>
            <a:off x="3260725" y="1789113"/>
            <a:ext cx="311150" cy="366712"/>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119269" name="Text Box 37"/>
          <p:cNvSpPr txBox="1">
            <a:spLocks noChangeArrowheads="1"/>
          </p:cNvSpPr>
          <p:nvPr/>
        </p:nvSpPr>
        <p:spPr bwMode="auto">
          <a:xfrm>
            <a:off x="5241925" y="1789113"/>
            <a:ext cx="311150" cy="366712"/>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119270" name="Text Box 38"/>
          <p:cNvSpPr txBox="1">
            <a:spLocks noChangeArrowheads="1"/>
          </p:cNvSpPr>
          <p:nvPr/>
        </p:nvSpPr>
        <p:spPr bwMode="auto">
          <a:xfrm>
            <a:off x="7375525" y="1789113"/>
            <a:ext cx="311150" cy="366712"/>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119271" name="Text Box 39"/>
          <p:cNvSpPr txBox="1">
            <a:spLocks noChangeArrowheads="1"/>
          </p:cNvSpPr>
          <p:nvPr/>
        </p:nvSpPr>
        <p:spPr bwMode="auto">
          <a:xfrm>
            <a:off x="1219200" y="3657600"/>
            <a:ext cx="311150" cy="366713"/>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119272" name="Text Box 40"/>
          <p:cNvSpPr txBox="1">
            <a:spLocks noChangeArrowheads="1"/>
          </p:cNvSpPr>
          <p:nvPr/>
        </p:nvSpPr>
        <p:spPr bwMode="auto">
          <a:xfrm>
            <a:off x="3260725" y="3617913"/>
            <a:ext cx="311150" cy="366712"/>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119273" name="Text Box 41"/>
          <p:cNvSpPr txBox="1">
            <a:spLocks noChangeArrowheads="1"/>
          </p:cNvSpPr>
          <p:nvPr/>
        </p:nvSpPr>
        <p:spPr bwMode="auto">
          <a:xfrm>
            <a:off x="5318125" y="3617913"/>
            <a:ext cx="311150" cy="366712"/>
          </a:xfrm>
          <a:prstGeom prst="rect">
            <a:avLst/>
          </a:prstGeom>
          <a:noFill/>
          <a:ln w="12700">
            <a:noFill/>
            <a:miter lim="800000"/>
            <a:headEnd/>
            <a:tailEnd/>
          </a:ln>
          <a:effectLst/>
        </p:spPr>
        <p:txBody>
          <a:bodyPr wrap="none">
            <a:spAutoFit/>
          </a:bodyPr>
          <a:lstStyle/>
          <a:p>
            <a:r>
              <a:rPr lang="en-US" b="1">
                <a:solidFill>
                  <a:schemeClr val="tx1"/>
                </a:solidFill>
              </a:rPr>
              <a:t>0</a:t>
            </a:r>
          </a:p>
        </p:txBody>
      </p:sp>
      <p:sp>
        <p:nvSpPr>
          <p:cNvPr id="1119274" name="Text Box 42"/>
          <p:cNvSpPr txBox="1">
            <a:spLocks noChangeArrowheads="1"/>
          </p:cNvSpPr>
          <p:nvPr/>
        </p:nvSpPr>
        <p:spPr bwMode="auto">
          <a:xfrm>
            <a:off x="7299325" y="3617913"/>
            <a:ext cx="311150" cy="366712"/>
          </a:xfrm>
          <a:prstGeom prst="rect">
            <a:avLst/>
          </a:prstGeom>
          <a:noFill/>
          <a:ln w="12700">
            <a:noFill/>
            <a:miter lim="800000"/>
            <a:headEnd/>
            <a:tailEnd/>
          </a:ln>
          <a:effectLst/>
        </p:spPr>
        <p:txBody>
          <a:bodyPr wrap="none">
            <a:spAutoFit/>
          </a:bodyPr>
          <a:lstStyle/>
          <a:p>
            <a:r>
              <a:rPr lang="en-US" b="1">
                <a:solidFill>
                  <a:schemeClr val="tx1"/>
                </a:solidFill>
              </a:rPr>
              <a:t>4</a:t>
            </a:r>
          </a:p>
        </p:txBody>
      </p:sp>
      <p:sp>
        <p:nvSpPr>
          <p:cNvPr id="1119275" name="Rectangle 43"/>
          <p:cNvSpPr>
            <a:spLocks noChangeArrowheads="1"/>
          </p:cNvSpPr>
          <p:nvPr/>
        </p:nvSpPr>
        <p:spPr bwMode="auto">
          <a:xfrm>
            <a:off x="762000" y="2209800"/>
            <a:ext cx="5334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76" name="Line 44"/>
          <p:cNvSpPr>
            <a:spLocks noChangeShapeType="1"/>
          </p:cNvSpPr>
          <p:nvPr/>
        </p:nvSpPr>
        <p:spPr bwMode="auto">
          <a:xfrm>
            <a:off x="762000" y="2819400"/>
            <a:ext cx="533400" cy="0"/>
          </a:xfrm>
          <a:prstGeom prst="line">
            <a:avLst/>
          </a:prstGeom>
          <a:noFill/>
          <a:ln w="12700">
            <a:solidFill>
              <a:schemeClr val="tx1"/>
            </a:solidFill>
            <a:round/>
            <a:headEnd/>
            <a:tailEnd/>
          </a:ln>
          <a:effectLst/>
        </p:spPr>
        <p:txBody>
          <a:bodyPr wrap="none" anchor="ctr"/>
          <a:lstStyle/>
          <a:p>
            <a:endParaRPr lang="en-US"/>
          </a:p>
        </p:txBody>
      </p:sp>
      <p:sp>
        <p:nvSpPr>
          <p:cNvPr id="1119277" name="Line 45"/>
          <p:cNvSpPr>
            <a:spLocks noChangeShapeType="1"/>
          </p:cNvSpPr>
          <p:nvPr/>
        </p:nvSpPr>
        <p:spPr bwMode="auto">
          <a:xfrm>
            <a:off x="762000" y="2514600"/>
            <a:ext cx="533400" cy="0"/>
          </a:xfrm>
          <a:prstGeom prst="line">
            <a:avLst/>
          </a:prstGeom>
          <a:noFill/>
          <a:ln w="12700">
            <a:solidFill>
              <a:schemeClr val="tx1"/>
            </a:solidFill>
            <a:round/>
            <a:headEnd/>
            <a:tailEnd/>
          </a:ln>
          <a:effectLst/>
        </p:spPr>
        <p:txBody>
          <a:bodyPr wrap="none" anchor="ctr"/>
          <a:lstStyle/>
          <a:p>
            <a:endParaRPr lang="en-US"/>
          </a:p>
        </p:txBody>
      </p:sp>
      <p:sp>
        <p:nvSpPr>
          <p:cNvPr id="1119278" name="Line 46"/>
          <p:cNvSpPr>
            <a:spLocks noChangeShapeType="1"/>
          </p:cNvSpPr>
          <p:nvPr/>
        </p:nvSpPr>
        <p:spPr bwMode="auto">
          <a:xfrm>
            <a:off x="762000" y="3124200"/>
            <a:ext cx="533400" cy="0"/>
          </a:xfrm>
          <a:prstGeom prst="line">
            <a:avLst/>
          </a:prstGeom>
          <a:noFill/>
          <a:ln w="12700">
            <a:solidFill>
              <a:schemeClr val="tx1"/>
            </a:solidFill>
            <a:round/>
            <a:headEnd/>
            <a:tailEnd/>
          </a:ln>
          <a:effectLst/>
        </p:spPr>
        <p:txBody>
          <a:bodyPr wrap="none" anchor="ctr"/>
          <a:lstStyle/>
          <a:p>
            <a:endParaRPr lang="en-US"/>
          </a:p>
        </p:txBody>
      </p:sp>
      <p:sp>
        <p:nvSpPr>
          <p:cNvPr id="1119279" name="Rectangle 47"/>
          <p:cNvSpPr>
            <a:spLocks noChangeArrowheads="1"/>
          </p:cNvSpPr>
          <p:nvPr/>
        </p:nvSpPr>
        <p:spPr bwMode="auto">
          <a:xfrm>
            <a:off x="2743200" y="2209800"/>
            <a:ext cx="5334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80" name="Line 48"/>
          <p:cNvSpPr>
            <a:spLocks noChangeShapeType="1"/>
          </p:cNvSpPr>
          <p:nvPr/>
        </p:nvSpPr>
        <p:spPr bwMode="auto">
          <a:xfrm>
            <a:off x="2743200" y="2819400"/>
            <a:ext cx="533400" cy="0"/>
          </a:xfrm>
          <a:prstGeom prst="line">
            <a:avLst/>
          </a:prstGeom>
          <a:noFill/>
          <a:ln w="12700">
            <a:solidFill>
              <a:schemeClr val="tx1"/>
            </a:solidFill>
            <a:round/>
            <a:headEnd/>
            <a:tailEnd/>
          </a:ln>
          <a:effectLst/>
        </p:spPr>
        <p:txBody>
          <a:bodyPr wrap="none" anchor="ctr"/>
          <a:lstStyle/>
          <a:p>
            <a:endParaRPr lang="en-US"/>
          </a:p>
        </p:txBody>
      </p:sp>
      <p:sp>
        <p:nvSpPr>
          <p:cNvPr id="1119281" name="Line 49"/>
          <p:cNvSpPr>
            <a:spLocks noChangeShapeType="1"/>
          </p:cNvSpPr>
          <p:nvPr/>
        </p:nvSpPr>
        <p:spPr bwMode="auto">
          <a:xfrm>
            <a:off x="2743200" y="2514600"/>
            <a:ext cx="533400" cy="0"/>
          </a:xfrm>
          <a:prstGeom prst="line">
            <a:avLst/>
          </a:prstGeom>
          <a:noFill/>
          <a:ln w="12700">
            <a:solidFill>
              <a:schemeClr val="tx1"/>
            </a:solidFill>
            <a:round/>
            <a:headEnd/>
            <a:tailEnd/>
          </a:ln>
          <a:effectLst/>
        </p:spPr>
        <p:txBody>
          <a:bodyPr wrap="none" anchor="ctr"/>
          <a:lstStyle/>
          <a:p>
            <a:endParaRPr lang="en-US"/>
          </a:p>
        </p:txBody>
      </p:sp>
      <p:sp>
        <p:nvSpPr>
          <p:cNvPr id="1119282" name="Line 50"/>
          <p:cNvSpPr>
            <a:spLocks noChangeShapeType="1"/>
          </p:cNvSpPr>
          <p:nvPr/>
        </p:nvSpPr>
        <p:spPr bwMode="auto">
          <a:xfrm>
            <a:off x="2743200" y="3124200"/>
            <a:ext cx="533400" cy="0"/>
          </a:xfrm>
          <a:prstGeom prst="line">
            <a:avLst/>
          </a:prstGeom>
          <a:noFill/>
          <a:ln w="12700">
            <a:solidFill>
              <a:schemeClr val="tx1"/>
            </a:solidFill>
            <a:round/>
            <a:headEnd/>
            <a:tailEnd/>
          </a:ln>
          <a:effectLst/>
        </p:spPr>
        <p:txBody>
          <a:bodyPr wrap="none" anchor="ctr"/>
          <a:lstStyle/>
          <a:p>
            <a:endParaRPr lang="en-US"/>
          </a:p>
        </p:txBody>
      </p:sp>
      <p:sp>
        <p:nvSpPr>
          <p:cNvPr id="1119283" name="Rectangle 51"/>
          <p:cNvSpPr>
            <a:spLocks noChangeArrowheads="1"/>
          </p:cNvSpPr>
          <p:nvPr/>
        </p:nvSpPr>
        <p:spPr bwMode="auto">
          <a:xfrm>
            <a:off x="4800600" y="2209800"/>
            <a:ext cx="5334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84" name="Line 52"/>
          <p:cNvSpPr>
            <a:spLocks noChangeShapeType="1"/>
          </p:cNvSpPr>
          <p:nvPr/>
        </p:nvSpPr>
        <p:spPr bwMode="auto">
          <a:xfrm>
            <a:off x="4800600" y="2819400"/>
            <a:ext cx="533400" cy="0"/>
          </a:xfrm>
          <a:prstGeom prst="line">
            <a:avLst/>
          </a:prstGeom>
          <a:noFill/>
          <a:ln w="12700">
            <a:solidFill>
              <a:schemeClr val="tx1"/>
            </a:solidFill>
            <a:round/>
            <a:headEnd/>
            <a:tailEnd/>
          </a:ln>
          <a:effectLst/>
        </p:spPr>
        <p:txBody>
          <a:bodyPr wrap="none" anchor="ctr"/>
          <a:lstStyle/>
          <a:p>
            <a:endParaRPr lang="en-US"/>
          </a:p>
        </p:txBody>
      </p:sp>
      <p:sp>
        <p:nvSpPr>
          <p:cNvPr id="1119285" name="Line 53"/>
          <p:cNvSpPr>
            <a:spLocks noChangeShapeType="1"/>
          </p:cNvSpPr>
          <p:nvPr/>
        </p:nvSpPr>
        <p:spPr bwMode="auto">
          <a:xfrm>
            <a:off x="4800600" y="2514600"/>
            <a:ext cx="533400" cy="0"/>
          </a:xfrm>
          <a:prstGeom prst="line">
            <a:avLst/>
          </a:prstGeom>
          <a:noFill/>
          <a:ln w="12700">
            <a:solidFill>
              <a:schemeClr val="tx1"/>
            </a:solidFill>
            <a:round/>
            <a:headEnd/>
            <a:tailEnd/>
          </a:ln>
          <a:effectLst/>
        </p:spPr>
        <p:txBody>
          <a:bodyPr wrap="none" anchor="ctr"/>
          <a:lstStyle/>
          <a:p>
            <a:endParaRPr lang="en-US"/>
          </a:p>
        </p:txBody>
      </p:sp>
      <p:sp>
        <p:nvSpPr>
          <p:cNvPr id="1119286" name="Line 54"/>
          <p:cNvSpPr>
            <a:spLocks noChangeShapeType="1"/>
          </p:cNvSpPr>
          <p:nvPr/>
        </p:nvSpPr>
        <p:spPr bwMode="auto">
          <a:xfrm>
            <a:off x="4800600" y="3124200"/>
            <a:ext cx="533400" cy="0"/>
          </a:xfrm>
          <a:prstGeom prst="line">
            <a:avLst/>
          </a:prstGeom>
          <a:noFill/>
          <a:ln w="12700">
            <a:solidFill>
              <a:schemeClr val="tx1"/>
            </a:solidFill>
            <a:round/>
            <a:headEnd/>
            <a:tailEnd/>
          </a:ln>
          <a:effectLst/>
        </p:spPr>
        <p:txBody>
          <a:bodyPr wrap="none" anchor="ctr"/>
          <a:lstStyle/>
          <a:p>
            <a:endParaRPr lang="en-US"/>
          </a:p>
        </p:txBody>
      </p:sp>
      <p:sp>
        <p:nvSpPr>
          <p:cNvPr id="1119287" name="Rectangle 55"/>
          <p:cNvSpPr>
            <a:spLocks noChangeArrowheads="1"/>
          </p:cNvSpPr>
          <p:nvPr/>
        </p:nvSpPr>
        <p:spPr bwMode="auto">
          <a:xfrm>
            <a:off x="6858000" y="2209800"/>
            <a:ext cx="5334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88" name="Line 56"/>
          <p:cNvSpPr>
            <a:spLocks noChangeShapeType="1"/>
          </p:cNvSpPr>
          <p:nvPr/>
        </p:nvSpPr>
        <p:spPr bwMode="auto">
          <a:xfrm>
            <a:off x="6858000" y="2819400"/>
            <a:ext cx="533400" cy="0"/>
          </a:xfrm>
          <a:prstGeom prst="line">
            <a:avLst/>
          </a:prstGeom>
          <a:noFill/>
          <a:ln w="12700">
            <a:solidFill>
              <a:schemeClr val="tx1"/>
            </a:solidFill>
            <a:round/>
            <a:headEnd/>
            <a:tailEnd/>
          </a:ln>
          <a:effectLst/>
        </p:spPr>
        <p:txBody>
          <a:bodyPr wrap="none" anchor="ctr"/>
          <a:lstStyle/>
          <a:p>
            <a:endParaRPr lang="en-US"/>
          </a:p>
        </p:txBody>
      </p:sp>
      <p:sp>
        <p:nvSpPr>
          <p:cNvPr id="1119289" name="Line 57"/>
          <p:cNvSpPr>
            <a:spLocks noChangeShapeType="1"/>
          </p:cNvSpPr>
          <p:nvPr/>
        </p:nvSpPr>
        <p:spPr bwMode="auto">
          <a:xfrm>
            <a:off x="6858000" y="2514600"/>
            <a:ext cx="533400" cy="0"/>
          </a:xfrm>
          <a:prstGeom prst="line">
            <a:avLst/>
          </a:prstGeom>
          <a:noFill/>
          <a:ln w="12700">
            <a:solidFill>
              <a:schemeClr val="tx1"/>
            </a:solidFill>
            <a:round/>
            <a:headEnd/>
            <a:tailEnd/>
          </a:ln>
          <a:effectLst/>
        </p:spPr>
        <p:txBody>
          <a:bodyPr wrap="none" anchor="ctr"/>
          <a:lstStyle/>
          <a:p>
            <a:endParaRPr lang="en-US"/>
          </a:p>
        </p:txBody>
      </p:sp>
      <p:sp>
        <p:nvSpPr>
          <p:cNvPr id="1119290" name="Line 58"/>
          <p:cNvSpPr>
            <a:spLocks noChangeShapeType="1"/>
          </p:cNvSpPr>
          <p:nvPr/>
        </p:nvSpPr>
        <p:spPr bwMode="auto">
          <a:xfrm>
            <a:off x="6858000" y="3124200"/>
            <a:ext cx="533400" cy="0"/>
          </a:xfrm>
          <a:prstGeom prst="line">
            <a:avLst/>
          </a:prstGeom>
          <a:noFill/>
          <a:ln w="12700">
            <a:solidFill>
              <a:schemeClr val="tx1"/>
            </a:solidFill>
            <a:round/>
            <a:headEnd/>
            <a:tailEnd/>
          </a:ln>
          <a:effectLst/>
        </p:spPr>
        <p:txBody>
          <a:bodyPr wrap="none" anchor="ctr"/>
          <a:lstStyle/>
          <a:p>
            <a:endParaRPr lang="en-US"/>
          </a:p>
        </p:txBody>
      </p:sp>
      <p:sp>
        <p:nvSpPr>
          <p:cNvPr id="1119291" name="Rectangle 59"/>
          <p:cNvSpPr>
            <a:spLocks noChangeArrowheads="1"/>
          </p:cNvSpPr>
          <p:nvPr/>
        </p:nvSpPr>
        <p:spPr bwMode="auto">
          <a:xfrm>
            <a:off x="762000" y="4038600"/>
            <a:ext cx="5334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92" name="Line 60"/>
          <p:cNvSpPr>
            <a:spLocks noChangeShapeType="1"/>
          </p:cNvSpPr>
          <p:nvPr/>
        </p:nvSpPr>
        <p:spPr bwMode="auto">
          <a:xfrm>
            <a:off x="762000" y="4648200"/>
            <a:ext cx="533400" cy="0"/>
          </a:xfrm>
          <a:prstGeom prst="line">
            <a:avLst/>
          </a:prstGeom>
          <a:noFill/>
          <a:ln w="12700">
            <a:solidFill>
              <a:schemeClr val="tx1"/>
            </a:solidFill>
            <a:round/>
            <a:headEnd/>
            <a:tailEnd/>
          </a:ln>
          <a:effectLst/>
        </p:spPr>
        <p:txBody>
          <a:bodyPr wrap="none" anchor="ctr"/>
          <a:lstStyle/>
          <a:p>
            <a:endParaRPr lang="en-US"/>
          </a:p>
        </p:txBody>
      </p:sp>
      <p:sp>
        <p:nvSpPr>
          <p:cNvPr id="1119293" name="Line 61"/>
          <p:cNvSpPr>
            <a:spLocks noChangeShapeType="1"/>
          </p:cNvSpPr>
          <p:nvPr/>
        </p:nvSpPr>
        <p:spPr bwMode="auto">
          <a:xfrm>
            <a:off x="762000" y="4343400"/>
            <a:ext cx="533400" cy="0"/>
          </a:xfrm>
          <a:prstGeom prst="line">
            <a:avLst/>
          </a:prstGeom>
          <a:noFill/>
          <a:ln w="12700">
            <a:solidFill>
              <a:schemeClr val="tx1"/>
            </a:solidFill>
            <a:round/>
            <a:headEnd/>
            <a:tailEnd/>
          </a:ln>
          <a:effectLst/>
        </p:spPr>
        <p:txBody>
          <a:bodyPr wrap="none" anchor="ctr"/>
          <a:lstStyle/>
          <a:p>
            <a:endParaRPr lang="en-US"/>
          </a:p>
        </p:txBody>
      </p:sp>
      <p:sp>
        <p:nvSpPr>
          <p:cNvPr id="1119294" name="Line 62"/>
          <p:cNvSpPr>
            <a:spLocks noChangeShapeType="1"/>
          </p:cNvSpPr>
          <p:nvPr/>
        </p:nvSpPr>
        <p:spPr bwMode="auto">
          <a:xfrm>
            <a:off x="762000" y="4953000"/>
            <a:ext cx="533400" cy="0"/>
          </a:xfrm>
          <a:prstGeom prst="line">
            <a:avLst/>
          </a:prstGeom>
          <a:noFill/>
          <a:ln w="12700">
            <a:solidFill>
              <a:schemeClr val="tx1"/>
            </a:solidFill>
            <a:round/>
            <a:headEnd/>
            <a:tailEnd/>
          </a:ln>
          <a:effectLst/>
        </p:spPr>
        <p:txBody>
          <a:bodyPr wrap="none" anchor="ctr"/>
          <a:lstStyle/>
          <a:p>
            <a:endParaRPr lang="en-US"/>
          </a:p>
        </p:txBody>
      </p:sp>
      <p:sp>
        <p:nvSpPr>
          <p:cNvPr id="1119295" name="Rectangle 63"/>
          <p:cNvSpPr>
            <a:spLocks noChangeArrowheads="1"/>
          </p:cNvSpPr>
          <p:nvPr/>
        </p:nvSpPr>
        <p:spPr bwMode="auto">
          <a:xfrm>
            <a:off x="2819400" y="4038600"/>
            <a:ext cx="533400" cy="1219200"/>
          </a:xfrm>
          <a:prstGeom prst="rect">
            <a:avLst/>
          </a:prstGeom>
          <a:noFill/>
          <a:ln w="12700">
            <a:solidFill>
              <a:schemeClr val="tx1"/>
            </a:solidFill>
            <a:miter lim="800000"/>
            <a:headEnd/>
            <a:tailEnd/>
          </a:ln>
          <a:effectLst/>
        </p:spPr>
        <p:txBody>
          <a:bodyPr wrap="none" anchor="ctr"/>
          <a:lstStyle/>
          <a:p>
            <a:endParaRPr lang="en-US"/>
          </a:p>
        </p:txBody>
      </p:sp>
      <p:sp>
        <p:nvSpPr>
          <p:cNvPr id="1119296" name="Line 64"/>
          <p:cNvSpPr>
            <a:spLocks noChangeShapeType="1"/>
          </p:cNvSpPr>
          <p:nvPr/>
        </p:nvSpPr>
        <p:spPr bwMode="auto">
          <a:xfrm>
            <a:off x="2819400" y="4648200"/>
            <a:ext cx="533400" cy="0"/>
          </a:xfrm>
          <a:prstGeom prst="line">
            <a:avLst/>
          </a:prstGeom>
          <a:noFill/>
          <a:ln w="12700">
            <a:solidFill>
              <a:schemeClr val="tx1"/>
            </a:solidFill>
            <a:round/>
            <a:headEnd/>
            <a:tailEnd/>
          </a:ln>
          <a:effectLst/>
        </p:spPr>
        <p:txBody>
          <a:bodyPr wrap="none" anchor="ctr"/>
          <a:lstStyle/>
          <a:p>
            <a:endParaRPr lang="en-US"/>
          </a:p>
        </p:txBody>
      </p:sp>
      <p:sp>
        <p:nvSpPr>
          <p:cNvPr id="1119297" name="Line 65"/>
          <p:cNvSpPr>
            <a:spLocks noChangeShapeType="1"/>
          </p:cNvSpPr>
          <p:nvPr/>
        </p:nvSpPr>
        <p:spPr bwMode="auto">
          <a:xfrm>
            <a:off x="2819400" y="4343400"/>
            <a:ext cx="533400" cy="0"/>
          </a:xfrm>
          <a:prstGeom prst="line">
            <a:avLst/>
          </a:prstGeom>
          <a:noFill/>
          <a:ln w="12700">
            <a:solidFill>
              <a:schemeClr val="tx1"/>
            </a:solidFill>
            <a:round/>
            <a:headEnd/>
            <a:tailEnd/>
          </a:ln>
          <a:effectLst/>
        </p:spPr>
        <p:txBody>
          <a:bodyPr wrap="none" anchor="ctr"/>
          <a:lstStyle/>
          <a:p>
            <a:endParaRPr lang="en-US"/>
          </a:p>
        </p:txBody>
      </p:sp>
      <p:sp>
        <p:nvSpPr>
          <p:cNvPr id="1119298" name="Line 66"/>
          <p:cNvSpPr>
            <a:spLocks noChangeShapeType="1"/>
          </p:cNvSpPr>
          <p:nvPr/>
        </p:nvSpPr>
        <p:spPr bwMode="auto">
          <a:xfrm>
            <a:off x="2819400" y="4953000"/>
            <a:ext cx="533400" cy="0"/>
          </a:xfrm>
          <a:prstGeom prst="line">
            <a:avLst/>
          </a:prstGeom>
          <a:noFill/>
          <a:ln w="12700">
            <a:solidFill>
              <a:schemeClr val="tx1"/>
            </a:solidFill>
            <a:round/>
            <a:headEnd/>
            <a:tailEnd/>
          </a:ln>
          <a:effectLst/>
        </p:spPr>
        <p:txBody>
          <a:bodyPr wrap="none" anchor="ctr"/>
          <a:lstStyle/>
          <a:p>
            <a:endParaRPr lang="en-US"/>
          </a:p>
        </p:txBody>
      </p:sp>
      <p:sp>
        <p:nvSpPr>
          <p:cNvPr id="1119299" name="Rectangle 67"/>
          <p:cNvSpPr>
            <a:spLocks noChangeArrowheads="1"/>
          </p:cNvSpPr>
          <p:nvPr/>
        </p:nvSpPr>
        <p:spPr bwMode="auto">
          <a:xfrm>
            <a:off x="4800600" y="4038600"/>
            <a:ext cx="533400" cy="1219200"/>
          </a:xfrm>
          <a:prstGeom prst="rect">
            <a:avLst/>
          </a:prstGeom>
          <a:noFill/>
          <a:ln w="12700">
            <a:solidFill>
              <a:schemeClr val="tx1"/>
            </a:solidFill>
            <a:miter lim="800000"/>
            <a:headEnd/>
            <a:tailEnd/>
          </a:ln>
          <a:effectLst/>
        </p:spPr>
        <p:txBody>
          <a:bodyPr wrap="none" anchor="ctr"/>
          <a:lstStyle/>
          <a:p>
            <a:endParaRPr lang="en-US"/>
          </a:p>
        </p:txBody>
      </p:sp>
      <p:sp>
        <p:nvSpPr>
          <p:cNvPr id="1119300" name="Line 68"/>
          <p:cNvSpPr>
            <a:spLocks noChangeShapeType="1"/>
          </p:cNvSpPr>
          <p:nvPr/>
        </p:nvSpPr>
        <p:spPr bwMode="auto">
          <a:xfrm>
            <a:off x="4800600" y="4648200"/>
            <a:ext cx="533400" cy="0"/>
          </a:xfrm>
          <a:prstGeom prst="line">
            <a:avLst/>
          </a:prstGeom>
          <a:noFill/>
          <a:ln w="12700">
            <a:solidFill>
              <a:schemeClr val="tx1"/>
            </a:solidFill>
            <a:round/>
            <a:headEnd/>
            <a:tailEnd/>
          </a:ln>
          <a:effectLst/>
        </p:spPr>
        <p:txBody>
          <a:bodyPr wrap="none" anchor="ctr"/>
          <a:lstStyle/>
          <a:p>
            <a:endParaRPr lang="en-US"/>
          </a:p>
        </p:txBody>
      </p:sp>
      <p:sp>
        <p:nvSpPr>
          <p:cNvPr id="1119301" name="Line 69"/>
          <p:cNvSpPr>
            <a:spLocks noChangeShapeType="1"/>
          </p:cNvSpPr>
          <p:nvPr/>
        </p:nvSpPr>
        <p:spPr bwMode="auto">
          <a:xfrm>
            <a:off x="4800600" y="4343400"/>
            <a:ext cx="533400" cy="0"/>
          </a:xfrm>
          <a:prstGeom prst="line">
            <a:avLst/>
          </a:prstGeom>
          <a:noFill/>
          <a:ln w="12700">
            <a:solidFill>
              <a:schemeClr val="tx1"/>
            </a:solidFill>
            <a:round/>
            <a:headEnd/>
            <a:tailEnd/>
          </a:ln>
          <a:effectLst/>
        </p:spPr>
        <p:txBody>
          <a:bodyPr wrap="none" anchor="ctr"/>
          <a:lstStyle/>
          <a:p>
            <a:endParaRPr lang="en-US"/>
          </a:p>
        </p:txBody>
      </p:sp>
      <p:sp>
        <p:nvSpPr>
          <p:cNvPr id="1119302" name="Line 70"/>
          <p:cNvSpPr>
            <a:spLocks noChangeShapeType="1"/>
          </p:cNvSpPr>
          <p:nvPr/>
        </p:nvSpPr>
        <p:spPr bwMode="auto">
          <a:xfrm>
            <a:off x="4800600" y="4953000"/>
            <a:ext cx="533400" cy="0"/>
          </a:xfrm>
          <a:prstGeom prst="line">
            <a:avLst/>
          </a:prstGeom>
          <a:noFill/>
          <a:ln w="12700">
            <a:solidFill>
              <a:schemeClr val="tx1"/>
            </a:solidFill>
            <a:round/>
            <a:headEnd/>
            <a:tailEnd/>
          </a:ln>
          <a:effectLst/>
        </p:spPr>
        <p:txBody>
          <a:bodyPr wrap="none" anchor="ctr"/>
          <a:lstStyle/>
          <a:p>
            <a:endParaRPr lang="en-US"/>
          </a:p>
        </p:txBody>
      </p:sp>
      <p:sp>
        <p:nvSpPr>
          <p:cNvPr id="1119303" name="Rectangle 71"/>
          <p:cNvSpPr>
            <a:spLocks noChangeArrowheads="1"/>
          </p:cNvSpPr>
          <p:nvPr/>
        </p:nvSpPr>
        <p:spPr bwMode="auto">
          <a:xfrm>
            <a:off x="6858000" y="4038600"/>
            <a:ext cx="533400" cy="1219200"/>
          </a:xfrm>
          <a:prstGeom prst="rect">
            <a:avLst/>
          </a:prstGeom>
          <a:noFill/>
          <a:ln w="12700">
            <a:solidFill>
              <a:schemeClr val="tx1"/>
            </a:solidFill>
            <a:miter lim="800000"/>
            <a:headEnd/>
            <a:tailEnd/>
          </a:ln>
          <a:effectLst/>
        </p:spPr>
        <p:txBody>
          <a:bodyPr wrap="none" anchor="ctr"/>
          <a:lstStyle/>
          <a:p>
            <a:endParaRPr lang="en-US"/>
          </a:p>
        </p:txBody>
      </p:sp>
      <p:sp>
        <p:nvSpPr>
          <p:cNvPr id="1119304" name="Line 72"/>
          <p:cNvSpPr>
            <a:spLocks noChangeShapeType="1"/>
          </p:cNvSpPr>
          <p:nvPr/>
        </p:nvSpPr>
        <p:spPr bwMode="auto">
          <a:xfrm>
            <a:off x="6858000" y="4648200"/>
            <a:ext cx="533400" cy="0"/>
          </a:xfrm>
          <a:prstGeom prst="line">
            <a:avLst/>
          </a:prstGeom>
          <a:noFill/>
          <a:ln w="12700">
            <a:solidFill>
              <a:schemeClr val="tx1"/>
            </a:solidFill>
            <a:round/>
            <a:headEnd/>
            <a:tailEnd/>
          </a:ln>
          <a:effectLst/>
        </p:spPr>
        <p:txBody>
          <a:bodyPr wrap="none" anchor="ctr"/>
          <a:lstStyle/>
          <a:p>
            <a:endParaRPr lang="en-US"/>
          </a:p>
        </p:txBody>
      </p:sp>
      <p:sp>
        <p:nvSpPr>
          <p:cNvPr id="1119305" name="Line 73"/>
          <p:cNvSpPr>
            <a:spLocks noChangeShapeType="1"/>
          </p:cNvSpPr>
          <p:nvPr/>
        </p:nvSpPr>
        <p:spPr bwMode="auto">
          <a:xfrm>
            <a:off x="6858000" y="4343400"/>
            <a:ext cx="533400" cy="0"/>
          </a:xfrm>
          <a:prstGeom prst="line">
            <a:avLst/>
          </a:prstGeom>
          <a:noFill/>
          <a:ln w="12700">
            <a:solidFill>
              <a:schemeClr val="tx1"/>
            </a:solidFill>
            <a:round/>
            <a:headEnd/>
            <a:tailEnd/>
          </a:ln>
          <a:effectLst/>
        </p:spPr>
        <p:txBody>
          <a:bodyPr wrap="none" anchor="ctr"/>
          <a:lstStyle/>
          <a:p>
            <a:endParaRPr lang="en-US"/>
          </a:p>
        </p:txBody>
      </p:sp>
      <p:sp>
        <p:nvSpPr>
          <p:cNvPr id="1119306" name="Line 74"/>
          <p:cNvSpPr>
            <a:spLocks noChangeShapeType="1"/>
          </p:cNvSpPr>
          <p:nvPr/>
        </p:nvSpPr>
        <p:spPr bwMode="auto">
          <a:xfrm>
            <a:off x="6858000" y="4953000"/>
            <a:ext cx="533400" cy="0"/>
          </a:xfrm>
          <a:prstGeom prst="line">
            <a:avLst/>
          </a:prstGeom>
          <a:noFill/>
          <a:ln w="12700">
            <a:solidFill>
              <a:schemeClr val="tx1"/>
            </a:solidFill>
            <a:round/>
            <a:headEnd/>
            <a:tailEnd/>
          </a:ln>
          <a:effectLst/>
        </p:spPr>
        <p:txBody>
          <a:bodyPr wrap="none" anchor="ctr"/>
          <a:lstStyle/>
          <a:p>
            <a:endParaRPr lang="en-US"/>
          </a:p>
        </p:txBody>
      </p:sp>
      <p:sp>
        <p:nvSpPr>
          <p:cNvPr id="1119307" name="Rectangle 75"/>
          <p:cNvSpPr>
            <a:spLocks noGrp="1" noChangeArrowheads="1"/>
          </p:cNvSpPr>
          <p:nvPr>
            <p:ph type="body" idx="1"/>
          </p:nvPr>
        </p:nvSpPr>
        <p:spPr>
          <a:xfrm>
            <a:off x="533400" y="762000"/>
            <a:ext cx="8153400" cy="812800"/>
          </a:xfrm>
          <a:noFill/>
          <a:ln/>
        </p:spPr>
        <p:txBody>
          <a:bodyPr/>
          <a:lstStyle/>
          <a:p>
            <a:r>
              <a:rPr lang="en-US"/>
              <a:t>Consider the main memory word reference string</a:t>
            </a:r>
          </a:p>
          <a:p>
            <a:pPr lvl="1" algn="ctr">
              <a:buFont typeface="Monotype Sorts" pitchFamily="2" charset="2"/>
              <a:buNone/>
            </a:pPr>
            <a:r>
              <a:rPr lang="en-US"/>
              <a:t>              0   4   0   4   0   4   0   4</a:t>
            </a:r>
          </a:p>
        </p:txBody>
      </p:sp>
      <p:sp>
        <p:nvSpPr>
          <p:cNvPr id="1119308" name="Text Box 76"/>
          <p:cNvSpPr txBox="1">
            <a:spLocks noChangeArrowheads="1"/>
          </p:cNvSpPr>
          <p:nvPr/>
        </p:nvSpPr>
        <p:spPr bwMode="auto">
          <a:xfrm>
            <a:off x="1600200" y="1752600"/>
            <a:ext cx="654050" cy="366713"/>
          </a:xfrm>
          <a:prstGeom prst="rect">
            <a:avLst/>
          </a:prstGeom>
          <a:noFill/>
          <a:ln w="12700">
            <a:noFill/>
            <a:miter lim="800000"/>
            <a:headEnd/>
            <a:tailEnd/>
          </a:ln>
          <a:effectLst/>
        </p:spPr>
        <p:txBody>
          <a:bodyPr wrap="none">
            <a:spAutoFit/>
          </a:bodyPr>
          <a:lstStyle/>
          <a:p>
            <a:r>
              <a:rPr lang="en-US"/>
              <a:t>miss</a:t>
            </a:r>
          </a:p>
        </p:txBody>
      </p:sp>
      <p:sp>
        <p:nvSpPr>
          <p:cNvPr id="1119309" name="Text Box 77"/>
          <p:cNvSpPr txBox="1">
            <a:spLocks noChangeArrowheads="1"/>
          </p:cNvSpPr>
          <p:nvPr/>
        </p:nvSpPr>
        <p:spPr bwMode="auto">
          <a:xfrm>
            <a:off x="3505200" y="1752600"/>
            <a:ext cx="654050" cy="366713"/>
          </a:xfrm>
          <a:prstGeom prst="rect">
            <a:avLst/>
          </a:prstGeom>
          <a:noFill/>
          <a:ln w="12700">
            <a:noFill/>
            <a:miter lim="800000"/>
            <a:headEnd/>
            <a:tailEnd/>
          </a:ln>
          <a:effectLst/>
        </p:spPr>
        <p:txBody>
          <a:bodyPr wrap="none">
            <a:spAutoFit/>
          </a:bodyPr>
          <a:lstStyle/>
          <a:p>
            <a:r>
              <a:rPr lang="en-US"/>
              <a:t>miss</a:t>
            </a:r>
          </a:p>
        </p:txBody>
      </p:sp>
      <p:sp>
        <p:nvSpPr>
          <p:cNvPr id="1119310" name="Text Box 78"/>
          <p:cNvSpPr txBox="1">
            <a:spLocks noChangeArrowheads="1"/>
          </p:cNvSpPr>
          <p:nvPr/>
        </p:nvSpPr>
        <p:spPr bwMode="auto">
          <a:xfrm>
            <a:off x="5486400" y="1752600"/>
            <a:ext cx="654050" cy="366713"/>
          </a:xfrm>
          <a:prstGeom prst="rect">
            <a:avLst/>
          </a:prstGeom>
          <a:noFill/>
          <a:ln w="12700">
            <a:noFill/>
            <a:miter lim="800000"/>
            <a:headEnd/>
            <a:tailEnd/>
          </a:ln>
          <a:effectLst/>
        </p:spPr>
        <p:txBody>
          <a:bodyPr wrap="none">
            <a:spAutoFit/>
          </a:bodyPr>
          <a:lstStyle/>
          <a:p>
            <a:r>
              <a:rPr lang="en-US"/>
              <a:t>miss</a:t>
            </a:r>
          </a:p>
        </p:txBody>
      </p:sp>
      <p:sp>
        <p:nvSpPr>
          <p:cNvPr id="1119311" name="Text Box 79"/>
          <p:cNvSpPr txBox="1">
            <a:spLocks noChangeArrowheads="1"/>
          </p:cNvSpPr>
          <p:nvPr/>
        </p:nvSpPr>
        <p:spPr bwMode="auto">
          <a:xfrm>
            <a:off x="7620000" y="1752600"/>
            <a:ext cx="654050" cy="366713"/>
          </a:xfrm>
          <a:prstGeom prst="rect">
            <a:avLst/>
          </a:prstGeom>
          <a:noFill/>
          <a:ln w="12700">
            <a:noFill/>
            <a:miter lim="800000"/>
            <a:headEnd/>
            <a:tailEnd/>
          </a:ln>
          <a:effectLst/>
        </p:spPr>
        <p:txBody>
          <a:bodyPr wrap="none">
            <a:spAutoFit/>
          </a:bodyPr>
          <a:lstStyle/>
          <a:p>
            <a:r>
              <a:rPr lang="en-US"/>
              <a:t>miss</a:t>
            </a:r>
          </a:p>
        </p:txBody>
      </p:sp>
      <p:sp>
        <p:nvSpPr>
          <p:cNvPr id="1119312" name="Text Box 80"/>
          <p:cNvSpPr txBox="1">
            <a:spLocks noChangeArrowheads="1"/>
          </p:cNvSpPr>
          <p:nvPr/>
        </p:nvSpPr>
        <p:spPr bwMode="auto">
          <a:xfrm>
            <a:off x="1447800" y="3657600"/>
            <a:ext cx="654050" cy="366713"/>
          </a:xfrm>
          <a:prstGeom prst="rect">
            <a:avLst/>
          </a:prstGeom>
          <a:noFill/>
          <a:ln w="12700">
            <a:noFill/>
            <a:miter lim="800000"/>
            <a:headEnd/>
            <a:tailEnd/>
          </a:ln>
          <a:effectLst/>
        </p:spPr>
        <p:txBody>
          <a:bodyPr wrap="none">
            <a:spAutoFit/>
          </a:bodyPr>
          <a:lstStyle/>
          <a:p>
            <a:r>
              <a:rPr lang="en-US"/>
              <a:t>miss</a:t>
            </a:r>
          </a:p>
        </p:txBody>
      </p:sp>
      <p:sp>
        <p:nvSpPr>
          <p:cNvPr id="1119313" name="Text Box 81"/>
          <p:cNvSpPr txBox="1">
            <a:spLocks noChangeArrowheads="1"/>
          </p:cNvSpPr>
          <p:nvPr/>
        </p:nvSpPr>
        <p:spPr bwMode="auto">
          <a:xfrm>
            <a:off x="3505200" y="3657600"/>
            <a:ext cx="654050" cy="366713"/>
          </a:xfrm>
          <a:prstGeom prst="rect">
            <a:avLst/>
          </a:prstGeom>
          <a:noFill/>
          <a:ln w="12700">
            <a:noFill/>
            <a:miter lim="800000"/>
            <a:headEnd/>
            <a:tailEnd/>
          </a:ln>
          <a:effectLst/>
        </p:spPr>
        <p:txBody>
          <a:bodyPr wrap="none">
            <a:spAutoFit/>
          </a:bodyPr>
          <a:lstStyle/>
          <a:p>
            <a:r>
              <a:rPr lang="en-US"/>
              <a:t>miss</a:t>
            </a:r>
          </a:p>
        </p:txBody>
      </p:sp>
      <p:sp>
        <p:nvSpPr>
          <p:cNvPr id="1119314" name="Text Box 82"/>
          <p:cNvSpPr txBox="1">
            <a:spLocks noChangeArrowheads="1"/>
          </p:cNvSpPr>
          <p:nvPr/>
        </p:nvSpPr>
        <p:spPr bwMode="auto">
          <a:xfrm>
            <a:off x="5638800" y="3657600"/>
            <a:ext cx="654050" cy="366713"/>
          </a:xfrm>
          <a:prstGeom prst="rect">
            <a:avLst/>
          </a:prstGeom>
          <a:noFill/>
          <a:ln w="12700">
            <a:noFill/>
            <a:miter lim="800000"/>
            <a:headEnd/>
            <a:tailEnd/>
          </a:ln>
          <a:effectLst/>
        </p:spPr>
        <p:txBody>
          <a:bodyPr wrap="none">
            <a:spAutoFit/>
          </a:bodyPr>
          <a:lstStyle/>
          <a:p>
            <a:r>
              <a:rPr lang="en-US"/>
              <a:t>miss</a:t>
            </a:r>
          </a:p>
        </p:txBody>
      </p:sp>
      <p:sp>
        <p:nvSpPr>
          <p:cNvPr id="1119315" name="Text Box 83"/>
          <p:cNvSpPr txBox="1">
            <a:spLocks noChangeArrowheads="1"/>
          </p:cNvSpPr>
          <p:nvPr/>
        </p:nvSpPr>
        <p:spPr bwMode="auto">
          <a:xfrm>
            <a:off x="7620000" y="3657600"/>
            <a:ext cx="654050" cy="366713"/>
          </a:xfrm>
          <a:prstGeom prst="rect">
            <a:avLst/>
          </a:prstGeom>
          <a:noFill/>
          <a:ln w="12700">
            <a:noFill/>
            <a:miter lim="800000"/>
            <a:headEnd/>
            <a:tailEnd/>
          </a:ln>
          <a:effectLst/>
        </p:spPr>
        <p:txBody>
          <a:bodyPr wrap="none">
            <a:spAutoFit/>
          </a:bodyPr>
          <a:lstStyle/>
          <a:p>
            <a:r>
              <a:rPr lang="en-US"/>
              <a:t>miss</a:t>
            </a:r>
          </a:p>
        </p:txBody>
      </p:sp>
      <p:sp>
        <p:nvSpPr>
          <p:cNvPr id="1119316" name="Text Box 84"/>
          <p:cNvSpPr txBox="1">
            <a:spLocks noChangeArrowheads="1"/>
          </p:cNvSpPr>
          <p:nvPr/>
        </p:nvSpPr>
        <p:spPr bwMode="auto">
          <a:xfrm>
            <a:off x="838200" y="2209800"/>
            <a:ext cx="1479550" cy="366713"/>
          </a:xfrm>
          <a:prstGeom prst="rect">
            <a:avLst/>
          </a:prstGeom>
          <a:noFill/>
          <a:ln w="12700">
            <a:noFill/>
            <a:miter lim="800000"/>
            <a:headEnd/>
            <a:tailEnd/>
          </a:ln>
          <a:effectLst/>
        </p:spPr>
        <p:txBody>
          <a:bodyPr wrap="none">
            <a:spAutoFit/>
          </a:bodyPr>
          <a:lstStyle/>
          <a:p>
            <a:r>
              <a:rPr lang="en-US">
                <a:solidFill>
                  <a:schemeClr val="tx1"/>
                </a:solidFill>
              </a:rPr>
              <a:t>00    Mem(0)</a:t>
            </a:r>
          </a:p>
        </p:txBody>
      </p:sp>
      <p:sp>
        <p:nvSpPr>
          <p:cNvPr id="1119317" name="Text Box 85"/>
          <p:cNvSpPr txBox="1">
            <a:spLocks noChangeArrowheads="1"/>
          </p:cNvSpPr>
          <p:nvPr/>
        </p:nvSpPr>
        <p:spPr bwMode="auto">
          <a:xfrm>
            <a:off x="2743200" y="2209800"/>
            <a:ext cx="1479550" cy="366713"/>
          </a:xfrm>
          <a:prstGeom prst="rect">
            <a:avLst/>
          </a:prstGeom>
          <a:noFill/>
          <a:ln w="12700">
            <a:noFill/>
            <a:miter lim="800000"/>
            <a:headEnd/>
            <a:tailEnd/>
          </a:ln>
          <a:effectLst/>
        </p:spPr>
        <p:txBody>
          <a:bodyPr wrap="none">
            <a:spAutoFit/>
          </a:bodyPr>
          <a:lstStyle/>
          <a:p>
            <a:r>
              <a:rPr lang="en-US">
                <a:solidFill>
                  <a:schemeClr val="tx1"/>
                </a:solidFill>
              </a:rPr>
              <a:t>00    Mem(0)</a:t>
            </a:r>
          </a:p>
        </p:txBody>
      </p:sp>
      <p:grpSp>
        <p:nvGrpSpPr>
          <p:cNvPr id="2" name="Group 86"/>
          <p:cNvGrpSpPr>
            <a:grpSpLocks/>
          </p:cNvGrpSpPr>
          <p:nvPr/>
        </p:nvGrpSpPr>
        <p:grpSpPr bwMode="auto">
          <a:xfrm>
            <a:off x="2514600" y="1981200"/>
            <a:ext cx="1835150" cy="533400"/>
            <a:chOff x="1584" y="960"/>
            <a:chExt cx="1156" cy="336"/>
          </a:xfrm>
        </p:grpSpPr>
        <p:sp>
          <p:nvSpPr>
            <p:cNvPr id="1119319" name="Line 87"/>
            <p:cNvSpPr>
              <a:spLocks noChangeShapeType="1"/>
            </p:cNvSpPr>
            <p:nvPr/>
          </p:nvSpPr>
          <p:spPr bwMode="auto">
            <a:xfrm>
              <a:off x="1776" y="1152"/>
              <a:ext cx="240" cy="144"/>
            </a:xfrm>
            <a:prstGeom prst="line">
              <a:avLst/>
            </a:prstGeom>
            <a:noFill/>
            <a:ln w="28575">
              <a:solidFill>
                <a:schemeClr val="accent1"/>
              </a:solidFill>
              <a:round/>
              <a:headEnd/>
              <a:tailEnd/>
            </a:ln>
            <a:effectLst/>
          </p:spPr>
          <p:txBody>
            <a:bodyPr/>
            <a:lstStyle/>
            <a:p>
              <a:endParaRPr lang="en-US"/>
            </a:p>
          </p:txBody>
        </p:sp>
        <p:sp>
          <p:nvSpPr>
            <p:cNvPr id="1119320" name="Text Box 88"/>
            <p:cNvSpPr txBox="1">
              <a:spLocks noChangeArrowheads="1"/>
            </p:cNvSpPr>
            <p:nvPr/>
          </p:nvSpPr>
          <p:spPr bwMode="auto">
            <a:xfrm>
              <a:off x="1584" y="960"/>
              <a:ext cx="276" cy="231"/>
            </a:xfrm>
            <a:prstGeom prst="rect">
              <a:avLst/>
            </a:prstGeom>
            <a:noFill/>
            <a:ln w="12700">
              <a:noFill/>
              <a:miter lim="800000"/>
              <a:headEnd/>
              <a:tailEnd/>
            </a:ln>
            <a:effectLst/>
          </p:spPr>
          <p:txBody>
            <a:bodyPr wrap="none">
              <a:spAutoFit/>
            </a:bodyPr>
            <a:lstStyle/>
            <a:p>
              <a:r>
                <a:rPr lang="en-US"/>
                <a:t>01</a:t>
              </a:r>
            </a:p>
          </p:txBody>
        </p:sp>
        <p:sp>
          <p:nvSpPr>
            <p:cNvPr id="1119321" name="Text Box 89"/>
            <p:cNvSpPr txBox="1">
              <a:spLocks noChangeArrowheads="1"/>
            </p:cNvSpPr>
            <p:nvPr/>
          </p:nvSpPr>
          <p:spPr bwMode="auto">
            <a:xfrm>
              <a:off x="2544" y="1008"/>
              <a:ext cx="196" cy="231"/>
            </a:xfrm>
            <a:prstGeom prst="rect">
              <a:avLst/>
            </a:prstGeom>
            <a:noFill/>
            <a:ln w="12700">
              <a:noFill/>
              <a:miter lim="800000"/>
              <a:headEnd/>
              <a:tailEnd/>
            </a:ln>
            <a:effectLst/>
          </p:spPr>
          <p:txBody>
            <a:bodyPr wrap="none">
              <a:spAutoFit/>
            </a:bodyPr>
            <a:lstStyle/>
            <a:p>
              <a:r>
                <a:rPr lang="en-US"/>
                <a:t>4</a:t>
              </a:r>
            </a:p>
          </p:txBody>
        </p:sp>
        <p:sp>
          <p:nvSpPr>
            <p:cNvPr id="1119322" name="Line 90"/>
            <p:cNvSpPr>
              <a:spLocks noChangeShapeType="1"/>
            </p:cNvSpPr>
            <p:nvPr/>
          </p:nvSpPr>
          <p:spPr bwMode="auto">
            <a:xfrm>
              <a:off x="2448" y="1152"/>
              <a:ext cx="144" cy="144"/>
            </a:xfrm>
            <a:prstGeom prst="line">
              <a:avLst/>
            </a:prstGeom>
            <a:noFill/>
            <a:ln w="28575">
              <a:solidFill>
                <a:schemeClr val="accent1"/>
              </a:solidFill>
              <a:round/>
              <a:headEnd/>
              <a:tailEnd/>
            </a:ln>
            <a:effectLst/>
          </p:spPr>
          <p:txBody>
            <a:bodyPr/>
            <a:lstStyle/>
            <a:p>
              <a:endParaRPr lang="en-US"/>
            </a:p>
          </p:txBody>
        </p:sp>
      </p:grpSp>
      <p:sp>
        <p:nvSpPr>
          <p:cNvPr id="1119323" name="Text Box 91"/>
          <p:cNvSpPr txBox="1">
            <a:spLocks noChangeArrowheads="1"/>
          </p:cNvSpPr>
          <p:nvPr/>
        </p:nvSpPr>
        <p:spPr bwMode="auto">
          <a:xfrm>
            <a:off x="4800600" y="2209800"/>
            <a:ext cx="1479550" cy="366713"/>
          </a:xfrm>
          <a:prstGeom prst="rect">
            <a:avLst/>
          </a:prstGeom>
          <a:noFill/>
          <a:ln w="12700">
            <a:noFill/>
            <a:miter lim="800000"/>
            <a:headEnd/>
            <a:tailEnd/>
          </a:ln>
          <a:effectLst/>
        </p:spPr>
        <p:txBody>
          <a:bodyPr wrap="none">
            <a:spAutoFit/>
          </a:bodyPr>
          <a:lstStyle/>
          <a:p>
            <a:r>
              <a:rPr lang="en-US">
                <a:solidFill>
                  <a:schemeClr val="tx1"/>
                </a:solidFill>
              </a:rPr>
              <a:t>01    Mem(4)</a:t>
            </a:r>
          </a:p>
        </p:txBody>
      </p:sp>
      <p:grpSp>
        <p:nvGrpSpPr>
          <p:cNvPr id="3" name="Group 92"/>
          <p:cNvGrpSpPr>
            <a:grpSpLocks/>
          </p:cNvGrpSpPr>
          <p:nvPr/>
        </p:nvGrpSpPr>
        <p:grpSpPr bwMode="auto">
          <a:xfrm>
            <a:off x="4572000" y="1981200"/>
            <a:ext cx="1835150" cy="533400"/>
            <a:chOff x="2880" y="1008"/>
            <a:chExt cx="1156" cy="336"/>
          </a:xfrm>
        </p:grpSpPr>
        <p:sp>
          <p:nvSpPr>
            <p:cNvPr id="1119325" name="Line 93"/>
            <p:cNvSpPr>
              <a:spLocks noChangeShapeType="1"/>
            </p:cNvSpPr>
            <p:nvPr/>
          </p:nvSpPr>
          <p:spPr bwMode="auto">
            <a:xfrm>
              <a:off x="3072" y="1200"/>
              <a:ext cx="240" cy="144"/>
            </a:xfrm>
            <a:prstGeom prst="line">
              <a:avLst/>
            </a:prstGeom>
            <a:noFill/>
            <a:ln w="28575">
              <a:solidFill>
                <a:schemeClr val="accent1"/>
              </a:solidFill>
              <a:round/>
              <a:headEnd/>
              <a:tailEnd/>
            </a:ln>
            <a:effectLst/>
          </p:spPr>
          <p:txBody>
            <a:bodyPr/>
            <a:lstStyle/>
            <a:p>
              <a:endParaRPr lang="en-US"/>
            </a:p>
          </p:txBody>
        </p:sp>
        <p:sp>
          <p:nvSpPr>
            <p:cNvPr id="1119326" name="Line 94"/>
            <p:cNvSpPr>
              <a:spLocks noChangeShapeType="1"/>
            </p:cNvSpPr>
            <p:nvPr/>
          </p:nvSpPr>
          <p:spPr bwMode="auto">
            <a:xfrm>
              <a:off x="3744" y="1200"/>
              <a:ext cx="144" cy="144"/>
            </a:xfrm>
            <a:prstGeom prst="line">
              <a:avLst/>
            </a:prstGeom>
            <a:noFill/>
            <a:ln w="28575">
              <a:solidFill>
                <a:schemeClr val="accent1"/>
              </a:solidFill>
              <a:round/>
              <a:headEnd/>
              <a:tailEnd/>
            </a:ln>
            <a:effectLst/>
          </p:spPr>
          <p:txBody>
            <a:bodyPr/>
            <a:lstStyle/>
            <a:p>
              <a:endParaRPr lang="en-US"/>
            </a:p>
          </p:txBody>
        </p:sp>
        <p:sp>
          <p:nvSpPr>
            <p:cNvPr id="1119327" name="Text Box 95"/>
            <p:cNvSpPr txBox="1">
              <a:spLocks noChangeArrowheads="1"/>
            </p:cNvSpPr>
            <p:nvPr/>
          </p:nvSpPr>
          <p:spPr bwMode="auto">
            <a:xfrm>
              <a:off x="3840" y="1056"/>
              <a:ext cx="196" cy="231"/>
            </a:xfrm>
            <a:prstGeom prst="rect">
              <a:avLst/>
            </a:prstGeom>
            <a:noFill/>
            <a:ln w="12700">
              <a:noFill/>
              <a:miter lim="800000"/>
              <a:headEnd/>
              <a:tailEnd/>
            </a:ln>
            <a:effectLst/>
          </p:spPr>
          <p:txBody>
            <a:bodyPr wrap="none">
              <a:spAutoFit/>
            </a:bodyPr>
            <a:lstStyle/>
            <a:p>
              <a:r>
                <a:rPr lang="en-US"/>
                <a:t>0</a:t>
              </a:r>
            </a:p>
          </p:txBody>
        </p:sp>
        <p:sp>
          <p:nvSpPr>
            <p:cNvPr id="1119328" name="Text Box 96"/>
            <p:cNvSpPr txBox="1">
              <a:spLocks noChangeArrowheads="1"/>
            </p:cNvSpPr>
            <p:nvPr/>
          </p:nvSpPr>
          <p:spPr bwMode="auto">
            <a:xfrm>
              <a:off x="2880" y="1008"/>
              <a:ext cx="276" cy="231"/>
            </a:xfrm>
            <a:prstGeom prst="rect">
              <a:avLst/>
            </a:prstGeom>
            <a:noFill/>
            <a:ln w="12700">
              <a:noFill/>
              <a:miter lim="800000"/>
              <a:headEnd/>
              <a:tailEnd/>
            </a:ln>
            <a:effectLst/>
          </p:spPr>
          <p:txBody>
            <a:bodyPr wrap="none">
              <a:spAutoFit/>
            </a:bodyPr>
            <a:lstStyle/>
            <a:p>
              <a:r>
                <a:rPr lang="en-US"/>
                <a:t>00</a:t>
              </a:r>
            </a:p>
          </p:txBody>
        </p:sp>
      </p:grpSp>
      <p:sp>
        <p:nvSpPr>
          <p:cNvPr id="1119329" name="Text Box 97"/>
          <p:cNvSpPr txBox="1">
            <a:spLocks noChangeArrowheads="1"/>
          </p:cNvSpPr>
          <p:nvPr/>
        </p:nvSpPr>
        <p:spPr bwMode="auto">
          <a:xfrm>
            <a:off x="6858000" y="2209800"/>
            <a:ext cx="1479550" cy="366713"/>
          </a:xfrm>
          <a:prstGeom prst="rect">
            <a:avLst/>
          </a:prstGeom>
          <a:noFill/>
          <a:ln w="12700">
            <a:noFill/>
            <a:miter lim="800000"/>
            <a:headEnd/>
            <a:tailEnd/>
          </a:ln>
          <a:effectLst/>
        </p:spPr>
        <p:txBody>
          <a:bodyPr wrap="none">
            <a:spAutoFit/>
          </a:bodyPr>
          <a:lstStyle/>
          <a:p>
            <a:r>
              <a:rPr lang="en-US">
                <a:solidFill>
                  <a:schemeClr val="tx1"/>
                </a:solidFill>
              </a:rPr>
              <a:t>00    Mem(0)</a:t>
            </a:r>
          </a:p>
        </p:txBody>
      </p:sp>
      <p:grpSp>
        <p:nvGrpSpPr>
          <p:cNvPr id="4" name="Group 98"/>
          <p:cNvGrpSpPr>
            <a:grpSpLocks/>
          </p:cNvGrpSpPr>
          <p:nvPr/>
        </p:nvGrpSpPr>
        <p:grpSpPr bwMode="auto">
          <a:xfrm>
            <a:off x="6629400" y="1981200"/>
            <a:ext cx="1835150" cy="533400"/>
            <a:chOff x="4176" y="1008"/>
            <a:chExt cx="1156" cy="336"/>
          </a:xfrm>
        </p:grpSpPr>
        <p:sp>
          <p:nvSpPr>
            <p:cNvPr id="1119331" name="Line 99"/>
            <p:cNvSpPr>
              <a:spLocks noChangeShapeType="1"/>
            </p:cNvSpPr>
            <p:nvPr/>
          </p:nvSpPr>
          <p:spPr bwMode="auto">
            <a:xfrm>
              <a:off x="4368" y="1200"/>
              <a:ext cx="240" cy="144"/>
            </a:xfrm>
            <a:prstGeom prst="line">
              <a:avLst/>
            </a:prstGeom>
            <a:noFill/>
            <a:ln w="28575">
              <a:solidFill>
                <a:schemeClr val="accent1"/>
              </a:solidFill>
              <a:round/>
              <a:headEnd/>
              <a:tailEnd/>
            </a:ln>
            <a:effectLst/>
          </p:spPr>
          <p:txBody>
            <a:bodyPr/>
            <a:lstStyle/>
            <a:p>
              <a:endParaRPr lang="en-US"/>
            </a:p>
          </p:txBody>
        </p:sp>
        <p:sp>
          <p:nvSpPr>
            <p:cNvPr id="1119332" name="Text Box 100"/>
            <p:cNvSpPr txBox="1">
              <a:spLocks noChangeArrowheads="1"/>
            </p:cNvSpPr>
            <p:nvPr/>
          </p:nvSpPr>
          <p:spPr bwMode="auto">
            <a:xfrm>
              <a:off x="4176" y="1008"/>
              <a:ext cx="276" cy="231"/>
            </a:xfrm>
            <a:prstGeom prst="rect">
              <a:avLst/>
            </a:prstGeom>
            <a:noFill/>
            <a:ln w="12700">
              <a:noFill/>
              <a:miter lim="800000"/>
              <a:headEnd/>
              <a:tailEnd/>
            </a:ln>
            <a:effectLst/>
          </p:spPr>
          <p:txBody>
            <a:bodyPr wrap="none">
              <a:spAutoFit/>
            </a:bodyPr>
            <a:lstStyle/>
            <a:p>
              <a:r>
                <a:rPr lang="en-US"/>
                <a:t>01</a:t>
              </a:r>
            </a:p>
          </p:txBody>
        </p:sp>
        <p:sp>
          <p:nvSpPr>
            <p:cNvPr id="1119333" name="Text Box 101"/>
            <p:cNvSpPr txBox="1">
              <a:spLocks noChangeArrowheads="1"/>
            </p:cNvSpPr>
            <p:nvPr/>
          </p:nvSpPr>
          <p:spPr bwMode="auto">
            <a:xfrm>
              <a:off x="5136" y="1104"/>
              <a:ext cx="196" cy="231"/>
            </a:xfrm>
            <a:prstGeom prst="rect">
              <a:avLst/>
            </a:prstGeom>
            <a:noFill/>
            <a:ln w="12700">
              <a:noFill/>
              <a:miter lim="800000"/>
              <a:headEnd/>
              <a:tailEnd/>
            </a:ln>
            <a:effectLst/>
          </p:spPr>
          <p:txBody>
            <a:bodyPr wrap="none">
              <a:spAutoFit/>
            </a:bodyPr>
            <a:lstStyle/>
            <a:p>
              <a:r>
                <a:rPr lang="en-US"/>
                <a:t>4</a:t>
              </a:r>
            </a:p>
          </p:txBody>
        </p:sp>
        <p:sp>
          <p:nvSpPr>
            <p:cNvPr id="1119334" name="Line 102"/>
            <p:cNvSpPr>
              <a:spLocks noChangeShapeType="1"/>
            </p:cNvSpPr>
            <p:nvPr/>
          </p:nvSpPr>
          <p:spPr bwMode="auto">
            <a:xfrm>
              <a:off x="5040" y="1200"/>
              <a:ext cx="144" cy="144"/>
            </a:xfrm>
            <a:prstGeom prst="line">
              <a:avLst/>
            </a:prstGeom>
            <a:noFill/>
            <a:ln w="28575">
              <a:solidFill>
                <a:schemeClr val="accent1"/>
              </a:solidFill>
              <a:round/>
              <a:headEnd/>
              <a:tailEnd/>
            </a:ln>
            <a:effectLst/>
          </p:spPr>
          <p:txBody>
            <a:bodyPr/>
            <a:lstStyle/>
            <a:p>
              <a:endParaRPr lang="en-US"/>
            </a:p>
          </p:txBody>
        </p:sp>
      </p:grpSp>
      <p:sp>
        <p:nvSpPr>
          <p:cNvPr id="1119335" name="Text Box 103"/>
          <p:cNvSpPr txBox="1">
            <a:spLocks noChangeArrowheads="1"/>
          </p:cNvSpPr>
          <p:nvPr/>
        </p:nvSpPr>
        <p:spPr bwMode="auto">
          <a:xfrm>
            <a:off x="2819400" y="4038600"/>
            <a:ext cx="1479550" cy="366713"/>
          </a:xfrm>
          <a:prstGeom prst="rect">
            <a:avLst/>
          </a:prstGeom>
          <a:noFill/>
          <a:ln w="12700">
            <a:noFill/>
            <a:miter lim="800000"/>
            <a:headEnd/>
            <a:tailEnd/>
          </a:ln>
          <a:effectLst/>
        </p:spPr>
        <p:txBody>
          <a:bodyPr wrap="none">
            <a:spAutoFit/>
          </a:bodyPr>
          <a:lstStyle/>
          <a:p>
            <a:r>
              <a:rPr lang="en-US">
                <a:solidFill>
                  <a:schemeClr val="tx1"/>
                </a:solidFill>
              </a:rPr>
              <a:t>00    Mem(0)</a:t>
            </a:r>
          </a:p>
        </p:txBody>
      </p:sp>
      <p:grpSp>
        <p:nvGrpSpPr>
          <p:cNvPr id="5" name="Group 104"/>
          <p:cNvGrpSpPr>
            <a:grpSpLocks/>
          </p:cNvGrpSpPr>
          <p:nvPr/>
        </p:nvGrpSpPr>
        <p:grpSpPr bwMode="auto">
          <a:xfrm>
            <a:off x="2590800" y="3733800"/>
            <a:ext cx="1835150" cy="595313"/>
            <a:chOff x="1632" y="3273"/>
            <a:chExt cx="1156" cy="375"/>
          </a:xfrm>
        </p:grpSpPr>
        <p:sp>
          <p:nvSpPr>
            <p:cNvPr id="1119337" name="Line 105"/>
            <p:cNvSpPr>
              <a:spLocks noChangeShapeType="1"/>
            </p:cNvSpPr>
            <p:nvPr/>
          </p:nvSpPr>
          <p:spPr bwMode="auto">
            <a:xfrm>
              <a:off x="1824" y="3504"/>
              <a:ext cx="240" cy="144"/>
            </a:xfrm>
            <a:prstGeom prst="line">
              <a:avLst/>
            </a:prstGeom>
            <a:noFill/>
            <a:ln w="28575">
              <a:solidFill>
                <a:schemeClr val="accent1"/>
              </a:solidFill>
              <a:round/>
              <a:headEnd/>
              <a:tailEnd/>
            </a:ln>
            <a:effectLst/>
          </p:spPr>
          <p:txBody>
            <a:bodyPr/>
            <a:lstStyle/>
            <a:p>
              <a:endParaRPr lang="en-US"/>
            </a:p>
          </p:txBody>
        </p:sp>
        <p:sp>
          <p:nvSpPr>
            <p:cNvPr id="1119338" name="Text Box 106"/>
            <p:cNvSpPr txBox="1">
              <a:spLocks noChangeArrowheads="1"/>
            </p:cNvSpPr>
            <p:nvPr/>
          </p:nvSpPr>
          <p:spPr bwMode="auto">
            <a:xfrm>
              <a:off x="1632" y="3273"/>
              <a:ext cx="276" cy="231"/>
            </a:xfrm>
            <a:prstGeom prst="rect">
              <a:avLst/>
            </a:prstGeom>
            <a:noFill/>
            <a:ln w="12700">
              <a:noFill/>
              <a:miter lim="800000"/>
              <a:headEnd/>
              <a:tailEnd/>
            </a:ln>
            <a:effectLst/>
          </p:spPr>
          <p:txBody>
            <a:bodyPr wrap="none">
              <a:spAutoFit/>
            </a:bodyPr>
            <a:lstStyle/>
            <a:p>
              <a:r>
                <a:rPr lang="en-US"/>
                <a:t>01</a:t>
              </a:r>
            </a:p>
          </p:txBody>
        </p:sp>
        <p:sp>
          <p:nvSpPr>
            <p:cNvPr id="1119339" name="Text Box 107"/>
            <p:cNvSpPr txBox="1">
              <a:spLocks noChangeArrowheads="1"/>
            </p:cNvSpPr>
            <p:nvPr/>
          </p:nvSpPr>
          <p:spPr bwMode="auto">
            <a:xfrm>
              <a:off x="2592" y="3321"/>
              <a:ext cx="196" cy="231"/>
            </a:xfrm>
            <a:prstGeom prst="rect">
              <a:avLst/>
            </a:prstGeom>
            <a:noFill/>
            <a:ln w="12700">
              <a:noFill/>
              <a:miter lim="800000"/>
              <a:headEnd/>
              <a:tailEnd/>
            </a:ln>
            <a:effectLst/>
          </p:spPr>
          <p:txBody>
            <a:bodyPr wrap="none">
              <a:spAutoFit/>
            </a:bodyPr>
            <a:lstStyle/>
            <a:p>
              <a:r>
                <a:rPr lang="en-US"/>
                <a:t>4</a:t>
              </a:r>
            </a:p>
          </p:txBody>
        </p:sp>
        <p:sp>
          <p:nvSpPr>
            <p:cNvPr id="1119340" name="Line 108"/>
            <p:cNvSpPr>
              <a:spLocks noChangeShapeType="1"/>
            </p:cNvSpPr>
            <p:nvPr/>
          </p:nvSpPr>
          <p:spPr bwMode="auto">
            <a:xfrm>
              <a:off x="2496" y="3504"/>
              <a:ext cx="144" cy="144"/>
            </a:xfrm>
            <a:prstGeom prst="line">
              <a:avLst/>
            </a:prstGeom>
            <a:noFill/>
            <a:ln w="28575">
              <a:solidFill>
                <a:schemeClr val="accent1"/>
              </a:solidFill>
              <a:round/>
              <a:headEnd/>
              <a:tailEnd/>
            </a:ln>
            <a:effectLst/>
          </p:spPr>
          <p:txBody>
            <a:bodyPr/>
            <a:lstStyle/>
            <a:p>
              <a:endParaRPr lang="en-US"/>
            </a:p>
          </p:txBody>
        </p:sp>
      </p:grpSp>
      <p:sp>
        <p:nvSpPr>
          <p:cNvPr id="1119341" name="Text Box 109"/>
          <p:cNvSpPr txBox="1">
            <a:spLocks noChangeArrowheads="1"/>
          </p:cNvSpPr>
          <p:nvPr/>
        </p:nvSpPr>
        <p:spPr bwMode="auto">
          <a:xfrm>
            <a:off x="6858000" y="4038600"/>
            <a:ext cx="1479550" cy="366713"/>
          </a:xfrm>
          <a:prstGeom prst="rect">
            <a:avLst/>
          </a:prstGeom>
          <a:noFill/>
          <a:ln w="12700">
            <a:noFill/>
            <a:miter lim="800000"/>
            <a:headEnd/>
            <a:tailEnd/>
          </a:ln>
          <a:effectLst/>
        </p:spPr>
        <p:txBody>
          <a:bodyPr wrap="none">
            <a:spAutoFit/>
          </a:bodyPr>
          <a:lstStyle/>
          <a:p>
            <a:r>
              <a:rPr lang="en-US">
                <a:solidFill>
                  <a:schemeClr val="tx1"/>
                </a:solidFill>
              </a:rPr>
              <a:t>00    Mem(0)</a:t>
            </a:r>
          </a:p>
        </p:txBody>
      </p:sp>
      <p:grpSp>
        <p:nvGrpSpPr>
          <p:cNvPr id="6" name="Group 110"/>
          <p:cNvGrpSpPr>
            <a:grpSpLocks/>
          </p:cNvGrpSpPr>
          <p:nvPr/>
        </p:nvGrpSpPr>
        <p:grpSpPr bwMode="auto">
          <a:xfrm>
            <a:off x="6629400" y="3733800"/>
            <a:ext cx="1835150" cy="595313"/>
            <a:chOff x="4176" y="3369"/>
            <a:chExt cx="1156" cy="375"/>
          </a:xfrm>
        </p:grpSpPr>
        <p:sp>
          <p:nvSpPr>
            <p:cNvPr id="1119343" name="Line 111"/>
            <p:cNvSpPr>
              <a:spLocks noChangeShapeType="1"/>
            </p:cNvSpPr>
            <p:nvPr/>
          </p:nvSpPr>
          <p:spPr bwMode="auto">
            <a:xfrm>
              <a:off x="4368" y="3600"/>
              <a:ext cx="240" cy="144"/>
            </a:xfrm>
            <a:prstGeom prst="line">
              <a:avLst/>
            </a:prstGeom>
            <a:noFill/>
            <a:ln w="28575">
              <a:solidFill>
                <a:schemeClr val="accent1"/>
              </a:solidFill>
              <a:round/>
              <a:headEnd/>
              <a:tailEnd/>
            </a:ln>
            <a:effectLst/>
          </p:spPr>
          <p:txBody>
            <a:bodyPr/>
            <a:lstStyle/>
            <a:p>
              <a:endParaRPr lang="en-US"/>
            </a:p>
          </p:txBody>
        </p:sp>
        <p:sp>
          <p:nvSpPr>
            <p:cNvPr id="1119344" name="Text Box 112"/>
            <p:cNvSpPr txBox="1">
              <a:spLocks noChangeArrowheads="1"/>
            </p:cNvSpPr>
            <p:nvPr/>
          </p:nvSpPr>
          <p:spPr bwMode="auto">
            <a:xfrm>
              <a:off x="4176" y="3369"/>
              <a:ext cx="276" cy="231"/>
            </a:xfrm>
            <a:prstGeom prst="rect">
              <a:avLst/>
            </a:prstGeom>
            <a:noFill/>
            <a:ln w="12700">
              <a:noFill/>
              <a:miter lim="800000"/>
              <a:headEnd/>
              <a:tailEnd/>
            </a:ln>
            <a:effectLst/>
          </p:spPr>
          <p:txBody>
            <a:bodyPr wrap="none">
              <a:spAutoFit/>
            </a:bodyPr>
            <a:lstStyle/>
            <a:p>
              <a:r>
                <a:rPr lang="en-US"/>
                <a:t>01</a:t>
              </a:r>
            </a:p>
          </p:txBody>
        </p:sp>
        <p:sp>
          <p:nvSpPr>
            <p:cNvPr id="1119345" name="Text Box 113"/>
            <p:cNvSpPr txBox="1">
              <a:spLocks noChangeArrowheads="1"/>
            </p:cNvSpPr>
            <p:nvPr/>
          </p:nvSpPr>
          <p:spPr bwMode="auto">
            <a:xfrm>
              <a:off x="5136" y="3465"/>
              <a:ext cx="196" cy="231"/>
            </a:xfrm>
            <a:prstGeom prst="rect">
              <a:avLst/>
            </a:prstGeom>
            <a:noFill/>
            <a:ln w="12700">
              <a:noFill/>
              <a:miter lim="800000"/>
              <a:headEnd/>
              <a:tailEnd/>
            </a:ln>
            <a:effectLst/>
          </p:spPr>
          <p:txBody>
            <a:bodyPr wrap="none">
              <a:spAutoFit/>
            </a:bodyPr>
            <a:lstStyle/>
            <a:p>
              <a:r>
                <a:rPr lang="en-US"/>
                <a:t>4</a:t>
              </a:r>
            </a:p>
          </p:txBody>
        </p:sp>
        <p:sp>
          <p:nvSpPr>
            <p:cNvPr id="1119346" name="Line 114"/>
            <p:cNvSpPr>
              <a:spLocks noChangeShapeType="1"/>
            </p:cNvSpPr>
            <p:nvPr/>
          </p:nvSpPr>
          <p:spPr bwMode="auto">
            <a:xfrm>
              <a:off x="5040" y="3600"/>
              <a:ext cx="144" cy="144"/>
            </a:xfrm>
            <a:prstGeom prst="line">
              <a:avLst/>
            </a:prstGeom>
            <a:noFill/>
            <a:ln w="28575">
              <a:solidFill>
                <a:schemeClr val="accent1"/>
              </a:solidFill>
              <a:round/>
              <a:headEnd/>
              <a:tailEnd/>
            </a:ln>
            <a:effectLst/>
          </p:spPr>
          <p:txBody>
            <a:bodyPr/>
            <a:lstStyle/>
            <a:p>
              <a:endParaRPr lang="en-US"/>
            </a:p>
          </p:txBody>
        </p:sp>
      </p:grpSp>
      <p:sp>
        <p:nvSpPr>
          <p:cNvPr id="1119347" name="Text Box 115"/>
          <p:cNvSpPr txBox="1">
            <a:spLocks noChangeArrowheads="1"/>
          </p:cNvSpPr>
          <p:nvPr/>
        </p:nvSpPr>
        <p:spPr bwMode="auto">
          <a:xfrm>
            <a:off x="762000" y="4038600"/>
            <a:ext cx="1479550" cy="366713"/>
          </a:xfrm>
          <a:prstGeom prst="rect">
            <a:avLst/>
          </a:prstGeom>
          <a:noFill/>
          <a:ln w="12700">
            <a:noFill/>
            <a:miter lim="800000"/>
            <a:headEnd/>
            <a:tailEnd/>
          </a:ln>
          <a:effectLst/>
        </p:spPr>
        <p:txBody>
          <a:bodyPr wrap="none">
            <a:spAutoFit/>
          </a:bodyPr>
          <a:lstStyle/>
          <a:p>
            <a:r>
              <a:rPr lang="en-US">
                <a:solidFill>
                  <a:schemeClr val="tx1"/>
                </a:solidFill>
              </a:rPr>
              <a:t>01    Mem(4)</a:t>
            </a:r>
          </a:p>
        </p:txBody>
      </p:sp>
      <p:grpSp>
        <p:nvGrpSpPr>
          <p:cNvPr id="7" name="Group 116"/>
          <p:cNvGrpSpPr>
            <a:grpSpLocks/>
          </p:cNvGrpSpPr>
          <p:nvPr/>
        </p:nvGrpSpPr>
        <p:grpSpPr bwMode="auto">
          <a:xfrm>
            <a:off x="533400" y="3810000"/>
            <a:ext cx="1835150" cy="533400"/>
            <a:chOff x="336" y="2496"/>
            <a:chExt cx="1156" cy="336"/>
          </a:xfrm>
        </p:grpSpPr>
        <p:sp>
          <p:nvSpPr>
            <p:cNvPr id="1119349" name="Line 117"/>
            <p:cNvSpPr>
              <a:spLocks noChangeShapeType="1"/>
            </p:cNvSpPr>
            <p:nvPr/>
          </p:nvSpPr>
          <p:spPr bwMode="auto">
            <a:xfrm>
              <a:off x="528" y="2688"/>
              <a:ext cx="240" cy="144"/>
            </a:xfrm>
            <a:prstGeom prst="line">
              <a:avLst/>
            </a:prstGeom>
            <a:noFill/>
            <a:ln w="28575">
              <a:solidFill>
                <a:schemeClr val="accent1"/>
              </a:solidFill>
              <a:round/>
              <a:headEnd/>
              <a:tailEnd/>
            </a:ln>
            <a:effectLst/>
          </p:spPr>
          <p:txBody>
            <a:bodyPr/>
            <a:lstStyle/>
            <a:p>
              <a:endParaRPr lang="en-US"/>
            </a:p>
          </p:txBody>
        </p:sp>
        <p:sp>
          <p:nvSpPr>
            <p:cNvPr id="1119350" name="Line 118"/>
            <p:cNvSpPr>
              <a:spLocks noChangeShapeType="1"/>
            </p:cNvSpPr>
            <p:nvPr/>
          </p:nvSpPr>
          <p:spPr bwMode="auto">
            <a:xfrm>
              <a:off x="1200" y="2688"/>
              <a:ext cx="144" cy="144"/>
            </a:xfrm>
            <a:prstGeom prst="line">
              <a:avLst/>
            </a:prstGeom>
            <a:noFill/>
            <a:ln w="28575">
              <a:solidFill>
                <a:schemeClr val="accent1"/>
              </a:solidFill>
              <a:round/>
              <a:headEnd/>
              <a:tailEnd/>
            </a:ln>
            <a:effectLst/>
          </p:spPr>
          <p:txBody>
            <a:bodyPr/>
            <a:lstStyle/>
            <a:p>
              <a:endParaRPr lang="en-US"/>
            </a:p>
          </p:txBody>
        </p:sp>
        <p:sp>
          <p:nvSpPr>
            <p:cNvPr id="1119351" name="Text Box 119"/>
            <p:cNvSpPr txBox="1">
              <a:spLocks noChangeArrowheads="1"/>
            </p:cNvSpPr>
            <p:nvPr/>
          </p:nvSpPr>
          <p:spPr bwMode="auto">
            <a:xfrm>
              <a:off x="1296" y="2544"/>
              <a:ext cx="196" cy="231"/>
            </a:xfrm>
            <a:prstGeom prst="rect">
              <a:avLst/>
            </a:prstGeom>
            <a:noFill/>
            <a:ln w="12700">
              <a:noFill/>
              <a:miter lim="800000"/>
              <a:headEnd/>
              <a:tailEnd/>
            </a:ln>
            <a:effectLst/>
          </p:spPr>
          <p:txBody>
            <a:bodyPr wrap="none">
              <a:spAutoFit/>
            </a:bodyPr>
            <a:lstStyle/>
            <a:p>
              <a:r>
                <a:rPr lang="en-US"/>
                <a:t>0</a:t>
              </a:r>
            </a:p>
          </p:txBody>
        </p:sp>
        <p:sp>
          <p:nvSpPr>
            <p:cNvPr id="1119352" name="Text Box 120"/>
            <p:cNvSpPr txBox="1">
              <a:spLocks noChangeArrowheads="1"/>
            </p:cNvSpPr>
            <p:nvPr/>
          </p:nvSpPr>
          <p:spPr bwMode="auto">
            <a:xfrm>
              <a:off x="336" y="2496"/>
              <a:ext cx="276" cy="231"/>
            </a:xfrm>
            <a:prstGeom prst="rect">
              <a:avLst/>
            </a:prstGeom>
            <a:noFill/>
            <a:ln w="12700">
              <a:noFill/>
              <a:miter lim="800000"/>
              <a:headEnd/>
              <a:tailEnd/>
            </a:ln>
            <a:effectLst/>
          </p:spPr>
          <p:txBody>
            <a:bodyPr wrap="none">
              <a:spAutoFit/>
            </a:bodyPr>
            <a:lstStyle/>
            <a:p>
              <a:r>
                <a:rPr lang="en-US"/>
                <a:t>00</a:t>
              </a:r>
            </a:p>
          </p:txBody>
        </p:sp>
      </p:grpSp>
      <p:sp>
        <p:nvSpPr>
          <p:cNvPr id="1119353" name="Text Box 121"/>
          <p:cNvSpPr txBox="1">
            <a:spLocks noChangeArrowheads="1"/>
          </p:cNvSpPr>
          <p:nvPr/>
        </p:nvSpPr>
        <p:spPr bwMode="auto">
          <a:xfrm>
            <a:off x="4800600" y="4038600"/>
            <a:ext cx="1479550" cy="366713"/>
          </a:xfrm>
          <a:prstGeom prst="rect">
            <a:avLst/>
          </a:prstGeom>
          <a:noFill/>
          <a:ln w="12700">
            <a:noFill/>
            <a:miter lim="800000"/>
            <a:headEnd/>
            <a:tailEnd/>
          </a:ln>
          <a:effectLst/>
        </p:spPr>
        <p:txBody>
          <a:bodyPr wrap="none">
            <a:spAutoFit/>
          </a:bodyPr>
          <a:lstStyle/>
          <a:p>
            <a:r>
              <a:rPr lang="en-US">
                <a:solidFill>
                  <a:schemeClr val="tx1"/>
                </a:solidFill>
              </a:rPr>
              <a:t>01    Mem(4)</a:t>
            </a:r>
          </a:p>
        </p:txBody>
      </p:sp>
      <p:grpSp>
        <p:nvGrpSpPr>
          <p:cNvPr id="8" name="Group 122"/>
          <p:cNvGrpSpPr>
            <a:grpSpLocks/>
          </p:cNvGrpSpPr>
          <p:nvPr/>
        </p:nvGrpSpPr>
        <p:grpSpPr bwMode="auto">
          <a:xfrm>
            <a:off x="4572000" y="3733800"/>
            <a:ext cx="1835150" cy="595313"/>
            <a:chOff x="2880" y="3321"/>
            <a:chExt cx="1156" cy="375"/>
          </a:xfrm>
        </p:grpSpPr>
        <p:sp>
          <p:nvSpPr>
            <p:cNvPr id="1119355" name="Line 123"/>
            <p:cNvSpPr>
              <a:spLocks noChangeShapeType="1"/>
            </p:cNvSpPr>
            <p:nvPr/>
          </p:nvSpPr>
          <p:spPr bwMode="auto">
            <a:xfrm>
              <a:off x="3072" y="3552"/>
              <a:ext cx="240" cy="144"/>
            </a:xfrm>
            <a:prstGeom prst="line">
              <a:avLst/>
            </a:prstGeom>
            <a:noFill/>
            <a:ln w="28575">
              <a:solidFill>
                <a:schemeClr val="accent1"/>
              </a:solidFill>
              <a:round/>
              <a:headEnd/>
              <a:tailEnd/>
            </a:ln>
            <a:effectLst/>
          </p:spPr>
          <p:txBody>
            <a:bodyPr/>
            <a:lstStyle/>
            <a:p>
              <a:endParaRPr lang="en-US"/>
            </a:p>
          </p:txBody>
        </p:sp>
        <p:sp>
          <p:nvSpPr>
            <p:cNvPr id="1119356" name="Line 124"/>
            <p:cNvSpPr>
              <a:spLocks noChangeShapeType="1"/>
            </p:cNvSpPr>
            <p:nvPr/>
          </p:nvSpPr>
          <p:spPr bwMode="auto">
            <a:xfrm>
              <a:off x="3744" y="3552"/>
              <a:ext cx="144" cy="144"/>
            </a:xfrm>
            <a:prstGeom prst="line">
              <a:avLst/>
            </a:prstGeom>
            <a:noFill/>
            <a:ln w="28575">
              <a:solidFill>
                <a:schemeClr val="accent1"/>
              </a:solidFill>
              <a:round/>
              <a:headEnd/>
              <a:tailEnd/>
            </a:ln>
            <a:effectLst/>
          </p:spPr>
          <p:txBody>
            <a:bodyPr/>
            <a:lstStyle/>
            <a:p>
              <a:endParaRPr lang="en-US"/>
            </a:p>
          </p:txBody>
        </p:sp>
        <p:sp>
          <p:nvSpPr>
            <p:cNvPr id="1119357" name="Text Box 125"/>
            <p:cNvSpPr txBox="1">
              <a:spLocks noChangeArrowheads="1"/>
            </p:cNvSpPr>
            <p:nvPr/>
          </p:nvSpPr>
          <p:spPr bwMode="auto">
            <a:xfrm>
              <a:off x="3840" y="3369"/>
              <a:ext cx="196" cy="231"/>
            </a:xfrm>
            <a:prstGeom prst="rect">
              <a:avLst/>
            </a:prstGeom>
            <a:noFill/>
            <a:ln w="12700">
              <a:noFill/>
              <a:miter lim="800000"/>
              <a:headEnd/>
              <a:tailEnd/>
            </a:ln>
            <a:effectLst/>
          </p:spPr>
          <p:txBody>
            <a:bodyPr wrap="none">
              <a:spAutoFit/>
            </a:bodyPr>
            <a:lstStyle/>
            <a:p>
              <a:r>
                <a:rPr lang="en-US"/>
                <a:t>0</a:t>
              </a:r>
            </a:p>
          </p:txBody>
        </p:sp>
        <p:sp>
          <p:nvSpPr>
            <p:cNvPr id="1119358" name="Text Box 126"/>
            <p:cNvSpPr txBox="1">
              <a:spLocks noChangeArrowheads="1"/>
            </p:cNvSpPr>
            <p:nvPr/>
          </p:nvSpPr>
          <p:spPr bwMode="auto">
            <a:xfrm>
              <a:off x="2880" y="3321"/>
              <a:ext cx="276" cy="231"/>
            </a:xfrm>
            <a:prstGeom prst="rect">
              <a:avLst/>
            </a:prstGeom>
            <a:noFill/>
            <a:ln w="12700">
              <a:noFill/>
              <a:miter lim="800000"/>
              <a:headEnd/>
              <a:tailEnd/>
            </a:ln>
            <a:effectLst/>
          </p:spPr>
          <p:txBody>
            <a:bodyPr wrap="none">
              <a:spAutoFit/>
            </a:bodyPr>
            <a:lstStyle/>
            <a:p>
              <a:r>
                <a:rPr lang="en-US"/>
                <a:t>00</a:t>
              </a:r>
            </a:p>
          </p:txBody>
        </p:sp>
      </p:grpSp>
      <p:sp>
        <p:nvSpPr>
          <p:cNvPr id="1119359" name="Text Box 127"/>
          <p:cNvSpPr txBox="1">
            <a:spLocks noChangeArrowheads="1"/>
          </p:cNvSpPr>
          <p:nvPr/>
        </p:nvSpPr>
        <p:spPr bwMode="auto">
          <a:xfrm>
            <a:off x="457200" y="1143000"/>
            <a:ext cx="3429000" cy="581025"/>
          </a:xfrm>
          <a:prstGeom prst="rect">
            <a:avLst/>
          </a:prstGeom>
          <a:noFill/>
          <a:ln w="12700">
            <a:noFill/>
            <a:miter lim="800000"/>
            <a:headEnd/>
            <a:tailEnd/>
          </a:ln>
          <a:effectLst/>
        </p:spPr>
        <p:txBody>
          <a:bodyPr>
            <a:spAutoFit/>
          </a:bodyPr>
          <a:lstStyle/>
          <a:p>
            <a:r>
              <a:rPr lang="en-US" sz="1600">
                <a:solidFill>
                  <a:schemeClr val="tx1"/>
                </a:solidFill>
              </a:rPr>
              <a:t>Start with an empty cache - all blocks initially marked as not valid</a:t>
            </a:r>
          </a:p>
        </p:txBody>
      </p:sp>
      <p:sp>
        <p:nvSpPr>
          <p:cNvPr id="1119360" name="Rectangle 128"/>
          <p:cNvSpPr>
            <a:spLocks noChangeArrowheads="1"/>
          </p:cNvSpPr>
          <p:nvPr/>
        </p:nvSpPr>
        <p:spPr bwMode="auto">
          <a:xfrm>
            <a:off x="304800" y="5791200"/>
            <a:ext cx="8153400" cy="811504"/>
          </a:xfrm>
          <a:prstGeom prst="rect">
            <a:avLst/>
          </a:prstGeom>
          <a:noFill/>
          <a:ln w="12700">
            <a:noFill/>
            <a:miter lim="800000"/>
            <a:headEnd/>
            <a:tailEnd/>
          </a:ln>
          <a:effectLst/>
        </p:spPr>
        <p:txBody>
          <a:bodyPr lIns="63500" tIns="25400" rIns="63500" bIns="25400">
            <a:spAutoFit/>
          </a:bodyPr>
          <a:lstStyle/>
          <a:p>
            <a:pPr marL="287338" indent="-287338" algn="ctr">
              <a:lnSpc>
                <a:spcPct val="95000"/>
              </a:lnSpc>
              <a:spcBef>
                <a:spcPct val="25000"/>
              </a:spcBef>
              <a:buClr>
                <a:schemeClr val="accent1"/>
              </a:buClr>
              <a:buSzPct val="75000"/>
              <a:buFont typeface="Wingdings" pitchFamily="2" charset="2"/>
              <a:buChar char="q"/>
            </a:pPr>
            <a:r>
              <a:rPr lang="en-US" sz="2600" dirty="0">
                <a:solidFill>
                  <a:schemeClr val="tx1"/>
                </a:solidFill>
              </a:rPr>
              <a:t>Ping pong effect due to </a:t>
            </a:r>
            <a:r>
              <a:rPr lang="en-US" sz="2600" dirty="0"/>
              <a:t>conflict</a:t>
            </a:r>
            <a:r>
              <a:rPr lang="en-US" sz="2600" dirty="0">
                <a:solidFill>
                  <a:schemeClr val="tx1"/>
                </a:solidFill>
              </a:rPr>
              <a:t> misses - two memory </a:t>
            </a:r>
            <a:r>
              <a:rPr lang="en-US" sz="2600" dirty="0" smtClean="0">
                <a:solidFill>
                  <a:schemeClr val="tx1"/>
                </a:solidFill>
              </a:rPr>
              <a:t>blocks that </a:t>
            </a:r>
            <a:r>
              <a:rPr lang="en-US" sz="2600" dirty="0">
                <a:solidFill>
                  <a:schemeClr val="tx1"/>
                </a:solidFill>
              </a:rPr>
              <a:t>map </a:t>
            </a:r>
            <a:r>
              <a:rPr lang="en-US" sz="2600" dirty="0" smtClean="0">
                <a:solidFill>
                  <a:schemeClr val="tx1"/>
                </a:solidFill>
              </a:rPr>
              <a:t>to </a:t>
            </a:r>
            <a:r>
              <a:rPr lang="en-US" sz="2600" dirty="0">
                <a:solidFill>
                  <a:schemeClr val="tx1"/>
                </a:solidFill>
              </a:rPr>
              <a:t>the same cache block</a:t>
            </a:r>
          </a:p>
        </p:txBody>
      </p:sp>
      <p:sp>
        <p:nvSpPr>
          <p:cNvPr id="1119361" name="Rectangle 129"/>
          <p:cNvSpPr>
            <a:spLocks noChangeArrowheads="1"/>
          </p:cNvSpPr>
          <p:nvPr/>
        </p:nvSpPr>
        <p:spPr bwMode="auto">
          <a:xfrm>
            <a:off x="533400" y="5410200"/>
            <a:ext cx="8153400" cy="355600"/>
          </a:xfrm>
          <a:prstGeom prst="rect">
            <a:avLst/>
          </a:prstGeom>
          <a:noFill/>
          <a:ln w="12700">
            <a:noFill/>
            <a:miter lim="800000"/>
            <a:headEnd/>
            <a:tailEnd/>
          </a:ln>
          <a:effectLst/>
        </p:spPr>
        <p:txBody>
          <a:bodyPr lIns="63500" tIns="25400" rIns="63500" bIns="25400">
            <a:spAutoFit/>
          </a:bodyPr>
          <a:lstStyle/>
          <a:p>
            <a:pPr marL="741363" lvl="1" indent="-246063">
              <a:lnSpc>
                <a:spcPct val="95000"/>
              </a:lnSpc>
              <a:spcBef>
                <a:spcPct val="25000"/>
              </a:spcBef>
              <a:buClr>
                <a:schemeClr val="accent1"/>
              </a:buClr>
              <a:buSzPct val="75000"/>
              <a:buFont typeface="Monotype Sorts" pitchFamily="2" charset="2"/>
              <a:buChar char="l"/>
            </a:pPr>
            <a:r>
              <a:rPr lang="en-US" sz="2200">
                <a:solidFill>
                  <a:schemeClr val="tx1"/>
                </a:solidFill>
              </a:rPr>
              <a:t>8 requests, 8 misses</a:t>
            </a:r>
          </a:p>
        </p:txBody>
      </p:sp>
    </p:spTree>
    <p:extLst>
      <p:ext uri="{BB962C8B-B14F-4D97-AF65-F5344CB8AC3E}">
        <p14:creationId xmlns:p14="http://schemas.microsoft.com/office/powerpoint/2010/main" val="17437039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93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193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193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193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193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1193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193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1193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1934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1193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7"/>
                                        </p:tgtEl>
                                        <p:attrNameLst>
                                          <p:attrName>style.visibility</p:attrName>
                                        </p:attrNameLst>
                                      </p:cBhvr>
                                      <p:to>
                                        <p:strVal val="visible"/>
                                      </p:to>
                                    </p:set>
                                  </p:childTnLst>
                                </p:cTn>
                              </p:par>
                            </p:childTnLst>
                          </p:cTn>
                        </p:par>
                        <p:par>
                          <p:cTn id="59" fill="hold">
                            <p:stCondLst>
                              <p:cond delay="500"/>
                            </p:stCondLst>
                            <p:childTnLst>
                              <p:par>
                                <p:cTn id="60" presetID="1" presetClass="entr" presetSubtype="0" fill="hold" grpId="0" nodeType="afterEffect">
                                  <p:stCondLst>
                                    <p:cond delay="0"/>
                                  </p:stCondLst>
                                  <p:childTnLst>
                                    <p:set>
                                      <p:cBhvr>
                                        <p:cTn id="61" dur="1" fill="hold">
                                          <p:stCondLst>
                                            <p:cond delay="0"/>
                                          </p:stCondLst>
                                        </p:cTn>
                                        <p:tgtEl>
                                          <p:spTgt spid="1119335"/>
                                        </p:tgtEl>
                                        <p:attrNameLst>
                                          <p:attrName>style.visibility</p:attrName>
                                        </p:attrNameLst>
                                      </p:cBhvr>
                                      <p:to>
                                        <p:strVal val="visible"/>
                                      </p:to>
                                    </p:set>
                                  </p:childTnLst>
                                </p:cTn>
                              </p:par>
                            </p:childTnLst>
                          </p:cTn>
                        </p:par>
                        <p:par>
                          <p:cTn id="62" fill="hold">
                            <p:stCondLst>
                              <p:cond delay="500"/>
                            </p:stCondLst>
                            <p:childTnLst>
                              <p:par>
                                <p:cTn id="63" presetID="1" presetClass="entr" presetSubtype="0" fill="hold" grpId="0" nodeType="afterEffect">
                                  <p:stCondLst>
                                    <p:cond delay="0"/>
                                  </p:stCondLst>
                                  <p:childTnLst>
                                    <p:set>
                                      <p:cBhvr>
                                        <p:cTn id="64" dur="1" fill="hold">
                                          <p:stCondLst>
                                            <p:cond delay="499"/>
                                          </p:stCondLst>
                                        </p:cTn>
                                        <p:tgtEl>
                                          <p:spTgt spid="1119313"/>
                                        </p:tgtEl>
                                        <p:attrNameLst>
                                          <p:attrName>style.visibility</p:attrName>
                                        </p:attrNameLst>
                                      </p:cBhvr>
                                      <p:to>
                                        <p:strVal val="visible"/>
                                      </p:to>
                                    </p:set>
                                  </p:childTnLst>
                                </p:cTn>
                              </p:par>
                            </p:childTnLst>
                          </p:cTn>
                        </p:par>
                        <p:par>
                          <p:cTn id="65" fill="hold">
                            <p:stCondLst>
                              <p:cond delay="1000"/>
                            </p:stCondLst>
                            <p:childTnLst>
                              <p:par>
                                <p:cTn id="66" presetID="1" presetClass="entr" presetSubtype="0" fill="hold" nodeType="afterEffect">
                                  <p:stCondLst>
                                    <p:cond delay="0"/>
                                  </p:stCondLst>
                                  <p:childTnLst>
                                    <p:set>
                                      <p:cBhvr>
                                        <p:cTn id="67" dur="1" fill="hold">
                                          <p:stCondLst>
                                            <p:cond delay="499"/>
                                          </p:stCondLst>
                                        </p:cTn>
                                        <p:tgtEl>
                                          <p:spTgt spid="5"/>
                                        </p:tgtEl>
                                        <p:attrNameLst>
                                          <p:attrName>style.visibility</p:attrName>
                                        </p:attrNameLst>
                                      </p:cBhvr>
                                      <p:to>
                                        <p:strVal val="visible"/>
                                      </p:to>
                                    </p:set>
                                  </p:childTnLst>
                                </p:cTn>
                              </p:par>
                            </p:childTnLst>
                          </p:cTn>
                        </p:par>
                        <p:par>
                          <p:cTn id="68" fill="hold">
                            <p:stCondLst>
                              <p:cond delay="1500"/>
                            </p:stCondLst>
                            <p:childTnLst>
                              <p:par>
                                <p:cTn id="69" presetID="1" presetClass="entr" presetSubtype="0" fill="hold" grpId="0" nodeType="afterEffect">
                                  <p:stCondLst>
                                    <p:cond delay="0"/>
                                  </p:stCondLst>
                                  <p:childTnLst>
                                    <p:set>
                                      <p:cBhvr>
                                        <p:cTn id="70" dur="1" fill="hold">
                                          <p:stCondLst>
                                            <p:cond delay="0"/>
                                          </p:stCondLst>
                                        </p:cTn>
                                        <p:tgtEl>
                                          <p:spTgt spid="1119353"/>
                                        </p:tgtEl>
                                        <p:attrNameLst>
                                          <p:attrName>style.visibility</p:attrName>
                                        </p:attrNameLst>
                                      </p:cBhvr>
                                      <p:to>
                                        <p:strVal val="visible"/>
                                      </p:to>
                                    </p:set>
                                  </p:childTnLst>
                                </p:cTn>
                              </p:par>
                            </p:childTnLst>
                          </p:cTn>
                        </p:par>
                        <p:par>
                          <p:cTn id="71" fill="hold">
                            <p:stCondLst>
                              <p:cond delay="1500"/>
                            </p:stCondLst>
                            <p:childTnLst>
                              <p:par>
                                <p:cTn id="72" presetID="1" presetClass="entr" presetSubtype="0" fill="hold" grpId="0" nodeType="afterEffect">
                                  <p:stCondLst>
                                    <p:cond delay="0"/>
                                  </p:stCondLst>
                                  <p:childTnLst>
                                    <p:set>
                                      <p:cBhvr>
                                        <p:cTn id="73" dur="1" fill="hold">
                                          <p:stCondLst>
                                            <p:cond delay="499"/>
                                          </p:stCondLst>
                                        </p:cTn>
                                        <p:tgtEl>
                                          <p:spTgt spid="1119314"/>
                                        </p:tgtEl>
                                        <p:attrNameLst>
                                          <p:attrName>style.visibility</p:attrName>
                                        </p:attrNameLst>
                                      </p:cBhvr>
                                      <p:to>
                                        <p:strVal val="visible"/>
                                      </p:to>
                                    </p:set>
                                  </p:childTnLst>
                                </p:cTn>
                              </p:par>
                            </p:childTnLst>
                          </p:cTn>
                        </p:par>
                        <p:par>
                          <p:cTn id="74" fill="hold">
                            <p:stCondLst>
                              <p:cond delay="2000"/>
                            </p:stCondLst>
                            <p:childTnLst>
                              <p:par>
                                <p:cTn id="75" presetID="1" presetClass="entr" presetSubtype="0" fill="hold" nodeType="afterEffect">
                                  <p:stCondLst>
                                    <p:cond delay="0"/>
                                  </p:stCondLst>
                                  <p:childTnLst>
                                    <p:set>
                                      <p:cBhvr>
                                        <p:cTn id="76" dur="1" fill="hold">
                                          <p:stCondLst>
                                            <p:cond delay="499"/>
                                          </p:stCondLst>
                                        </p:cTn>
                                        <p:tgtEl>
                                          <p:spTgt spid="8"/>
                                        </p:tgtEl>
                                        <p:attrNameLst>
                                          <p:attrName>style.visibility</p:attrName>
                                        </p:attrNameLst>
                                      </p:cBhvr>
                                      <p:to>
                                        <p:strVal val="visible"/>
                                      </p:to>
                                    </p:set>
                                  </p:childTnLst>
                                </p:cTn>
                              </p:par>
                            </p:childTnLst>
                          </p:cTn>
                        </p:par>
                        <p:par>
                          <p:cTn id="77" fill="hold">
                            <p:stCondLst>
                              <p:cond delay="2500"/>
                            </p:stCondLst>
                            <p:childTnLst>
                              <p:par>
                                <p:cTn id="78" presetID="1" presetClass="entr" presetSubtype="0" fill="hold" grpId="0" nodeType="afterEffect">
                                  <p:stCondLst>
                                    <p:cond delay="0"/>
                                  </p:stCondLst>
                                  <p:childTnLst>
                                    <p:set>
                                      <p:cBhvr>
                                        <p:cTn id="79" dur="1" fill="hold">
                                          <p:stCondLst>
                                            <p:cond delay="0"/>
                                          </p:stCondLst>
                                        </p:cTn>
                                        <p:tgtEl>
                                          <p:spTgt spid="1119341"/>
                                        </p:tgtEl>
                                        <p:attrNameLst>
                                          <p:attrName>style.visibility</p:attrName>
                                        </p:attrNameLst>
                                      </p:cBhvr>
                                      <p:to>
                                        <p:strVal val="visible"/>
                                      </p:to>
                                    </p:set>
                                  </p:childTnLst>
                                </p:cTn>
                              </p:par>
                            </p:childTnLst>
                          </p:cTn>
                        </p:par>
                        <p:par>
                          <p:cTn id="80" fill="hold">
                            <p:stCondLst>
                              <p:cond delay="2500"/>
                            </p:stCondLst>
                            <p:childTnLst>
                              <p:par>
                                <p:cTn id="81" presetID="1" presetClass="entr" presetSubtype="0" fill="hold" grpId="0" nodeType="afterEffect">
                                  <p:stCondLst>
                                    <p:cond delay="0"/>
                                  </p:stCondLst>
                                  <p:childTnLst>
                                    <p:set>
                                      <p:cBhvr>
                                        <p:cTn id="82" dur="1" fill="hold">
                                          <p:stCondLst>
                                            <p:cond delay="499"/>
                                          </p:stCondLst>
                                        </p:cTn>
                                        <p:tgtEl>
                                          <p:spTgt spid="1119315"/>
                                        </p:tgtEl>
                                        <p:attrNameLst>
                                          <p:attrName>style.visibility</p:attrName>
                                        </p:attrNameLst>
                                      </p:cBhvr>
                                      <p:to>
                                        <p:strVal val="visible"/>
                                      </p:to>
                                    </p:set>
                                  </p:childTnLst>
                                </p:cTn>
                              </p:par>
                            </p:childTnLst>
                          </p:cTn>
                        </p:par>
                        <p:par>
                          <p:cTn id="83" fill="hold">
                            <p:stCondLst>
                              <p:cond delay="3000"/>
                            </p:stCondLst>
                            <p:childTnLst>
                              <p:par>
                                <p:cTn id="84" presetID="1" presetClass="entr" presetSubtype="0" fill="hold" nodeType="afterEffect">
                                  <p:stCondLst>
                                    <p:cond delay="0"/>
                                  </p:stCondLst>
                                  <p:childTnLst>
                                    <p:set>
                                      <p:cBhvr>
                                        <p:cTn id="85" dur="1" fill="hold">
                                          <p:stCondLst>
                                            <p:cond delay="499"/>
                                          </p:stCondLst>
                                        </p:cTn>
                                        <p:tgtEl>
                                          <p:spTgt spid="6"/>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119361"/>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119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9308" grpId="0" autoUpdateAnimBg="0"/>
      <p:bldP spid="1119309" grpId="0" autoUpdateAnimBg="0"/>
      <p:bldP spid="1119310" grpId="0" autoUpdateAnimBg="0"/>
      <p:bldP spid="1119311" grpId="0" autoUpdateAnimBg="0"/>
      <p:bldP spid="1119312" grpId="0" autoUpdateAnimBg="0"/>
      <p:bldP spid="1119313" grpId="0" autoUpdateAnimBg="0"/>
      <p:bldP spid="1119314" grpId="0" autoUpdateAnimBg="0"/>
      <p:bldP spid="1119315" grpId="0" autoUpdateAnimBg="0"/>
      <p:bldP spid="1119316" grpId="0" autoUpdateAnimBg="0"/>
      <p:bldP spid="1119317" grpId="0"/>
      <p:bldP spid="1119323" grpId="0"/>
      <p:bldP spid="1119329" grpId="0"/>
      <p:bldP spid="1119335" grpId="0"/>
      <p:bldP spid="1119341" grpId="0"/>
      <p:bldP spid="1119347" grpId="0"/>
      <p:bldP spid="1119353" grpId="0"/>
      <p:bldP spid="1119360" grpId="0"/>
      <p:bldP spid="1119361"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81410" name="Rectangle 2"/>
          <p:cNvSpPr>
            <a:spLocks noGrp="1" noChangeArrowheads="1"/>
          </p:cNvSpPr>
          <p:nvPr>
            <p:ph type="title"/>
          </p:nvPr>
        </p:nvSpPr>
        <p:spPr/>
        <p:txBody>
          <a:bodyPr/>
          <a:lstStyle/>
          <a:p>
            <a:r>
              <a:rPr lang="en-US"/>
              <a:t>Another Reference String Mapping</a:t>
            </a:r>
          </a:p>
        </p:txBody>
      </p:sp>
      <p:grpSp>
        <p:nvGrpSpPr>
          <p:cNvPr id="1681411" name="Group 3"/>
          <p:cNvGrpSpPr>
            <a:grpSpLocks/>
          </p:cNvGrpSpPr>
          <p:nvPr/>
        </p:nvGrpSpPr>
        <p:grpSpPr bwMode="auto">
          <a:xfrm>
            <a:off x="1295400" y="2325688"/>
            <a:ext cx="990600" cy="1219200"/>
            <a:chOff x="1344" y="1056"/>
            <a:chExt cx="624" cy="768"/>
          </a:xfrm>
        </p:grpSpPr>
        <p:sp>
          <p:nvSpPr>
            <p:cNvPr id="1681412"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13" name="Line 5"/>
            <p:cNvSpPr>
              <a:spLocks noChangeShapeType="1"/>
            </p:cNvSpPr>
            <p:nvPr/>
          </p:nvSpPr>
          <p:spPr bwMode="auto">
            <a:xfrm>
              <a:off x="1344" y="1440"/>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14" name="Line 6"/>
            <p:cNvSpPr>
              <a:spLocks noChangeShapeType="1"/>
            </p:cNvSpPr>
            <p:nvPr/>
          </p:nvSpPr>
          <p:spPr bwMode="auto">
            <a:xfrm>
              <a:off x="1344" y="124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15" name="Line 7"/>
            <p:cNvSpPr>
              <a:spLocks noChangeShapeType="1"/>
            </p:cNvSpPr>
            <p:nvPr/>
          </p:nvSpPr>
          <p:spPr bwMode="auto">
            <a:xfrm>
              <a:off x="1344" y="163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81416" name="Group 8"/>
          <p:cNvGrpSpPr>
            <a:grpSpLocks/>
          </p:cNvGrpSpPr>
          <p:nvPr/>
        </p:nvGrpSpPr>
        <p:grpSpPr bwMode="auto">
          <a:xfrm>
            <a:off x="3276600" y="2325688"/>
            <a:ext cx="990600" cy="1219200"/>
            <a:chOff x="1344" y="1056"/>
            <a:chExt cx="624" cy="768"/>
          </a:xfrm>
        </p:grpSpPr>
        <p:sp>
          <p:nvSpPr>
            <p:cNvPr id="1681417" name="Rectangle 9"/>
            <p:cNvSpPr>
              <a:spLocks noChangeArrowheads="1"/>
            </p:cNvSpPr>
            <p:nvPr/>
          </p:nvSpPr>
          <p:spPr bwMode="auto">
            <a:xfrm>
              <a:off x="1344" y="1056"/>
              <a:ext cx="624" cy="7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18" name="Line 10"/>
            <p:cNvSpPr>
              <a:spLocks noChangeShapeType="1"/>
            </p:cNvSpPr>
            <p:nvPr/>
          </p:nvSpPr>
          <p:spPr bwMode="auto">
            <a:xfrm>
              <a:off x="1344" y="1440"/>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19" name="Line 11"/>
            <p:cNvSpPr>
              <a:spLocks noChangeShapeType="1"/>
            </p:cNvSpPr>
            <p:nvPr/>
          </p:nvSpPr>
          <p:spPr bwMode="auto">
            <a:xfrm>
              <a:off x="1344" y="124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20" name="Line 12"/>
            <p:cNvSpPr>
              <a:spLocks noChangeShapeType="1"/>
            </p:cNvSpPr>
            <p:nvPr/>
          </p:nvSpPr>
          <p:spPr bwMode="auto">
            <a:xfrm>
              <a:off x="1344" y="163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81421" name="Group 13"/>
          <p:cNvGrpSpPr>
            <a:grpSpLocks/>
          </p:cNvGrpSpPr>
          <p:nvPr/>
        </p:nvGrpSpPr>
        <p:grpSpPr bwMode="auto">
          <a:xfrm>
            <a:off x="5334000" y="2325688"/>
            <a:ext cx="990600" cy="1219200"/>
            <a:chOff x="1344" y="1056"/>
            <a:chExt cx="624" cy="768"/>
          </a:xfrm>
        </p:grpSpPr>
        <p:sp>
          <p:nvSpPr>
            <p:cNvPr id="1681422" name="Rectangle 14"/>
            <p:cNvSpPr>
              <a:spLocks noChangeArrowheads="1"/>
            </p:cNvSpPr>
            <p:nvPr/>
          </p:nvSpPr>
          <p:spPr bwMode="auto">
            <a:xfrm>
              <a:off x="1344" y="1056"/>
              <a:ext cx="624" cy="7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23" name="Line 15"/>
            <p:cNvSpPr>
              <a:spLocks noChangeShapeType="1"/>
            </p:cNvSpPr>
            <p:nvPr/>
          </p:nvSpPr>
          <p:spPr bwMode="auto">
            <a:xfrm>
              <a:off x="1344" y="1440"/>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24" name="Line 16"/>
            <p:cNvSpPr>
              <a:spLocks noChangeShapeType="1"/>
            </p:cNvSpPr>
            <p:nvPr/>
          </p:nvSpPr>
          <p:spPr bwMode="auto">
            <a:xfrm>
              <a:off x="1344" y="124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25" name="Line 17"/>
            <p:cNvSpPr>
              <a:spLocks noChangeShapeType="1"/>
            </p:cNvSpPr>
            <p:nvPr/>
          </p:nvSpPr>
          <p:spPr bwMode="auto">
            <a:xfrm>
              <a:off x="1344" y="163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81426" name="Group 18"/>
          <p:cNvGrpSpPr>
            <a:grpSpLocks/>
          </p:cNvGrpSpPr>
          <p:nvPr/>
        </p:nvGrpSpPr>
        <p:grpSpPr bwMode="auto">
          <a:xfrm>
            <a:off x="7391400" y="2325688"/>
            <a:ext cx="990600" cy="1219200"/>
            <a:chOff x="1344" y="1056"/>
            <a:chExt cx="624" cy="768"/>
          </a:xfrm>
        </p:grpSpPr>
        <p:sp>
          <p:nvSpPr>
            <p:cNvPr id="1681427" name="Rectangle 19"/>
            <p:cNvSpPr>
              <a:spLocks noChangeArrowheads="1"/>
            </p:cNvSpPr>
            <p:nvPr/>
          </p:nvSpPr>
          <p:spPr bwMode="auto">
            <a:xfrm>
              <a:off x="1344" y="1056"/>
              <a:ext cx="624" cy="7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28" name="Line 20"/>
            <p:cNvSpPr>
              <a:spLocks noChangeShapeType="1"/>
            </p:cNvSpPr>
            <p:nvPr/>
          </p:nvSpPr>
          <p:spPr bwMode="auto">
            <a:xfrm>
              <a:off x="1344" y="1440"/>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29" name="Line 21"/>
            <p:cNvSpPr>
              <a:spLocks noChangeShapeType="1"/>
            </p:cNvSpPr>
            <p:nvPr/>
          </p:nvSpPr>
          <p:spPr bwMode="auto">
            <a:xfrm>
              <a:off x="1344" y="124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30" name="Line 22"/>
            <p:cNvSpPr>
              <a:spLocks noChangeShapeType="1"/>
            </p:cNvSpPr>
            <p:nvPr/>
          </p:nvSpPr>
          <p:spPr bwMode="auto">
            <a:xfrm>
              <a:off x="1344" y="163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681451" name="Text Box 43"/>
          <p:cNvSpPr txBox="1">
            <a:spLocks noChangeArrowheads="1"/>
          </p:cNvSpPr>
          <p:nvPr/>
        </p:nvSpPr>
        <p:spPr bwMode="auto">
          <a:xfrm>
            <a:off x="1355725" y="19050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tx1"/>
                </a:solidFill>
              </a:rPr>
              <a:t>0</a:t>
            </a:r>
          </a:p>
        </p:txBody>
      </p:sp>
      <p:sp>
        <p:nvSpPr>
          <p:cNvPr id="1681452" name="Text Box 44"/>
          <p:cNvSpPr txBox="1">
            <a:spLocks noChangeArrowheads="1"/>
          </p:cNvSpPr>
          <p:nvPr/>
        </p:nvSpPr>
        <p:spPr bwMode="auto">
          <a:xfrm>
            <a:off x="3260725" y="19050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tx1"/>
                </a:solidFill>
              </a:rPr>
              <a:t>4</a:t>
            </a:r>
          </a:p>
        </p:txBody>
      </p:sp>
      <p:sp>
        <p:nvSpPr>
          <p:cNvPr id="1681453" name="Text Box 45"/>
          <p:cNvSpPr txBox="1">
            <a:spLocks noChangeArrowheads="1"/>
          </p:cNvSpPr>
          <p:nvPr/>
        </p:nvSpPr>
        <p:spPr bwMode="auto">
          <a:xfrm>
            <a:off x="5241925" y="19050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tx1"/>
                </a:solidFill>
              </a:rPr>
              <a:t>0</a:t>
            </a:r>
          </a:p>
        </p:txBody>
      </p:sp>
      <p:sp>
        <p:nvSpPr>
          <p:cNvPr id="1681454" name="Text Box 46"/>
          <p:cNvSpPr txBox="1">
            <a:spLocks noChangeArrowheads="1"/>
          </p:cNvSpPr>
          <p:nvPr/>
        </p:nvSpPr>
        <p:spPr bwMode="auto">
          <a:xfrm>
            <a:off x="7375525" y="19050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tx1"/>
                </a:solidFill>
              </a:rPr>
              <a:t>4</a:t>
            </a:r>
          </a:p>
        </p:txBody>
      </p:sp>
      <p:grpSp>
        <p:nvGrpSpPr>
          <p:cNvPr id="1681459" name="Group 51"/>
          <p:cNvGrpSpPr>
            <a:grpSpLocks/>
          </p:cNvGrpSpPr>
          <p:nvPr/>
        </p:nvGrpSpPr>
        <p:grpSpPr bwMode="auto">
          <a:xfrm>
            <a:off x="762000" y="2325688"/>
            <a:ext cx="533400" cy="1219200"/>
            <a:chOff x="1344" y="1056"/>
            <a:chExt cx="624" cy="768"/>
          </a:xfrm>
        </p:grpSpPr>
        <p:sp>
          <p:nvSpPr>
            <p:cNvPr id="1681460" name="Rectangle 52"/>
            <p:cNvSpPr>
              <a:spLocks noChangeArrowheads="1"/>
            </p:cNvSpPr>
            <p:nvPr/>
          </p:nvSpPr>
          <p:spPr bwMode="auto">
            <a:xfrm>
              <a:off x="1344" y="1056"/>
              <a:ext cx="624" cy="7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61" name="Line 53"/>
            <p:cNvSpPr>
              <a:spLocks noChangeShapeType="1"/>
            </p:cNvSpPr>
            <p:nvPr/>
          </p:nvSpPr>
          <p:spPr bwMode="auto">
            <a:xfrm>
              <a:off x="1344" y="1440"/>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62" name="Line 54"/>
            <p:cNvSpPr>
              <a:spLocks noChangeShapeType="1"/>
            </p:cNvSpPr>
            <p:nvPr/>
          </p:nvSpPr>
          <p:spPr bwMode="auto">
            <a:xfrm>
              <a:off x="1344" y="124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63" name="Line 55"/>
            <p:cNvSpPr>
              <a:spLocks noChangeShapeType="1"/>
            </p:cNvSpPr>
            <p:nvPr/>
          </p:nvSpPr>
          <p:spPr bwMode="auto">
            <a:xfrm>
              <a:off x="1344" y="163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81464" name="Group 56"/>
          <p:cNvGrpSpPr>
            <a:grpSpLocks/>
          </p:cNvGrpSpPr>
          <p:nvPr/>
        </p:nvGrpSpPr>
        <p:grpSpPr bwMode="auto">
          <a:xfrm>
            <a:off x="2743200" y="2325688"/>
            <a:ext cx="533400" cy="1219200"/>
            <a:chOff x="1344" y="1056"/>
            <a:chExt cx="624" cy="768"/>
          </a:xfrm>
        </p:grpSpPr>
        <p:sp>
          <p:nvSpPr>
            <p:cNvPr id="1681465" name="Rectangle 57"/>
            <p:cNvSpPr>
              <a:spLocks noChangeArrowheads="1"/>
            </p:cNvSpPr>
            <p:nvPr/>
          </p:nvSpPr>
          <p:spPr bwMode="auto">
            <a:xfrm>
              <a:off x="1344" y="1056"/>
              <a:ext cx="624" cy="7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66" name="Line 58"/>
            <p:cNvSpPr>
              <a:spLocks noChangeShapeType="1"/>
            </p:cNvSpPr>
            <p:nvPr/>
          </p:nvSpPr>
          <p:spPr bwMode="auto">
            <a:xfrm>
              <a:off x="1344" y="1440"/>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67" name="Line 59"/>
            <p:cNvSpPr>
              <a:spLocks noChangeShapeType="1"/>
            </p:cNvSpPr>
            <p:nvPr/>
          </p:nvSpPr>
          <p:spPr bwMode="auto">
            <a:xfrm>
              <a:off x="1344" y="124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68" name="Line 60"/>
            <p:cNvSpPr>
              <a:spLocks noChangeShapeType="1"/>
            </p:cNvSpPr>
            <p:nvPr/>
          </p:nvSpPr>
          <p:spPr bwMode="auto">
            <a:xfrm>
              <a:off x="1344" y="163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81469" name="Group 61"/>
          <p:cNvGrpSpPr>
            <a:grpSpLocks/>
          </p:cNvGrpSpPr>
          <p:nvPr/>
        </p:nvGrpSpPr>
        <p:grpSpPr bwMode="auto">
          <a:xfrm>
            <a:off x="4800600" y="2325688"/>
            <a:ext cx="533400" cy="1219200"/>
            <a:chOff x="1344" y="1056"/>
            <a:chExt cx="624" cy="768"/>
          </a:xfrm>
        </p:grpSpPr>
        <p:sp>
          <p:nvSpPr>
            <p:cNvPr id="1681470" name="Rectangle 62"/>
            <p:cNvSpPr>
              <a:spLocks noChangeArrowheads="1"/>
            </p:cNvSpPr>
            <p:nvPr/>
          </p:nvSpPr>
          <p:spPr bwMode="auto">
            <a:xfrm>
              <a:off x="1344" y="1056"/>
              <a:ext cx="624" cy="7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71" name="Line 63"/>
            <p:cNvSpPr>
              <a:spLocks noChangeShapeType="1"/>
            </p:cNvSpPr>
            <p:nvPr/>
          </p:nvSpPr>
          <p:spPr bwMode="auto">
            <a:xfrm>
              <a:off x="1344" y="1440"/>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72" name="Line 64"/>
            <p:cNvSpPr>
              <a:spLocks noChangeShapeType="1"/>
            </p:cNvSpPr>
            <p:nvPr/>
          </p:nvSpPr>
          <p:spPr bwMode="auto">
            <a:xfrm>
              <a:off x="1344" y="124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73" name="Line 65"/>
            <p:cNvSpPr>
              <a:spLocks noChangeShapeType="1"/>
            </p:cNvSpPr>
            <p:nvPr/>
          </p:nvSpPr>
          <p:spPr bwMode="auto">
            <a:xfrm>
              <a:off x="1344" y="163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81474" name="Group 66"/>
          <p:cNvGrpSpPr>
            <a:grpSpLocks/>
          </p:cNvGrpSpPr>
          <p:nvPr/>
        </p:nvGrpSpPr>
        <p:grpSpPr bwMode="auto">
          <a:xfrm>
            <a:off x="6858000" y="2325688"/>
            <a:ext cx="533400" cy="1219200"/>
            <a:chOff x="1344" y="1056"/>
            <a:chExt cx="624" cy="768"/>
          </a:xfrm>
        </p:grpSpPr>
        <p:sp>
          <p:nvSpPr>
            <p:cNvPr id="1681475" name="Rectangle 67"/>
            <p:cNvSpPr>
              <a:spLocks noChangeArrowheads="1"/>
            </p:cNvSpPr>
            <p:nvPr/>
          </p:nvSpPr>
          <p:spPr bwMode="auto">
            <a:xfrm>
              <a:off x="1344" y="1056"/>
              <a:ext cx="624" cy="7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76" name="Line 68"/>
            <p:cNvSpPr>
              <a:spLocks noChangeShapeType="1"/>
            </p:cNvSpPr>
            <p:nvPr/>
          </p:nvSpPr>
          <p:spPr bwMode="auto">
            <a:xfrm>
              <a:off x="1344" y="1440"/>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77" name="Line 69"/>
            <p:cNvSpPr>
              <a:spLocks noChangeShapeType="1"/>
            </p:cNvSpPr>
            <p:nvPr/>
          </p:nvSpPr>
          <p:spPr bwMode="auto">
            <a:xfrm>
              <a:off x="1344" y="1248"/>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1478" name="Line 70"/>
            <p:cNvSpPr>
              <a:spLocks noChangeShapeType="1"/>
            </p:cNvSpPr>
            <p:nvPr/>
          </p:nvSpPr>
          <p:spPr bwMode="auto">
            <a:xfrm>
              <a:off x="1344" y="1632"/>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681499" name="Rectangle 91"/>
          <p:cNvSpPr>
            <a:spLocks noGrp="1" noChangeArrowheads="1"/>
          </p:cNvSpPr>
          <p:nvPr>
            <p:ph type="body" idx="1"/>
          </p:nvPr>
        </p:nvSpPr>
        <p:spPr>
          <a:xfrm>
            <a:off x="533400" y="762000"/>
            <a:ext cx="8153400" cy="812800"/>
          </a:xfrm>
          <a:noFill/>
          <a:ln/>
        </p:spPr>
        <p:txBody>
          <a:bodyPr>
            <a:normAutofit/>
          </a:bodyPr>
          <a:lstStyle/>
          <a:p>
            <a:r>
              <a:rPr lang="en-US"/>
              <a:t>Consider the main memory word reference string</a:t>
            </a:r>
          </a:p>
          <a:p>
            <a:pPr lvl="1" algn="ctr">
              <a:buFont typeface="Monotype Sorts" pitchFamily="2" charset="2"/>
              <a:buNone/>
            </a:pPr>
            <a:r>
              <a:rPr lang="en-US"/>
              <a:t>              0   4   0   4   0   4   0   4</a:t>
            </a:r>
          </a:p>
        </p:txBody>
      </p:sp>
      <p:sp>
        <p:nvSpPr>
          <p:cNvPr id="1681500" name="Text Box 92"/>
          <p:cNvSpPr txBox="1">
            <a:spLocks noChangeArrowheads="1"/>
          </p:cNvSpPr>
          <p:nvPr/>
        </p:nvSpPr>
        <p:spPr bwMode="auto">
          <a:xfrm>
            <a:off x="457200" y="1143000"/>
            <a:ext cx="34290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a:solidFill>
                  <a:schemeClr val="tx1"/>
                </a:solidFill>
              </a:rPr>
              <a:t>Start with an empty cache - all blocks initially marked as not valid</a:t>
            </a:r>
          </a:p>
        </p:txBody>
      </p:sp>
      <p:sp>
        <p:nvSpPr>
          <p:cNvPr id="1681501" name="Line 93"/>
          <p:cNvSpPr>
            <a:spLocks noChangeShapeType="1"/>
          </p:cNvSpPr>
          <p:nvPr/>
        </p:nvSpPr>
        <p:spPr bwMode="auto">
          <a:xfrm>
            <a:off x="457200" y="2935288"/>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1502" name="Line 94"/>
          <p:cNvSpPr>
            <a:spLocks noChangeShapeType="1"/>
          </p:cNvSpPr>
          <p:nvPr/>
        </p:nvSpPr>
        <p:spPr bwMode="auto">
          <a:xfrm>
            <a:off x="2438400" y="2935288"/>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1503" name="Line 95"/>
          <p:cNvSpPr>
            <a:spLocks noChangeShapeType="1"/>
          </p:cNvSpPr>
          <p:nvPr/>
        </p:nvSpPr>
        <p:spPr bwMode="auto">
          <a:xfrm>
            <a:off x="4495800" y="2935288"/>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1504" name="Line 96"/>
          <p:cNvSpPr>
            <a:spLocks noChangeShapeType="1"/>
          </p:cNvSpPr>
          <p:nvPr/>
        </p:nvSpPr>
        <p:spPr bwMode="auto">
          <a:xfrm>
            <a:off x="6553200" y="2935288"/>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2704315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3458" name="Rectangle 2"/>
          <p:cNvSpPr>
            <a:spLocks noGrp="1" noChangeArrowheads="1"/>
          </p:cNvSpPr>
          <p:nvPr>
            <p:ph type="title"/>
          </p:nvPr>
        </p:nvSpPr>
        <p:spPr/>
        <p:txBody>
          <a:bodyPr/>
          <a:lstStyle/>
          <a:p>
            <a:r>
              <a:rPr lang="en-US"/>
              <a:t>Another Reference String Mapping</a:t>
            </a:r>
          </a:p>
        </p:txBody>
      </p:sp>
      <p:sp>
        <p:nvSpPr>
          <p:cNvPr id="1683459" name="Rectangle 3"/>
          <p:cNvSpPr>
            <a:spLocks noChangeArrowheads="1"/>
          </p:cNvSpPr>
          <p:nvPr/>
        </p:nvSpPr>
        <p:spPr bwMode="auto">
          <a:xfrm>
            <a:off x="1295400" y="2286000"/>
            <a:ext cx="990600" cy="1219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60" name="Line 4"/>
          <p:cNvSpPr>
            <a:spLocks noChangeShapeType="1"/>
          </p:cNvSpPr>
          <p:nvPr/>
        </p:nvSpPr>
        <p:spPr bwMode="auto">
          <a:xfrm>
            <a:off x="1295400" y="28956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61" name="Line 5"/>
          <p:cNvSpPr>
            <a:spLocks noChangeShapeType="1"/>
          </p:cNvSpPr>
          <p:nvPr/>
        </p:nvSpPr>
        <p:spPr bwMode="auto">
          <a:xfrm>
            <a:off x="1295400" y="25908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62" name="Line 6"/>
          <p:cNvSpPr>
            <a:spLocks noChangeShapeType="1"/>
          </p:cNvSpPr>
          <p:nvPr/>
        </p:nvSpPr>
        <p:spPr bwMode="auto">
          <a:xfrm>
            <a:off x="1295400" y="32004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63" name="Rectangle 7"/>
          <p:cNvSpPr>
            <a:spLocks noChangeArrowheads="1"/>
          </p:cNvSpPr>
          <p:nvPr/>
        </p:nvSpPr>
        <p:spPr bwMode="auto">
          <a:xfrm>
            <a:off x="3276600" y="2286000"/>
            <a:ext cx="990600" cy="1219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64" name="Line 8"/>
          <p:cNvSpPr>
            <a:spLocks noChangeShapeType="1"/>
          </p:cNvSpPr>
          <p:nvPr/>
        </p:nvSpPr>
        <p:spPr bwMode="auto">
          <a:xfrm>
            <a:off x="3276600" y="28956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65" name="Line 9"/>
          <p:cNvSpPr>
            <a:spLocks noChangeShapeType="1"/>
          </p:cNvSpPr>
          <p:nvPr/>
        </p:nvSpPr>
        <p:spPr bwMode="auto">
          <a:xfrm>
            <a:off x="3276600" y="25908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66" name="Line 10"/>
          <p:cNvSpPr>
            <a:spLocks noChangeShapeType="1"/>
          </p:cNvSpPr>
          <p:nvPr/>
        </p:nvSpPr>
        <p:spPr bwMode="auto">
          <a:xfrm>
            <a:off x="3276600" y="32004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67" name="Rectangle 11"/>
          <p:cNvSpPr>
            <a:spLocks noChangeArrowheads="1"/>
          </p:cNvSpPr>
          <p:nvPr/>
        </p:nvSpPr>
        <p:spPr bwMode="auto">
          <a:xfrm>
            <a:off x="5334000" y="2286000"/>
            <a:ext cx="990600" cy="1219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68" name="Line 12"/>
          <p:cNvSpPr>
            <a:spLocks noChangeShapeType="1"/>
          </p:cNvSpPr>
          <p:nvPr/>
        </p:nvSpPr>
        <p:spPr bwMode="auto">
          <a:xfrm>
            <a:off x="5334000" y="28956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69" name="Line 13"/>
          <p:cNvSpPr>
            <a:spLocks noChangeShapeType="1"/>
          </p:cNvSpPr>
          <p:nvPr/>
        </p:nvSpPr>
        <p:spPr bwMode="auto">
          <a:xfrm>
            <a:off x="5334000" y="25908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70" name="Line 14"/>
          <p:cNvSpPr>
            <a:spLocks noChangeShapeType="1"/>
          </p:cNvSpPr>
          <p:nvPr/>
        </p:nvSpPr>
        <p:spPr bwMode="auto">
          <a:xfrm>
            <a:off x="5334000" y="32004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71" name="Rectangle 15"/>
          <p:cNvSpPr>
            <a:spLocks noChangeArrowheads="1"/>
          </p:cNvSpPr>
          <p:nvPr/>
        </p:nvSpPr>
        <p:spPr bwMode="auto">
          <a:xfrm>
            <a:off x="7391400" y="2286000"/>
            <a:ext cx="990600" cy="1219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72" name="Line 16"/>
          <p:cNvSpPr>
            <a:spLocks noChangeShapeType="1"/>
          </p:cNvSpPr>
          <p:nvPr/>
        </p:nvSpPr>
        <p:spPr bwMode="auto">
          <a:xfrm>
            <a:off x="7391400" y="28956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73" name="Line 17"/>
          <p:cNvSpPr>
            <a:spLocks noChangeShapeType="1"/>
          </p:cNvSpPr>
          <p:nvPr/>
        </p:nvSpPr>
        <p:spPr bwMode="auto">
          <a:xfrm>
            <a:off x="7391400" y="25908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74" name="Line 18"/>
          <p:cNvSpPr>
            <a:spLocks noChangeShapeType="1"/>
          </p:cNvSpPr>
          <p:nvPr/>
        </p:nvSpPr>
        <p:spPr bwMode="auto">
          <a:xfrm>
            <a:off x="7391400" y="3200400"/>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491" name="Text Box 35"/>
          <p:cNvSpPr txBox="1">
            <a:spLocks noChangeArrowheads="1"/>
          </p:cNvSpPr>
          <p:nvPr/>
        </p:nvSpPr>
        <p:spPr bwMode="auto">
          <a:xfrm>
            <a:off x="1355725" y="18653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tx1"/>
                </a:solidFill>
              </a:rPr>
              <a:t>0</a:t>
            </a:r>
          </a:p>
        </p:txBody>
      </p:sp>
      <p:sp>
        <p:nvSpPr>
          <p:cNvPr id="1683492" name="Text Box 36"/>
          <p:cNvSpPr txBox="1">
            <a:spLocks noChangeArrowheads="1"/>
          </p:cNvSpPr>
          <p:nvPr/>
        </p:nvSpPr>
        <p:spPr bwMode="auto">
          <a:xfrm>
            <a:off x="3260725" y="18653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tx1"/>
                </a:solidFill>
              </a:rPr>
              <a:t>4</a:t>
            </a:r>
          </a:p>
        </p:txBody>
      </p:sp>
      <p:sp>
        <p:nvSpPr>
          <p:cNvPr id="1683493" name="Text Box 37"/>
          <p:cNvSpPr txBox="1">
            <a:spLocks noChangeArrowheads="1"/>
          </p:cNvSpPr>
          <p:nvPr/>
        </p:nvSpPr>
        <p:spPr bwMode="auto">
          <a:xfrm>
            <a:off x="5241925" y="18653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tx1"/>
                </a:solidFill>
              </a:rPr>
              <a:t>0</a:t>
            </a:r>
          </a:p>
        </p:txBody>
      </p:sp>
      <p:sp>
        <p:nvSpPr>
          <p:cNvPr id="1683494" name="Text Box 38"/>
          <p:cNvSpPr txBox="1">
            <a:spLocks noChangeArrowheads="1"/>
          </p:cNvSpPr>
          <p:nvPr/>
        </p:nvSpPr>
        <p:spPr bwMode="auto">
          <a:xfrm>
            <a:off x="7375525" y="18653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tx1"/>
                </a:solidFill>
              </a:rPr>
              <a:t>4</a:t>
            </a:r>
          </a:p>
        </p:txBody>
      </p:sp>
      <p:sp>
        <p:nvSpPr>
          <p:cNvPr id="1683499" name="Rectangle 43"/>
          <p:cNvSpPr>
            <a:spLocks noChangeArrowheads="1"/>
          </p:cNvSpPr>
          <p:nvPr/>
        </p:nvSpPr>
        <p:spPr bwMode="auto">
          <a:xfrm>
            <a:off x="762000" y="2286000"/>
            <a:ext cx="533400" cy="1219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00" name="Line 44"/>
          <p:cNvSpPr>
            <a:spLocks noChangeShapeType="1"/>
          </p:cNvSpPr>
          <p:nvPr/>
        </p:nvSpPr>
        <p:spPr bwMode="auto">
          <a:xfrm>
            <a:off x="762000" y="28956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01" name="Line 45"/>
          <p:cNvSpPr>
            <a:spLocks noChangeShapeType="1"/>
          </p:cNvSpPr>
          <p:nvPr/>
        </p:nvSpPr>
        <p:spPr bwMode="auto">
          <a:xfrm>
            <a:off x="762000" y="25908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02" name="Line 46"/>
          <p:cNvSpPr>
            <a:spLocks noChangeShapeType="1"/>
          </p:cNvSpPr>
          <p:nvPr/>
        </p:nvSpPr>
        <p:spPr bwMode="auto">
          <a:xfrm>
            <a:off x="762000" y="32004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03" name="Rectangle 47"/>
          <p:cNvSpPr>
            <a:spLocks noChangeArrowheads="1"/>
          </p:cNvSpPr>
          <p:nvPr/>
        </p:nvSpPr>
        <p:spPr bwMode="auto">
          <a:xfrm>
            <a:off x="2743200" y="2286000"/>
            <a:ext cx="533400" cy="1219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04" name="Line 48"/>
          <p:cNvSpPr>
            <a:spLocks noChangeShapeType="1"/>
          </p:cNvSpPr>
          <p:nvPr/>
        </p:nvSpPr>
        <p:spPr bwMode="auto">
          <a:xfrm>
            <a:off x="2743200" y="28956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05" name="Line 49"/>
          <p:cNvSpPr>
            <a:spLocks noChangeShapeType="1"/>
          </p:cNvSpPr>
          <p:nvPr/>
        </p:nvSpPr>
        <p:spPr bwMode="auto">
          <a:xfrm>
            <a:off x="2743200" y="25908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06" name="Line 50"/>
          <p:cNvSpPr>
            <a:spLocks noChangeShapeType="1"/>
          </p:cNvSpPr>
          <p:nvPr/>
        </p:nvSpPr>
        <p:spPr bwMode="auto">
          <a:xfrm>
            <a:off x="2743200" y="32004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07" name="Rectangle 51"/>
          <p:cNvSpPr>
            <a:spLocks noChangeArrowheads="1"/>
          </p:cNvSpPr>
          <p:nvPr/>
        </p:nvSpPr>
        <p:spPr bwMode="auto">
          <a:xfrm>
            <a:off x="4800600" y="2286000"/>
            <a:ext cx="533400" cy="1219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08" name="Line 52"/>
          <p:cNvSpPr>
            <a:spLocks noChangeShapeType="1"/>
          </p:cNvSpPr>
          <p:nvPr/>
        </p:nvSpPr>
        <p:spPr bwMode="auto">
          <a:xfrm>
            <a:off x="4800600" y="28956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09" name="Line 53"/>
          <p:cNvSpPr>
            <a:spLocks noChangeShapeType="1"/>
          </p:cNvSpPr>
          <p:nvPr/>
        </p:nvSpPr>
        <p:spPr bwMode="auto">
          <a:xfrm>
            <a:off x="4800600" y="25908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10" name="Line 54"/>
          <p:cNvSpPr>
            <a:spLocks noChangeShapeType="1"/>
          </p:cNvSpPr>
          <p:nvPr/>
        </p:nvSpPr>
        <p:spPr bwMode="auto">
          <a:xfrm>
            <a:off x="4800600" y="32004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11" name="Rectangle 55"/>
          <p:cNvSpPr>
            <a:spLocks noChangeArrowheads="1"/>
          </p:cNvSpPr>
          <p:nvPr/>
        </p:nvSpPr>
        <p:spPr bwMode="auto">
          <a:xfrm>
            <a:off x="6858000" y="2286000"/>
            <a:ext cx="533400" cy="1219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12" name="Line 56"/>
          <p:cNvSpPr>
            <a:spLocks noChangeShapeType="1"/>
          </p:cNvSpPr>
          <p:nvPr/>
        </p:nvSpPr>
        <p:spPr bwMode="auto">
          <a:xfrm>
            <a:off x="6858000" y="28956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13" name="Line 57"/>
          <p:cNvSpPr>
            <a:spLocks noChangeShapeType="1"/>
          </p:cNvSpPr>
          <p:nvPr/>
        </p:nvSpPr>
        <p:spPr bwMode="auto">
          <a:xfrm>
            <a:off x="6858000" y="25908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14" name="Line 58"/>
          <p:cNvSpPr>
            <a:spLocks noChangeShapeType="1"/>
          </p:cNvSpPr>
          <p:nvPr/>
        </p:nvSpPr>
        <p:spPr bwMode="auto">
          <a:xfrm>
            <a:off x="6858000" y="3200400"/>
            <a:ext cx="53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83531" name="Rectangle 75"/>
          <p:cNvSpPr>
            <a:spLocks noGrp="1" noChangeArrowheads="1"/>
          </p:cNvSpPr>
          <p:nvPr>
            <p:ph type="body" idx="1"/>
          </p:nvPr>
        </p:nvSpPr>
        <p:spPr>
          <a:xfrm>
            <a:off x="533400" y="762000"/>
            <a:ext cx="8153400" cy="812800"/>
          </a:xfrm>
          <a:noFill/>
          <a:ln/>
        </p:spPr>
        <p:txBody>
          <a:bodyPr>
            <a:normAutofit/>
          </a:bodyPr>
          <a:lstStyle/>
          <a:p>
            <a:r>
              <a:rPr lang="en-US"/>
              <a:t>Consider the main memory word reference string</a:t>
            </a:r>
          </a:p>
          <a:p>
            <a:pPr lvl="1" algn="ctr">
              <a:buFont typeface="Monotype Sorts" pitchFamily="2" charset="2"/>
              <a:buNone/>
            </a:pPr>
            <a:r>
              <a:rPr lang="en-US"/>
              <a:t>              0   4   0   4   0   4   0   4</a:t>
            </a:r>
          </a:p>
        </p:txBody>
      </p:sp>
      <p:sp>
        <p:nvSpPr>
          <p:cNvPr id="1683532" name="Text Box 76"/>
          <p:cNvSpPr txBox="1">
            <a:spLocks noChangeArrowheads="1"/>
          </p:cNvSpPr>
          <p:nvPr/>
        </p:nvSpPr>
        <p:spPr bwMode="auto">
          <a:xfrm>
            <a:off x="1600200" y="1828800"/>
            <a:ext cx="654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miss</a:t>
            </a:r>
          </a:p>
        </p:txBody>
      </p:sp>
      <p:sp>
        <p:nvSpPr>
          <p:cNvPr id="1683533" name="Text Box 77"/>
          <p:cNvSpPr txBox="1">
            <a:spLocks noChangeArrowheads="1"/>
          </p:cNvSpPr>
          <p:nvPr/>
        </p:nvSpPr>
        <p:spPr bwMode="auto">
          <a:xfrm>
            <a:off x="3505200" y="1828800"/>
            <a:ext cx="654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miss</a:t>
            </a:r>
          </a:p>
        </p:txBody>
      </p:sp>
      <p:sp>
        <p:nvSpPr>
          <p:cNvPr id="1683534" name="Text Box 78"/>
          <p:cNvSpPr txBox="1">
            <a:spLocks noChangeArrowheads="1"/>
          </p:cNvSpPr>
          <p:nvPr/>
        </p:nvSpPr>
        <p:spPr bwMode="auto">
          <a:xfrm>
            <a:off x="5486400" y="1828800"/>
            <a:ext cx="425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hit</a:t>
            </a:r>
          </a:p>
        </p:txBody>
      </p:sp>
      <p:sp>
        <p:nvSpPr>
          <p:cNvPr id="1683535" name="Text Box 79"/>
          <p:cNvSpPr txBox="1">
            <a:spLocks noChangeArrowheads="1"/>
          </p:cNvSpPr>
          <p:nvPr/>
        </p:nvSpPr>
        <p:spPr bwMode="auto">
          <a:xfrm>
            <a:off x="7620000" y="1828800"/>
            <a:ext cx="425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hit</a:t>
            </a:r>
          </a:p>
        </p:txBody>
      </p:sp>
      <p:sp>
        <p:nvSpPr>
          <p:cNvPr id="1683540" name="Text Box 84"/>
          <p:cNvSpPr txBox="1">
            <a:spLocks noChangeArrowheads="1"/>
          </p:cNvSpPr>
          <p:nvPr/>
        </p:nvSpPr>
        <p:spPr bwMode="auto">
          <a:xfrm>
            <a:off x="762000" y="2286000"/>
            <a:ext cx="160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000    Mem(0)</a:t>
            </a:r>
          </a:p>
        </p:txBody>
      </p:sp>
      <p:sp>
        <p:nvSpPr>
          <p:cNvPr id="1683541" name="Text Box 85"/>
          <p:cNvSpPr txBox="1">
            <a:spLocks noChangeArrowheads="1"/>
          </p:cNvSpPr>
          <p:nvPr/>
        </p:nvSpPr>
        <p:spPr bwMode="auto">
          <a:xfrm>
            <a:off x="2743200" y="2286000"/>
            <a:ext cx="160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000    Mem(0)</a:t>
            </a:r>
          </a:p>
        </p:txBody>
      </p:sp>
      <p:sp>
        <p:nvSpPr>
          <p:cNvPr id="1683583" name="Text Box 127"/>
          <p:cNvSpPr txBox="1">
            <a:spLocks noChangeArrowheads="1"/>
          </p:cNvSpPr>
          <p:nvPr/>
        </p:nvSpPr>
        <p:spPr bwMode="auto">
          <a:xfrm>
            <a:off x="457200" y="1143000"/>
            <a:ext cx="34290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a:solidFill>
                  <a:schemeClr val="tx1"/>
                </a:solidFill>
              </a:rPr>
              <a:t>Start with an empty cache - all blocks initially marked as not valid</a:t>
            </a:r>
          </a:p>
        </p:txBody>
      </p:sp>
      <p:sp>
        <p:nvSpPr>
          <p:cNvPr id="1683584" name="Line 128"/>
          <p:cNvSpPr>
            <a:spLocks noChangeShapeType="1"/>
          </p:cNvSpPr>
          <p:nvPr/>
        </p:nvSpPr>
        <p:spPr bwMode="auto">
          <a:xfrm>
            <a:off x="457200" y="28956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3585" name="Line 129"/>
          <p:cNvSpPr>
            <a:spLocks noChangeShapeType="1"/>
          </p:cNvSpPr>
          <p:nvPr/>
        </p:nvSpPr>
        <p:spPr bwMode="auto">
          <a:xfrm>
            <a:off x="2438400" y="28956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3586" name="Line 130"/>
          <p:cNvSpPr>
            <a:spLocks noChangeShapeType="1"/>
          </p:cNvSpPr>
          <p:nvPr/>
        </p:nvSpPr>
        <p:spPr bwMode="auto">
          <a:xfrm>
            <a:off x="4495800" y="28956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3587" name="Line 131"/>
          <p:cNvSpPr>
            <a:spLocks noChangeShapeType="1"/>
          </p:cNvSpPr>
          <p:nvPr/>
        </p:nvSpPr>
        <p:spPr bwMode="auto">
          <a:xfrm>
            <a:off x="6553200" y="28956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3592" name="Text Box 136"/>
          <p:cNvSpPr txBox="1">
            <a:spLocks noChangeArrowheads="1"/>
          </p:cNvSpPr>
          <p:nvPr/>
        </p:nvSpPr>
        <p:spPr bwMode="auto">
          <a:xfrm>
            <a:off x="2743200" y="2909888"/>
            <a:ext cx="160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010    Mem(4)</a:t>
            </a:r>
          </a:p>
        </p:txBody>
      </p:sp>
      <p:sp>
        <p:nvSpPr>
          <p:cNvPr id="1683593" name="Text Box 137"/>
          <p:cNvSpPr txBox="1">
            <a:spLocks noChangeArrowheads="1"/>
          </p:cNvSpPr>
          <p:nvPr/>
        </p:nvSpPr>
        <p:spPr bwMode="auto">
          <a:xfrm>
            <a:off x="4794250" y="2909888"/>
            <a:ext cx="160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010    Mem(4)</a:t>
            </a:r>
          </a:p>
        </p:txBody>
      </p:sp>
      <p:sp>
        <p:nvSpPr>
          <p:cNvPr id="1683594" name="Text Box 138"/>
          <p:cNvSpPr txBox="1">
            <a:spLocks noChangeArrowheads="1"/>
          </p:cNvSpPr>
          <p:nvPr/>
        </p:nvSpPr>
        <p:spPr bwMode="auto">
          <a:xfrm>
            <a:off x="4794250" y="2286000"/>
            <a:ext cx="160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000    Mem(0)</a:t>
            </a:r>
          </a:p>
        </p:txBody>
      </p:sp>
      <p:sp>
        <p:nvSpPr>
          <p:cNvPr id="1683595" name="Text Box 139"/>
          <p:cNvSpPr txBox="1">
            <a:spLocks noChangeArrowheads="1"/>
          </p:cNvSpPr>
          <p:nvPr/>
        </p:nvSpPr>
        <p:spPr bwMode="auto">
          <a:xfrm>
            <a:off x="6851650" y="2286000"/>
            <a:ext cx="160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000    Mem(0)</a:t>
            </a:r>
          </a:p>
        </p:txBody>
      </p:sp>
      <p:sp>
        <p:nvSpPr>
          <p:cNvPr id="1683596" name="Text Box 140"/>
          <p:cNvSpPr txBox="1">
            <a:spLocks noChangeArrowheads="1"/>
          </p:cNvSpPr>
          <p:nvPr/>
        </p:nvSpPr>
        <p:spPr bwMode="auto">
          <a:xfrm>
            <a:off x="6858000" y="2909888"/>
            <a:ext cx="160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010    Mem(4)</a:t>
            </a:r>
          </a:p>
        </p:txBody>
      </p:sp>
      <p:sp>
        <p:nvSpPr>
          <p:cNvPr id="1683605" name="Rectangle 149"/>
          <p:cNvSpPr>
            <a:spLocks noChangeArrowheads="1"/>
          </p:cNvSpPr>
          <p:nvPr/>
        </p:nvSpPr>
        <p:spPr bwMode="auto">
          <a:xfrm>
            <a:off x="381000" y="4800600"/>
            <a:ext cx="8153400" cy="114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marL="287338" indent="-287338">
              <a:spcBef>
                <a:spcPct val="30000"/>
              </a:spcBef>
              <a:buClr>
                <a:schemeClr val="accent1"/>
              </a:buClr>
              <a:buSzPct val="75000"/>
              <a:buFont typeface="Wingdings" pitchFamily="2" charset="2"/>
              <a:buChar char="q"/>
            </a:pPr>
            <a:r>
              <a:rPr lang="en-US" sz="2400">
                <a:solidFill>
                  <a:schemeClr val="tx1"/>
                </a:solidFill>
              </a:rPr>
              <a:t>Solves the ping pong effect in a direct mapped cache due to </a:t>
            </a:r>
            <a:r>
              <a:rPr lang="en-US" sz="2400"/>
              <a:t>conflict</a:t>
            </a:r>
            <a:r>
              <a:rPr lang="en-US" sz="2400">
                <a:solidFill>
                  <a:schemeClr val="tx1"/>
                </a:solidFill>
              </a:rPr>
              <a:t> misses since now two memory locations that map into the same cache set can co-exist!</a:t>
            </a:r>
          </a:p>
        </p:txBody>
      </p:sp>
      <p:sp>
        <p:nvSpPr>
          <p:cNvPr id="1683606" name="Rectangle 150"/>
          <p:cNvSpPr>
            <a:spLocks noChangeArrowheads="1"/>
          </p:cNvSpPr>
          <p:nvPr/>
        </p:nvSpPr>
        <p:spPr bwMode="auto">
          <a:xfrm>
            <a:off x="533400" y="3886200"/>
            <a:ext cx="81534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marL="741363" lvl="1" indent="-246063">
              <a:spcBef>
                <a:spcPct val="30000"/>
              </a:spcBef>
              <a:buClr>
                <a:schemeClr val="accent1"/>
              </a:buClr>
              <a:buSzPct val="75000"/>
              <a:buFont typeface="Monotype Sorts" pitchFamily="2" charset="2"/>
              <a:buChar char="l"/>
            </a:pPr>
            <a:r>
              <a:rPr lang="en-US" sz="2000">
                <a:solidFill>
                  <a:schemeClr val="tx1"/>
                </a:solidFill>
              </a:rPr>
              <a:t>8 requests, 2 misses</a:t>
            </a:r>
          </a:p>
        </p:txBody>
      </p:sp>
    </p:spTree>
    <p:extLst>
      <p:ext uri="{BB962C8B-B14F-4D97-AF65-F5344CB8AC3E}">
        <p14:creationId xmlns:p14="http://schemas.microsoft.com/office/powerpoint/2010/main" val="472274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835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8354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8354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8353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8359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8359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8359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68353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8359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8359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8353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8360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83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3532" grpId="0" autoUpdateAnimBg="0"/>
      <p:bldP spid="1683533" grpId="0" autoUpdateAnimBg="0"/>
      <p:bldP spid="1683534" grpId="0" autoUpdateAnimBg="0"/>
      <p:bldP spid="1683535" grpId="0"/>
      <p:bldP spid="1683540" grpId="0" autoUpdateAnimBg="0"/>
      <p:bldP spid="1683541" grpId="0"/>
      <p:bldP spid="1683592" grpId="0"/>
      <p:bldP spid="1683593" grpId="0"/>
      <p:bldP spid="1683594" grpId="0"/>
      <p:bldP spid="1683595" grpId="0"/>
      <p:bldP spid="1683596" grpId="0"/>
      <p:bldP spid="1683605" grpId="0"/>
      <p:bldP spid="168360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1650" name="Rectangle 2"/>
          <p:cNvSpPr>
            <a:spLocks noGrp="1" noChangeArrowheads="1"/>
          </p:cNvSpPr>
          <p:nvPr>
            <p:ph type="title"/>
          </p:nvPr>
        </p:nvSpPr>
        <p:spPr/>
        <p:txBody>
          <a:bodyPr/>
          <a:lstStyle/>
          <a:p>
            <a:r>
              <a:rPr lang="en-US"/>
              <a:t>Four-Way Set Associative Cache</a:t>
            </a:r>
          </a:p>
        </p:txBody>
      </p:sp>
      <p:sp>
        <p:nvSpPr>
          <p:cNvPr id="1691651" name="Rectangle 3"/>
          <p:cNvSpPr>
            <a:spLocks noGrp="1" noChangeArrowheads="1"/>
          </p:cNvSpPr>
          <p:nvPr>
            <p:ph type="body" idx="1"/>
          </p:nvPr>
        </p:nvSpPr>
        <p:spPr>
          <a:xfrm>
            <a:off x="533400" y="685800"/>
            <a:ext cx="8153400" cy="415925"/>
          </a:xfrm>
        </p:spPr>
        <p:txBody>
          <a:bodyPr>
            <a:normAutofit/>
          </a:bodyPr>
          <a:lstStyle/>
          <a:p>
            <a:r>
              <a:rPr lang="en-US"/>
              <a:t>2</a:t>
            </a:r>
            <a:r>
              <a:rPr lang="en-US" baseline="30000"/>
              <a:t>8</a:t>
            </a:r>
            <a:r>
              <a:rPr lang="en-US"/>
              <a:t> = 256 sets each with four ways (each with one block)</a:t>
            </a:r>
          </a:p>
        </p:txBody>
      </p:sp>
      <p:grpSp>
        <p:nvGrpSpPr>
          <p:cNvPr id="1691897" name="Group 249"/>
          <p:cNvGrpSpPr>
            <a:grpSpLocks/>
          </p:cNvGrpSpPr>
          <p:nvPr/>
        </p:nvGrpSpPr>
        <p:grpSpPr bwMode="auto">
          <a:xfrm>
            <a:off x="3289300" y="1066800"/>
            <a:ext cx="2835275" cy="498475"/>
            <a:chOff x="2072" y="896"/>
            <a:chExt cx="1786" cy="314"/>
          </a:xfrm>
        </p:grpSpPr>
        <p:sp>
          <p:nvSpPr>
            <p:cNvPr id="1691692" name="Line 44"/>
            <p:cNvSpPr>
              <a:spLocks noChangeShapeType="1"/>
            </p:cNvSpPr>
            <p:nvPr/>
          </p:nvSpPr>
          <p:spPr bwMode="auto">
            <a:xfrm flipV="1">
              <a:off x="3026" y="1061"/>
              <a:ext cx="3" cy="149"/>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693" name="Line 45"/>
            <p:cNvSpPr>
              <a:spLocks noChangeShapeType="1"/>
            </p:cNvSpPr>
            <p:nvPr/>
          </p:nvSpPr>
          <p:spPr bwMode="auto">
            <a:xfrm flipV="1">
              <a:off x="3570" y="1051"/>
              <a:ext cx="1" cy="145"/>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694" name="Freeform 46"/>
            <p:cNvSpPr>
              <a:spLocks/>
            </p:cNvSpPr>
            <p:nvPr/>
          </p:nvSpPr>
          <p:spPr bwMode="auto">
            <a:xfrm>
              <a:off x="2158" y="1059"/>
              <a:ext cx="1570" cy="151"/>
            </a:xfrm>
            <a:custGeom>
              <a:avLst/>
              <a:gdLst>
                <a:gd name="T0" fmla="*/ 0 w 1570"/>
                <a:gd name="T1" fmla="*/ 149 h 151"/>
                <a:gd name="T2" fmla="*/ 3 w 1570"/>
                <a:gd name="T3" fmla="*/ 0 h 151"/>
                <a:gd name="T4" fmla="*/ 1570 w 1570"/>
                <a:gd name="T5" fmla="*/ 0 h 151"/>
                <a:gd name="T6" fmla="*/ 1570 w 1570"/>
                <a:gd name="T7" fmla="*/ 151 h 151"/>
                <a:gd name="T8" fmla="*/ 3 w 1570"/>
                <a:gd name="T9" fmla="*/ 151 h 151"/>
                <a:gd name="T10" fmla="*/ 3 w 1570"/>
                <a:gd name="T11" fmla="*/ 151 h 151"/>
              </a:gdLst>
              <a:ahLst/>
              <a:cxnLst>
                <a:cxn ang="0">
                  <a:pos x="T0" y="T1"/>
                </a:cxn>
                <a:cxn ang="0">
                  <a:pos x="T2" y="T3"/>
                </a:cxn>
                <a:cxn ang="0">
                  <a:pos x="T4" y="T5"/>
                </a:cxn>
                <a:cxn ang="0">
                  <a:pos x="T6" y="T7"/>
                </a:cxn>
                <a:cxn ang="0">
                  <a:pos x="T8" y="T9"/>
                </a:cxn>
                <a:cxn ang="0">
                  <a:pos x="T10" y="T11"/>
                </a:cxn>
              </a:cxnLst>
              <a:rect l="0" t="0" r="r" b="b"/>
              <a:pathLst>
                <a:path w="1570" h="151">
                  <a:moveTo>
                    <a:pt x="0" y="149"/>
                  </a:moveTo>
                  <a:lnTo>
                    <a:pt x="3" y="0"/>
                  </a:lnTo>
                  <a:lnTo>
                    <a:pt x="1570" y="0"/>
                  </a:lnTo>
                  <a:lnTo>
                    <a:pt x="1570" y="151"/>
                  </a:lnTo>
                  <a:lnTo>
                    <a:pt x="3" y="151"/>
                  </a:lnTo>
                  <a:lnTo>
                    <a:pt x="3" y="151"/>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695" name="Text Box 47"/>
            <p:cNvSpPr txBox="1">
              <a:spLocks noChangeArrowheads="1"/>
            </p:cNvSpPr>
            <p:nvPr/>
          </p:nvSpPr>
          <p:spPr bwMode="auto">
            <a:xfrm>
              <a:off x="2072" y="896"/>
              <a:ext cx="178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000">
                  <a:solidFill>
                    <a:schemeClr val="tx1"/>
                  </a:solidFill>
                </a:rPr>
                <a:t>31 30       . . .        13 12  11     . . .        2  1  0</a:t>
              </a:r>
            </a:p>
          </p:txBody>
        </p:sp>
      </p:grpSp>
      <p:sp>
        <p:nvSpPr>
          <p:cNvPr id="1691696" name="Text Box 48"/>
          <p:cNvSpPr txBox="1">
            <a:spLocks noChangeArrowheads="1"/>
          </p:cNvSpPr>
          <p:nvPr/>
        </p:nvSpPr>
        <p:spPr bwMode="auto">
          <a:xfrm>
            <a:off x="6096000" y="990600"/>
            <a:ext cx="1419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a:solidFill>
                  <a:schemeClr val="tx1"/>
                </a:solidFill>
              </a:rPr>
              <a:t>Byte offset</a:t>
            </a:r>
          </a:p>
        </p:txBody>
      </p:sp>
      <p:sp>
        <p:nvSpPr>
          <p:cNvPr id="1691697" name="Line 49"/>
          <p:cNvSpPr>
            <a:spLocks noChangeShapeType="1"/>
          </p:cNvSpPr>
          <p:nvPr/>
        </p:nvSpPr>
        <p:spPr bwMode="auto">
          <a:xfrm flipH="1">
            <a:off x="5819775" y="1143000"/>
            <a:ext cx="304800" cy="304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691810" name="Group 162"/>
          <p:cNvGrpSpPr>
            <a:grpSpLocks/>
          </p:cNvGrpSpPr>
          <p:nvPr/>
        </p:nvGrpSpPr>
        <p:grpSpPr bwMode="auto">
          <a:xfrm>
            <a:off x="6477000" y="2208213"/>
            <a:ext cx="2057400" cy="2135187"/>
            <a:chOff x="4128" y="1632"/>
            <a:chExt cx="1296" cy="1345"/>
          </a:xfrm>
        </p:grpSpPr>
        <p:sp>
          <p:nvSpPr>
            <p:cNvPr id="1691710" name="Freeform 62"/>
            <p:cNvSpPr>
              <a:spLocks/>
            </p:cNvSpPr>
            <p:nvPr/>
          </p:nvSpPr>
          <p:spPr bwMode="auto">
            <a:xfrm>
              <a:off x="4405" y="1829"/>
              <a:ext cx="1019" cy="1103"/>
            </a:xfrm>
            <a:custGeom>
              <a:avLst/>
              <a:gdLst>
                <a:gd name="T0" fmla="*/ 1608 w 1608"/>
                <a:gd name="T1" fmla="*/ 1101 h 1103"/>
                <a:gd name="T2" fmla="*/ 1608 w 1608"/>
                <a:gd name="T3" fmla="*/ 0 h 1103"/>
                <a:gd name="T4" fmla="*/ 0 w 1608"/>
                <a:gd name="T5" fmla="*/ 0 h 1103"/>
                <a:gd name="T6" fmla="*/ 0 w 1608"/>
                <a:gd name="T7" fmla="*/ 1103 h 1103"/>
                <a:gd name="T8" fmla="*/ 1608 w 1608"/>
                <a:gd name="T9" fmla="*/ 1103 h 1103"/>
                <a:gd name="T10" fmla="*/ 1608 w 1608"/>
                <a:gd name="T11" fmla="*/ 1103 h 1103"/>
              </a:gdLst>
              <a:ahLst/>
              <a:cxnLst>
                <a:cxn ang="0">
                  <a:pos x="T0" y="T1"/>
                </a:cxn>
                <a:cxn ang="0">
                  <a:pos x="T2" y="T3"/>
                </a:cxn>
                <a:cxn ang="0">
                  <a:pos x="T4" y="T5"/>
                </a:cxn>
                <a:cxn ang="0">
                  <a:pos x="T6" y="T7"/>
                </a:cxn>
                <a:cxn ang="0">
                  <a:pos x="T8" y="T9"/>
                </a:cxn>
                <a:cxn ang="0">
                  <a:pos x="T10" y="T11"/>
                </a:cxn>
              </a:cxnLst>
              <a:rect l="0" t="0" r="r" b="b"/>
              <a:pathLst>
                <a:path w="1608" h="1103">
                  <a:moveTo>
                    <a:pt x="1608" y="1101"/>
                  </a:moveTo>
                  <a:lnTo>
                    <a:pt x="1608" y="0"/>
                  </a:lnTo>
                  <a:lnTo>
                    <a:pt x="0" y="0"/>
                  </a:lnTo>
                  <a:lnTo>
                    <a:pt x="0" y="1103"/>
                  </a:lnTo>
                  <a:lnTo>
                    <a:pt x="1608" y="1103"/>
                  </a:lnTo>
                  <a:lnTo>
                    <a:pt x="1608" y="110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691711" name="Group 63"/>
            <p:cNvGrpSpPr>
              <a:grpSpLocks/>
            </p:cNvGrpSpPr>
            <p:nvPr/>
          </p:nvGrpSpPr>
          <p:grpSpPr bwMode="auto">
            <a:xfrm>
              <a:off x="4405" y="1925"/>
              <a:ext cx="1019" cy="894"/>
              <a:chOff x="2208" y="1920"/>
              <a:chExt cx="2130" cy="894"/>
            </a:xfrm>
          </p:grpSpPr>
          <p:sp>
            <p:nvSpPr>
              <p:cNvPr id="1691712" name="Freeform 64"/>
              <p:cNvSpPr>
                <a:spLocks/>
              </p:cNvSpPr>
              <p:nvPr/>
            </p:nvSpPr>
            <p:spPr bwMode="auto">
              <a:xfrm>
                <a:off x="2208" y="2263"/>
                <a:ext cx="2130" cy="110"/>
              </a:xfrm>
              <a:custGeom>
                <a:avLst/>
                <a:gdLst>
                  <a:gd name="T0" fmla="*/ 1608 w 1608"/>
                  <a:gd name="T1" fmla="*/ 110 h 110"/>
                  <a:gd name="T2" fmla="*/ 1608 w 1608"/>
                  <a:gd name="T3" fmla="*/ 0 h 110"/>
                  <a:gd name="T4" fmla="*/ 0 w 1608"/>
                  <a:gd name="T5" fmla="*/ 0 h 110"/>
                  <a:gd name="T6" fmla="*/ 0 w 1608"/>
                  <a:gd name="T7" fmla="*/ 110 h 110"/>
                  <a:gd name="T8" fmla="*/ 1608 w 1608"/>
                  <a:gd name="T9" fmla="*/ 110 h 110"/>
                  <a:gd name="T10" fmla="*/ 1608 w 1608"/>
                  <a:gd name="T11" fmla="*/ 110 h 110"/>
                </a:gdLst>
                <a:ahLst/>
                <a:cxnLst>
                  <a:cxn ang="0">
                    <a:pos x="T0" y="T1"/>
                  </a:cxn>
                  <a:cxn ang="0">
                    <a:pos x="T2" y="T3"/>
                  </a:cxn>
                  <a:cxn ang="0">
                    <a:pos x="T4" y="T5"/>
                  </a:cxn>
                  <a:cxn ang="0">
                    <a:pos x="T6" y="T7"/>
                  </a:cxn>
                  <a:cxn ang="0">
                    <a:pos x="T8" y="T9"/>
                  </a:cxn>
                  <a:cxn ang="0">
                    <a:pos x="T10" y="T11"/>
                  </a:cxn>
                </a:cxnLst>
                <a:rect l="0" t="0" r="r" b="b"/>
                <a:pathLst>
                  <a:path w="1608" h="110">
                    <a:moveTo>
                      <a:pt x="1608" y="110"/>
                    </a:moveTo>
                    <a:lnTo>
                      <a:pt x="1608" y="0"/>
                    </a:lnTo>
                    <a:lnTo>
                      <a:pt x="0" y="0"/>
                    </a:lnTo>
                    <a:lnTo>
                      <a:pt x="0" y="110"/>
                    </a:lnTo>
                    <a:lnTo>
                      <a:pt x="1608" y="110"/>
                    </a:lnTo>
                    <a:lnTo>
                      <a:pt x="1608" y="110"/>
                    </a:lnTo>
                    <a:close/>
                  </a:path>
                </a:pathLst>
              </a:custGeom>
              <a:solidFill>
                <a:schemeClr val="hlink"/>
              </a:solidFill>
              <a:ln w="9525">
                <a:solidFill>
                  <a:schemeClr val="hlink"/>
                </a:solidFill>
                <a:round/>
                <a:headEnd/>
                <a:tailEnd/>
              </a:ln>
            </p:spPr>
            <p:txBody>
              <a:bodyPr/>
              <a:lstStyle/>
              <a:p>
                <a:endParaRPr lang="en-US"/>
              </a:p>
            </p:txBody>
          </p:sp>
          <p:sp>
            <p:nvSpPr>
              <p:cNvPr id="1691713" name="Freeform 65"/>
              <p:cNvSpPr>
                <a:spLocks/>
              </p:cNvSpPr>
              <p:nvPr/>
            </p:nvSpPr>
            <p:spPr bwMode="auto">
              <a:xfrm>
                <a:off x="2208" y="2263"/>
                <a:ext cx="2130" cy="110"/>
              </a:xfrm>
              <a:custGeom>
                <a:avLst/>
                <a:gdLst>
                  <a:gd name="T0" fmla="*/ 1608 w 1608"/>
                  <a:gd name="T1" fmla="*/ 110 h 110"/>
                  <a:gd name="T2" fmla="*/ 1608 w 1608"/>
                  <a:gd name="T3" fmla="*/ 0 h 110"/>
                  <a:gd name="T4" fmla="*/ 0 w 1608"/>
                  <a:gd name="T5" fmla="*/ 0 h 110"/>
                  <a:gd name="T6" fmla="*/ 0 w 1608"/>
                  <a:gd name="T7" fmla="*/ 110 h 110"/>
                  <a:gd name="T8" fmla="*/ 1608 w 1608"/>
                  <a:gd name="T9" fmla="*/ 110 h 110"/>
                  <a:gd name="T10" fmla="*/ 1608 w 1608"/>
                  <a:gd name="T11" fmla="*/ 110 h 110"/>
                </a:gdLst>
                <a:ahLst/>
                <a:cxnLst>
                  <a:cxn ang="0">
                    <a:pos x="T0" y="T1"/>
                  </a:cxn>
                  <a:cxn ang="0">
                    <a:pos x="T2" y="T3"/>
                  </a:cxn>
                  <a:cxn ang="0">
                    <a:pos x="T4" y="T5"/>
                  </a:cxn>
                  <a:cxn ang="0">
                    <a:pos x="T6" y="T7"/>
                  </a:cxn>
                  <a:cxn ang="0">
                    <a:pos x="T8" y="T9"/>
                  </a:cxn>
                  <a:cxn ang="0">
                    <a:pos x="T10" y="T11"/>
                  </a:cxn>
                </a:cxnLst>
                <a:rect l="0" t="0" r="r" b="b"/>
                <a:pathLst>
                  <a:path w="1608" h="110">
                    <a:moveTo>
                      <a:pt x="1608" y="110"/>
                    </a:moveTo>
                    <a:lnTo>
                      <a:pt x="1608" y="0"/>
                    </a:lnTo>
                    <a:lnTo>
                      <a:pt x="0" y="0"/>
                    </a:lnTo>
                    <a:lnTo>
                      <a:pt x="0" y="110"/>
                    </a:lnTo>
                    <a:lnTo>
                      <a:pt x="1608" y="110"/>
                    </a:lnTo>
                    <a:lnTo>
                      <a:pt x="1608" y="11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714" name="Line 66"/>
              <p:cNvSpPr>
                <a:spLocks noChangeShapeType="1"/>
              </p:cNvSpPr>
              <p:nvPr/>
            </p:nvSpPr>
            <p:spPr bwMode="auto">
              <a:xfrm flipH="1">
                <a:off x="2208" y="1920"/>
                <a:ext cx="2130"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715" name="Line 67"/>
              <p:cNvSpPr>
                <a:spLocks noChangeShapeType="1"/>
              </p:cNvSpPr>
              <p:nvPr/>
            </p:nvSpPr>
            <p:spPr bwMode="auto">
              <a:xfrm flipH="1">
                <a:off x="2208" y="2044"/>
                <a:ext cx="2130"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716" name="Line 68"/>
              <p:cNvSpPr>
                <a:spLocks noChangeShapeType="1"/>
              </p:cNvSpPr>
              <p:nvPr/>
            </p:nvSpPr>
            <p:spPr bwMode="auto">
              <a:xfrm flipH="1">
                <a:off x="2208" y="2154"/>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717" name="Line 69"/>
              <p:cNvSpPr>
                <a:spLocks noChangeShapeType="1"/>
              </p:cNvSpPr>
              <p:nvPr/>
            </p:nvSpPr>
            <p:spPr bwMode="auto">
              <a:xfrm flipH="1">
                <a:off x="2208" y="237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718" name="Line 70"/>
              <p:cNvSpPr>
                <a:spLocks noChangeShapeType="1"/>
              </p:cNvSpPr>
              <p:nvPr/>
            </p:nvSpPr>
            <p:spPr bwMode="auto">
              <a:xfrm flipH="1">
                <a:off x="2208" y="248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719" name="Line 71"/>
              <p:cNvSpPr>
                <a:spLocks noChangeShapeType="1"/>
              </p:cNvSpPr>
              <p:nvPr/>
            </p:nvSpPr>
            <p:spPr bwMode="auto">
              <a:xfrm flipH="1">
                <a:off x="2208" y="259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720" name="Line 72"/>
              <p:cNvSpPr>
                <a:spLocks noChangeShapeType="1"/>
              </p:cNvSpPr>
              <p:nvPr/>
            </p:nvSpPr>
            <p:spPr bwMode="auto">
              <a:xfrm flipH="1">
                <a:off x="2208" y="270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721" name="Line 73"/>
              <p:cNvSpPr>
                <a:spLocks noChangeShapeType="1"/>
              </p:cNvSpPr>
              <p:nvPr/>
            </p:nvSpPr>
            <p:spPr bwMode="auto">
              <a:xfrm flipH="1">
                <a:off x="2208" y="281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91722" name="Line 74"/>
            <p:cNvSpPr>
              <a:spLocks noChangeShapeType="1"/>
            </p:cNvSpPr>
            <p:nvPr/>
          </p:nvSpPr>
          <p:spPr bwMode="auto">
            <a:xfrm>
              <a:off x="4480" y="1835"/>
              <a:ext cx="4" cy="110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723" name="Line 75"/>
            <p:cNvSpPr>
              <a:spLocks noChangeShapeType="1"/>
            </p:cNvSpPr>
            <p:nvPr/>
          </p:nvSpPr>
          <p:spPr bwMode="auto">
            <a:xfrm>
              <a:off x="4876" y="1824"/>
              <a:ext cx="1" cy="110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724" name="Text Box 76"/>
            <p:cNvSpPr txBox="1">
              <a:spLocks noChangeArrowheads="1"/>
            </p:cNvSpPr>
            <p:nvPr/>
          </p:nvSpPr>
          <p:spPr bwMode="auto">
            <a:xfrm>
              <a:off x="4993" y="1637"/>
              <a:ext cx="35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Data</a:t>
              </a:r>
            </a:p>
          </p:txBody>
        </p:sp>
        <p:sp>
          <p:nvSpPr>
            <p:cNvPr id="1691726" name="Text Box 78"/>
            <p:cNvSpPr txBox="1">
              <a:spLocks noChangeArrowheads="1"/>
            </p:cNvSpPr>
            <p:nvPr/>
          </p:nvSpPr>
          <p:spPr bwMode="auto">
            <a:xfrm>
              <a:off x="4512" y="1632"/>
              <a:ext cx="30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Tag</a:t>
              </a:r>
            </a:p>
          </p:txBody>
        </p:sp>
        <p:sp>
          <p:nvSpPr>
            <p:cNvPr id="1691727" name="Text Box 79"/>
            <p:cNvSpPr txBox="1">
              <a:spLocks noChangeArrowheads="1"/>
            </p:cNvSpPr>
            <p:nvPr/>
          </p:nvSpPr>
          <p:spPr bwMode="auto">
            <a:xfrm>
              <a:off x="4368" y="1632"/>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V</a:t>
              </a:r>
            </a:p>
          </p:txBody>
        </p:sp>
        <p:sp>
          <p:nvSpPr>
            <p:cNvPr id="1691728" name="Text Box 80"/>
            <p:cNvSpPr txBox="1">
              <a:spLocks noChangeArrowheads="1"/>
            </p:cNvSpPr>
            <p:nvPr/>
          </p:nvSpPr>
          <p:spPr bwMode="auto">
            <a:xfrm>
              <a:off x="4128" y="1776"/>
              <a:ext cx="302" cy="1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10000"/>
                </a:lnSpc>
              </a:pPr>
              <a:r>
                <a:rPr lang="en-US" sz="1200">
                  <a:solidFill>
                    <a:schemeClr val="tx1"/>
                  </a:solidFill>
                </a:rPr>
                <a:t>0</a:t>
              </a:r>
            </a:p>
            <a:p>
              <a:pPr algn="r">
                <a:lnSpc>
                  <a:spcPct val="110000"/>
                </a:lnSpc>
              </a:pPr>
              <a:r>
                <a:rPr lang="en-US" sz="1200">
                  <a:solidFill>
                    <a:schemeClr val="tx1"/>
                  </a:solidFill>
                </a:rPr>
                <a:t>1</a:t>
              </a:r>
            </a:p>
            <a:p>
              <a:pPr algn="r">
                <a:lnSpc>
                  <a:spcPct val="110000"/>
                </a:lnSpc>
              </a:pPr>
              <a:r>
                <a:rPr lang="en-US" sz="1200">
                  <a:solidFill>
                    <a:schemeClr val="tx1"/>
                  </a:solidFill>
                </a:rPr>
                <a:t>2</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 253</a:t>
              </a:r>
            </a:p>
            <a:p>
              <a:pPr algn="r">
                <a:lnSpc>
                  <a:spcPct val="110000"/>
                </a:lnSpc>
              </a:pPr>
              <a:r>
                <a:rPr lang="en-US" sz="1200">
                  <a:solidFill>
                    <a:schemeClr val="tx1"/>
                  </a:solidFill>
                </a:rPr>
                <a:t> 254</a:t>
              </a:r>
            </a:p>
            <a:p>
              <a:pPr algn="r">
                <a:lnSpc>
                  <a:spcPct val="110000"/>
                </a:lnSpc>
              </a:pPr>
              <a:r>
                <a:rPr lang="en-US" sz="1200">
                  <a:solidFill>
                    <a:schemeClr val="tx1"/>
                  </a:solidFill>
                </a:rPr>
                <a:t> 255</a:t>
              </a:r>
            </a:p>
          </p:txBody>
        </p:sp>
      </p:grpSp>
      <p:grpSp>
        <p:nvGrpSpPr>
          <p:cNvPr id="1691811" name="Group 163"/>
          <p:cNvGrpSpPr>
            <a:grpSpLocks/>
          </p:cNvGrpSpPr>
          <p:nvPr/>
        </p:nvGrpSpPr>
        <p:grpSpPr bwMode="auto">
          <a:xfrm>
            <a:off x="4495800" y="2208213"/>
            <a:ext cx="2057400" cy="2135187"/>
            <a:chOff x="4128" y="1632"/>
            <a:chExt cx="1296" cy="1345"/>
          </a:xfrm>
        </p:grpSpPr>
        <p:sp>
          <p:nvSpPr>
            <p:cNvPr id="1691812" name="Freeform 164"/>
            <p:cNvSpPr>
              <a:spLocks/>
            </p:cNvSpPr>
            <p:nvPr/>
          </p:nvSpPr>
          <p:spPr bwMode="auto">
            <a:xfrm>
              <a:off x="4405" y="1829"/>
              <a:ext cx="1019" cy="1103"/>
            </a:xfrm>
            <a:custGeom>
              <a:avLst/>
              <a:gdLst>
                <a:gd name="T0" fmla="*/ 1608 w 1608"/>
                <a:gd name="T1" fmla="*/ 1101 h 1103"/>
                <a:gd name="T2" fmla="*/ 1608 w 1608"/>
                <a:gd name="T3" fmla="*/ 0 h 1103"/>
                <a:gd name="T4" fmla="*/ 0 w 1608"/>
                <a:gd name="T5" fmla="*/ 0 h 1103"/>
                <a:gd name="T6" fmla="*/ 0 w 1608"/>
                <a:gd name="T7" fmla="*/ 1103 h 1103"/>
                <a:gd name="T8" fmla="*/ 1608 w 1608"/>
                <a:gd name="T9" fmla="*/ 1103 h 1103"/>
                <a:gd name="T10" fmla="*/ 1608 w 1608"/>
                <a:gd name="T11" fmla="*/ 1103 h 1103"/>
              </a:gdLst>
              <a:ahLst/>
              <a:cxnLst>
                <a:cxn ang="0">
                  <a:pos x="T0" y="T1"/>
                </a:cxn>
                <a:cxn ang="0">
                  <a:pos x="T2" y="T3"/>
                </a:cxn>
                <a:cxn ang="0">
                  <a:pos x="T4" y="T5"/>
                </a:cxn>
                <a:cxn ang="0">
                  <a:pos x="T6" y="T7"/>
                </a:cxn>
                <a:cxn ang="0">
                  <a:pos x="T8" y="T9"/>
                </a:cxn>
                <a:cxn ang="0">
                  <a:pos x="T10" y="T11"/>
                </a:cxn>
              </a:cxnLst>
              <a:rect l="0" t="0" r="r" b="b"/>
              <a:pathLst>
                <a:path w="1608" h="1103">
                  <a:moveTo>
                    <a:pt x="1608" y="1101"/>
                  </a:moveTo>
                  <a:lnTo>
                    <a:pt x="1608" y="0"/>
                  </a:lnTo>
                  <a:lnTo>
                    <a:pt x="0" y="0"/>
                  </a:lnTo>
                  <a:lnTo>
                    <a:pt x="0" y="1103"/>
                  </a:lnTo>
                  <a:lnTo>
                    <a:pt x="1608" y="1103"/>
                  </a:lnTo>
                  <a:lnTo>
                    <a:pt x="1608" y="110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691813" name="Group 165"/>
            <p:cNvGrpSpPr>
              <a:grpSpLocks/>
            </p:cNvGrpSpPr>
            <p:nvPr/>
          </p:nvGrpSpPr>
          <p:grpSpPr bwMode="auto">
            <a:xfrm>
              <a:off x="4405" y="1925"/>
              <a:ext cx="1019" cy="894"/>
              <a:chOff x="2208" y="1920"/>
              <a:chExt cx="2130" cy="894"/>
            </a:xfrm>
          </p:grpSpPr>
          <p:sp>
            <p:nvSpPr>
              <p:cNvPr id="1691814" name="Freeform 166"/>
              <p:cNvSpPr>
                <a:spLocks/>
              </p:cNvSpPr>
              <p:nvPr/>
            </p:nvSpPr>
            <p:spPr bwMode="auto">
              <a:xfrm>
                <a:off x="2208" y="2263"/>
                <a:ext cx="2130" cy="110"/>
              </a:xfrm>
              <a:custGeom>
                <a:avLst/>
                <a:gdLst>
                  <a:gd name="T0" fmla="*/ 1608 w 1608"/>
                  <a:gd name="T1" fmla="*/ 110 h 110"/>
                  <a:gd name="T2" fmla="*/ 1608 w 1608"/>
                  <a:gd name="T3" fmla="*/ 0 h 110"/>
                  <a:gd name="T4" fmla="*/ 0 w 1608"/>
                  <a:gd name="T5" fmla="*/ 0 h 110"/>
                  <a:gd name="T6" fmla="*/ 0 w 1608"/>
                  <a:gd name="T7" fmla="*/ 110 h 110"/>
                  <a:gd name="T8" fmla="*/ 1608 w 1608"/>
                  <a:gd name="T9" fmla="*/ 110 h 110"/>
                  <a:gd name="T10" fmla="*/ 1608 w 1608"/>
                  <a:gd name="T11" fmla="*/ 110 h 110"/>
                </a:gdLst>
                <a:ahLst/>
                <a:cxnLst>
                  <a:cxn ang="0">
                    <a:pos x="T0" y="T1"/>
                  </a:cxn>
                  <a:cxn ang="0">
                    <a:pos x="T2" y="T3"/>
                  </a:cxn>
                  <a:cxn ang="0">
                    <a:pos x="T4" y="T5"/>
                  </a:cxn>
                  <a:cxn ang="0">
                    <a:pos x="T6" y="T7"/>
                  </a:cxn>
                  <a:cxn ang="0">
                    <a:pos x="T8" y="T9"/>
                  </a:cxn>
                  <a:cxn ang="0">
                    <a:pos x="T10" y="T11"/>
                  </a:cxn>
                </a:cxnLst>
                <a:rect l="0" t="0" r="r" b="b"/>
                <a:pathLst>
                  <a:path w="1608" h="110">
                    <a:moveTo>
                      <a:pt x="1608" y="110"/>
                    </a:moveTo>
                    <a:lnTo>
                      <a:pt x="1608" y="0"/>
                    </a:lnTo>
                    <a:lnTo>
                      <a:pt x="0" y="0"/>
                    </a:lnTo>
                    <a:lnTo>
                      <a:pt x="0" y="110"/>
                    </a:lnTo>
                    <a:lnTo>
                      <a:pt x="1608" y="110"/>
                    </a:lnTo>
                    <a:lnTo>
                      <a:pt x="1608" y="110"/>
                    </a:lnTo>
                    <a:close/>
                  </a:path>
                </a:pathLst>
              </a:custGeom>
              <a:solidFill>
                <a:schemeClr val="hlink"/>
              </a:solidFill>
              <a:ln w="9525">
                <a:solidFill>
                  <a:schemeClr val="hlink"/>
                </a:solidFill>
                <a:round/>
                <a:headEnd/>
                <a:tailEnd/>
              </a:ln>
            </p:spPr>
            <p:txBody>
              <a:bodyPr/>
              <a:lstStyle/>
              <a:p>
                <a:endParaRPr lang="en-US"/>
              </a:p>
            </p:txBody>
          </p:sp>
          <p:sp>
            <p:nvSpPr>
              <p:cNvPr id="1691815" name="Freeform 167"/>
              <p:cNvSpPr>
                <a:spLocks/>
              </p:cNvSpPr>
              <p:nvPr/>
            </p:nvSpPr>
            <p:spPr bwMode="auto">
              <a:xfrm>
                <a:off x="2208" y="2263"/>
                <a:ext cx="2130" cy="110"/>
              </a:xfrm>
              <a:custGeom>
                <a:avLst/>
                <a:gdLst>
                  <a:gd name="T0" fmla="*/ 1608 w 1608"/>
                  <a:gd name="T1" fmla="*/ 110 h 110"/>
                  <a:gd name="T2" fmla="*/ 1608 w 1608"/>
                  <a:gd name="T3" fmla="*/ 0 h 110"/>
                  <a:gd name="T4" fmla="*/ 0 w 1608"/>
                  <a:gd name="T5" fmla="*/ 0 h 110"/>
                  <a:gd name="T6" fmla="*/ 0 w 1608"/>
                  <a:gd name="T7" fmla="*/ 110 h 110"/>
                  <a:gd name="T8" fmla="*/ 1608 w 1608"/>
                  <a:gd name="T9" fmla="*/ 110 h 110"/>
                  <a:gd name="T10" fmla="*/ 1608 w 1608"/>
                  <a:gd name="T11" fmla="*/ 110 h 110"/>
                </a:gdLst>
                <a:ahLst/>
                <a:cxnLst>
                  <a:cxn ang="0">
                    <a:pos x="T0" y="T1"/>
                  </a:cxn>
                  <a:cxn ang="0">
                    <a:pos x="T2" y="T3"/>
                  </a:cxn>
                  <a:cxn ang="0">
                    <a:pos x="T4" y="T5"/>
                  </a:cxn>
                  <a:cxn ang="0">
                    <a:pos x="T6" y="T7"/>
                  </a:cxn>
                  <a:cxn ang="0">
                    <a:pos x="T8" y="T9"/>
                  </a:cxn>
                  <a:cxn ang="0">
                    <a:pos x="T10" y="T11"/>
                  </a:cxn>
                </a:cxnLst>
                <a:rect l="0" t="0" r="r" b="b"/>
                <a:pathLst>
                  <a:path w="1608" h="110">
                    <a:moveTo>
                      <a:pt x="1608" y="110"/>
                    </a:moveTo>
                    <a:lnTo>
                      <a:pt x="1608" y="0"/>
                    </a:lnTo>
                    <a:lnTo>
                      <a:pt x="0" y="0"/>
                    </a:lnTo>
                    <a:lnTo>
                      <a:pt x="0" y="110"/>
                    </a:lnTo>
                    <a:lnTo>
                      <a:pt x="1608" y="110"/>
                    </a:lnTo>
                    <a:lnTo>
                      <a:pt x="1608" y="11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16" name="Line 168"/>
              <p:cNvSpPr>
                <a:spLocks noChangeShapeType="1"/>
              </p:cNvSpPr>
              <p:nvPr/>
            </p:nvSpPr>
            <p:spPr bwMode="auto">
              <a:xfrm flipH="1">
                <a:off x="2208" y="1920"/>
                <a:ext cx="2130"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17" name="Line 169"/>
              <p:cNvSpPr>
                <a:spLocks noChangeShapeType="1"/>
              </p:cNvSpPr>
              <p:nvPr/>
            </p:nvSpPr>
            <p:spPr bwMode="auto">
              <a:xfrm flipH="1">
                <a:off x="2208" y="2044"/>
                <a:ext cx="2130"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18" name="Line 170"/>
              <p:cNvSpPr>
                <a:spLocks noChangeShapeType="1"/>
              </p:cNvSpPr>
              <p:nvPr/>
            </p:nvSpPr>
            <p:spPr bwMode="auto">
              <a:xfrm flipH="1">
                <a:off x="2208" y="2154"/>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19" name="Line 171"/>
              <p:cNvSpPr>
                <a:spLocks noChangeShapeType="1"/>
              </p:cNvSpPr>
              <p:nvPr/>
            </p:nvSpPr>
            <p:spPr bwMode="auto">
              <a:xfrm flipH="1">
                <a:off x="2208" y="237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20" name="Line 172"/>
              <p:cNvSpPr>
                <a:spLocks noChangeShapeType="1"/>
              </p:cNvSpPr>
              <p:nvPr/>
            </p:nvSpPr>
            <p:spPr bwMode="auto">
              <a:xfrm flipH="1">
                <a:off x="2208" y="248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21" name="Line 173"/>
              <p:cNvSpPr>
                <a:spLocks noChangeShapeType="1"/>
              </p:cNvSpPr>
              <p:nvPr/>
            </p:nvSpPr>
            <p:spPr bwMode="auto">
              <a:xfrm flipH="1">
                <a:off x="2208" y="259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22" name="Line 174"/>
              <p:cNvSpPr>
                <a:spLocks noChangeShapeType="1"/>
              </p:cNvSpPr>
              <p:nvPr/>
            </p:nvSpPr>
            <p:spPr bwMode="auto">
              <a:xfrm flipH="1">
                <a:off x="2208" y="270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23" name="Line 175"/>
              <p:cNvSpPr>
                <a:spLocks noChangeShapeType="1"/>
              </p:cNvSpPr>
              <p:nvPr/>
            </p:nvSpPr>
            <p:spPr bwMode="auto">
              <a:xfrm flipH="1">
                <a:off x="2208" y="281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91824" name="Line 176"/>
            <p:cNvSpPr>
              <a:spLocks noChangeShapeType="1"/>
            </p:cNvSpPr>
            <p:nvPr/>
          </p:nvSpPr>
          <p:spPr bwMode="auto">
            <a:xfrm>
              <a:off x="4480" y="1835"/>
              <a:ext cx="4" cy="110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25" name="Line 177"/>
            <p:cNvSpPr>
              <a:spLocks noChangeShapeType="1"/>
            </p:cNvSpPr>
            <p:nvPr/>
          </p:nvSpPr>
          <p:spPr bwMode="auto">
            <a:xfrm>
              <a:off x="4876" y="1824"/>
              <a:ext cx="1" cy="110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26" name="Text Box 178"/>
            <p:cNvSpPr txBox="1">
              <a:spLocks noChangeArrowheads="1"/>
            </p:cNvSpPr>
            <p:nvPr/>
          </p:nvSpPr>
          <p:spPr bwMode="auto">
            <a:xfrm>
              <a:off x="4993" y="1637"/>
              <a:ext cx="35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Data</a:t>
              </a:r>
            </a:p>
          </p:txBody>
        </p:sp>
        <p:sp>
          <p:nvSpPr>
            <p:cNvPr id="1691827" name="Text Box 179"/>
            <p:cNvSpPr txBox="1">
              <a:spLocks noChangeArrowheads="1"/>
            </p:cNvSpPr>
            <p:nvPr/>
          </p:nvSpPr>
          <p:spPr bwMode="auto">
            <a:xfrm>
              <a:off x="4512" y="1632"/>
              <a:ext cx="30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Tag</a:t>
              </a:r>
            </a:p>
          </p:txBody>
        </p:sp>
        <p:sp>
          <p:nvSpPr>
            <p:cNvPr id="1691828" name="Text Box 180"/>
            <p:cNvSpPr txBox="1">
              <a:spLocks noChangeArrowheads="1"/>
            </p:cNvSpPr>
            <p:nvPr/>
          </p:nvSpPr>
          <p:spPr bwMode="auto">
            <a:xfrm>
              <a:off x="4368" y="1632"/>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V</a:t>
              </a:r>
            </a:p>
          </p:txBody>
        </p:sp>
        <p:sp>
          <p:nvSpPr>
            <p:cNvPr id="1691829" name="Text Box 181"/>
            <p:cNvSpPr txBox="1">
              <a:spLocks noChangeArrowheads="1"/>
            </p:cNvSpPr>
            <p:nvPr/>
          </p:nvSpPr>
          <p:spPr bwMode="auto">
            <a:xfrm>
              <a:off x="4128" y="1776"/>
              <a:ext cx="302" cy="1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10000"/>
                </a:lnSpc>
              </a:pPr>
              <a:r>
                <a:rPr lang="en-US" sz="1200">
                  <a:solidFill>
                    <a:schemeClr val="tx1"/>
                  </a:solidFill>
                </a:rPr>
                <a:t>0</a:t>
              </a:r>
            </a:p>
            <a:p>
              <a:pPr algn="r">
                <a:lnSpc>
                  <a:spcPct val="110000"/>
                </a:lnSpc>
              </a:pPr>
              <a:r>
                <a:rPr lang="en-US" sz="1200">
                  <a:solidFill>
                    <a:schemeClr val="tx1"/>
                  </a:solidFill>
                </a:rPr>
                <a:t>1</a:t>
              </a:r>
            </a:p>
            <a:p>
              <a:pPr algn="r">
                <a:lnSpc>
                  <a:spcPct val="110000"/>
                </a:lnSpc>
              </a:pPr>
              <a:r>
                <a:rPr lang="en-US" sz="1200">
                  <a:solidFill>
                    <a:schemeClr val="tx1"/>
                  </a:solidFill>
                </a:rPr>
                <a:t>2</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 253</a:t>
              </a:r>
            </a:p>
            <a:p>
              <a:pPr algn="r">
                <a:lnSpc>
                  <a:spcPct val="110000"/>
                </a:lnSpc>
              </a:pPr>
              <a:r>
                <a:rPr lang="en-US" sz="1200">
                  <a:solidFill>
                    <a:schemeClr val="tx1"/>
                  </a:solidFill>
                </a:rPr>
                <a:t> 254</a:t>
              </a:r>
            </a:p>
            <a:p>
              <a:pPr algn="r">
                <a:lnSpc>
                  <a:spcPct val="110000"/>
                </a:lnSpc>
              </a:pPr>
              <a:r>
                <a:rPr lang="en-US" sz="1200">
                  <a:solidFill>
                    <a:schemeClr val="tx1"/>
                  </a:solidFill>
                </a:rPr>
                <a:t> 255</a:t>
              </a:r>
            </a:p>
          </p:txBody>
        </p:sp>
      </p:grpSp>
      <p:grpSp>
        <p:nvGrpSpPr>
          <p:cNvPr id="1691830" name="Group 182"/>
          <p:cNvGrpSpPr>
            <a:grpSpLocks/>
          </p:cNvGrpSpPr>
          <p:nvPr/>
        </p:nvGrpSpPr>
        <p:grpSpPr bwMode="auto">
          <a:xfrm>
            <a:off x="2514600" y="2208213"/>
            <a:ext cx="2057400" cy="2135187"/>
            <a:chOff x="4128" y="1632"/>
            <a:chExt cx="1296" cy="1345"/>
          </a:xfrm>
        </p:grpSpPr>
        <p:sp>
          <p:nvSpPr>
            <p:cNvPr id="1691831" name="Freeform 183"/>
            <p:cNvSpPr>
              <a:spLocks/>
            </p:cNvSpPr>
            <p:nvPr/>
          </p:nvSpPr>
          <p:spPr bwMode="auto">
            <a:xfrm>
              <a:off x="4405" y="1829"/>
              <a:ext cx="1019" cy="1103"/>
            </a:xfrm>
            <a:custGeom>
              <a:avLst/>
              <a:gdLst>
                <a:gd name="T0" fmla="*/ 1608 w 1608"/>
                <a:gd name="T1" fmla="*/ 1101 h 1103"/>
                <a:gd name="T2" fmla="*/ 1608 w 1608"/>
                <a:gd name="T3" fmla="*/ 0 h 1103"/>
                <a:gd name="T4" fmla="*/ 0 w 1608"/>
                <a:gd name="T5" fmla="*/ 0 h 1103"/>
                <a:gd name="T6" fmla="*/ 0 w 1608"/>
                <a:gd name="T7" fmla="*/ 1103 h 1103"/>
                <a:gd name="T8" fmla="*/ 1608 w 1608"/>
                <a:gd name="T9" fmla="*/ 1103 h 1103"/>
                <a:gd name="T10" fmla="*/ 1608 w 1608"/>
                <a:gd name="T11" fmla="*/ 1103 h 1103"/>
              </a:gdLst>
              <a:ahLst/>
              <a:cxnLst>
                <a:cxn ang="0">
                  <a:pos x="T0" y="T1"/>
                </a:cxn>
                <a:cxn ang="0">
                  <a:pos x="T2" y="T3"/>
                </a:cxn>
                <a:cxn ang="0">
                  <a:pos x="T4" y="T5"/>
                </a:cxn>
                <a:cxn ang="0">
                  <a:pos x="T6" y="T7"/>
                </a:cxn>
                <a:cxn ang="0">
                  <a:pos x="T8" y="T9"/>
                </a:cxn>
                <a:cxn ang="0">
                  <a:pos x="T10" y="T11"/>
                </a:cxn>
              </a:cxnLst>
              <a:rect l="0" t="0" r="r" b="b"/>
              <a:pathLst>
                <a:path w="1608" h="1103">
                  <a:moveTo>
                    <a:pt x="1608" y="1101"/>
                  </a:moveTo>
                  <a:lnTo>
                    <a:pt x="1608" y="0"/>
                  </a:lnTo>
                  <a:lnTo>
                    <a:pt x="0" y="0"/>
                  </a:lnTo>
                  <a:lnTo>
                    <a:pt x="0" y="1103"/>
                  </a:lnTo>
                  <a:lnTo>
                    <a:pt x="1608" y="1103"/>
                  </a:lnTo>
                  <a:lnTo>
                    <a:pt x="1608" y="110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691832" name="Group 184"/>
            <p:cNvGrpSpPr>
              <a:grpSpLocks/>
            </p:cNvGrpSpPr>
            <p:nvPr/>
          </p:nvGrpSpPr>
          <p:grpSpPr bwMode="auto">
            <a:xfrm>
              <a:off x="4405" y="1925"/>
              <a:ext cx="1019" cy="894"/>
              <a:chOff x="2208" y="1920"/>
              <a:chExt cx="2130" cy="894"/>
            </a:xfrm>
          </p:grpSpPr>
          <p:sp>
            <p:nvSpPr>
              <p:cNvPr id="1691833" name="Freeform 185"/>
              <p:cNvSpPr>
                <a:spLocks/>
              </p:cNvSpPr>
              <p:nvPr/>
            </p:nvSpPr>
            <p:spPr bwMode="auto">
              <a:xfrm>
                <a:off x="2208" y="2263"/>
                <a:ext cx="2130" cy="110"/>
              </a:xfrm>
              <a:custGeom>
                <a:avLst/>
                <a:gdLst>
                  <a:gd name="T0" fmla="*/ 1608 w 1608"/>
                  <a:gd name="T1" fmla="*/ 110 h 110"/>
                  <a:gd name="T2" fmla="*/ 1608 w 1608"/>
                  <a:gd name="T3" fmla="*/ 0 h 110"/>
                  <a:gd name="T4" fmla="*/ 0 w 1608"/>
                  <a:gd name="T5" fmla="*/ 0 h 110"/>
                  <a:gd name="T6" fmla="*/ 0 w 1608"/>
                  <a:gd name="T7" fmla="*/ 110 h 110"/>
                  <a:gd name="T8" fmla="*/ 1608 w 1608"/>
                  <a:gd name="T9" fmla="*/ 110 h 110"/>
                  <a:gd name="T10" fmla="*/ 1608 w 1608"/>
                  <a:gd name="T11" fmla="*/ 110 h 110"/>
                </a:gdLst>
                <a:ahLst/>
                <a:cxnLst>
                  <a:cxn ang="0">
                    <a:pos x="T0" y="T1"/>
                  </a:cxn>
                  <a:cxn ang="0">
                    <a:pos x="T2" y="T3"/>
                  </a:cxn>
                  <a:cxn ang="0">
                    <a:pos x="T4" y="T5"/>
                  </a:cxn>
                  <a:cxn ang="0">
                    <a:pos x="T6" y="T7"/>
                  </a:cxn>
                  <a:cxn ang="0">
                    <a:pos x="T8" y="T9"/>
                  </a:cxn>
                  <a:cxn ang="0">
                    <a:pos x="T10" y="T11"/>
                  </a:cxn>
                </a:cxnLst>
                <a:rect l="0" t="0" r="r" b="b"/>
                <a:pathLst>
                  <a:path w="1608" h="110">
                    <a:moveTo>
                      <a:pt x="1608" y="110"/>
                    </a:moveTo>
                    <a:lnTo>
                      <a:pt x="1608" y="0"/>
                    </a:lnTo>
                    <a:lnTo>
                      <a:pt x="0" y="0"/>
                    </a:lnTo>
                    <a:lnTo>
                      <a:pt x="0" y="110"/>
                    </a:lnTo>
                    <a:lnTo>
                      <a:pt x="1608" y="110"/>
                    </a:lnTo>
                    <a:lnTo>
                      <a:pt x="1608" y="110"/>
                    </a:lnTo>
                    <a:close/>
                  </a:path>
                </a:pathLst>
              </a:custGeom>
              <a:solidFill>
                <a:schemeClr val="hlink"/>
              </a:solidFill>
              <a:ln w="9525">
                <a:solidFill>
                  <a:schemeClr val="hlink"/>
                </a:solidFill>
                <a:round/>
                <a:headEnd/>
                <a:tailEnd/>
              </a:ln>
            </p:spPr>
            <p:txBody>
              <a:bodyPr/>
              <a:lstStyle/>
              <a:p>
                <a:endParaRPr lang="en-US"/>
              </a:p>
            </p:txBody>
          </p:sp>
          <p:sp>
            <p:nvSpPr>
              <p:cNvPr id="1691834" name="Freeform 186"/>
              <p:cNvSpPr>
                <a:spLocks/>
              </p:cNvSpPr>
              <p:nvPr/>
            </p:nvSpPr>
            <p:spPr bwMode="auto">
              <a:xfrm>
                <a:off x="2208" y="2263"/>
                <a:ext cx="2130" cy="110"/>
              </a:xfrm>
              <a:custGeom>
                <a:avLst/>
                <a:gdLst>
                  <a:gd name="T0" fmla="*/ 1608 w 1608"/>
                  <a:gd name="T1" fmla="*/ 110 h 110"/>
                  <a:gd name="T2" fmla="*/ 1608 w 1608"/>
                  <a:gd name="T3" fmla="*/ 0 h 110"/>
                  <a:gd name="T4" fmla="*/ 0 w 1608"/>
                  <a:gd name="T5" fmla="*/ 0 h 110"/>
                  <a:gd name="T6" fmla="*/ 0 w 1608"/>
                  <a:gd name="T7" fmla="*/ 110 h 110"/>
                  <a:gd name="T8" fmla="*/ 1608 w 1608"/>
                  <a:gd name="T9" fmla="*/ 110 h 110"/>
                  <a:gd name="T10" fmla="*/ 1608 w 1608"/>
                  <a:gd name="T11" fmla="*/ 110 h 110"/>
                </a:gdLst>
                <a:ahLst/>
                <a:cxnLst>
                  <a:cxn ang="0">
                    <a:pos x="T0" y="T1"/>
                  </a:cxn>
                  <a:cxn ang="0">
                    <a:pos x="T2" y="T3"/>
                  </a:cxn>
                  <a:cxn ang="0">
                    <a:pos x="T4" y="T5"/>
                  </a:cxn>
                  <a:cxn ang="0">
                    <a:pos x="T6" y="T7"/>
                  </a:cxn>
                  <a:cxn ang="0">
                    <a:pos x="T8" y="T9"/>
                  </a:cxn>
                  <a:cxn ang="0">
                    <a:pos x="T10" y="T11"/>
                  </a:cxn>
                </a:cxnLst>
                <a:rect l="0" t="0" r="r" b="b"/>
                <a:pathLst>
                  <a:path w="1608" h="110">
                    <a:moveTo>
                      <a:pt x="1608" y="110"/>
                    </a:moveTo>
                    <a:lnTo>
                      <a:pt x="1608" y="0"/>
                    </a:lnTo>
                    <a:lnTo>
                      <a:pt x="0" y="0"/>
                    </a:lnTo>
                    <a:lnTo>
                      <a:pt x="0" y="110"/>
                    </a:lnTo>
                    <a:lnTo>
                      <a:pt x="1608" y="110"/>
                    </a:lnTo>
                    <a:lnTo>
                      <a:pt x="1608" y="11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35" name="Line 187"/>
              <p:cNvSpPr>
                <a:spLocks noChangeShapeType="1"/>
              </p:cNvSpPr>
              <p:nvPr/>
            </p:nvSpPr>
            <p:spPr bwMode="auto">
              <a:xfrm flipH="1">
                <a:off x="2208" y="1920"/>
                <a:ext cx="2130"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36" name="Line 188"/>
              <p:cNvSpPr>
                <a:spLocks noChangeShapeType="1"/>
              </p:cNvSpPr>
              <p:nvPr/>
            </p:nvSpPr>
            <p:spPr bwMode="auto">
              <a:xfrm flipH="1">
                <a:off x="2208" y="2044"/>
                <a:ext cx="2130"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37" name="Line 189"/>
              <p:cNvSpPr>
                <a:spLocks noChangeShapeType="1"/>
              </p:cNvSpPr>
              <p:nvPr/>
            </p:nvSpPr>
            <p:spPr bwMode="auto">
              <a:xfrm flipH="1">
                <a:off x="2208" y="2154"/>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38" name="Line 190"/>
              <p:cNvSpPr>
                <a:spLocks noChangeShapeType="1"/>
              </p:cNvSpPr>
              <p:nvPr/>
            </p:nvSpPr>
            <p:spPr bwMode="auto">
              <a:xfrm flipH="1">
                <a:off x="2208" y="237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39" name="Line 191"/>
              <p:cNvSpPr>
                <a:spLocks noChangeShapeType="1"/>
              </p:cNvSpPr>
              <p:nvPr/>
            </p:nvSpPr>
            <p:spPr bwMode="auto">
              <a:xfrm flipH="1">
                <a:off x="2208" y="248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40" name="Line 192"/>
              <p:cNvSpPr>
                <a:spLocks noChangeShapeType="1"/>
              </p:cNvSpPr>
              <p:nvPr/>
            </p:nvSpPr>
            <p:spPr bwMode="auto">
              <a:xfrm flipH="1">
                <a:off x="2208" y="259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41" name="Line 193"/>
              <p:cNvSpPr>
                <a:spLocks noChangeShapeType="1"/>
              </p:cNvSpPr>
              <p:nvPr/>
            </p:nvSpPr>
            <p:spPr bwMode="auto">
              <a:xfrm flipH="1">
                <a:off x="2208" y="270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42" name="Line 194"/>
              <p:cNvSpPr>
                <a:spLocks noChangeShapeType="1"/>
              </p:cNvSpPr>
              <p:nvPr/>
            </p:nvSpPr>
            <p:spPr bwMode="auto">
              <a:xfrm flipH="1">
                <a:off x="2208" y="281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91843" name="Line 195"/>
            <p:cNvSpPr>
              <a:spLocks noChangeShapeType="1"/>
            </p:cNvSpPr>
            <p:nvPr/>
          </p:nvSpPr>
          <p:spPr bwMode="auto">
            <a:xfrm>
              <a:off x="4480" y="1835"/>
              <a:ext cx="4" cy="110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44" name="Line 196"/>
            <p:cNvSpPr>
              <a:spLocks noChangeShapeType="1"/>
            </p:cNvSpPr>
            <p:nvPr/>
          </p:nvSpPr>
          <p:spPr bwMode="auto">
            <a:xfrm>
              <a:off x="4876" y="1824"/>
              <a:ext cx="1" cy="110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45" name="Text Box 197"/>
            <p:cNvSpPr txBox="1">
              <a:spLocks noChangeArrowheads="1"/>
            </p:cNvSpPr>
            <p:nvPr/>
          </p:nvSpPr>
          <p:spPr bwMode="auto">
            <a:xfrm>
              <a:off x="4993" y="1637"/>
              <a:ext cx="35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Data</a:t>
              </a:r>
            </a:p>
          </p:txBody>
        </p:sp>
        <p:sp>
          <p:nvSpPr>
            <p:cNvPr id="1691846" name="Text Box 198"/>
            <p:cNvSpPr txBox="1">
              <a:spLocks noChangeArrowheads="1"/>
            </p:cNvSpPr>
            <p:nvPr/>
          </p:nvSpPr>
          <p:spPr bwMode="auto">
            <a:xfrm>
              <a:off x="4512" y="1632"/>
              <a:ext cx="30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Tag</a:t>
              </a:r>
            </a:p>
          </p:txBody>
        </p:sp>
        <p:sp>
          <p:nvSpPr>
            <p:cNvPr id="1691847" name="Text Box 199"/>
            <p:cNvSpPr txBox="1">
              <a:spLocks noChangeArrowheads="1"/>
            </p:cNvSpPr>
            <p:nvPr/>
          </p:nvSpPr>
          <p:spPr bwMode="auto">
            <a:xfrm>
              <a:off x="4368" y="1632"/>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V</a:t>
              </a:r>
            </a:p>
          </p:txBody>
        </p:sp>
        <p:sp>
          <p:nvSpPr>
            <p:cNvPr id="1691848" name="Text Box 200"/>
            <p:cNvSpPr txBox="1">
              <a:spLocks noChangeArrowheads="1"/>
            </p:cNvSpPr>
            <p:nvPr/>
          </p:nvSpPr>
          <p:spPr bwMode="auto">
            <a:xfrm>
              <a:off x="4128" y="1776"/>
              <a:ext cx="302" cy="1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10000"/>
                </a:lnSpc>
              </a:pPr>
              <a:r>
                <a:rPr lang="en-US" sz="1200">
                  <a:solidFill>
                    <a:schemeClr val="tx1"/>
                  </a:solidFill>
                </a:rPr>
                <a:t>0</a:t>
              </a:r>
            </a:p>
            <a:p>
              <a:pPr algn="r">
                <a:lnSpc>
                  <a:spcPct val="110000"/>
                </a:lnSpc>
              </a:pPr>
              <a:r>
                <a:rPr lang="en-US" sz="1200">
                  <a:solidFill>
                    <a:schemeClr val="tx1"/>
                  </a:solidFill>
                </a:rPr>
                <a:t>1</a:t>
              </a:r>
            </a:p>
            <a:p>
              <a:pPr algn="r">
                <a:lnSpc>
                  <a:spcPct val="110000"/>
                </a:lnSpc>
              </a:pPr>
              <a:r>
                <a:rPr lang="en-US" sz="1200">
                  <a:solidFill>
                    <a:schemeClr val="tx1"/>
                  </a:solidFill>
                </a:rPr>
                <a:t>2</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 253</a:t>
              </a:r>
            </a:p>
            <a:p>
              <a:pPr algn="r">
                <a:lnSpc>
                  <a:spcPct val="110000"/>
                </a:lnSpc>
              </a:pPr>
              <a:r>
                <a:rPr lang="en-US" sz="1200">
                  <a:solidFill>
                    <a:schemeClr val="tx1"/>
                  </a:solidFill>
                </a:rPr>
                <a:t> 254</a:t>
              </a:r>
            </a:p>
            <a:p>
              <a:pPr algn="r">
                <a:lnSpc>
                  <a:spcPct val="110000"/>
                </a:lnSpc>
              </a:pPr>
              <a:r>
                <a:rPr lang="en-US" sz="1200">
                  <a:solidFill>
                    <a:schemeClr val="tx1"/>
                  </a:solidFill>
                </a:rPr>
                <a:t> 255</a:t>
              </a:r>
            </a:p>
          </p:txBody>
        </p:sp>
      </p:grpSp>
      <p:grpSp>
        <p:nvGrpSpPr>
          <p:cNvPr id="1691906" name="Group 258"/>
          <p:cNvGrpSpPr>
            <a:grpSpLocks/>
          </p:cNvGrpSpPr>
          <p:nvPr/>
        </p:nvGrpSpPr>
        <p:grpSpPr bwMode="auto">
          <a:xfrm>
            <a:off x="304800" y="2208213"/>
            <a:ext cx="2286000" cy="2135187"/>
            <a:chOff x="192" y="1632"/>
            <a:chExt cx="1440" cy="1345"/>
          </a:xfrm>
        </p:grpSpPr>
        <p:sp>
          <p:nvSpPr>
            <p:cNvPr id="1691725" name="Text Box 77"/>
            <p:cNvSpPr txBox="1">
              <a:spLocks noChangeArrowheads="1"/>
            </p:cNvSpPr>
            <p:nvPr/>
          </p:nvSpPr>
          <p:spPr bwMode="auto">
            <a:xfrm>
              <a:off x="192" y="1632"/>
              <a:ext cx="45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  Index</a:t>
              </a:r>
            </a:p>
          </p:txBody>
        </p:sp>
        <p:grpSp>
          <p:nvGrpSpPr>
            <p:cNvPr id="1691849" name="Group 201"/>
            <p:cNvGrpSpPr>
              <a:grpSpLocks/>
            </p:cNvGrpSpPr>
            <p:nvPr/>
          </p:nvGrpSpPr>
          <p:grpSpPr bwMode="auto">
            <a:xfrm>
              <a:off x="336" y="1632"/>
              <a:ext cx="1296" cy="1345"/>
              <a:chOff x="4128" y="1632"/>
              <a:chExt cx="1296" cy="1345"/>
            </a:xfrm>
          </p:grpSpPr>
          <p:sp>
            <p:nvSpPr>
              <p:cNvPr id="1691850" name="Freeform 202"/>
              <p:cNvSpPr>
                <a:spLocks/>
              </p:cNvSpPr>
              <p:nvPr/>
            </p:nvSpPr>
            <p:spPr bwMode="auto">
              <a:xfrm>
                <a:off x="4405" y="1829"/>
                <a:ext cx="1019" cy="1103"/>
              </a:xfrm>
              <a:custGeom>
                <a:avLst/>
                <a:gdLst>
                  <a:gd name="T0" fmla="*/ 1608 w 1608"/>
                  <a:gd name="T1" fmla="*/ 1101 h 1103"/>
                  <a:gd name="T2" fmla="*/ 1608 w 1608"/>
                  <a:gd name="T3" fmla="*/ 0 h 1103"/>
                  <a:gd name="T4" fmla="*/ 0 w 1608"/>
                  <a:gd name="T5" fmla="*/ 0 h 1103"/>
                  <a:gd name="T6" fmla="*/ 0 w 1608"/>
                  <a:gd name="T7" fmla="*/ 1103 h 1103"/>
                  <a:gd name="T8" fmla="*/ 1608 w 1608"/>
                  <a:gd name="T9" fmla="*/ 1103 h 1103"/>
                  <a:gd name="T10" fmla="*/ 1608 w 1608"/>
                  <a:gd name="T11" fmla="*/ 1103 h 1103"/>
                </a:gdLst>
                <a:ahLst/>
                <a:cxnLst>
                  <a:cxn ang="0">
                    <a:pos x="T0" y="T1"/>
                  </a:cxn>
                  <a:cxn ang="0">
                    <a:pos x="T2" y="T3"/>
                  </a:cxn>
                  <a:cxn ang="0">
                    <a:pos x="T4" y="T5"/>
                  </a:cxn>
                  <a:cxn ang="0">
                    <a:pos x="T6" y="T7"/>
                  </a:cxn>
                  <a:cxn ang="0">
                    <a:pos x="T8" y="T9"/>
                  </a:cxn>
                  <a:cxn ang="0">
                    <a:pos x="T10" y="T11"/>
                  </a:cxn>
                </a:cxnLst>
                <a:rect l="0" t="0" r="r" b="b"/>
                <a:pathLst>
                  <a:path w="1608" h="1103">
                    <a:moveTo>
                      <a:pt x="1608" y="1101"/>
                    </a:moveTo>
                    <a:lnTo>
                      <a:pt x="1608" y="0"/>
                    </a:lnTo>
                    <a:lnTo>
                      <a:pt x="0" y="0"/>
                    </a:lnTo>
                    <a:lnTo>
                      <a:pt x="0" y="1103"/>
                    </a:lnTo>
                    <a:lnTo>
                      <a:pt x="1608" y="1103"/>
                    </a:lnTo>
                    <a:lnTo>
                      <a:pt x="1608" y="110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691851" name="Group 203"/>
              <p:cNvGrpSpPr>
                <a:grpSpLocks/>
              </p:cNvGrpSpPr>
              <p:nvPr/>
            </p:nvGrpSpPr>
            <p:grpSpPr bwMode="auto">
              <a:xfrm>
                <a:off x="4405" y="1925"/>
                <a:ext cx="1019" cy="894"/>
                <a:chOff x="2208" y="1920"/>
                <a:chExt cx="2130" cy="894"/>
              </a:xfrm>
            </p:grpSpPr>
            <p:sp>
              <p:nvSpPr>
                <p:cNvPr id="1691852" name="Freeform 204"/>
                <p:cNvSpPr>
                  <a:spLocks/>
                </p:cNvSpPr>
                <p:nvPr/>
              </p:nvSpPr>
              <p:spPr bwMode="auto">
                <a:xfrm>
                  <a:off x="2208" y="2263"/>
                  <a:ext cx="2130" cy="110"/>
                </a:xfrm>
                <a:custGeom>
                  <a:avLst/>
                  <a:gdLst>
                    <a:gd name="T0" fmla="*/ 1608 w 1608"/>
                    <a:gd name="T1" fmla="*/ 110 h 110"/>
                    <a:gd name="T2" fmla="*/ 1608 w 1608"/>
                    <a:gd name="T3" fmla="*/ 0 h 110"/>
                    <a:gd name="T4" fmla="*/ 0 w 1608"/>
                    <a:gd name="T5" fmla="*/ 0 h 110"/>
                    <a:gd name="T6" fmla="*/ 0 w 1608"/>
                    <a:gd name="T7" fmla="*/ 110 h 110"/>
                    <a:gd name="T8" fmla="*/ 1608 w 1608"/>
                    <a:gd name="T9" fmla="*/ 110 h 110"/>
                    <a:gd name="T10" fmla="*/ 1608 w 1608"/>
                    <a:gd name="T11" fmla="*/ 110 h 110"/>
                  </a:gdLst>
                  <a:ahLst/>
                  <a:cxnLst>
                    <a:cxn ang="0">
                      <a:pos x="T0" y="T1"/>
                    </a:cxn>
                    <a:cxn ang="0">
                      <a:pos x="T2" y="T3"/>
                    </a:cxn>
                    <a:cxn ang="0">
                      <a:pos x="T4" y="T5"/>
                    </a:cxn>
                    <a:cxn ang="0">
                      <a:pos x="T6" y="T7"/>
                    </a:cxn>
                    <a:cxn ang="0">
                      <a:pos x="T8" y="T9"/>
                    </a:cxn>
                    <a:cxn ang="0">
                      <a:pos x="T10" y="T11"/>
                    </a:cxn>
                  </a:cxnLst>
                  <a:rect l="0" t="0" r="r" b="b"/>
                  <a:pathLst>
                    <a:path w="1608" h="110">
                      <a:moveTo>
                        <a:pt x="1608" y="110"/>
                      </a:moveTo>
                      <a:lnTo>
                        <a:pt x="1608" y="0"/>
                      </a:lnTo>
                      <a:lnTo>
                        <a:pt x="0" y="0"/>
                      </a:lnTo>
                      <a:lnTo>
                        <a:pt x="0" y="110"/>
                      </a:lnTo>
                      <a:lnTo>
                        <a:pt x="1608" y="110"/>
                      </a:lnTo>
                      <a:lnTo>
                        <a:pt x="1608" y="110"/>
                      </a:lnTo>
                      <a:close/>
                    </a:path>
                  </a:pathLst>
                </a:custGeom>
                <a:solidFill>
                  <a:schemeClr val="hlink"/>
                </a:solidFill>
                <a:ln w="9525">
                  <a:solidFill>
                    <a:schemeClr val="hlink"/>
                  </a:solidFill>
                  <a:round/>
                  <a:headEnd/>
                  <a:tailEnd/>
                </a:ln>
              </p:spPr>
              <p:txBody>
                <a:bodyPr/>
                <a:lstStyle/>
                <a:p>
                  <a:endParaRPr lang="en-US"/>
                </a:p>
              </p:txBody>
            </p:sp>
            <p:sp>
              <p:nvSpPr>
                <p:cNvPr id="1691853" name="Freeform 205"/>
                <p:cNvSpPr>
                  <a:spLocks/>
                </p:cNvSpPr>
                <p:nvPr/>
              </p:nvSpPr>
              <p:spPr bwMode="auto">
                <a:xfrm>
                  <a:off x="2208" y="2263"/>
                  <a:ext cx="2130" cy="110"/>
                </a:xfrm>
                <a:custGeom>
                  <a:avLst/>
                  <a:gdLst>
                    <a:gd name="T0" fmla="*/ 1608 w 1608"/>
                    <a:gd name="T1" fmla="*/ 110 h 110"/>
                    <a:gd name="T2" fmla="*/ 1608 w 1608"/>
                    <a:gd name="T3" fmla="*/ 0 h 110"/>
                    <a:gd name="T4" fmla="*/ 0 w 1608"/>
                    <a:gd name="T5" fmla="*/ 0 h 110"/>
                    <a:gd name="T6" fmla="*/ 0 w 1608"/>
                    <a:gd name="T7" fmla="*/ 110 h 110"/>
                    <a:gd name="T8" fmla="*/ 1608 w 1608"/>
                    <a:gd name="T9" fmla="*/ 110 h 110"/>
                    <a:gd name="T10" fmla="*/ 1608 w 1608"/>
                    <a:gd name="T11" fmla="*/ 110 h 110"/>
                  </a:gdLst>
                  <a:ahLst/>
                  <a:cxnLst>
                    <a:cxn ang="0">
                      <a:pos x="T0" y="T1"/>
                    </a:cxn>
                    <a:cxn ang="0">
                      <a:pos x="T2" y="T3"/>
                    </a:cxn>
                    <a:cxn ang="0">
                      <a:pos x="T4" y="T5"/>
                    </a:cxn>
                    <a:cxn ang="0">
                      <a:pos x="T6" y="T7"/>
                    </a:cxn>
                    <a:cxn ang="0">
                      <a:pos x="T8" y="T9"/>
                    </a:cxn>
                    <a:cxn ang="0">
                      <a:pos x="T10" y="T11"/>
                    </a:cxn>
                  </a:cxnLst>
                  <a:rect l="0" t="0" r="r" b="b"/>
                  <a:pathLst>
                    <a:path w="1608" h="110">
                      <a:moveTo>
                        <a:pt x="1608" y="110"/>
                      </a:moveTo>
                      <a:lnTo>
                        <a:pt x="1608" y="0"/>
                      </a:lnTo>
                      <a:lnTo>
                        <a:pt x="0" y="0"/>
                      </a:lnTo>
                      <a:lnTo>
                        <a:pt x="0" y="110"/>
                      </a:lnTo>
                      <a:lnTo>
                        <a:pt x="1608" y="110"/>
                      </a:lnTo>
                      <a:lnTo>
                        <a:pt x="1608" y="11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54" name="Line 206"/>
                <p:cNvSpPr>
                  <a:spLocks noChangeShapeType="1"/>
                </p:cNvSpPr>
                <p:nvPr/>
              </p:nvSpPr>
              <p:spPr bwMode="auto">
                <a:xfrm flipH="1">
                  <a:off x="2208" y="1920"/>
                  <a:ext cx="2130"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55" name="Line 207"/>
                <p:cNvSpPr>
                  <a:spLocks noChangeShapeType="1"/>
                </p:cNvSpPr>
                <p:nvPr/>
              </p:nvSpPr>
              <p:spPr bwMode="auto">
                <a:xfrm flipH="1">
                  <a:off x="2208" y="2044"/>
                  <a:ext cx="2130"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56" name="Line 208"/>
                <p:cNvSpPr>
                  <a:spLocks noChangeShapeType="1"/>
                </p:cNvSpPr>
                <p:nvPr/>
              </p:nvSpPr>
              <p:spPr bwMode="auto">
                <a:xfrm flipH="1">
                  <a:off x="2208" y="2154"/>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57" name="Line 209"/>
                <p:cNvSpPr>
                  <a:spLocks noChangeShapeType="1"/>
                </p:cNvSpPr>
                <p:nvPr/>
              </p:nvSpPr>
              <p:spPr bwMode="auto">
                <a:xfrm flipH="1">
                  <a:off x="2208" y="237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58" name="Line 210"/>
                <p:cNvSpPr>
                  <a:spLocks noChangeShapeType="1"/>
                </p:cNvSpPr>
                <p:nvPr/>
              </p:nvSpPr>
              <p:spPr bwMode="auto">
                <a:xfrm flipH="1">
                  <a:off x="2208" y="248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59" name="Line 211"/>
                <p:cNvSpPr>
                  <a:spLocks noChangeShapeType="1"/>
                </p:cNvSpPr>
                <p:nvPr/>
              </p:nvSpPr>
              <p:spPr bwMode="auto">
                <a:xfrm flipH="1">
                  <a:off x="2208" y="259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60" name="Line 212"/>
                <p:cNvSpPr>
                  <a:spLocks noChangeShapeType="1"/>
                </p:cNvSpPr>
                <p:nvPr/>
              </p:nvSpPr>
              <p:spPr bwMode="auto">
                <a:xfrm flipH="1">
                  <a:off x="2208" y="270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61" name="Line 213"/>
                <p:cNvSpPr>
                  <a:spLocks noChangeShapeType="1"/>
                </p:cNvSpPr>
                <p:nvPr/>
              </p:nvSpPr>
              <p:spPr bwMode="auto">
                <a:xfrm flipH="1">
                  <a:off x="2208" y="2813"/>
                  <a:ext cx="213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91862" name="Line 214"/>
              <p:cNvSpPr>
                <a:spLocks noChangeShapeType="1"/>
              </p:cNvSpPr>
              <p:nvPr/>
            </p:nvSpPr>
            <p:spPr bwMode="auto">
              <a:xfrm>
                <a:off x="4480" y="1835"/>
                <a:ext cx="4" cy="110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63" name="Line 215"/>
              <p:cNvSpPr>
                <a:spLocks noChangeShapeType="1"/>
              </p:cNvSpPr>
              <p:nvPr/>
            </p:nvSpPr>
            <p:spPr bwMode="auto">
              <a:xfrm>
                <a:off x="4876" y="1824"/>
                <a:ext cx="1" cy="110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864" name="Text Box 216"/>
              <p:cNvSpPr txBox="1">
                <a:spLocks noChangeArrowheads="1"/>
              </p:cNvSpPr>
              <p:nvPr/>
            </p:nvSpPr>
            <p:spPr bwMode="auto">
              <a:xfrm>
                <a:off x="4993" y="1637"/>
                <a:ext cx="35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Data</a:t>
                </a:r>
              </a:p>
            </p:txBody>
          </p:sp>
          <p:sp>
            <p:nvSpPr>
              <p:cNvPr id="1691865" name="Text Box 217"/>
              <p:cNvSpPr txBox="1">
                <a:spLocks noChangeArrowheads="1"/>
              </p:cNvSpPr>
              <p:nvPr/>
            </p:nvSpPr>
            <p:spPr bwMode="auto">
              <a:xfrm>
                <a:off x="4512" y="1632"/>
                <a:ext cx="30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Tag</a:t>
                </a:r>
              </a:p>
            </p:txBody>
          </p:sp>
          <p:sp>
            <p:nvSpPr>
              <p:cNvPr id="1691866" name="Text Box 218"/>
              <p:cNvSpPr txBox="1">
                <a:spLocks noChangeArrowheads="1"/>
              </p:cNvSpPr>
              <p:nvPr/>
            </p:nvSpPr>
            <p:spPr bwMode="auto">
              <a:xfrm>
                <a:off x="4368" y="1632"/>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V</a:t>
                </a:r>
              </a:p>
            </p:txBody>
          </p:sp>
          <p:sp>
            <p:nvSpPr>
              <p:cNvPr id="1691867" name="Text Box 219"/>
              <p:cNvSpPr txBox="1">
                <a:spLocks noChangeArrowheads="1"/>
              </p:cNvSpPr>
              <p:nvPr/>
            </p:nvSpPr>
            <p:spPr bwMode="auto">
              <a:xfrm>
                <a:off x="4128" y="1776"/>
                <a:ext cx="302" cy="1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110000"/>
                  </a:lnSpc>
                </a:pPr>
                <a:r>
                  <a:rPr lang="en-US" sz="1200">
                    <a:solidFill>
                      <a:schemeClr val="tx1"/>
                    </a:solidFill>
                  </a:rPr>
                  <a:t>0</a:t>
                </a:r>
              </a:p>
              <a:p>
                <a:pPr algn="r">
                  <a:lnSpc>
                    <a:spcPct val="110000"/>
                  </a:lnSpc>
                </a:pPr>
                <a:r>
                  <a:rPr lang="en-US" sz="1200">
                    <a:solidFill>
                      <a:schemeClr val="tx1"/>
                    </a:solidFill>
                  </a:rPr>
                  <a:t>1</a:t>
                </a:r>
              </a:p>
              <a:p>
                <a:pPr algn="r">
                  <a:lnSpc>
                    <a:spcPct val="110000"/>
                  </a:lnSpc>
                </a:pPr>
                <a:r>
                  <a:rPr lang="en-US" sz="1200">
                    <a:solidFill>
                      <a:schemeClr val="tx1"/>
                    </a:solidFill>
                  </a:rPr>
                  <a:t>2</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a:t>
                </a:r>
              </a:p>
              <a:p>
                <a:pPr algn="r">
                  <a:lnSpc>
                    <a:spcPct val="110000"/>
                  </a:lnSpc>
                </a:pPr>
                <a:r>
                  <a:rPr lang="en-US" sz="1200">
                    <a:solidFill>
                      <a:schemeClr val="tx1"/>
                    </a:solidFill>
                  </a:rPr>
                  <a:t> 253</a:t>
                </a:r>
              </a:p>
              <a:p>
                <a:pPr algn="r">
                  <a:lnSpc>
                    <a:spcPct val="110000"/>
                  </a:lnSpc>
                </a:pPr>
                <a:r>
                  <a:rPr lang="en-US" sz="1200">
                    <a:solidFill>
                      <a:schemeClr val="tx1"/>
                    </a:solidFill>
                  </a:rPr>
                  <a:t> 254</a:t>
                </a:r>
              </a:p>
              <a:p>
                <a:pPr algn="r">
                  <a:lnSpc>
                    <a:spcPct val="110000"/>
                  </a:lnSpc>
                </a:pPr>
                <a:r>
                  <a:rPr lang="en-US" sz="1200">
                    <a:solidFill>
                      <a:schemeClr val="tx1"/>
                    </a:solidFill>
                  </a:rPr>
                  <a:t> 255</a:t>
                </a:r>
              </a:p>
            </p:txBody>
          </p:sp>
        </p:grpSp>
      </p:grpSp>
      <p:grpSp>
        <p:nvGrpSpPr>
          <p:cNvPr id="1691898" name="Group 250"/>
          <p:cNvGrpSpPr>
            <a:grpSpLocks/>
          </p:cNvGrpSpPr>
          <p:nvPr/>
        </p:nvGrpSpPr>
        <p:grpSpPr bwMode="auto">
          <a:xfrm>
            <a:off x="533400" y="1549400"/>
            <a:ext cx="5006975" cy="1752600"/>
            <a:chOff x="384" y="1200"/>
            <a:chExt cx="3154" cy="1104"/>
          </a:xfrm>
        </p:grpSpPr>
        <p:sp>
          <p:nvSpPr>
            <p:cNvPr id="1691668" name="Line 20"/>
            <p:cNvSpPr>
              <a:spLocks noChangeShapeType="1"/>
            </p:cNvSpPr>
            <p:nvPr/>
          </p:nvSpPr>
          <p:spPr bwMode="auto">
            <a:xfrm>
              <a:off x="3282" y="1291"/>
              <a:ext cx="148" cy="5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670" name="Text Box 22"/>
            <p:cNvSpPr txBox="1">
              <a:spLocks noChangeArrowheads="1"/>
            </p:cNvSpPr>
            <p:nvPr/>
          </p:nvSpPr>
          <p:spPr bwMode="auto">
            <a:xfrm>
              <a:off x="3360" y="1248"/>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8</a:t>
              </a:r>
            </a:p>
          </p:txBody>
        </p:sp>
        <p:sp>
          <p:nvSpPr>
            <p:cNvPr id="1691671" name="Text Box 23"/>
            <p:cNvSpPr txBox="1">
              <a:spLocks noChangeArrowheads="1"/>
            </p:cNvSpPr>
            <p:nvPr/>
          </p:nvSpPr>
          <p:spPr bwMode="auto">
            <a:xfrm>
              <a:off x="2754" y="1370"/>
              <a:ext cx="42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Index</a:t>
              </a:r>
            </a:p>
          </p:txBody>
        </p:sp>
        <p:sp>
          <p:nvSpPr>
            <p:cNvPr id="1691892" name="Line 244"/>
            <p:cNvSpPr>
              <a:spLocks noChangeShapeType="1"/>
            </p:cNvSpPr>
            <p:nvPr/>
          </p:nvSpPr>
          <p:spPr bwMode="auto">
            <a:xfrm>
              <a:off x="3360" y="120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893" name="Line 245"/>
            <p:cNvSpPr>
              <a:spLocks noChangeShapeType="1"/>
            </p:cNvSpPr>
            <p:nvPr/>
          </p:nvSpPr>
          <p:spPr bwMode="auto">
            <a:xfrm>
              <a:off x="384" y="1584"/>
              <a:ext cx="297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894" name="Line 246"/>
            <p:cNvSpPr>
              <a:spLocks noChangeShapeType="1"/>
            </p:cNvSpPr>
            <p:nvPr/>
          </p:nvSpPr>
          <p:spPr bwMode="auto">
            <a:xfrm>
              <a:off x="384" y="1584"/>
              <a:ext cx="0" cy="7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895" name="Line 247"/>
            <p:cNvSpPr>
              <a:spLocks noChangeShapeType="1"/>
            </p:cNvSpPr>
            <p:nvPr/>
          </p:nvSpPr>
          <p:spPr bwMode="auto">
            <a:xfrm>
              <a:off x="384" y="2304"/>
              <a:ext cx="24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691932" name="Group 284"/>
          <p:cNvGrpSpPr>
            <a:grpSpLocks/>
          </p:cNvGrpSpPr>
          <p:nvPr/>
        </p:nvGrpSpPr>
        <p:grpSpPr bwMode="auto">
          <a:xfrm>
            <a:off x="381000" y="1549400"/>
            <a:ext cx="7194550" cy="3657600"/>
            <a:chOff x="240" y="1056"/>
            <a:chExt cx="4532" cy="2304"/>
          </a:xfrm>
        </p:grpSpPr>
        <p:sp>
          <p:nvSpPr>
            <p:cNvPr id="1691662" name="Text Box 14"/>
            <p:cNvSpPr txBox="1">
              <a:spLocks noChangeArrowheads="1"/>
            </p:cNvSpPr>
            <p:nvPr/>
          </p:nvSpPr>
          <p:spPr bwMode="auto">
            <a:xfrm>
              <a:off x="2592" y="1056"/>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22</a:t>
              </a:r>
            </a:p>
          </p:txBody>
        </p:sp>
        <p:sp>
          <p:nvSpPr>
            <p:cNvPr id="1691664" name="Line 16"/>
            <p:cNvSpPr>
              <a:spLocks noChangeShapeType="1"/>
            </p:cNvSpPr>
            <p:nvPr/>
          </p:nvSpPr>
          <p:spPr bwMode="auto">
            <a:xfrm>
              <a:off x="2544" y="1152"/>
              <a:ext cx="145" cy="55"/>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666" name="Text Box 18"/>
            <p:cNvSpPr txBox="1">
              <a:spLocks noChangeArrowheads="1"/>
            </p:cNvSpPr>
            <p:nvPr/>
          </p:nvSpPr>
          <p:spPr bwMode="auto">
            <a:xfrm>
              <a:off x="1296" y="1056"/>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Tag</a:t>
              </a:r>
            </a:p>
          </p:txBody>
        </p:sp>
        <p:grpSp>
          <p:nvGrpSpPr>
            <p:cNvPr id="1691907" name="Group 259"/>
            <p:cNvGrpSpPr>
              <a:grpSpLocks/>
            </p:cNvGrpSpPr>
            <p:nvPr/>
          </p:nvGrpSpPr>
          <p:grpSpPr bwMode="auto">
            <a:xfrm>
              <a:off x="240" y="1056"/>
              <a:ext cx="4532" cy="2304"/>
              <a:chOff x="240" y="1200"/>
              <a:chExt cx="4532" cy="2304"/>
            </a:xfrm>
          </p:grpSpPr>
          <p:grpSp>
            <p:nvGrpSpPr>
              <p:cNvPr id="1691870" name="Group 222"/>
              <p:cNvGrpSpPr>
                <a:grpSpLocks/>
              </p:cNvGrpSpPr>
              <p:nvPr/>
            </p:nvGrpSpPr>
            <p:grpSpPr bwMode="auto">
              <a:xfrm>
                <a:off x="624" y="2304"/>
                <a:ext cx="404" cy="1200"/>
                <a:chOff x="624" y="2304"/>
                <a:chExt cx="404" cy="1200"/>
              </a:xfrm>
            </p:grpSpPr>
            <p:sp>
              <p:nvSpPr>
                <p:cNvPr id="1691653" name="Freeform 5"/>
                <p:cNvSpPr>
                  <a:spLocks/>
                </p:cNvSpPr>
                <p:nvPr/>
              </p:nvSpPr>
              <p:spPr bwMode="auto">
                <a:xfrm>
                  <a:off x="624" y="3342"/>
                  <a:ext cx="158" cy="162"/>
                </a:xfrm>
                <a:custGeom>
                  <a:avLst/>
                  <a:gdLst>
                    <a:gd name="T0" fmla="*/ 0 w 222"/>
                    <a:gd name="T1" fmla="*/ 101 h 172"/>
                    <a:gd name="T2" fmla="*/ 3 w 222"/>
                    <a:gd name="T3" fmla="*/ 114 h 172"/>
                    <a:gd name="T4" fmla="*/ 7 w 222"/>
                    <a:gd name="T5" fmla="*/ 125 h 172"/>
                    <a:gd name="T6" fmla="*/ 13 w 222"/>
                    <a:gd name="T7" fmla="*/ 134 h 172"/>
                    <a:gd name="T8" fmla="*/ 23 w 222"/>
                    <a:gd name="T9" fmla="*/ 143 h 172"/>
                    <a:gd name="T10" fmla="*/ 33 w 222"/>
                    <a:gd name="T11" fmla="*/ 152 h 172"/>
                    <a:gd name="T12" fmla="*/ 47 w 222"/>
                    <a:gd name="T13" fmla="*/ 158 h 172"/>
                    <a:gd name="T14" fmla="*/ 60 w 222"/>
                    <a:gd name="T15" fmla="*/ 165 h 172"/>
                    <a:gd name="T16" fmla="*/ 77 w 222"/>
                    <a:gd name="T17" fmla="*/ 169 h 172"/>
                    <a:gd name="T18" fmla="*/ 94 w 222"/>
                    <a:gd name="T19" fmla="*/ 172 h 172"/>
                    <a:gd name="T20" fmla="*/ 111 w 222"/>
                    <a:gd name="T21" fmla="*/ 172 h 172"/>
                    <a:gd name="T22" fmla="*/ 131 w 222"/>
                    <a:gd name="T23" fmla="*/ 172 h 172"/>
                    <a:gd name="T24" fmla="*/ 148 w 222"/>
                    <a:gd name="T25" fmla="*/ 169 h 172"/>
                    <a:gd name="T26" fmla="*/ 161 w 222"/>
                    <a:gd name="T27" fmla="*/ 165 h 172"/>
                    <a:gd name="T28" fmla="*/ 178 w 222"/>
                    <a:gd name="T29" fmla="*/ 158 h 172"/>
                    <a:gd name="T30" fmla="*/ 188 w 222"/>
                    <a:gd name="T31" fmla="*/ 152 h 172"/>
                    <a:gd name="T32" fmla="*/ 202 w 222"/>
                    <a:gd name="T33" fmla="*/ 143 h 172"/>
                    <a:gd name="T34" fmla="*/ 208 w 222"/>
                    <a:gd name="T35" fmla="*/ 134 h 172"/>
                    <a:gd name="T36" fmla="*/ 215 w 222"/>
                    <a:gd name="T37" fmla="*/ 125 h 172"/>
                    <a:gd name="T38" fmla="*/ 222 w 222"/>
                    <a:gd name="T39" fmla="*/ 114 h 172"/>
                    <a:gd name="T40" fmla="*/ 222 w 222"/>
                    <a:gd name="T41" fmla="*/ 104 h 172"/>
                    <a:gd name="T42" fmla="*/ 222 w 222"/>
                    <a:gd name="T43" fmla="*/ 0 h 172"/>
                    <a:gd name="T44" fmla="*/ 3 w 222"/>
                    <a:gd name="T45" fmla="*/ 0 h 172"/>
                    <a:gd name="T46" fmla="*/ 3 w 222"/>
                    <a:gd name="T47" fmla="*/ 104 h 172"/>
                    <a:gd name="T48" fmla="*/ 3 w 222"/>
                    <a:gd name="T49" fmla="*/ 104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2" h="172">
                      <a:moveTo>
                        <a:pt x="0" y="101"/>
                      </a:moveTo>
                      <a:lnTo>
                        <a:pt x="3" y="114"/>
                      </a:lnTo>
                      <a:lnTo>
                        <a:pt x="7" y="125"/>
                      </a:lnTo>
                      <a:lnTo>
                        <a:pt x="13" y="134"/>
                      </a:lnTo>
                      <a:lnTo>
                        <a:pt x="23" y="143"/>
                      </a:lnTo>
                      <a:lnTo>
                        <a:pt x="33" y="152"/>
                      </a:lnTo>
                      <a:lnTo>
                        <a:pt x="47" y="158"/>
                      </a:lnTo>
                      <a:lnTo>
                        <a:pt x="60" y="165"/>
                      </a:lnTo>
                      <a:lnTo>
                        <a:pt x="77" y="169"/>
                      </a:lnTo>
                      <a:lnTo>
                        <a:pt x="94" y="172"/>
                      </a:lnTo>
                      <a:lnTo>
                        <a:pt x="111" y="172"/>
                      </a:lnTo>
                      <a:lnTo>
                        <a:pt x="131" y="172"/>
                      </a:lnTo>
                      <a:lnTo>
                        <a:pt x="148" y="169"/>
                      </a:lnTo>
                      <a:lnTo>
                        <a:pt x="161" y="165"/>
                      </a:lnTo>
                      <a:lnTo>
                        <a:pt x="178" y="158"/>
                      </a:lnTo>
                      <a:lnTo>
                        <a:pt x="188" y="152"/>
                      </a:lnTo>
                      <a:lnTo>
                        <a:pt x="202" y="143"/>
                      </a:lnTo>
                      <a:lnTo>
                        <a:pt x="208" y="134"/>
                      </a:lnTo>
                      <a:lnTo>
                        <a:pt x="215" y="125"/>
                      </a:lnTo>
                      <a:lnTo>
                        <a:pt x="222" y="114"/>
                      </a:lnTo>
                      <a:lnTo>
                        <a:pt x="222" y="104"/>
                      </a:lnTo>
                      <a:lnTo>
                        <a:pt x="222" y="0"/>
                      </a:lnTo>
                      <a:lnTo>
                        <a:pt x="3" y="0"/>
                      </a:lnTo>
                      <a:lnTo>
                        <a:pt x="3" y="104"/>
                      </a:lnTo>
                      <a:lnTo>
                        <a:pt x="3" y="104"/>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654" name="Line 6"/>
                <p:cNvSpPr>
                  <a:spLocks noChangeShapeType="1"/>
                </p:cNvSpPr>
                <p:nvPr/>
              </p:nvSpPr>
              <p:spPr bwMode="auto">
                <a:xfrm>
                  <a:off x="651" y="2304"/>
                  <a:ext cx="6" cy="1036"/>
                </a:xfrm>
                <a:prstGeom prst="line">
                  <a:avLst/>
                </a:prstGeom>
                <a:noFill/>
                <a:ln w="20701">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691655" name="Freeform 7"/>
                <p:cNvSpPr>
                  <a:spLocks/>
                </p:cNvSpPr>
                <p:nvPr/>
              </p:nvSpPr>
              <p:spPr bwMode="auto">
                <a:xfrm>
                  <a:off x="739" y="3218"/>
                  <a:ext cx="180" cy="113"/>
                </a:xfrm>
                <a:custGeom>
                  <a:avLst/>
                  <a:gdLst>
                    <a:gd name="T0" fmla="*/ 248 w 252"/>
                    <a:gd name="T1" fmla="*/ 0 h 136"/>
                    <a:gd name="T2" fmla="*/ 252 w 252"/>
                    <a:gd name="T3" fmla="*/ 68 h 136"/>
                    <a:gd name="T4" fmla="*/ 0 w 252"/>
                    <a:gd name="T5" fmla="*/ 68 h 136"/>
                    <a:gd name="T6" fmla="*/ 0 w 252"/>
                    <a:gd name="T7" fmla="*/ 136 h 136"/>
                  </a:gdLst>
                  <a:ahLst/>
                  <a:cxnLst>
                    <a:cxn ang="0">
                      <a:pos x="T0" y="T1"/>
                    </a:cxn>
                    <a:cxn ang="0">
                      <a:pos x="T2" y="T3"/>
                    </a:cxn>
                    <a:cxn ang="0">
                      <a:pos x="T4" y="T5"/>
                    </a:cxn>
                    <a:cxn ang="0">
                      <a:pos x="T6" y="T7"/>
                    </a:cxn>
                  </a:cxnLst>
                  <a:rect l="0" t="0" r="r" b="b"/>
                  <a:pathLst>
                    <a:path w="252" h="136">
                      <a:moveTo>
                        <a:pt x="248" y="0"/>
                      </a:moveTo>
                      <a:lnTo>
                        <a:pt x="252" y="68"/>
                      </a:lnTo>
                      <a:lnTo>
                        <a:pt x="0" y="68"/>
                      </a:lnTo>
                      <a:lnTo>
                        <a:pt x="0" y="136"/>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659" name="Freeform 11"/>
                <p:cNvSpPr>
                  <a:spLocks/>
                </p:cNvSpPr>
                <p:nvPr/>
              </p:nvSpPr>
              <p:spPr bwMode="auto">
                <a:xfrm>
                  <a:off x="808" y="3069"/>
                  <a:ext cx="220" cy="149"/>
                </a:xfrm>
                <a:custGeom>
                  <a:avLst/>
                  <a:gdLst>
                    <a:gd name="T0" fmla="*/ 125 w 249"/>
                    <a:gd name="T1" fmla="*/ 162 h 165"/>
                    <a:gd name="T2" fmla="*/ 145 w 249"/>
                    <a:gd name="T3" fmla="*/ 162 h 165"/>
                    <a:gd name="T4" fmla="*/ 165 w 249"/>
                    <a:gd name="T5" fmla="*/ 160 h 165"/>
                    <a:gd name="T6" fmla="*/ 182 w 249"/>
                    <a:gd name="T7" fmla="*/ 154 h 165"/>
                    <a:gd name="T8" fmla="*/ 199 w 249"/>
                    <a:gd name="T9" fmla="*/ 147 h 165"/>
                    <a:gd name="T10" fmla="*/ 216 w 249"/>
                    <a:gd name="T11" fmla="*/ 140 h 165"/>
                    <a:gd name="T12" fmla="*/ 226 w 249"/>
                    <a:gd name="T13" fmla="*/ 130 h 165"/>
                    <a:gd name="T14" fmla="*/ 236 w 249"/>
                    <a:gd name="T15" fmla="*/ 121 h 165"/>
                    <a:gd name="T16" fmla="*/ 246 w 249"/>
                    <a:gd name="T17" fmla="*/ 108 h 165"/>
                    <a:gd name="T18" fmla="*/ 249 w 249"/>
                    <a:gd name="T19" fmla="*/ 94 h 165"/>
                    <a:gd name="T20" fmla="*/ 249 w 249"/>
                    <a:gd name="T21" fmla="*/ 81 h 165"/>
                    <a:gd name="T22" fmla="*/ 249 w 249"/>
                    <a:gd name="T23" fmla="*/ 68 h 165"/>
                    <a:gd name="T24" fmla="*/ 246 w 249"/>
                    <a:gd name="T25" fmla="*/ 57 h 165"/>
                    <a:gd name="T26" fmla="*/ 236 w 249"/>
                    <a:gd name="T27" fmla="*/ 44 h 165"/>
                    <a:gd name="T28" fmla="*/ 226 w 249"/>
                    <a:gd name="T29" fmla="*/ 35 h 165"/>
                    <a:gd name="T30" fmla="*/ 216 w 249"/>
                    <a:gd name="T31" fmla="*/ 24 h 165"/>
                    <a:gd name="T32" fmla="*/ 199 w 249"/>
                    <a:gd name="T33" fmla="*/ 15 h 165"/>
                    <a:gd name="T34" fmla="*/ 182 w 249"/>
                    <a:gd name="T35" fmla="*/ 9 h 165"/>
                    <a:gd name="T36" fmla="*/ 165 w 249"/>
                    <a:gd name="T37" fmla="*/ 4 h 165"/>
                    <a:gd name="T38" fmla="*/ 145 w 249"/>
                    <a:gd name="T39" fmla="*/ 2 h 165"/>
                    <a:gd name="T40" fmla="*/ 125 w 249"/>
                    <a:gd name="T41" fmla="*/ 0 h 165"/>
                    <a:gd name="T42" fmla="*/ 105 w 249"/>
                    <a:gd name="T43" fmla="*/ 2 h 165"/>
                    <a:gd name="T44" fmla="*/ 88 w 249"/>
                    <a:gd name="T45" fmla="*/ 4 h 165"/>
                    <a:gd name="T46" fmla="*/ 68 w 249"/>
                    <a:gd name="T47" fmla="*/ 9 h 165"/>
                    <a:gd name="T48" fmla="*/ 51 w 249"/>
                    <a:gd name="T49" fmla="*/ 15 h 165"/>
                    <a:gd name="T50" fmla="*/ 37 w 249"/>
                    <a:gd name="T51" fmla="*/ 24 h 165"/>
                    <a:gd name="T52" fmla="*/ 24 w 249"/>
                    <a:gd name="T53" fmla="*/ 35 h 165"/>
                    <a:gd name="T54" fmla="*/ 14 w 249"/>
                    <a:gd name="T55" fmla="*/ 44 h 165"/>
                    <a:gd name="T56" fmla="*/ 7 w 249"/>
                    <a:gd name="T57" fmla="*/ 57 h 165"/>
                    <a:gd name="T58" fmla="*/ 4 w 249"/>
                    <a:gd name="T59" fmla="*/ 68 h 165"/>
                    <a:gd name="T60" fmla="*/ 0 w 249"/>
                    <a:gd name="T61" fmla="*/ 81 h 165"/>
                    <a:gd name="T62" fmla="*/ 4 w 249"/>
                    <a:gd name="T63" fmla="*/ 94 h 165"/>
                    <a:gd name="T64" fmla="*/ 7 w 249"/>
                    <a:gd name="T65" fmla="*/ 108 h 165"/>
                    <a:gd name="T66" fmla="*/ 14 w 249"/>
                    <a:gd name="T67" fmla="*/ 121 h 165"/>
                    <a:gd name="T68" fmla="*/ 24 w 249"/>
                    <a:gd name="T69" fmla="*/ 130 h 165"/>
                    <a:gd name="T70" fmla="*/ 37 w 249"/>
                    <a:gd name="T71" fmla="*/ 140 h 165"/>
                    <a:gd name="T72" fmla="*/ 51 w 249"/>
                    <a:gd name="T73" fmla="*/ 147 h 165"/>
                    <a:gd name="T74" fmla="*/ 68 w 249"/>
                    <a:gd name="T75" fmla="*/ 154 h 165"/>
                    <a:gd name="T76" fmla="*/ 88 w 249"/>
                    <a:gd name="T77" fmla="*/ 160 h 165"/>
                    <a:gd name="T78" fmla="*/ 105 w 249"/>
                    <a:gd name="T79" fmla="*/ 162 h 165"/>
                    <a:gd name="T80" fmla="*/ 125 w 249"/>
                    <a:gd name="T81" fmla="*/ 165 h 165"/>
                    <a:gd name="T82" fmla="*/ 125 w 249"/>
                    <a:gd name="T83" fmla="*/ 16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9" h="165">
                      <a:moveTo>
                        <a:pt x="125" y="162"/>
                      </a:moveTo>
                      <a:lnTo>
                        <a:pt x="145" y="162"/>
                      </a:lnTo>
                      <a:lnTo>
                        <a:pt x="165" y="160"/>
                      </a:lnTo>
                      <a:lnTo>
                        <a:pt x="182" y="154"/>
                      </a:lnTo>
                      <a:lnTo>
                        <a:pt x="199" y="147"/>
                      </a:lnTo>
                      <a:lnTo>
                        <a:pt x="216" y="140"/>
                      </a:lnTo>
                      <a:lnTo>
                        <a:pt x="226" y="130"/>
                      </a:lnTo>
                      <a:lnTo>
                        <a:pt x="236" y="121"/>
                      </a:lnTo>
                      <a:lnTo>
                        <a:pt x="246" y="108"/>
                      </a:lnTo>
                      <a:lnTo>
                        <a:pt x="249" y="94"/>
                      </a:lnTo>
                      <a:lnTo>
                        <a:pt x="249" y="81"/>
                      </a:lnTo>
                      <a:lnTo>
                        <a:pt x="249" y="68"/>
                      </a:lnTo>
                      <a:lnTo>
                        <a:pt x="246" y="57"/>
                      </a:lnTo>
                      <a:lnTo>
                        <a:pt x="236" y="44"/>
                      </a:lnTo>
                      <a:lnTo>
                        <a:pt x="226" y="35"/>
                      </a:lnTo>
                      <a:lnTo>
                        <a:pt x="216" y="24"/>
                      </a:lnTo>
                      <a:lnTo>
                        <a:pt x="199" y="15"/>
                      </a:lnTo>
                      <a:lnTo>
                        <a:pt x="182" y="9"/>
                      </a:lnTo>
                      <a:lnTo>
                        <a:pt x="165" y="4"/>
                      </a:lnTo>
                      <a:lnTo>
                        <a:pt x="145" y="2"/>
                      </a:lnTo>
                      <a:lnTo>
                        <a:pt x="125" y="0"/>
                      </a:lnTo>
                      <a:lnTo>
                        <a:pt x="105" y="2"/>
                      </a:lnTo>
                      <a:lnTo>
                        <a:pt x="88" y="4"/>
                      </a:lnTo>
                      <a:lnTo>
                        <a:pt x="68" y="9"/>
                      </a:lnTo>
                      <a:lnTo>
                        <a:pt x="51" y="15"/>
                      </a:lnTo>
                      <a:lnTo>
                        <a:pt x="37" y="24"/>
                      </a:lnTo>
                      <a:lnTo>
                        <a:pt x="24" y="35"/>
                      </a:lnTo>
                      <a:lnTo>
                        <a:pt x="14" y="44"/>
                      </a:lnTo>
                      <a:lnTo>
                        <a:pt x="7" y="57"/>
                      </a:lnTo>
                      <a:lnTo>
                        <a:pt x="4" y="68"/>
                      </a:lnTo>
                      <a:lnTo>
                        <a:pt x="0" y="81"/>
                      </a:lnTo>
                      <a:lnTo>
                        <a:pt x="4" y="94"/>
                      </a:lnTo>
                      <a:lnTo>
                        <a:pt x="7" y="108"/>
                      </a:lnTo>
                      <a:lnTo>
                        <a:pt x="14" y="121"/>
                      </a:lnTo>
                      <a:lnTo>
                        <a:pt x="24" y="130"/>
                      </a:lnTo>
                      <a:lnTo>
                        <a:pt x="37" y="140"/>
                      </a:lnTo>
                      <a:lnTo>
                        <a:pt x="51" y="147"/>
                      </a:lnTo>
                      <a:lnTo>
                        <a:pt x="68" y="154"/>
                      </a:lnTo>
                      <a:lnTo>
                        <a:pt x="88" y="160"/>
                      </a:lnTo>
                      <a:lnTo>
                        <a:pt x="105" y="162"/>
                      </a:lnTo>
                      <a:lnTo>
                        <a:pt x="125" y="165"/>
                      </a:lnTo>
                      <a:lnTo>
                        <a:pt x="125" y="165"/>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660" name="Freeform 12"/>
                <p:cNvSpPr>
                  <a:spLocks noEditPoints="1"/>
                </p:cNvSpPr>
                <p:nvPr/>
              </p:nvSpPr>
              <p:spPr bwMode="auto">
                <a:xfrm>
                  <a:off x="886" y="3134"/>
                  <a:ext cx="65" cy="22"/>
                </a:xfrm>
                <a:custGeom>
                  <a:avLst/>
                  <a:gdLst>
                    <a:gd name="T0" fmla="*/ 0 w 74"/>
                    <a:gd name="T1" fmla="*/ 0 h 25"/>
                    <a:gd name="T2" fmla="*/ 74 w 74"/>
                    <a:gd name="T3" fmla="*/ 0 h 25"/>
                    <a:gd name="T4" fmla="*/ 74 w 74"/>
                    <a:gd name="T5" fmla="*/ 7 h 25"/>
                    <a:gd name="T6" fmla="*/ 3 w 74"/>
                    <a:gd name="T7" fmla="*/ 7 h 25"/>
                    <a:gd name="T8" fmla="*/ 3 w 74"/>
                    <a:gd name="T9" fmla="*/ 0 h 25"/>
                    <a:gd name="T10" fmla="*/ 3 w 74"/>
                    <a:gd name="T11" fmla="*/ 0 h 25"/>
                    <a:gd name="T12" fmla="*/ 0 w 74"/>
                    <a:gd name="T13" fmla="*/ 0 h 25"/>
                    <a:gd name="T14" fmla="*/ 3 w 74"/>
                    <a:gd name="T15" fmla="*/ 18 h 25"/>
                    <a:gd name="T16" fmla="*/ 74 w 74"/>
                    <a:gd name="T17" fmla="*/ 18 h 25"/>
                    <a:gd name="T18" fmla="*/ 74 w 74"/>
                    <a:gd name="T19" fmla="*/ 25 h 25"/>
                    <a:gd name="T20" fmla="*/ 3 w 74"/>
                    <a:gd name="T21" fmla="*/ 25 h 25"/>
                    <a:gd name="T22" fmla="*/ 3 w 74"/>
                    <a:gd name="T23" fmla="*/ 18 h 25"/>
                    <a:gd name="T24" fmla="*/ 3 w 74"/>
                    <a:gd name="T25" fmla="*/ 1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25">
                      <a:moveTo>
                        <a:pt x="0" y="0"/>
                      </a:moveTo>
                      <a:lnTo>
                        <a:pt x="74" y="0"/>
                      </a:lnTo>
                      <a:lnTo>
                        <a:pt x="74" y="7"/>
                      </a:lnTo>
                      <a:lnTo>
                        <a:pt x="3" y="7"/>
                      </a:lnTo>
                      <a:lnTo>
                        <a:pt x="3" y="0"/>
                      </a:lnTo>
                      <a:lnTo>
                        <a:pt x="3" y="0"/>
                      </a:lnTo>
                      <a:lnTo>
                        <a:pt x="0" y="0"/>
                      </a:lnTo>
                      <a:close/>
                      <a:moveTo>
                        <a:pt x="3" y="18"/>
                      </a:moveTo>
                      <a:lnTo>
                        <a:pt x="74" y="18"/>
                      </a:lnTo>
                      <a:lnTo>
                        <a:pt x="74" y="25"/>
                      </a:lnTo>
                      <a:lnTo>
                        <a:pt x="3" y="25"/>
                      </a:lnTo>
                      <a:lnTo>
                        <a:pt x="3" y="18"/>
                      </a:lnTo>
                      <a:lnTo>
                        <a:pt x="3"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91700" name="Line 52"/>
                <p:cNvSpPr>
                  <a:spLocks noChangeShapeType="1"/>
                </p:cNvSpPr>
                <p:nvPr/>
              </p:nvSpPr>
              <p:spPr bwMode="auto">
                <a:xfrm>
                  <a:off x="912" y="2304"/>
                  <a:ext cx="0" cy="768"/>
                </a:xfrm>
                <a:prstGeom prst="line">
                  <a:avLst/>
                </a:prstGeom>
                <a:noFill/>
                <a:ln w="3810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1691871" name="Group 223"/>
              <p:cNvGrpSpPr>
                <a:grpSpLocks/>
              </p:cNvGrpSpPr>
              <p:nvPr/>
            </p:nvGrpSpPr>
            <p:grpSpPr bwMode="auto">
              <a:xfrm>
                <a:off x="1872" y="2304"/>
                <a:ext cx="404" cy="1200"/>
                <a:chOff x="624" y="2304"/>
                <a:chExt cx="404" cy="1200"/>
              </a:xfrm>
            </p:grpSpPr>
            <p:sp>
              <p:nvSpPr>
                <p:cNvPr id="1691872" name="Freeform 224"/>
                <p:cNvSpPr>
                  <a:spLocks/>
                </p:cNvSpPr>
                <p:nvPr/>
              </p:nvSpPr>
              <p:spPr bwMode="auto">
                <a:xfrm>
                  <a:off x="624" y="3342"/>
                  <a:ext cx="158" cy="162"/>
                </a:xfrm>
                <a:custGeom>
                  <a:avLst/>
                  <a:gdLst>
                    <a:gd name="T0" fmla="*/ 0 w 222"/>
                    <a:gd name="T1" fmla="*/ 101 h 172"/>
                    <a:gd name="T2" fmla="*/ 3 w 222"/>
                    <a:gd name="T3" fmla="*/ 114 h 172"/>
                    <a:gd name="T4" fmla="*/ 7 w 222"/>
                    <a:gd name="T5" fmla="*/ 125 h 172"/>
                    <a:gd name="T6" fmla="*/ 13 w 222"/>
                    <a:gd name="T7" fmla="*/ 134 h 172"/>
                    <a:gd name="T8" fmla="*/ 23 w 222"/>
                    <a:gd name="T9" fmla="*/ 143 h 172"/>
                    <a:gd name="T10" fmla="*/ 33 w 222"/>
                    <a:gd name="T11" fmla="*/ 152 h 172"/>
                    <a:gd name="T12" fmla="*/ 47 w 222"/>
                    <a:gd name="T13" fmla="*/ 158 h 172"/>
                    <a:gd name="T14" fmla="*/ 60 w 222"/>
                    <a:gd name="T15" fmla="*/ 165 h 172"/>
                    <a:gd name="T16" fmla="*/ 77 w 222"/>
                    <a:gd name="T17" fmla="*/ 169 h 172"/>
                    <a:gd name="T18" fmla="*/ 94 w 222"/>
                    <a:gd name="T19" fmla="*/ 172 h 172"/>
                    <a:gd name="T20" fmla="*/ 111 w 222"/>
                    <a:gd name="T21" fmla="*/ 172 h 172"/>
                    <a:gd name="T22" fmla="*/ 131 w 222"/>
                    <a:gd name="T23" fmla="*/ 172 h 172"/>
                    <a:gd name="T24" fmla="*/ 148 w 222"/>
                    <a:gd name="T25" fmla="*/ 169 h 172"/>
                    <a:gd name="T26" fmla="*/ 161 w 222"/>
                    <a:gd name="T27" fmla="*/ 165 h 172"/>
                    <a:gd name="T28" fmla="*/ 178 w 222"/>
                    <a:gd name="T29" fmla="*/ 158 h 172"/>
                    <a:gd name="T30" fmla="*/ 188 w 222"/>
                    <a:gd name="T31" fmla="*/ 152 h 172"/>
                    <a:gd name="T32" fmla="*/ 202 w 222"/>
                    <a:gd name="T33" fmla="*/ 143 h 172"/>
                    <a:gd name="T34" fmla="*/ 208 w 222"/>
                    <a:gd name="T35" fmla="*/ 134 h 172"/>
                    <a:gd name="T36" fmla="*/ 215 w 222"/>
                    <a:gd name="T37" fmla="*/ 125 h 172"/>
                    <a:gd name="T38" fmla="*/ 222 w 222"/>
                    <a:gd name="T39" fmla="*/ 114 h 172"/>
                    <a:gd name="T40" fmla="*/ 222 w 222"/>
                    <a:gd name="T41" fmla="*/ 104 h 172"/>
                    <a:gd name="T42" fmla="*/ 222 w 222"/>
                    <a:gd name="T43" fmla="*/ 0 h 172"/>
                    <a:gd name="T44" fmla="*/ 3 w 222"/>
                    <a:gd name="T45" fmla="*/ 0 h 172"/>
                    <a:gd name="T46" fmla="*/ 3 w 222"/>
                    <a:gd name="T47" fmla="*/ 104 h 172"/>
                    <a:gd name="T48" fmla="*/ 3 w 222"/>
                    <a:gd name="T49" fmla="*/ 104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2" h="172">
                      <a:moveTo>
                        <a:pt x="0" y="101"/>
                      </a:moveTo>
                      <a:lnTo>
                        <a:pt x="3" y="114"/>
                      </a:lnTo>
                      <a:lnTo>
                        <a:pt x="7" y="125"/>
                      </a:lnTo>
                      <a:lnTo>
                        <a:pt x="13" y="134"/>
                      </a:lnTo>
                      <a:lnTo>
                        <a:pt x="23" y="143"/>
                      </a:lnTo>
                      <a:lnTo>
                        <a:pt x="33" y="152"/>
                      </a:lnTo>
                      <a:lnTo>
                        <a:pt x="47" y="158"/>
                      </a:lnTo>
                      <a:lnTo>
                        <a:pt x="60" y="165"/>
                      </a:lnTo>
                      <a:lnTo>
                        <a:pt x="77" y="169"/>
                      </a:lnTo>
                      <a:lnTo>
                        <a:pt x="94" y="172"/>
                      </a:lnTo>
                      <a:lnTo>
                        <a:pt x="111" y="172"/>
                      </a:lnTo>
                      <a:lnTo>
                        <a:pt x="131" y="172"/>
                      </a:lnTo>
                      <a:lnTo>
                        <a:pt x="148" y="169"/>
                      </a:lnTo>
                      <a:lnTo>
                        <a:pt x="161" y="165"/>
                      </a:lnTo>
                      <a:lnTo>
                        <a:pt x="178" y="158"/>
                      </a:lnTo>
                      <a:lnTo>
                        <a:pt x="188" y="152"/>
                      </a:lnTo>
                      <a:lnTo>
                        <a:pt x="202" y="143"/>
                      </a:lnTo>
                      <a:lnTo>
                        <a:pt x="208" y="134"/>
                      </a:lnTo>
                      <a:lnTo>
                        <a:pt x="215" y="125"/>
                      </a:lnTo>
                      <a:lnTo>
                        <a:pt x="222" y="114"/>
                      </a:lnTo>
                      <a:lnTo>
                        <a:pt x="222" y="104"/>
                      </a:lnTo>
                      <a:lnTo>
                        <a:pt x="222" y="0"/>
                      </a:lnTo>
                      <a:lnTo>
                        <a:pt x="3" y="0"/>
                      </a:lnTo>
                      <a:lnTo>
                        <a:pt x="3" y="104"/>
                      </a:lnTo>
                      <a:lnTo>
                        <a:pt x="3" y="104"/>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73" name="Line 225"/>
                <p:cNvSpPr>
                  <a:spLocks noChangeShapeType="1"/>
                </p:cNvSpPr>
                <p:nvPr/>
              </p:nvSpPr>
              <p:spPr bwMode="auto">
                <a:xfrm>
                  <a:off x="651" y="2304"/>
                  <a:ext cx="6" cy="1036"/>
                </a:xfrm>
                <a:prstGeom prst="line">
                  <a:avLst/>
                </a:prstGeom>
                <a:noFill/>
                <a:ln w="20701">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691874" name="Freeform 226"/>
                <p:cNvSpPr>
                  <a:spLocks/>
                </p:cNvSpPr>
                <p:nvPr/>
              </p:nvSpPr>
              <p:spPr bwMode="auto">
                <a:xfrm>
                  <a:off x="739" y="3218"/>
                  <a:ext cx="180" cy="113"/>
                </a:xfrm>
                <a:custGeom>
                  <a:avLst/>
                  <a:gdLst>
                    <a:gd name="T0" fmla="*/ 248 w 252"/>
                    <a:gd name="T1" fmla="*/ 0 h 136"/>
                    <a:gd name="T2" fmla="*/ 252 w 252"/>
                    <a:gd name="T3" fmla="*/ 68 h 136"/>
                    <a:gd name="T4" fmla="*/ 0 w 252"/>
                    <a:gd name="T5" fmla="*/ 68 h 136"/>
                    <a:gd name="T6" fmla="*/ 0 w 252"/>
                    <a:gd name="T7" fmla="*/ 136 h 136"/>
                  </a:gdLst>
                  <a:ahLst/>
                  <a:cxnLst>
                    <a:cxn ang="0">
                      <a:pos x="T0" y="T1"/>
                    </a:cxn>
                    <a:cxn ang="0">
                      <a:pos x="T2" y="T3"/>
                    </a:cxn>
                    <a:cxn ang="0">
                      <a:pos x="T4" y="T5"/>
                    </a:cxn>
                    <a:cxn ang="0">
                      <a:pos x="T6" y="T7"/>
                    </a:cxn>
                  </a:cxnLst>
                  <a:rect l="0" t="0" r="r" b="b"/>
                  <a:pathLst>
                    <a:path w="252" h="136">
                      <a:moveTo>
                        <a:pt x="248" y="0"/>
                      </a:moveTo>
                      <a:lnTo>
                        <a:pt x="252" y="68"/>
                      </a:lnTo>
                      <a:lnTo>
                        <a:pt x="0" y="68"/>
                      </a:lnTo>
                      <a:lnTo>
                        <a:pt x="0" y="136"/>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75" name="Freeform 227"/>
                <p:cNvSpPr>
                  <a:spLocks/>
                </p:cNvSpPr>
                <p:nvPr/>
              </p:nvSpPr>
              <p:spPr bwMode="auto">
                <a:xfrm>
                  <a:off x="808" y="3069"/>
                  <a:ext cx="220" cy="149"/>
                </a:xfrm>
                <a:custGeom>
                  <a:avLst/>
                  <a:gdLst>
                    <a:gd name="T0" fmla="*/ 125 w 249"/>
                    <a:gd name="T1" fmla="*/ 162 h 165"/>
                    <a:gd name="T2" fmla="*/ 145 w 249"/>
                    <a:gd name="T3" fmla="*/ 162 h 165"/>
                    <a:gd name="T4" fmla="*/ 165 w 249"/>
                    <a:gd name="T5" fmla="*/ 160 h 165"/>
                    <a:gd name="T6" fmla="*/ 182 w 249"/>
                    <a:gd name="T7" fmla="*/ 154 h 165"/>
                    <a:gd name="T8" fmla="*/ 199 w 249"/>
                    <a:gd name="T9" fmla="*/ 147 h 165"/>
                    <a:gd name="T10" fmla="*/ 216 w 249"/>
                    <a:gd name="T11" fmla="*/ 140 h 165"/>
                    <a:gd name="T12" fmla="*/ 226 w 249"/>
                    <a:gd name="T13" fmla="*/ 130 h 165"/>
                    <a:gd name="T14" fmla="*/ 236 w 249"/>
                    <a:gd name="T15" fmla="*/ 121 h 165"/>
                    <a:gd name="T16" fmla="*/ 246 w 249"/>
                    <a:gd name="T17" fmla="*/ 108 h 165"/>
                    <a:gd name="T18" fmla="*/ 249 w 249"/>
                    <a:gd name="T19" fmla="*/ 94 h 165"/>
                    <a:gd name="T20" fmla="*/ 249 w 249"/>
                    <a:gd name="T21" fmla="*/ 81 h 165"/>
                    <a:gd name="T22" fmla="*/ 249 w 249"/>
                    <a:gd name="T23" fmla="*/ 68 h 165"/>
                    <a:gd name="T24" fmla="*/ 246 w 249"/>
                    <a:gd name="T25" fmla="*/ 57 h 165"/>
                    <a:gd name="T26" fmla="*/ 236 w 249"/>
                    <a:gd name="T27" fmla="*/ 44 h 165"/>
                    <a:gd name="T28" fmla="*/ 226 w 249"/>
                    <a:gd name="T29" fmla="*/ 35 h 165"/>
                    <a:gd name="T30" fmla="*/ 216 w 249"/>
                    <a:gd name="T31" fmla="*/ 24 h 165"/>
                    <a:gd name="T32" fmla="*/ 199 w 249"/>
                    <a:gd name="T33" fmla="*/ 15 h 165"/>
                    <a:gd name="T34" fmla="*/ 182 w 249"/>
                    <a:gd name="T35" fmla="*/ 9 h 165"/>
                    <a:gd name="T36" fmla="*/ 165 w 249"/>
                    <a:gd name="T37" fmla="*/ 4 h 165"/>
                    <a:gd name="T38" fmla="*/ 145 w 249"/>
                    <a:gd name="T39" fmla="*/ 2 h 165"/>
                    <a:gd name="T40" fmla="*/ 125 w 249"/>
                    <a:gd name="T41" fmla="*/ 0 h 165"/>
                    <a:gd name="T42" fmla="*/ 105 w 249"/>
                    <a:gd name="T43" fmla="*/ 2 h 165"/>
                    <a:gd name="T44" fmla="*/ 88 w 249"/>
                    <a:gd name="T45" fmla="*/ 4 h 165"/>
                    <a:gd name="T46" fmla="*/ 68 w 249"/>
                    <a:gd name="T47" fmla="*/ 9 h 165"/>
                    <a:gd name="T48" fmla="*/ 51 w 249"/>
                    <a:gd name="T49" fmla="*/ 15 h 165"/>
                    <a:gd name="T50" fmla="*/ 37 w 249"/>
                    <a:gd name="T51" fmla="*/ 24 h 165"/>
                    <a:gd name="T52" fmla="*/ 24 w 249"/>
                    <a:gd name="T53" fmla="*/ 35 h 165"/>
                    <a:gd name="T54" fmla="*/ 14 w 249"/>
                    <a:gd name="T55" fmla="*/ 44 h 165"/>
                    <a:gd name="T56" fmla="*/ 7 w 249"/>
                    <a:gd name="T57" fmla="*/ 57 h 165"/>
                    <a:gd name="T58" fmla="*/ 4 w 249"/>
                    <a:gd name="T59" fmla="*/ 68 h 165"/>
                    <a:gd name="T60" fmla="*/ 0 w 249"/>
                    <a:gd name="T61" fmla="*/ 81 h 165"/>
                    <a:gd name="T62" fmla="*/ 4 w 249"/>
                    <a:gd name="T63" fmla="*/ 94 h 165"/>
                    <a:gd name="T64" fmla="*/ 7 w 249"/>
                    <a:gd name="T65" fmla="*/ 108 h 165"/>
                    <a:gd name="T66" fmla="*/ 14 w 249"/>
                    <a:gd name="T67" fmla="*/ 121 h 165"/>
                    <a:gd name="T68" fmla="*/ 24 w 249"/>
                    <a:gd name="T69" fmla="*/ 130 h 165"/>
                    <a:gd name="T70" fmla="*/ 37 w 249"/>
                    <a:gd name="T71" fmla="*/ 140 h 165"/>
                    <a:gd name="T72" fmla="*/ 51 w 249"/>
                    <a:gd name="T73" fmla="*/ 147 h 165"/>
                    <a:gd name="T74" fmla="*/ 68 w 249"/>
                    <a:gd name="T75" fmla="*/ 154 h 165"/>
                    <a:gd name="T76" fmla="*/ 88 w 249"/>
                    <a:gd name="T77" fmla="*/ 160 h 165"/>
                    <a:gd name="T78" fmla="*/ 105 w 249"/>
                    <a:gd name="T79" fmla="*/ 162 h 165"/>
                    <a:gd name="T80" fmla="*/ 125 w 249"/>
                    <a:gd name="T81" fmla="*/ 165 h 165"/>
                    <a:gd name="T82" fmla="*/ 125 w 249"/>
                    <a:gd name="T83" fmla="*/ 16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9" h="165">
                      <a:moveTo>
                        <a:pt x="125" y="162"/>
                      </a:moveTo>
                      <a:lnTo>
                        <a:pt x="145" y="162"/>
                      </a:lnTo>
                      <a:lnTo>
                        <a:pt x="165" y="160"/>
                      </a:lnTo>
                      <a:lnTo>
                        <a:pt x="182" y="154"/>
                      </a:lnTo>
                      <a:lnTo>
                        <a:pt x="199" y="147"/>
                      </a:lnTo>
                      <a:lnTo>
                        <a:pt x="216" y="140"/>
                      </a:lnTo>
                      <a:lnTo>
                        <a:pt x="226" y="130"/>
                      </a:lnTo>
                      <a:lnTo>
                        <a:pt x="236" y="121"/>
                      </a:lnTo>
                      <a:lnTo>
                        <a:pt x="246" y="108"/>
                      </a:lnTo>
                      <a:lnTo>
                        <a:pt x="249" y="94"/>
                      </a:lnTo>
                      <a:lnTo>
                        <a:pt x="249" y="81"/>
                      </a:lnTo>
                      <a:lnTo>
                        <a:pt x="249" y="68"/>
                      </a:lnTo>
                      <a:lnTo>
                        <a:pt x="246" y="57"/>
                      </a:lnTo>
                      <a:lnTo>
                        <a:pt x="236" y="44"/>
                      </a:lnTo>
                      <a:lnTo>
                        <a:pt x="226" y="35"/>
                      </a:lnTo>
                      <a:lnTo>
                        <a:pt x="216" y="24"/>
                      </a:lnTo>
                      <a:lnTo>
                        <a:pt x="199" y="15"/>
                      </a:lnTo>
                      <a:lnTo>
                        <a:pt x="182" y="9"/>
                      </a:lnTo>
                      <a:lnTo>
                        <a:pt x="165" y="4"/>
                      </a:lnTo>
                      <a:lnTo>
                        <a:pt x="145" y="2"/>
                      </a:lnTo>
                      <a:lnTo>
                        <a:pt x="125" y="0"/>
                      </a:lnTo>
                      <a:lnTo>
                        <a:pt x="105" y="2"/>
                      </a:lnTo>
                      <a:lnTo>
                        <a:pt x="88" y="4"/>
                      </a:lnTo>
                      <a:lnTo>
                        <a:pt x="68" y="9"/>
                      </a:lnTo>
                      <a:lnTo>
                        <a:pt x="51" y="15"/>
                      </a:lnTo>
                      <a:lnTo>
                        <a:pt x="37" y="24"/>
                      </a:lnTo>
                      <a:lnTo>
                        <a:pt x="24" y="35"/>
                      </a:lnTo>
                      <a:lnTo>
                        <a:pt x="14" y="44"/>
                      </a:lnTo>
                      <a:lnTo>
                        <a:pt x="7" y="57"/>
                      </a:lnTo>
                      <a:lnTo>
                        <a:pt x="4" y="68"/>
                      </a:lnTo>
                      <a:lnTo>
                        <a:pt x="0" y="81"/>
                      </a:lnTo>
                      <a:lnTo>
                        <a:pt x="4" y="94"/>
                      </a:lnTo>
                      <a:lnTo>
                        <a:pt x="7" y="108"/>
                      </a:lnTo>
                      <a:lnTo>
                        <a:pt x="14" y="121"/>
                      </a:lnTo>
                      <a:lnTo>
                        <a:pt x="24" y="130"/>
                      </a:lnTo>
                      <a:lnTo>
                        <a:pt x="37" y="140"/>
                      </a:lnTo>
                      <a:lnTo>
                        <a:pt x="51" y="147"/>
                      </a:lnTo>
                      <a:lnTo>
                        <a:pt x="68" y="154"/>
                      </a:lnTo>
                      <a:lnTo>
                        <a:pt x="88" y="160"/>
                      </a:lnTo>
                      <a:lnTo>
                        <a:pt x="105" y="162"/>
                      </a:lnTo>
                      <a:lnTo>
                        <a:pt x="125" y="165"/>
                      </a:lnTo>
                      <a:lnTo>
                        <a:pt x="125" y="165"/>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76" name="Freeform 228"/>
                <p:cNvSpPr>
                  <a:spLocks noEditPoints="1"/>
                </p:cNvSpPr>
                <p:nvPr/>
              </p:nvSpPr>
              <p:spPr bwMode="auto">
                <a:xfrm>
                  <a:off x="886" y="3134"/>
                  <a:ext cx="65" cy="22"/>
                </a:xfrm>
                <a:custGeom>
                  <a:avLst/>
                  <a:gdLst>
                    <a:gd name="T0" fmla="*/ 0 w 74"/>
                    <a:gd name="T1" fmla="*/ 0 h 25"/>
                    <a:gd name="T2" fmla="*/ 74 w 74"/>
                    <a:gd name="T3" fmla="*/ 0 h 25"/>
                    <a:gd name="T4" fmla="*/ 74 w 74"/>
                    <a:gd name="T5" fmla="*/ 7 h 25"/>
                    <a:gd name="T6" fmla="*/ 3 w 74"/>
                    <a:gd name="T7" fmla="*/ 7 h 25"/>
                    <a:gd name="T8" fmla="*/ 3 w 74"/>
                    <a:gd name="T9" fmla="*/ 0 h 25"/>
                    <a:gd name="T10" fmla="*/ 3 w 74"/>
                    <a:gd name="T11" fmla="*/ 0 h 25"/>
                    <a:gd name="T12" fmla="*/ 0 w 74"/>
                    <a:gd name="T13" fmla="*/ 0 h 25"/>
                    <a:gd name="T14" fmla="*/ 3 w 74"/>
                    <a:gd name="T15" fmla="*/ 18 h 25"/>
                    <a:gd name="T16" fmla="*/ 74 w 74"/>
                    <a:gd name="T17" fmla="*/ 18 h 25"/>
                    <a:gd name="T18" fmla="*/ 74 w 74"/>
                    <a:gd name="T19" fmla="*/ 25 h 25"/>
                    <a:gd name="T20" fmla="*/ 3 w 74"/>
                    <a:gd name="T21" fmla="*/ 25 h 25"/>
                    <a:gd name="T22" fmla="*/ 3 w 74"/>
                    <a:gd name="T23" fmla="*/ 18 h 25"/>
                    <a:gd name="T24" fmla="*/ 3 w 74"/>
                    <a:gd name="T25" fmla="*/ 1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25">
                      <a:moveTo>
                        <a:pt x="0" y="0"/>
                      </a:moveTo>
                      <a:lnTo>
                        <a:pt x="74" y="0"/>
                      </a:lnTo>
                      <a:lnTo>
                        <a:pt x="74" y="7"/>
                      </a:lnTo>
                      <a:lnTo>
                        <a:pt x="3" y="7"/>
                      </a:lnTo>
                      <a:lnTo>
                        <a:pt x="3" y="0"/>
                      </a:lnTo>
                      <a:lnTo>
                        <a:pt x="3" y="0"/>
                      </a:lnTo>
                      <a:lnTo>
                        <a:pt x="0" y="0"/>
                      </a:lnTo>
                      <a:close/>
                      <a:moveTo>
                        <a:pt x="3" y="18"/>
                      </a:moveTo>
                      <a:lnTo>
                        <a:pt x="74" y="18"/>
                      </a:lnTo>
                      <a:lnTo>
                        <a:pt x="74" y="25"/>
                      </a:lnTo>
                      <a:lnTo>
                        <a:pt x="3" y="25"/>
                      </a:lnTo>
                      <a:lnTo>
                        <a:pt x="3" y="18"/>
                      </a:lnTo>
                      <a:lnTo>
                        <a:pt x="3"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91877" name="Line 229"/>
                <p:cNvSpPr>
                  <a:spLocks noChangeShapeType="1"/>
                </p:cNvSpPr>
                <p:nvPr/>
              </p:nvSpPr>
              <p:spPr bwMode="auto">
                <a:xfrm>
                  <a:off x="912" y="2304"/>
                  <a:ext cx="0" cy="768"/>
                </a:xfrm>
                <a:prstGeom prst="line">
                  <a:avLst/>
                </a:prstGeom>
                <a:noFill/>
                <a:ln w="3810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1691878" name="Group 230"/>
              <p:cNvGrpSpPr>
                <a:grpSpLocks/>
              </p:cNvGrpSpPr>
              <p:nvPr/>
            </p:nvGrpSpPr>
            <p:grpSpPr bwMode="auto">
              <a:xfrm>
                <a:off x="3120" y="2304"/>
                <a:ext cx="404" cy="1200"/>
                <a:chOff x="624" y="2304"/>
                <a:chExt cx="404" cy="1200"/>
              </a:xfrm>
            </p:grpSpPr>
            <p:sp>
              <p:nvSpPr>
                <p:cNvPr id="1691879" name="Freeform 231"/>
                <p:cNvSpPr>
                  <a:spLocks/>
                </p:cNvSpPr>
                <p:nvPr/>
              </p:nvSpPr>
              <p:spPr bwMode="auto">
                <a:xfrm>
                  <a:off x="624" y="3342"/>
                  <a:ext cx="158" cy="162"/>
                </a:xfrm>
                <a:custGeom>
                  <a:avLst/>
                  <a:gdLst>
                    <a:gd name="T0" fmla="*/ 0 w 222"/>
                    <a:gd name="T1" fmla="*/ 101 h 172"/>
                    <a:gd name="T2" fmla="*/ 3 w 222"/>
                    <a:gd name="T3" fmla="*/ 114 h 172"/>
                    <a:gd name="T4" fmla="*/ 7 w 222"/>
                    <a:gd name="T5" fmla="*/ 125 h 172"/>
                    <a:gd name="T6" fmla="*/ 13 w 222"/>
                    <a:gd name="T7" fmla="*/ 134 h 172"/>
                    <a:gd name="T8" fmla="*/ 23 w 222"/>
                    <a:gd name="T9" fmla="*/ 143 h 172"/>
                    <a:gd name="T10" fmla="*/ 33 w 222"/>
                    <a:gd name="T11" fmla="*/ 152 h 172"/>
                    <a:gd name="T12" fmla="*/ 47 w 222"/>
                    <a:gd name="T13" fmla="*/ 158 h 172"/>
                    <a:gd name="T14" fmla="*/ 60 w 222"/>
                    <a:gd name="T15" fmla="*/ 165 h 172"/>
                    <a:gd name="T16" fmla="*/ 77 w 222"/>
                    <a:gd name="T17" fmla="*/ 169 h 172"/>
                    <a:gd name="T18" fmla="*/ 94 w 222"/>
                    <a:gd name="T19" fmla="*/ 172 h 172"/>
                    <a:gd name="T20" fmla="*/ 111 w 222"/>
                    <a:gd name="T21" fmla="*/ 172 h 172"/>
                    <a:gd name="T22" fmla="*/ 131 w 222"/>
                    <a:gd name="T23" fmla="*/ 172 h 172"/>
                    <a:gd name="T24" fmla="*/ 148 w 222"/>
                    <a:gd name="T25" fmla="*/ 169 h 172"/>
                    <a:gd name="T26" fmla="*/ 161 w 222"/>
                    <a:gd name="T27" fmla="*/ 165 h 172"/>
                    <a:gd name="T28" fmla="*/ 178 w 222"/>
                    <a:gd name="T29" fmla="*/ 158 h 172"/>
                    <a:gd name="T30" fmla="*/ 188 w 222"/>
                    <a:gd name="T31" fmla="*/ 152 h 172"/>
                    <a:gd name="T32" fmla="*/ 202 w 222"/>
                    <a:gd name="T33" fmla="*/ 143 h 172"/>
                    <a:gd name="T34" fmla="*/ 208 w 222"/>
                    <a:gd name="T35" fmla="*/ 134 h 172"/>
                    <a:gd name="T36" fmla="*/ 215 w 222"/>
                    <a:gd name="T37" fmla="*/ 125 h 172"/>
                    <a:gd name="T38" fmla="*/ 222 w 222"/>
                    <a:gd name="T39" fmla="*/ 114 h 172"/>
                    <a:gd name="T40" fmla="*/ 222 w 222"/>
                    <a:gd name="T41" fmla="*/ 104 h 172"/>
                    <a:gd name="T42" fmla="*/ 222 w 222"/>
                    <a:gd name="T43" fmla="*/ 0 h 172"/>
                    <a:gd name="T44" fmla="*/ 3 w 222"/>
                    <a:gd name="T45" fmla="*/ 0 h 172"/>
                    <a:gd name="T46" fmla="*/ 3 w 222"/>
                    <a:gd name="T47" fmla="*/ 104 h 172"/>
                    <a:gd name="T48" fmla="*/ 3 w 222"/>
                    <a:gd name="T49" fmla="*/ 104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2" h="172">
                      <a:moveTo>
                        <a:pt x="0" y="101"/>
                      </a:moveTo>
                      <a:lnTo>
                        <a:pt x="3" y="114"/>
                      </a:lnTo>
                      <a:lnTo>
                        <a:pt x="7" y="125"/>
                      </a:lnTo>
                      <a:lnTo>
                        <a:pt x="13" y="134"/>
                      </a:lnTo>
                      <a:lnTo>
                        <a:pt x="23" y="143"/>
                      </a:lnTo>
                      <a:lnTo>
                        <a:pt x="33" y="152"/>
                      </a:lnTo>
                      <a:lnTo>
                        <a:pt x="47" y="158"/>
                      </a:lnTo>
                      <a:lnTo>
                        <a:pt x="60" y="165"/>
                      </a:lnTo>
                      <a:lnTo>
                        <a:pt x="77" y="169"/>
                      </a:lnTo>
                      <a:lnTo>
                        <a:pt x="94" y="172"/>
                      </a:lnTo>
                      <a:lnTo>
                        <a:pt x="111" y="172"/>
                      </a:lnTo>
                      <a:lnTo>
                        <a:pt x="131" y="172"/>
                      </a:lnTo>
                      <a:lnTo>
                        <a:pt x="148" y="169"/>
                      </a:lnTo>
                      <a:lnTo>
                        <a:pt x="161" y="165"/>
                      </a:lnTo>
                      <a:lnTo>
                        <a:pt x="178" y="158"/>
                      </a:lnTo>
                      <a:lnTo>
                        <a:pt x="188" y="152"/>
                      </a:lnTo>
                      <a:lnTo>
                        <a:pt x="202" y="143"/>
                      </a:lnTo>
                      <a:lnTo>
                        <a:pt x="208" y="134"/>
                      </a:lnTo>
                      <a:lnTo>
                        <a:pt x="215" y="125"/>
                      </a:lnTo>
                      <a:lnTo>
                        <a:pt x="222" y="114"/>
                      </a:lnTo>
                      <a:lnTo>
                        <a:pt x="222" y="104"/>
                      </a:lnTo>
                      <a:lnTo>
                        <a:pt x="222" y="0"/>
                      </a:lnTo>
                      <a:lnTo>
                        <a:pt x="3" y="0"/>
                      </a:lnTo>
                      <a:lnTo>
                        <a:pt x="3" y="104"/>
                      </a:lnTo>
                      <a:lnTo>
                        <a:pt x="3" y="104"/>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80" name="Line 232"/>
                <p:cNvSpPr>
                  <a:spLocks noChangeShapeType="1"/>
                </p:cNvSpPr>
                <p:nvPr/>
              </p:nvSpPr>
              <p:spPr bwMode="auto">
                <a:xfrm>
                  <a:off x="651" y="2304"/>
                  <a:ext cx="6" cy="1036"/>
                </a:xfrm>
                <a:prstGeom prst="line">
                  <a:avLst/>
                </a:prstGeom>
                <a:noFill/>
                <a:ln w="20701">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691881" name="Freeform 233"/>
                <p:cNvSpPr>
                  <a:spLocks/>
                </p:cNvSpPr>
                <p:nvPr/>
              </p:nvSpPr>
              <p:spPr bwMode="auto">
                <a:xfrm>
                  <a:off x="739" y="3218"/>
                  <a:ext cx="180" cy="113"/>
                </a:xfrm>
                <a:custGeom>
                  <a:avLst/>
                  <a:gdLst>
                    <a:gd name="T0" fmla="*/ 248 w 252"/>
                    <a:gd name="T1" fmla="*/ 0 h 136"/>
                    <a:gd name="T2" fmla="*/ 252 w 252"/>
                    <a:gd name="T3" fmla="*/ 68 h 136"/>
                    <a:gd name="T4" fmla="*/ 0 w 252"/>
                    <a:gd name="T5" fmla="*/ 68 h 136"/>
                    <a:gd name="T6" fmla="*/ 0 w 252"/>
                    <a:gd name="T7" fmla="*/ 136 h 136"/>
                  </a:gdLst>
                  <a:ahLst/>
                  <a:cxnLst>
                    <a:cxn ang="0">
                      <a:pos x="T0" y="T1"/>
                    </a:cxn>
                    <a:cxn ang="0">
                      <a:pos x="T2" y="T3"/>
                    </a:cxn>
                    <a:cxn ang="0">
                      <a:pos x="T4" y="T5"/>
                    </a:cxn>
                    <a:cxn ang="0">
                      <a:pos x="T6" y="T7"/>
                    </a:cxn>
                  </a:cxnLst>
                  <a:rect l="0" t="0" r="r" b="b"/>
                  <a:pathLst>
                    <a:path w="252" h="136">
                      <a:moveTo>
                        <a:pt x="248" y="0"/>
                      </a:moveTo>
                      <a:lnTo>
                        <a:pt x="252" y="68"/>
                      </a:lnTo>
                      <a:lnTo>
                        <a:pt x="0" y="68"/>
                      </a:lnTo>
                      <a:lnTo>
                        <a:pt x="0" y="136"/>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82" name="Freeform 234"/>
                <p:cNvSpPr>
                  <a:spLocks/>
                </p:cNvSpPr>
                <p:nvPr/>
              </p:nvSpPr>
              <p:spPr bwMode="auto">
                <a:xfrm>
                  <a:off x="808" y="3069"/>
                  <a:ext cx="220" cy="149"/>
                </a:xfrm>
                <a:custGeom>
                  <a:avLst/>
                  <a:gdLst>
                    <a:gd name="T0" fmla="*/ 125 w 249"/>
                    <a:gd name="T1" fmla="*/ 162 h 165"/>
                    <a:gd name="T2" fmla="*/ 145 w 249"/>
                    <a:gd name="T3" fmla="*/ 162 h 165"/>
                    <a:gd name="T4" fmla="*/ 165 w 249"/>
                    <a:gd name="T5" fmla="*/ 160 h 165"/>
                    <a:gd name="T6" fmla="*/ 182 w 249"/>
                    <a:gd name="T7" fmla="*/ 154 h 165"/>
                    <a:gd name="T8" fmla="*/ 199 w 249"/>
                    <a:gd name="T9" fmla="*/ 147 h 165"/>
                    <a:gd name="T10" fmla="*/ 216 w 249"/>
                    <a:gd name="T11" fmla="*/ 140 h 165"/>
                    <a:gd name="T12" fmla="*/ 226 w 249"/>
                    <a:gd name="T13" fmla="*/ 130 h 165"/>
                    <a:gd name="T14" fmla="*/ 236 w 249"/>
                    <a:gd name="T15" fmla="*/ 121 h 165"/>
                    <a:gd name="T16" fmla="*/ 246 w 249"/>
                    <a:gd name="T17" fmla="*/ 108 h 165"/>
                    <a:gd name="T18" fmla="*/ 249 w 249"/>
                    <a:gd name="T19" fmla="*/ 94 h 165"/>
                    <a:gd name="T20" fmla="*/ 249 w 249"/>
                    <a:gd name="T21" fmla="*/ 81 h 165"/>
                    <a:gd name="T22" fmla="*/ 249 w 249"/>
                    <a:gd name="T23" fmla="*/ 68 h 165"/>
                    <a:gd name="T24" fmla="*/ 246 w 249"/>
                    <a:gd name="T25" fmla="*/ 57 h 165"/>
                    <a:gd name="T26" fmla="*/ 236 w 249"/>
                    <a:gd name="T27" fmla="*/ 44 h 165"/>
                    <a:gd name="T28" fmla="*/ 226 w 249"/>
                    <a:gd name="T29" fmla="*/ 35 h 165"/>
                    <a:gd name="T30" fmla="*/ 216 w 249"/>
                    <a:gd name="T31" fmla="*/ 24 h 165"/>
                    <a:gd name="T32" fmla="*/ 199 w 249"/>
                    <a:gd name="T33" fmla="*/ 15 h 165"/>
                    <a:gd name="T34" fmla="*/ 182 w 249"/>
                    <a:gd name="T35" fmla="*/ 9 h 165"/>
                    <a:gd name="T36" fmla="*/ 165 w 249"/>
                    <a:gd name="T37" fmla="*/ 4 h 165"/>
                    <a:gd name="T38" fmla="*/ 145 w 249"/>
                    <a:gd name="T39" fmla="*/ 2 h 165"/>
                    <a:gd name="T40" fmla="*/ 125 w 249"/>
                    <a:gd name="T41" fmla="*/ 0 h 165"/>
                    <a:gd name="T42" fmla="*/ 105 w 249"/>
                    <a:gd name="T43" fmla="*/ 2 h 165"/>
                    <a:gd name="T44" fmla="*/ 88 w 249"/>
                    <a:gd name="T45" fmla="*/ 4 h 165"/>
                    <a:gd name="T46" fmla="*/ 68 w 249"/>
                    <a:gd name="T47" fmla="*/ 9 h 165"/>
                    <a:gd name="T48" fmla="*/ 51 w 249"/>
                    <a:gd name="T49" fmla="*/ 15 h 165"/>
                    <a:gd name="T50" fmla="*/ 37 w 249"/>
                    <a:gd name="T51" fmla="*/ 24 h 165"/>
                    <a:gd name="T52" fmla="*/ 24 w 249"/>
                    <a:gd name="T53" fmla="*/ 35 h 165"/>
                    <a:gd name="T54" fmla="*/ 14 w 249"/>
                    <a:gd name="T55" fmla="*/ 44 h 165"/>
                    <a:gd name="T56" fmla="*/ 7 w 249"/>
                    <a:gd name="T57" fmla="*/ 57 h 165"/>
                    <a:gd name="T58" fmla="*/ 4 w 249"/>
                    <a:gd name="T59" fmla="*/ 68 h 165"/>
                    <a:gd name="T60" fmla="*/ 0 w 249"/>
                    <a:gd name="T61" fmla="*/ 81 h 165"/>
                    <a:gd name="T62" fmla="*/ 4 w 249"/>
                    <a:gd name="T63" fmla="*/ 94 h 165"/>
                    <a:gd name="T64" fmla="*/ 7 w 249"/>
                    <a:gd name="T65" fmla="*/ 108 h 165"/>
                    <a:gd name="T66" fmla="*/ 14 w 249"/>
                    <a:gd name="T67" fmla="*/ 121 h 165"/>
                    <a:gd name="T68" fmla="*/ 24 w 249"/>
                    <a:gd name="T69" fmla="*/ 130 h 165"/>
                    <a:gd name="T70" fmla="*/ 37 w 249"/>
                    <a:gd name="T71" fmla="*/ 140 h 165"/>
                    <a:gd name="T72" fmla="*/ 51 w 249"/>
                    <a:gd name="T73" fmla="*/ 147 h 165"/>
                    <a:gd name="T74" fmla="*/ 68 w 249"/>
                    <a:gd name="T75" fmla="*/ 154 h 165"/>
                    <a:gd name="T76" fmla="*/ 88 w 249"/>
                    <a:gd name="T77" fmla="*/ 160 h 165"/>
                    <a:gd name="T78" fmla="*/ 105 w 249"/>
                    <a:gd name="T79" fmla="*/ 162 h 165"/>
                    <a:gd name="T80" fmla="*/ 125 w 249"/>
                    <a:gd name="T81" fmla="*/ 165 h 165"/>
                    <a:gd name="T82" fmla="*/ 125 w 249"/>
                    <a:gd name="T83" fmla="*/ 16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9" h="165">
                      <a:moveTo>
                        <a:pt x="125" y="162"/>
                      </a:moveTo>
                      <a:lnTo>
                        <a:pt x="145" y="162"/>
                      </a:lnTo>
                      <a:lnTo>
                        <a:pt x="165" y="160"/>
                      </a:lnTo>
                      <a:lnTo>
                        <a:pt x="182" y="154"/>
                      </a:lnTo>
                      <a:lnTo>
                        <a:pt x="199" y="147"/>
                      </a:lnTo>
                      <a:lnTo>
                        <a:pt x="216" y="140"/>
                      </a:lnTo>
                      <a:lnTo>
                        <a:pt x="226" y="130"/>
                      </a:lnTo>
                      <a:lnTo>
                        <a:pt x="236" y="121"/>
                      </a:lnTo>
                      <a:lnTo>
                        <a:pt x="246" y="108"/>
                      </a:lnTo>
                      <a:lnTo>
                        <a:pt x="249" y="94"/>
                      </a:lnTo>
                      <a:lnTo>
                        <a:pt x="249" y="81"/>
                      </a:lnTo>
                      <a:lnTo>
                        <a:pt x="249" y="68"/>
                      </a:lnTo>
                      <a:lnTo>
                        <a:pt x="246" y="57"/>
                      </a:lnTo>
                      <a:lnTo>
                        <a:pt x="236" y="44"/>
                      </a:lnTo>
                      <a:lnTo>
                        <a:pt x="226" y="35"/>
                      </a:lnTo>
                      <a:lnTo>
                        <a:pt x="216" y="24"/>
                      </a:lnTo>
                      <a:lnTo>
                        <a:pt x="199" y="15"/>
                      </a:lnTo>
                      <a:lnTo>
                        <a:pt x="182" y="9"/>
                      </a:lnTo>
                      <a:lnTo>
                        <a:pt x="165" y="4"/>
                      </a:lnTo>
                      <a:lnTo>
                        <a:pt x="145" y="2"/>
                      </a:lnTo>
                      <a:lnTo>
                        <a:pt x="125" y="0"/>
                      </a:lnTo>
                      <a:lnTo>
                        <a:pt x="105" y="2"/>
                      </a:lnTo>
                      <a:lnTo>
                        <a:pt x="88" y="4"/>
                      </a:lnTo>
                      <a:lnTo>
                        <a:pt x="68" y="9"/>
                      </a:lnTo>
                      <a:lnTo>
                        <a:pt x="51" y="15"/>
                      </a:lnTo>
                      <a:lnTo>
                        <a:pt x="37" y="24"/>
                      </a:lnTo>
                      <a:lnTo>
                        <a:pt x="24" y="35"/>
                      </a:lnTo>
                      <a:lnTo>
                        <a:pt x="14" y="44"/>
                      </a:lnTo>
                      <a:lnTo>
                        <a:pt x="7" y="57"/>
                      </a:lnTo>
                      <a:lnTo>
                        <a:pt x="4" y="68"/>
                      </a:lnTo>
                      <a:lnTo>
                        <a:pt x="0" y="81"/>
                      </a:lnTo>
                      <a:lnTo>
                        <a:pt x="4" y="94"/>
                      </a:lnTo>
                      <a:lnTo>
                        <a:pt x="7" y="108"/>
                      </a:lnTo>
                      <a:lnTo>
                        <a:pt x="14" y="121"/>
                      </a:lnTo>
                      <a:lnTo>
                        <a:pt x="24" y="130"/>
                      </a:lnTo>
                      <a:lnTo>
                        <a:pt x="37" y="140"/>
                      </a:lnTo>
                      <a:lnTo>
                        <a:pt x="51" y="147"/>
                      </a:lnTo>
                      <a:lnTo>
                        <a:pt x="68" y="154"/>
                      </a:lnTo>
                      <a:lnTo>
                        <a:pt x="88" y="160"/>
                      </a:lnTo>
                      <a:lnTo>
                        <a:pt x="105" y="162"/>
                      </a:lnTo>
                      <a:lnTo>
                        <a:pt x="125" y="165"/>
                      </a:lnTo>
                      <a:lnTo>
                        <a:pt x="125" y="165"/>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83" name="Freeform 235"/>
                <p:cNvSpPr>
                  <a:spLocks noEditPoints="1"/>
                </p:cNvSpPr>
                <p:nvPr/>
              </p:nvSpPr>
              <p:spPr bwMode="auto">
                <a:xfrm>
                  <a:off x="886" y="3134"/>
                  <a:ext cx="65" cy="22"/>
                </a:xfrm>
                <a:custGeom>
                  <a:avLst/>
                  <a:gdLst>
                    <a:gd name="T0" fmla="*/ 0 w 74"/>
                    <a:gd name="T1" fmla="*/ 0 h 25"/>
                    <a:gd name="T2" fmla="*/ 74 w 74"/>
                    <a:gd name="T3" fmla="*/ 0 h 25"/>
                    <a:gd name="T4" fmla="*/ 74 w 74"/>
                    <a:gd name="T5" fmla="*/ 7 h 25"/>
                    <a:gd name="T6" fmla="*/ 3 w 74"/>
                    <a:gd name="T7" fmla="*/ 7 h 25"/>
                    <a:gd name="T8" fmla="*/ 3 w 74"/>
                    <a:gd name="T9" fmla="*/ 0 h 25"/>
                    <a:gd name="T10" fmla="*/ 3 w 74"/>
                    <a:gd name="T11" fmla="*/ 0 h 25"/>
                    <a:gd name="T12" fmla="*/ 0 w 74"/>
                    <a:gd name="T13" fmla="*/ 0 h 25"/>
                    <a:gd name="T14" fmla="*/ 3 w 74"/>
                    <a:gd name="T15" fmla="*/ 18 h 25"/>
                    <a:gd name="T16" fmla="*/ 74 w 74"/>
                    <a:gd name="T17" fmla="*/ 18 h 25"/>
                    <a:gd name="T18" fmla="*/ 74 w 74"/>
                    <a:gd name="T19" fmla="*/ 25 h 25"/>
                    <a:gd name="T20" fmla="*/ 3 w 74"/>
                    <a:gd name="T21" fmla="*/ 25 h 25"/>
                    <a:gd name="T22" fmla="*/ 3 w 74"/>
                    <a:gd name="T23" fmla="*/ 18 h 25"/>
                    <a:gd name="T24" fmla="*/ 3 w 74"/>
                    <a:gd name="T25" fmla="*/ 1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25">
                      <a:moveTo>
                        <a:pt x="0" y="0"/>
                      </a:moveTo>
                      <a:lnTo>
                        <a:pt x="74" y="0"/>
                      </a:lnTo>
                      <a:lnTo>
                        <a:pt x="74" y="7"/>
                      </a:lnTo>
                      <a:lnTo>
                        <a:pt x="3" y="7"/>
                      </a:lnTo>
                      <a:lnTo>
                        <a:pt x="3" y="0"/>
                      </a:lnTo>
                      <a:lnTo>
                        <a:pt x="3" y="0"/>
                      </a:lnTo>
                      <a:lnTo>
                        <a:pt x="0" y="0"/>
                      </a:lnTo>
                      <a:close/>
                      <a:moveTo>
                        <a:pt x="3" y="18"/>
                      </a:moveTo>
                      <a:lnTo>
                        <a:pt x="74" y="18"/>
                      </a:lnTo>
                      <a:lnTo>
                        <a:pt x="74" y="25"/>
                      </a:lnTo>
                      <a:lnTo>
                        <a:pt x="3" y="25"/>
                      </a:lnTo>
                      <a:lnTo>
                        <a:pt x="3" y="18"/>
                      </a:lnTo>
                      <a:lnTo>
                        <a:pt x="3"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91884" name="Line 236"/>
                <p:cNvSpPr>
                  <a:spLocks noChangeShapeType="1"/>
                </p:cNvSpPr>
                <p:nvPr/>
              </p:nvSpPr>
              <p:spPr bwMode="auto">
                <a:xfrm>
                  <a:off x="912" y="2304"/>
                  <a:ext cx="0" cy="768"/>
                </a:xfrm>
                <a:prstGeom prst="line">
                  <a:avLst/>
                </a:prstGeom>
                <a:noFill/>
                <a:ln w="3810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1691885" name="Group 237"/>
              <p:cNvGrpSpPr>
                <a:grpSpLocks/>
              </p:cNvGrpSpPr>
              <p:nvPr/>
            </p:nvGrpSpPr>
            <p:grpSpPr bwMode="auto">
              <a:xfrm>
                <a:off x="4368" y="2304"/>
                <a:ext cx="404" cy="1200"/>
                <a:chOff x="624" y="2304"/>
                <a:chExt cx="404" cy="1200"/>
              </a:xfrm>
            </p:grpSpPr>
            <p:sp>
              <p:nvSpPr>
                <p:cNvPr id="1691886" name="Freeform 238"/>
                <p:cNvSpPr>
                  <a:spLocks/>
                </p:cNvSpPr>
                <p:nvPr/>
              </p:nvSpPr>
              <p:spPr bwMode="auto">
                <a:xfrm>
                  <a:off x="624" y="3342"/>
                  <a:ext cx="158" cy="162"/>
                </a:xfrm>
                <a:custGeom>
                  <a:avLst/>
                  <a:gdLst>
                    <a:gd name="T0" fmla="*/ 0 w 222"/>
                    <a:gd name="T1" fmla="*/ 101 h 172"/>
                    <a:gd name="T2" fmla="*/ 3 w 222"/>
                    <a:gd name="T3" fmla="*/ 114 h 172"/>
                    <a:gd name="T4" fmla="*/ 7 w 222"/>
                    <a:gd name="T5" fmla="*/ 125 h 172"/>
                    <a:gd name="T6" fmla="*/ 13 w 222"/>
                    <a:gd name="T7" fmla="*/ 134 h 172"/>
                    <a:gd name="T8" fmla="*/ 23 w 222"/>
                    <a:gd name="T9" fmla="*/ 143 h 172"/>
                    <a:gd name="T10" fmla="*/ 33 w 222"/>
                    <a:gd name="T11" fmla="*/ 152 h 172"/>
                    <a:gd name="T12" fmla="*/ 47 w 222"/>
                    <a:gd name="T13" fmla="*/ 158 h 172"/>
                    <a:gd name="T14" fmla="*/ 60 w 222"/>
                    <a:gd name="T15" fmla="*/ 165 h 172"/>
                    <a:gd name="T16" fmla="*/ 77 w 222"/>
                    <a:gd name="T17" fmla="*/ 169 h 172"/>
                    <a:gd name="T18" fmla="*/ 94 w 222"/>
                    <a:gd name="T19" fmla="*/ 172 h 172"/>
                    <a:gd name="T20" fmla="*/ 111 w 222"/>
                    <a:gd name="T21" fmla="*/ 172 h 172"/>
                    <a:gd name="T22" fmla="*/ 131 w 222"/>
                    <a:gd name="T23" fmla="*/ 172 h 172"/>
                    <a:gd name="T24" fmla="*/ 148 w 222"/>
                    <a:gd name="T25" fmla="*/ 169 h 172"/>
                    <a:gd name="T26" fmla="*/ 161 w 222"/>
                    <a:gd name="T27" fmla="*/ 165 h 172"/>
                    <a:gd name="T28" fmla="*/ 178 w 222"/>
                    <a:gd name="T29" fmla="*/ 158 h 172"/>
                    <a:gd name="T30" fmla="*/ 188 w 222"/>
                    <a:gd name="T31" fmla="*/ 152 h 172"/>
                    <a:gd name="T32" fmla="*/ 202 w 222"/>
                    <a:gd name="T33" fmla="*/ 143 h 172"/>
                    <a:gd name="T34" fmla="*/ 208 w 222"/>
                    <a:gd name="T35" fmla="*/ 134 h 172"/>
                    <a:gd name="T36" fmla="*/ 215 w 222"/>
                    <a:gd name="T37" fmla="*/ 125 h 172"/>
                    <a:gd name="T38" fmla="*/ 222 w 222"/>
                    <a:gd name="T39" fmla="*/ 114 h 172"/>
                    <a:gd name="T40" fmla="*/ 222 w 222"/>
                    <a:gd name="T41" fmla="*/ 104 h 172"/>
                    <a:gd name="T42" fmla="*/ 222 w 222"/>
                    <a:gd name="T43" fmla="*/ 0 h 172"/>
                    <a:gd name="T44" fmla="*/ 3 w 222"/>
                    <a:gd name="T45" fmla="*/ 0 h 172"/>
                    <a:gd name="T46" fmla="*/ 3 w 222"/>
                    <a:gd name="T47" fmla="*/ 104 h 172"/>
                    <a:gd name="T48" fmla="*/ 3 w 222"/>
                    <a:gd name="T49" fmla="*/ 104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2" h="172">
                      <a:moveTo>
                        <a:pt x="0" y="101"/>
                      </a:moveTo>
                      <a:lnTo>
                        <a:pt x="3" y="114"/>
                      </a:lnTo>
                      <a:lnTo>
                        <a:pt x="7" y="125"/>
                      </a:lnTo>
                      <a:lnTo>
                        <a:pt x="13" y="134"/>
                      </a:lnTo>
                      <a:lnTo>
                        <a:pt x="23" y="143"/>
                      </a:lnTo>
                      <a:lnTo>
                        <a:pt x="33" y="152"/>
                      </a:lnTo>
                      <a:lnTo>
                        <a:pt x="47" y="158"/>
                      </a:lnTo>
                      <a:lnTo>
                        <a:pt x="60" y="165"/>
                      </a:lnTo>
                      <a:lnTo>
                        <a:pt x="77" y="169"/>
                      </a:lnTo>
                      <a:lnTo>
                        <a:pt x="94" y="172"/>
                      </a:lnTo>
                      <a:lnTo>
                        <a:pt x="111" y="172"/>
                      </a:lnTo>
                      <a:lnTo>
                        <a:pt x="131" y="172"/>
                      </a:lnTo>
                      <a:lnTo>
                        <a:pt x="148" y="169"/>
                      </a:lnTo>
                      <a:lnTo>
                        <a:pt x="161" y="165"/>
                      </a:lnTo>
                      <a:lnTo>
                        <a:pt x="178" y="158"/>
                      </a:lnTo>
                      <a:lnTo>
                        <a:pt x="188" y="152"/>
                      </a:lnTo>
                      <a:lnTo>
                        <a:pt x="202" y="143"/>
                      </a:lnTo>
                      <a:lnTo>
                        <a:pt x="208" y="134"/>
                      </a:lnTo>
                      <a:lnTo>
                        <a:pt x="215" y="125"/>
                      </a:lnTo>
                      <a:lnTo>
                        <a:pt x="222" y="114"/>
                      </a:lnTo>
                      <a:lnTo>
                        <a:pt x="222" y="104"/>
                      </a:lnTo>
                      <a:lnTo>
                        <a:pt x="222" y="0"/>
                      </a:lnTo>
                      <a:lnTo>
                        <a:pt x="3" y="0"/>
                      </a:lnTo>
                      <a:lnTo>
                        <a:pt x="3" y="104"/>
                      </a:lnTo>
                      <a:lnTo>
                        <a:pt x="3" y="104"/>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87" name="Line 239"/>
                <p:cNvSpPr>
                  <a:spLocks noChangeShapeType="1"/>
                </p:cNvSpPr>
                <p:nvPr/>
              </p:nvSpPr>
              <p:spPr bwMode="auto">
                <a:xfrm>
                  <a:off x="651" y="2304"/>
                  <a:ext cx="6" cy="1036"/>
                </a:xfrm>
                <a:prstGeom prst="line">
                  <a:avLst/>
                </a:prstGeom>
                <a:noFill/>
                <a:ln w="20701">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691888" name="Freeform 240"/>
                <p:cNvSpPr>
                  <a:spLocks/>
                </p:cNvSpPr>
                <p:nvPr/>
              </p:nvSpPr>
              <p:spPr bwMode="auto">
                <a:xfrm>
                  <a:off x="739" y="3218"/>
                  <a:ext cx="180" cy="113"/>
                </a:xfrm>
                <a:custGeom>
                  <a:avLst/>
                  <a:gdLst>
                    <a:gd name="T0" fmla="*/ 248 w 252"/>
                    <a:gd name="T1" fmla="*/ 0 h 136"/>
                    <a:gd name="T2" fmla="*/ 252 w 252"/>
                    <a:gd name="T3" fmla="*/ 68 h 136"/>
                    <a:gd name="T4" fmla="*/ 0 w 252"/>
                    <a:gd name="T5" fmla="*/ 68 h 136"/>
                    <a:gd name="T6" fmla="*/ 0 w 252"/>
                    <a:gd name="T7" fmla="*/ 136 h 136"/>
                  </a:gdLst>
                  <a:ahLst/>
                  <a:cxnLst>
                    <a:cxn ang="0">
                      <a:pos x="T0" y="T1"/>
                    </a:cxn>
                    <a:cxn ang="0">
                      <a:pos x="T2" y="T3"/>
                    </a:cxn>
                    <a:cxn ang="0">
                      <a:pos x="T4" y="T5"/>
                    </a:cxn>
                    <a:cxn ang="0">
                      <a:pos x="T6" y="T7"/>
                    </a:cxn>
                  </a:cxnLst>
                  <a:rect l="0" t="0" r="r" b="b"/>
                  <a:pathLst>
                    <a:path w="252" h="136">
                      <a:moveTo>
                        <a:pt x="248" y="0"/>
                      </a:moveTo>
                      <a:lnTo>
                        <a:pt x="252" y="68"/>
                      </a:lnTo>
                      <a:lnTo>
                        <a:pt x="0" y="68"/>
                      </a:lnTo>
                      <a:lnTo>
                        <a:pt x="0" y="136"/>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89" name="Freeform 241"/>
                <p:cNvSpPr>
                  <a:spLocks/>
                </p:cNvSpPr>
                <p:nvPr/>
              </p:nvSpPr>
              <p:spPr bwMode="auto">
                <a:xfrm>
                  <a:off x="808" y="3069"/>
                  <a:ext cx="220" cy="149"/>
                </a:xfrm>
                <a:custGeom>
                  <a:avLst/>
                  <a:gdLst>
                    <a:gd name="T0" fmla="*/ 125 w 249"/>
                    <a:gd name="T1" fmla="*/ 162 h 165"/>
                    <a:gd name="T2" fmla="*/ 145 w 249"/>
                    <a:gd name="T3" fmla="*/ 162 h 165"/>
                    <a:gd name="T4" fmla="*/ 165 w 249"/>
                    <a:gd name="T5" fmla="*/ 160 h 165"/>
                    <a:gd name="T6" fmla="*/ 182 w 249"/>
                    <a:gd name="T7" fmla="*/ 154 h 165"/>
                    <a:gd name="T8" fmla="*/ 199 w 249"/>
                    <a:gd name="T9" fmla="*/ 147 h 165"/>
                    <a:gd name="T10" fmla="*/ 216 w 249"/>
                    <a:gd name="T11" fmla="*/ 140 h 165"/>
                    <a:gd name="T12" fmla="*/ 226 w 249"/>
                    <a:gd name="T13" fmla="*/ 130 h 165"/>
                    <a:gd name="T14" fmla="*/ 236 w 249"/>
                    <a:gd name="T15" fmla="*/ 121 h 165"/>
                    <a:gd name="T16" fmla="*/ 246 w 249"/>
                    <a:gd name="T17" fmla="*/ 108 h 165"/>
                    <a:gd name="T18" fmla="*/ 249 w 249"/>
                    <a:gd name="T19" fmla="*/ 94 h 165"/>
                    <a:gd name="T20" fmla="*/ 249 w 249"/>
                    <a:gd name="T21" fmla="*/ 81 h 165"/>
                    <a:gd name="T22" fmla="*/ 249 w 249"/>
                    <a:gd name="T23" fmla="*/ 68 h 165"/>
                    <a:gd name="T24" fmla="*/ 246 w 249"/>
                    <a:gd name="T25" fmla="*/ 57 h 165"/>
                    <a:gd name="T26" fmla="*/ 236 w 249"/>
                    <a:gd name="T27" fmla="*/ 44 h 165"/>
                    <a:gd name="T28" fmla="*/ 226 w 249"/>
                    <a:gd name="T29" fmla="*/ 35 h 165"/>
                    <a:gd name="T30" fmla="*/ 216 w 249"/>
                    <a:gd name="T31" fmla="*/ 24 h 165"/>
                    <a:gd name="T32" fmla="*/ 199 w 249"/>
                    <a:gd name="T33" fmla="*/ 15 h 165"/>
                    <a:gd name="T34" fmla="*/ 182 w 249"/>
                    <a:gd name="T35" fmla="*/ 9 h 165"/>
                    <a:gd name="T36" fmla="*/ 165 w 249"/>
                    <a:gd name="T37" fmla="*/ 4 h 165"/>
                    <a:gd name="T38" fmla="*/ 145 w 249"/>
                    <a:gd name="T39" fmla="*/ 2 h 165"/>
                    <a:gd name="T40" fmla="*/ 125 w 249"/>
                    <a:gd name="T41" fmla="*/ 0 h 165"/>
                    <a:gd name="T42" fmla="*/ 105 w 249"/>
                    <a:gd name="T43" fmla="*/ 2 h 165"/>
                    <a:gd name="T44" fmla="*/ 88 w 249"/>
                    <a:gd name="T45" fmla="*/ 4 h 165"/>
                    <a:gd name="T46" fmla="*/ 68 w 249"/>
                    <a:gd name="T47" fmla="*/ 9 h 165"/>
                    <a:gd name="T48" fmla="*/ 51 w 249"/>
                    <a:gd name="T49" fmla="*/ 15 h 165"/>
                    <a:gd name="T50" fmla="*/ 37 w 249"/>
                    <a:gd name="T51" fmla="*/ 24 h 165"/>
                    <a:gd name="T52" fmla="*/ 24 w 249"/>
                    <a:gd name="T53" fmla="*/ 35 h 165"/>
                    <a:gd name="T54" fmla="*/ 14 w 249"/>
                    <a:gd name="T55" fmla="*/ 44 h 165"/>
                    <a:gd name="T56" fmla="*/ 7 w 249"/>
                    <a:gd name="T57" fmla="*/ 57 h 165"/>
                    <a:gd name="T58" fmla="*/ 4 w 249"/>
                    <a:gd name="T59" fmla="*/ 68 h 165"/>
                    <a:gd name="T60" fmla="*/ 0 w 249"/>
                    <a:gd name="T61" fmla="*/ 81 h 165"/>
                    <a:gd name="T62" fmla="*/ 4 w 249"/>
                    <a:gd name="T63" fmla="*/ 94 h 165"/>
                    <a:gd name="T64" fmla="*/ 7 w 249"/>
                    <a:gd name="T65" fmla="*/ 108 h 165"/>
                    <a:gd name="T66" fmla="*/ 14 w 249"/>
                    <a:gd name="T67" fmla="*/ 121 h 165"/>
                    <a:gd name="T68" fmla="*/ 24 w 249"/>
                    <a:gd name="T69" fmla="*/ 130 h 165"/>
                    <a:gd name="T70" fmla="*/ 37 w 249"/>
                    <a:gd name="T71" fmla="*/ 140 h 165"/>
                    <a:gd name="T72" fmla="*/ 51 w 249"/>
                    <a:gd name="T73" fmla="*/ 147 h 165"/>
                    <a:gd name="T74" fmla="*/ 68 w 249"/>
                    <a:gd name="T75" fmla="*/ 154 h 165"/>
                    <a:gd name="T76" fmla="*/ 88 w 249"/>
                    <a:gd name="T77" fmla="*/ 160 h 165"/>
                    <a:gd name="T78" fmla="*/ 105 w 249"/>
                    <a:gd name="T79" fmla="*/ 162 h 165"/>
                    <a:gd name="T80" fmla="*/ 125 w 249"/>
                    <a:gd name="T81" fmla="*/ 165 h 165"/>
                    <a:gd name="T82" fmla="*/ 125 w 249"/>
                    <a:gd name="T83" fmla="*/ 16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9" h="165">
                      <a:moveTo>
                        <a:pt x="125" y="162"/>
                      </a:moveTo>
                      <a:lnTo>
                        <a:pt x="145" y="162"/>
                      </a:lnTo>
                      <a:lnTo>
                        <a:pt x="165" y="160"/>
                      </a:lnTo>
                      <a:lnTo>
                        <a:pt x="182" y="154"/>
                      </a:lnTo>
                      <a:lnTo>
                        <a:pt x="199" y="147"/>
                      </a:lnTo>
                      <a:lnTo>
                        <a:pt x="216" y="140"/>
                      </a:lnTo>
                      <a:lnTo>
                        <a:pt x="226" y="130"/>
                      </a:lnTo>
                      <a:lnTo>
                        <a:pt x="236" y="121"/>
                      </a:lnTo>
                      <a:lnTo>
                        <a:pt x="246" y="108"/>
                      </a:lnTo>
                      <a:lnTo>
                        <a:pt x="249" y="94"/>
                      </a:lnTo>
                      <a:lnTo>
                        <a:pt x="249" y="81"/>
                      </a:lnTo>
                      <a:lnTo>
                        <a:pt x="249" y="68"/>
                      </a:lnTo>
                      <a:lnTo>
                        <a:pt x="246" y="57"/>
                      </a:lnTo>
                      <a:lnTo>
                        <a:pt x="236" y="44"/>
                      </a:lnTo>
                      <a:lnTo>
                        <a:pt x="226" y="35"/>
                      </a:lnTo>
                      <a:lnTo>
                        <a:pt x="216" y="24"/>
                      </a:lnTo>
                      <a:lnTo>
                        <a:pt x="199" y="15"/>
                      </a:lnTo>
                      <a:lnTo>
                        <a:pt x="182" y="9"/>
                      </a:lnTo>
                      <a:lnTo>
                        <a:pt x="165" y="4"/>
                      </a:lnTo>
                      <a:lnTo>
                        <a:pt x="145" y="2"/>
                      </a:lnTo>
                      <a:lnTo>
                        <a:pt x="125" y="0"/>
                      </a:lnTo>
                      <a:lnTo>
                        <a:pt x="105" y="2"/>
                      </a:lnTo>
                      <a:lnTo>
                        <a:pt x="88" y="4"/>
                      </a:lnTo>
                      <a:lnTo>
                        <a:pt x="68" y="9"/>
                      </a:lnTo>
                      <a:lnTo>
                        <a:pt x="51" y="15"/>
                      </a:lnTo>
                      <a:lnTo>
                        <a:pt x="37" y="24"/>
                      </a:lnTo>
                      <a:lnTo>
                        <a:pt x="24" y="35"/>
                      </a:lnTo>
                      <a:lnTo>
                        <a:pt x="14" y="44"/>
                      </a:lnTo>
                      <a:lnTo>
                        <a:pt x="7" y="57"/>
                      </a:lnTo>
                      <a:lnTo>
                        <a:pt x="4" y="68"/>
                      </a:lnTo>
                      <a:lnTo>
                        <a:pt x="0" y="81"/>
                      </a:lnTo>
                      <a:lnTo>
                        <a:pt x="4" y="94"/>
                      </a:lnTo>
                      <a:lnTo>
                        <a:pt x="7" y="108"/>
                      </a:lnTo>
                      <a:lnTo>
                        <a:pt x="14" y="121"/>
                      </a:lnTo>
                      <a:lnTo>
                        <a:pt x="24" y="130"/>
                      </a:lnTo>
                      <a:lnTo>
                        <a:pt x="37" y="140"/>
                      </a:lnTo>
                      <a:lnTo>
                        <a:pt x="51" y="147"/>
                      </a:lnTo>
                      <a:lnTo>
                        <a:pt x="68" y="154"/>
                      </a:lnTo>
                      <a:lnTo>
                        <a:pt x="88" y="160"/>
                      </a:lnTo>
                      <a:lnTo>
                        <a:pt x="105" y="162"/>
                      </a:lnTo>
                      <a:lnTo>
                        <a:pt x="125" y="165"/>
                      </a:lnTo>
                      <a:lnTo>
                        <a:pt x="125" y="165"/>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91890" name="Freeform 242"/>
                <p:cNvSpPr>
                  <a:spLocks noEditPoints="1"/>
                </p:cNvSpPr>
                <p:nvPr/>
              </p:nvSpPr>
              <p:spPr bwMode="auto">
                <a:xfrm>
                  <a:off x="886" y="3134"/>
                  <a:ext cx="65" cy="22"/>
                </a:xfrm>
                <a:custGeom>
                  <a:avLst/>
                  <a:gdLst>
                    <a:gd name="T0" fmla="*/ 0 w 74"/>
                    <a:gd name="T1" fmla="*/ 0 h 25"/>
                    <a:gd name="T2" fmla="*/ 74 w 74"/>
                    <a:gd name="T3" fmla="*/ 0 h 25"/>
                    <a:gd name="T4" fmla="*/ 74 w 74"/>
                    <a:gd name="T5" fmla="*/ 7 h 25"/>
                    <a:gd name="T6" fmla="*/ 3 w 74"/>
                    <a:gd name="T7" fmla="*/ 7 h 25"/>
                    <a:gd name="T8" fmla="*/ 3 w 74"/>
                    <a:gd name="T9" fmla="*/ 0 h 25"/>
                    <a:gd name="T10" fmla="*/ 3 w 74"/>
                    <a:gd name="T11" fmla="*/ 0 h 25"/>
                    <a:gd name="T12" fmla="*/ 0 w 74"/>
                    <a:gd name="T13" fmla="*/ 0 h 25"/>
                    <a:gd name="T14" fmla="*/ 3 w 74"/>
                    <a:gd name="T15" fmla="*/ 18 h 25"/>
                    <a:gd name="T16" fmla="*/ 74 w 74"/>
                    <a:gd name="T17" fmla="*/ 18 h 25"/>
                    <a:gd name="T18" fmla="*/ 74 w 74"/>
                    <a:gd name="T19" fmla="*/ 25 h 25"/>
                    <a:gd name="T20" fmla="*/ 3 w 74"/>
                    <a:gd name="T21" fmla="*/ 25 h 25"/>
                    <a:gd name="T22" fmla="*/ 3 w 74"/>
                    <a:gd name="T23" fmla="*/ 18 h 25"/>
                    <a:gd name="T24" fmla="*/ 3 w 74"/>
                    <a:gd name="T25" fmla="*/ 1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25">
                      <a:moveTo>
                        <a:pt x="0" y="0"/>
                      </a:moveTo>
                      <a:lnTo>
                        <a:pt x="74" y="0"/>
                      </a:lnTo>
                      <a:lnTo>
                        <a:pt x="74" y="7"/>
                      </a:lnTo>
                      <a:lnTo>
                        <a:pt x="3" y="7"/>
                      </a:lnTo>
                      <a:lnTo>
                        <a:pt x="3" y="0"/>
                      </a:lnTo>
                      <a:lnTo>
                        <a:pt x="3" y="0"/>
                      </a:lnTo>
                      <a:lnTo>
                        <a:pt x="0" y="0"/>
                      </a:lnTo>
                      <a:close/>
                      <a:moveTo>
                        <a:pt x="3" y="18"/>
                      </a:moveTo>
                      <a:lnTo>
                        <a:pt x="74" y="18"/>
                      </a:lnTo>
                      <a:lnTo>
                        <a:pt x="74" y="25"/>
                      </a:lnTo>
                      <a:lnTo>
                        <a:pt x="3" y="25"/>
                      </a:lnTo>
                      <a:lnTo>
                        <a:pt x="3" y="18"/>
                      </a:lnTo>
                      <a:lnTo>
                        <a:pt x="3"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91891" name="Line 243"/>
                <p:cNvSpPr>
                  <a:spLocks noChangeShapeType="1"/>
                </p:cNvSpPr>
                <p:nvPr/>
              </p:nvSpPr>
              <p:spPr bwMode="auto">
                <a:xfrm>
                  <a:off x="912" y="2304"/>
                  <a:ext cx="0" cy="768"/>
                </a:xfrm>
                <a:prstGeom prst="line">
                  <a:avLst/>
                </a:prstGeom>
                <a:noFill/>
                <a:ln w="3810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691899" name="Line 251"/>
              <p:cNvSpPr>
                <a:spLocks noChangeShapeType="1"/>
              </p:cNvSpPr>
              <p:nvPr/>
            </p:nvSpPr>
            <p:spPr bwMode="auto">
              <a:xfrm>
                <a:off x="2592" y="1200"/>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00" name="Line 252"/>
              <p:cNvSpPr>
                <a:spLocks noChangeShapeType="1"/>
              </p:cNvSpPr>
              <p:nvPr/>
            </p:nvSpPr>
            <p:spPr bwMode="auto">
              <a:xfrm>
                <a:off x="240" y="1392"/>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01" name="Line 253"/>
              <p:cNvSpPr>
                <a:spLocks noChangeShapeType="1"/>
              </p:cNvSpPr>
              <p:nvPr/>
            </p:nvSpPr>
            <p:spPr bwMode="auto">
              <a:xfrm>
                <a:off x="240" y="1392"/>
                <a:ext cx="0" cy="17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02" name="Line 254"/>
              <p:cNvSpPr>
                <a:spLocks noChangeShapeType="1"/>
              </p:cNvSpPr>
              <p:nvPr/>
            </p:nvSpPr>
            <p:spPr bwMode="auto">
              <a:xfrm>
                <a:off x="240" y="3120"/>
                <a:ext cx="5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03" name="Line 255"/>
              <p:cNvSpPr>
                <a:spLocks noChangeShapeType="1"/>
              </p:cNvSpPr>
              <p:nvPr/>
            </p:nvSpPr>
            <p:spPr bwMode="auto">
              <a:xfrm>
                <a:off x="1008" y="3120"/>
                <a:ext cx="105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04" name="Line 256"/>
              <p:cNvSpPr>
                <a:spLocks noChangeShapeType="1"/>
              </p:cNvSpPr>
              <p:nvPr/>
            </p:nvSpPr>
            <p:spPr bwMode="auto">
              <a:xfrm>
                <a:off x="2256" y="3120"/>
                <a:ext cx="105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05" name="Line 257"/>
              <p:cNvSpPr>
                <a:spLocks noChangeShapeType="1"/>
              </p:cNvSpPr>
              <p:nvPr/>
            </p:nvSpPr>
            <p:spPr bwMode="auto">
              <a:xfrm>
                <a:off x="3504" y="3120"/>
                <a:ext cx="105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1691948" name="Group 300"/>
          <p:cNvGrpSpPr>
            <a:grpSpLocks/>
          </p:cNvGrpSpPr>
          <p:nvPr/>
        </p:nvGrpSpPr>
        <p:grpSpPr bwMode="auto">
          <a:xfrm>
            <a:off x="1143000" y="3276600"/>
            <a:ext cx="7467600" cy="3392488"/>
            <a:chOff x="720" y="2017"/>
            <a:chExt cx="4704" cy="2184"/>
          </a:xfrm>
        </p:grpSpPr>
        <p:sp>
          <p:nvSpPr>
            <p:cNvPr id="1691911" name="Line 263"/>
            <p:cNvSpPr>
              <a:spLocks noChangeShapeType="1"/>
            </p:cNvSpPr>
            <p:nvPr/>
          </p:nvSpPr>
          <p:spPr bwMode="auto">
            <a:xfrm>
              <a:off x="5136" y="2017"/>
              <a:ext cx="0" cy="1583"/>
            </a:xfrm>
            <a:prstGeom prst="line">
              <a:avLst/>
            </a:prstGeom>
            <a:noFill/>
            <a:ln w="381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691913" name="Line 265"/>
            <p:cNvSpPr>
              <a:spLocks noChangeShapeType="1"/>
            </p:cNvSpPr>
            <p:nvPr/>
          </p:nvSpPr>
          <p:spPr bwMode="auto">
            <a:xfrm>
              <a:off x="3840" y="2017"/>
              <a:ext cx="0" cy="1679"/>
            </a:xfrm>
            <a:prstGeom prst="line">
              <a:avLst/>
            </a:prstGeom>
            <a:noFill/>
            <a:ln w="381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691914" name="Line 266"/>
            <p:cNvSpPr>
              <a:spLocks noChangeShapeType="1"/>
            </p:cNvSpPr>
            <p:nvPr/>
          </p:nvSpPr>
          <p:spPr bwMode="auto">
            <a:xfrm>
              <a:off x="2592" y="2017"/>
              <a:ext cx="0" cy="1295"/>
            </a:xfrm>
            <a:prstGeom prst="line">
              <a:avLst/>
            </a:prstGeom>
            <a:noFill/>
            <a:ln w="381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691915" name="Line 267"/>
            <p:cNvSpPr>
              <a:spLocks noChangeShapeType="1"/>
            </p:cNvSpPr>
            <p:nvPr/>
          </p:nvSpPr>
          <p:spPr bwMode="auto">
            <a:xfrm>
              <a:off x="1344" y="2017"/>
              <a:ext cx="0" cy="1391"/>
            </a:xfrm>
            <a:prstGeom prst="line">
              <a:avLst/>
            </a:prstGeom>
            <a:noFill/>
            <a:ln w="381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grpSp>
          <p:nvGrpSpPr>
            <p:cNvPr id="1691947" name="Group 299"/>
            <p:cNvGrpSpPr>
              <a:grpSpLocks/>
            </p:cNvGrpSpPr>
            <p:nvPr/>
          </p:nvGrpSpPr>
          <p:grpSpPr bwMode="auto">
            <a:xfrm>
              <a:off x="720" y="3229"/>
              <a:ext cx="4704" cy="972"/>
              <a:chOff x="720" y="3229"/>
              <a:chExt cx="4704" cy="972"/>
            </a:xfrm>
          </p:grpSpPr>
          <p:sp>
            <p:nvSpPr>
              <p:cNvPr id="1691657" name="Text Box 9"/>
              <p:cNvSpPr txBox="1">
                <a:spLocks noChangeArrowheads="1"/>
              </p:cNvSpPr>
              <p:nvPr/>
            </p:nvSpPr>
            <p:spPr bwMode="auto">
              <a:xfrm>
                <a:off x="2064" y="3984"/>
                <a:ext cx="272"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Hit</a:t>
                </a:r>
              </a:p>
            </p:txBody>
          </p:sp>
          <p:sp>
            <p:nvSpPr>
              <p:cNvPr id="1691704" name="Line 56"/>
              <p:cNvSpPr>
                <a:spLocks noChangeShapeType="1"/>
              </p:cNvSpPr>
              <p:nvPr/>
            </p:nvSpPr>
            <p:spPr bwMode="auto">
              <a:xfrm>
                <a:off x="5040" y="3325"/>
                <a:ext cx="192" cy="5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1705" name="Text Box 57"/>
              <p:cNvSpPr txBox="1">
                <a:spLocks noChangeArrowheads="1"/>
              </p:cNvSpPr>
              <p:nvPr/>
            </p:nvSpPr>
            <p:spPr bwMode="auto">
              <a:xfrm>
                <a:off x="3456" y="3984"/>
                <a:ext cx="386"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Data</a:t>
                </a:r>
              </a:p>
            </p:txBody>
          </p:sp>
          <p:sp>
            <p:nvSpPr>
              <p:cNvPr id="1691706" name="Text Box 58"/>
              <p:cNvSpPr txBox="1">
                <a:spLocks noChangeArrowheads="1"/>
              </p:cNvSpPr>
              <p:nvPr/>
            </p:nvSpPr>
            <p:spPr bwMode="auto">
              <a:xfrm>
                <a:off x="5184" y="3229"/>
                <a:ext cx="24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solidFill>
                      <a:schemeClr val="tx1"/>
                    </a:solidFill>
                  </a:rPr>
                  <a:t>32</a:t>
                </a:r>
              </a:p>
            </p:txBody>
          </p:sp>
          <p:sp>
            <p:nvSpPr>
              <p:cNvPr id="1691908" name="AutoShape 260"/>
              <p:cNvSpPr>
                <a:spLocks noChangeArrowheads="1"/>
              </p:cNvSpPr>
              <p:nvPr/>
            </p:nvSpPr>
            <p:spPr bwMode="auto">
              <a:xfrm rot="-5400000">
                <a:off x="1872" y="3648"/>
                <a:ext cx="288" cy="384"/>
              </a:xfrm>
              <a:prstGeom prst="moon">
                <a:avLst>
                  <a:gd name="adj" fmla="val 81944"/>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91909" name="AutoShape 261"/>
              <p:cNvSpPr>
                <a:spLocks noChangeArrowheads="1"/>
              </p:cNvSpPr>
              <p:nvPr/>
            </p:nvSpPr>
            <p:spPr bwMode="auto">
              <a:xfrm>
                <a:off x="3120" y="3709"/>
                <a:ext cx="1104" cy="19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91910" name="Text Box 262"/>
              <p:cNvSpPr txBox="1">
                <a:spLocks noChangeArrowheads="1"/>
              </p:cNvSpPr>
              <p:nvPr/>
            </p:nvSpPr>
            <p:spPr bwMode="auto">
              <a:xfrm>
                <a:off x="3312" y="3709"/>
                <a:ext cx="692"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4x1 select</a:t>
                </a:r>
              </a:p>
            </p:txBody>
          </p:sp>
          <p:sp>
            <p:nvSpPr>
              <p:cNvPr id="1691912" name="Line 264"/>
              <p:cNvSpPr>
                <a:spLocks noChangeShapeType="1"/>
              </p:cNvSpPr>
              <p:nvPr/>
            </p:nvSpPr>
            <p:spPr bwMode="auto">
              <a:xfrm>
                <a:off x="4080" y="3613"/>
                <a:ext cx="105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16" name="Line 268"/>
              <p:cNvSpPr>
                <a:spLocks noChangeShapeType="1"/>
              </p:cNvSpPr>
              <p:nvPr/>
            </p:nvSpPr>
            <p:spPr bwMode="auto">
              <a:xfrm>
                <a:off x="720" y="3277"/>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17" name="Line 269"/>
              <p:cNvSpPr>
                <a:spLocks noChangeShapeType="1"/>
              </p:cNvSpPr>
              <p:nvPr/>
            </p:nvSpPr>
            <p:spPr bwMode="auto">
              <a:xfrm>
                <a:off x="1968" y="3277"/>
                <a:ext cx="0" cy="46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18" name="Line 270"/>
              <p:cNvSpPr>
                <a:spLocks noChangeShapeType="1"/>
              </p:cNvSpPr>
              <p:nvPr/>
            </p:nvSpPr>
            <p:spPr bwMode="auto">
              <a:xfrm>
                <a:off x="3216" y="3277"/>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19" name="Line 271"/>
              <p:cNvSpPr>
                <a:spLocks noChangeShapeType="1"/>
              </p:cNvSpPr>
              <p:nvPr/>
            </p:nvSpPr>
            <p:spPr bwMode="auto">
              <a:xfrm>
                <a:off x="4464" y="3277"/>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20" name="Line 272"/>
              <p:cNvSpPr>
                <a:spLocks noChangeShapeType="1"/>
              </p:cNvSpPr>
              <p:nvPr/>
            </p:nvSpPr>
            <p:spPr bwMode="auto">
              <a:xfrm>
                <a:off x="720" y="3469"/>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21" name="Line 273"/>
              <p:cNvSpPr>
                <a:spLocks noChangeShapeType="1"/>
              </p:cNvSpPr>
              <p:nvPr/>
            </p:nvSpPr>
            <p:spPr bwMode="auto">
              <a:xfrm>
                <a:off x="1872" y="3469"/>
                <a:ext cx="0" cy="22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22" name="Line 274"/>
              <p:cNvSpPr>
                <a:spLocks noChangeShapeType="1"/>
              </p:cNvSpPr>
              <p:nvPr/>
            </p:nvSpPr>
            <p:spPr bwMode="auto">
              <a:xfrm>
                <a:off x="2160" y="3469"/>
                <a:ext cx="0" cy="22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23" name="Line 275"/>
              <p:cNvSpPr>
                <a:spLocks noChangeShapeType="1"/>
              </p:cNvSpPr>
              <p:nvPr/>
            </p:nvSpPr>
            <p:spPr bwMode="auto">
              <a:xfrm>
                <a:off x="2064" y="3373"/>
                <a:ext cx="0" cy="37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24" name="Line 276"/>
              <p:cNvSpPr>
                <a:spLocks noChangeShapeType="1"/>
              </p:cNvSpPr>
              <p:nvPr/>
            </p:nvSpPr>
            <p:spPr bwMode="auto">
              <a:xfrm>
                <a:off x="2064" y="3373"/>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25" name="Line 277"/>
              <p:cNvSpPr>
                <a:spLocks noChangeShapeType="1"/>
              </p:cNvSpPr>
              <p:nvPr/>
            </p:nvSpPr>
            <p:spPr bwMode="auto">
              <a:xfrm>
                <a:off x="2160" y="3469"/>
                <a:ext cx="230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26" name="Line 278"/>
              <p:cNvSpPr>
                <a:spLocks noChangeShapeType="1"/>
              </p:cNvSpPr>
              <p:nvPr/>
            </p:nvSpPr>
            <p:spPr bwMode="auto">
              <a:xfrm>
                <a:off x="4080" y="3613"/>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27" name="Line 279"/>
              <p:cNvSpPr>
                <a:spLocks noChangeShapeType="1"/>
              </p:cNvSpPr>
              <p:nvPr/>
            </p:nvSpPr>
            <p:spPr bwMode="auto">
              <a:xfrm>
                <a:off x="3600" y="3325"/>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28" name="Line 280"/>
              <p:cNvSpPr>
                <a:spLocks noChangeShapeType="1"/>
              </p:cNvSpPr>
              <p:nvPr/>
            </p:nvSpPr>
            <p:spPr bwMode="auto">
              <a:xfrm>
                <a:off x="3312" y="3421"/>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29" name="Line 281"/>
              <p:cNvSpPr>
                <a:spLocks noChangeShapeType="1"/>
              </p:cNvSpPr>
              <p:nvPr/>
            </p:nvSpPr>
            <p:spPr bwMode="auto">
              <a:xfrm>
                <a:off x="2592" y="3325"/>
                <a:ext cx="10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30" name="Line 282"/>
              <p:cNvSpPr>
                <a:spLocks noChangeShapeType="1"/>
              </p:cNvSpPr>
              <p:nvPr/>
            </p:nvSpPr>
            <p:spPr bwMode="auto">
              <a:xfrm>
                <a:off x="1344" y="3421"/>
                <a:ext cx="19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31" name="Line 283"/>
              <p:cNvSpPr>
                <a:spLocks noChangeShapeType="1"/>
              </p:cNvSpPr>
              <p:nvPr/>
            </p:nvSpPr>
            <p:spPr bwMode="auto">
              <a:xfrm>
                <a:off x="3648" y="3901"/>
                <a:ext cx="0" cy="1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33" name="Line 285"/>
              <p:cNvSpPr>
                <a:spLocks noChangeShapeType="1"/>
              </p:cNvSpPr>
              <p:nvPr/>
            </p:nvSpPr>
            <p:spPr bwMode="auto">
              <a:xfrm>
                <a:off x="2016" y="3984"/>
                <a:ext cx="0" cy="20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35" name="Line 287"/>
              <p:cNvSpPr>
                <a:spLocks noChangeShapeType="1"/>
              </p:cNvSpPr>
              <p:nvPr/>
            </p:nvSpPr>
            <p:spPr bwMode="auto">
              <a:xfrm>
                <a:off x="3024" y="3741"/>
                <a:ext cx="1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38" name="Line 290"/>
              <p:cNvSpPr>
                <a:spLocks noChangeShapeType="1"/>
              </p:cNvSpPr>
              <p:nvPr/>
            </p:nvSpPr>
            <p:spPr bwMode="auto">
              <a:xfrm>
                <a:off x="3024" y="3453"/>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39" name="Line 291"/>
              <p:cNvSpPr>
                <a:spLocks noChangeShapeType="1"/>
              </p:cNvSpPr>
              <p:nvPr/>
            </p:nvSpPr>
            <p:spPr bwMode="auto">
              <a:xfrm>
                <a:off x="2928" y="3789"/>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40" name="Line 292"/>
              <p:cNvSpPr>
                <a:spLocks noChangeShapeType="1"/>
              </p:cNvSpPr>
              <p:nvPr/>
            </p:nvSpPr>
            <p:spPr bwMode="auto">
              <a:xfrm>
                <a:off x="2928" y="3357"/>
                <a:ext cx="0"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41" name="Line 293"/>
              <p:cNvSpPr>
                <a:spLocks noChangeShapeType="1"/>
              </p:cNvSpPr>
              <p:nvPr/>
            </p:nvSpPr>
            <p:spPr bwMode="auto">
              <a:xfrm flipV="1">
                <a:off x="2448" y="3837"/>
                <a:ext cx="864"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42" name="Line 294"/>
              <p:cNvSpPr>
                <a:spLocks noChangeShapeType="1"/>
              </p:cNvSpPr>
              <p:nvPr/>
            </p:nvSpPr>
            <p:spPr bwMode="auto">
              <a:xfrm flipV="1">
                <a:off x="2352" y="3885"/>
                <a:ext cx="1008"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43" name="Line 295"/>
              <p:cNvSpPr>
                <a:spLocks noChangeShapeType="1"/>
              </p:cNvSpPr>
              <p:nvPr/>
            </p:nvSpPr>
            <p:spPr bwMode="auto">
              <a:xfrm>
                <a:off x="1872" y="3648"/>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44" name="Line 296"/>
              <p:cNvSpPr>
                <a:spLocks noChangeShapeType="1"/>
              </p:cNvSpPr>
              <p:nvPr/>
            </p:nvSpPr>
            <p:spPr bwMode="auto">
              <a:xfrm>
                <a:off x="1968" y="3600"/>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45" name="Line 297"/>
              <p:cNvSpPr>
                <a:spLocks noChangeShapeType="1"/>
              </p:cNvSpPr>
              <p:nvPr/>
            </p:nvSpPr>
            <p:spPr bwMode="auto">
              <a:xfrm>
                <a:off x="2352" y="3648"/>
                <a:ext cx="0"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1946" name="Line 298"/>
              <p:cNvSpPr>
                <a:spLocks noChangeShapeType="1"/>
              </p:cNvSpPr>
              <p:nvPr/>
            </p:nvSpPr>
            <p:spPr bwMode="auto">
              <a:xfrm>
                <a:off x="2448" y="3600"/>
                <a:ext cx="0"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 name="TextBox 1"/>
          <p:cNvSpPr txBox="1"/>
          <p:nvPr/>
        </p:nvSpPr>
        <p:spPr>
          <a:xfrm>
            <a:off x="89979" y="5463698"/>
            <a:ext cx="2940051" cy="1477328"/>
          </a:xfrm>
          <a:prstGeom prst="rect">
            <a:avLst/>
          </a:prstGeom>
          <a:noFill/>
        </p:spPr>
        <p:txBody>
          <a:bodyPr wrap="square" rtlCol="0">
            <a:spAutoFit/>
          </a:bodyPr>
          <a:lstStyle/>
          <a:p>
            <a:r>
              <a:rPr lang="en-US" dirty="0" smtClean="0"/>
              <a:t>Sets = 2^8 = 256</a:t>
            </a:r>
          </a:p>
          <a:p>
            <a:r>
              <a:rPr lang="en-US" dirty="0" smtClean="0"/>
              <a:t>Ways = 4</a:t>
            </a:r>
          </a:p>
          <a:p>
            <a:r>
              <a:rPr lang="en-US" dirty="0" smtClean="0"/>
              <a:t>Blocks/Set = 4 </a:t>
            </a:r>
          </a:p>
          <a:p>
            <a:r>
              <a:rPr lang="en-US" dirty="0" smtClean="0"/>
              <a:t>Words/Block = 1</a:t>
            </a:r>
          </a:p>
          <a:p>
            <a:r>
              <a:rPr lang="en-US" dirty="0" smtClean="0"/>
              <a:t>Bytes/Word = 4</a:t>
            </a:r>
            <a:endParaRPr lang="en-US" dirty="0"/>
          </a:p>
        </p:txBody>
      </p:sp>
    </p:spTree>
    <p:extLst>
      <p:ext uri="{BB962C8B-B14F-4D97-AF65-F5344CB8AC3E}">
        <p14:creationId xmlns:p14="http://schemas.microsoft.com/office/powerpoint/2010/main" val="7258733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918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919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919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94722" name="Rectangle 2"/>
          <p:cNvSpPr>
            <a:spLocks noGrp="1" noChangeArrowheads="1"/>
          </p:cNvSpPr>
          <p:nvPr>
            <p:ph type="title"/>
          </p:nvPr>
        </p:nvSpPr>
        <p:spPr/>
        <p:txBody>
          <a:bodyPr/>
          <a:lstStyle/>
          <a:p>
            <a:r>
              <a:rPr lang="en-US"/>
              <a:t>Range of Set Associative Caches</a:t>
            </a:r>
          </a:p>
        </p:txBody>
      </p:sp>
      <p:sp>
        <p:nvSpPr>
          <p:cNvPr id="1694723" name="Rectangle 3"/>
          <p:cNvSpPr>
            <a:spLocks noGrp="1" noChangeArrowheads="1"/>
          </p:cNvSpPr>
          <p:nvPr>
            <p:ph type="body" idx="1"/>
          </p:nvPr>
        </p:nvSpPr>
        <p:spPr>
          <a:xfrm>
            <a:off x="457200" y="714375"/>
            <a:ext cx="8153400" cy="1876425"/>
          </a:xfrm>
        </p:spPr>
        <p:txBody>
          <a:bodyPr>
            <a:normAutofit/>
          </a:bodyPr>
          <a:lstStyle/>
          <a:p>
            <a:r>
              <a:rPr lang="en-US"/>
              <a:t>For a fixed size cache, each increase by a factor of two in associativity doubles the number of blocks per set (i.e., the number or ways) and halves the number of sets – decreases the size of the index by 1 bit and increases the size of the tag by 1 bit</a:t>
            </a:r>
          </a:p>
        </p:txBody>
      </p:sp>
      <p:sp>
        <p:nvSpPr>
          <p:cNvPr id="1694724" name="Rectangle 4"/>
          <p:cNvSpPr>
            <a:spLocks noChangeArrowheads="1"/>
          </p:cNvSpPr>
          <p:nvPr/>
        </p:nvSpPr>
        <p:spPr bwMode="auto">
          <a:xfrm>
            <a:off x="838200" y="3810000"/>
            <a:ext cx="6778625" cy="3048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94725" name="Line 5"/>
          <p:cNvSpPr>
            <a:spLocks noChangeShapeType="1"/>
          </p:cNvSpPr>
          <p:nvPr/>
        </p:nvSpPr>
        <p:spPr bwMode="auto">
          <a:xfrm>
            <a:off x="5940425" y="3810000"/>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4726" name="Line 6"/>
          <p:cNvSpPr>
            <a:spLocks noChangeShapeType="1"/>
          </p:cNvSpPr>
          <p:nvPr/>
        </p:nvSpPr>
        <p:spPr bwMode="auto">
          <a:xfrm>
            <a:off x="3883025" y="3810000"/>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4727" name="Line 7"/>
          <p:cNvSpPr>
            <a:spLocks noChangeShapeType="1"/>
          </p:cNvSpPr>
          <p:nvPr/>
        </p:nvSpPr>
        <p:spPr bwMode="auto">
          <a:xfrm>
            <a:off x="7159625" y="3810000"/>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4728" name="Text Box 8"/>
          <p:cNvSpPr txBox="1">
            <a:spLocks noChangeArrowheads="1"/>
          </p:cNvSpPr>
          <p:nvPr/>
        </p:nvSpPr>
        <p:spPr bwMode="auto">
          <a:xfrm>
            <a:off x="5940425" y="3810000"/>
            <a:ext cx="12350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Block offset</a:t>
            </a:r>
          </a:p>
        </p:txBody>
      </p:sp>
      <p:sp>
        <p:nvSpPr>
          <p:cNvPr id="1694729" name="Text Box 9"/>
          <p:cNvSpPr txBox="1">
            <a:spLocks noChangeArrowheads="1"/>
          </p:cNvSpPr>
          <p:nvPr/>
        </p:nvSpPr>
        <p:spPr bwMode="auto">
          <a:xfrm>
            <a:off x="7083425" y="3810000"/>
            <a:ext cx="1146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Byte offset</a:t>
            </a:r>
          </a:p>
        </p:txBody>
      </p:sp>
      <p:sp>
        <p:nvSpPr>
          <p:cNvPr id="1694730" name="Text Box 10"/>
          <p:cNvSpPr txBox="1">
            <a:spLocks noChangeArrowheads="1"/>
          </p:cNvSpPr>
          <p:nvPr/>
        </p:nvSpPr>
        <p:spPr bwMode="auto">
          <a:xfrm>
            <a:off x="4573588" y="3810000"/>
            <a:ext cx="6810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Index</a:t>
            </a:r>
          </a:p>
        </p:txBody>
      </p:sp>
      <p:sp>
        <p:nvSpPr>
          <p:cNvPr id="1694731" name="Text Box 11"/>
          <p:cNvSpPr txBox="1">
            <a:spLocks noChangeArrowheads="1"/>
          </p:cNvSpPr>
          <p:nvPr/>
        </p:nvSpPr>
        <p:spPr bwMode="auto">
          <a:xfrm>
            <a:off x="2057400" y="3810000"/>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Tag</a:t>
            </a:r>
          </a:p>
        </p:txBody>
      </p:sp>
    </p:spTree>
    <p:extLst>
      <p:ext uri="{BB962C8B-B14F-4D97-AF65-F5344CB8AC3E}">
        <p14:creationId xmlns:p14="http://schemas.microsoft.com/office/powerpoint/2010/main" val="15501849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6770" name="Rectangle 2"/>
          <p:cNvSpPr>
            <a:spLocks noGrp="1" noChangeArrowheads="1"/>
          </p:cNvSpPr>
          <p:nvPr>
            <p:ph type="title"/>
          </p:nvPr>
        </p:nvSpPr>
        <p:spPr/>
        <p:txBody>
          <a:bodyPr/>
          <a:lstStyle/>
          <a:p>
            <a:r>
              <a:rPr lang="en-US"/>
              <a:t>Range of Set Associative Caches</a:t>
            </a:r>
          </a:p>
        </p:txBody>
      </p:sp>
      <p:sp>
        <p:nvSpPr>
          <p:cNvPr id="1696771" name="Rectangle 3"/>
          <p:cNvSpPr>
            <a:spLocks noGrp="1" noChangeArrowheads="1"/>
          </p:cNvSpPr>
          <p:nvPr>
            <p:ph type="body" idx="1"/>
          </p:nvPr>
        </p:nvSpPr>
        <p:spPr>
          <a:xfrm>
            <a:off x="457200" y="714375"/>
            <a:ext cx="8153400" cy="1876425"/>
          </a:xfrm>
        </p:spPr>
        <p:txBody>
          <a:bodyPr>
            <a:normAutofit/>
          </a:bodyPr>
          <a:lstStyle/>
          <a:p>
            <a:r>
              <a:rPr lang="en-US"/>
              <a:t>For a fixed size cache, each increase by a factor of two in associativity doubles the number of blocks per set (i.e., the number or ways) and halves the number of sets – decreases the size of the index by 1 bit and increases the size of the tag by 1 bit</a:t>
            </a:r>
          </a:p>
        </p:txBody>
      </p:sp>
      <p:sp>
        <p:nvSpPr>
          <p:cNvPr id="1696772" name="Rectangle 4"/>
          <p:cNvSpPr>
            <a:spLocks noChangeArrowheads="1"/>
          </p:cNvSpPr>
          <p:nvPr/>
        </p:nvSpPr>
        <p:spPr bwMode="auto">
          <a:xfrm>
            <a:off x="762000" y="3810000"/>
            <a:ext cx="6831013" cy="3048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96773" name="Line 5"/>
          <p:cNvSpPr>
            <a:spLocks noChangeShapeType="1"/>
          </p:cNvSpPr>
          <p:nvPr/>
        </p:nvSpPr>
        <p:spPr bwMode="auto">
          <a:xfrm>
            <a:off x="5916613" y="3810000"/>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774" name="Line 6"/>
          <p:cNvSpPr>
            <a:spLocks noChangeShapeType="1"/>
          </p:cNvSpPr>
          <p:nvPr/>
        </p:nvSpPr>
        <p:spPr bwMode="auto">
          <a:xfrm>
            <a:off x="3859213" y="3810000"/>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775" name="Line 7"/>
          <p:cNvSpPr>
            <a:spLocks noChangeShapeType="1"/>
          </p:cNvSpPr>
          <p:nvPr/>
        </p:nvSpPr>
        <p:spPr bwMode="auto">
          <a:xfrm>
            <a:off x="7135813" y="3810000"/>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776" name="Text Box 8"/>
          <p:cNvSpPr txBox="1">
            <a:spLocks noChangeArrowheads="1"/>
          </p:cNvSpPr>
          <p:nvPr/>
        </p:nvSpPr>
        <p:spPr bwMode="auto">
          <a:xfrm>
            <a:off x="5916613" y="3810000"/>
            <a:ext cx="12350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Block offset</a:t>
            </a:r>
          </a:p>
        </p:txBody>
      </p:sp>
      <p:sp>
        <p:nvSpPr>
          <p:cNvPr id="1696777" name="Text Box 9"/>
          <p:cNvSpPr txBox="1">
            <a:spLocks noChangeArrowheads="1"/>
          </p:cNvSpPr>
          <p:nvPr/>
        </p:nvSpPr>
        <p:spPr bwMode="auto">
          <a:xfrm>
            <a:off x="7059613" y="3810000"/>
            <a:ext cx="1146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Byte offset</a:t>
            </a:r>
          </a:p>
        </p:txBody>
      </p:sp>
      <p:sp>
        <p:nvSpPr>
          <p:cNvPr id="1696778" name="Text Box 10"/>
          <p:cNvSpPr txBox="1">
            <a:spLocks noChangeArrowheads="1"/>
          </p:cNvSpPr>
          <p:nvPr/>
        </p:nvSpPr>
        <p:spPr bwMode="auto">
          <a:xfrm>
            <a:off x="4549775" y="3810000"/>
            <a:ext cx="6810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Index</a:t>
            </a:r>
          </a:p>
        </p:txBody>
      </p:sp>
      <p:sp>
        <p:nvSpPr>
          <p:cNvPr id="1696779" name="Text Box 11"/>
          <p:cNvSpPr txBox="1">
            <a:spLocks noChangeArrowheads="1"/>
          </p:cNvSpPr>
          <p:nvPr/>
        </p:nvSpPr>
        <p:spPr bwMode="auto">
          <a:xfrm>
            <a:off x="2182813" y="3810000"/>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Tag</a:t>
            </a:r>
          </a:p>
        </p:txBody>
      </p:sp>
      <p:grpSp>
        <p:nvGrpSpPr>
          <p:cNvPr id="1696780" name="Group 12"/>
          <p:cNvGrpSpPr>
            <a:grpSpLocks/>
          </p:cNvGrpSpPr>
          <p:nvPr/>
        </p:nvGrpSpPr>
        <p:grpSpPr bwMode="auto">
          <a:xfrm>
            <a:off x="811213" y="4419600"/>
            <a:ext cx="3048000" cy="457200"/>
            <a:chOff x="624" y="2496"/>
            <a:chExt cx="1920" cy="288"/>
          </a:xfrm>
        </p:grpSpPr>
        <p:sp>
          <p:nvSpPr>
            <p:cNvPr id="1696781" name="Line 13"/>
            <p:cNvSpPr>
              <a:spLocks noChangeShapeType="1"/>
            </p:cNvSpPr>
            <p:nvPr/>
          </p:nvSpPr>
          <p:spPr bwMode="auto">
            <a:xfrm>
              <a:off x="2544" y="2544"/>
              <a:ext cx="0"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782" name="Line 14"/>
            <p:cNvSpPr>
              <a:spLocks noChangeShapeType="1"/>
            </p:cNvSpPr>
            <p:nvPr/>
          </p:nvSpPr>
          <p:spPr bwMode="auto">
            <a:xfrm flipH="1">
              <a:off x="2304" y="2640"/>
              <a:ext cx="24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783" name="Text Box 15"/>
            <p:cNvSpPr txBox="1">
              <a:spLocks noChangeArrowheads="1"/>
            </p:cNvSpPr>
            <p:nvPr/>
          </p:nvSpPr>
          <p:spPr bwMode="auto">
            <a:xfrm>
              <a:off x="624" y="2496"/>
              <a:ext cx="16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Decreasing associativity</a:t>
              </a:r>
            </a:p>
          </p:txBody>
        </p:sp>
      </p:grpSp>
      <p:grpSp>
        <p:nvGrpSpPr>
          <p:cNvPr id="1696784" name="Group 16"/>
          <p:cNvGrpSpPr>
            <a:grpSpLocks/>
          </p:cNvGrpSpPr>
          <p:nvPr/>
        </p:nvGrpSpPr>
        <p:grpSpPr bwMode="auto">
          <a:xfrm>
            <a:off x="3859213" y="4829175"/>
            <a:ext cx="4673600" cy="1190625"/>
            <a:chOff x="2544" y="2832"/>
            <a:chExt cx="2944" cy="750"/>
          </a:xfrm>
        </p:grpSpPr>
        <p:sp>
          <p:nvSpPr>
            <p:cNvPr id="1696785" name="Line 17"/>
            <p:cNvSpPr>
              <a:spLocks noChangeShapeType="1"/>
            </p:cNvSpPr>
            <p:nvPr/>
          </p:nvSpPr>
          <p:spPr bwMode="auto">
            <a:xfrm flipV="1">
              <a:off x="2544" y="2976"/>
              <a:ext cx="129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786" name="Line 18"/>
            <p:cNvSpPr>
              <a:spLocks noChangeShapeType="1"/>
            </p:cNvSpPr>
            <p:nvPr/>
          </p:nvSpPr>
          <p:spPr bwMode="auto">
            <a:xfrm>
              <a:off x="3840" y="2832"/>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787" name="Text Box 19"/>
            <p:cNvSpPr txBox="1">
              <a:spLocks noChangeArrowheads="1"/>
            </p:cNvSpPr>
            <p:nvPr/>
          </p:nvSpPr>
          <p:spPr bwMode="auto">
            <a:xfrm>
              <a:off x="3828" y="2832"/>
              <a:ext cx="1660" cy="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Fully associative</a:t>
              </a:r>
            </a:p>
            <a:p>
              <a:r>
                <a:rPr lang="en-US">
                  <a:solidFill>
                    <a:schemeClr val="tx1"/>
                  </a:solidFill>
                </a:rPr>
                <a:t>(only </a:t>
              </a:r>
              <a:r>
                <a:rPr lang="en-US"/>
                <a:t>one set</a:t>
              </a:r>
              <a:r>
                <a:rPr lang="en-US">
                  <a:solidFill>
                    <a:schemeClr val="tx1"/>
                  </a:solidFill>
                </a:rPr>
                <a:t>)</a:t>
              </a:r>
            </a:p>
            <a:p>
              <a:r>
                <a:rPr lang="en-US">
                  <a:solidFill>
                    <a:schemeClr val="tx1"/>
                  </a:solidFill>
                </a:rPr>
                <a:t>Tag is all the bits except</a:t>
              </a:r>
            </a:p>
            <a:p>
              <a:r>
                <a:rPr lang="en-US">
                  <a:solidFill>
                    <a:schemeClr val="tx1"/>
                  </a:solidFill>
                </a:rPr>
                <a:t>block and byte offset</a:t>
              </a:r>
            </a:p>
          </p:txBody>
        </p:sp>
      </p:grpSp>
      <p:grpSp>
        <p:nvGrpSpPr>
          <p:cNvPr id="1696788" name="Group 20"/>
          <p:cNvGrpSpPr>
            <a:grpSpLocks/>
          </p:cNvGrpSpPr>
          <p:nvPr/>
        </p:nvGrpSpPr>
        <p:grpSpPr bwMode="auto">
          <a:xfrm>
            <a:off x="1420813" y="5027613"/>
            <a:ext cx="2438400" cy="992187"/>
            <a:chOff x="960" y="3168"/>
            <a:chExt cx="1536" cy="625"/>
          </a:xfrm>
        </p:grpSpPr>
        <p:sp>
          <p:nvSpPr>
            <p:cNvPr id="1696789" name="Line 21"/>
            <p:cNvSpPr>
              <a:spLocks noChangeShapeType="1"/>
            </p:cNvSpPr>
            <p:nvPr/>
          </p:nvSpPr>
          <p:spPr bwMode="auto">
            <a:xfrm flipH="1">
              <a:off x="2064" y="3312"/>
              <a:ext cx="43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790" name="Line 22"/>
            <p:cNvSpPr>
              <a:spLocks noChangeShapeType="1"/>
            </p:cNvSpPr>
            <p:nvPr/>
          </p:nvSpPr>
          <p:spPr bwMode="auto">
            <a:xfrm>
              <a:off x="2064" y="3168"/>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791" name="Text Box 23"/>
            <p:cNvSpPr txBox="1">
              <a:spLocks noChangeArrowheads="1"/>
            </p:cNvSpPr>
            <p:nvPr/>
          </p:nvSpPr>
          <p:spPr bwMode="auto">
            <a:xfrm>
              <a:off x="960" y="3216"/>
              <a:ext cx="1052"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Direct mapped</a:t>
              </a:r>
            </a:p>
            <a:p>
              <a:r>
                <a:rPr lang="en-US">
                  <a:solidFill>
                    <a:schemeClr val="tx1"/>
                  </a:solidFill>
                </a:rPr>
                <a:t>(only </a:t>
              </a:r>
              <a:r>
                <a:rPr lang="en-US"/>
                <a:t>one way</a:t>
              </a:r>
              <a:r>
                <a:rPr lang="en-US">
                  <a:solidFill>
                    <a:schemeClr val="tx1"/>
                  </a:solidFill>
                </a:rPr>
                <a:t>)</a:t>
              </a:r>
            </a:p>
            <a:p>
              <a:r>
                <a:rPr lang="en-US">
                  <a:solidFill>
                    <a:schemeClr val="tx1"/>
                  </a:solidFill>
                </a:rPr>
                <a:t>Smaller tags</a:t>
              </a:r>
            </a:p>
          </p:txBody>
        </p:sp>
      </p:grpSp>
      <p:grpSp>
        <p:nvGrpSpPr>
          <p:cNvPr id="1696792" name="Group 24"/>
          <p:cNvGrpSpPr>
            <a:grpSpLocks/>
          </p:cNvGrpSpPr>
          <p:nvPr/>
        </p:nvGrpSpPr>
        <p:grpSpPr bwMode="auto">
          <a:xfrm>
            <a:off x="3859213" y="4191000"/>
            <a:ext cx="2914650" cy="457200"/>
            <a:chOff x="2544" y="2256"/>
            <a:chExt cx="1836" cy="288"/>
          </a:xfrm>
        </p:grpSpPr>
        <p:sp>
          <p:nvSpPr>
            <p:cNvPr id="1696793" name="Line 25"/>
            <p:cNvSpPr>
              <a:spLocks noChangeShapeType="1"/>
            </p:cNvSpPr>
            <p:nvPr/>
          </p:nvSpPr>
          <p:spPr bwMode="auto">
            <a:xfrm>
              <a:off x="2544" y="2400"/>
              <a:ext cx="24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794" name="Text Box 26"/>
            <p:cNvSpPr txBox="1">
              <a:spLocks noChangeArrowheads="1"/>
            </p:cNvSpPr>
            <p:nvPr/>
          </p:nvSpPr>
          <p:spPr bwMode="auto">
            <a:xfrm>
              <a:off x="2784" y="2304"/>
              <a:ext cx="15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tx1"/>
                  </a:solidFill>
                </a:rPr>
                <a:t>Increasing associativity</a:t>
              </a:r>
            </a:p>
          </p:txBody>
        </p:sp>
        <p:sp>
          <p:nvSpPr>
            <p:cNvPr id="1696795" name="Line 27"/>
            <p:cNvSpPr>
              <a:spLocks noChangeShapeType="1"/>
            </p:cNvSpPr>
            <p:nvPr/>
          </p:nvSpPr>
          <p:spPr bwMode="auto">
            <a:xfrm>
              <a:off x="2544" y="2256"/>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696805" name="Group 37"/>
          <p:cNvGrpSpPr>
            <a:grpSpLocks/>
          </p:cNvGrpSpPr>
          <p:nvPr/>
        </p:nvGrpSpPr>
        <p:grpSpPr bwMode="auto">
          <a:xfrm>
            <a:off x="4164013" y="3124200"/>
            <a:ext cx="1517650" cy="793750"/>
            <a:chOff x="2448" y="1968"/>
            <a:chExt cx="956" cy="500"/>
          </a:xfrm>
        </p:grpSpPr>
        <p:sp>
          <p:nvSpPr>
            <p:cNvPr id="1696797" name="Line 29"/>
            <p:cNvSpPr>
              <a:spLocks noChangeShapeType="1"/>
            </p:cNvSpPr>
            <p:nvPr/>
          </p:nvSpPr>
          <p:spPr bwMode="auto">
            <a:xfrm flipV="1">
              <a:off x="2880" y="2180"/>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798" name="Text Box 30"/>
            <p:cNvSpPr txBox="1">
              <a:spLocks noChangeArrowheads="1"/>
            </p:cNvSpPr>
            <p:nvPr/>
          </p:nvSpPr>
          <p:spPr bwMode="auto">
            <a:xfrm>
              <a:off x="2448" y="1968"/>
              <a:ext cx="95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Selects the set</a:t>
              </a:r>
            </a:p>
          </p:txBody>
        </p:sp>
      </p:grpSp>
      <p:grpSp>
        <p:nvGrpSpPr>
          <p:cNvPr id="1696806" name="Group 38"/>
          <p:cNvGrpSpPr>
            <a:grpSpLocks/>
          </p:cNvGrpSpPr>
          <p:nvPr/>
        </p:nvGrpSpPr>
        <p:grpSpPr bwMode="auto">
          <a:xfrm>
            <a:off x="1497013" y="3124200"/>
            <a:ext cx="2139950" cy="793750"/>
            <a:chOff x="960" y="1968"/>
            <a:chExt cx="1348" cy="500"/>
          </a:xfrm>
        </p:grpSpPr>
        <p:sp>
          <p:nvSpPr>
            <p:cNvPr id="1696799" name="Text Box 31"/>
            <p:cNvSpPr txBox="1">
              <a:spLocks noChangeArrowheads="1"/>
            </p:cNvSpPr>
            <p:nvPr/>
          </p:nvSpPr>
          <p:spPr bwMode="auto">
            <a:xfrm>
              <a:off x="960" y="1968"/>
              <a:ext cx="134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Used for tag compare</a:t>
              </a:r>
            </a:p>
          </p:txBody>
        </p:sp>
        <p:sp>
          <p:nvSpPr>
            <p:cNvPr id="1696800" name="Line 32"/>
            <p:cNvSpPr>
              <a:spLocks noChangeShapeType="1"/>
            </p:cNvSpPr>
            <p:nvPr/>
          </p:nvSpPr>
          <p:spPr bwMode="auto">
            <a:xfrm flipV="1">
              <a:off x="1584" y="2180"/>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696804" name="Group 36"/>
          <p:cNvGrpSpPr>
            <a:grpSpLocks/>
          </p:cNvGrpSpPr>
          <p:nvPr/>
        </p:nvGrpSpPr>
        <p:grpSpPr bwMode="auto">
          <a:xfrm>
            <a:off x="5840413" y="3124200"/>
            <a:ext cx="2770187" cy="793750"/>
            <a:chOff x="3504" y="1968"/>
            <a:chExt cx="1745" cy="500"/>
          </a:xfrm>
        </p:grpSpPr>
        <p:sp>
          <p:nvSpPr>
            <p:cNvPr id="1696801" name="Line 33"/>
            <p:cNvSpPr>
              <a:spLocks noChangeShapeType="1"/>
            </p:cNvSpPr>
            <p:nvPr/>
          </p:nvSpPr>
          <p:spPr bwMode="auto">
            <a:xfrm flipV="1">
              <a:off x="3936" y="2180"/>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6802" name="Text Box 34"/>
            <p:cNvSpPr txBox="1">
              <a:spLocks noChangeArrowheads="1"/>
            </p:cNvSpPr>
            <p:nvPr/>
          </p:nvSpPr>
          <p:spPr bwMode="auto">
            <a:xfrm>
              <a:off x="3504" y="1968"/>
              <a:ext cx="17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a:solidFill>
                    <a:schemeClr val="tx1"/>
                  </a:solidFill>
                </a:rPr>
                <a:t>Selects the word in the block</a:t>
              </a:r>
            </a:p>
          </p:txBody>
        </p:sp>
      </p:grpSp>
    </p:spTree>
    <p:extLst>
      <p:ext uri="{BB962C8B-B14F-4D97-AF65-F5344CB8AC3E}">
        <p14:creationId xmlns:p14="http://schemas.microsoft.com/office/powerpoint/2010/main" val="1297334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696804"/>
                                        </p:tgtEl>
                                        <p:attrNameLst>
                                          <p:attrName>style.visibility</p:attrName>
                                        </p:attrNameLst>
                                      </p:cBhvr>
                                      <p:to>
                                        <p:strVal val="visible"/>
                                      </p:to>
                                    </p:set>
                                    <p:animEffect transition="in" filter="wipe(down)">
                                      <p:cBhvr>
                                        <p:cTn id="7" dur="500"/>
                                        <p:tgtEl>
                                          <p:spTgt spid="16968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696805"/>
                                        </p:tgtEl>
                                        <p:attrNameLst>
                                          <p:attrName>style.visibility</p:attrName>
                                        </p:attrNameLst>
                                      </p:cBhvr>
                                      <p:to>
                                        <p:strVal val="visible"/>
                                      </p:to>
                                    </p:set>
                                    <p:animEffect transition="in" filter="wipe(down)">
                                      <p:cBhvr>
                                        <p:cTn id="12" dur="500"/>
                                        <p:tgtEl>
                                          <p:spTgt spid="16968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696806"/>
                                        </p:tgtEl>
                                        <p:attrNameLst>
                                          <p:attrName>style.visibility</p:attrName>
                                        </p:attrNameLst>
                                      </p:cBhvr>
                                      <p:to>
                                        <p:strVal val="visible"/>
                                      </p:to>
                                    </p:set>
                                    <p:animEffect transition="in" filter="wipe(down)">
                                      <p:cBhvr>
                                        <p:cTn id="17" dur="500"/>
                                        <p:tgtEl>
                                          <p:spTgt spid="16968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696792"/>
                                        </p:tgtEl>
                                        <p:attrNameLst>
                                          <p:attrName>style.visibility</p:attrName>
                                        </p:attrNameLst>
                                      </p:cBhvr>
                                      <p:to>
                                        <p:strVal val="visible"/>
                                      </p:to>
                                    </p:set>
                                    <p:animEffect transition="in" filter="wipe(left)">
                                      <p:cBhvr>
                                        <p:cTn id="22" dur="500"/>
                                        <p:tgtEl>
                                          <p:spTgt spid="169679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696784"/>
                                        </p:tgtEl>
                                        <p:attrNameLst>
                                          <p:attrName>style.visibility</p:attrName>
                                        </p:attrNameLst>
                                      </p:cBhvr>
                                      <p:to>
                                        <p:strVal val="visible"/>
                                      </p:to>
                                    </p:set>
                                    <p:animEffect transition="in" filter="wipe(left)">
                                      <p:cBhvr>
                                        <p:cTn id="27" dur="500"/>
                                        <p:tgtEl>
                                          <p:spTgt spid="169678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1696780"/>
                                        </p:tgtEl>
                                        <p:attrNameLst>
                                          <p:attrName>style.visibility</p:attrName>
                                        </p:attrNameLst>
                                      </p:cBhvr>
                                      <p:to>
                                        <p:strVal val="visible"/>
                                      </p:to>
                                    </p:set>
                                    <p:animEffect transition="in" filter="wipe(right)">
                                      <p:cBhvr>
                                        <p:cTn id="32" dur="500"/>
                                        <p:tgtEl>
                                          <p:spTgt spid="16967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1696788"/>
                                        </p:tgtEl>
                                        <p:attrNameLst>
                                          <p:attrName>style.visibility</p:attrName>
                                        </p:attrNameLst>
                                      </p:cBhvr>
                                      <p:to>
                                        <p:strVal val="visible"/>
                                      </p:to>
                                    </p:set>
                                    <p:animEffect transition="in" filter="wipe(right)">
                                      <p:cBhvr>
                                        <p:cTn id="37" dur="500"/>
                                        <p:tgtEl>
                                          <p:spTgt spid="1696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5746" name="Rectangle 2"/>
          <p:cNvSpPr>
            <a:spLocks noGrp="1" noChangeArrowheads="1"/>
          </p:cNvSpPr>
          <p:nvPr>
            <p:ph type="title"/>
          </p:nvPr>
        </p:nvSpPr>
        <p:spPr/>
        <p:txBody>
          <a:bodyPr/>
          <a:lstStyle/>
          <a:p>
            <a:r>
              <a:rPr lang="en-US"/>
              <a:t>Costs of Set Associative Caches</a:t>
            </a:r>
          </a:p>
        </p:txBody>
      </p:sp>
      <p:sp>
        <p:nvSpPr>
          <p:cNvPr id="1695747" name="Rectangle 3"/>
          <p:cNvSpPr>
            <a:spLocks noGrp="1" noChangeArrowheads="1"/>
          </p:cNvSpPr>
          <p:nvPr>
            <p:ph type="body" idx="1"/>
          </p:nvPr>
        </p:nvSpPr>
        <p:spPr>
          <a:xfrm>
            <a:off x="381000" y="762000"/>
            <a:ext cx="8458200" cy="5653088"/>
          </a:xfrm>
        </p:spPr>
        <p:txBody>
          <a:bodyPr/>
          <a:lstStyle/>
          <a:p>
            <a:r>
              <a:rPr lang="en-US"/>
              <a:t>When a miss occurs, which way’s block do we pick for replacement?</a:t>
            </a:r>
          </a:p>
          <a:p>
            <a:pPr lvl="1"/>
            <a:r>
              <a:rPr lang="en-US"/>
              <a:t>Least Recently Used (LRU): the block replaced is the one that    has been unused for the longest time</a:t>
            </a:r>
          </a:p>
          <a:p>
            <a:pPr lvl="2"/>
            <a:r>
              <a:rPr lang="en-US"/>
              <a:t>Must have hardware to keep track of when each way’s block was   used relative to the other blocks in the set</a:t>
            </a:r>
          </a:p>
          <a:p>
            <a:pPr lvl="2"/>
            <a:r>
              <a:rPr lang="en-US"/>
              <a:t>For 2-way set associative, takes </a:t>
            </a:r>
            <a:r>
              <a:rPr lang="en-US">
                <a:solidFill>
                  <a:schemeClr val="accent1"/>
                </a:solidFill>
              </a:rPr>
              <a:t>one bit per set</a:t>
            </a:r>
            <a:r>
              <a:rPr lang="en-US"/>
              <a:t> </a:t>
            </a:r>
            <a:r>
              <a:rPr lang="en-US">
                <a:cs typeface="Arial" charset="0"/>
              </a:rPr>
              <a:t>→</a:t>
            </a:r>
            <a:r>
              <a:rPr lang="en-US"/>
              <a:t> set the bit when a block is referenced (and reset the other way’s bit)</a:t>
            </a:r>
          </a:p>
          <a:p>
            <a:r>
              <a:rPr lang="en-US"/>
              <a:t>N-way set associative cache costs</a:t>
            </a:r>
          </a:p>
          <a:p>
            <a:pPr lvl="1"/>
            <a:r>
              <a:rPr lang="en-US"/>
              <a:t>N comparators (delay and area)</a:t>
            </a:r>
          </a:p>
          <a:p>
            <a:pPr lvl="1"/>
            <a:r>
              <a:rPr lang="en-US"/>
              <a:t>MUX delay (set selection) before data is available</a:t>
            </a:r>
          </a:p>
          <a:p>
            <a:pPr lvl="1"/>
            <a:r>
              <a:rPr lang="en-US"/>
              <a:t>Data available </a:t>
            </a:r>
            <a:r>
              <a:rPr lang="en-US">
                <a:solidFill>
                  <a:schemeClr val="accent1"/>
                </a:solidFill>
              </a:rPr>
              <a:t>after</a:t>
            </a:r>
            <a:r>
              <a:rPr lang="en-US"/>
              <a:t> set selection (and Hit/Miss decision).   In a direct mapped cache, the cache block is available </a:t>
            </a:r>
            <a:r>
              <a:rPr lang="en-US">
                <a:solidFill>
                  <a:schemeClr val="accent1"/>
                </a:solidFill>
              </a:rPr>
              <a:t>before</a:t>
            </a:r>
            <a:r>
              <a:rPr lang="en-US"/>
              <a:t> the Hit/Miss decision</a:t>
            </a:r>
          </a:p>
          <a:p>
            <a:pPr lvl="2"/>
            <a:r>
              <a:rPr lang="en-US"/>
              <a:t>So its not possible to just assume a hit and continue and recover later if it was a miss</a:t>
            </a:r>
          </a:p>
        </p:txBody>
      </p:sp>
    </p:spTree>
    <p:extLst>
      <p:ext uri="{BB962C8B-B14F-4D97-AF65-F5344CB8AC3E}">
        <p14:creationId xmlns:p14="http://schemas.microsoft.com/office/powerpoint/2010/main" val="185867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957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957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957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9574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957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9574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9574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9574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957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574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2914" name="Rectangle 2"/>
          <p:cNvSpPr>
            <a:spLocks noGrp="1" noChangeArrowheads="1"/>
          </p:cNvSpPr>
          <p:nvPr>
            <p:ph type="title"/>
          </p:nvPr>
        </p:nvSpPr>
        <p:spPr/>
        <p:txBody>
          <a:bodyPr/>
          <a:lstStyle/>
          <a:p>
            <a:r>
              <a:rPr lang="en-US"/>
              <a:t>Benefits of Set Associative Caches</a:t>
            </a:r>
          </a:p>
        </p:txBody>
      </p:sp>
      <p:sp>
        <p:nvSpPr>
          <p:cNvPr id="1702915" name="Rectangle 3"/>
          <p:cNvSpPr>
            <a:spLocks noGrp="1" noChangeArrowheads="1"/>
          </p:cNvSpPr>
          <p:nvPr>
            <p:ph type="body" sz="half" idx="1"/>
          </p:nvPr>
        </p:nvSpPr>
        <p:spPr>
          <a:xfrm>
            <a:off x="533400" y="762000"/>
            <a:ext cx="8153400" cy="781050"/>
          </a:xfrm>
        </p:spPr>
        <p:txBody>
          <a:bodyPr>
            <a:normAutofit/>
          </a:bodyPr>
          <a:lstStyle/>
          <a:p>
            <a:r>
              <a:rPr lang="en-US"/>
              <a:t>The choice of direct mapped or set associative depends on the cost of a miss versus the cost of implementation</a:t>
            </a:r>
          </a:p>
        </p:txBody>
      </p:sp>
      <p:graphicFrame>
        <p:nvGraphicFramePr>
          <p:cNvPr id="1702941" name="Object 29"/>
          <p:cNvGraphicFramePr>
            <a:graphicFrameLocks noGrp="1" noChangeAspect="1"/>
          </p:cNvGraphicFramePr>
          <p:nvPr>
            <p:ph sz="half" idx="2"/>
          </p:nvPr>
        </p:nvGraphicFramePr>
        <p:xfrm>
          <a:off x="1600200" y="1524000"/>
          <a:ext cx="5867400" cy="4310063"/>
        </p:xfrm>
        <a:graphic>
          <a:graphicData uri="http://schemas.openxmlformats.org/presentationml/2006/ole">
            <mc:AlternateContent xmlns:mc="http://schemas.openxmlformats.org/markup-compatibility/2006">
              <mc:Choice xmlns:v="urn:schemas-microsoft-com:vml" Requires="v">
                <p:oleObj spid="_x0000_s3137" name="Chart" r:id="rId4" imgW="6715173" imgH="4933860" progId="MSGraph.Chart.8">
                  <p:embed followColorScheme="full"/>
                </p:oleObj>
              </mc:Choice>
              <mc:Fallback>
                <p:oleObj name="Chart" r:id="rId4" imgW="6715173" imgH="4933860" progId="MSGraph.Chart.8">
                  <p:embed followColorScheme="full"/>
                  <p:pic>
                    <p:nvPicPr>
                      <p:cNvPr id="0" name=""/>
                      <p:cNvPicPr>
                        <a:picLocks noChangeAspect="1" noChangeArrowheads="1"/>
                      </p:cNvPicPr>
                      <p:nvPr/>
                    </p:nvPicPr>
                    <p:blipFill>
                      <a:blip r:embed="rId5"/>
                      <a:srcRect/>
                      <a:stretch>
                        <a:fillRect/>
                      </a:stretch>
                    </p:blipFill>
                    <p:spPr bwMode="auto">
                      <a:xfrm>
                        <a:off x="1600200" y="1524000"/>
                        <a:ext cx="5867400" cy="431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02943" name="Text Box 31"/>
          <p:cNvSpPr txBox="1">
            <a:spLocks noChangeArrowheads="1"/>
          </p:cNvSpPr>
          <p:nvPr/>
        </p:nvSpPr>
        <p:spPr bwMode="auto">
          <a:xfrm>
            <a:off x="6248400" y="4495800"/>
            <a:ext cx="28956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600">
                <a:solidFill>
                  <a:schemeClr val="accent2"/>
                </a:solidFill>
              </a:rPr>
              <a:t>Data from Hennessy &amp; Patterson, </a:t>
            </a:r>
            <a:r>
              <a:rPr lang="en-US" sz="1600" i="1">
                <a:solidFill>
                  <a:schemeClr val="accent2"/>
                </a:solidFill>
              </a:rPr>
              <a:t>Computer Architecture</a:t>
            </a:r>
            <a:r>
              <a:rPr lang="en-US" sz="1600">
                <a:solidFill>
                  <a:schemeClr val="accent2"/>
                </a:solidFill>
              </a:rPr>
              <a:t>, 2003</a:t>
            </a:r>
          </a:p>
        </p:txBody>
      </p:sp>
      <p:sp>
        <p:nvSpPr>
          <p:cNvPr id="1702944" name="Rectangle 32"/>
          <p:cNvSpPr>
            <a:spLocks noChangeArrowheads="1"/>
          </p:cNvSpPr>
          <p:nvPr/>
        </p:nvSpPr>
        <p:spPr bwMode="auto">
          <a:xfrm>
            <a:off x="533400" y="5715000"/>
            <a:ext cx="8001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marL="287338" indent="-287338">
              <a:spcBef>
                <a:spcPct val="30000"/>
              </a:spcBef>
              <a:buClr>
                <a:schemeClr val="accent1"/>
              </a:buClr>
              <a:buSzPct val="75000"/>
              <a:buFont typeface="Wingdings" pitchFamily="2" charset="2"/>
              <a:buChar char="q"/>
            </a:pPr>
            <a:r>
              <a:rPr lang="en-US" sz="2400">
                <a:solidFill>
                  <a:schemeClr val="tx1"/>
                </a:solidFill>
              </a:rPr>
              <a:t>Largest gains are in going from direct mapped to 2-way (20%+ reduction in miss rate)</a:t>
            </a:r>
          </a:p>
        </p:txBody>
      </p:sp>
    </p:spTree>
    <p:extLst>
      <p:ext uri="{BB962C8B-B14F-4D97-AF65-F5344CB8AC3E}">
        <p14:creationId xmlns:p14="http://schemas.microsoft.com/office/powerpoint/2010/main" val="10873509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029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294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02" name="Rectangle 2"/>
          <p:cNvSpPr>
            <a:spLocks noGrp="1" noChangeArrowheads="1"/>
          </p:cNvSpPr>
          <p:nvPr>
            <p:ph type="title"/>
          </p:nvPr>
        </p:nvSpPr>
        <p:spPr>
          <a:xfrm>
            <a:off x="533400" y="304800"/>
            <a:ext cx="5051425" cy="422275"/>
          </a:xfrm>
          <a:noFill/>
          <a:ln/>
        </p:spPr>
        <p:txBody>
          <a:bodyPr wrap="none"/>
          <a:lstStyle/>
          <a:p>
            <a:r>
              <a:rPr lang="en-US"/>
              <a:t>Review:  Principle of Locality</a:t>
            </a:r>
          </a:p>
        </p:txBody>
      </p:sp>
      <p:sp>
        <p:nvSpPr>
          <p:cNvPr id="1587203" name="Rectangle 3"/>
          <p:cNvSpPr>
            <a:spLocks noGrp="1" noChangeArrowheads="1"/>
          </p:cNvSpPr>
          <p:nvPr>
            <p:ph type="body" idx="1"/>
          </p:nvPr>
        </p:nvSpPr>
        <p:spPr>
          <a:xfrm>
            <a:off x="304800" y="762000"/>
            <a:ext cx="8610600" cy="5622925"/>
          </a:xfrm>
          <a:noFill/>
          <a:ln/>
        </p:spPr>
        <p:txBody>
          <a:bodyPr/>
          <a:lstStyle/>
          <a:p>
            <a:r>
              <a:rPr lang="en-US">
                <a:solidFill>
                  <a:schemeClr val="accent2"/>
                </a:solidFill>
              </a:rPr>
              <a:t>Temporal Locality</a:t>
            </a:r>
          </a:p>
          <a:p>
            <a:pPr lvl="1"/>
            <a:r>
              <a:rPr lang="en-US"/>
              <a:t> Keep </a:t>
            </a:r>
            <a:r>
              <a:rPr lang="en-US">
                <a:solidFill>
                  <a:schemeClr val="accent1"/>
                </a:solidFill>
              </a:rPr>
              <a:t>most recently</a:t>
            </a:r>
            <a:r>
              <a:rPr lang="en-US"/>
              <a:t> accessed data items closer to the processor</a:t>
            </a:r>
          </a:p>
          <a:p>
            <a:r>
              <a:rPr lang="en-US">
                <a:solidFill>
                  <a:schemeClr val="accent2"/>
                </a:solidFill>
              </a:rPr>
              <a:t>Spatial Locality</a:t>
            </a:r>
          </a:p>
          <a:p>
            <a:pPr lvl="1"/>
            <a:r>
              <a:rPr lang="en-US"/>
              <a:t>Move </a:t>
            </a:r>
            <a:r>
              <a:rPr lang="en-US">
                <a:solidFill>
                  <a:schemeClr val="accent1"/>
                </a:solidFill>
              </a:rPr>
              <a:t>blocks</a:t>
            </a:r>
            <a:r>
              <a:rPr lang="en-US"/>
              <a:t> consisting                                                                           of contiguous words                                                                                 to the upper levels </a:t>
            </a:r>
          </a:p>
          <a:p>
            <a:r>
              <a:rPr lang="en-US"/>
              <a:t>Hit Time &lt;&lt; Miss Penalty</a:t>
            </a:r>
          </a:p>
          <a:p>
            <a:pPr lvl="1"/>
            <a:r>
              <a:rPr lang="en-US">
                <a:solidFill>
                  <a:schemeClr val="accent1"/>
                </a:solidFill>
              </a:rPr>
              <a:t>Hit</a:t>
            </a:r>
            <a:r>
              <a:rPr lang="en-US"/>
              <a:t>: data appears in some block in the upper level (Blk X) </a:t>
            </a:r>
          </a:p>
          <a:p>
            <a:pPr lvl="2"/>
            <a:r>
              <a:rPr lang="en-US">
                <a:solidFill>
                  <a:schemeClr val="accent1"/>
                </a:solidFill>
              </a:rPr>
              <a:t>Hit Rate</a:t>
            </a:r>
            <a:r>
              <a:rPr lang="en-US"/>
              <a:t>: the fraction of accesses found in the upper level</a:t>
            </a:r>
          </a:p>
          <a:p>
            <a:pPr lvl="2"/>
            <a:r>
              <a:rPr lang="en-US">
                <a:solidFill>
                  <a:schemeClr val="accent1"/>
                </a:solidFill>
              </a:rPr>
              <a:t>Hit Time</a:t>
            </a:r>
            <a:r>
              <a:rPr lang="en-US"/>
              <a:t>: RAM access time + Time to determine hit/miss</a:t>
            </a:r>
          </a:p>
          <a:p>
            <a:pPr lvl="1"/>
            <a:r>
              <a:rPr lang="en-US">
                <a:solidFill>
                  <a:schemeClr val="accent1"/>
                </a:solidFill>
              </a:rPr>
              <a:t>Miss</a:t>
            </a:r>
            <a:r>
              <a:rPr lang="en-US"/>
              <a:t>: data needs to be retrieve from a lower level block (Blk Y)</a:t>
            </a:r>
          </a:p>
          <a:p>
            <a:pPr lvl="2"/>
            <a:r>
              <a:rPr lang="en-US">
                <a:solidFill>
                  <a:schemeClr val="accent1"/>
                </a:solidFill>
              </a:rPr>
              <a:t>Miss Rate  </a:t>
            </a:r>
            <a:r>
              <a:rPr lang="en-US"/>
              <a:t>= 1 - (Hit Rate)</a:t>
            </a:r>
          </a:p>
          <a:p>
            <a:pPr lvl="2"/>
            <a:r>
              <a:rPr lang="en-US">
                <a:solidFill>
                  <a:schemeClr val="accent1"/>
                </a:solidFill>
              </a:rPr>
              <a:t>Miss Penalty</a:t>
            </a:r>
            <a:r>
              <a:rPr lang="en-US"/>
              <a:t>: Time to replace a block in the upper level  with a block from the lower level + Time to deliver this block’s word to the processor </a:t>
            </a:r>
          </a:p>
          <a:p>
            <a:pPr lvl="2"/>
            <a:r>
              <a:rPr lang="en-US">
                <a:solidFill>
                  <a:schemeClr val="accent1"/>
                </a:solidFill>
              </a:rPr>
              <a:t>Miss Types</a:t>
            </a:r>
            <a:r>
              <a:rPr lang="en-US"/>
              <a:t>:  Compulsory, Conflict, Capacity</a:t>
            </a:r>
          </a:p>
        </p:txBody>
      </p:sp>
      <p:grpSp>
        <p:nvGrpSpPr>
          <p:cNvPr id="1587227" name="Group 27"/>
          <p:cNvGrpSpPr>
            <a:grpSpLocks/>
          </p:cNvGrpSpPr>
          <p:nvPr/>
        </p:nvGrpSpPr>
        <p:grpSpPr bwMode="auto">
          <a:xfrm>
            <a:off x="4191000" y="1752600"/>
            <a:ext cx="4572000" cy="1600200"/>
            <a:chOff x="2640" y="1104"/>
            <a:chExt cx="2880" cy="1008"/>
          </a:xfrm>
        </p:grpSpPr>
        <p:sp>
          <p:nvSpPr>
            <p:cNvPr id="1587205" name="Rectangle 5"/>
            <p:cNvSpPr>
              <a:spLocks noChangeArrowheads="1"/>
            </p:cNvSpPr>
            <p:nvPr/>
          </p:nvSpPr>
          <p:spPr bwMode="auto">
            <a:xfrm>
              <a:off x="3569" y="1227"/>
              <a:ext cx="702" cy="76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06" name="Rectangle 6"/>
            <p:cNvSpPr>
              <a:spLocks noChangeArrowheads="1"/>
            </p:cNvSpPr>
            <p:nvPr/>
          </p:nvSpPr>
          <p:spPr bwMode="auto">
            <a:xfrm>
              <a:off x="4791" y="1104"/>
              <a:ext cx="710" cy="100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07" name="Rectangle 7"/>
            <p:cNvSpPr>
              <a:spLocks noChangeArrowheads="1"/>
            </p:cNvSpPr>
            <p:nvPr/>
          </p:nvSpPr>
          <p:spPr bwMode="auto">
            <a:xfrm>
              <a:off x="4761" y="1112"/>
              <a:ext cx="75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400" b="1">
                  <a:solidFill>
                    <a:schemeClr val="tx1"/>
                  </a:solidFill>
                </a:rPr>
                <a:t>Lower Level</a:t>
              </a:r>
            </a:p>
            <a:p>
              <a:pPr algn="ctr"/>
              <a:r>
                <a:rPr lang="en-US" sz="1400" b="1">
                  <a:solidFill>
                    <a:schemeClr val="tx1"/>
                  </a:solidFill>
                </a:rPr>
                <a:t>Memory</a:t>
              </a:r>
            </a:p>
          </p:txBody>
        </p:sp>
        <p:sp>
          <p:nvSpPr>
            <p:cNvPr id="1587208" name="Rectangle 8"/>
            <p:cNvSpPr>
              <a:spLocks noChangeArrowheads="1"/>
            </p:cNvSpPr>
            <p:nvPr/>
          </p:nvSpPr>
          <p:spPr bwMode="auto">
            <a:xfrm>
              <a:off x="3538" y="1234"/>
              <a:ext cx="753"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1400" b="1">
                  <a:solidFill>
                    <a:schemeClr val="tx1"/>
                  </a:solidFill>
                </a:rPr>
                <a:t>Upper Level</a:t>
              </a:r>
            </a:p>
            <a:p>
              <a:pPr algn="ctr"/>
              <a:r>
                <a:rPr lang="en-US" sz="1400" b="1">
                  <a:solidFill>
                    <a:schemeClr val="tx1"/>
                  </a:solidFill>
                </a:rPr>
                <a:t>Memory</a:t>
              </a:r>
            </a:p>
          </p:txBody>
        </p:sp>
        <p:sp>
          <p:nvSpPr>
            <p:cNvPr id="1587210" name="Rectangle 10"/>
            <p:cNvSpPr>
              <a:spLocks noChangeArrowheads="1"/>
            </p:cNvSpPr>
            <p:nvPr/>
          </p:nvSpPr>
          <p:spPr bwMode="auto">
            <a:xfrm>
              <a:off x="2753" y="1261"/>
              <a:ext cx="828"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400" b="1">
                  <a:solidFill>
                    <a:schemeClr val="tx1"/>
                  </a:solidFill>
                </a:rPr>
                <a:t>To Processor</a:t>
              </a:r>
            </a:p>
          </p:txBody>
        </p:sp>
        <p:sp>
          <p:nvSpPr>
            <p:cNvPr id="1587212" name="Rectangle 12"/>
            <p:cNvSpPr>
              <a:spLocks noChangeArrowheads="1"/>
            </p:cNvSpPr>
            <p:nvPr/>
          </p:nvSpPr>
          <p:spPr bwMode="auto">
            <a:xfrm>
              <a:off x="2640" y="1634"/>
              <a:ext cx="972"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400" b="1">
                  <a:solidFill>
                    <a:schemeClr val="tx1"/>
                  </a:solidFill>
                </a:rPr>
                <a:t>From Processor</a:t>
              </a:r>
            </a:p>
          </p:txBody>
        </p:sp>
        <p:sp>
          <p:nvSpPr>
            <p:cNvPr id="1587213" name="Line 13"/>
            <p:cNvSpPr>
              <a:spLocks noChangeShapeType="1"/>
            </p:cNvSpPr>
            <p:nvPr/>
          </p:nvSpPr>
          <p:spPr bwMode="auto">
            <a:xfrm>
              <a:off x="4285" y="1588"/>
              <a:ext cx="492"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14" name="Rectangle 14"/>
            <p:cNvSpPr>
              <a:spLocks noChangeArrowheads="1"/>
            </p:cNvSpPr>
            <p:nvPr/>
          </p:nvSpPr>
          <p:spPr bwMode="auto">
            <a:xfrm>
              <a:off x="3649" y="1714"/>
              <a:ext cx="499" cy="197"/>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15" name="Rectangle 15"/>
            <p:cNvSpPr>
              <a:spLocks noChangeArrowheads="1"/>
            </p:cNvSpPr>
            <p:nvPr/>
          </p:nvSpPr>
          <p:spPr bwMode="auto">
            <a:xfrm>
              <a:off x="3721" y="1559"/>
              <a:ext cx="376"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400">
                  <a:solidFill>
                    <a:schemeClr val="tx1"/>
                  </a:solidFill>
                </a:rPr>
                <a:t>Blk X</a:t>
              </a:r>
            </a:p>
          </p:txBody>
        </p:sp>
        <p:sp>
          <p:nvSpPr>
            <p:cNvPr id="1587216" name="Rectangle 16"/>
            <p:cNvSpPr>
              <a:spLocks noChangeArrowheads="1"/>
            </p:cNvSpPr>
            <p:nvPr/>
          </p:nvSpPr>
          <p:spPr bwMode="auto">
            <a:xfrm>
              <a:off x="4872" y="1877"/>
              <a:ext cx="499" cy="198"/>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17" name="Rectangle 17"/>
            <p:cNvSpPr>
              <a:spLocks noChangeArrowheads="1"/>
            </p:cNvSpPr>
            <p:nvPr/>
          </p:nvSpPr>
          <p:spPr bwMode="auto">
            <a:xfrm>
              <a:off x="4946" y="1723"/>
              <a:ext cx="376"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400">
                  <a:solidFill>
                    <a:schemeClr val="tx1"/>
                  </a:solidFill>
                </a:rPr>
                <a:t>Blk Y</a:t>
              </a:r>
            </a:p>
          </p:txBody>
        </p:sp>
        <p:sp>
          <p:nvSpPr>
            <p:cNvPr id="1587218" name="Line 18"/>
            <p:cNvSpPr>
              <a:spLocks noChangeShapeType="1"/>
            </p:cNvSpPr>
            <p:nvPr/>
          </p:nvSpPr>
          <p:spPr bwMode="auto">
            <a:xfrm>
              <a:off x="3899" y="1717"/>
              <a:ext cx="0" cy="1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19" name="Line 19"/>
            <p:cNvSpPr>
              <a:spLocks noChangeShapeType="1"/>
            </p:cNvSpPr>
            <p:nvPr/>
          </p:nvSpPr>
          <p:spPr bwMode="auto">
            <a:xfrm>
              <a:off x="4025" y="1717"/>
              <a:ext cx="0" cy="1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20" name="Line 20"/>
            <p:cNvSpPr>
              <a:spLocks noChangeShapeType="1"/>
            </p:cNvSpPr>
            <p:nvPr/>
          </p:nvSpPr>
          <p:spPr bwMode="auto">
            <a:xfrm>
              <a:off x="3772" y="1717"/>
              <a:ext cx="0" cy="1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21" name="Line 21"/>
            <p:cNvSpPr>
              <a:spLocks noChangeShapeType="1"/>
            </p:cNvSpPr>
            <p:nvPr/>
          </p:nvSpPr>
          <p:spPr bwMode="auto">
            <a:xfrm>
              <a:off x="5121" y="1880"/>
              <a:ext cx="0" cy="1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22" name="Line 22"/>
            <p:cNvSpPr>
              <a:spLocks noChangeShapeType="1"/>
            </p:cNvSpPr>
            <p:nvPr/>
          </p:nvSpPr>
          <p:spPr bwMode="auto">
            <a:xfrm>
              <a:off x="5248" y="1880"/>
              <a:ext cx="0" cy="1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23" name="Line 23"/>
            <p:cNvSpPr>
              <a:spLocks noChangeShapeType="1"/>
            </p:cNvSpPr>
            <p:nvPr/>
          </p:nvSpPr>
          <p:spPr bwMode="auto">
            <a:xfrm>
              <a:off x="4995" y="1880"/>
              <a:ext cx="0" cy="1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25" name="Line 25"/>
            <p:cNvSpPr>
              <a:spLocks noChangeShapeType="1"/>
            </p:cNvSpPr>
            <p:nvPr/>
          </p:nvSpPr>
          <p:spPr bwMode="auto">
            <a:xfrm flipH="1">
              <a:off x="2784" y="1440"/>
              <a:ext cx="76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7226" name="Line 26"/>
            <p:cNvSpPr>
              <a:spLocks noChangeShapeType="1"/>
            </p:cNvSpPr>
            <p:nvPr/>
          </p:nvSpPr>
          <p:spPr bwMode="auto">
            <a:xfrm flipH="1">
              <a:off x="2784" y="1824"/>
              <a:ext cx="768" cy="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4766039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4242" name="Rectangle 2"/>
          <p:cNvSpPr>
            <a:spLocks noGrp="1" noChangeArrowheads="1"/>
          </p:cNvSpPr>
          <p:nvPr>
            <p:ph type="title"/>
          </p:nvPr>
        </p:nvSpPr>
        <p:spPr/>
        <p:txBody>
          <a:bodyPr/>
          <a:lstStyle/>
          <a:p>
            <a:r>
              <a:rPr lang="en-US"/>
              <a:t>Measuring Cache Performance</a:t>
            </a:r>
          </a:p>
        </p:txBody>
      </p:sp>
      <p:sp>
        <p:nvSpPr>
          <p:cNvPr id="1674243" name="Rectangle 3"/>
          <p:cNvSpPr>
            <a:spLocks noGrp="1" noChangeArrowheads="1"/>
          </p:cNvSpPr>
          <p:nvPr>
            <p:ph type="body" idx="1"/>
          </p:nvPr>
        </p:nvSpPr>
        <p:spPr>
          <a:xfrm>
            <a:off x="533400" y="762000"/>
            <a:ext cx="8153400" cy="1574800"/>
          </a:xfrm>
        </p:spPr>
        <p:txBody>
          <a:bodyPr/>
          <a:lstStyle/>
          <a:p>
            <a:r>
              <a:rPr lang="en-US"/>
              <a:t>Assuming cache hit costs are included as part of the normal CPU execution cycle, then</a:t>
            </a:r>
          </a:p>
          <a:p>
            <a:pPr lvl="1" algn="ctr">
              <a:buFont typeface="Monotype Sorts" pitchFamily="2" charset="2"/>
              <a:buNone/>
            </a:pPr>
            <a:r>
              <a:rPr lang="en-US">
                <a:solidFill>
                  <a:schemeClr val="accent2"/>
                </a:solidFill>
              </a:rPr>
              <a:t>CPU time = IC </a:t>
            </a:r>
            <a:r>
              <a:rPr lang="en-US">
                <a:solidFill>
                  <a:schemeClr val="accent2"/>
                </a:solidFill>
                <a:cs typeface="Arial" charset="0"/>
              </a:rPr>
              <a:t>×</a:t>
            </a:r>
            <a:r>
              <a:rPr lang="en-US">
                <a:solidFill>
                  <a:schemeClr val="accent2"/>
                </a:solidFill>
              </a:rPr>
              <a:t> CPI </a:t>
            </a:r>
            <a:r>
              <a:rPr lang="en-US">
                <a:solidFill>
                  <a:schemeClr val="accent2"/>
                </a:solidFill>
                <a:cs typeface="Arial" charset="0"/>
              </a:rPr>
              <a:t>×</a:t>
            </a:r>
            <a:r>
              <a:rPr lang="en-US">
                <a:solidFill>
                  <a:schemeClr val="accent2"/>
                </a:solidFill>
              </a:rPr>
              <a:t> CC</a:t>
            </a:r>
          </a:p>
          <a:p>
            <a:pPr lvl="1" algn="ctr">
              <a:buFont typeface="Monotype Sorts" pitchFamily="2" charset="2"/>
              <a:buNone/>
            </a:pPr>
            <a:r>
              <a:rPr lang="en-US">
                <a:solidFill>
                  <a:schemeClr val="accent2"/>
                </a:solidFill>
              </a:rPr>
              <a:t>=  IC </a:t>
            </a:r>
            <a:r>
              <a:rPr lang="en-US">
                <a:solidFill>
                  <a:schemeClr val="accent2"/>
                </a:solidFill>
                <a:cs typeface="Arial" charset="0"/>
              </a:rPr>
              <a:t>×</a:t>
            </a:r>
            <a:r>
              <a:rPr lang="en-US">
                <a:solidFill>
                  <a:schemeClr val="accent2"/>
                </a:solidFill>
              </a:rPr>
              <a:t> (CPI</a:t>
            </a:r>
            <a:r>
              <a:rPr lang="en-US" baseline="-25000">
                <a:solidFill>
                  <a:schemeClr val="accent2"/>
                </a:solidFill>
              </a:rPr>
              <a:t>ideal</a:t>
            </a:r>
            <a:r>
              <a:rPr lang="en-US">
                <a:solidFill>
                  <a:schemeClr val="accent2"/>
                </a:solidFill>
              </a:rPr>
              <a:t> + Memory-stall cycles) </a:t>
            </a:r>
            <a:r>
              <a:rPr lang="en-US">
                <a:solidFill>
                  <a:schemeClr val="accent2"/>
                </a:solidFill>
                <a:cs typeface="Arial" charset="0"/>
              </a:rPr>
              <a:t>×</a:t>
            </a:r>
            <a:r>
              <a:rPr lang="en-US">
                <a:solidFill>
                  <a:schemeClr val="accent2"/>
                </a:solidFill>
              </a:rPr>
              <a:t> CC</a:t>
            </a:r>
          </a:p>
        </p:txBody>
      </p:sp>
      <p:grpSp>
        <p:nvGrpSpPr>
          <p:cNvPr id="1674248" name="Group 8"/>
          <p:cNvGrpSpPr>
            <a:grpSpLocks/>
          </p:cNvGrpSpPr>
          <p:nvPr/>
        </p:nvGrpSpPr>
        <p:grpSpPr bwMode="auto">
          <a:xfrm>
            <a:off x="3200400" y="2362200"/>
            <a:ext cx="3505200" cy="473075"/>
            <a:chOff x="2016" y="1488"/>
            <a:chExt cx="2208" cy="298"/>
          </a:xfrm>
        </p:grpSpPr>
        <p:sp>
          <p:nvSpPr>
            <p:cNvPr id="1674245" name="AutoShape 5"/>
            <p:cNvSpPr>
              <a:spLocks/>
            </p:cNvSpPr>
            <p:nvPr/>
          </p:nvSpPr>
          <p:spPr bwMode="auto">
            <a:xfrm rot="5400000">
              <a:off x="3072" y="432"/>
              <a:ext cx="96" cy="2208"/>
            </a:xfrm>
            <a:prstGeom prst="rightBrace">
              <a:avLst>
                <a:gd name="adj1" fmla="val 191667"/>
                <a:gd name="adj2" fmla="val 50000"/>
              </a:avLst>
            </a:prstGeom>
            <a:noFill/>
            <a:ln w="1270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4246" name="Text Box 6"/>
            <p:cNvSpPr txBox="1">
              <a:spLocks noChangeArrowheads="1"/>
            </p:cNvSpPr>
            <p:nvPr/>
          </p:nvSpPr>
          <p:spPr bwMode="auto">
            <a:xfrm>
              <a:off x="2688" y="1536"/>
              <a:ext cx="9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000">
                  <a:solidFill>
                    <a:schemeClr val="accent2"/>
                  </a:solidFill>
                </a:rPr>
                <a:t>CPI</a:t>
              </a:r>
              <a:r>
                <a:rPr lang="en-US" sz="2000" baseline="-25000">
                  <a:solidFill>
                    <a:schemeClr val="accent2"/>
                  </a:solidFill>
                </a:rPr>
                <a:t>stall</a:t>
              </a:r>
            </a:p>
          </p:txBody>
        </p:sp>
      </p:grpSp>
      <p:sp>
        <p:nvSpPr>
          <p:cNvPr id="1674247" name="Rectangle 7"/>
          <p:cNvSpPr>
            <a:spLocks noChangeArrowheads="1"/>
          </p:cNvSpPr>
          <p:nvPr/>
        </p:nvSpPr>
        <p:spPr bwMode="auto">
          <a:xfrm>
            <a:off x="533400" y="2795588"/>
            <a:ext cx="8153400" cy="2870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marL="287338" indent="-287338" algn="ctr">
              <a:spcBef>
                <a:spcPct val="30000"/>
              </a:spcBef>
              <a:buClr>
                <a:schemeClr val="accent1"/>
              </a:buClr>
              <a:buSzPct val="75000"/>
              <a:buFont typeface="Wingdings" pitchFamily="2" charset="2"/>
              <a:buChar char="q"/>
            </a:pPr>
            <a:r>
              <a:rPr lang="en-US" sz="2400" dirty="0">
                <a:solidFill>
                  <a:schemeClr val="tx1"/>
                </a:solidFill>
              </a:rPr>
              <a:t>Memory-stall cycles come from cache misses (a sum of read-stalls and write-stalls)</a:t>
            </a:r>
          </a:p>
          <a:p>
            <a:pPr marL="741363" lvl="1" indent="-246063" algn="ctr">
              <a:spcBef>
                <a:spcPct val="30000"/>
              </a:spcBef>
              <a:buClr>
                <a:schemeClr val="accent1"/>
              </a:buClr>
              <a:buSzPct val="75000"/>
              <a:buFont typeface="Monotype Sorts" pitchFamily="2" charset="2"/>
              <a:buNone/>
            </a:pPr>
            <a:r>
              <a:rPr lang="en-US" sz="2000" dirty="0">
                <a:solidFill>
                  <a:schemeClr val="accent2"/>
                </a:solidFill>
              </a:rPr>
              <a:t>Read-stall cycles  =   </a:t>
            </a:r>
            <a:r>
              <a:rPr lang="en-US" sz="2000" dirty="0" smtClean="0">
                <a:solidFill>
                  <a:schemeClr val="accent2"/>
                </a:solidFill>
              </a:rPr>
              <a:t>read </a:t>
            </a:r>
            <a:r>
              <a:rPr lang="en-US" sz="2000" dirty="0">
                <a:solidFill>
                  <a:schemeClr val="accent2"/>
                </a:solidFill>
              </a:rPr>
              <a:t>miss rate </a:t>
            </a:r>
            <a:r>
              <a:rPr lang="en-US" sz="2000" dirty="0" smtClean="0">
                <a:solidFill>
                  <a:schemeClr val="accent2"/>
                </a:solidFill>
                <a:cs typeface="Arial" charset="0"/>
              </a:rPr>
              <a:t>×</a:t>
            </a:r>
            <a:r>
              <a:rPr lang="en-US" sz="2000" dirty="0" smtClean="0">
                <a:solidFill>
                  <a:schemeClr val="accent2"/>
                </a:solidFill>
              </a:rPr>
              <a:t> </a:t>
            </a:r>
            <a:r>
              <a:rPr lang="en-US" sz="2000" dirty="0">
                <a:solidFill>
                  <a:schemeClr val="accent2"/>
                </a:solidFill>
              </a:rPr>
              <a:t>read miss penalty</a:t>
            </a:r>
          </a:p>
          <a:p>
            <a:pPr marL="741363" lvl="1" indent="-246063" algn="ctr">
              <a:spcBef>
                <a:spcPct val="30000"/>
              </a:spcBef>
              <a:buClr>
                <a:schemeClr val="accent1"/>
              </a:buClr>
              <a:buSzPct val="75000"/>
              <a:buFont typeface="Monotype Sorts" pitchFamily="2" charset="2"/>
              <a:buNone/>
            </a:pPr>
            <a:r>
              <a:rPr lang="en-US" sz="2000" dirty="0">
                <a:solidFill>
                  <a:schemeClr val="accent2"/>
                </a:solidFill>
              </a:rPr>
              <a:t>Write-stall cycles   =  </a:t>
            </a:r>
            <a:r>
              <a:rPr lang="en-US" sz="2000" dirty="0" smtClean="0">
                <a:solidFill>
                  <a:schemeClr val="accent2"/>
                </a:solidFill>
              </a:rPr>
              <a:t>write </a:t>
            </a:r>
            <a:r>
              <a:rPr lang="en-US" sz="2000" dirty="0">
                <a:solidFill>
                  <a:schemeClr val="accent2"/>
                </a:solidFill>
              </a:rPr>
              <a:t>miss rate </a:t>
            </a:r>
            <a:r>
              <a:rPr lang="en-US" sz="2000" dirty="0" smtClean="0">
                <a:solidFill>
                  <a:schemeClr val="accent2"/>
                </a:solidFill>
                <a:cs typeface="Arial" charset="0"/>
              </a:rPr>
              <a:t>×</a:t>
            </a:r>
            <a:r>
              <a:rPr lang="en-US" sz="2000" dirty="0" smtClean="0">
                <a:solidFill>
                  <a:schemeClr val="accent2"/>
                </a:solidFill>
              </a:rPr>
              <a:t> </a:t>
            </a:r>
            <a:r>
              <a:rPr lang="en-US" sz="2000" dirty="0">
                <a:solidFill>
                  <a:schemeClr val="accent2"/>
                </a:solidFill>
              </a:rPr>
              <a:t>write miss </a:t>
            </a:r>
            <a:r>
              <a:rPr lang="en-US" sz="2000" dirty="0" smtClean="0">
                <a:solidFill>
                  <a:schemeClr val="accent2"/>
                </a:solidFill>
              </a:rPr>
              <a:t>penalty</a:t>
            </a:r>
            <a:endParaRPr lang="en-US" sz="2000" dirty="0">
              <a:solidFill>
                <a:schemeClr val="accent2"/>
              </a:solidFill>
            </a:endParaRPr>
          </a:p>
          <a:p>
            <a:pPr marL="741363" lvl="1" indent="-246063" algn="ctr">
              <a:spcBef>
                <a:spcPct val="30000"/>
              </a:spcBef>
              <a:buClr>
                <a:schemeClr val="accent1"/>
              </a:buClr>
              <a:buSzPct val="75000"/>
              <a:buFont typeface="Monotype Sorts" pitchFamily="2" charset="2"/>
              <a:buNone/>
            </a:pPr>
            <a:r>
              <a:rPr lang="en-US" sz="2000" dirty="0">
                <a:solidFill>
                  <a:schemeClr val="accent2"/>
                </a:solidFill>
              </a:rPr>
              <a:t>     +  write buffer stalls</a:t>
            </a:r>
          </a:p>
          <a:p>
            <a:pPr marL="287338" indent="-287338">
              <a:spcBef>
                <a:spcPct val="30000"/>
              </a:spcBef>
              <a:buClr>
                <a:schemeClr val="accent1"/>
              </a:buClr>
              <a:buSzPct val="75000"/>
              <a:buFont typeface="Wingdings" pitchFamily="2" charset="2"/>
              <a:buChar char="q"/>
            </a:pPr>
            <a:r>
              <a:rPr lang="en-US" sz="2400" dirty="0">
                <a:solidFill>
                  <a:schemeClr val="tx1"/>
                </a:solidFill>
              </a:rPr>
              <a:t>For write-through caches, we can simplify this to</a:t>
            </a:r>
          </a:p>
          <a:p>
            <a:pPr marL="741363" lvl="1" indent="-246063" algn="ctr">
              <a:spcBef>
                <a:spcPct val="30000"/>
              </a:spcBef>
              <a:buClr>
                <a:schemeClr val="accent1"/>
              </a:buClr>
              <a:buSzPct val="75000"/>
              <a:buFont typeface="Monotype Sorts" pitchFamily="2" charset="2"/>
              <a:buNone/>
            </a:pPr>
            <a:r>
              <a:rPr lang="en-US" sz="2000" dirty="0">
                <a:solidFill>
                  <a:schemeClr val="accent2"/>
                </a:solidFill>
              </a:rPr>
              <a:t>Memory-stall cycles   =  miss rate </a:t>
            </a:r>
            <a:r>
              <a:rPr lang="en-US" sz="2000" dirty="0">
                <a:solidFill>
                  <a:schemeClr val="accent2"/>
                </a:solidFill>
                <a:cs typeface="Arial" charset="0"/>
              </a:rPr>
              <a:t>×</a:t>
            </a:r>
            <a:r>
              <a:rPr lang="en-US" sz="2000" dirty="0">
                <a:solidFill>
                  <a:schemeClr val="accent2"/>
                </a:solidFill>
              </a:rPr>
              <a:t> miss penalty</a:t>
            </a:r>
          </a:p>
        </p:txBody>
      </p:sp>
    </p:spTree>
    <p:extLst>
      <p:ext uri="{BB962C8B-B14F-4D97-AF65-F5344CB8AC3E}">
        <p14:creationId xmlns:p14="http://schemas.microsoft.com/office/powerpoint/2010/main" val="894402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742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74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424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6290" name="Rectangle 2"/>
          <p:cNvSpPr>
            <a:spLocks noGrp="1" noChangeArrowheads="1"/>
          </p:cNvSpPr>
          <p:nvPr>
            <p:ph type="title"/>
          </p:nvPr>
        </p:nvSpPr>
        <p:spPr/>
        <p:txBody>
          <a:bodyPr/>
          <a:lstStyle/>
          <a:p>
            <a:r>
              <a:rPr lang="en-US"/>
              <a:t>Impacts of Cache Performance</a:t>
            </a:r>
          </a:p>
        </p:txBody>
      </p:sp>
      <p:sp>
        <p:nvSpPr>
          <p:cNvPr id="1676291" name="Rectangle 3"/>
          <p:cNvSpPr>
            <a:spLocks noGrp="1" noChangeArrowheads="1"/>
          </p:cNvSpPr>
          <p:nvPr>
            <p:ph type="body" idx="1"/>
          </p:nvPr>
        </p:nvSpPr>
        <p:spPr>
          <a:xfrm>
            <a:off x="533400" y="762000"/>
            <a:ext cx="8305800" cy="5449888"/>
          </a:xfrm>
        </p:spPr>
        <p:txBody>
          <a:bodyPr>
            <a:normAutofit/>
          </a:bodyPr>
          <a:lstStyle/>
          <a:p>
            <a:r>
              <a:rPr lang="en-US" dirty="0"/>
              <a:t>Relative cache penalty increases as processor performance improves (faster clock rate and/or lower CPI)</a:t>
            </a:r>
          </a:p>
          <a:p>
            <a:pPr lvl="1"/>
            <a:r>
              <a:rPr lang="en-US" dirty="0"/>
              <a:t>The memory speed is unlikely to improve as fast as processor cycle time.  When calculating </a:t>
            </a:r>
            <a:r>
              <a:rPr lang="en-US" dirty="0" err="1"/>
              <a:t>CPI</a:t>
            </a:r>
            <a:r>
              <a:rPr lang="en-US" baseline="-25000" dirty="0" err="1"/>
              <a:t>stall</a:t>
            </a:r>
            <a:r>
              <a:rPr lang="en-US" dirty="0"/>
              <a:t>, the cache miss penalty is measured in </a:t>
            </a:r>
            <a:r>
              <a:rPr lang="en-US" i="1" dirty="0"/>
              <a:t>processor</a:t>
            </a:r>
            <a:r>
              <a:rPr lang="en-US" dirty="0"/>
              <a:t> clock cycles needed to handle a miss</a:t>
            </a:r>
          </a:p>
          <a:p>
            <a:pPr lvl="1"/>
            <a:r>
              <a:rPr lang="en-US" dirty="0"/>
              <a:t>The lower the </a:t>
            </a:r>
            <a:r>
              <a:rPr lang="en-US" dirty="0" err="1"/>
              <a:t>CPI</a:t>
            </a:r>
            <a:r>
              <a:rPr lang="en-US" baseline="-25000" dirty="0" err="1"/>
              <a:t>ideal</a:t>
            </a:r>
            <a:r>
              <a:rPr lang="en-US" dirty="0"/>
              <a:t>, the more pronounced the impact of stalls</a:t>
            </a:r>
          </a:p>
          <a:p>
            <a:r>
              <a:rPr lang="en-US" dirty="0"/>
              <a:t>A processor with a </a:t>
            </a:r>
            <a:r>
              <a:rPr lang="en-US" dirty="0" err="1"/>
              <a:t>CPI</a:t>
            </a:r>
            <a:r>
              <a:rPr lang="en-US" baseline="-25000" dirty="0" err="1"/>
              <a:t>ideal</a:t>
            </a:r>
            <a:r>
              <a:rPr lang="en-US" dirty="0"/>
              <a:t> of 2, a 100 cycle miss penalty, 36% load/store </a:t>
            </a:r>
            <a:r>
              <a:rPr lang="en-US" dirty="0" err="1"/>
              <a:t>instr’s</a:t>
            </a:r>
            <a:r>
              <a:rPr lang="en-US" dirty="0"/>
              <a:t>, and 2% I$ and 4% D$ miss rates</a:t>
            </a:r>
          </a:p>
          <a:p>
            <a:pPr lvl="1" algn="ctr">
              <a:buFont typeface="Monotype Sorts" pitchFamily="2" charset="2"/>
              <a:buNone/>
            </a:pPr>
            <a:r>
              <a:rPr lang="en-US" dirty="0"/>
              <a:t>Memory-stall cycles = 2% </a:t>
            </a:r>
            <a:r>
              <a:rPr lang="en-US" dirty="0">
                <a:cs typeface="Arial" charset="0"/>
              </a:rPr>
              <a:t>×</a:t>
            </a:r>
            <a:r>
              <a:rPr lang="en-US" dirty="0"/>
              <a:t> 100 + 36% </a:t>
            </a:r>
            <a:r>
              <a:rPr lang="en-US" dirty="0">
                <a:cs typeface="Arial" charset="0"/>
              </a:rPr>
              <a:t>×</a:t>
            </a:r>
            <a:r>
              <a:rPr lang="en-US" dirty="0"/>
              <a:t> 4% </a:t>
            </a:r>
            <a:r>
              <a:rPr lang="en-US" dirty="0">
                <a:cs typeface="Arial" charset="0"/>
              </a:rPr>
              <a:t>×</a:t>
            </a:r>
            <a:r>
              <a:rPr lang="en-US" dirty="0"/>
              <a:t> 100 = 3.44</a:t>
            </a:r>
          </a:p>
          <a:p>
            <a:pPr lvl="1" algn="ctr">
              <a:buFont typeface="Monotype Sorts" pitchFamily="2" charset="2"/>
              <a:buNone/>
            </a:pPr>
            <a:r>
              <a:rPr lang="en-US" dirty="0"/>
              <a:t>So    </a:t>
            </a:r>
            <a:r>
              <a:rPr lang="en-US" dirty="0" err="1"/>
              <a:t>CPI</a:t>
            </a:r>
            <a:r>
              <a:rPr lang="en-US" baseline="-25000" dirty="0" err="1"/>
              <a:t>stalls</a:t>
            </a:r>
            <a:r>
              <a:rPr lang="en-US" dirty="0"/>
              <a:t>  =  2 + 3.44 = 5.44</a:t>
            </a:r>
          </a:p>
          <a:p>
            <a:pPr lvl="1" algn="ctr">
              <a:buFont typeface="Monotype Sorts" pitchFamily="2" charset="2"/>
              <a:buNone/>
            </a:pPr>
            <a:r>
              <a:rPr lang="en-US" sz="1600" dirty="0"/>
              <a:t>	</a:t>
            </a:r>
          </a:p>
          <a:p>
            <a:r>
              <a:rPr lang="en-US"/>
              <a:t>What if the </a:t>
            </a:r>
            <a:r>
              <a:rPr lang="en-US" dirty="0" err="1"/>
              <a:t>CPI</a:t>
            </a:r>
            <a:r>
              <a:rPr lang="en-US" baseline="-25000" dirty="0" err="1"/>
              <a:t>ideal</a:t>
            </a:r>
            <a:r>
              <a:rPr lang="en-US" dirty="0"/>
              <a:t> is reduced to 1?   0.5?   0.25?</a:t>
            </a:r>
          </a:p>
          <a:p>
            <a:r>
              <a:rPr lang="en-US" dirty="0"/>
              <a:t>What if the processor clock rate is doubled (doubling the miss penalty)?</a:t>
            </a:r>
          </a:p>
        </p:txBody>
      </p:sp>
    </p:spTree>
    <p:extLst>
      <p:ext uri="{BB962C8B-B14F-4D97-AF65-F5344CB8AC3E}">
        <p14:creationId xmlns:p14="http://schemas.microsoft.com/office/powerpoint/2010/main" val="12430304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76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762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762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762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7629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7629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76291">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76291">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762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6291"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Average Memory Access Time (AMAT)</a:t>
            </a:r>
            <a:endParaRPr lang="en-US" dirty="0"/>
          </a:p>
        </p:txBody>
      </p:sp>
      <p:sp>
        <p:nvSpPr>
          <p:cNvPr id="3" name="Content Placeholder 2"/>
          <p:cNvSpPr>
            <a:spLocks noGrp="1"/>
          </p:cNvSpPr>
          <p:nvPr>
            <p:ph idx="1"/>
          </p:nvPr>
        </p:nvSpPr>
        <p:spPr>
          <a:xfrm>
            <a:off x="533400" y="914400"/>
            <a:ext cx="8153400" cy="5483552"/>
          </a:xfrm>
        </p:spPr>
        <p:txBody>
          <a:bodyPr/>
          <a:lstStyle/>
          <a:p>
            <a:pPr>
              <a:lnSpc>
                <a:spcPct val="100000"/>
              </a:lnSpc>
              <a:spcBef>
                <a:spcPts val="600"/>
              </a:spcBef>
            </a:pPr>
            <a:r>
              <a:rPr lang="en-US" dirty="0" smtClean="0"/>
              <a:t>A larger cache will have a longer access time.  An increase in hit time will likely add another stage to the pipeline.  At some point the increase in hit time for a larger cache will overcome the improvement in hit rate leading to a decrease in performance.</a:t>
            </a:r>
          </a:p>
          <a:p>
            <a:pPr>
              <a:lnSpc>
                <a:spcPct val="100000"/>
              </a:lnSpc>
              <a:spcBef>
                <a:spcPts val="600"/>
              </a:spcBef>
            </a:pPr>
            <a:r>
              <a:rPr lang="en-US" dirty="0" smtClean="0"/>
              <a:t>Average Memory Access Time (AMAT) is the average to access memory considering both hits and misses</a:t>
            </a:r>
          </a:p>
          <a:p>
            <a:pPr lvl="1">
              <a:lnSpc>
                <a:spcPct val="100000"/>
              </a:lnSpc>
              <a:spcBef>
                <a:spcPts val="600"/>
              </a:spcBef>
            </a:pPr>
            <a:endParaRPr lang="en-US" dirty="0" smtClean="0"/>
          </a:p>
          <a:p>
            <a:pPr marL="287338" lvl="1" indent="-287338" algn="ctr">
              <a:lnSpc>
                <a:spcPct val="100000"/>
              </a:lnSpc>
              <a:spcBef>
                <a:spcPts val="600"/>
              </a:spcBef>
              <a:buNone/>
            </a:pPr>
            <a:r>
              <a:rPr lang="en-US" sz="2400" dirty="0" smtClean="0">
                <a:solidFill>
                  <a:schemeClr val="accent2"/>
                </a:solidFill>
              </a:rPr>
              <a:t>AMAT =  Time for a hit  +  Miss rate x Miss penalty</a:t>
            </a:r>
          </a:p>
          <a:p>
            <a:pPr marL="287338" lvl="1" indent="-287338">
              <a:lnSpc>
                <a:spcPct val="100000"/>
              </a:lnSpc>
              <a:spcBef>
                <a:spcPts val="600"/>
              </a:spcBef>
            </a:pPr>
            <a:endParaRPr lang="en-US" dirty="0" smtClean="0">
              <a:solidFill>
                <a:schemeClr val="accent2"/>
              </a:solidFill>
            </a:endParaRPr>
          </a:p>
          <a:p>
            <a:pPr>
              <a:lnSpc>
                <a:spcPct val="100000"/>
              </a:lnSpc>
              <a:spcBef>
                <a:spcPts val="600"/>
              </a:spcBef>
            </a:pPr>
            <a:r>
              <a:rPr lang="en-US" dirty="0" smtClean="0"/>
              <a:t>What is the AMAT for a processor with a 20 </a:t>
            </a:r>
            <a:r>
              <a:rPr lang="en-US" dirty="0" err="1" smtClean="0"/>
              <a:t>psec</a:t>
            </a:r>
            <a:r>
              <a:rPr lang="en-US" dirty="0" smtClean="0"/>
              <a:t> clock, a miss penalty of 50 clock cycles, a miss rate of 0.02 misses per instruction and a cache access time of 1 clock cycle?</a:t>
            </a:r>
          </a:p>
        </p:txBody>
      </p:sp>
    </p:spTree>
    <p:extLst>
      <p:ext uri="{BB962C8B-B14F-4D97-AF65-F5344CB8AC3E}">
        <p14:creationId xmlns:p14="http://schemas.microsoft.com/office/powerpoint/2010/main" val="150374033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8338" name="Rectangle 2"/>
          <p:cNvSpPr>
            <a:spLocks noGrp="1" noChangeArrowheads="1"/>
          </p:cNvSpPr>
          <p:nvPr>
            <p:ph type="title"/>
          </p:nvPr>
        </p:nvSpPr>
        <p:spPr/>
        <p:txBody>
          <a:bodyPr/>
          <a:lstStyle/>
          <a:p>
            <a:r>
              <a:rPr lang="en-US"/>
              <a:t>Reducing Cache Miss Rates #1</a:t>
            </a:r>
          </a:p>
        </p:txBody>
      </p:sp>
      <p:sp>
        <p:nvSpPr>
          <p:cNvPr id="1678339" name="Rectangle 3"/>
          <p:cNvSpPr>
            <a:spLocks noGrp="1" noChangeArrowheads="1"/>
          </p:cNvSpPr>
          <p:nvPr>
            <p:ph type="body" idx="1"/>
          </p:nvPr>
        </p:nvSpPr>
        <p:spPr>
          <a:xfrm>
            <a:off x="533400" y="914400"/>
            <a:ext cx="8153400" cy="5625130"/>
          </a:xfrm>
        </p:spPr>
        <p:txBody>
          <a:bodyPr/>
          <a:lstStyle/>
          <a:p>
            <a:pPr marL="457200" indent="-457200">
              <a:buFont typeface="Wingdings" pitchFamily="2" charset="2"/>
              <a:buAutoNum type="arabicPeriod"/>
            </a:pPr>
            <a:r>
              <a:rPr lang="en-US" dirty="0"/>
              <a:t>Allow more flexible block placement</a:t>
            </a:r>
          </a:p>
          <a:p>
            <a:pPr marL="457200" indent="-457200"/>
            <a:endParaRPr lang="en-US" dirty="0"/>
          </a:p>
          <a:p>
            <a:pPr marL="457200" indent="-457200"/>
            <a:r>
              <a:rPr lang="en-US" dirty="0"/>
              <a:t>In a </a:t>
            </a:r>
            <a:r>
              <a:rPr lang="en-US" dirty="0">
                <a:solidFill>
                  <a:schemeClr val="accent1"/>
                </a:solidFill>
              </a:rPr>
              <a:t>direct mapped</a:t>
            </a:r>
            <a:r>
              <a:rPr lang="en-US" dirty="0"/>
              <a:t> </a:t>
            </a:r>
            <a:r>
              <a:rPr lang="en-US" dirty="0">
                <a:solidFill>
                  <a:schemeClr val="accent1"/>
                </a:solidFill>
              </a:rPr>
              <a:t>cache</a:t>
            </a:r>
            <a:r>
              <a:rPr lang="en-US" dirty="0"/>
              <a:t> a memory block maps to exactly one cache block</a:t>
            </a:r>
          </a:p>
          <a:p>
            <a:pPr marL="457200" indent="-457200"/>
            <a:r>
              <a:rPr lang="en-US" dirty="0"/>
              <a:t>At the other extreme, could allow a memory block to be mapped to </a:t>
            </a:r>
            <a:r>
              <a:rPr lang="en-US" i="1" dirty="0"/>
              <a:t>any</a:t>
            </a:r>
            <a:r>
              <a:rPr lang="en-US" dirty="0"/>
              <a:t> cache block – </a:t>
            </a:r>
            <a:r>
              <a:rPr lang="en-US" dirty="0">
                <a:solidFill>
                  <a:schemeClr val="accent1"/>
                </a:solidFill>
              </a:rPr>
              <a:t>fully associative cache</a:t>
            </a:r>
          </a:p>
          <a:p>
            <a:pPr marL="457200" indent="-457200"/>
            <a:endParaRPr lang="en-US" dirty="0">
              <a:solidFill>
                <a:schemeClr val="accent1"/>
              </a:solidFill>
            </a:endParaRPr>
          </a:p>
          <a:p>
            <a:pPr marL="457200" indent="-457200"/>
            <a:r>
              <a:rPr lang="en-US" dirty="0"/>
              <a:t>A compromise is to divide the cache into </a:t>
            </a:r>
            <a:r>
              <a:rPr lang="en-US" dirty="0">
                <a:solidFill>
                  <a:schemeClr val="accent1"/>
                </a:solidFill>
              </a:rPr>
              <a:t>sets</a:t>
            </a:r>
            <a:r>
              <a:rPr lang="en-US" dirty="0"/>
              <a:t> each of which consists of n “ways” (</a:t>
            </a:r>
            <a:r>
              <a:rPr lang="en-US" dirty="0">
                <a:solidFill>
                  <a:schemeClr val="accent1"/>
                </a:solidFill>
              </a:rPr>
              <a:t>n-way set associative</a:t>
            </a:r>
            <a:r>
              <a:rPr lang="en-US" dirty="0"/>
              <a:t>).  A memory block maps to a unique set (specified by the index field) and can be placed in any way of that set (so there are n choices)</a:t>
            </a:r>
            <a:endParaRPr lang="en-US" dirty="0">
              <a:solidFill>
                <a:schemeClr val="accent1"/>
              </a:solidFill>
            </a:endParaRPr>
          </a:p>
          <a:p>
            <a:pPr marL="876300" lvl="1" indent="-381000" algn="ctr">
              <a:buFont typeface="Monotype Sorts" pitchFamily="2" charset="2"/>
              <a:buNone/>
            </a:pPr>
            <a:r>
              <a:rPr lang="en-US" dirty="0">
                <a:solidFill>
                  <a:srgbClr val="FF0000"/>
                </a:solidFill>
              </a:rPr>
              <a:t>(block address) modulo (# sets in the cache)</a:t>
            </a:r>
          </a:p>
        </p:txBody>
      </p:sp>
    </p:spTree>
    <p:extLst>
      <p:ext uri="{BB962C8B-B14F-4D97-AF65-F5344CB8AC3E}">
        <p14:creationId xmlns:p14="http://schemas.microsoft.com/office/powerpoint/2010/main" val="20398407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78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783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7833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7833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7833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8339"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0866" name="Rectangle 2"/>
          <p:cNvSpPr>
            <a:spLocks noGrp="1" noChangeArrowheads="1"/>
          </p:cNvSpPr>
          <p:nvPr>
            <p:ph type="title"/>
          </p:nvPr>
        </p:nvSpPr>
        <p:spPr/>
        <p:txBody>
          <a:bodyPr/>
          <a:lstStyle/>
          <a:p>
            <a:r>
              <a:rPr lang="en-US" dirty="0"/>
              <a:t>Reducing Cache Miss Rates #2</a:t>
            </a:r>
          </a:p>
        </p:txBody>
      </p:sp>
      <p:sp>
        <p:nvSpPr>
          <p:cNvPr id="1700867" name="Rectangle 3"/>
          <p:cNvSpPr>
            <a:spLocks noGrp="1" noChangeArrowheads="1"/>
          </p:cNvSpPr>
          <p:nvPr>
            <p:ph type="body" idx="1"/>
          </p:nvPr>
        </p:nvSpPr>
        <p:spPr>
          <a:xfrm>
            <a:off x="533400" y="838200"/>
            <a:ext cx="8153400" cy="5545108"/>
          </a:xfrm>
        </p:spPr>
        <p:txBody>
          <a:bodyPr/>
          <a:lstStyle/>
          <a:p>
            <a:pPr marL="457200" indent="-457200">
              <a:lnSpc>
                <a:spcPct val="100000"/>
              </a:lnSpc>
              <a:spcBef>
                <a:spcPts val="600"/>
              </a:spcBef>
              <a:buFont typeface="Wingdings" pitchFamily="2" charset="2"/>
              <a:buAutoNum type="arabicPeriod" startAt="2"/>
            </a:pPr>
            <a:r>
              <a:rPr lang="en-US" dirty="0"/>
              <a:t>Use multiple levels of caches</a:t>
            </a:r>
          </a:p>
          <a:p>
            <a:pPr marL="876300" lvl="1" indent="-381000">
              <a:lnSpc>
                <a:spcPct val="100000"/>
              </a:lnSpc>
              <a:spcBef>
                <a:spcPts val="600"/>
              </a:spcBef>
            </a:pPr>
            <a:endParaRPr lang="en-US" dirty="0"/>
          </a:p>
          <a:p>
            <a:pPr marL="457200" indent="-457200">
              <a:lnSpc>
                <a:spcPct val="100000"/>
              </a:lnSpc>
              <a:spcBef>
                <a:spcPts val="600"/>
              </a:spcBef>
            </a:pPr>
            <a:r>
              <a:rPr lang="en-US" dirty="0"/>
              <a:t>With advancing technology have more than enough room on the die for bigger L1 caches </a:t>
            </a:r>
            <a:r>
              <a:rPr lang="en-US" i="1" dirty="0"/>
              <a:t>or</a:t>
            </a:r>
            <a:r>
              <a:rPr lang="en-US" dirty="0"/>
              <a:t> for a second level of caches – normally a </a:t>
            </a:r>
            <a:r>
              <a:rPr lang="en-US" dirty="0">
                <a:solidFill>
                  <a:schemeClr val="accent1"/>
                </a:solidFill>
              </a:rPr>
              <a:t>unified</a:t>
            </a:r>
            <a:r>
              <a:rPr lang="en-US" dirty="0"/>
              <a:t> L2 cache (i.e., it holds both instructions and data) and in some cases even a unified L3 cache</a:t>
            </a:r>
          </a:p>
          <a:p>
            <a:pPr marL="457200" indent="-457200">
              <a:lnSpc>
                <a:spcPct val="100000"/>
              </a:lnSpc>
              <a:spcBef>
                <a:spcPts val="600"/>
              </a:spcBef>
            </a:pPr>
            <a:r>
              <a:rPr lang="en-US" dirty="0"/>
              <a:t>For our example, </a:t>
            </a:r>
            <a:r>
              <a:rPr lang="en-US" dirty="0" err="1"/>
              <a:t>CPI</a:t>
            </a:r>
            <a:r>
              <a:rPr lang="en-US" baseline="-25000" dirty="0" err="1"/>
              <a:t>ideal</a:t>
            </a:r>
            <a:r>
              <a:rPr lang="en-US" dirty="0"/>
              <a:t> of 2, 100 cycle miss penalty (to main memory</a:t>
            </a:r>
            <a:r>
              <a:rPr lang="en-US" dirty="0" smtClean="0"/>
              <a:t>) and a 25 cycle miss penalty (to UL2$), </a:t>
            </a:r>
            <a:r>
              <a:rPr lang="en-US" dirty="0"/>
              <a:t>36% load/stores, a 2% (4%) </a:t>
            </a:r>
            <a:r>
              <a:rPr lang="en-US" dirty="0" smtClean="0"/>
              <a:t>L1I</a:t>
            </a:r>
            <a:r>
              <a:rPr lang="en-US" dirty="0"/>
              <a:t>$ </a:t>
            </a:r>
            <a:r>
              <a:rPr lang="en-US" dirty="0" smtClean="0"/>
              <a:t>(L1D</a:t>
            </a:r>
            <a:r>
              <a:rPr lang="en-US" dirty="0"/>
              <a:t>$) miss rate, add </a:t>
            </a:r>
            <a:r>
              <a:rPr lang="en-US" dirty="0" smtClean="0"/>
              <a:t>a 0.5</a:t>
            </a:r>
            <a:r>
              <a:rPr lang="en-US" dirty="0"/>
              <a:t>% </a:t>
            </a:r>
            <a:r>
              <a:rPr lang="en-US" dirty="0" smtClean="0"/>
              <a:t>UL2$ miss </a:t>
            </a:r>
            <a:r>
              <a:rPr lang="en-US" dirty="0"/>
              <a:t>rate</a:t>
            </a:r>
          </a:p>
          <a:p>
            <a:pPr marL="1312863" lvl="2" indent="-342900">
              <a:lnSpc>
                <a:spcPct val="100000"/>
              </a:lnSpc>
              <a:spcBef>
                <a:spcPts val="600"/>
              </a:spcBef>
            </a:pPr>
            <a:endParaRPr lang="en-US" sz="1200" dirty="0"/>
          </a:p>
          <a:p>
            <a:pPr marL="876300" lvl="1" indent="-381000">
              <a:lnSpc>
                <a:spcPct val="100000"/>
              </a:lnSpc>
              <a:spcBef>
                <a:spcPts val="600"/>
              </a:spcBef>
              <a:buFont typeface="Monotype Sorts" pitchFamily="2" charset="2"/>
              <a:buNone/>
            </a:pPr>
            <a:r>
              <a:rPr lang="en-US" dirty="0" err="1"/>
              <a:t>CPI</a:t>
            </a:r>
            <a:r>
              <a:rPr lang="en-US" baseline="-25000" dirty="0" err="1"/>
              <a:t>stalls</a:t>
            </a:r>
            <a:r>
              <a:rPr lang="en-US" baseline="-25000" dirty="0"/>
              <a:t> </a:t>
            </a:r>
            <a:r>
              <a:rPr lang="en-US" dirty="0"/>
              <a:t> =  2  +  .02</a:t>
            </a:r>
            <a:r>
              <a:rPr lang="en-US" dirty="0">
                <a:cs typeface="Arial" charset="0"/>
              </a:rPr>
              <a:t>×</a:t>
            </a:r>
            <a:r>
              <a:rPr lang="en-US" dirty="0"/>
              <a:t>25  +  .36</a:t>
            </a:r>
            <a:r>
              <a:rPr lang="en-US" dirty="0">
                <a:cs typeface="Arial" charset="0"/>
              </a:rPr>
              <a:t>×</a:t>
            </a:r>
            <a:r>
              <a:rPr lang="en-US" dirty="0"/>
              <a:t>.04</a:t>
            </a:r>
            <a:r>
              <a:rPr lang="en-US" dirty="0">
                <a:cs typeface="Arial" charset="0"/>
              </a:rPr>
              <a:t>×</a:t>
            </a:r>
            <a:r>
              <a:rPr lang="en-US" dirty="0"/>
              <a:t>25  +  .005</a:t>
            </a:r>
            <a:r>
              <a:rPr lang="en-US" dirty="0">
                <a:cs typeface="Arial" charset="0"/>
              </a:rPr>
              <a:t>×100  + 					.36×.005×100  =  3.54                                                                	          </a:t>
            </a:r>
            <a:r>
              <a:rPr lang="en-US" dirty="0" smtClean="0">
                <a:cs typeface="Arial" charset="0"/>
              </a:rPr>
              <a:t>			(</a:t>
            </a:r>
            <a:r>
              <a:rPr lang="en-US" dirty="0">
                <a:cs typeface="Arial" charset="0"/>
              </a:rPr>
              <a:t>as compared to 5.44 with no L2$)</a:t>
            </a:r>
          </a:p>
        </p:txBody>
      </p:sp>
    </p:spTree>
    <p:extLst>
      <p:ext uri="{BB962C8B-B14F-4D97-AF65-F5344CB8AC3E}">
        <p14:creationId xmlns:p14="http://schemas.microsoft.com/office/powerpoint/2010/main" val="15743442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00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008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008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008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867"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5986" name="Rectangle 2"/>
          <p:cNvSpPr>
            <a:spLocks noGrp="1" noChangeArrowheads="1"/>
          </p:cNvSpPr>
          <p:nvPr>
            <p:ph type="title"/>
          </p:nvPr>
        </p:nvSpPr>
        <p:spPr/>
        <p:txBody>
          <a:bodyPr/>
          <a:lstStyle/>
          <a:p>
            <a:r>
              <a:rPr lang="en-US"/>
              <a:t>Multilevel Cache Design Considerations</a:t>
            </a:r>
          </a:p>
        </p:txBody>
      </p:sp>
      <p:sp>
        <p:nvSpPr>
          <p:cNvPr id="1705987" name="Rectangle 3"/>
          <p:cNvSpPr>
            <a:spLocks noGrp="1" noChangeArrowheads="1"/>
          </p:cNvSpPr>
          <p:nvPr>
            <p:ph type="body" idx="1"/>
          </p:nvPr>
        </p:nvSpPr>
        <p:spPr>
          <a:xfrm>
            <a:off x="533400" y="762000"/>
            <a:ext cx="8153400" cy="5626669"/>
          </a:xfrm>
        </p:spPr>
        <p:txBody>
          <a:bodyPr/>
          <a:lstStyle/>
          <a:p>
            <a:r>
              <a:rPr lang="en-US" dirty="0"/>
              <a:t>Design considerations for L1 and L2 caches are very different</a:t>
            </a:r>
          </a:p>
          <a:p>
            <a:pPr lvl="1"/>
            <a:r>
              <a:rPr lang="en-US" dirty="0"/>
              <a:t>Primary cache should focus on </a:t>
            </a:r>
            <a:r>
              <a:rPr lang="en-US" dirty="0">
                <a:solidFill>
                  <a:schemeClr val="accent1"/>
                </a:solidFill>
              </a:rPr>
              <a:t>minimizing hit time</a:t>
            </a:r>
            <a:r>
              <a:rPr lang="en-US" dirty="0"/>
              <a:t> in support of a shorter clock cycle</a:t>
            </a:r>
          </a:p>
          <a:p>
            <a:pPr lvl="2"/>
            <a:r>
              <a:rPr lang="en-US" dirty="0"/>
              <a:t>Smaller with smaller block sizes</a:t>
            </a:r>
          </a:p>
          <a:p>
            <a:pPr lvl="1"/>
            <a:r>
              <a:rPr lang="en-US" dirty="0"/>
              <a:t>Secondary cache(s) should focus on </a:t>
            </a:r>
            <a:r>
              <a:rPr lang="en-US" dirty="0">
                <a:solidFill>
                  <a:schemeClr val="accent1"/>
                </a:solidFill>
              </a:rPr>
              <a:t>reducing miss rate</a:t>
            </a:r>
            <a:r>
              <a:rPr lang="en-US" dirty="0"/>
              <a:t> to reduce the penalty of long main memory access times</a:t>
            </a:r>
          </a:p>
          <a:p>
            <a:pPr lvl="2"/>
            <a:r>
              <a:rPr lang="en-US" dirty="0"/>
              <a:t>Larger with larger block </a:t>
            </a:r>
            <a:r>
              <a:rPr lang="en-US" dirty="0" smtClean="0"/>
              <a:t>sizes</a:t>
            </a:r>
          </a:p>
          <a:p>
            <a:pPr lvl="2"/>
            <a:r>
              <a:rPr lang="en-US" dirty="0" smtClean="0"/>
              <a:t>Higher levels of </a:t>
            </a:r>
            <a:r>
              <a:rPr lang="en-US" dirty="0" err="1" smtClean="0"/>
              <a:t>associativity</a:t>
            </a:r>
            <a:endParaRPr lang="en-US" dirty="0"/>
          </a:p>
          <a:p>
            <a:r>
              <a:rPr lang="en-US" dirty="0"/>
              <a:t>The miss penalty of the L1 cache is significantly reduced by the presence of an L2 cache – so it can be smaller (i.e., faster) but have a higher miss rate</a:t>
            </a:r>
          </a:p>
          <a:p>
            <a:r>
              <a:rPr lang="en-US" dirty="0"/>
              <a:t>For the L2 cache, hit time is less important than miss rate</a:t>
            </a:r>
          </a:p>
          <a:p>
            <a:pPr lvl="1"/>
            <a:r>
              <a:rPr lang="en-US" dirty="0"/>
              <a:t>The L2$ hit time determines L1$’s miss penalty</a:t>
            </a:r>
          </a:p>
          <a:p>
            <a:pPr lvl="1"/>
            <a:r>
              <a:rPr lang="en-US" dirty="0"/>
              <a:t>L2$ local miss rate &gt;&gt; than the global miss rate</a:t>
            </a:r>
          </a:p>
        </p:txBody>
      </p:sp>
    </p:spTree>
    <p:extLst>
      <p:ext uri="{BB962C8B-B14F-4D97-AF65-F5344CB8AC3E}">
        <p14:creationId xmlns:p14="http://schemas.microsoft.com/office/powerpoint/2010/main" val="2266326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059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059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0598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0598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0598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0598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0598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0598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0598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059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598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Split </a:t>
            </a:r>
            <a:r>
              <a:rPr lang="en-US" dirty="0" err="1" smtClean="0"/>
              <a:t>vs</a:t>
            </a:r>
            <a:r>
              <a:rPr lang="en-US" dirty="0" smtClean="0"/>
              <a:t> Unified Caches</a:t>
            </a:r>
            <a:endParaRPr lang="en-US" dirty="0"/>
          </a:p>
        </p:txBody>
      </p:sp>
      <p:sp>
        <p:nvSpPr>
          <p:cNvPr id="3" name="Content Placeholder 2"/>
          <p:cNvSpPr>
            <a:spLocks noGrp="1"/>
          </p:cNvSpPr>
          <p:nvPr>
            <p:ph idx="1"/>
          </p:nvPr>
        </p:nvSpPr>
        <p:spPr>
          <a:xfrm>
            <a:off x="533400" y="914400"/>
            <a:ext cx="8153400" cy="5720540"/>
          </a:xfrm>
        </p:spPr>
        <p:txBody>
          <a:bodyPr/>
          <a:lstStyle/>
          <a:p>
            <a:r>
              <a:rPr lang="en-US" dirty="0" smtClean="0"/>
              <a:t>Split L1I$ and L1D$: </a:t>
            </a:r>
            <a:r>
              <a:rPr lang="en-US" dirty="0" err="1" smtClean="0"/>
              <a:t>instr’s</a:t>
            </a:r>
            <a:r>
              <a:rPr lang="en-US" dirty="0" smtClean="0"/>
              <a:t> and data in different caches at L1</a:t>
            </a:r>
          </a:p>
          <a:p>
            <a:pPr lvl="1"/>
            <a:r>
              <a:rPr lang="en-US" dirty="0" smtClean="0"/>
              <a:t>To minimize structural hazards and </a:t>
            </a:r>
            <a:r>
              <a:rPr lang="en-US" dirty="0" err="1" smtClean="0"/>
              <a:t>t</a:t>
            </a:r>
            <a:r>
              <a:rPr lang="en-US" baseline="-25000" dirty="0" err="1" smtClean="0"/>
              <a:t>hit</a:t>
            </a:r>
            <a:endParaRPr lang="en-US" baseline="-25000" dirty="0" smtClean="0"/>
          </a:p>
          <a:p>
            <a:pPr lvl="2"/>
            <a:r>
              <a:rPr lang="en-US" dirty="0" smtClean="0"/>
              <a:t>So low capacity/associativity (to reduce </a:t>
            </a:r>
            <a:r>
              <a:rPr lang="en-US" dirty="0" err="1" smtClean="0"/>
              <a:t>t</a:t>
            </a:r>
            <a:r>
              <a:rPr lang="en-US" baseline="-25000" dirty="0" err="1" smtClean="0"/>
              <a:t>hit</a:t>
            </a:r>
            <a:r>
              <a:rPr lang="en-US" dirty="0" smtClean="0"/>
              <a:t>)</a:t>
            </a:r>
          </a:p>
          <a:p>
            <a:pPr lvl="2"/>
            <a:r>
              <a:rPr lang="en-US" dirty="0" smtClean="0"/>
              <a:t>So small to medium block size (to reduce conflict misses)</a:t>
            </a:r>
          </a:p>
          <a:p>
            <a:pPr lvl="1"/>
            <a:r>
              <a:rPr lang="en-US" dirty="0" smtClean="0"/>
              <a:t>To optimize L1I$ for wide output (superscalar) and no writes</a:t>
            </a:r>
            <a:endParaRPr lang="en-US" dirty="0"/>
          </a:p>
          <a:p>
            <a:r>
              <a:rPr lang="en-US" dirty="0" smtClean="0"/>
              <a:t>Unified L2, L3, …: </a:t>
            </a:r>
            <a:r>
              <a:rPr lang="en-US" dirty="0" err="1" smtClean="0"/>
              <a:t>instr’s</a:t>
            </a:r>
            <a:r>
              <a:rPr lang="en-US" dirty="0" smtClean="0"/>
              <a:t> and data together in one cache</a:t>
            </a:r>
          </a:p>
          <a:p>
            <a:pPr lvl="1"/>
            <a:r>
              <a:rPr lang="en-US" dirty="0" smtClean="0"/>
              <a:t>To minimize %</a:t>
            </a:r>
            <a:r>
              <a:rPr lang="en-US" baseline="-25000" dirty="0" smtClean="0"/>
              <a:t>miss</a:t>
            </a:r>
            <a:r>
              <a:rPr lang="en-US" dirty="0" smtClean="0"/>
              <a:t> (</a:t>
            </a:r>
            <a:r>
              <a:rPr lang="en-US" dirty="0" err="1" smtClean="0"/>
              <a:t>t</a:t>
            </a:r>
            <a:r>
              <a:rPr lang="en-US" baseline="-25000" dirty="0" err="1" smtClean="0"/>
              <a:t>hit</a:t>
            </a:r>
            <a:r>
              <a:rPr lang="en-US" dirty="0" smtClean="0"/>
              <a:t> is less important due to (hopefully) infrequent accesses)</a:t>
            </a:r>
          </a:p>
          <a:p>
            <a:pPr lvl="2"/>
            <a:r>
              <a:rPr lang="en-US" dirty="0" smtClean="0"/>
              <a:t>So high capacity/associativity/block size (to reduce %</a:t>
            </a:r>
            <a:r>
              <a:rPr lang="en-US" baseline="-25000" dirty="0" smtClean="0"/>
              <a:t>miss</a:t>
            </a:r>
            <a:r>
              <a:rPr lang="en-US" dirty="0" smtClean="0"/>
              <a:t>)</a:t>
            </a:r>
          </a:p>
          <a:p>
            <a:pPr lvl="1"/>
            <a:r>
              <a:rPr lang="en-US" dirty="0" smtClean="0"/>
              <a:t>Fewer capacity misses: unused </a:t>
            </a:r>
            <a:r>
              <a:rPr lang="en-US" dirty="0" err="1" smtClean="0"/>
              <a:t>instr</a:t>
            </a:r>
            <a:r>
              <a:rPr lang="en-US" dirty="0" smtClean="0"/>
              <a:t> capacity can be used for data</a:t>
            </a:r>
          </a:p>
          <a:p>
            <a:pPr lvl="1"/>
            <a:r>
              <a:rPr lang="en-US" dirty="0" smtClean="0"/>
              <a:t>More conflict misses: </a:t>
            </a:r>
            <a:r>
              <a:rPr lang="en-US" dirty="0" err="1" smtClean="0"/>
              <a:t>instr</a:t>
            </a:r>
            <a:r>
              <a:rPr lang="en-US" dirty="0"/>
              <a:t> </a:t>
            </a:r>
            <a:r>
              <a:rPr lang="en-US" dirty="0" smtClean="0"/>
              <a:t>/ data conflicts (smaller effect in large caches)</a:t>
            </a:r>
          </a:p>
          <a:p>
            <a:pPr lvl="1"/>
            <a:r>
              <a:rPr lang="en-US" dirty="0" err="1" smtClean="0"/>
              <a:t>Instr</a:t>
            </a:r>
            <a:r>
              <a:rPr lang="en-US" dirty="0"/>
              <a:t> </a:t>
            </a:r>
            <a:r>
              <a:rPr lang="en-US" dirty="0" smtClean="0"/>
              <a:t>/ data structural hazards are rare (would take a simultaneous L1I$ and L1D$ miss)</a:t>
            </a:r>
          </a:p>
        </p:txBody>
      </p:sp>
    </p:spTree>
    <p:extLst>
      <p:ext uri="{BB962C8B-B14F-4D97-AF65-F5344CB8AC3E}">
        <p14:creationId xmlns:p14="http://schemas.microsoft.com/office/powerpoint/2010/main" val="79225504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Reducing Cache Miss Rates </a:t>
            </a:r>
            <a:r>
              <a:rPr lang="en-US" dirty="0" smtClean="0"/>
              <a:t>#3</a:t>
            </a:r>
            <a:endParaRPr lang="en-US" dirty="0"/>
          </a:p>
        </p:txBody>
      </p:sp>
      <p:sp>
        <p:nvSpPr>
          <p:cNvPr id="3" name="Content Placeholder 2"/>
          <p:cNvSpPr>
            <a:spLocks noGrp="1"/>
          </p:cNvSpPr>
          <p:nvPr>
            <p:ph idx="1"/>
          </p:nvPr>
        </p:nvSpPr>
        <p:spPr>
          <a:xfrm>
            <a:off x="533400" y="914400"/>
            <a:ext cx="8153400" cy="5212709"/>
          </a:xfrm>
        </p:spPr>
        <p:txBody>
          <a:bodyPr/>
          <a:lstStyle/>
          <a:p>
            <a:r>
              <a:rPr lang="en-US" dirty="0" smtClean="0"/>
              <a:t>Hardware prefetching</a:t>
            </a:r>
          </a:p>
          <a:p>
            <a:pPr lvl="1"/>
            <a:r>
              <a:rPr lang="en-US" dirty="0" smtClean="0"/>
              <a:t>Fetch blocks into the cache proactively (speculatively)</a:t>
            </a:r>
          </a:p>
          <a:p>
            <a:pPr lvl="1"/>
            <a:r>
              <a:rPr lang="en-US" dirty="0" smtClean="0"/>
              <a:t>Key is to anticipate the upcoming miss addresses accurately</a:t>
            </a:r>
          </a:p>
          <a:p>
            <a:pPr lvl="1"/>
            <a:r>
              <a:rPr lang="en-US" dirty="0" smtClean="0"/>
              <a:t>Relies on having unused memory bandwidth available</a:t>
            </a:r>
          </a:p>
          <a:p>
            <a:r>
              <a:rPr lang="en-US" dirty="0" smtClean="0"/>
              <a:t>A simple case is to use </a:t>
            </a:r>
            <a:r>
              <a:rPr lang="en-US" dirty="0" smtClean="0">
                <a:solidFill>
                  <a:srgbClr val="FF0000"/>
                </a:solidFill>
              </a:rPr>
              <a:t>next block </a:t>
            </a:r>
            <a:r>
              <a:rPr lang="en-US" dirty="0" smtClean="0"/>
              <a:t>prefetching</a:t>
            </a:r>
          </a:p>
          <a:p>
            <a:pPr lvl="1"/>
            <a:r>
              <a:rPr lang="en-US" dirty="0" smtClean="0"/>
              <a:t>Miss on address X → anticipate next reference miss on              X + block-size</a:t>
            </a:r>
          </a:p>
          <a:p>
            <a:pPr lvl="1"/>
            <a:r>
              <a:rPr lang="en-US" dirty="0" smtClean="0"/>
              <a:t>Works well for </a:t>
            </a:r>
            <a:r>
              <a:rPr lang="en-US" dirty="0" err="1" smtClean="0"/>
              <a:t>instr’s</a:t>
            </a:r>
            <a:r>
              <a:rPr lang="en-US" dirty="0" smtClean="0"/>
              <a:t> (sequential execution) and for arrays of data</a:t>
            </a:r>
          </a:p>
          <a:p>
            <a:r>
              <a:rPr lang="en-US" dirty="0" smtClean="0"/>
              <a:t>Need to initiate </a:t>
            </a:r>
            <a:r>
              <a:rPr lang="en-US" dirty="0" err="1" smtClean="0"/>
              <a:t>prefetches</a:t>
            </a:r>
            <a:r>
              <a:rPr lang="en-US" dirty="0" smtClean="0"/>
              <a:t> sufficiently in advance</a:t>
            </a:r>
          </a:p>
          <a:p>
            <a:r>
              <a:rPr lang="en-US" dirty="0" smtClean="0"/>
              <a:t>If </a:t>
            </a:r>
            <a:r>
              <a:rPr lang="en-US" dirty="0" err="1" smtClean="0"/>
              <a:t>prefetch</a:t>
            </a:r>
            <a:r>
              <a:rPr lang="en-US" dirty="0" smtClean="0"/>
              <a:t> </a:t>
            </a:r>
            <a:r>
              <a:rPr lang="en-US" dirty="0" err="1" smtClean="0"/>
              <a:t>instr</a:t>
            </a:r>
            <a:r>
              <a:rPr lang="en-US" dirty="0" smtClean="0"/>
              <a:t>/data that is not going to be used then have polluted the cache with unnecessary data (possibly evicting useful data)</a:t>
            </a:r>
            <a:endParaRPr lang="en-US" dirty="0"/>
          </a:p>
        </p:txBody>
      </p:sp>
    </p:spTree>
    <p:extLst>
      <p:ext uri="{BB962C8B-B14F-4D97-AF65-F5344CB8AC3E}">
        <p14:creationId xmlns:p14="http://schemas.microsoft.com/office/powerpoint/2010/main" val="103199714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7010" name="Rectangle 2"/>
          <p:cNvSpPr>
            <a:spLocks noGrp="1" noChangeArrowheads="1"/>
          </p:cNvSpPr>
          <p:nvPr>
            <p:ph type="title"/>
          </p:nvPr>
        </p:nvSpPr>
        <p:spPr/>
        <p:txBody>
          <a:bodyPr/>
          <a:lstStyle/>
          <a:p>
            <a:r>
              <a:rPr lang="en-US"/>
              <a:t>Two Machines’ Cache Parameters</a:t>
            </a:r>
          </a:p>
        </p:txBody>
      </p:sp>
      <p:graphicFrame>
        <p:nvGraphicFramePr>
          <p:cNvPr id="1707128" name="Group 120"/>
          <p:cNvGraphicFramePr>
            <a:graphicFrameLocks noGrp="1"/>
          </p:cNvGraphicFramePr>
          <p:nvPr>
            <p:extLst>
              <p:ext uri="{D42A27DB-BD31-4B8C-83A1-F6EECF244321}">
                <p14:modId xmlns:p14="http://schemas.microsoft.com/office/powerpoint/2010/main" val="1319428625"/>
              </p:ext>
            </p:extLst>
          </p:nvPr>
        </p:nvGraphicFramePr>
        <p:xfrm>
          <a:off x="304800" y="990600"/>
          <a:ext cx="8534400" cy="5394960"/>
        </p:xfrm>
        <a:graphic>
          <a:graphicData uri="http://schemas.openxmlformats.org/drawingml/2006/table">
            <a:tbl>
              <a:tblPr/>
              <a:tblGrid>
                <a:gridCol w="2157743"/>
                <a:gridCol w="3110944"/>
                <a:gridCol w="3265713"/>
              </a:tblGrid>
              <a:tr h="312738">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endParaRPr kumimoji="0" lang="en-US" sz="18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Arial" charset="0"/>
                        </a:rPr>
                        <a:t>Intel Nehalem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Arial" charset="0"/>
                        </a:rPr>
                        <a:t>AMD Barcelona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L1 cache organization &amp; size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defRPr/>
                      </a:pPr>
                      <a:r>
                        <a:rPr kumimoji="0" lang="en-US" sz="1800" b="0" i="0" u="none" strike="noStrike" cap="none" normalizeH="0" baseline="0" dirty="0" smtClean="0">
                          <a:ln>
                            <a:noFill/>
                          </a:ln>
                          <a:solidFill>
                            <a:schemeClr val="tx1"/>
                          </a:solidFill>
                          <a:effectLst/>
                          <a:latin typeface="Arial" charset="0"/>
                        </a:rPr>
                        <a:t>Split I$ and D$; 32KB for each per core; 64B blocks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defRPr/>
                      </a:pPr>
                      <a:r>
                        <a:rPr kumimoji="0" lang="en-US" sz="1800" b="0" i="0" u="none" strike="noStrike" cap="none" normalizeH="0" baseline="0" dirty="0" smtClean="0">
                          <a:ln>
                            <a:noFill/>
                          </a:ln>
                          <a:solidFill>
                            <a:schemeClr val="tx1"/>
                          </a:solidFill>
                          <a:effectLst/>
                          <a:latin typeface="Arial" charset="0"/>
                        </a:rPr>
                        <a:t>Split I$ and D$; 64KB for each per core; 64B blocks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L1 </a:t>
                      </a:r>
                      <a:r>
                        <a:rPr kumimoji="0" lang="en-US" sz="1800" b="0" i="0" u="none" strike="noStrike" cap="none" normalizeH="0" baseline="0" dirty="0" err="1" smtClean="0">
                          <a:ln>
                            <a:noFill/>
                          </a:ln>
                          <a:solidFill>
                            <a:schemeClr val="tx1"/>
                          </a:solidFill>
                          <a:effectLst/>
                          <a:latin typeface="Arial" charset="0"/>
                        </a:rPr>
                        <a:t>associativity</a:t>
                      </a:r>
                      <a:endParaRPr kumimoji="0" lang="en-US" sz="18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4-way (I), 8-way (D) set assoc.; ~LRU replacement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2-way set assoc.; LRU replacement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L1 write policy</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write-back, write-allocate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write-back, write-allocate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11150">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L2 cache organization &amp; size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Unified</a:t>
                      </a:r>
                      <a:r>
                        <a:rPr kumimoji="0" lang="en-US" sz="1800" b="0" i="0" u="none" strike="noStrike" cap="none" normalizeH="0" baseline="0" smtClean="0">
                          <a:ln>
                            <a:noFill/>
                          </a:ln>
                          <a:solidFill>
                            <a:schemeClr val="tx1"/>
                          </a:solidFill>
                          <a:effectLst/>
                          <a:latin typeface="Arial" charset="0"/>
                        </a:rPr>
                        <a:t>; 256KB </a:t>
                      </a:r>
                      <a:r>
                        <a:rPr kumimoji="0" lang="en-US" sz="1800" b="0" i="0" u="none" strike="noStrike" cap="none" normalizeH="0" baseline="0" dirty="0" smtClean="0">
                          <a:ln>
                            <a:noFill/>
                          </a:ln>
                          <a:solidFill>
                            <a:schemeClr val="tx1"/>
                          </a:solidFill>
                          <a:effectLst/>
                          <a:latin typeface="Arial" charset="0"/>
                        </a:rPr>
                        <a:t>(0.25MB) per core; 64B blocks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Unified; 512KB (0.5MB) per core; 64B blocks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L2 </a:t>
                      </a:r>
                      <a:r>
                        <a:rPr kumimoji="0" lang="en-US" sz="1800" b="0" i="0" u="none" strike="noStrike" cap="none" normalizeH="0" baseline="0" dirty="0" err="1" smtClean="0">
                          <a:ln>
                            <a:noFill/>
                          </a:ln>
                          <a:solidFill>
                            <a:schemeClr val="tx1"/>
                          </a:solidFill>
                          <a:effectLst/>
                          <a:latin typeface="Arial" charset="0"/>
                        </a:rPr>
                        <a:t>associativity</a:t>
                      </a:r>
                      <a:endParaRPr kumimoji="0" lang="en-US" sz="18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8-way set assoc.; ~LRU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16-way set assoc.; ~LRU</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L2 write policy</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smtClean="0">
                          <a:ln>
                            <a:noFill/>
                          </a:ln>
                          <a:solidFill>
                            <a:schemeClr val="tx1"/>
                          </a:solidFill>
                          <a:effectLst/>
                          <a:latin typeface="Arial" charset="0"/>
                        </a:rPr>
                        <a:t>write-back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write-back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L2 write policy</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write-back, write-allocate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write-back, write-allocate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L3 cache organization &amp; size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Unified; 8192KB (8MB) shared by cores; 64B blocks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Unified; 2048KB (2MB) shared by cores; 64B blocks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L3 </a:t>
                      </a:r>
                      <a:r>
                        <a:rPr kumimoji="0" lang="en-US" sz="1800" b="0" i="0" u="none" strike="noStrike" cap="none" normalizeH="0" baseline="0" dirty="0" err="1" smtClean="0">
                          <a:ln>
                            <a:noFill/>
                          </a:ln>
                          <a:solidFill>
                            <a:schemeClr val="tx1"/>
                          </a:solidFill>
                          <a:effectLst/>
                          <a:latin typeface="Arial" charset="0"/>
                        </a:rPr>
                        <a:t>associativity</a:t>
                      </a:r>
                      <a:endParaRPr kumimoji="0" lang="en-US" sz="18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16-way set assoc.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32-way set assoc.; evict block shared by fewest cores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L3 write policy</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write-back, write-allocate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accent1"/>
                        </a:buClr>
                        <a:buSzPct val="75000"/>
                        <a:buFont typeface="Wingdings" pitchFamily="2" charset="2"/>
                        <a:buNone/>
                        <a:tabLst/>
                      </a:pPr>
                      <a:r>
                        <a:rPr kumimoji="0" lang="en-US" sz="1800" b="0" i="0" u="none" strike="noStrike" cap="none" normalizeH="0" baseline="0" dirty="0" smtClean="0">
                          <a:ln>
                            <a:noFill/>
                          </a:ln>
                          <a:solidFill>
                            <a:schemeClr val="tx1"/>
                          </a:solidFill>
                          <a:effectLst/>
                          <a:latin typeface="Arial" charset="0"/>
                        </a:rPr>
                        <a:t>write-back; write-allocate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591003588"/>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0690" name="Rectangle 2"/>
          <p:cNvSpPr>
            <a:spLocks noGrp="1" noChangeArrowheads="1"/>
          </p:cNvSpPr>
          <p:nvPr>
            <p:ph type="title"/>
          </p:nvPr>
        </p:nvSpPr>
        <p:spPr>
          <a:xfrm>
            <a:off x="609600" y="304800"/>
            <a:ext cx="7296869" cy="426142"/>
          </a:xfrm>
          <a:noFill/>
          <a:ln/>
        </p:spPr>
        <p:txBody>
          <a:bodyPr wrap="none"/>
          <a:lstStyle/>
          <a:p>
            <a:r>
              <a:rPr lang="en-US" dirty="0" smtClean="0"/>
              <a:t>Summary:  Improving </a:t>
            </a:r>
            <a:r>
              <a:rPr lang="en-US" dirty="0"/>
              <a:t>Cache Performance</a:t>
            </a:r>
          </a:p>
        </p:txBody>
      </p:sp>
      <p:sp>
        <p:nvSpPr>
          <p:cNvPr id="1650691" name="Rectangle 3"/>
          <p:cNvSpPr>
            <a:spLocks noGrp="1" noChangeArrowheads="1"/>
          </p:cNvSpPr>
          <p:nvPr>
            <p:ph type="body" idx="1"/>
          </p:nvPr>
        </p:nvSpPr>
        <p:spPr>
          <a:xfrm>
            <a:off x="381000" y="762000"/>
            <a:ext cx="8305800" cy="5248275"/>
          </a:xfrm>
          <a:noFill/>
          <a:ln/>
        </p:spPr>
        <p:txBody>
          <a:bodyPr/>
          <a:lstStyle/>
          <a:p>
            <a:pPr>
              <a:lnSpc>
                <a:spcPct val="100000"/>
              </a:lnSpc>
              <a:spcBef>
                <a:spcPts val="600"/>
              </a:spcBef>
              <a:buFont typeface="Wingdings" pitchFamily="2" charset="2"/>
              <a:buNone/>
            </a:pPr>
            <a:r>
              <a:rPr lang="en-US" dirty="0"/>
              <a:t>0. Reduce the time to hit in the cache</a:t>
            </a:r>
          </a:p>
          <a:p>
            <a:pPr lvl="1">
              <a:lnSpc>
                <a:spcPct val="100000"/>
              </a:lnSpc>
              <a:spcBef>
                <a:spcPts val="600"/>
              </a:spcBef>
            </a:pPr>
            <a:r>
              <a:rPr lang="en-US" dirty="0"/>
              <a:t>smaller cache</a:t>
            </a:r>
          </a:p>
          <a:p>
            <a:pPr lvl="1">
              <a:lnSpc>
                <a:spcPct val="100000"/>
              </a:lnSpc>
              <a:spcBef>
                <a:spcPts val="600"/>
              </a:spcBef>
            </a:pPr>
            <a:r>
              <a:rPr lang="en-US" dirty="0"/>
              <a:t>direct mapped cache</a:t>
            </a:r>
          </a:p>
          <a:p>
            <a:pPr lvl="1">
              <a:lnSpc>
                <a:spcPct val="100000"/>
              </a:lnSpc>
              <a:spcBef>
                <a:spcPts val="600"/>
              </a:spcBef>
            </a:pPr>
            <a:r>
              <a:rPr lang="en-US" dirty="0"/>
              <a:t>smaller blocks</a:t>
            </a:r>
          </a:p>
          <a:p>
            <a:pPr lvl="1">
              <a:lnSpc>
                <a:spcPct val="100000"/>
              </a:lnSpc>
              <a:spcBef>
                <a:spcPts val="600"/>
              </a:spcBef>
            </a:pPr>
            <a:r>
              <a:rPr lang="en-US" dirty="0"/>
              <a:t>for writes </a:t>
            </a:r>
          </a:p>
          <a:p>
            <a:pPr lvl="2">
              <a:lnSpc>
                <a:spcPct val="100000"/>
              </a:lnSpc>
              <a:spcBef>
                <a:spcPts val="600"/>
              </a:spcBef>
            </a:pPr>
            <a:r>
              <a:rPr lang="en-US" dirty="0"/>
              <a:t>no write allocate – no “hit” on cache, just write to write buffer</a:t>
            </a:r>
          </a:p>
          <a:p>
            <a:pPr lvl="2">
              <a:lnSpc>
                <a:spcPct val="100000"/>
              </a:lnSpc>
              <a:spcBef>
                <a:spcPts val="600"/>
              </a:spcBef>
            </a:pPr>
            <a:r>
              <a:rPr lang="en-US" dirty="0"/>
              <a:t>write allocate – to avoid two cycles (first check for hit, then write) pipeline writes via a delayed write buffer to cache</a:t>
            </a:r>
          </a:p>
          <a:p>
            <a:pPr lvl="2">
              <a:lnSpc>
                <a:spcPct val="100000"/>
              </a:lnSpc>
              <a:spcBef>
                <a:spcPts val="600"/>
              </a:spcBef>
            </a:pPr>
            <a:endParaRPr lang="en-US" dirty="0"/>
          </a:p>
          <a:p>
            <a:pPr>
              <a:lnSpc>
                <a:spcPct val="100000"/>
              </a:lnSpc>
              <a:spcBef>
                <a:spcPts val="600"/>
              </a:spcBef>
              <a:buFont typeface="Wingdings" pitchFamily="2" charset="2"/>
              <a:buNone/>
            </a:pPr>
            <a:r>
              <a:rPr lang="en-US" dirty="0"/>
              <a:t>1. Reduce the miss rate</a:t>
            </a:r>
          </a:p>
          <a:p>
            <a:pPr lvl="1">
              <a:lnSpc>
                <a:spcPct val="100000"/>
              </a:lnSpc>
              <a:spcBef>
                <a:spcPts val="600"/>
              </a:spcBef>
            </a:pPr>
            <a:r>
              <a:rPr lang="en-US" dirty="0"/>
              <a:t>bigger cache</a:t>
            </a:r>
          </a:p>
          <a:p>
            <a:pPr lvl="1">
              <a:lnSpc>
                <a:spcPct val="100000"/>
              </a:lnSpc>
              <a:spcBef>
                <a:spcPts val="600"/>
              </a:spcBef>
            </a:pPr>
            <a:r>
              <a:rPr lang="en-US" dirty="0"/>
              <a:t>more flexible placement (increase </a:t>
            </a:r>
            <a:r>
              <a:rPr lang="en-US" dirty="0" err="1"/>
              <a:t>associativity</a:t>
            </a:r>
            <a:r>
              <a:rPr lang="en-US" dirty="0"/>
              <a:t>)</a:t>
            </a:r>
          </a:p>
          <a:p>
            <a:pPr lvl="1">
              <a:lnSpc>
                <a:spcPct val="100000"/>
              </a:lnSpc>
              <a:spcBef>
                <a:spcPts val="600"/>
              </a:spcBef>
            </a:pPr>
            <a:r>
              <a:rPr lang="en-US" dirty="0"/>
              <a:t>larger blocks (16 to 64 bytes typical)</a:t>
            </a:r>
          </a:p>
          <a:p>
            <a:pPr lvl="1">
              <a:lnSpc>
                <a:spcPct val="100000"/>
              </a:lnSpc>
              <a:spcBef>
                <a:spcPts val="600"/>
              </a:spcBef>
            </a:pPr>
            <a:r>
              <a:rPr lang="en-US" dirty="0"/>
              <a:t>victim cache – small buffer holding most recently discarded blocks </a:t>
            </a:r>
          </a:p>
        </p:txBody>
      </p:sp>
    </p:spTree>
    <p:extLst>
      <p:ext uri="{BB962C8B-B14F-4D97-AF65-F5344CB8AC3E}">
        <p14:creationId xmlns:p14="http://schemas.microsoft.com/office/powerpoint/2010/main" val="12951629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506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506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5069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5069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5069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50691">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5069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50691">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50691">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50691">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50691">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5069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0691"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1714" name="Rectangle 2"/>
          <p:cNvSpPr>
            <a:spLocks noGrp="1" noChangeArrowheads="1"/>
          </p:cNvSpPr>
          <p:nvPr>
            <p:ph type="title"/>
          </p:nvPr>
        </p:nvSpPr>
        <p:spPr>
          <a:xfrm>
            <a:off x="609600" y="304800"/>
            <a:ext cx="7296869" cy="426142"/>
          </a:xfrm>
          <a:noFill/>
          <a:ln/>
        </p:spPr>
        <p:txBody>
          <a:bodyPr wrap="none"/>
          <a:lstStyle/>
          <a:p>
            <a:r>
              <a:rPr lang="en-US" dirty="0" smtClean="0"/>
              <a:t>Summary:  Improving </a:t>
            </a:r>
            <a:r>
              <a:rPr lang="en-US" dirty="0"/>
              <a:t>Cache Performance</a:t>
            </a:r>
          </a:p>
        </p:txBody>
      </p:sp>
      <p:sp>
        <p:nvSpPr>
          <p:cNvPr id="1651715" name="Rectangle 3"/>
          <p:cNvSpPr>
            <a:spLocks noGrp="1" noChangeArrowheads="1"/>
          </p:cNvSpPr>
          <p:nvPr>
            <p:ph type="body" idx="1"/>
          </p:nvPr>
        </p:nvSpPr>
        <p:spPr>
          <a:xfrm>
            <a:off x="381000" y="838200"/>
            <a:ext cx="8077200" cy="4498667"/>
          </a:xfrm>
          <a:noFill/>
          <a:ln/>
        </p:spPr>
        <p:txBody>
          <a:bodyPr/>
          <a:lstStyle/>
          <a:p>
            <a:pPr>
              <a:lnSpc>
                <a:spcPct val="100000"/>
              </a:lnSpc>
              <a:spcBef>
                <a:spcPts val="600"/>
              </a:spcBef>
              <a:buFont typeface="Wingdings" pitchFamily="2" charset="2"/>
              <a:buNone/>
            </a:pPr>
            <a:r>
              <a:rPr lang="en-US" dirty="0"/>
              <a:t>2. Reduce the miss penalty</a:t>
            </a:r>
          </a:p>
          <a:p>
            <a:pPr lvl="1">
              <a:lnSpc>
                <a:spcPct val="100000"/>
              </a:lnSpc>
              <a:spcBef>
                <a:spcPts val="600"/>
              </a:spcBef>
            </a:pPr>
            <a:r>
              <a:rPr lang="en-US" dirty="0"/>
              <a:t>smaller blocks</a:t>
            </a:r>
          </a:p>
          <a:p>
            <a:pPr lvl="1">
              <a:lnSpc>
                <a:spcPct val="100000"/>
              </a:lnSpc>
              <a:spcBef>
                <a:spcPts val="600"/>
              </a:spcBef>
            </a:pPr>
            <a:r>
              <a:rPr lang="en-US" dirty="0"/>
              <a:t>use a write buffer to hold dirty blocks being replaced so don’t have to wait for the write to complete before reading </a:t>
            </a:r>
          </a:p>
          <a:p>
            <a:pPr lvl="1">
              <a:lnSpc>
                <a:spcPct val="100000"/>
              </a:lnSpc>
              <a:spcBef>
                <a:spcPts val="600"/>
              </a:spcBef>
            </a:pPr>
            <a:r>
              <a:rPr lang="en-US" dirty="0"/>
              <a:t>check write buffer (and/or victim cache) on read miss – may get lucky </a:t>
            </a:r>
          </a:p>
          <a:p>
            <a:pPr lvl="1">
              <a:lnSpc>
                <a:spcPct val="100000"/>
              </a:lnSpc>
              <a:spcBef>
                <a:spcPts val="600"/>
              </a:spcBef>
            </a:pPr>
            <a:r>
              <a:rPr lang="en-US" dirty="0"/>
              <a:t>for large blocks fetch critical word first</a:t>
            </a:r>
          </a:p>
          <a:p>
            <a:pPr lvl="1">
              <a:lnSpc>
                <a:spcPct val="100000"/>
              </a:lnSpc>
              <a:spcBef>
                <a:spcPts val="600"/>
              </a:spcBef>
            </a:pPr>
            <a:r>
              <a:rPr lang="en-US" dirty="0"/>
              <a:t>use multiple cache levels – L2 cache not tied to CPU clock rate</a:t>
            </a:r>
          </a:p>
          <a:p>
            <a:pPr lvl="1">
              <a:lnSpc>
                <a:spcPct val="100000"/>
              </a:lnSpc>
              <a:spcBef>
                <a:spcPts val="600"/>
              </a:spcBef>
            </a:pPr>
            <a:r>
              <a:rPr lang="en-US" dirty="0"/>
              <a:t>faster backing store/improved memory bandwidth</a:t>
            </a:r>
          </a:p>
          <a:p>
            <a:pPr lvl="2">
              <a:lnSpc>
                <a:spcPct val="100000"/>
              </a:lnSpc>
              <a:spcBef>
                <a:spcPts val="600"/>
              </a:spcBef>
            </a:pPr>
            <a:r>
              <a:rPr lang="en-US" dirty="0"/>
              <a:t>wider buses</a:t>
            </a:r>
          </a:p>
          <a:p>
            <a:pPr lvl="2">
              <a:lnSpc>
                <a:spcPct val="100000"/>
              </a:lnSpc>
              <a:spcBef>
                <a:spcPts val="600"/>
              </a:spcBef>
            </a:pPr>
            <a:r>
              <a:rPr lang="en-US" dirty="0"/>
              <a:t>memory interleaving, </a:t>
            </a:r>
            <a:r>
              <a:rPr lang="en-US" dirty="0" smtClean="0"/>
              <a:t>DDR SDRAMs</a:t>
            </a:r>
            <a:endParaRPr lang="en-US" dirty="0"/>
          </a:p>
          <a:p>
            <a:pPr>
              <a:lnSpc>
                <a:spcPct val="100000"/>
              </a:lnSpc>
              <a:spcBef>
                <a:spcPts val="600"/>
              </a:spcBef>
              <a:buFont typeface="Wingdings" pitchFamily="2" charset="2"/>
              <a:buNone/>
            </a:pPr>
            <a:endParaRPr lang="en-US" dirty="0"/>
          </a:p>
        </p:txBody>
      </p:sp>
    </p:spTree>
    <p:extLst>
      <p:ext uri="{BB962C8B-B14F-4D97-AF65-F5344CB8AC3E}">
        <p14:creationId xmlns:p14="http://schemas.microsoft.com/office/powerpoint/2010/main" val="909723570"/>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4786" name="Rectangle 2"/>
          <p:cNvSpPr>
            <a:spLocks noGrp="1" noChangeArrowheads="1"/>
          </p:cNvSpPr>
          <p:nvPr>
            <p:ph type="title"/>
          </p:nvPr>
        </p:nvSpPr>
        <p:spPr>
          <a:xfrm>
            <a:off x="533400" y="304800"/>
            <a:ext cx="6200775" cy="422275"/>
          </a:xfrm>
          <a:noFill/>
          <a:ln/>
        </p:spPr>
        <p:txBody>
          <a:bodyPr wrap="none"/>
          <a:lstStyle/>
          <a:p>
            <a:r>
              <a:rPr lang="en-US"/>
              <a:t>Summary: The Cache Design Space</a:t>
            </a:r>
          </a:p>
        </p:txBody>
      </p:sp>
      <p:sp>
        <p:nvSpPr>
          <p:cNvPr id="1654787" name="Rectangle 3"/>
          <p:cNvSpPr>
            <a:spLocks noGrp="1" noChangeArrowheads="1"/>
          </p:cNvSpPr>
          <p:nvPr>
            <p:ph type="body" idx="1"/>
          </p:nvPr>
        </p:nvSpPr>
        <p:spPr>
          <a:xfrm>
            <a:off x="533400" y="838200"/>
            <a:ext cx="5410200" cy="5254625"/>
          </a:xfrm>
          <a:noFill/>
          <a:ln/>
        </p:spPr>
        <p:txBody>
          <a:bodyPr/>
          <a:lstStyle/>
          <a:p>
            <a:r>
              <a:rPr lang="en-US" dirty="0"/>
              <a:t>Several interacting dimensions</a:t>
            </a:r>
          </a:p>
          <a:p>
            <a:pPr lvl="1"/>
            <a:r>
              <a:rPr lang="en-US" dirty="0"/>
              <a:t>cache size</a:t>
            </a:r>
          </a:p>
          <a:p>
            <a:pPr lvl="1"/>
            <a:r>
              <a:rPr lang="en-US" dirty="0"/>
              <a:t>block size</a:t>
            </a:r>
          </a:p>
          <a:p>
            <a:pPr lvl="1"/>
            <a:r>
              <a:rPr lang="en-US" dirty="0" err="1"/>
              <a:t>associativity</a:t>
            </a:r>
            <a:endParaRPr lang="en-US" dirty="0"/>
          </a:p>
          <a:p>
            <a:pPr lvl="1"/>
            <a:r>
              <a:rPr lang="en-US" dirty="0"/>
              <a:t>replacement policy</a:t>
            </a:r>
          </a:p>
          <a:p>
            <a:pPr lvl="1"/>
            <a:r>
              <a:rPr lang="en-US" dirty="0"/>
              <a:t>write-through </a:t>
            </a:r>
            <a:r>
              <a:rPr lang="en-US" dirty="0" err="1"/>
              <a:t>vs</a:t>
            </a:r>
            <a:r>
              <a:rPr lang="en-US" dirty="0"/>
              <a:t> write-back</a:t>
            </a:r>
          </a:p>
          <a:p>
            <a:pPr lvl="1"/>
            <a:r>
              <a:rPr lang="en-US" dirty="0"/>
              <a:t>write allocation</a:t>
            </a:r>
          </a:p>
          <a:p>
            <a:r>
              <a:rPr lang="en-US" dirty="0"/>
              <a:t>The optimal choice is a compromise</a:t>
            </a:r>
          </a:p>
          <a:p>
            <a:pPr lvl="1"/>
            <a:r>
              <a:rPr lang="en-US" dirty="0"/>
              <a:t>depends on access characteristics</a:t>
            </a:r>
          </a:p>
          <a:p>
            <a:pPr lvl="2"/>
            <a:r>
              <a:rPr lang="en-US" dirty="0"/>
              <a:t>workload</a:t>
            </a:r>
          </a:p>
          <a:p>
            <a:pPr lvl="2"/>
            <a:r>
              <a:rPr lang="en-US" dirty="0"/>
              <a:t>use (I-cache, D-cache, TLB)</a:t>
            </a:r>
          </a:p>
          <a:p>
            <a:pPr lvl="1"/>
            <a:r>
              <a:rPr lang="en-US" dirty="0"/>
              <a:t>depends on technology / cost</a:t>
            </a:r>
          </a:p>
          <a:p>
            <a:r>
              <a:rPr lang="en-US" dirty="0"/>
              <a:t>Simplicity often wins</a:t>
            </a:r>
          </a:p>
        </p:txBody>
      </p:sp>
      <p:sp>
        <p:nvSpPr>
          <p:cNvPr id="1654788" name="Line 4"/>
          <p:cNvSpPr>
            <a:spLocks noChangeShapeType="1"/>
          </p:cNvSpPr>
          <p:nvPr/>
        </p:nvSpPr>
        <p:spPr bwMode="auto">
          <a:xfrm flipV="1">
            <a:off x="6477000" y="1441450"/>
            <a:ext cx="0" cy="1308100"/>
          </a:xfrm>
          <a:prstGeom prst="line">
            <a:avLst/>
          </a:prstGeom>
          <a:noFill/>
          <a:ln w="12700">
            <a:solidFill>
              <a:schemeClr val="tx1"/>
            </a:solidFill>
            <a:round/>
            <a:headEnd/>
            <a:tailEnd type="triangle" w="med" len="med"/>
          </a:ln>
          <a:effectLst/>
        </p:spPr>
        <p:txBody>
          <a:bodyPr wrap="none" anchor="ctr"/>
          <a:lstStyle/>
          <a:p>
            <a:endParaRPr lang="en-US"/>
          </a:p>
        </p:txBody>
      </p:sp>
      <p:sp>
        <p:nvSpPr>
          <p:cNvPr id="1654789" name="Line 5"/>
          <p:cNvSpPr>
            <a:spLocks noChangeShapeType="1"/>
          </p:cNvSpPr>
          <p:nvPr/>
        </p:nvSpPr>
        <p:spPr bwMode="auto">
          <a:xfrm flipV="1">
            <a:off x="6483350" y="2203450"/>
            <a:ext cx="1282700" cy="546100"/>
          </a:xfrm>
          <a:prstGeom prst="line">
            <a:avLst/>
          </a:prstGeom>
          <a:noFill/>
          <a:ln w="12700">
            <a:solidFill>
              <a:schemeClr val="tx1"/>
            </a:solidFill>
            <a:round/>
            <a:headEnd/>
            <a:tailEnd type="triangle" w="med" len="med"/>
          </a:ln>
          <a:effectLst/>
        </p:spPr>
        <p:txBody>
          <a:bodyPr wrap="none" anchor="ctr"/>
          <a:lstStyle/>
          <a:p>
            <a:endParaRPr lang="en-US"/>
          </a:p>
        </p:txBody>
      </p:sp>
      <p:sp>
        <p:nvSpPr>
          <p:cNvPr id="1654790" name="Line 6"/>
          <p:cNvSpPr>
            <a:spLocks noChangeShapeType="1"/>
          </p:cNvSpPr>
          <p:nvPr/>
        </p:nvSpPr>
        <p:spPr bwMode="auto">
          <a:xfrm>
            <a:off x="6483350" y="2749550"/>
            <a:ext cx="749300" cy="520700"/>
          </a:xfrm>
          <a:prstGeom prst="line">
            <a:avLst/>
          </a:prstGeom>
          <a:noFill/>
          <a:ln w="12700">
            <a:solidFill>
              <a:schemeClr val="tx1"/>
            </a:solidFill>
            <a:round/>
            <a:headEnd/>
            <a:tailEnd type="triangle" w="med" len="med"/>
          </a:ln>
          <a:effectLst/>
        </p:spPr>
        <p:txBody>
          <a:bodyPr wrap="none" anchor="ctr"/>
          <a:lstStyle/>
          <a:p>
            <a:endParaRPr lang="en-US"/>
          </a:p>
        </p:txBody>
      </p:sp>
      <p:sp>
        <p:nvSpPr>
          <p:cNvPr id="1654791" name="Rectangle 7"/>
          <p:cNvSpPr>
            <a:spLocks noChangeArrowheads="1"/>
          </p:cNvSpPr>
          <p:nvPr/>
        </p:nvSpPr>
        <p:spPr bwMode="auto">
          <a:xfrm>
            <a:off x="7300913" y="1828800"/>
            <a:ext cx="1435100"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Associativity</a:t>
            </a:r>
          </a:p>
        </p:txBody>
      </p:sp>
      <p:sp>
        <p:nvSpPr>
          <p:cNvPr id="1654792" name="Rectangle 8"/>
          <p:cNvSpPr>
            <a:spLocks noChangeArrowheads="1"/>
          </p:cNvSpPr>
          <p:nvPr/>
        </p:nvSpPr>
        <p:spPr bwMode="auto">
          <a:xfrm>
            <a:off x="6005513" y="1066800"/>
            <a:ext cx="1252537"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Cache Size</a:t>
            </a:r>
          </a:p>
        </p:txBody>
      </p:sp>
      <p:sp>
        <p:nvSpPr>
          <p:cNvPr id="1654793" name="Rectangle 9"/>
          <p:cNvSpPr>
            <a:spLocks noChangeArrowheads="1"/>
          </p:cNvSpPr>
          <p:nvPr/>
        </p:nvSpPr>
        <p:spPr bwMode="auto">
          <a:xfrm>
            <a:off x="6919913" y="3276600"/>
            <a:ext cx="1196975"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Block Size</a:t>
            </a:r>
          </a:p>
        </p:txBody>
      </p:sp>
      <p:sp>
        <p:nvSpPr>
          <p:cNvPr id="1654794" name="Line 10"/>
          <p:cNvSpPr>
            <a:spLocks noChangeShapeType="1"/>
          </p:cNvSpPr>
          <p:nvPr/>
        </p:nvSpPr>
        <p:spPr bwMode="auto">
          <a:xfrm flipV="1">
            <a:off x="6200775" y="4460875"/>
            <a:ext cx="0" cy="1155700"/>
          </a:xfrm>
          <a:prstGeom prst="line">
            <a:avLst/>
          </a:prstGeom>
          <a:noFill/>
          <a:ln w="12700">
            <a:solidFill>
              <a:schemeClr val="tx1"/>
            </a:solidFill>
            <a:round/>
            <a:headEnd/>
            <a:tailEnd/>
          </a:ln>
          <a:effectLst/>
        </p:spPr>
        <p:txBody>
          <a:bodyPr wrap="none" anchor="ctr"/>
          <a:lstStyle/>
          <a:p>
            <a:endParaRPr lang="en-US"/>
          </a:p>
        </p:txBody>
      </p:sp>
      <p:sp>
        <p:nvSpPr>
          <p:cNvPr id="1654795" name="Rectangle 11"/>
          <p:cNvSpPr>
            <a:spLocks noChangeArrowheads="1"/>
          </p:cNvSpPr>
          <p:nvPr/>
        </p:nvSpPr>
        <p:spPr bwMode="auto">
          <a:xfrm>
            <a:off x="5653088" y="4467225"/>
            <a:ext cx="563562"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Bad</a:t>
            </a:r>
          </a:p>
        </p:txBody>
      </p:sp>
      <p:sp>
        <p:nvSpPr>
          <p:cNvPr id="1654796" name="Rectangle 12"/>
          <p:cNvSpPr>
            <a:spLocks noChangeArrowheads="1"/>
          </p:cNvSpPr>
          <p:nvPr/>
        </p:nvSpPr>
        <p:spPr bwMode="auto">
          <a:xfrm>
            <a:off x="5500688" y="5305425"/>
            <a:ext cx="711200"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Good</a:t>
            </a:r>
          </a:p>
        </p:txBody>
      </p:sp>
      <p:sp>
        <p:nvSpPr>
          <p:cNvPr id="1654797" name="Line 13"/>
          <p:cNvSpPr>
            <a:spLocks noChangeShapeType="1"/>
          </p:cNvSpPr>
          <p:nvPr/>
        </p:nvSpPr>
        <p:spPr bwMode="auto">
          <a:xfrm>
            <a:off x="6207125" y="5610225"/>
            <a:ext cx="1816100" cy="0"/>
          </a:xfrm>
          <a:prstGeom prst="line">
            <a:avLst/>
          </a:prstGeom>
          <a:noFill/>
          <a:ln w="12700">
            <a:solidFill>
              <a:schemeClr val="tx1"/>
            </a:solidFill>
            <a:round/>
            <a:headEnd/>
            <a:tailEnd/>
          </a:ln>
          <a:effectLst/>
        </p:spPr>
        <p:txBody>
          <a:bodyPr wrap="none" anchor="ctr"/>
          <a:lstStyle/>
          <a:p>
            <a:endParaRPr lang="en-US"/>
          </a:p>
        </p:txBody>
      </p:sp>
      <p:sp>
        <p:nvSpPr>
          <p:cNvPr id="1654798" name="Rectangle 14"/>
          <p:cNvSpPr>
            <a:spLocks noChangeArrowheads="1"/>
          </p:cNvSpPr>
          <p:nvPr/>
        </p:nvSpPr>
        <p:spPr bwMode="auto">
          <a:xfrm>
            <a:off x="6186488" y="5686425"/>
            <a:ext cx="642937"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Less</a:t>
            </a:r>
          </a:p>
        </p:txBody>
      </p:sp>
      <p:sp>
        <p:nvSpPr>
          <p:cNvPr id="1654799" name="Rectangle 15"/>
          <p:cNvSpPr>
            <a:spLocks noChangeArrowheads="1"/>
          </p:cNvSpPr>
          <p:nvPr/>
        </p:nvSpPr>
        <p:spPr bwMode="auto">
          <a:xfrm>
            <a:off x="7786688" y="5686425"/>
            <a:ext cx="666750" cy="333375"/>
          </a:xfrm>
          <a:prstGeom prst="rect">
            <a:avLst/>
          </a:prstGeom>
          <a:noFill/>
          <a:ln w="12700">
            <a:noFill/>
            <a:miter lim="800000"/>
            <a:headEnd/>
            <a:tailEnd/>
          </a:ln>
          <a:effectLst/>
        </p:spPr>
        <p:txBody>
          <a:bodyPr wrap="none" lIns="90488" tIns="44450" rIns="90488" bIns="44450">
            <a:spAutoFit/>
          </a:bodyPr>
          <a:lstStyle/>
          <a:p>
            <a:r>
              <a:rPr lang="en-US" sz="1600" b="1">
                <a:solidFill>
                  <a:schemeClr val="tx1"/>
                </a:solidFill>
              </a:rPr>
              <a:t>More</a:t>
            </a:r>
          </a:p>
        </p:txBody>
      </p:sp>
      <p:sp>
        <p:nvSpPr>
          <p:cNvPr id="1654800" name="Arc 16"/>
          <p:cNvSpPr>
            <a:spLocks/>
          </p:cNvSpPr>
          <p:nvPr/>
        </p:nvSpPr>
        <p:spPr bwMode="auto">
          <a:xfrm>
            <a:off x="6361113" y="4543425"/>
            <a:ext cx="1593850" cy="984250"/>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12700" cap="rnd">
            <a:solidFill>
              <a:schemeClr val="tx1"/>
            </a:solidFill>
            <a:round/>
            <a:headEnd/>
            <a:tailEnd/>
          </a:ln>
          <a:effectLst/>
        </p:spPr>
        <p:txBody>
          <a:bodyPr wrap="none" anchor="ctr"/>
          <a:lstStyle/>
          <a:p>
            <a:endParaRPr lang="en-US"/>
          </a:p>
        </p:txBody>
      </p:sp>
      <p:sp>
        <p:nvSpPr>
          <p:cNvPr id="1654801" name="Arc 17"/>
          <p:cNvSpPr>
            <a:spLocks/>
          </p:cNvSpPr>
          <p:nvPr/>
        </p:nvSpPr>
        <p:spPr bwMode="auto">
          <a:xfrm>
            <a:off x="6505575" y="4619625"/>
            <a:ext cx="1365250" cy="9080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a:tailEnd/>
          </a:ln>
          <a:effectLst/>
        </p:spPr>
        <p:txBody>
          <a:bodyPr wrap="none" anchor="ctr"/>
          <a:lstStyle/>
          <a:p>
            <a:endParaRPr lang="en-US"/>
          </a:p>
        </p:txBody>
      </p:sp>
      <p:sp>
        <p:nvSpPr>
          <p:cNvPr id="1654802" name="Rectangle 18"/>
          <p:cNvSpPr>
            <a:spLocks noChangeArrowheads="1"/>
          </p:cNvSpPr>
          <p:nvPr/>
        </p:nvSpPr>
        <p:spPr bwMode="auto">
          <a:xfrm>
            <a:off x="6186488" y="5253038"/>
            <a:ext cx="900112" cy="301625"/>
          </a:xfrm>
          <a:prstGeom prst="rect">
            <a:avLst/>
          </a:prstGeom>
          <a:noFill/>
          <a:ln w="12700">
            <a:noFill/>
            <a:miter lim="800000"/>
            <a:headEnd/>
            <a:tailEnd/>
          </a:ln>
          <a:effectLst/>
        </p:spPr>
        <p:txBody>
          <a:bodyPr wrap="none" lIns="90488" tIns="44450" rIns="90488" bIns="44450">
            <a:spAutoFit/>
          </a:bodyPr>
          <a:lstStyle/>
          <a:p>
            <a:r>
              <a:rPr lang="en-US" sz="1400" b="1">
                <a:solidFill>
                  <a:schemeClr val="tx1"/>
                </a:solidFill>
              </a:rPr>
              <a:t>Factor A</a:t>
            </a:r>
          </a:p>
        </p:txBody>
      </p:sp>
      <p:sp>
        <p:nvSpPr>
          <p:cNvPr id="1654803" name="Rectangle 19"/>
          <p:cNvSpPr>
            <a:spLocks noChangeArrowheads="1"/>
          </p:cNvSpPr>
          <p:nvPr/>
        </p:nvSpPr>
        <p:spPr bwMode="auto">
          <a:xfrm>
            <a:off x="7634288" y="5253038"/>
            <a:ext cx="900112" cy="301625"/>
          </a:xfrm>
          <a:prstGeom prst="rect">
            <a:avLst/>
          </a:prstGeom>
          <a:noFill/>
          <a:ln w="12700">
            <a:noFill/>
            <a:miter lim="800000"/>
            <a:headEnd/>
            <a:tailEnd/>
          </a:ln>
          <a:effectLst/>
        </p:spPr>
        <p:txBody>
          <a:bodyPr wrap="none" lIns="90488" tIns="44450" rIns="90488" bIns="44450">
            <a:spAutoFit/>
          </a:bodyPr>
          <a:lstStyle/>
          <a:p>
            <a:r>
              <a:rPr lang="en-US" sz="1400" b="1">
                <a:solidFill>
                  <a:schemeClr val="tx1"/>
                </a:solidFill>
              </a:rPr>
              <a:t>Factor B</a:t>
            </a:r>
          </a:p>
        </p:txBody>
      </p:sp>
      <p:grpSp>
        <p:nvGrpSpPr>
          <p:cNvPr id="2" name="Group 20"/>
          <p:cNvGrpSpPr>
            <a:grpSpLocks/>
          </p:cNvGrpSpPr>
          <p:nvPr/>
        </p:nvGrpSpPr>
        <p:grpSpPr bwMode="auto">
          <a:xfrm>
            <a:off x="6443663" y="4467225"/>
            <a:ext cx="1420812" cy="749300"/>
            <a:chOff x="3945" y="2736"/>
            <a:chExt cx="895" cy="472"/>
          </a:xfrm>
        </p:grpSpPr>
        <p:sp>
          <p:nvSpPr>
            <p:cNvPr id="1654805" name="Arc 21"/>
            <p:cNvSpPr>
              <a:spLocks/>
            </p:cNvSpPr>
            <p:nvPr/>
          </p:nvSpPr>
          <p:spPr bwMode="auto">
            <a:xfrm>
              <a:off x="3945" y="2736"/>
              <a:ext cx="448" cy="472"/>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accent1"/>
              </a:solidFill>
              <a:round/>
              <a:headEnd/>
              <a:tailEnd/>
            </a:ln>
            <a:effectLst/>
          </p:spPr>
          <p:txBody>
            <a:bodyPr wrap="none" anchor="ctr"/>
            <a:lstStyle/>
            <a:p>
              <a:endParaRPr lang="en-US"/>
            </a:p>
          </p:txBody>
        </p:sp>
        <p:sp>
          <p:nvSpPr>
            <p:cNvPr id="1654806" name="Arc 22"/>
            <p:cNvSpPr>
              <a:spLocks/>
            </p:cNvSpPr>
            <p:nvPr/>
          </p:nvSpPr>
          <p:spPr bwMode="auto">
            <a:xfrm>
              <a:off x="4392" y="2736"/>
              <a:ext cx="448" cy="472"/>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chemeClr val="accent1"/>
              </a:solidFill>
              <a:round/>
              <a:headEnd/>
              <a:tailEnd/>
            </a:ln>
            <a:effectLst/>
          </p:spPr>
          <p:txBody>
            <a:bodyPr wrap="none" anchor="ctr"/>
            <a:lstStyle/>
            <a:p>
              <a:endParaRPr lang="en-US"/>
            </a:p>
          </p:txBody>
        </p:sp>
      </p:grpSp>
    </p:spTree>
    <p:extLst>
      <p:ext uri="{BB962C8B-B14F-4D97-AF65-F5344CB8AC3E}">
        <p14:creationId xmlns:p14="http://schemas.microsoft.com/office/powerpoint/2010/main" val="1787957997"/>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42" name="Rectangle 2"/>
          <p:cNvSpPr>
            <a:spLocks noGrp="1" noChangeArrowheads="1"/>
          </p:cNvSpPr>
          <p:nvPr>
            <p:ph type="title"/>
          </p:nvPr>
        </p:nvSpPr>
        <p:spPr>
          <a:xfrm>
            <a:off x="685800" y="263525"/>
            <a:ext cx="2806700" cy="422275"/>
          </a:xfrm>
          <a:noFill/>
          <a:ln/>
        </p:spPr>
        <p:txBody>
          <a:bodyPr wrap="none"/>
          <a:lstStyle/>
          <a:p>
            <a:r>
              <a:rPr lang="en-US" dirty="0"/>
              <a:t>Cache Summary</a:t>
            </a:r>
          </a:p>
        </p:txBody>
      </p:sp>
      <p:sp>
        <p:nvSpPr>
          <p:cNvPr id="1136643" name="Rectangle 3"/>
          <p:cNvSpPr>
            <a:spLocks noGrp="1" noChangeArrowheads="1"/>
          </p:cNvSpPr>
          <p:nvPr>
            <p:ph type="body" idx="1"/>
          </p:nvPr>
        </p:nvSpPr>
        <p:spPr>
          <a:xfrm>
            <a:off x="381000" y="781050"/>
            <a:ext cx="8382000" cy="5561013"/>
          </a:xfrm>
          <a:noFill/>
          <a:ln/>
        </p:spPr>
        <p:txBody>
          <a:bodyPr/>
          <a:lstStyle/>
          <a:p>
            <a:r>
              <a:rPr lang="en-US" dirty="0"/>
              <a:t>The Principle of </a:t>
            </a:r>
            <a:r>
              <a:rPr lang="en-US" dirty="0" smtClean="0"/>
              <a:t>Locality</a:t>
            </a:r>
            <a:endParaRPr lang="en-US" dirty="0"/>
          </a:p>
          <a:p>
            <a:pPr lvl="1"/>
            <a:r>
              <a:rPr lang="en-US" dirty="0" smtClean="0"/>
              <a:t>A program is likely </a:t>
            </a:r>
            <a:r>
              <a:rPr lang="en-US" dirty="0"/>
              <a:t>to access a relatively small portion of the address space </a:t>
            </a:r>
            <a:r>
              <a:rPr lang="en-US" dirty="0" smtClean="0"/>
              <a:t>over a long period of </a:t>
            </a:r>
            <a:r>
              <a:rPr lang="en-US" dirty="0"/>
              <a:t>time</a:t>
            </a:r>
          </a:p>
          <a:p>
            <a:pPr lvl="2"/>
            <a:r>
              <a:rPr lang="en-US" dirty="0">
                <a:solidFill>
                  <a:schemeClr val="accent2"/>
                </a:solidFill>
              </a:rPr>
              <a:t>Temporal Locality</a:t>
            </a:r>
            <a:r>
              <a:rPr lang="en-US" dirty="0" smtClean="0"/>
              <a:t>:  </a:t>
            </a:r>
            <a:r>
              <a:rPr lang="en-US" dirty="0"/>
              <a:t>Locality in </a:t>
            </a:r>
            <a:r>
              <a:rPr lang="en-US" dirty="0" smtClean="0"/>
              <a:t>Time – repeated access</a:t>
            </a:r>
            <a:endParaRPr lang="en-US" dirty="0"/>
          </a:p>
          <a:p>
            <a:pPr lvl="2"/>
            <a:r>
              <a:rPr lang="en-US" dirty="0">
                <a:solidFill>
                  <a:schemeClr val="accent2"/>
                </a:solidFill>
              </a:rPr>
              <a:t>Spatial Locality</a:t>
            </a:r>
            <a:r>
              <a:rPr lang="en-US" dirty="0" smtClean="0"/>
              <a:t>:  </a:t>
            </a:r>
            <a:r>
              <a:rPr lang="en-US" dirty="0"/>
              <a:t>Locality in </a:t>
            </a:r>
            <a:r>
              <a:rPr lang="en-US" dirty="0" smtClean="0"/>
              <a:t>Space – nearby access</a:t>
            </a:r>
            <a:endParaRPr lang="en-US" dirty="0"/>
          </a:p>
          <a:p>
            <a:r>
              <a:rPr lang="en-US" dirty="0"/>
              <a:t>Three major categories of cache </a:t>
            </a:r>
            <a:r>
              <a:rPr lang="en-US" dirty="0" smtClean="0"/>
              <a:t>misses</a:t>
            </a:r>
            <a:endParaRPr lang="en-US" dirty="0"/>
          </a:p>
          <a:p>
            <a:pPr lvl="1"/>
            <a:r>
              <a:rPr lang="en-US" dirty="0">
                <a:solidFill>
                  <a:schemeClr val="accent1"/>
                </a:solidFill>
              </a:rPr>
              <a:t>Compulsory misses</a:t>
            </a:r>
            <a:r>
              <a:rPr lang="en-US" dirty="0" smtClean="0"/>
              <a:t>:  </a:t>
            </a:r>
            <a:r>
              <a:rPr lang="en-US" dirty="0"/>
              <a:t>sad facts of life, e.g., cold start misses</a:t>
            </a:r>
          </a:p>
          <a:p>
            <a:pPr lvl="1"/>
            <a:r>
              <a:rPr lang="en-US" dirty="0">
                <a:solidFill>
                  <a:schemeClr val="accent1"/>
                </a:solidFill>
              </a:rPr>
              <a:t>Conflict misses</a:t>
            </a:r>
            <a:r>
              <a:rPr lang="en-US" dirty="0"/>
              <a:t>:  increase cache size and/or </a:t>
            </a:r>
            <a:r>
              <a:rPr lang="en-US" dirty="0" smtClean="0"/>
              <a:t>associativity</a:t>
            </a:r>
          </a:p>
          <a:p>
            <a:pPr lvl="2"/>
            <a:r>
              <a:rPr lang="en-US" dirty="0" smtClean="0"/>
              <a:t>Nightmare </a:t>
            </a:r>
            <a:r>
              <a:rPr lang="en-US" dirty="0"/>
              <a:t>Scenario: ping pong </a:t>
            </a:r>
            <a:r>
              <a:rPr lang="en-US" dirty="0" smtClean="0"/>
              <a:t>effect</a:t>
            </a:r>
            <a:endParaRPr lang="en-US" dirty="0"/>
          </a:p>
          <a:p>
            <a:pPr lvl="1"/>
            <a:r>
              <a:rPr lang="en-US" dirty="0">
                <a:solidFill>
                  <a:schemeClr val="accent1"/>
                </a:solidFill>
              </a:rPr>
              <a:t>Capacity misses</a:t>
            </a:r>
            <a:r>
              <a:rPr lang="en-US" dirty="0" smtClean="0"/>
              <a:t>:  </a:t>
            </a:r>
            <a:r>
              <a:rPr lang="en-US" dirty="0"/>
              <a:t>increase cache size</a:t>
            </a:r>
          </a:p>
          <a:p>
            <a:r>
              <a:rPr lang="en-US" dirty="0"/>
              <a:t>Cache design space</a:t>
            </a:r>
          </a:p>
          <a:p>
            <a:pPr lvl="1"/>
            <a:r>
              <a:rPr lang="en-US" dirty="0"/>
              <a:t>total size, block size, associativity (replacement policy)</a:t>
            </a:r>
          </a:p>
          <a:p>
            <a:pPr lvl="1"/>
            <a:r>
              <a:rPr lang="en-US" dirty="0"/>
              <a:t>write-hit policy (write-through, write-back)</a:t>
            </a:r>
          </a:p>
          <a:p>
            <a:pPr lvl="1"/>
            <a:r>
              <a:rPr lang="en-US" dirty="0"/>
              <a:t>write-miss policy (write allocate, write buffers)</a:t>
            </a:r>
          </a:p>
        </p:txBody>
      </p:sp>
    </p:spTree>
    <p:extLst>
      <p:ext uri="{BB962C8B-B14F-4D97-AF65-F5344CB8AC3E}">
        <p14:creationId xmlns:p14="http://schemas.microsoft.com/office/powerpoint/2010/main" val="189286926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mjicse431">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mjicse43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lnDef>
  </a:objectDefaults>
  <a:extraClrSchemeLst>
    <a:extraClrScheme>
      <a:clrScheme name="mjicse43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jicse43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jicse43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jicse43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jicse43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jicse43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jicse43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31297</TotalTime>
  <Pages>47</Pages>
  <Words>9858</Words>
  <Application>Microsoft Macintosh PowerPoint</Application>
  <PresentationFormat>Letter Paper (8.5x11 in)</PresentationFormat>
  <Paragraphs>1253</Paragraphs>
  <Slides>62</Slides>
  <Notes>54</Notes>
  <HiddenSlides>6</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62</vt:i4>
      </vt:variant>
    </vt:vector>
  </HeadingPairs>
  <TitlesOfParts>
    <vt:vector size="75" baseType="lpstr">
      <vt:lpstr>Calibri</vt:lpstr>
      <vt:lpstr>Calibri Light</vt:lpstr>
      <vt:lpstr>Monotype Sorts</vt:lpstr>
      <vt:lpstr>ＭＳ ゴシック</vt:lpstr>
      <vt:lpstr>Symbol</vt:lpstr>
      <vt:lpstr>Times New Roman</vt:lpstr>
      <vt:lpstr>Wingdings</vt:lpstr>
      <vt:lpstr>Zapf Dingbats</vt:lpstr>
      <vt:lpstr>Arial</vt:lpstr>
      <vt:lpstr>mjicse431</vt:lpstr>
      <vt:lpstr>1_Custom Design</vt:lpstr>
      <vt:lpstr>Custom Design</vt:lpstr>
      <vt:lpstr>Chart</vt:lpstr>
      <vt:lpstr>CSE 424  Computer Architecture    Memory Hierarchy (Caches)</vt:lpstr>
      <vt:lpstr>Major Components of a Computer</vt:lpstr>
      <vt:lpstr>Major Components of a Computer</vt:lpstr>
      <vt:lpstr>Major Components of a Computer</vt:lpstr>
      <vt:lpstr>Visualizing Access Times</vt:lpstr>
      <vt:lpstr>How is the Memory Hierarchy Managed?</vt:lpstr>
      <vt:lpstr>Memory Hierarchy Technologies</vt:lpstr>
      <vt:lpstr>Memory Hierarchy Technologies</vt:lpstr>
      <vt:lpstr>Processor-Memory Performance Gap</vt:lpstr>
      <vt:lpstr>Growth in Processor Performance (SPECint)</vt:lpstr>
      <vt:lpstr>The “Memory Wall”</vt:lpstr>
      <vt:lpstr>The Memory Hierarchy Goal</vt:lpstr>
      <vt:lpstr>The Memory Hierarchy Goal</vt:lpstr>
      <vt:lpstr>The Memory Hierarchy</vt:lpstr>
      <vt:lpstr>A Typical Memory Hierarchy</vt:lpstr>
      <vt:lpstr>Cache Design</vt:lpstr>
      <vt:lpstr>Classical SRAM Organization (~Square)</vt:lpstr>
      <vt:lpstr>How is the Hierarchy Managed?</vt:lpstr>
      <vt:lpstr>The Memory Hierarchy:  Why Does it Work?</vt:lpstr>
      <vt:lpstr>The Memory Hierarchy</vt:lpstr>
      <vt:lpstr>A Typical Memory Hierarchy</vt:lpstr>
      <vt:lpstr>The Memory Hierarchy:  Terminology</vt:lpstr>
      <vt:lpstr>Cache Basics</vt:lpstr>
      <vt:lpstr>Caching:  A Simple First Example</vt:lpstr>
      <vt:lpstr>Caching:  A Simple First Example</vt:lpstr>
      <vt:lpstr>Direct Mapped Cache</vt:lpstr>
      <vt:lpstr>Direct Mapped Cache</vt:lpstr>
      <vt:lpstr>MIPS Direct Mapped Cache Example</vt:lpstr>
      <vt:lpstr>Cache Field Sizes</vt:lpstr>
      <vt:lpstr>Handling Cache Hits</vt:lpstr>
      <vt:lpstr>Sources of Cache Misses</vt:lpstr>
      <vt:lpstr>Taking Advantage of Spatial Locality </vt:lpstr>
      <vt:lpstr>Taking Advantage of Spatial Locality </vt:lpstr>
      <vt:lpstr>Multiword Block Direct Mapped Cache</vt:lpstr>
      <vt:lpstr>Miss Rate vs Block Size vs Cache Size</vt:lpstr>
      <vt:lpstr>Block Size Tradeoff</vt:lpstr>
      <vt:lpstr>Other Ways to Reduce Cache Miss Rates</vt:lpstr>
      <vt:lpstr>Reducing Cache Miss Rates #1</vt:lpstr>
      <vt:lpstr>Set Associative Cache Example</vt:lpstr>
      <vt:lpstr>Another Reference String Mapping</vt:lpstr>
      <vt:lpstr>Another Reference String Mapping</vt:lpstr>
      <vt:lpstr>Another Reference String Mapping</vt:lpstr>
      <vt:lpstr>Another Reference String Mapping</vt:lpstr>
      <vt:lpstr>Four-Way Set Associative Cache</vt:lpstr>
      <vt:lpstr>Range of Set Associative Caches</vt:lpstr>
      <vt:lpstr>Range of Set Associative Caches</vt:lpstr>
      <vt:lpstr>Costs of Set Associative Caches</vt:lpstr>
      <vt:lpstr>Benefits of Set Associative Caches</vt:lpstr>
      <vt:lpstr>Review:  Principle of Locality</vt:lpstr>
      <vt:lpstr>Measuring Cache Performance</vt:lpstr>
      <vt:lpstr>Impacts of Cache Performance</vt:lpstr>
      <vt:lpstr>Average Memory Access Time (AMAT)</vt:lpstr>
      <vt:lpstr>Reducing Cache Miss Rates #1</vt:lpstr>
      <vt:lpstr>Reducing Cache Miss Rates #2</vt:lpstr>
      <vt:lpstr>Multilevel Cache Design Considerations</vt:lpstr>
      <vt:lpstr>Split vs Unified Caches</vt:lpstr>
      <vt:lpstr>Reducing Cache Miss Rates #3</vt:lpstr>
      <vt:lpstr>Two Machines’ Cache Parameters</vt:lpstr>
      <vt:lpstr>Summary:  Improving Cache Performance</vt:lpstr>
      <vt:lpstr>Summary:  Improving Cache Performance</vt:lpstr>
      <vt:lpstr>Summary: The Cache Design Space</vt:lpstr>
      <vt:lpstr>Cache Summary</vt:lpstr>
    </vt:vector>
  </TitlesOfParts>
  <LinksUpToDate>false</LinksUpToDate>
  <SharedDoc>false</SharedDoc>
  <HyperlinksChanged>false</HyperlinksChanged>
  <AppVersion>15.0035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431. Computer Architecture</dc:title>
  <dc:subject>Lecture 01</dc:subject>
  <dc:creator>Janie Irwin</dc:creator>
  <cp:lastModifiedBy>Jog, Adwait</cp:lastModifiedBy>
  <cp:revision>836</cp:revision>
  <cp:lastPrinted>1997-08-27T08:28:34Z</cp:lastPrinted>
  <dcterms:created xsi:type="dcterms:W3CDTF">1997-08-19T16:58:46Z</dcterms:created>
  <dcterms:modified xsi:type="dcterms:W3CDTF">2019-10-25T12:46:01Z</dcterms:modified>
</cp:coreProperties>
</file>