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oleObject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3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4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5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16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17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30.xml" ContentType="application/vnd.openxmlformats-officedocument.presentationml.tags+xml"/>
  <Override PartName="/ppt/notesSlides/notesSlide20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21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22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notesSlides/notesSlide23.xml" ContentType="application/vnd.openxmlformats-officedocument.presentationml.notesSlid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notesSlides/notesSlide24.xml" ContentType="application/vnd.openxmlformats-officedocument.presentationml.notesSlide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notesSlides/notesSlide25.xml" ContentType="application/vnd.openxmlformats-officedocument.presentationml.notesSlide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notesSlides/notesSlide26.xml" ContentType="application/vnd.openxmlformats-officedocument.presentationml.notesSlide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387.xml" ContentType="application/vnd.openxmlformats-officedocument.presentationml.tags+xml"/>
  <Override PartName="/ppt/notesSlides/notesSlide30.xml" ContentType="application/vnd.openxmlformats-officedocument.presentationml.notesSlide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notesSlides/notesSlide31.xml" ContentType="application/vnd.openxmlformats-officedocument.presentationml.notesSlide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notesSlides/notesSlide39.xml" ContentType="application/vnd.openxmlformats-officedocument.presentationml.notesSlide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notesSlides/notesSlide40.xml" ContentType="application/vnd.openxmlformats-officedocument.presentationml.notesSlide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notesSlides/notesSlide41.xml" ContentType="application/vnd.openxmlformats-officedocument.presentationml.notesSlide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6" r:id="rId2"/>
    <p:sldMasterId id="2147483663" r:id="rId3"/>
  </p:sldMasterIdLst>
  <p:notesMasterIdLst>
    <p:notesMasterId r:id="rId50"/>
  </p:notesMasterIdLst>
  <p:handoutMasterIdLst>
    <p:handoutMasterId r:id="rId51"/>
  </p:handout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55" r:id="rId44"/>
    <p:sldId id="331" r:id="rId45"/>
    <p:sldId id="300" r:id="rId46"/>
    <p:sldId id="301" r:id="rId47"/>
    <p:sldId id="302" r:id="rId48"/>
    <p:sldId id="303" r:id="rId49"/>
  </p:sldIdLst>
  <p:sldSz cx="9144000" cy="6858000" type="letter"/>
  <p:notesSz cx="6985000" cy="92837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8901F3"/>
    <a:srgbClr val="00A091"/>
    <a:srgbClr val="51DC00"/>
    <a:srgbClr val="5A11FD"/>
    <a:srgbClr val="000000"/>
    <a:srgbClr val="CC3399"/>
    <a:srgbClr val="008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85" autoAdjust="0"/>
    <p:restoredTop sz="90446" autoAdjust="0"/>
  </p:normalViewPr>
  <p:slideViewPr>
    <p:cSldViewPr>
      <p:cViewPr>
        <p:scale>
          <a:sx n="100" d="100"/>
          <a:sy n="100" d="100"/>
        </p:scale>
        <p:origin x="440" y="80"/>
      </p:cViewPr>
      <p:guideLst>
        <p:guide orient="horz" pos="2160"/>
        <p:guide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4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3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5636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9038" y="598488"/>
            <a:ext cx="4622800" cy="346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25493" y="4408146"/>
            <a:ext cx="6019711" cy="4177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3520" tIns="45939" rIns="93520" bIns="45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19347337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>
            <a:noFill/>
          </a:ln>
        </p:spPr>
        <p:txBody>
          <a:bodyPr/>
          <a:lstStyle/>
          <a:p>
            <a:r>
              <a:rPr lang="en-US" dirty="0" smtClean="0"/>
              <a:t>Combinations to AV system, etc. 0812</a:t>
            </a:r>
          </a:p>
          <a:p>
            <a:r>
              <a:rPr lang="en-US" dirty="0" smtClean="0"/>
              <a:t>Call AV hot line at 8-777-0035</a:t>
            </a:r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057363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58904"/>
            <a:ext cx="6302587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9636" tIns="48944" rIns="99636" bIns="48944"/>
          <a:lstStyle/>
          <a:p>
            <a:endParaRPr lang="zh-CN" altLang="en-US"/>
          </a:p>
        </p:txBody>
      </p:sp>
      <p:sp>
        <p:nvSpPr>
          <p:cNvPr id="105475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9525" y="619125"/>
            <a:ext cx="4779963" cy="3584575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47399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7938" y="619125"/>
            <a:ext cx="4779962" cy="3584575"/>
          </a:xfrm>
        </p:spPr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334" y="4558904"/>
            <a:ext cx="6304279" cy="4320540"/>
          </a:xfrm>
          <a:ln/>
        </p:spPr>
        <p:txBody>
          <a:bodyPr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256944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endParaRPr lang="zh-CN" altLang="en-US"/>
          </a:p>
        </p:txBody>
      </p:sp>
      <p:sp>
        <p:nvSpPr>
          <p:cNvPr id="1996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3504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As opposed to CISC – Complicated Instruction Set Architecture (ala the x86)</a:t>
            </a:r>
          </a:p>
        </p:txBody>
      </p:sp>
    </p:spTree>
    <p:extLst>
      <p:ext uri="{BB962C8B-B14F-4D97-AF65-F5344CB8AC3E}">
        <p14:creationId xmlns:p14="http://schemas.microsoft.com/office/powerpoint/2010/main" val="210848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Write these on the board.</a:t>
            </a:r>
          </a:p>
        </p:txBody>
      </p:sp>
    </p:spTree>
    <p:extLst>
      <p:ext uri="{BB962C8B-B14F-4D97-AF65-F5344CB8AC3E}">
        <p14:creationId xmlns:p14="http://schemas.microsoft.com/office/powerpoint/2010/main" val="803250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Leave in hide mode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245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51657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035917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40988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sub	$t0, $s1, $s2</a:t>
            </a:r>
          </a:p>
          <a:p>
            <a:r>
              <a:rPr lang="en-US" altLang="zh-CN"/>
              <a:t>add	$s0, $t0, $s3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05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508667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All machines (since 1975) have used general purpose registers</a:t>
            </a:r>
          </a:p>
          <a:p>
            <a:endParaRPr lang="en-US" altLang="zh-CN"/>
          </a:p>
          <a:p>
            <a:r>
              <a:rPr lang="en-US" altLang="zh-CN"/>
              <a:t>How many bits wide are each of the lines going into/out of the register file?</a:t>
            </a:r>
          </a:p>
        </p:txBody>
      </p:sp>
    </p:spTree>
    <p:extLst>
      <p:ext uri="{BB962C8B-B14F-4D97-AF65-F5344CB8AC3E}">
        <p14:creationId xmlns:p14="http://schemas.microsoft.com/office/powerpoint/2010/main" val="1246910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3404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 dirty="0" smtClean="0"/>
              <a:t>For</a:t>
            </a:r>
            <a:r>
              <a:rPr lang="en-US" altLang="zh-CN" baseline="0" dirty="0" smtClean="0"/>
              <a:t> class handout</a:t>
            </a:r>
            <a:endParaRPr lang="en-US" altLang="zh-CN" dirty="0"/>
          </a:p>
        </p:txBody>
      </p:sp>
      <p:sp>
        <p:nvSpPr>
          <p:cNvPr id="2754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87634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 dirty="0" smtClean="0"/>
              <a:t>For lecture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Store </a:t>
            </a:r>
            <a:r>
              <a:rPr lang="en-US" altLang="zh-CN" dirty="0"/>
              <a:t>variables in memory!</a:t>
            </a:r>
          </a:p>
          <a:p>
            <a:r>
              <a:rPr lang="en-US" altLang="zh-CN" dirty="0" smtClean="0"/>
              <a:t>So </a:t>
            </a:r>
            <a:r>
              <a:rPr lang="en-US" altLang="zh-CN" dirty="0"/>
              <a:t>have to be able to move variables to/from memory and the register file easily</a:t>
            </a:r>
          </a:p>
        </p:txBody>
      </p:sp>
      <p:sp>
        <p:nvSpPr>
          <p:cNvPr id="3696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64453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8531" name="Rectangle 102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078588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How many bits per line?</a:t>
            </a:r>
          </a:p>
        </p:txBody>
      </p:sp>
    </p:spTree>
    <p:extLst>
      <p:ext uri="{BB962C8B-B14F-4D97-AF65-F5344CB8AC3E}">
        <p14:creationId xmlns:p14="http://schemas.microsoft.com/office/powerpoint/2010/main" val="230720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Talk about the reasons (performance) for the word/byte alignment restriction</a:t>
            </a:r>
          </a:p>
        </p:txBody>
      </p:sp>
    </p:spTree>
    <p:extLst>
      <p:ext uri="{BB962C8B-B14F-4D97-AF65-F5344CB8AC3E}">
        <p14:creationId xmlns:p14="http://schemas.microsoft.com/office/powerpoint/2010/main" val="218533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 dirty="0"/>
              <a:t>For class </a:t>
            </a:r>
            <a:r>
              <a:rPr lang="en-US" altLang="zh-CN" dirty="0" smtClean="0"/>
              <a:t>handout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1540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What is the memory address of the given load and store instructions if $s3 contains the address 24?</a:t>
            </a:r>
          </a:p>
        </p:txBody>
      </p:sp>
    </p:spTree>
    <p:extLst>
      <p:ext uri="{BB962C8B-B14F-4D97-AF65-F5344CB8AC3E}">
        <p14:creationId xmlns:p14="http://schemas.microsoft.com/office/powerpoint/2010/main" val="1656773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791663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622007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3839244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lw 	$t0, 8($s3)</a:t>
            </a:r>
          </a:p>
          <a:p>
            <a:r>
              <a:rPr lang="en-US" altLang="zh-CN"/>
              <a:t>sub	$t0, $t0, $s2</a:t>
            </a:r>
          </a:p>
          <a:p>
            <a:r>
              <a:rPr lang="en-US" altLang="zh-CN"/>
              <a:t>sw	$t0, 32($s3)</a:t>
            </a:r>
          </a:p>
        </p:txBody>
      </p:sp>
    </p:spTree>
    <p:extLst>
      <p:ext uri="{BB962C8B-B14F-4D97-AF65-F5344CB8AC3E}">
        <p14:creationId xmlns:p14="http://schemas.microsoft.com/office/powerpoint/2010/main" val="1964473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2087218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 dirty="0"/>
              <a:t>For </a:t>
            </a:r>
            <a:r>
              <a:rPr lang="en-US" altLang="zh-CN" dirty="0" smtClean="0"/>
              <a:t>class handout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We</a:t>
            </a:r>
            <a:r>
              <a:rPr lang="en-US" altLang="zh-CN" baseline="0" dirty="0" smtClean="0"/>
              <a:t> add i 4 times so that we know the displacement value (iX4) to add with the Base address.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72536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5360" y="4558904"/>
            <a:ext cx="5364480" cy="4322206"/>
          </a:xfrm>
          <a:noFill/>
          <a:ln>
            <a:noFill/>
          </a:ln>
        </p:spPr>
        <p:txBody>
          <a:bodyPr lIns="98008" tIns="48144" rIns="98008" bIns="48144"/>
          <a:lstStyle/>
          <a:p>
            <a:r>
              <a:rPr lang="en-US" dirty="0"/>
              <a:t>in </a:t>
            </a:r>
            <a:r>
              <a:rPr lang="en-US" dirty="0" err="1"/>
              <a:t>gcc</a:t>
            </a:r>
            <a:r>
              <a:rPr lang="en-US" dirty="0"/>
              <a:t> 52% of arithmetic operations involve constants – in spice its 69%</a:t>
            </a:r>
          </a:p>
          <a:p>
            <a:endParaRPr lang="en-US" dirty="0"/>
          </a:p>
          <a:p>
            <a:r>
              <a:rPr lang="en-US" dirty="0"/>
              <a:t>have </a:t>
            </a:r>
            <a:r>
              <a:rPr lang="en-US" dirty="0" smtClean="0"/>
              <a:t>the </a:t>
            </a:r>
            <a:r>
              <a:rPr lang="en-US" dirty="0"/>
              <a:t>students answer why not – speed and limited number of </a:t>
            </a:r>
            <a:r>
              <a:rPr lang="en-US" dirty="0" smtClean="0"/>
              <a:t>registers</a:t>
            </a:r>
            <a:endParaRPr lang="en-US" dirty="0"/>
          </a:p>
        </p:txBody>
      </p:sp>
      <p:sp>
        <p:nvSpPr>
          <p:cNvPr id="3502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209949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5360" y="4558904"/>
            <a:ext cx="5364480" cy="4320540"/>
          </a:xfrm>
          <a:noFill/>
          <a:ln>
            <a:noFill/>
          </a:ln>
        </p:spPr>
        <p:txBody>
          <a:bodyPr lIns="99664" tIns="48957" rIns="99664" bIns="48957"/>
          <a:lstStyle/>
          <a:p>
            <a:r>
              <a:rPr lang="en-US" dirty="0" smtClean="0"/>
              <a:t>For class handout</a:t>
            </a:r>
          </a:p>
          <a:p>
            <a:endParaRPr lang="en-US" dirty="0" smtClean="0"/>
          </a:p>
          <a:p>
            <a:r>
              <a:rPr lang="en-US" dirty="0" smtClean="0"/>
              <a:t>There is no </a:t>
            </a:r>
            <a:r>
              <a:rPr lang="en-US" dirty="0" err="1" smtClean="0"/>
              <a:t>subi</a:t>
            </a:r>
            <a:r>
              <a:rPr lang="en-US" dirty="0" smtClean="0"/>
              <a:t> because MIPS can use negative constants for </a:t>
            </a:r>
            <a:r>
              <a:rPr lang="en-US" dirty="0" err="1" smtClean="0"/>
              <a:t>addi</a:t>
            </a:r>
            <a:r>
              <a:rPr lang="en-US" dirty="0" smtClean="0"/>
              <a:t> in stead of</a:t>
            </a:r>
            <a:r>
              <a:rPr lang="en-US" baseline="0" dirty="0" smtClean="0"/>
              <a:t> having an extra instruction.</a:t>
            </a:r>
            <a:endParaRPr lang="en-US" dirty="0"/>
          </a:p>
        </p:txBody>
      </p:sp>
      <p:sp>
        <p:nvSpPr>
          <p:cNvPr id="3522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8663"/>
            <a:ext cx="4783138" cy="3586162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279232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5360" y="4558904"/>
            <a:ext cx="5364480" cy="4320540"/>
          </a:xfrm>
          <a:noFill/>
          <a:ln>
            <a:noFill/>
          </a:ln>
        </p:spPr>
        <p:txBody>
          <a:bodyPr lIns="99664" tIns="48957" rIns="99664" bIns="48957"/>
          <a:lstStyle/>
          <a:p>
            <a:r>
              <a:rPr lang="en-US" dirty="0" smtClean="0"/>
              <a:t>For lecture</a:t>
            </a:r>
          </a:p>
          <a:p>
            <a:endParaRPr lang="en-US" dirty="0" smtClean="0"/>
          </a:p>
          <a:p>
            <a:r>
              <a:rPr lang="en-US" dirty="0" smtClean="0"/>
              <a:t>much </a:t>
            </a:r>
            <a:r>
              <a:rPr lang="en-US" dirty="0"/>
              <a:t>faster than if loaded from memory</a:t>
            </a:r>
          </a:p>
          <a:p>
            <a:endParaRPr lang="en-US" dirty="0"/>
          </a:p>
          <a:p>
            <a:r>
              <a:rPr lang="en-US" dirty="0" err="1"/>
              <a:t>addi</a:t>
            </a:r>
            <a:r>
              <a:rPr lang="en-US" dirty="0"/>
              <a:t> </a:t>
            </a:r>
            <a:r>
              <a:rPr lang="en-US" dirty="0" smtClean="0"/>
              <a:t>(and </a:t>
            </a:r>
            <a:r>
              <a:rPr lang="en-US" dirty="0" err="1" smtClean="0"/>
              <a:t>slti</a:t>
            </a:r>
            <a:r>
              <a:rPr lang="en-US" dirty="0" smtClean="0"/>
              <a:t>) </a:t>
            </a:r>
            <a:r>
              <a:rPr lang="en-US" dirty="0"/>
              <a:t>does sign extend of immediate operand into the leftmost bits of the destination register (</a:t>
            </a:r>
            <a:r>
              <a:rPr lang="en-US" dirty="0" err="1"/>
              <a:t>ie</a:t>
            </a:r>
            <a:r>
              <a:rPr lang="en-US" dirty="0"/>
              <a:t>., copies the leftmost bit of the 16-bit immediate value into the upper 16 bits)</a:t>
            </a:r>
          </a:p>
          <a:p>
            <a:endParaRPr lang="en-US" dirty="0"/>
          </a:p>
          <a:p>
            <a:r>
              <a:rPr lang="en-US" dirty="0"/>
              <a:t>by contrast, </a:t>
            </a:r>
            <a:r>
              <a:rPr lang="en-US" dirty="0" err="1"/>
              <a:t>ori</a:t>
            </a:r>
            <a:r>
              <a:rPr lang="en-US" dirty="0"/>
              <a:t> and </a:t>
            </a:r>
            <a:r>
              <a:rPr lang="en-US" dirty="0" err="1"/>
              <a:t>andi</a:t>
            </a:r>
            <a:r>
              <a:rPr lang="en-US" dirty="0"/>
              <a:t> loads zero’s into the upper 16 bits and so is usually used (instead of the </a:t>
            </a:r>
            <a:r>
              <a:rPr lang="en-US" dirty="0" err="1"/>
              <a:t>addi</a:t>
            </a:r>
            <a:r>
              <a:rPr lang="en-US" dirty="0"/>
              <a:t>) to build 32 bit </a:t>
            </a:r>
            <a:r>
              <a:rPr lang="en-US" dirty="0" smtClean="0"/>
              <a:t>constants</a:t>
            </a:r>
          </a:p>
          <a:p>
            <a:r>
              <a:rPr lang="en-US" dirty="0" smtClean="0"/>
              <a:t>MIPS</a:t>
            </a:r>
            <a:r>
              <a:rPr lang="en-US" baseline="0" dirty="0" smtClean="0"/>
              <a:t> supports –</a:t>
            </a:r>
            <a:r>
              <a:rPr lang="en-US" baseline="0" dirty="0" err="1" smtClean="0"/>
              <a:t>ve</a:t>
            </a:r>
            <a:r>
              <a:rPr lang="en-US" baseline="0" dirty="0" smtClean="0"/>
              <a:t> constants; so need for </a:t>
            </a:r>
            <a:r>
              <a:rPr lang="en-US" baseline="0" dirty="0" err="1" smtClean="0"/>
              <a:t>Subi</a:t>
            </a:r>
            <a:r>
              <a:rPr lang="en-US" baseline="0" dirty="0" smtClean="0"/>
              <a:t> instruction</a:t>
            </a:r>
            <a:endParaRPr lang="en-US" dirty="0"/>
          </a:p>
        </p:txBody>
      </p:sp>
      <p:sp>
        <p:nvSpPr>
          <p:cNvPr id="3522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8663"/>
            <a:ext cx="4783138" cy="3586162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7771002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 dirty="0"/>
              <a:t>similarity of the binary representation of related instructions simplifies the hardware design</a:t>
            </a:r>
          </a:p>
        </p:txBody>
      </p:sp>
    </p:spTree>
    <p:extLst>
      <p:ext uri="{BB962C8B-B14F-4D97-AF65-F5344CB8AC3E}">
        <p14:creationId xmlns:p14="http://schemas.microsoft.com/office/powerpoint/2010/main" val="8651717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1887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Notice least two significant bits of the (word) address are always zero</a:t>
            </a:r>
          </a:p>
        </p:txBody>
      </p:sp>
    </p:spTree>
    <p:extLst>
      <p:ext uri="{BB962C8B-B14F-4D97-AF65-F5344CB8AC3E}">
        <p14:creationId xmlns:p14="http://schemas.microsoft.com/office/powerpoint/2010/main" val="1676108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334" y="4560570"/>
            <a:ext cx="6304279" cy="4320540"/>
          </a:xfrm>
          <a:ln/>
        </p:spPr>
        <p:txBody>
          <a:bodyPr lIns="96636" tIns="48318" rIns="96636" bIns="48318"/>
          <a:lstStyle/>
          <a:p>
            <a:r>
              <a:rPr lang="en-US" dirty="0"/>
              <a:t>All positive numbers - no sign </a:t>
            </a:r>
            <a:r>
              <a:rPr lang="en-US" dirty="0" smtClean="0"/>
              <a:t>bit</a:t>
            </a:r>
          </a:p>
          <a:p>
            <a:r>
              <a:rPr lang="en-US" dirty="0" smtClean="0"/>
              <a:t>0x before a number implies Hexadecimal representation.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last entry is most significant byte address</a:t>
            </a:r>
          </a:p>
          <a:p>
            <a:r>
              <a:rPr lang="en-US" dirty="0"/>
              <a:t>fourth from last entry is most significant word address</a:t>
            </a:r>
          </a:p>
        </p:txBody>
      </p:sp>
    </p:spTree>
    <p:extLst>
      <p:ext uri="{BB962C8B-B14F-4D97-AF65-F5344CB8AC3E}">
        <p14:creationId xmlns:p14="http://schemas.microsoft.com/office/powerpoint/2010/main" val="1653862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8875" y="587375"/>
            <a:ext cx="4554538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5938" y="4343400"/>
            <a:ext cx="5908675" cy="41132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263" tIns="47632" rIns="95263" bIns="47632"/>
          <a:lstStyle/>
          <a:p>
            <a:r>
              <a:rPr lang="en-US" altLang="zh-CN" dirty="0" smtClean="0"/>
              <a:t>PH Sec. 2.4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Signed </a:t>
            </a:r>
            <a:r>
              <a:rPr lang="en-US" altLang="zh-CN" dirty="0"/>
              <a:t>numbers – assuming 2’s complement representation – for eight bits</a:t>
            </a:r>
          </a:p>
          <a:p>
            <a:endParaRPr lang="en-US" altLang="zh-CN" dirty="0"/>
          </a:p>
          <a:p>
            <a:r>
              <a:rPr lang="en-US" altLang="zh-CN" dirty="0"/>
              <a:t>Note that </a:t>
            </a:r>
            <a:r>
              <a:rPr lang="en-US" altLang="zh-CN" dirty="0" err="1"/>
              <a:t>msb</a:t>
            </a:r>
            <a:r>
              <a:rPr lang="en-US" altLang="zh-CN" dirty="0"/>
              <a:t> of 1 indicates a negative number, the bit string all 0’s is zero, that the largest positive number that can be represented is 7 (2**(n-1) –1 for n bits) whereas the largest negative number that can be represented is –8 (-2**(n-1) for n bits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Also note that the negation of -8 is -8, and 7 + 1 is -8, due to overflow.</a:t>
            </a:r>
          </a:p>
          <a:p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90812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587375"/>
            <a:ext cx="4554537" cy="3416300"/>
          </a:xfrm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938" y="4343400"/>
            <a:ext cx="5910262" cy="4114800"/>
          </a:xfrm>
          <a:ln/>
        </p:spPr>
        <p:txBody>
          <a:bodyPr lIns="91416" tIns="45708" rIns="91416" bIns="45708"/>
          <a:lstStyle/>
          <a:p>
            <a:r>
              <a:rPr lang="en-US" dirty="0" smtClean="0"/>
              <a:t>PH Sec. 2.4</a:t>
            </a:r>
          </a:p>
          <a:p>
            <a:endParaRPr lang="en-US" dirty="0" smtClean="0"/>
          </a:p>
          <a:p>
            <a:r>
              <a:rPr lang="en-US" dirty="0" smtClean="0"/>
              <a:t>Exercise:</a:t>
            </a:r>
          </a:p>
          <a:p>
            <a:r>
              <a:rPr lang="en-US" dirty="0" smtClean="0"/>
              <a:t>What is the most-negative</a:t>
            </a:r>
            <a:r>
              <a:rPr lang="en-US" baseline="0" dirty="0" smtClean="0"/>
              <a:t> 4-bit value?  1000</a:t>
            </a:r>
          </a:p>
          <a:p>
            <a:r>
              <a:rPr lang="en-US" baseline="0" dirty="0" smtClean="0"/>
              <a:t>most-positive?  0111</a:t>
            </a:r>
          </a:p>
          <a:p>
            <a:r>
              <a:rPr lang="en-US" baseline="0" dirty="0" smtClean="0"/>
              <a:t>one plus most-positive?  0001 + 0111 = 1000 (overflow)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612437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587375"/>
            <a:ext cx="4554537" cy="3416300"/>
          </a:xfrm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938" y="4343400"/>
            <a:ext cx="5910262" cy="4114800"/>
          </a:xfrm>
          <a:ln/>
        </p:spPr>
        <p:txBody>
          <a:bodyPr/>
          <a:lstStyle/>
          <a:p>
            <a:r>
              <a:rPr lang="en-US" dirty="0" smtClean="0"/>
              <a:t>PH Sec. 2.4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956668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 handout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27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987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281" y="5092304"/>
            <a:ext cx="4958080" cy="508396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wrap="none" lIns="20629" tIns="29226" rIns="20629" bIns="29226"/>
          <a:lstStyle/>
          <a:p>
            <a:pPr>
              <a:lnSpc>
                <a:spcPts val="1903"/>
              </a:lnSpc>
              <a:spcBef>
                <a:spcPct val="0"/>
              </a:spcBef>
              <a:buClr>
                <a:srgbClr val="000000"/>
              </a:buClr>
              <a:tabLst>
                <a:tab pos="483306" algn="l"/>
                <a:tab pos="966612" algn="l"/>
                <a:tab pos="1449918" algn="l"/>
              </a:tabLst>
            </a:pPr>
            <a:r>
              <a:rPr lang="en-US" altLang="zh-CN" dirty="0">
                <a:solidFill>
                  <a:srgbClr val="000000"/>
                </a:solidFill>
              </a:rPr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7896016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281" y="5092304"/>
            <a:ext cx="4958080" cy="508396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wrap="none" lIns="20629" tIns="29226" rIns="20629" bIns="29226"/>
          <a:lstStyle/>
          <a:p>
            <a:pPr>
              <a:lnSpc>
                <a:spcPts val="1903"/>
              </a:lnSpc>
              <a:spcBef>
                <a:spcPct val="0"/>
              </a:spcBef>
              <a:buClr>
                <a:srgbClr val="000000"/>
              </a:buClr>
              <a:tabLst>
                <a:tab pos="483306" algn="l"/>
                <a:tab pos="966612" algn="l"/>
                <a:tab pos="1449918" algn="l"/>
              </a:tabLst>
            </a:pPr>
            <a:r>
              <a:rPr lang="en-US" altLang="zh-CN" dirty="0">
                <a:solidFill>
                  <a:srgbClr val="000000"/>
                </a:solidFill>
              </a:rPr>
              <a:t>For </a:t>
            </a:r>
            <a:r>
              <a:rPr lang="en-US" altLang="zh-CN" dirty="0" smtClean="0">
                <a:solidFill>
                  <a:srgbClr val="000000"/>
                </a:solidFill>
              </a:rPr>
              <a:t>lecture</a:t>
            </a:r>
          </a:p>
          <a:p>
            <a:pPr>
              <a:lnSpc>
                <a:spcPts val="1903"/>
              </a:lnSpc>
              <a:spcBef>
                <a:spcPct val="0"/>
              </a:spcBef>
              <a:buClr>
                <a:srgbClr val="000000"/>
              </a:buClr>
              <a:tabLst>
                <a:tab pos="483306" algn="l"/>
                <a:tab pos="966612" algn="l"/>
                <a:tab pos="1449918" algn="l"/>
              </a:tabLst>
            </a:pPr>
            <a:r>
              <a:rPr lang="en-US" altLang="zh-CN" dirty="0" smtClean="0">
                <a:solidFill>
                  <a:srgbClr val="000000"/>
                </a:solidFill>
              </a:rPr>
              <a:t>Shows instruction in both binary and decimal/hex formats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0556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9042137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30869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93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304800"/>
            <a:ext cx="2038350" cy="3003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4800"/>
            <a:ext cx="5962650" cy="3003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914400"/>
            <a:ext cx="8153400" cy="23939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2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42188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3987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47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8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16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43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2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5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55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2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16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6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51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07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6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32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5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37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6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4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29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70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981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Title goes here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14400"/>
            <a:ext cx="8153400" cy="2393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This is our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  <a:p>
            <a:pPr lvl="0"/>
            <a:r>
              <a:rPr lang="en-US" dirty="0" smtClean="0"/>
              <a:t>This is our next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533400" y="685800"/>
            <a:ext cx="8153400" cy="0"/>
          </a:xfrm>
          <a:prstGeom prst="line">
            <a:avLst/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5" r:id="rId14"/>
    <p:sldLayoutId id="2147483688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287338" indent="-287338" algn="l" rtl="0" eaLnBrk="0" fontAlgn="base" hangingPunct="0">
        <a:lnSpc>
          <a:spcPct val="90000"/>
        </a:lnSpc>
        <a:spcBef>
          <a:spcPct val="65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4606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2pPr>
      <a:lvl3pPr marL="1146175" indent="-17621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100000"/>
        <a:buChar char="-"/>
        <a:defRPr>
          <a:solidFill>
            <a:schemeClr val="tx1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tags" Target="../tags/tag35.xml"/><Relationship Id="rId12" Type="http://schemas.openxmlformats.org/officeDocument/2006/relationships/tags" Target="../tags/tag36.xml"/><Relationship Id="rId13" Type="http://schemas.openxmlformats.org/officeDocument/2006/relationships/tags" Target="../tags/tag37.xml"/><Relationship Id="rId14" Type="http://schemas.openxmlformats.org/officeDocument/2006/relationships/tags" Target="../tags/tag38.xml"/><Relationship Id="rId15" Type="http://schemas.openxmlformats.org/officeDocument/2006/relationships/tags" Target="../tags/tag39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3.xml"/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slideLayout" Target="../slideLayouts/slideLayout3.xml"/><Relationship Id="rId1" Type="http://schemas.openxmlformats.org/officeDocument/2006/relationships/tags" Target="../tags/tag40.xml"/><Relationship Id="rId2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Relationship Id="rId1" Type="http://schemas.openxmlformats.org/officeDocument/2006/relationships/tags" Target="../tags/tag45.xml"/><Relationship Id="rId2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Relationship Id="rId1" Type="http://schemas.openxmlformats.org/officeDocument/2006/relationships/tags" Target="../tags/tag48.xml"/><Relationship Id="rId2" Type="http://schemas.openxmlformats.org/officeDocument/2006/relationships/tags" Target="../tags/tag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Relationship Id="rId1" Type="http://schemas.openxmlformats.org/officeDocument/2006/relationships/tags" Target="../tags/tag51.xml"/><Relationship Id="rId2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Relationship Id="rId1" Type="http://schemas.openxmlformats.org/officeDocument/2006/relationships/tags" Target="../tags/tag53.xml"/><Relationship Id="rId2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Relationship Id="rId1" Type="http://schemas.openxmlformats.org/officeDocument/2006/relationships/tags" Target="../tags/tag62.xml"/><Relationship Id="rId2" Type="http://schemas.openxmlformats.org/officeDocument/2006/relationships/tags" Target="../tags/tag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Relationship Id="rId1" Type="http://schemas.openxmlformats.org/officeDocument/2006/relationships/tags" Target="../tags/tag64.xml"/><Relationship Id="rId2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Relationship Id="rId1" Type="http://schemas.openxmlformats.org/officeDocument/2006/relationships/tags" Target="../tags/tag67.xml"/><Relationship Id="rId2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20" Type="http://schemas.openxmlformats.org/officeDocument/2006/relationships/tags" Target="../tags/tag88.xml"/><Relationship Id="rId21" Type="http://schemas.openxmlformats.org/officeDocument/2006/relationships/tags" Target="../tags/tag89.xml"/><Relationship Id="rId22" Type="http://schemas.openxmlformats.org/officeDocument/2006/relationships/tags" Target="../tags/tag90.xml"/><Relationship Id="rId23" Type="http://schemas.openxmlformats.org/officeDocument/2006/relationships/tags" Target="../tags/tag91.xml"/><Relationship Id="rId24" Type="http://schemas.openxmlformats.org/officeDocument/2006/relationships/tags" Target="../tags/tag92.xml"/><Relationship Id="rId25" Type="http://schemas.openxmlformats.org/officeDocument/2006/relationships/tags" Target="../tags/tag93.xml"/><Relationship Id="rId26" Type="http://schemas.openxmlformats.org/officeDocument/2006/relationships/tags" Target="../tags/tag94.xml"/><Relationship Id="rId27" Type="http://schemas.openxmlformats.org/officeDocument/2006/relationships/tags" Target="../tags/tag95.xml"/><Relationship Id="rId28" Type="http://schemas.openxmlformats.org/officeDocument/2006/relationships/tags" Target="../tags/tag96.xml"/><Relationship Id="rId29" Type="http://schemas.openxmlformats.org/officeDocument/2006/relationships/tags" Target="../tags/tag97.xml"/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30" Type="http://schemas.openxmlformats.org/officeDocument/2006/relationships/tags" Target="../tags/tag98.xml"/><Relationship Id="rId31" Type="http://schemas.openxmlformats.org/officeDocument/2006/relationships/tags" Target="../tags/tag99.xml"/><Relationship Id="rId32" Type="http://schemas.openxmlformats.org/officeDocument/2006/relationships/tags" Target="../tags/tag100.xml"/><Relationship Id="rId9" Type="http://schemas.openxmlformats.org/officeDocument/2006/relationships/tags" Target="../tags/tag77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33" Type="http://schemas.openxmlformats.org/officeDocument/2006/relationships/tags" Target="../tags/tag101.xml"/><Relationship Id="rId34" Type="http://schemas.openxmlformats.org/officeDocument/2006/relationships/tags" Target="../tags/tag102.xml"/><Relationship Id="rId35" Type="http://schemas.openxmlformats.org/officeDocument/2006/relationships/tags" Target="../tags/tag103.xml"/><Relationship Id="rId36" Type="http://schemas.openxmlformats.org/officeDocument/2006/relationships/tags" Target="../tags/tag104.xml"/><Relationship Id="rId10" Type="http://schemas.openxmlformats.org/officeDocument/2006/relationships/tags" Target="../tags/tag78.xml"/><Relationship Id="rId11" Type="http://schemas.openxmlformats.org/officeDocument/2006/relationships/tags" Target="../tags/tag79.xml"/><Relationship Id="rId12" Type="http://schemas.openxmlformats.org/officeDocument/2006/relationships/tags" Target="../tags/tag80.xml"/><Relationship Id="rId13" Type="http://schemas.openxmlformats.org/officeDocument/2006/relationships/tags" Target="../tags/tag81.xml"/><Relationship Id="rId14" Type="http://schemas.openxmlformats.org/officeDocument/2006/relationships/tags" Target="../tags/tag82.xml"/><Relationship Id="rId15" Type="http://schemas.openxmlformats.org/officeDocument/2006/relationships/tags" Target="../tags/tag83.xml"/><Relationship Id="rId16" Type="http://schemas.openxmlformats.org/officeDocument/2006/relationships/tags" Target="../tags/tag84.xml"/><Relationship Id="rId17" Type="http://schemas.openxmlformats.org/officeDocument/2006/relationships/tags" Target="../tags/tag85.xml"/><Relationship Id="rId18" Type="http://schemas.openxmlformats.org/officeDocument/2006/relationships/tags" Target="../tags/tag86.xml"/><Relationship Id="rId19" Type="http://schemas.openxmlformats.org/officeDocument/2006/relationships/tags" Target="../tags/tag87.xml"/><Relationship Id="rId37" Type="http://schemas.openxmlformats.org/officeDocument/2006/relationships/tags" Target="../tags/tag105.xml"/><Relationship Id="rId38" Type="http://schemas.openxmlformats.org/officeDocument/2006/relationships/tags" Target="../tags/tag106.xml"/><Relationship Id="rId39" Type="http://schemas.openxmlformats.org/officeDocument/2006/relationships/tags" Target="../tags/tag107.xml"/><Relationship Id="rId40" Type="http://schemas.openxmlformats.org/officeDocument/2006/relationships/tags" Target="../tags/tag108.xml"/><Relationship Id="rId41" Type="http://schemas.openxmlformats.org/officeDocument/2006/relationships/tags" Target="../tags/tag109.xml"/><Relationship Id="rId42" Type="http://schemas.openxmlformats.org/officeDocument/2006/relationships/slideLayout" Target="../slideLayouts/slideLayout3.xml"/><Relationship Id="rId43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20" Type="http://schemas.openxmlformats.org/officeDocument/2006/relationships/tags" Target="../tags/tag129.xml"/><Relationship Id="rId21" Type="http://schemas.openxmlformats.org/officeDocument/2006/relationships/tags" Target="../tags/tag130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14.xml"/><Relationship Id="rId10" Type="http://schemas.openxmlformats.org/officeDocument/2006/relationships/tags" Target="../tags/tag119.xml"/><Relationship Id="rId11" Type="http://schemas.openxmlformats.org/officeDocument/2006/relationships/tags" Target="../tags/tag120.xml"/><Relationship Id="rId12" Type="http://schemas.openxmlformats.org/officeDocument/2006/relationships/tags" Target="../tags/tag121.xml"/><Relationship Id="rId13" Type="http://schemas.openxmlformats.org/officeDocument/2006/relationships/tags" Target="../tags/tag122.xml"/><Relationship Id="rId14" Type="http://schemas.openxmlformats.org/officeDocument/2006/relationships/tags" Target="../tags/tag123.xml"/><Relationship Id="rId15" Type="http://schemas.openxmlformats.org/officeDocument/2006/relationships/tags" Target="../tags/tag124.xml"/><Relationship Id="rId16" Type="http://schemas.openxmlformats.org/officeDocument/2006/relationships/tags" Target="../tags/tag125.xml"/><Relationship Id="rId17" Type="http://schemas.openxmlformats.org/officeDocument/2006/relationships/tags" Target="../tags/tag126.xml"/><Relationship Id="rId18" Type="http://schemas.openxmlformats.org/officeDocument/2006/relationships/tags" Target="../tags/tag127.xml"/><Relationship Id="rId19" Type="http://schemas.openxmlformats.org/officeDocument/2006/relationships/tags" Target="../tags/tag128.xml"/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15.xml"/><Relationship Id="rId10" Type="http://schemas.openxmlformats.org/officeDocument/2006/relationships/tags" Target="../tags/tag140.xml"/><Relationship Id="rId11" Type="http://schemas.openxmlformats.org/officeDocument/2006/relationships/tags" Target="../tags/tag141.xml"/><Relationship Id="rId12" Type="http://schemas.openxmlformats.org/officeDocument/2006/relationships/tags" Target="../tags/tag142.xml"/><Relationship Id="rId13" Type="http://schemas.openxmlformats.org/officeDocument/2006/relationships/tags" Target="../tags/tag143.xml"/><Relationship Id="rId14" Type="http://schemas.openxmlformats.org/officeDocument/2006/relationships/tags" Target="../tags/tag144.xml"/><Relationship Id="rId15" Type="http://schemas.openxmlformats.org/officeDocument/2006/relationships/tags" Target="../tags/tag145.xml"/><Relationship Id="rId16" Type="http://schemas.openxmlformats.org/officeDocument/2006/relationships/tags" Target="../tags/tag146.xml"/><Relationship Id="rId17" Type="http://schemas.openxmlformats.org/officeDocument/2006/relationships/tags" Target="../tags/tag147.xml"/><Relationship Id="rId18" Type="http://schemas.openxmlformats.org/officeDocument/2006/relationships/tags" Target="../tags/tag148.xml"/><Relationship Id="rId19" Type="http://schemas.openxmlformats.org/officeDocument/2006/relationships/tags" Target="../tags/tag149.xml"/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tags" Target="../tags/tag13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20" Type="http://schemas.openxmlformats.org/officeDocument/2006/relationships/tags" Target="../tags/tag169.xml"/><Relationship Id="rId21" Type="http://schemas.openxmlformats.org/officeDocument/2006/relationships/tags" Target="../tags/tag170.xml"/><Relationship Id="rId22" Type="http://schemas.openxmlformats.org/officeDocument/2006/relationships/tags" Target="../tags/tag171.xml"/><Relationship Id="rId23" Type="http://schemas.openxmlformats.org/officeDocument/2006/relationships/slideLayout" Target="../slideLayouts/slideLayout3.xml"/><Relationship Id="rId24" Type="http://schemas.openxmlformats.org/officeDocument/2006/relationships/notesSlide" Target="../notesSlides/notesSlide16.xml"/><Relationship Id="rId10" Type="http://schemas.openxmlformats.org/officeDocument/2006/relationships/tags" Target="../tags/tag159.xml"/><Relationship Id="rId11" Type="http://schemas.openxmlformats.org/officeDocument/2006/relationships/tags" Target="../tags/tag160.xml"/><Relationship Id="rId12" Type="http://schemas.openxmlformats.org/officeDocument/2006/relationships/tags" Target="../tags/tag161.xml"/><Relationship Id="rId13" Type="http://schemas.openxmlformats.org/officeDocument/2006/relationships/tags" Target="../tags/tag162.xml"/><Relationship Id="rId14" Type="http://schemas.openxmlformats.org/officeDocument/2006/relationships/tags" Target="../tags/tag163.xml"/><Relationship Id="rId15" Type="http://schemas.openxmlformats.org/officeDocument/2006/relationships/tags" Target="../tags/tag164.xml"/><Relationship Id="rId16" Type="http://schemas.openxmlformats.org/officeDocument/2006/relationships/tags" Target="../tags/tag165.xml"/><Relationship Id="rId17" Type="http://schemas.openxmlformats.org/officeDocument/2006/relationships/tags" Target="../tags/tag166.xml"/><Relationship Id="rId18" Type="http://schemas.openxmlformats.org/officeDocument/2006/relationships/tags" Target="../tags/tag167.xml"/><Relationship Id="rId19" Type="http://schemas.openxmlformats.org/officeDocument/2006/relationships/tags" Target="../tags/tag168.xml"/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tags" Target="../tags/tag152.xml"/><Relationship Id="rId4" Type="http://schemas.openxmlformats.org/officeDocument/2006/relationships/tags" Target="../tags/tag153.xml"/><Relationship Id="rId5" Type="http://schemas.openxmlformats.org/officeDocument/2006/relationships/tags" Target="../tags/tag154.xml"/><Relationship Id="rId6" Type="http://schemas.openxmlformats.org/officeDocument/2006/relationships/tags" Target="../tags/tag155.xml"/><Relationship Id="rId7" Type="http://schemas.openxmlformats.org/officeDocument/2006/relationships/tags" Target="../tags/tag156.xml"/><Relationship Id="rId8" Type="http://schemas.openxmlformats.org/officeDocument/2006/relationships/tags" Target="../tags/tag15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20" Type="http://schemas.openxmlformats.org/officeDocument/2006/relationships/tags" Target="../tags/tag191.xml"/><Relationship Id="rId21" Type="http://schemas.openxmlformats.org/officeDocument/2006/relationships/tags" Target="../tags/tag192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17.xml"/><Relationship Id="rId10" Type="http://schemas.openxmlformats.org/officeDocument/2006/relationships/tags" Target="../tags/tag181.xml"/><Relationship Id="rId11" Type="http://schemas.openxmlformats.org/officeDocument/2006/relationships/tags" Target="../tags/tag182.xml"/><Relationship Id="rId12" Type="http://schemas.openxmlformats.org/officeDocument/2006/relationships/tags" Target="../tags/tag183.xml"/><Relationship Id="rId13" Type="http://schemas.openxmlformats.org/officeDocument/2006/relationships/tags" Target="../tags/tag184.xml"/><Relationship Id="rId14" Type="http://schemas.openxmlformats.org/officeDocument/2006/relationships/tags" Target="../tags/tag185.xml"/><Relationship Id="rId15" Type="http://schemas.openxmlformats.org/officeDocument/2006/relationships/tags" Target="../tags/tag186.xml"/><Relationship Id="rId16" Type="http://schemas.openxmlformats.org/officeDocument/2006/relationships/tags" Target="../tags/tag187.xml"/><Relationship Id="rId17" Type="http://schemas.openxmlformats.org/officeDocument/2006/relationships/tags" Target="../tags/tag188.xml"/><Relationship Id="rId18" Type="http://schemas.openxmlformats.org/officeDocument/2006/relationships/tags" Target="../tags/tag189.xml"/><Relationship Id="rId19" Type="http://schemas.openxmlformats.org/officeDocument/2006/relationships/tags" Target="../tags/tag190.xml"/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tags" Target="../tags/tag178.xml"/><Relationship Id="rId8" Type="http://schemas.openxmlformats.org/officeDocument/2006/relationships/tags" Target="../tags/tag179.xml"/></Relationships>
</file>

<file path=ppt/slides/_rels/slide21.xml.rels><?xml version="1.0" encoding="UTF-8" standalone="yes"?>
<Relationships xmlns="http://schemas.openxmlformats.org/package/2006/relationships"><Relationship Id="rId20" Type="http://schemas.openxmlformats.org/officeDocument/2006/relationships/tags" Target="../tags/tag212.xml"/><Relationship Id="rId21" Type="http://schemas.openxmlformats.org/officeDocument/2006/relationships/tags" Target="../tags/tag213.xml"/><Relationship Id="rId22" Type="http://schemas.openxmlformats.org/officeDocument/2006/relationships/tags" Target="../tags/tag214.xml"/><Relationship Id="rId23" Type="http://schemas.openxmlformats.org/officeDocument/2006/relationships/tags" Target="../tags/tag215.xml"/><Relationship Id="rId24" Type="http://schemas.openxmlformats.org/officeDocument/2006/relationships/tags" Target="../tags/tag216.xml"/><Relationship Id="rId25" Type="http://schemas.openxmlformats.org/officeDocument/2006/relationships/tags" Target="../tags/tag217.xml"/><Relationship Id="rId26" Type="http://schemas.openxmlformats.org/officeDocument/2006/relationships/tags" Target="../tags/tag218.xml"/><Relationship Id="rId27" Type="http://schemas.openxmlformats.org/officeDocument/2006/relationships/tags" Target="../tags/tag219.xml"/><Relationship Id="rId28" Type="http://schemas.openxmlformats.org/officeDocument/2006/relationships/tags" Target="../tags/tag220.xml"/><Relationship Id="rId29" Type="http://schemas.openxmlformats.org/officeDocument/2006/relationships/tags" Target="../tags/tag221.xml"/><Relationship Id="rId1" Type="http://schemas.openxmlformats.org/officeDocument/2006/relationships/tags" Target="../tags/tag193.xml"/><Relationship Id="rId2" Type="http://schemas.openxmlformats.org/officeDocument/2006/relationships/tags" Target="../tags/tag194.xml"/><Relationship Id="rId3" Type="http://schemas.openxmlformats.org/officeDocument/2006/relationships/tags" Target="../tags/tag195.xml"/><Relationship Id="rId4" Type="http://schemas.openxmlformats.org/officeDocument/2006/relationships/tags" Target="../tags/tag196.xml"/><Relationship Id="rId5" Type="http://schemas.openxmlformats.org/officeDocument/2006/relationships/tags" Target="../tags/tag197.xml"/><Relationship Id="rId30" Type="http://schemas.openxmlformats.org/officeDocument/2006/relationships/tags" Target="../tags/tag222.xml"/><Relationship Id="rId31" Type="http://schemas.openxmlformats.org/officeDocument/2006/relationships/tags" Target="../tags/tag223.xml"/><Relationship Id="rId32" Type="http://schemas.openxmlformats.org/officeDocument/2006/relationships/tags" Target="../tags/tag224.xml"/><Relationship Id="rId9" Type="http://schemas.openxmlformats.org/officeDocument/2006/relationships/tags" Target="../tags/tag201.xml"/><Relationship Id="rId6" Type="http://schemas.openxmlformats.org/officeDocument/2006/relationships/tags" Target="../tags/tag198.xml"/><Relationship Id="rId7" Type="http://schemas.openxmlformats.org/officeDocument/2006/relationships/tags" Target="../tags/tag199.xml"/><Relationship Id="rId8" Type="http://schemas.openxmlformats.org/officeDocument/2006/relationships/tags" Target="../tags/tag200.xml"/><Relationship Id="rId33" Type="http://schemas.openxmlformats.org/officeDocument/2006/relationships/tags" Target="../tags/tag225.xml"/><Relationship Id="rId34" Type="http://schemas.openxmlformats.org/officeDocument/2006/relationships/tags" Target="../tags/tag226.xml"/><Relationship Id="rId35" Type="http://schemas.openxmlformats.org/officeDocument/2006/relationships/tags" Target="../tags/tag227.xml"/><Relationship Id="rId36" Type="http://schemas.openxmlformats.org/officeDocument/2006/relationships/tags" Target="../tags/tag228.xml"/><Relationship Id="rId10" Type="http://schemas.openxmlformats.org/officeDocument/2006/relationships/tags" Target="../tags/tag202.xml"/><Relationship Id="rId11" Type="http://schemas.openxmlformats.org/officeDocument/2006/relationships/tags" Target="../tags/tag203.xml"/><Relationship Id="rId12" Type="http://schemas.openxmlformats.org/officeDocument/2006/relationships/tags" Target="../tags/tag204.xml"/><Relationship Id="rId13" Type="http://schemas.openxmlformats.org/officeDocument/2006/relationships/tags" Target="../tags/tag205.xml"/><Relationship Id="rId14" Type="http://schemas.openxmlformats.org/officeDocument/2006/relationships/tags" Target="../tags/tag206.xml"/><Relationship Id="rId15" Type="http://schemas.openxmlformats.org/officeDocument/2006/relationships/tags" Target="../tags/tag207.xml"/><Relationship Id="rId16" Type="http://schemas.openxmlformats.org/officeDocument/2006/relationships/tags" Target="../tags/tag208.xml"/><Relationship Id="rId17" Type="http://schemas.openxmlformats.org/officeDocument/2006/relationships/tags" Target="../tags/tag209.xml"/><Relationship Id="rId18" Type="http://schemas.openxmlformats.org/officeDocument/2006/relationships/tags" Target="../tags/tag210.xml"/><Relationship Id="rId19" Type="http://schemas.openxmlformats.org/officeDocument/2006/relationships/tags" Target="../tags/tag211.xml"/><Relationship Id="rId37" Type="http://schemas.openxmlformats.org/officeDocument/2006/relationships/tags" Target="../tags/tag229.xml"/><Relationship Id="rId38" Type="http://schemas.openxmlformats.org/officeDocument/2006/relationships/slideLayout" Target="../slideLayouts/slideLayout3.xml"/><Relationship Id="rId39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3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Relationship Id="rId1" Type="http://schemas.openxmlformats.org/officeDocument/2006/relationships/tags" Target="../tags/tag231.xml"/><Relationship Id="rId2" Type="http://schemas.openxmlformats.org/officeDocument/2006/relationships/tags" Target="../tags/tag23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20" Type="http://schemas.openxmlformats.org/officeDocument/2006/relationships/tags" Target="../tags/tag253.xml"/><Relationship Id="rId21" Type="http://schemas.openxmlformats.org/officeDocument/2006/relationships/tags" Target="../tags/tag254.xml"/><Relationship Id="rId22" Type="http://schemas.openxmlformats.org/officeDocument/2006/relationships/tags" Target="../tags/tag255.xml"/><Relationship Id="rId23" Type="http://schemas.openxmlformats.org/officeDocument/2006/relationships/tags" Target="../tags/tag256.xml"/><Relationship Id="rId24" Type="http://schemas.openxmlformats.org/officeDocument/2006/relationships/tags" Target="../tags/tag257.xml"/><Relationship Id="rId25" Type="http://schemas.openxmlformats.org/officeDocument/2006/relationships/tags" Target="../tags/tag258.xml"/><Relationship Id="rId26" Type="http://schemas.openxmlformats.org/officeDocument/2006/relationships/tags" Target="../tags/tag259.xml"/><Relationship Id="rId27" Type="http://schemas.openxmlformats.org/officeDocument/2006/relationships/tags" Target="../tags/tag260.xml"/><Relationship Id="rId28" Type="http://schemas.openxmlformats.org/officeDocument/2006/relationships/tags" Target="../tags/tag261.xml"/><Relationship Id="rId29" Type="http://schemas.openxmlformats.org/officeDocument/2006/relationships/slideLayout" Target="../slideLayouts/slideLayout3.xml"/><Relationship Id="rId30" Type="http://schemas.openxmlformats.org/officeDocument/2006/relationships/notesSlide" Target="../notesSlides/notesSlide22.xml"/><Relationship Id="rId10" Type="http://schemas.openxmlformats.org/officeDocument/2006/relationships/tags" Target="../tags/tag243.xml"/><Relationship Id="rId11" Type="http://schemas.openxmlformats.org/officeDocument/2006/relationships/tags" Target="../tags/tag244.xml"/><Relationship Id="rId12" Type="http://schemas.openxmlformats.org/officeDocument/2006/relationships/tags" Target="../tags/tag245.xml"/><Relationship Id="rId13" Type="http://schemas.openxmlformats.org/officeDocument/2006/relationships/tags" Target="../tags/tag246.xml"/><Relationship Id="rId14" Type="http://schemas.openxmlformats.org/officeDocument/2006/relationships/tags" Target="../tags/tag247.xml"/><Relationship Id="rId15" Type="http://schemas.openxmlformats.org/officeDocument/2006/relationships/tags" Target="../tags/tag248.xml"/><Relationship Id="rId16" Type="http://schemas.openxmlformats.org/officeDocument/2006/relationships/tags" Target="../tags/tag249.xml"/><Relationship Id="rId17" Type="http://schemas.openxmlformats.org/officeDocument/2006/relationships/tags" Target="../tags/tag250.xml"/><Relationship Id="rId18" Type="http://schemas.openxmlformats.org/officeDocument/2006/relationships/tags" Target="../tags/tag251.xml"/><Relationship Id="rId19" Type="http://schemas.openxmlformats.org/officeDocument/2006/relationships/tags" Target="../tags/tag252.xml"/><Relationship Id="rId1" Type="http://schemas.openxmlformats.org/officeDocument/2006/relationships/tags" Target="../tags/tag234.xml"/><Relationship Id="rId2" Type="http://schemas.openxmlformats.org/officeDocument/2006/relationships/tags" Target="../tags/tag235.xml"/><Relationship Id="rId3" Type="http://schemas.openxmlformats.org/officeDocument/2006/relationships/tags" Target="../tags/tag236.xml"/><Relationship Id="rId4" Type="http://schemas.openxmlformats.org/officeDocument/2006/relationships/tags" Target="../tags/tag237.xml"/><Relationship Id="rId5" Type="http://schemas.openxmlformats.org/officeDocument/2006/relationships/tags" Target="../tags/tag238.xml"/><Relationship Id="rId6" Type="http://schemas.openxmlformats.org/officeDocument/2006/relationships/tags" Target="../tags/tag239.xml"/><Relationship Id="rId7" Type="http://schemas.openxmlformats.org/officeDocument/2006/relationships/tags" Target="../tags/tag240.xml"/><Relationship Id="rId8" Type="http://schemas.openxmlformats.org/officeDocument/2006/relationships/tags" Target="../tags/tag241.xml"/></Relationships>
</file>

<file path=ppt/slides/_rels/slide26.xml.rels><?xml version="1.0" encoding="UTF-8" standalone="yes"?>
<Relationships xmlns="http://schemas.openxmlformats.org/package/2006/relationships"><Relationship Id="rId20" Type="http://schemas.openxmlformats.org/officeDocument/2006/relationships/tags" Target="../tags/tag281.xml"/><Relationship Id="rId21" Type="http://schemas.openxmlformats.org/officeDocument/2006/relationships/tags" Target="../tags/tag282.xml"/><Relationship Id="rId22" Type="http://schemas.openxmlformats.org/officeDocument/2006/relationships/tags" Target="../tags/tag283.xml"/><Relationship Id="rId23" Type="http://schemas.openxmlformats.org/officeDocument/2006/relationships/tags" Target="../tags/tag284.xml"/><Relationship Id="rId24" Type="http://schemas.openxmlformats.org/officeDocument/2006/relationships/tags" Target="../tags/tag285.xml"/><Relationship Id="rId25" Type="http://schemas.openxmlformats.org/officeDocument/2006/relationships/tags" Target="../tags/tag286.xml"/><Relationship Id="rId26" Type="http://schemas.openxmlformats.org/officeDocument/2006/relationships/tags" Target="../tags/tag287.xml"/><Relationship Id="rId27" Type="http://schemas.openxmlformats.org/officeDocument/2006/relationships/tags" Target="../tags/tag288.xml"/><Relationship Id="rId28" Type="http://schemas.openxmlformats.org/officeDocument/2006/relationships/tags" Target="../tags/tag289.xml"/><Relationship Id="rId29" Type="http://schemas.openxmlformats.org/officeDocument/2006/relationships/tags" Target="../tags/tag290.xml"/><Relationship Id="rId1" Type="http://schemas.openxmlformats.org/officeDocument/2006/relationships/tags" Target="../tags/tag262.xml"/><Relationship Id="rId2" Type="http://schemas.openxmlformats.org/officeDocument/2006/relationships/tags" Target="../tags/tag263.xml"/><Relationship Id="rId3" Type="http://schemas.openxmlformats.org/officeDocument/2006/relationships/tags" Target="../tags/tag264.xml"/><Relationship Id="rId4" Type="http://schemas.openxmlformats.org/officeDocument/2006/relationships/tags" Target="../tags/tag265.xml"/><Relationship Id="rId5" Type="http://schemas.openxmlformats.org/officeDocument/2006/relationships/tags" Target="../tags/tag266.xml"/><Relationship Id="rId30" Type="http://schemas.openxmlformats.org/officeDocument/2006/relationships/tags" Target="../tags/tag291.xml"/><Relationship Id="rId31" Type="http://schemas.openxmlformats.org/officeDocument/2006/relationships/tags" Target="../tags/tag292.xml"/><Relationship Id="rId32" Type="http://schemas.openxmlformats.org/officeDocument/2006/relationships/tags" Target="../tags/tag293.xml"/><Relationship Id="rId9" Type="http://schemas.openxmlformats.org/officeDocument/2006/relationships/tags" Target="../tags/tag270.xml"/><Relationship Id="rId6" Type="http://schemas.openxmlformats.org/officeDocument/2006/relationships/tags" Target="../tags/tag267.xml"/><Relationship Id="rId7" Type="http://schemas.openxmlformats.org/officeDocument/2006/relationships/tags" Target="../tags/tag268.xml"/><Relationship Id="rId8" Type="http://schemas.openxmlformats.org/officeDocument/2006/relationships/tags" Target="../tags/tag269.xml"/><Relationship Id="rId33" Type="http://schemas.openxmlformats.org/officeDocument/2006/relationships/tags" Target="../tags/tag294.xml"/><Relationship Id="rId34" Type="http://schemas.openxmlformats.org/officeDocument/2006/relationships/slideLayout" Target="../slideLayouts/slideLayout3.xml"/><Relationship Id="rId35" Type="http://schemas.openxmlformats.org/officeDocument/2006/relationships/notesSlide" Target="../notesSlides/notesSlide23.xml"/><Relationship Id="rId10" Type="http://schemas.openxmlformats.org/officeDocument/2006/relationships/tags" Target="../tags/tag271.xml"/><Relationship Id="rId11" Type="http://schemas.openxmlformats.org/officeDocument/2006/relationships/tags" Target="../tags/tag272.xml"/><Relationship Id="rId12" Type="http://schemas.openxmlformats.org/officeDocument/2006/relationships/tags" Target="../tags/tag273.xml"/><Relationship Id="rId13" Type="http://schemas.openxmlformats.org/officeDocument/2006/relationships/tags" Target="../tags/tag274.xml"/><Relationship Id="rId14" Type="http://schemas.openxmlformats.org/officeDocument/2006/relationships/tags" Target="../tags/tag275.xml"/><Relationship Id="rId15" Type="http://schemas.openxmlformats.org/officeDocument/2006/relationships/tags" Target="../tags/tag276.xml"/><Relationship Id="rId16" Type="http://schemas.openxmlformats.org/officeDocument/2006/relationships/tags" Target="../tags/tag277.xml"/><Relationship Id="rId17" Type="http://schemas.openxmlformats.org/officeDocument/2006/relationships/tags" Target="../tags/tag278.xml"/><Relationship Id="rId18" Type="http://schemas.openxmlformats.org/officeDocument/2006/relationships/tags" Target="../tags/tag279.xml"/><Relationship Id="rId19" Type="http://schemas.openxmlformats.org/officeDocument/2006/relationships/tags" Target="../tags/tag28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20" Type="http://schemas.openxmlformats.org/officeDocument/2006/relationships/tags" Target="../tags/tag314.xml"/><Relationship Id="rId21" Type="http://schemas.openxmlformats.org/officeDocument/2006/relationships/tags" Target="../tags/tag315.xml"/><Relationship Id="rId22" Type="http://schemas.openxmlformats.org/officeDocument/2006/relationships/tags" Target="../tags/tag316.xml"/><Relationship Id="rId23" Type="http://schemas.openxmlformats.org/officeDocument/2006/relationships/slideLayout" Target="../slideLayouts/slideLayout3.xml"/><Relationship Id="rId24" Type="http://schemas.openxmlformats.org/officeDocument/2006/relationships/notesSlide" Target="../notesSlides/notesSlide24.xml"/><Relationship Id="rId10" Type="http://schemas.openxmlformats.org/officeDocument/2006/relationships/tags" Target="../tags/tag304.xml"/><Relationship Id="rId11" Type="http://schemas.openxmlformats.org/officeDocument/2006/relationships/tags" Target="../tags/tag305.xml"/><Relationship Id="rId12" Type="http://schemas.openxmlformats.org/officeDocument/2006/relationships/tags" Target="../tags/tag306.xml"/><Relationship Id="rId13" Type="http://schemas.openxmlformats.org/officeDocument/2006/relationships/tags" Target="../tags/tag307.xml"/><Relationship Id="rId14" Type="http://schemas.openxmlformats.org/officeDocument/2006/relationships/tags" Target="../tags/tag308.xml"/><Relationship Id="rId15" Type="http://schemas.openxmlformats.org/officeDocument/2006/relationships/tags" Target="../tags/tag309.xml"/><Relationship Id="rId16" Type="http://schemas.openxmlformats.org/officeDocument/2006/relationships/tags" Target="../tags/tag310.xml"/><Relationship Id="rId17" Type="http://schemas.openxmlformats.org/officeDocument/2006/relationships/tags" Target="../tags/tag311.xml"/><Relationship Id="rId18" Type="http://schemas.openxmlformats.org/officeDocument/2006/relationships/tags" Target="../tags/tag312.xml"/><Relationship Id="rId19" Type="http://schemas.openxmlformats.org/officeDocument/2006/relationships/tags" Target="../tags/tag313.xml"/><Relationship Id="rId1" Type="http://schemas.openxmlformats.org/officeDocument/2006/relationships/tags" Target="../tags/tag295.xml"/><Relationship Id="rId2" Type="http://schemas.openxmlformats.org/officeDocument/2006/relationships/tags" Target="../tags/tag296.xml"/><Relationship Id="rId3" Type="http://schemas.openxmlformats.org/officeDocument/2006/relationships/tags" Target="../tags/tag297.xml"/><Relationship Id="rId4" Type="http://schemas.openxmlformats.org/officeDocument/2006/relationships/tags" Target="../tags/tag298.xml"/><Relationship Id="rId5" Type="http://schemas.openxmlformats.org/officeDocument/2006/relationships/tags" Target="../tags/tag299.xml"/><Relationship Id="rId6" Type="http://schemas.openxmlformats.org/officeDocument/2006/relationships/tags" Target="../tags/tag300.xml"/><Relationship Id="rId7" Type="http://schemas.openxmlformats.org/officeDocument/2006/relationships/tags" Target="../tags/tag301.xml"/><Relationship Id="rId8" Type="http://schemas.openxmlformats.org/officeDocument/2006/relationships/tags" Target="../tags/tag302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20" Type="http://schemas.openxmlformats.org/officeDocument/2006/relationships/tags" Target="../tags/tag336.xml"/><Relationship Id="rId21" Type="http://schemas.openxmlformats.org/officeDocument/2006/relationships/tags" Target="../tags/tag337.xml"/><Relationship Id="rId22" Type="http://schemas.openxmlformats.org/officeDocument/2006/relationships/tags" Target="../tags/tag338.xml"/><Relationship Id="rId23" Type="http://schemas.openxmlformats.org/officeDocument/2006/relationships/tags" Target="../tags/tag339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25.xml"/><Relationship Id="rId10" Type="http://schemas.openxmlformats.org/officeDocument/2006/relationships/tags" Target="../tags/tag326.xml"/><Relationship Id="rId11" Type="http://schemas.openxmlformats.org/officeDocument/2006/relationships/tags" Target="../tags/tag327.xml"/><Relationship Id="rId12" Type="http://schemas.openxmlformats.org/officeDocument/2006/relationships/tags" Target="../tags/tag328.xml"/><Relationship Id="rId13" Type="http://schemas.openxmlformats.org/officeDocument/2006/relationships/tags" Target="../tags/tag329.xml"/><Relationship Id="rId14" Type="http://schemas.openxmlformats.org/officeDocument/2006/relationships/tags" Target="../tags/tag330.xml"/><Relationship Id="rId15" Type="http://schemas.openxmlformats.org/officeDocument/2006/relationships/tags" Target="../tags/tag331.xml"/><Relationship Id="rId16" Type="http://schemas.openxmlformats.org/officeDocument/2006/relationships/tags" Target="../tags/tag332.xml"/><Relationship Id="rId17" Type="http://schemas.openxmlformats.org/officeDocument/2006/relationships/tags" Target="../tags/tag333.xml"/><Relationship Id="rId18" Type="http://schemas.openxmlformats.org/officeDocument/2006/relationships/tags" Target="../tags/tag334.xml"/><Relationship Id="rId19" Type="http://schemas.openxmlformats.org/officeDocument/2006/relationships/tags" Target="../tags/tag335.xml"/><Relationship Id="rId1" Type="http://schemas.openxmlformats.org/officeDocument/2006/relationships/tags" Target="../tags/tag317.xml"/><Relationship Id="rId2" Type="http://schemas.openxmlformats.org/officeDocument/2006/relationships/tags" Target="../tags/tag318.xml"/><Relationship Id="rId3" Type="http://schemas.openxmlformats.org/officeDocument/2006/relationships/tags" Target="../tags/tag319.xml"/><Relationship Id="rId4" Type="http://schemas.openxmlformats.org/officeDocument/2006/relationships/tags" Target="../tags/tag320.xml"/><Relationship Id="rId5" Type="http://schemas.openxmlformats.org/officeDocument/2006/relationships/tags" Target="../tags/tag321.xml"/><Relationship Id="rId6" Type="http://schemas.openxmlformats.org/officeDocument/2006/relationships/tags" Target="../tags/tag322.xml"/><Relationship Id="rId7" Type="http://schemas.openxmlformats.org/officeDocument/2006/relationships/tags" Target="../tags/tag323.xml"/><Relationship Id="rId8" Type="http://schemas.openxmlformats.org/officeDocument/2006/relationships/tags" Target="../tags/tag32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20" Type="http://schemas.openxmlformats.org/officeDocument/2006/relationships/tags" Target="../tags/tag359.xml"/><Relationship Id="rId21" Type="http://schemas.openxmlformats.org/officeDocument/2006/relationships/tags" Target="../tags/tag360.xml"/><Relationship Id="rId22" Type="http://schemas.openxmlformats.org/officeDocument/2006/relationships/tags" Target="../tags/tag361.xml"/><Relationship Id="rId23" Type="http://schemas.openxmlformats.org/officeDocument/2006/relationships/tags" Target="../tags/tag362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26.xml"/><Relationship Id="rId10" Type="http://schemas.openxmlformats.org/officeDocument/2006/relationships/tags" Target="../tags/tag349.xml"/><Relationship Id="rId11" Type="http://schemas.openxmlformats.org/officeDocument/2006/relationships/tags" Target="../tags/tag350.xml"/><Relationship Id="rId12" Type="http://schemas.openxmlformats.org/officeDocument/2006/relationships/tags" Target="../tags/tag351.xml"/><Relationship Id="rId13" Type="http://schemas.openxmlformats.org/officeDocument/2006/relationships/tags" Target="../tags/tag352.xml"/><Relationship Id="rId14" Type="http://schemas.openxmlformats.org/officeDocument/2006/relationships/tags" Target="../tags/tag353.xml"/><Relationship Id="rId15" Type="http://schemas.openxmlformats.org/officeDocument/2006/relationships/tags" Target="../tags/tag354.xml"/><Relationship Id="rId16" Type="http://schemas.openxmlformats.org/officeDocument/2006/relationships/tags" Target="../tags/tag355.xml"/><Relationship Id="rId17" Type="http://schemas.openxmlformats.org/officeDocument/2006/relationships/tags" Target="../tags/tag356.xml"/><Relationship Id="rId18" Type="http://schemas.openxmlformats.org/officeDocument/2006/relationships/tags" Target="../tags/tag357.xml"/><Relationship Id="rId19" Type="http://schemas.openxmlformats.org/officeDocument/2006/relationships/tags" Target="../tags/tag358.xml"/><Relationship Id="rId1" Type="http://schemas.openxmlformats.org/officeDocument/2006/relationships/tags" Target="../tags/tag340.xml"/><Relationship Id="rId2" Type="http://schemas.openxmlformats.org/officeDocument/2006/relationships/tags" Target="../tags/tag341.xml"/><Relationship Id="rId3" Type="http://schemas.openxmlformats.org/officeDocument/2006/relationships/tags" Target="../tags/tag342.xml"/><Relationship Id="rId4" Type="http://schemas.openxmlformats.org/officeDocument/2006/relationships/tags" Target="../tags/tag343.xml"/><Relationship Id="rId5" Type="http://schemas.openxmlformats.org/officeDocument/2006/relationships/tags" Target="../tags/tag344.xml"/><Relationship Id="rId6" Type="http://schemas.openxmlformats.org/officeDocument/2006/relationships/tags" Target="../tags/tag345.xml"/><Relationship Id="rId7" Type="http://schemas.openxmlformats.org/officeDocument/2006/relationships/tags" Target="../tags/tag346.xml"/><Relationship Id="rId8" Type="http://schemas.openxmlformats.org/officeDocument/2006/relationships/tags" Target="../tags/tag34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20" Type="http://schemas.openxmlformats.org/officeDocument/2006/relationships/tags" Target="../tags/tag382.xml"/><Relationship Id="rId21" Type="http://schemas.openxmlformats.org/officeDocument/2006/relationships/tags" Target="../tags/tag383.xml"/><Relationship Id="rId22" Type="http://schemas.openxmlformats.org/officeDocument/2006/relationships/tags" Target="../tags/tag384.xml"/><Relationship Id="rId23" Type="http://schemas.openxmlformats.org/officeDocument/2006/relationships/tags" Target="../tags/tag385.xml"/><Relationship Id="rId24" Type="http://schemas.openxmlformats.org/officeDocument/2006/relationships/tags" Target="../tags/tag386.xml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27.xml"/><Relationship Id="rId10" Type="http://schemas.openxmlformats.org/officeDocument/2006/relationships/tags" Target="../tags/tag372.xml"/><Relationship Id="rId11" Type="http://schemas.openxmlformats.org/officeDocument/2006/relationships/tags" Target="../tags/tag373.xml"/><Relationship Id="rId12" Type="http://schemas.openxmlformats.org/officeDocument/2006/relationships/tags" Target="../tags/tag374.xml"/><Relationship Id="rId13" Type="http://schemas.openxmlformats.org/officeDocument/2006/relationships/tags" Target="../tags/tag375.xml"/><Relationship Id="rId14" Type="http://schemas.openxmlformats.org/officeDocument/2006/relationships/tags" Target="../tags/tag376.xml"/><Relationship Id="rId15" Type="http://schemas.openxmlformats.org/officeDocument/2006/relationships/tags" Target="../tags/tag377.xml"/><Relationship Id="rId16" Type="http://schemas.openxmlformats.org/officeDocument/2006/relationships/tags" Target="../tags/tag378.xml"/><Relationship Id="rId17" Type="http://schemas.openxmlformats.org/officeDocument/2006/relationships/tags" Target="../tags/tag379.xml"/><Relationship Id="rId18" Type="http://schemas.openxmlformats.org/officeDocument/2006/relationships/tags" Target="../tags/tag380.xml"/><Relationship Id="rId19" Type="http://schemas.openxmlformats.org/officeDocument/2006/relationships/tags" Target="../tags/tag381.xml"/><Relationship Id="rId1" Type="http://schemas.openxmlformats.org/officeDocument/2006/relationships/tags" Target="../tags/tag363.xml"/><Relationship Id="rId2" Type="http://schemas.openxmlformats.org/officeDocument/2006/relationships/tags" Target="../tags/tag364.xml"/><Relationship Id="rId3" Type="http://schemas.openxmlformats.org/officeDocument/2006/relationships/tags" Target="../tags/tag365.xml"/><Relationship Id="rId4" Type="http://schemas.openxmlformats.org/officeDocument/2006/relationships/tags" Target="../tags/tag366.xml"/><Relationship Id="rId5" Type="http://schemas.openxmlformats.org/officeDocument/2006/relationships/tags" Target="../tags/tag367.xml"/><Relationship Id="rId6" Type="http://schemas.openxmlformats.org/officeDocument/2006/relationships/tags" Target="../tags/tag368.xml"/><Relationship Id="rId7" Type="http://schemas.openxmlformats.org/officeDocument/2006/relationships/tags" Target="../tags/tag369.xml"/><Relationship Id="rId8" Type="http://schemas.openxmlformats.org/officeDocument/2006/relationships/tags" Target="../tags/tag37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tags" Target="../tags/tag38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31.xml"/><Relationship Id="rId1" Type="http://schemas.openxmlformats.org/officeDocument/2006/relationships/tags" Target="../tags/tag388.xml"/><Relationship Id="rId2" Type="http://schemas.openxmlformats.org/officeDocument/2006/relationships/tags" Target="../tags/tag38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tags" Target="../tags/tag390.xml"/><Relationship Id="rId2" Type="http://schemas.openxmlformats.org/officeDocument/2006/relationships/tags" Target="../tags/tag391.xml"/><Relationship Id="rId3" Type="http://schemas.openxmlformats.org/officeDocument/2006/relationships/tags" Target="../tags/tag392.xml"/><Relationship Id="rId4" Type="http://schemas.openxmlformats.org/officeDocument/2006/relationships/tags" Target="../tags/tag393.xml"/><Relationship Id="rId5" Type="http://schemas.openxmlformats.org/officeDocument/2006/relationships/tags" Target="../tags/tag394.xml"/><Relationship Id="rId6" Type="http://schemas.openxmlformats.org/officeDocument/2006/relationships/tags" Target="../tags/tag395.xml"/><Relationship Id="rId7" Type="http://schemas.openxmlformats.org/officeDocument/2006/relationships/tags" Target="../tags/tag396.xml"/><Relationship Id="rId8" Type="http://schemas.openxmlformats.org/officeDocument/2006/relationships/tags" Target="../tags/tag397.xml"/><Relationship Id="rId9" Type="http://schemas.openxmlformats.org/officeDocument/2006/relationships/tags" Target="../tags/tag398.xml"/><Relationship Id="rId10" Type="http://schemas.openxmlformats.org/officeDocument/2006/relationships/tags" Target="../tags/tag399.xml"/><Relationship Id="rId11" Type="http://schemas.openxmlformats.org/officeDocument/2006/relationships/tags" Target="../tags/tag400.xml"/><Relationship Id="rId12" Type="http://schemas.openxmlformats.org/officeDocument/2006/relationships/tags" Target="../tags/tag401.xml"/><Relationship Id="rId13" Type="http://schemas.openxmlformats.org/officeDocument/2006/relationships/tags" Target="../tags/tag402.xml"/><Relationship Id="rId14" Type="http://schemas.openxmlformats.org/officeDocument/2006/relationships/tags" Target="../tags/tag403.xml"/><Relationship Id="rId15" Type="http://schemas.openxmlformats.org/officeDocument/2006/relationships/tags" Target="../tags/tag404.xml"/><Relationship Id="rId16" Type="http://schemas.openxmlformats.org/officeDocument/2006/relationships/tags" Target="../tags/tag405.xml"/><Relationship Id="rId17" Type="http://schemas.openxmlformats.org/officeDocument/2006/relationships/tags" Target="../tags/tag406.xml"/><Relationship Id="rId18" Type="http://schemas.openxmlformats.org/officeDocument/2006/relationships/tags" Target="../tags/tag407.xml"/><Relationship Id="rId19" Type="http://schemas.openxmlformats.org/officeDocument/2006/relationships/tags" Target="../tags/tag408.xml"/><Relationship Id="rId30" Type="http://schemas.openxmlformats.org/officeDocument/2006/relationships/tags" Target="../tags/tag419.xml"/><Relationship Id="rId31" Type="http://schemas.openxmlformats.org/officeDocument/2006/relationships/tags" Target="../tags/tag420.xml"/><Relationship Id="rId32" Type="http://schemas.openxmlformats.org/officeDocument/2006/relationships/tags" Target="../tags/tag421.xml"/><Relationship Id="rId33" Type="http://schemas.openxmlformats.org/officeDocument/2006/relationships/tags" Target="../tags/tag422.xml"/><Relationship Id="rId34" Type="http://schemas.openxmlformats.org/officeDocument/2006/relationships/tags" Target="../tags/tag423.xml"/><Relationship Id="rId35" Type="http://schemas.openxmlformats.org/officeDocument/2006/relationships/tags" Target="../tags/tag424.xml"/><Relationship Id="rId36" Type="http://schemas.openxmlformats.org/officeDocument/2006/relationships/tags" Target="../tags/tag425.xml"/><Relationship Id="rId37" Type="http://schemas.openxmlformats.org/officeDocument/2006/relationships/tags" Target="../tags/tag426.xml"/><Relationship Id="rId38" Type="http://schemas.openxmlformats.org/officeDocument/2006/relationships/tags" Target="../tags/tag427.xml"/><Relationship Id="rId39" Type="http://schemas.openxmlformats.org/officeDocument/2006/relationships/tags" Target="../tags/tag428.xml"/><Relationship Id="rId50" Type="http://schemas.openxmlformats.org/officeDocument/2006/relationships/tags" Target="../tags/tag439.xml"/><Relationship Id="rId51" Type="http://schemas.openxmlformats.org/officeDocument/2006/relationships/tags" Target="../tags/tag440.xml"/><Relationship Id="rId52" Type="http://schemas.openxmlformats.org/officeDocument/2006/relationships/tags" Target="../tags/tag441.xml"/><Relationship Id="rId53" Type="http://schemas.openxmlformats.org/officeDocument/2006/relationships/tags" Target="../tags/tag442.xml"/><Relationship Id="rId54" Type="http://schemas.openxmlformats.org/officeDocument/2006/relationships/tags" Target="../tags/tag443.xml"/><Relationship Id="rId55" Type="http://schemas.openxmlformats.org/officeDocument/2006/relationships/tags" Target="../tags/tag444.xml"/><Relationship Id="rId56" Type="http://schemas.openxmlformats.org/officeDocument/2006/relationships/tags" Target="../tags/tag445.xml"/><Relationship Id="rId57" Type="http://schemas.openxmlformats.org/officeDocument/2006/relationships/tags" Target="../tags/tag446.xml"/><Relationship Id="rId58" Type="http://schemas.openxmlformats.org/officeDocument/2006/relationships/tags" Target="../tags/tag447.xml"/><Relationship Id="rId59" Type="http://schemas.openxmlformats.org/officeDocument/2006/relationships/tags" Target="../tags/tag448.xml"/><Relationship Id="rId70" Type="http://schemas.openxmlformats.org/officeDocument/2006/relationships/tags" Target="../tags/tag459.xml"/><Relationship Id="rId71" Type="http://schemas.openxmlformats.org/officeDocument/2006/relationships/tags" Target="../tags/tag460.xml"/><Relationship Id="rId72" Type="http://schemas.openxmlformats.org/officeDocument/2006/relationships/tags" Target="../tags/tag461.xml"/><Relationship Id="rId73" Type="http://schemas.openxmlformats.org/officeDocument/2006/relationships/tags" Target="../tags/tag462.xml"/><Relationship Id="rId74" Type="http://schemas.openxmlformats.org/officeDocument/2006/relationships/tags" Target="../tags/tag463.xml"/><Relationship Id="rId75" Type="http://schemas.openxmlformats.org/officeDocument/2006/relationships/tags" Target="../tags/tag464.xml"/><Relationship Id="rId76" Type="http://schemas.openxmlformats.org/officeDocument/2006/relationships/tags" Target="../tags/tag465.xml"/><Relationship Id="rId77" Type="http://schemas.openxmlformats.org/officeDocument/2006/relationships/tags" Target="../tags/tag466.xml"/><Relationship Id="rId78" Type="http://schemas.openxmlformats.org/officeDocument/2006/relationships/tags" Target="../tags/tag467.xml"/><Relationship Id="rId79" Type="http://schemas.openxmlformats.org/officeDocument/2006/relationships/tags" Target="../tags/tag468.xml"/><Relationship Id="rId90" Type="http://schemas.openxmlformats.org/officeDocument/2006/relationships/tags" Target="../tags/tag479.xml"/><Relationship Id="rId91" Type="http://schemas.openxmlformats.org/officeDocument/2006/relationships/tags" Target="../tags/tag480.xml"/><Relationship Id="rId92" Type="http://schemas.openxmlformats.org/officeDocument/2006/relationships/tags" Target="../tags/tag481.xml"/><Relationship Id="rId93" Type="http://schemas.openxmlformats.org/officeDocument/2006/relationships/tags" Target="../tags/tag482.xml"/><Relationship Id="rId94" Type="http://schemas.openxmlformats.org/officeDocument/2006/relationships/tags" Target="../tags/tag483.xml"/><Relationship Id="rId95" Type="http://schemas.openxmlformats.org/officeDocument/2006/relationships/tags" Target="../tags/tag484.xml"/><Relationship Id="rId96" Type="http://schemas.openxmlformats.org/officeDocument/2006/relationships/tags" Target="../tags/tag485.xml"/><Relationship Id="rId97" Type="http://schemas.openxmlformats.org/officeDocument/2006/relationships/slideLayout" Target="../slideLayouts/slideLayout3.xml"/><Relationship Id="rId98" Type="http://schemas.openxmlformats.org/officeDocument/2006/relationships/notesSlide" Target="../notesSlides/notesSlide32.xml"/><Relationship Id="rId20" Type="http://schemas.openxmlformats.org/officeDocument/2006/relationships/tags" Target="../tags/tag409.xml"/><Relationship Id="rId21" Type="http://schemas.openxmlformats.org/officeDocument/2006/relationships/tags" Target="../tags/tag410.xml"/><Relationship Id="rId22" Type="http://schemas.openxmlformats.org/officeDocument/2006/relationships/tags" Target="../tags/tag411.xml"/><Relationship Id="rId23" Type="http://schemas.openxmlformats.org/officeDocument/2006/relationships/tags" Target="../tags/tag412.xml"/><Relationship Id="rId24" Type="http://schemas.openxmlformats.org/officeDocument/2006/relationships/tags" Target="../tags/tag413.xml"/><Relationship Id="rId25" Type="http://schemas.openxmlformats.org/officeDocument/2006/relationships/tags" Target="../tags/tag414.xml"/><Relationship Id="rId26" Type="http://schemas.openxmlformats.org/officeDocument/2006/relationships/tags" Target="../tags/tag415.xml"/><Relationship Id="rId27" Type="http://schemas.openxmlformats.org/officeDocument/2006/relationships/tags" Target="../tags/tag416.xml"/><Relationship Id="rId28" Type="http://schemas.openxmlformats.org/officeDocument/2006/relationships/tags" Target="../tags/tag417.xml"/><Relationship Id="rId29" Type="http://schemas.openxmlformats.org/officeDocument/2006/relationships/tags" Target="../tags/tag418.xml"/><Relationship Id="rId40" Type="http://schemas.openxmlformats.org/officeDocument/2006/relationships/tags" Target="../tags/tag429.xml"/><Relationship Id="rId41" Type="http://schemas.openxmlformats.org/officeDocument/2006/relationships/tags" Target="../tags/tag430.xml"/><Relationship Id="rId42" Type="http://schemas.openxmlformats.org/officeDocument/2006/relationships/tags" Target="../tags/tag431.xml"/><Relationship Id="rId43" Type="http://schemas.openxmlformats.org/officeDocument/2006/relationships/tags" Target="../tags/tag432.xml"/><Relationship Id="rId44" Type="http://schemas.openxmlformats.org/officeDocument/2006/relationships/tags" Target="../tags/tag433.xml"/><Relationship Id="rId45" Type="http://schemas.openxmlformats.org/officeDocument/2006/relationships/tags" Target="../tags/tag434.xml"/><Relationship Id="rId46" Type="http://schemas.openxmlformats.org/officeDocument/2006/relationships/tags" Target="../tags/tag435.xml"/><Relationship Id="rId47" Type="http://schemas.openxmlformats.org/officeDocument/2006/relationships/tags" Target="../tags/tag436.xml"/><Relationship Id="rId48" Type="http://schemas.openxmlformats.org/officeDocument/2006/relationships/tags" Target="../tags/tag437.xml"/><Relationship Id="rId49" Type="http://schemas.openxmlformats.org/officeDocument/2006/relationships/tags" Target="../tags/tag438.xml"/><Relationship Id="rId60" Type="http://schemas.openxmlformats.org/officeDocument/2006/relationships/tags" Target="../tags/tag449.xml"/><Relationship Id="rId61" Type="http://schemas.openxmlformats.org/officeDocument/2006/relationships/tags" Target="../tags/tag450.xml"/><Relationship Id="rId62" Type="http://schemas.openxmlformats.org/officeDocument/2006/relationships/tags" Target="../tags/tag451.xml"/><Relationship Id="rId63" Type="http://schemas.openxmlformats.org/officeDocument/2006/relationships/tags" Target="../tags/tag452.xml"/><Relationship Id="rId64" Type="http://schemas.openxmlformats.org/officeDocument/2006/relationships/tags" Target="../tags/tag453.xml"/><Relationship Id="rId65" Type="http://schemas.openxmlformats.org/officeDocument/2006/relationships/tags" Target="../tags/tag454.xml"/><Relationship Id="rId66" Type="http://schemas.openxmlformats.org/officeDocument/2006/relationships/tags" Target="../tags/tag455.xml"/><Relationship Id="rId67" Type="http://schemas.openxmlformats.org/officeDocument/2006/relationships/tags" Target="../tags/tag456.xml"/><Relationship Id="rId68" Type="http://schemas.openxmlformats.org/officeDocument/2006/relationships/tags" Target="../tags/tag457.xml"/><Relationship Id="rId69" Type="http://schemas.openxmlformats.org/officeDocument/2006/relationships/tags" Target="../tags/tag458.xml"/><Relationship Id="rId80" Type="http://schemas.openxmlformats.org/officeDocument/2006/relationships/tags" Target="../tags/tag469.xml"/><Relationship Id="rId81" Type="http://schemas.openxmlformats.org/officeDocument/2006/relationships/tags" Target="../tags/tag470.xml"/><Relationship Id="rId82" Type="http://schemas.openxmlformats.org/officeDocument/2006/relationships/tags" Target="../tags/tag471.xml"/><Relationship Id="rId83" Type="http://schemas.openxmlformats.org/officeDocument/2006/relationships/tags" Target="../tags/tag472.xml"/><Relationship Id="rId84" Type="http://schemas.openxmlformats.org/officeDocument/2006/relationships/tags" Target="../tags/tag473.xml"/><Relationship Id="rId85" Type="http://schemas.openxmlformats.org/officeDocument/2006/relationships/tags" Target="../tags/tag474.xml"/><Relationship Id="rId86" Type="http://schemas.openxmlformats.org/officeDocument/2006/relationships/tags" Target="../tags/tag475.xml"/><Relationship Id="rId87" Type="http://schemas.openxmlformats.org/officeDocument/2006/relationships/tags" Target="../tags/tag476.xml"/><Relationship Id="rId88" Type="http://schemas.openxmlformats.org/officeDocument/2006/relationships/tags" Target="../tags/tag477.xml"/><Relationship Id="rId89" Type="http://schemas.openxmlformats.org/officeDocument/2006/relationships/tags" Target="../tags/tag47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8.xml.rels><?xml version="1.0" encoding="UTF-8" standalone="yes"?>
<Relationships xmlns="http://schemas.openxmlformats.org/package/2006/relationships"><Relationship Id="rId11" Type="http://schemas.openxmlformats.org/officeDocument/2006/relationships/tags" Target="../tags/tag496.xml"/><Relationship Id="rId12" Type="http://schemas.openxmlformats.org/officeDocument/2006/relationships/tags" Target="../tags/tag497.xml"/><Relationship Id="rId13" Type="http://schemas.openxmlformats.org/officeDocument/2006/relationships/tags" Target="../tags/tag498.xml"/><Relationship Id="rId14" Type="http://schemas.openxmlformats.org/officeDocument/2006/relationships/tags" Target="../tags/tag499.xml"/><Relationship Id="rId15" Type="http://schemas.openxmlformats.org/officeDocument/2006/relationships/tags" Target="../tags/tag500.xml"/><Relationship Id="rId16" Type="http://schemas.openxmlformats.org/officeDocument/2006/relationships/tags" Target="../tags/tag501.xml"/><Relationship Id="rId17" Type="http://schemas.openxmlformats.org/officeDocument/2006/relationships/tags" Target="../tags/tag502.xml"/><Relationship Id="rId18" Type="http://schemas.openxmlformats.org/officeDocument/2006/relationships/slideLayout" Target="../slideLayouts/slideLayout15.xml"/><Relationship Id="rId19" Type="http://schemas.openxmlformats.org/officeDocument/2006/relationships/notesSlide" Target="../notesSlides/notesSlide34.xml"/><Relationship Id="rId1" Type="http://schemas.openxmlformats.org/officeDocument/2006/relationships/tags" Target="../tags/tag486.xml"/><Relationship Id="rId2" Type="http://schemas.openxmlformats.org/officeDocument/2006/relationships/tags" Target="../tags/tag487.xml"/><Relationship Id="rId3" Type="http://schemas.openxmlformats.org/officeDocument/2006/relationships/tags" Target="../tags/tag488.xml"/><Relationship Id="rId4" Type="http://schemas.openxmlformats.org/officeDocument/2006/relationships/tags" Target="../tags/tag489.xml"/><Relationship Id="rId5" Type="http://schemas.openxmlformats.org/officeDocument/2006/relationships/tags" Target="../tags/tag490.xml"/><Relationship Id="rId6" Type="http://schemas.openxmlformats.org/officeDocument/2006/relationships/tags" Target="../tags/tag491.xml"/><Relationship Id="rId7" Type="http://schemas.openxmlformats.org/officeDocument/2006/relationships/tags" Target="../tags/tag492.xml"/><Relationship Id="rId8" Type="http://schemas.openxmlformats.org/officeDocument/2006/relationships/tags" Target="../tags/tag493.xml"/><Relationship Id="rId9" Type="http://schemas.openxmlformats.org/officeDocument/2006/relationships/tags" Target="../tags/tag494.xml"/><Relationship Id="rId10" Type="http://schemas.openxmlformats.org/officeDocument/2006/relationships/tags" Target="../tags/tag49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20" Type="http://schemas.openxmlformats.org/officeDocument/2006/relationships/tags" Target="../tags/tag522.xml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39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/Relationships>
</file>

<file path=ppt/slides/_rels/slide44.xml.rels><?xml version="1.0" encoding="UTF-8" standalone="yes"?>
<Relationships xmlns="http://schemas.openxmlformats.org/package/2006/relationships"><Relationship Id="rId20" Type="http://schemas.openxmlformats.org/officeDocument/2006/relationships/tags" Target="../tags/tag542.xml"/><Relationship Id="rId21" Type="http://schemas.openxmlformats.org/officeDocument/2006/relationships/tags" Target="../tags/tag543.xml"/><Relationship Id="rId22" Type="http://schemas.openxmlformats.org/officeDocument/2006/relationships/tags" Target="../tags/tag544.xml"/><Relationship Id="rId23" Type="http://schemas.openxmlformats.org/officeDocument/2006/relationships/tags" Target="../tags/tag545.xml"/><Relationship Id="rId24" Type="http://schemas.openxmlformats.org/officeDocument/2006/relationships/tags" Target="../tags/tag546.xml"/><Relationship Id="rId25" Type="http://schemas.openxmlformats.org/officeDocument/2006/relationships/tags" Target="../tags/tag547.xml"/><Relationship Id="rId26" Type="http://schemas.openxmlformats.org/officeDocument/2006/relationships/tags" Target="../tags/tag548.xml"/><Relationship Id="rId27" Type="http://schemas.openxmlformats.org/officeDocument/2006/relationships/tags" Target="../tags/tag549.xml"/><Relationship Id="rId28" Type="http://schemas.openxmlformats.org/officeDocument/2006/relationships/tags" Target="../tags/tag550.xml"/><Relationship Id="rId29" Type="http://schemas.openxmlformats.org/officeDocument/2006/relationships/tags" Target="../tags/tag551.xml"/><Relationship Id="rId1" Type="http://schemas.openxmlformats.org/officeDocument/2006/relationships/tags" Target="../tags/tag523.xml"/><Relationship Id="rId2" Type="http://schemas.openxmlformats.org/officeDocument/2006/relationships/tags" Target="../tags/tag524.xml"/><Relationship Id="rId3" Type="http://schemas.openxmlformats.org/officeDocument/2006/relationships/tags" Target="../tags/tag525.xml"/><Relationship Id="rId4" Type="http://schemas.openxmlformats.org/officeDocument/2006/relationships/tags" Target="../tags/tag526.xml"/><Relationship Id="rId5" Type="http://schemas.openxmlformats.org/officeDocument/2006/relationships/tags" Target="../tags/tag527.xml"/><Relationship Id="rId30" Type="http://schemas.openxmlformats.org/officeDocument/2006/relationships/tags" Target="../tags/tag552.xml"/><Relationship Id="rId31" Type="http://schemas.openxmlformats.org/officeDocument/2006/relationships/tags" Target="../tags/tag553.xml"/><Relationship Id="rId32" Type="http://schemas.openxmlformats.org/officeDocument/2006/relationships/tags" Target="../tags/tag554.xml"/><Relationship Id="rId9" Type="http://schemas.openxmlformats.org/officeDocument/2006/relationships/tags" Target="../tags/tag531.xml"/><Relationship Id="rId6" Type="http://schemas.openxmlformats.org/officeDocument/2006/relationships/tags" Target="../tags/tag528.xml"/><Relationship Id="rId7" Type="http://schemas.openxmlformats.org/officeDocument/2006/relationships/tags" Target="../tags/tag529.xml"/><Relationship Id="rId8" Type="http://schemas.openxmlformats.org/officeDocument/2006/relationships/tags" Target="../tags/tag530.xml"/><Relationship Id="rId33" Type="http://schemas.openxmlformats.org/officeDocument/2006/relationships/tags" Target="../tags/tag555.xml"/><Relationship Id="rId34" Type="http://schemas.openxmlformats.org/officeDocument/2006/relationships/tags" Target="../tags/tag556.xml"/><Relationship Id="rId35" Type="http://schemas.openxmlformats.org/officeDocument/2006/relationships/slideLayout" Target="../slideLayouts/slideLayout3.xml"/><Relationship Id="rId36" Type="http://schemas.openxmlformats.org/officeDocument/2006/relationships/notesSlide" Target="../notesSlides/notesSlide40.xml"/><Relationship Id="rId10" Type="http://schemas.openxmlformats.org/officeDocument/2006/relationships/tags" Target="../tags/tag532.xml"/><Relationship Id="rId11" Type="http://schemas.openxmlformats.org/officeDocument/2006/relationships/tags" Target="../tags/tag533.xml"/><Relationship Id="rId12" Type="http://schemas.openxmlformats.org/officeDocument/2006/relationships/tags" Target="../tags/tag534.xml"/><Relationship Id="rId13" Type="http://schemas.openxmlformats.org/officeDocument/2006/relationships/tags" Target="../tags/tag535.xml"/><Relationship Id="rId14" Type="http://schemas.openxmlformats.org/officeDocument/2006/relationships/tags" Target="../tags/tag536.xml"/><Relationship Id="rId15" Type="http://schemas.openxmlformats.org/officeDocument/2006/relationships/tags" Target="../tags/tag537.xml"/><Relationship Id="rId16" Type="http://schemas.openxmlformats.org/officeDocument/2006/relationships/tags" Target="../tags/tag538.xml"/><Relationship Id="rId17" Type="http://schemas.openxmlformats.org/officeDocument/2006/relationships/tags" Target="../tags/tag539.xml"/><Relationship Id="rId18" Type="http://schemas.openxmlformats.org/officeDocument/2006/relationships/tags" Target="../tags/tag540.xml"/><Relationship Id="rId19" Type="http://schemas.openxmlformats.org/officeDocument/2006/relationships/tags" Target="../tags/tag541.xml"/></Relationships>
</file>

<file path=ppt/slides/_rels/slide45.xml.rels><?xml version="1.0" encoding="UTF-8" standalone="yes"?>
<Relationships xmlns="http://schemas.openxmlformats.org/package/2006/relationships"><Relationship Id="rId11" Type="http://schemas.openxmlformats.org/officeDocument/2006/relationships/tags" Target="../tags/tag567.xml"/><Relationship Id="rId12" Type="http://schemas.openxmlformats.org/officeDocument/2006/relationships/tags" Target="../tags/tag568.xml"/><Relationship Id="rId13" Type="http://schemas.openxmlformats.org/officeDocument/2006/relationships/tags" Target="../tags/tag569.xml"/><Relationship Id="rId14" Type="http://schemas.openxmlformats.org/officeDocument/2006/relationships/tags" Target="../tags/tag570.xml"/><Relationship Id="rId15" Type="http://schemas.openxmlformats.org/officeDocument/2006/relationships/tags" Target="../tags/tag571.xml"/><Relationship Id="rId16" Type="http://schemas.openxmlformats.org/officeDocument/2006/relationships/tags" Target="../tags/tag572.xml"/><Relationship Id="rId17" Type="http://schemas.openxmlformats.org/officeDocument/2006/relationships/tags" Target="../tags/tag573.xml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41.xml"/><Relationship Id="rId1" Type="http://schemas.openxmlformats.org/officeDocument/2006/relationships/tags" Target="../tags/tag557.xml"/><Relationship Id="rId2" Type="http://schemas.openxmlformats.org/officeDocument/2006/relationships/tags" Target="../tags/tag558.xml"/><Relationship Id="rId3" Type="http://schemas.openxmlformats.org/officeDocument/2006/relationships/tags" Target="../tags/tag559.xml"/><Relationship Id="rId4" Type="http://schemas.openxmlformats.org/officeDocument/2006/relationships/tags" Target="../tags/tag560.xml"/><Relationship Id="rId5" Type="http://schemas.openxmlformats.org/officeDocument/2006/relationships/tags" Target="../tags/tag561.xml"/><Relationship Id="rId6" Type="http://schemas.openxmlformats.org/officeDocument/2006/relationships/tags" Target="../tags/tag562.xml"/><Relationship Id="rId7" Type="http://schemas.openxmlformats.org/officeDocument/2006/relationships/tags" Target="../tags/tag563.xml"/><Relationship Id="rId8" Type="http://schemas.openxmlformats.org/officeDocument/2006/relationships/tags" Target="../tags/tag564.xml"/><Relationship Id="rId9" Type="http://schemas.openxmlformats.org/officeDocument/2006/relationships/tags" Target="../tags/tag565.xml"/><Relationship Id="rId10" Type="http://schemas.openxmlformats.org/officeDocument/2006/relationships/tags" Target="../tags/tag566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582.xml"/><Relationship Id="rId20" Type="http://schemas.openxmlformats.org/officeDocument/2006/relationships/tags" Target="../tags/tag593.xml"/><Relationship Id="rId21" Type="http://schemas.openxmlformats.org/officeDocument/2006/relationships/tags" Target="../tags/tag594.xml"/><Relationship Id="rId22" Type="http://schemas.openxmlformats.org/officeDocument/2006/relationships/tags" Target="../tags/tag595.xml"/><Relationship Id="rId23" Type="http://schemas.openxmlformats.org/officeDocument/2006/relationships/tags" Target="../tags/tag596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42.xml"/><Relationship Id="rId10" Type="http://schemas.openxmlformats.org/officeDocument/2006/relationships/tags" Target="../tags/tag583.xml"/><Relationship Id="rId11" Type="http://schemas.openxmlformats.org/officeDocument/2006/relationships/tags" Target="../tags/tag584.xml"/><Relationship Id="rId12" Type="http://schemas.openxmlformats.org/officeDocument/2006/relationships/tags" Target="../tags/tag585.xml"/><Relationship Id="rId13" Type="http://schemas.openxmlformats.org/officeDocument/2006/relationships/tags" Target="../tags/tag586.xml"/><Relationship Id="rId14" Type="http://schemas.openxmlformats.org/officeDocument/2006/relationships/tags" Target="../tags/tag587.xml"/><Relationship Id="rId15" Type="http://schemas.openxmlformats.org/officeDocument/2006/relationships/tags" Target="../tags/tag588.xml"/><Relationship Id="rId16" Type="http://schemas.openxmlformats.org/officeDocument/2006/relationships/tags" Target="../tags/tag589.xml"/><Relationship Id="rId17" Type="http://schemas.openxmlformats.org/officeDocument/2006/relationships/tags" Target="../tags/tag590.xml"/><Relationship Id="rId18" Type="http://schemas.openxmlformats.org/officeDocument/2006/relationships/tags" Target="../tags/tag591.xml"/><Relationship Id="rId19" Type="http://schemas.openxmlformats.org/officeDocument/2006/relationships/tags" Target="../tags/tag592.xml"/><Relationship Id="rId1" Type="http://schemas.openxmlformats.org/officeDocument/2006/relationships/tags" Target="../tags/tag574.xml"/><Relationship Id="rId2" Type="http://schemas.openxmlformats.org/officeDocument/2006/relationships/tags" Target="../tags/tag575.xml"/><Relationship Id="rId3" Type="http://schemas.openxmlformats.org/officeDocument/2006/relationships/tags" Target="../tags/tag576.xml"/><Relationship Id="rId4" Type="http://schemas.openxmlformats.org/officeDocument/2006/relationships/tags" Target="../tags/tag577.xml"/><Relationship Id="rId5" Type="http://schemas.openxmlformats.org/officeDocument/2006/relationships/tags" Target="../tags/tag578.xml"/><Relationship Id="rId6" Type="http://schemas.openxmlformats.org/officeDocument/2006/relationships/tags" Target="../tags/tag579.xml"/><Relationship Id="rId7" Type="http://schemas.openxmlformats.org/officeDocument/2006/relationships/tags" Target="../tags/tag580.xml"/><Relationship Id="rId8" Type="http://schemas.openxmlformats.org/officeDocument/2006/relationships/tags" Target="../tags/tag5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93874" y="886188"/>
            <a:ext cx="6753452" cy="3050450"/>
          </a:xfrm>
          <a:noFill/>
        </p:spPr>
        <p:txBody>
          <a:bodyPr wrap="none" anchor="ctr"/>
          <a:lstStyle/>
          <a:p>
            <a:pPr algn="ctr"/>
            <a:r>
              <a:rPr lang="en-US" sz="3200" dirty="0" smtClean="0"/>
              <a:t>CSE 424</a:t>
            </a:r>
            <a:br>
              <a:rPr lang="en-US" sz="3200" dirty="0" smtClean="0"/>
            </a:br>
            <a:r>
              <a:rPr lang="en-US" sz="3200" dirty="0" smtClean="0"/>
              <a:t> Computer Architecture </a:t>
            </a:r>
            <a:r>
              <a:rPr lang="en-US" sz="3200" smtClean="0"/>
              <a:t/>
            </a:r>
            <a:br>
              <a:rPr lang="en-US" sz="320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Chapter 2: Instructions: </a:t>
            </a:r>
            <a:br>
              <a:rPr lang="en-US" sz="3200" dirty="0" smtClean="0"/>
            </a:br>
            <a:r>
              <a:rPr lang="en-US" sz="3200" dirty="0" smtClean="0"/>
              <a:t>Language of the Computer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(focus on MIPS ISA – Appendix A)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430409"/>
          </a:xfrm>
          <a:noFill/>
        </p:spPr>
        <p:txBody>
          <a:bodyPr/>
          <a:lstStyle/>
          <a:p>
            <a:pPr marL="203200" indent="-203200"/>
            <a:r>
              <a:rPr lang="en-US" dirty="0" smtClean="0"/>
              <a:t>Adwait </a:t>
            </a:r>
            <a:r>
              <a:rPr lang="en-US" dirty="0"/>
              <a:t>Jog (http://</a:t>
            </a:r>
            <a:r>
              <a:rPr lang="en-US" dirty="0" err="1"/>
              <a:t>adwaitjog.github.io</a:t>
            </a:r>
            <a:r>
              <a:rPr lang="en-US" dirty="0"/>
              <a:t>/) </a:t>
            </a:r>
            <a:endParaRPr lang="en-US" dirty="0" smtClean="0"/>
          </a:p>
          <a:p>
            <a:pPr marL="203200" indent="-203200"/>
            <a:endParaRPr lang="en-US" dirty="0" smtClean="0"/>
          </a:p>
          <a:p>
            <a:pPr marL="203200" indent="-203200"/>
            <a:r>
              <a:rPr lang="en-US" sz="2000" dirty="0" smtClean="0"/>
              <a:t>Based on the slides from Mary. J. Irwin (Penn State)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[Adapted from </a:t>
            </a:r>
            <a:r>
              <a:rPr lang="en-US" sz="1800" i="1" dirty="0" smtClean="0"/>
              <a:t>Computer Organization and Design,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i="1" dirty="0" smtClean="0"/>
              <a:t>5</a:t>
            </a:r>
            <a:r>
              <a:rPr lang="en-US" sz="1800" i="1" baseline="30000" dirty="0" smtClean="0"/>
              <a:t>th</a:t>
            </a:r>
            <a:r>
              <a:rPr lang="en-US" sz="1800" i="1" dirty="0" smtClean="0"/>
              <a:t> Edition</a:t>
            </a:r>
            <a:r>
              <a:rPr lang="en-US" sz="1800" dirty="0"/>
              <a:t>, Patterson &amp; </a:t>
            </a:r>
            <a:r>
              <a:rPr lang="en-US" sz="1800" dirty="0" smtClean="0"/>
              <a:t>Hennessy,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Morgan Kaufmann]</a:t>
            </a:r>
          </a:p>
        </p:txBody>
      </p:sp>
    </p:spTree>
    <p:extLst>
      <p:ext uri="{BB962C8B-B14F-4D97-AF65-F5344CB8AC3E}">
        <p14:creationId xmlns:p14="http://schemas.microsoft.com/office/powerpoint/2010/main" val="1730298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22300" y="263525"/>
            <a:ext cx="4905189" cy="426142"/>
          </a:xfrm>
          <a:noFill/>
          <a:ln/>
        </p:spPr>
        <p:txBody>
          <a:bodyPr wrap="none"/>
          <a:lstStyle/>
          <a:p>
            <a:r>
              <a:rPr lang="en-US" altLang="zh-CN" dirty="0">
                <a:ea typeface="宋体" pitchFamily="2" charset="-122"/>
              </a:rPr>
              <a:t>Review:  </a:t>
            </a:r>
            <a:r>
              <a:rPr lang="en-US" altLang="zh-CN" dirty="0" smtClean="0">
                <a:ea typeface="宋体" pitchFamily="2" charset="-122"/>
              </a:rPr>
              <a:t>The Execute </a:t>
            </a:r>
            <a:r>
              <a:rPr lang="en-US" altLang="zh-CN" dirty="0">
                <a:ea typeface="宋体" pitchFamily="2" charset="-122"/>
              </a:rPr>
              <a:t>Cycle</a:t>
            </a:r>
          </a:p>
        </p:txBody>
      </p:sp>
      <p:sp>
        <p:nvSpPr>
          <p:cNvPr id="104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2209800"/>
            <a:ext cx="7467600" cy="2857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43000" y="2463800"/>
            <a:ext cx="3810000" cy="2197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74750" y="2590800"/>
            <a:ext cx="1308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b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104454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81600" y="2463800"/>
            <a:ext cx="13716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31000" y="2463800"/>
            <a:ext cx="13335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6" name="AutoShap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46200" y="3048000"/>
            <a:ext cx="3454400" cy="5334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7" name="AutoShap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46200" y="3810000"/>
            <a:ext cx="3454400" cy="6985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8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371600" y="3048000"/>
            <a:ext cx="939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Control</a:t>
            </a:r>
          </a:p>
        </p:txBody>
      </p:sp>
      <p:sp>
        <p:nvSpPr>
          <p:cNvPr id="104459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71600" y="3810000"/>
            <a:ext cx="1104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Datapath</a:t>
            </a:r>
          </a:p>
        </p:txBody>
      </p:sp>
      <p:sp>
        <p:nvSpPr>
          <p:cNvPr id="104460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334000" y="3352800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104466" name="Rectangle 1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31763" y="2943225"/>
            <a:ext cx="180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endParaRPr lang="zh-CN" altLang="en-US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4467" name="Rectangle 19"/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371600" y="3886200"/>
            <a:ext cx="3429000" cy="5984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buClr>
                <a:schemeClr val="accent1"/>
              </a:buClr>
              <a:buSzPts val="1800"/>
              <a:buFont typeface="Wingdings" pitchFamily="2" charset="2"/>
              <a:buNone/>
            </a:pPr>
            <a:endParaRPr lang="zh-CN" altLang="en-US" sz="12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algn="ctr"/>
            <a:r>
              <a:rPr lang="en-US" altLang="zh-CN" sz="1200">
                <a:solidFill>
                  <a:srgbClr val="009900"/>
                </a:solidFill>
                <a:latin typeface="Courier New" pitchFamily="49" charset="0"/>
                <a:ea typeface="宋体" pitchFamily="2" charset="-122"/>
              </a:rPr>
              <a:t>contents Reg #4</a:t>
            </a:r>
            <a:r>
              <a:rPr lang="en-US" altLang="zh-CN" sz="12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 ADD </a:t>
            </a:r>
            <a:r>
              <a:rPr lang="en-US" altLang="zh-CN" sz="1200">
                <a:solidFill>
                  <a:srgbClr val="CC3399"/>
                </a:solidFill>
                <a:latin typeface="Courier New" pitchFamily="49" charset="0"/>
                <a:ea typeface="宋体" pitchFamily="2" charset="-122"/>
              </a:rPr>
              <a:t>contents Reg #2</a:t>
            </a:r>
          </a:p>
          <a:p>
            <a:pPr algn="ctr"/>
            <a:r>
              <a:rPr lang="en-US" altLang="zh-CN" sz="120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results put in Reg #2</a:t>
            </a:r>
            <a:endParaRPr lang="en-US" altLang="zh-CN" sz="1200">
              <a:solidFill>
                <a:schemeClr val="hlink"/>
              </a:solidFill>
              <a:ea typeface="宋体" pitchFamily="2" charset="-122"/>
            </a:endParaRPr>
          </a:p>
        </p:txBody>
      </p:sp>
      <p:sp>
        <p:nvSpPr>
          <p:cNvPr id="104468" name="Rectangle 2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371600" y="1219200"/>
            <a:ext cx="6553200" cy="777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The datapath </a:t>
            </a:r>
            <a:r>
              <a:rPr lang="en-US" altLang="zh-CN" sz="2800">
                <a:ea typeface="宋体" pitchFamily="2" charset="-122"/>
              </a:rPr>
              <a:t>executes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 the instructions as directed by control</a:t>
            </a:r>
          </a:p>
        </p:txBody>
      </p:sp>
      <p:sp>
        <p:nvSpPr>
          <p:cNvPr id="104469" name="Rectangle 21"/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1371600" y="3124200"/>
            <a:ext cx="3429000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buClr>
                <a:schemeClr val="accent1"/>
              </a:buClr>
              <a:buSzPts val="1800"/>
              <a:buFont typeface="Wingdings" pitchFamily="2" charset="2"/>
              <a:buNone/>
            </a:pPr>
            <a:endParaRPr lang="zh-CN" altLang="en-US" sz="12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r>
              <a:rPr lang="en-US" altLang="zh-CN" sz="12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000000</a:t>
            </a:r>
            <a:r>
              <a:rPr lang="en-US" altLang="zh-CN" sz="12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1200">
                <a:solidFill>
                  <a:srgbClr val="009900"/>
                </a:solidFill>
                <a:latin typeface="Courier New" pitchFamily="49" charset="0"/>
                <a:ea typeface="宋体" pitchFamily="2" charset="-122"/>
              </a:rPr>
              <a:t>00100 </a:t>
            </a:r>
            <a:r>
              <a:rPr lang="en-US" altLang="zh-CN" sz="1200">
                <a:solidFill>
                  <a:srgbClr val="CC3399"/>
                </a:solidFill>
                <a:latin typeface="Courier New" pitchFamily="49" charset="0"/>
                <a:ea typeface="宋体" pitchFamily="2" charset="-122"/>
              </a:rPr>
              <a:t>00010</a:t>
            </a:r>
            <a:r>
              <a:rPr lang="en-US" altLang="zh-CN" sz="12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00010</a:t>
            </a:r>
            <a:r>
              <a:rPr lang="en-US" altLang="zh-CN" sz="12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00000100000</a:t>
            </a:r>
            <a:endParaRPr lang="en-US" altLang="zh-CN" sz="1200">
              <a:solidFill>
                <a:schemeClr val="accent2"/>
              </a:solidFill>
              <a:ea typeface="宋体" pitchFamily="2" charset="-122"/>
            </a:endParaRPr>
          </a:p>
        </p:txBody>
      </p:sp>
      <p:cxnSp>
        <p:nvCxnSpPr>
          <p:cNvPr id="104470" name="AutoShape 22"/>
          <p:cNvCxnSpPr>
            <a:cxnSpLocks noChangeShapeType="1"/>
            <a:stCxn id="104469" idx="1"/>
            <a:endCxn id="104467" idx="1"/>
          </p:cNvCxnSpPr>
          <p:nvPr>
            <p:custDataLst>
              <p:tags r:id="rId16"/>
            </p:custDataLst>
          </p:nvPr>
        </p:nvCxnSpPr>
        <p:spPr bwMode="auto">
          <a:xfrm rot="10800000" flipH="1" flipV="1">
            <a:off x="1371600" y="3332163"/>
            <a:ext cx="1588" cy="85407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</p:cxnSp>
      <p:sp>
        <p:nvSpPr>
          <p:cNvPr id="104471" name="Rectangle 2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447800" y="5486400"/>
            <a:ext cx="6553200" cy="777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Memory stores </a:t>
            </a:r>
            <a:r>
              <a:rPr lang="en-US" altLang="zh-CN" sz="2800">
                <a:ea typeface="宋体" pitchFamily="2" charset="-122"/>
              </a:rPr>
              <a:t>both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 instructions and data</a:t>
            </a:r>
          </a:p>
        </p:txBody>
      </p:sp>
      <p:sp>
        <p:nvSpPr>
          <p:cNvPr id="104473" name="Rectangle 25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892925" y="2505075"/>
            <a:ext cx="990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Devices</a:t>
            </a:r>
          </a:p>
        </p:txBody>
      </p:sp>
      <p:sp>
        <p:nvSpPr>
          <p:cNvPr id="104474" name="AutoShape 26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858000" y="3441700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5" name="AutoShape 27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858000" y="4089400"/>
            <a:ext cx="1079500" cy="4826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6" name="Rectangle 28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08800" y="3522663"/>
            <a:ext cx="6858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Input</a:t>
            </a:r>
          </a:p>
        </p:txBody>
      </p:sp>
      <p:sp>
        <p:nvSpPr>
          <p:cNvPr id="104477" name="Rectangle 29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908800" y="4140200"/>
            <a:ext cx="876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Output</a:t>
            </a:r>
          </a:p>
        </p:txBody>
      </p:sp>
      <p:sp>
        <p:nvSpPr>
          <p:cNvPr id="104478" name="AutoShape 30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875463" y="2794000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9" name="Rectangle 31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26263" y="2874963"/>
            <a:ext cx="10287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255793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6705600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Review:  Processor Organization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836613"/>
            <a:ext cx="7848600" cy="482183"/>
          </a:xfrm>
        </p:spPr>
        <p:txBody>
          <a:bodyPr/>
          <a:lstStyle/>
          <a:p>
            <a:r>
              <a:rPr lang="en-US" altLang="zh-CN" sz="2800" dirty="0">
                <a:solidFill>
                  <a:schemeClr val="accent1"/>
                </a:solidFill>
                <a:ea typeface="宋体" pitchFamily="2" charset="-122"/>
              </a:rPr>
              <a:t>Control</a:t>
            </a:r>
            <a:r>
              <a:rPr lang="en-US" altLang="zh-CN" sz="2800" dirty="0">
                <a:ea typeface="宋体" pitchFamily="2" charset="-122"/>
              </a:rPr>
              <a:t> needs to have circuitry to</a:t>
            </a:r>
          </a:p>
        </p:txBody>
      </p:sp>
      <p:sp>
        <p:nvSpPr>
          <p:cNvPr id="32870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5650" y="1268413"/>
            <a:ext cx="7848600" cy="23288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Decide which is the next instruction                                                  and </a:t>
            </a:r>
            <a:r>
              <a:rPr lang="en-US" altLang="zh-CN" sz="2000" dirty="0" smtClean="0">
                <a:solidFill>
                  <a:schemeClr val="tx1"/>
                </a:solidFill>
                <a:ea typeface="宋体" pitchFamily="2" charset="-122"/>
                <a:cs typeface="Arial" charset="0"/>
              </a:rPr>
              <a:t>fetch it 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from memory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Decode the instruction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Issue signals that control the way                                       information flows between </a:t>
            </a:r>
            <a:r>
              <a:rPr lang="en-US" altLang="zh-CN" sz="2000" dirty="0" err="1">
                <a:solidFill>
                  <a:schemeClr val="tx1"/>
                </a:solidFill>
                <a:ea typeface="宋体" pitchFamily="2" charset="-122"/>
                <a:cs typeface="Arial" charset="0"/>
              </a:rPr>
              <a:t>datapath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 components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Control what operations the </a:t>
            </a:r>
            <a:r>
              <a:rPr lang="en-US" altLang="zh-CN" sz="2000" dirty="0" err="1">
                <a:solidFill>
                  <a:schemeClr val="tx1"/>
                </a:solidFill>
                <a:ea typeface="宋体" pitchFamily="2" charset="-122"/>
                <a:cs typeface="Arial" charset="0"/>
              </a:rPr>
              <a:t>datapath’s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 functional units perform</a:t>
            </a:r>
          </a:p>
        </p:txBody>
      </p:sp>
      <p:sp>
        <p:nvSpPr>
          <p:cNvPr id="32871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4213" y="4264025"/>
            <a:ext cx="7848600" cy="1647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Execute instructions - functional units (e.g., adder) and storage locations (e.g., register file) 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Interconnect the functional units so that the instructions can be executed as required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Load data from and store data to memory</a:t>
            </a:r>
          </a:p>
        </p:txBody>
      </p:sp>
      <p:sp>
        <p:nvSpPr>
          <p:cNvPr id="32871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4213" y="3759200"/>
            <a:ext cx="7848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800" dirty="0" err="1">
                <a:ea typeface="宋体" pitchFamily="2" charset="-122"/>
                <a:cs typeface="Arial" charset="0"/>
              </a:rPr>
              <a:t>Datapath</a:t>
            </a: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 needs to have circuitry to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324600" y="914400"/>
            <a:ext cx="2493963" cy="1449388"/>
            <a:chOff x="1920" y="2880"/>
            <a:chExt cx="1571" cy="913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400" y="2880"/>
              <a:ext cx="480" cy="336"/>
              <a:chOff x="2400" y="2880"/>
              <a:chExt cx="480" cy="336"/>
            </a:xfrm>
          </p:grpSpPr>
          <p:sp>
            <p:nvSpPr>
              <p:cNvPr id="328714" name="Oval 10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400" y="2880"/>
                <a:ext cx="480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715" name="Text Box 11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400" y="2928"/>
                <a:ext cx="47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ea typeface="宋体" pitchFamily="2" charset="-122"/>
                  </a:rPr>
                  <a:t>Fetch</a:t>
                </a: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2880" y="3456"/>
              <a:ext cx="611" cy="336"/>
              <a:chOff x="2880" y="3456"/>
              <a:chExt cx="611" cy="336"/>
            </a:xfrm>
          </p:grpSpPr>
          <p:sp>
            <p:nvSpPr>
              <p:cNvPr id="328717" name="Oval 13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936" y="3456"/>
                <a:ext cx="517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718" name="Text Box 14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880" y="3504"/>
                <a:ext cx="611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ea typeface="宋体" pitchFamily="2" charset="-122"/>
                  </a:rPr>
                  <a:t>Decode</a:t>
                </a:r>
              </a:p>
            </p:txBody>
          </p:sp>
        </p:grp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1920" y="3456"/>
              <a:ext cx="484" cy="336"/>
              <a:chOff x="1920" y="3456"/>
              <a:chExt cx="484" cy="336"/>
            </a:xfrm>
          </p:grpSpPr>
          <p:sp>
            <p:nvSpPr>
              <p:cNvPr id="328720" name="Oval 16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920" y="3456"/>
                <a:ext cx="480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721" name="Text Box 17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968" y="3504"/>
                <a:ext cx="43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ea typeface="宋体" pitchFamily="2" charset="-122"/>
                  </a:rPr>
                  <a:t>Exec</a:t>
                </a:r>
              </a:p>
            </p:txBody>
          </p:sp>
        </p:grpSp>
        <p:cxnSp>
          <p:nvCxnSpPr>
            <p:cNvPr id="328722" name="AutoShape 18"/>
            <p:cNvCxnSpPr>
              <a:cxnSpLocks noChangeShapeType="1"/>
              <a:stCxn id="328715" idx="3"/>
              <a:endCxn id="328717" idx="0"/>
            </p:cNvCxnSpPr>
            <p:nvPr>
              <p:custDataLst>
                <p:tags r:id="rId7"/>
              </p:custDataLst>
            </p:nvPr>
          </p:nvCxnSpPr>
          <p:spPr bwMode="auto">
            <a:xfrm>
              <a:off x="2876" y="3044"/>
              <a:ext cx="319" cy="412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28723" name="AutoShape 19"/>
            <p:cNvCxnSpPr>
              <a:cxnSpLocks noChangeShapeType="1"/>
              <a:stCxn id="328717" idx="4"/>
              <a:endCxn id="328720" idx="4"/>
            </p:cNvCxnSpPr>
            <p:nvPr>
              <p:custDataLst>
                <p:tags r:id="rId8"/>
              </p:custDataLst>
            </p:nvPr>
          </p:nvCxnSpPr>
          <p:spPr bwMode="auto">
            <a:xfrm rot="5400000">
              <a:off x="2677" y="3275"/>
              <a:ext cx="1" cy="1035"/>
            </a:xfrm>
            <a:prstGeom prst="curvedConnector3">
              <a:avLst>
                <a:gd name="adj1" fmla="val 1440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328724" name="AutoShape 20"/>
            <p:cNvCxnSpPr>
              <a:cxnSpLocks noChangeShapeType="1"/>
              <a:stCxn id="328720" idx="0"/>
              <a:endCxn id="328715" idx="1"/>
            </p:cNvCxnSpPr>
            <p:nvPr>
              <p:custDataLst>
                <p:tags r:id="rId9"/>
              </p:custDataLst>
            </p:nvPr>
          </p:nvCxnSpPr>
          <p:spPr bwMode="auto">
            <a:xfrm rot="16200000">
              <a:off x="2074" y="3130"/>
              <a:ext cx="412" cy="240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90198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Key Principles of Machine Design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848600" cy="1953355"/>
          </a:xfrm>
        </p:spPr>
        <p:txBody>
          <a:bodyPr/>
          <a:lstStyle/>
          <a:p>
            <a:pPr marL="533400" lvl="1" indent="-533400">
              <a:lnSpc>
                <a:spcPct val="90000"/>
              </a:lnSpc>
              <a:spcBef>
                <a:spcPct val="65000"/>
              </a:spcBef>
              <a:buFont typeface="Wingdings" pitchFamily="2" charset="2"/>
              <a:buAutoNum type="arabicPeriod"/>
            </a:pPr>
            <a:r>
              <a:rPr lang="en-US" sz="2400" dirty="0" smtClean="0"/>
              <a:t>Instructions are represented as numbers and, as such, are indistinguishable from data</a:t>
            </a:r>
          </a:p>
          <a:p>
            <a:pPr marL="533400" lvl="1" indent="-533400">
              <a:lnSpc>
                <a:spcPct val="90000"/>
              </a:lnSpc>
              <a:spcBef>
                <a:spcPct val="65000"/>
              </a:spcBef>
              <a:buFont typeface="Wingdings" pitchFamily="2" charset="2"/>
              <a:buAutoNum type="arabicPeriod"/>
            </a:pPr>
            <a:r>
              <a:rPr lang="en-US" sz="2400" dirty="0" smtClean="0"/>
              <a:t>Programs </a:t>
            </a:r>
            <a:r>
              <a:rPr lang="en-US" sz="2400" dirty="0"/>
              <a:t>are stored in </a:t>
            </a:r>
            <a:r>
              <a:rPr lang="en-US" sz="2400" dirty="0" smtClean="0"/>
              <a:t>alterable memory (that can be read </a:t>
            </a:r>
            <a:r>
              <a:rPr lang="en-US" sz="2400" dirty="0"/>
              <a:t>or </a:t>
            </a:r>
            <a:r>
              <a:rPr lang="en-US" sz="2400" dirty="0" smtClean="0"/>
              <a:t>written to)					 </a:t>
            </a:r>
            <a:r>
              <a:rPr lang="en-US" sz="2400" dirty="0"/>
              <a:t>just like </a:t>
            </a:r>
            <a:r>
              <a:rPr lang="en-US" sz="2400" dirty="0" smtClean="0"/>
              <a:t>data</a:t>
            </a:r>
            <a:endParaRPr lang="en-US" sz="2400" dirty="0"/>
          </a:p>
        </p:txBody>
      </p:sp>
      <p:sp>
        <p:nvSpPr>
          <p:cNvPr id="367620" name="Rectangle 4"/>
          <p:cNvSpPr>
            <a:spLocks noChangeArrowheads="1"/>
          </p:cNvSpPr>
          <p:nvPr/>
        </p:nvSpPr>
        <p:spPr bwMode="auto">
          <a:xfrm>
            <a:off x="609600" y="3276600"/>
            <a:ext cx="4876800" cy="32460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Stored-program </a:t>
            </a:r>
            <a:r>
              <a:rPr lang="en-US" altLang="zh-CN" sz="2400" dirty="0" smtClean="0">
                <a:ea typeface="宋体" pitchFamily="2" charset="-122"/>
              </a:rPr>
              <a:t>(von Neumann) </a:t>
            </a:r>
            <a:r>
              <a:rPr lang="en-US" sz="2400" dirty="0" smtClean="0">
                <a:solidFill>
                  <a:schemeClr val="tx1"/>
                </a:solidFill>
              </a:rPr>
              <a:t>concept</a:t>
            </a:r>
            <a:endParaRPr lang="en-US" sz="2400" dirty="0">
              <a:solidFill>
                <a:schemeClr val="tx1"/>
              </a:solidFill>
            </a:endParaRP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</a:rPr>
              <a:t>Programs can be shipped as files of binary numbers – </a:t>
            </a:r>
            <a:r>
              <a:rPr lang="en-US" sz="2000" dirty="0"/>
              <a:t>binary compatibility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</a:rPr>
              <a:t>Computers can inherit ready-made software provided they are compatible with an existing ISA – leads industry to align around a small number of ISAs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943600" y="2189163"/>
            <a:ext cx="1981200" cy="4135437"/>
            <a:chOff x="3744" y="1331"/>
            <a:chExt cx="1248" cy="2605"/>
          </a:xfrm>
        </p:grpSpPr>
        <p:sp>
          <p:nvSpPr>
            <p:cNvPr id="367621" name="Rectangle 5"/>
            <p:cNvSpPr>
              <a:spLocks noChangeArrowheads="1"/>
            </p:cNvSpPr>
            <p:nvPr/>
          </p:nvSpPr>
          <p:spPr bwMode="auto">
            <a:xfrm>
              <a:off x="3744" y="1584"/>
              <a:ext cx="1248" cy="23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2" name="Rectangl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792" y="1728"/>
              <a:ext cx="1152" cy="3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Accounting prg  (machine code)</a:t>
              </a:r>
            </a:p>
          </p:txBody>
        </p:sp>
        <p:sp>
          <p:nvSpPr>
            <p:cNvPr id="367623" name="Rectangle 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792" y="2208"/>
              <a:ext cx="1152" cy="3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C compiler  (machine code)</a:t>
              </a:r>
            </a:p>
          </p:txBody>
        </p:sp>
        <p:sp>
          <p:nvSpPr>
            <p:cNvPr id="367624" name="Rectangle 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792" y="2790"/>
              <a:ext cx="1152" cy="3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Payroll         data</a:t>
              </a:r>
            </a:p>
          </p:txBody>
        </p:sp>
        <p:sp>
          <p:nvSpPr>
            <p:cNvPr id="367625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2" y="3312"/>
              <a:ext cx="1152" cy="5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Source code in C for Acct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program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367626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92" y="1331"/>
              <a:ext cx="1152" cy="2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a typeface="宋体" pitchFamily="2" charset="-122"/>
                </a:rPr>
                <a:t>Memory</a:t>
              </a:r>
            </a:p>
          </p:txBody>
        </p:sp>
        <p:sp>
          <p:nvSpPr>
            <p:cNvPr id="367627" name="Rectangle 11"/>
            <p:cNvSpPr>
              <a:spLocks noChangeArrowheads="1"/>
            </p:cNvSpPr>
            <p:nvPr/>
          </p:nvSpPr>
          <p:spPr bwMode="auto">
            <a:xfrm>
              <a:off x="3792" y="1632"/>
              <a:ext cx="1152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8" name="Rectangle 12"/>
            <p:cNvSpPr>
              <a:spLocks noChangeArrowheads="1"/>
            </p:cNvSpPr>
            <p:nvPr/>
          </p:nvSpPr>
          <p:spPr bwMode="auto">
            <a:xfrm>
              <a:off x="3792" y="2160"/>
              <a:ext cx="1152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9" name="Rectangle 13"/>
            <p:cNvSpPr>
              <a:spLocks noChangeArrowheads="1"/>
            </p:cNvSpPr>
            <p:nvPr/>
          </p:nvSpPr>
          <p:spPr bwMode="auto">
            <a:xfrm>
              <a:off x="3792" y="2736"/>
              <a:ext cx="1152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0" name="Rectangle 14"/>
            <p:cNvSpPr>
              <a:spLocks noChangeArrowheads="1"/>
            </p:cNvSpPr>
            <p:nvPr/>
          </p:nvSpPr>
          <p:spPr bwMode="auto">
            <a:xfrm>
              <a:off x="3792" y="3312"/>
              <a:ext cx="1152" cy="55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62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0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4800" y="252330"/>
            <a:ext cx="6400800" cy="4572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Assembly Language Instructions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838200"/>
            <a:ext cx="8077200" cy="2933624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altLang="zh-CN" dirty="0">
                <a:ea typeface="宋体" pitchFamily="2" charset="-122"/>
              </a:rPr>
              <a:t>The language of the machine</a:t>
            </a:r>
          </a:p>
          <a:p>
            <a:pPr marL="742950" lvl="1" indent="-285750">
              <a:lnSpc>
                <a:spcPct val="100000"/>
              </a:lnSpc>
              <a:spcBef>
                <a:spcPct val="20000"/>
              </a:spcBef>
            </a:pPr>
            <a:r>
              <a:rPr lang="en-US" altLang="zh-CN" dirty="0">
                <a:ea typeface="宋体" pitchFamily="2" charset="-122"/>
              </a:rPr>
              <a:t>Want an ISA that makes it easy to build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hardware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i="1" dirty="0">
                <a:ea typeface="宋体" pitchFamily="2" charset="-122"/>
              </a:rPr>
              <a:t>and</a:t>
            </a:r>
            <a:r>
              <a:rPr lang="en-US" altLang="zh-CN" dirty="0">
                <a:ea typeface="宋体" pitchFamily="2" charset="-122"/>
              </a:rPr>
              <a:t>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compiler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(whose job it is to translate programs written in a high level language (like C) to assembly code) while </a:t>
            </a:r>
            <a:r>
              <a:rPr lang="en-US" altLang="zh-CN" dirty="0">
                <a:ea typeface="宋体" pitchFamily="2" charset="-122"/>
              </a:rPr>
              <a:t>maximizing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performance</a:t>
            </a:r>
            <a:r>
              <a:rPr lang="en-US" altLang="zh-CN" dirty="0">
                <a:ea typeface="宋体" pitchFamily="2" charset="-122"/>
              </a:rPr>
              <a:t> and minimizing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cost</a:t>
            </a:r>
            <a:endParaRPr lang="en-US" altLang="zh-CN" sz="2000" dirty="0">
              <a:ea typeface="宋体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</a:pPr>
            <a:r>
              <a:rPr lang="en-US" altLang="zh-CN" dirty="0" smtClean="0">
                <a:ea typeface="宋体" pitchFamily="2" charset="-122"/>
              </a:rPr>
              <a:t>Our </a:t>
            </a:r>
            <a:r>
              <a:rPr lang="en-US" altLang="zh-CN" dirty="0">
                <a:ea typeface="宋体" pitchFamily="2" charset="-122"/>
              </a:rPr>
              <a:t>target: the MIPS ISA</a:t>
            </a:r>
          </a:p>
          <a:p>
            <a:pPr marL="742950" lvl="1" indent="-28575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dirty="0">
                <a:ea typeface="宋体" pitchFamily="2" charset="-122"/>
              </a:rPr>
              <a:t>similar to other ISAs developed since the 1980's</a:t>
            </a:r>
          </a:p>
          <a:p>
            <a:pPr marL="742950" lvl="1" indent="-285750">
              <a:lnSpc>
                <a:spcPct val="100000"/>
              </a:lnSpc>
              <a:spcBef>
                <a:spcPct val="20000"/>
              </a:spcBef>
            </a:pPr>
            <a:r>
              <a:rPr lang="en-US" altLang="zh-CN" sz="2000" dirty="0">
                <a:ea typeface="宋体" pitchFamily="2" charset="-122"/>
              </a:rPr>
              <a:t>used by Broadcom, Cisco, NEC, Nintendo, Sony, …</a:t>
            </a:r>
          </a:p>
        </p:txBody>
      </p:sp>
      <p:sp>
        <p:nvSpPr>
          <p:cNvPr id="1986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85786" y="4357694"/>
            <a:ext cx="7620000" cy="11592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/>
            <a:r>
              <a:rPr lang="en-US" altLang="zh-CN" sz="2400" i="1" dirty="0">
                <a:solidFill>
                  <a:schemeClr val="accent2"/>
                </a:solidFill>
                <a:ea typeface="宋体" pitchFamily="2" charset="-122"/>
                <a:cs typeface="Arial" charset="0"/>
              </a:rPr>
              <a:t>Design goals:  maximize performance, minimize cost, reduce design time (time-to-market</a:t>
            </a:r>
            <a:r>
              <a:rPr lang="en-US" altLang="zh-CN" sz="2400" i="1" dirty="0" smtClean="0">
                <a:solidFill>
                  <a:schemeClr val="accent2"/>
                </a:solidFill>
                <a:ea typeface="宋体" pitchFamily="2" charset="-122"/>
                <a:cs typeface="Arial" charset="0"/>
              </a:rPr>
              <a:t>), </a:t>
            </a:r>
            <a:r>
              <a:rPr lang="en-US" altLang="zh-CN" sz="2400" i="1" dirty="0">
                <a:solidFill>
                  <a:schemeClr val="accent2"/>
                </a:solidFill>
                <a:ea typeface="宋体" pitchFamily="2" charset="-122"/>
                <a:cs typeface="Arial" charset="0"/>
              </a:rPr>
              <a:t>minimize power </a:t>
            </a:r>
            <a:r>
              <a:rPr lang="en-US" altLang="zh-CN" sz="2400" i="1" dirty="0" smtClean="0">
                <a:solidFill>
                  <a:schemeClr val="accent2"/>
                </a:solidFill>
                <a:ea typeface="宋体" pitchFamily="2" charset="-122"/>
                <a:cs typeface="Arial" charset="0"/>
              </a:rPr>
              <a:t>consumption, maximize reliability</a:t>
            </a:r>
            <a:endParaRPr lang="en-US" altLang="zh-CN" sz="2400" i="1" dirty="0">
              <a:solidFill>
                <a:schemeClr val="accent2"/>
              </a:solidFill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988665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7167563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RISC - Reduced Instruction Set Computer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838200"/>
            <a:ext cx="8001000" cy="4200124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RISC philosophy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fixed instruction lengths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load-store instruction sets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limited number of addressing modes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limited number of operations</a:t>
            </a: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MIPS</a:t>
            </a:r>
            <a:r>
              <a:rPr lang="en-US" altLang="zh-CN" dirty="0">
                <a:ea typeface="宋体" pitchFamily="2" charset="-122"/>
              </a:rPr>
              <a:t>, Sun SPARC, HP PA-RISC, IBM PowerPC …</a:t>
            </a:r>
          </a:p>
          <a:p>
            <a:r>
              <a:rPr lang="en-US" altLang="zh-CN" dirty="0">
                <a:ea typeface="宋体" pitchFamily="2" charset="-122"/>
              </a:rPr>
              <a:t>Instruction sets are measured by how well </a:t>
            </a:r>
            <a:r>
              <a:rPr lang="en-US" altLang="zh-CN" dirty="0" smtClean="0">
                <a:ea typeface="宋体" pitchFamily="2" charset="-122"/>
              </a:rPr>
              <a:t>compilers can </a:t>
            </a:r>
            <a:r>
              <a:rPr lang="en-US" altLang="zh-CN" dirty="0">
                <a:ea typeface="宋体" pitchFamily="2" charset="-122"/>
              </a:rPr>
              <a:t>use them as opposed to how well assembly language programmers </a:t>
            </a:r>
            <a:r>
              <a:rPr lang="en-US" altLang="zh-CN" dirty="0" smtClean="0">
                <a:ea typeface="宋体" pitchFamily="2" charset="-122"/>
              </a:rPr>
              <a:t>can use </a:t>
            </a:r>
            <a:r>
              <a:rPr lang="en-US" altLang="zh-CN" dirty="0">
                <a:ea typeface="宋体" pitchFamily="2" charset="-122"/>
              </a:rPr>
              <a:t>them</a:t>
            </a:r>
          </a:p>
        </p:txBody>
      </p:sp>
      <p:sp>
        <p:nvSpPr>
          <p:cNvPr id="196618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5572140"/>
            <a:ext cx="7848600" cy="4021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CISC (C for complex), e.g., Intel x86</a:t>
            </a:r>
          </a:p>
        </p:txBody>
      </p:sp>
    </p:spTree>
    <p:extLst>
      <p:ext uri="{BB962C8B-B14F-4D97-AF65-F5344CB8AC3E}">
        <p14:creationId xmlns:p14="http://schemas.microsoft.com/office/powerpoint/2010/main" val="37311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</a:t>
            </a:r>
            <a:r>
              <a:rPr lang="en-US" dirty="0" smtClean="0"/>
              <a:t>RISC Design </a:t>
            </a:r>
            <a:r>
              <a:rPr lang="en-US" dirty="0"/>
              <a:t>Principles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848600" cy="1995488"/>
          </a:xfrm>
        </p:spPr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/>
              <a:t>Simplicity favors regularity.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/>
              <a:t>Smaller is faster.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/>
              <a:t>Make the common case fast.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/>
              <a:t>Good design demands good compromises.</a:t>
            </a:r>
          </a:p>
        </p:txBody>
      </p:sp>
    </p:spTree>
    <p:extLst>
      <p:ext uri="{BB962C8B-B14F-4D97-AF65-F5344CB8AC3E}">
        <p14:creationId xmlns:p14="http://schemas.microsoft.com/office/powerpoint/2010/main" val="38349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MIPS (RISC) Design Principles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848600" cy="556357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Simplicity favors regularity</a:t>
            </a:r>
          </a:p>
          <a:p>
            <a:pPr lvl="1"/>
            <a:r>
              <a:rPr lang="en-US" dirty="0"/>
              <a:t>fixed size </a:t>
            </a:r>
            <a:r>
              <a:rPr lang="en-US" dirty="0" smtClean="0"/>
              <a:t>instructions</a:t>
            </a:r>
            <a:endParaRPr lang="en-US" dirty="0"/>
          </a:p>
          <a:p>
            <a:pPr lvl="1"/>
            <a:r>
              <a:rPr lang="en-US" dirty="0"/>
              <a:t>small number of instruction formats</a:t>
            </a:r>
          </a:p>
          <a:p>
            <a:pPr lvl="1"/>
            <a:r>
              <a:rPr lang="en-US" dirty="0" err="1"/>
              <a:t>opcode</a:t>
            </a:r>
            <a:r>
              <a:rPr lang="en-US" dirty="0"/>
              <a:t> always the first 6 bits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Smaller is faster</a:t>
            </a:r>
          </a:p>
          <a:p>
            <a:pPr lvl="1"/>
            <a:r>
              <a:rPr lang="en-US" dirty="0" smtClean="0"/>
              <a:t>limited instruction set</a:t>
            </a:r>
          </a:p>
          <a:p>
            <a:pPr lvl="1"/>
            <a:r>
              <a:rPr lang="en-US" dirty="0" smtClean="0"/>
              <a:t>limited number of registers in register file</a:t>
            </a:r>
          </a:p>
          <a:p>
            <a:pPr lvl="1"/>
            <a:r>
              <a:rPr lang="en-US" dirty="0" smtClean="0"/>
              <a:t>limited number of addressing modes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Make </a:t>
            </a:r>
            <a:r>
              <a:rPr lang="en-US" dirty="0">
                <a:solidFill>
                  <a:schemeClr val="accent1"/>
                </a:solidFill>
              </a:rPr>
              <a:t>the common case fast</a:t>
            </a:r>
          </a:p>
          <a:p>
            <a:pPr lvl="1"/>
            <a:r>
              <a:rPr lang="en-US" dirty="0"/>
              <a:t>arithmetic operands from the </a:t>
            </a:r>
            <a:r>
              <a:rPr lang="en-US" dirty="0" smtClean="0"/>
              <a:t>register file </a:t>
            </a:r>
            <a:r>
              <a:rPr lang="en-US" dirty="0"/>
              <a:t>(load-store machine)</a:t>
            </a:r>
          </a:p>
          <a:p>
            <a:pPr lvl="1"/>
            <a:r>
              <a:rPr lang="en-US" dirty="0"/>
              <a:t>allow instructions to contain immediate </a:t>
            </a:r>
            <a:r>
              <a:rPr lang="en-US" dirty="0" smtClean="0"/>
              <a:t>operands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Good design demands good compromises</a:t>
            </a:r>
          </a:p>
          <a:p>
            <a:pPr lvl="1"/>
            <a:r>
              <a:rPr lang="en-US" dirty="0" smtClean="0"/>
              <a:t>three instruction formats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82257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4792663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Arithmetic Instruction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5129609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MIPS assembly language arithmetic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add	$t0, $s1, $s2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sub	$t0, $s1, $s2</a:t>
            </a:r>
          </a:p>
          <a:p>
            <a:r>
              <a:rPr lang="en-US" altLang="zh-CN" dirty="0">
                <a:ea typeface="宋体" pitchFamily="2" charset="-122"/>
              </a:rPr>
              <a:t>Each arithmetic instruction performs only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one</a:t>
            </a:r>
            <a:r>
              <a:rPr lang="en-US" altLang="zh-CN" dirty="0">
                <a:ea typeface="宋体" pitchFamily="2" charset="-122"/>
              </a:rPr>
              <a:t> operation</a:t>
            </a:r>
          </a:p>
          <a:p>
            <a:r>
              <a:rPr lang="en-US" altLang="zh-CN" dirty="0">
                <a:ea typeface="宋体" pitchFamily="2" charset="-122"/>
              </a:rPr>
              <a:t>Each arithmetic instruction specifies exactly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three</a:t>
            </a:r>
            <a:r>
              <a:rPr lang="en-US" altLang="zh-CN" dirty="0">
                <a:ea typeface="宋体" pitchFamily="2" charset="-122"/>
              </a:rPr>
              <a:t> operands</a:t>
            </a:r>
          </a:p>
          <a:p>
            <a:pPr lvl="1" algn="ctr">
              <a:buFont typeface="Monotype Sorts" pitchFamily="2" charset="2"/>
              <a:buNone/>
            </a:pPr>
            <a:r>
              <a:rPr lang="en-US" altLang="zh-CN" dirty="0">
                <a:ea typeface="宋体" pitchFamily="2" charset="-122"/>
              </a:rPr>
              <a:t>destination 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 source1    op    source2</a:t>
            </a:r>
          </a:p>
          <a:p>
            <a:pPr lvl="1"/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Operand </a:t>
            </a:r>
            <a:r>
              <a:rPr lang="en-US" altLang="zh-CN" dirty="0">
                <a:ea typeface="宋体" pitchFamily="2" charset="-122"/>
              </a:rPr>
              <a:t>order is fixed (the destination is specified first)</a:t>
            </a:r>
            <a:endParaRPr lang="en-US" altLang="zh-CN" dirty="0">
              <a:ea typeface="宋体" pitchFamily="2" charset="-122"/>
              <a:sym typeface="Symbol" pitchFamily="18" charset="2"/>
            </a:endParaRPr>
          </a:p>
          <a:p>
            <a:r>
              <a:rPr lang="en-US" altLang="zh-CN" dirty="0">
                <a:ea typeface="宋体" pitchFamily="2" charset="-122"/>
                <a:sym typeface="Symbol" pitchFamily="18" charset="2"/>
              </a:rPr>
              <a:t>The operands are contained in the </a:t>
            </a:r>
            <a:r>
              <a:rPr lang="en-US" altLang="zh-CN" dirty="0" err="1">
                <a:ea typeface="宋体" pitchFamily="2" charset="-122"/>
                <a:sym typeface="Symbol" pitchFamily="18" charset="2"/>
              </a:rPr>
              <a:t>datapath’s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  <a:sym typeface="Symbol" pitchFamily="18" charset="2"/>
              </a:rPr>
              <a:t>register file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dirty="0">
                <a:latin typeface="Courier New" pitchFamily="49" charset="0"/>
                <a:ea typeface="宋体" pitchFamily="2" charset="-122"/>
                <a:sym typeface="Symbol" pitchFamily="18" charset="2"/>
              </a:rPr>
              <a:t>$t0, $s1, $s2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3386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4792663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Arithmetic Instruction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5129609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MIPS assembly language arithmetic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add	$t0, $s1, $s2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sub	$t0, $s1, $s2</a:t>
            </a:r>
          </a:p>
          <a:p>
            <a:r>
              <a:rPr lang="en-US" altLang="zh-CN" dirty="0">
                <a:ea typeface="宋体" pitchFamily="2" charset="-122"/>
              </a:rPr>
              <a:t>Each arithmetic instruction performs only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one</a:t>
            </a:r>
            <a:r>
              <a:rPr lang="en-US" altLang="zh-CN" dirty="0">
                <a:ea typeface="宋体" pitchFamily="2" charset="-122"/>
              </a:rPr>
              <a:t> operation</a:t>
            </a:r>
          </a:p>
          <a:p>
            <a:r>
              <a:rPr lang="en-US" altLang="zh-CN" dirty="0">
                <a:ea typeface="宋体" pitchFamily="2" charset="-122"/>
              </a:rPr>
              <a:t>Each arithmetic instruction specifies exactly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three</a:t>
            </a:r>
            <a:r>
              <a:rPr lang="en-US" altLang="zh-CN" dirty="0">
                <a:ea typeface="宋体" pitchFamily="2" charset="-122"/>
              </a:rPr>
              <a:t> operands</a:t>
            </a:r>
          </a:p>
          <a:p>
            <a:pPr lvl="1" algn="ctr">
              <a:buFont typeface="Monotype Sorts" pitchFamily="2" charset="2"/>
              <a:buNone/>
            </a:pPr>
            <a:r>
              <a:rPr lang="en-US" altLang="zh-CN" dirty="0">
                <a:ea typeface="宋体" pitchFamily="2" charset="-122"/>
              </a:rPr>
              <a:t>destination 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 source1    op    source2</a:t>
            </a:r>
          </a:p>
          <a:p>
            <a:pPr lvl="1"/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Operand </a:t>
            </a:r>
            <a:r>
              <a:rPr lang="en-US" altLang="zh-CN" dirty="0">
                <a:ea typeface="宋体" pitchFamily="2" charset="-122"/>
              </a:rPr>
              <a:t>order is fixed (the destination is specified first)</a:t>
            </a:r>
            <a:endParaRPr lang="en-US" altLang="zh-CN" dirty="0">
              <a:ea typeface="宋体" pitchFamily="2" charset="-122"/>
              <a:sym typeface="Symbol" pitchFamily="18" charset="2"/>
            </a:endParaRPr>
          </a:p>
          <a:p>
            <a:r>
              <a:rPr lang="en-US" altLang="zh-CN" dirty="0">
                <a:ea typeface="宋体" pitchFamily="2" charset="-122"/>
                <a:sym typeface="Symbol" pitchFamily="18" charset="2"/>
              </a:rPr>
              <a:t>The operands are contained in the </a:t>
            </a:r>
            <a:r>
              <a:rPr lang="en-US" altLang="zh-CN" dirty="0" err="1">
                <a:ea typeface="宋体" pitchFamily="2" charset="-122"/>
                <a:sym typeface="Symbol" pitchFamily="18" charset="2"/>
              </a:rPr>
              <a:t>datapath’s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  <a:sym typeface="Symbol" pitchFamily="18" charset="2"/>
              </a:rPr>
              <a:t>register file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dirty="0">
                <a:latin typeface="Courier New" pitchFamily="49" charset="0"/>
                <a:ea typeface="宋体" pitchFamily="2" charset="-122"/>
                <a:sym typeface="Symbol" pitchFamily="18" charset="2"/>
              </a:rPr>
              <a:t>$t0, $s1, $s2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)</a:t>
            </a:r>
          </a:p>
        </p:txBody>
      </p:sp>
      <p:sp>
        <p:nvSpPr>
          <p:cNvPr id="26726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3286116" y="2000240"/>
            <a:ext cx="857256" cy="2124076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726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4786314" y="2071678"/>
            <a:ext cx="38100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727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 flipV="1">
            <a:off x="6000760" y="2071678"/>
            <a:ext cx="68580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3357554" y="1785926"/>
            <a:ext cx="2743200" cy="2667000"/>
            <a:chOff x="2160" y="1344"/>
            <a:chExt cx="1632" cy="1584"/>
          </a:xfrm>
        </p:grpSpPr>
        <p:sp>
          <p:nvSpPr>
            <p:cNvPr id="267271" name="Oval 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08" y="2640"/>
              <a:ext cx="384" cy="288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67272" name="AutoShape 8"/>
            <p:cNvCxnSpPr>
              <a:cxnSpLocks noChangeShapeType="1"/>
              <a:stCxn id="267271" idx="0"/>
            </p:cNvCxnSpPr>
            <p:nvPr>
              <p:custDataLst>
                <p:tags r:id="rId8"/>
              </p:custDataLst>
            </p:nvPr>
          </p:nvCxnSpPr>
          <p:spPr bwMode="auto">
            <a:xfrm rot="16200000" flipV="1">
              <a:off x="2359" y="1399"/>
              <a:ext cx="1126" cy="1355"/>
            </a:xfrm>
            <a:prstGeom prst="curvedConnector2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67273" name="Oval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60" y="1344"/>
              <a:ext cx="48" cy="48"/>
            </a:xfrm>
            <a:prstGeom prst="ellips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84676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8" grpId="0" animBg="1"/>
      <p:bldP spid="267269" grpId="0" animBg="1"/>
      <p:bldP spid="2672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6435725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More Complex Statements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2189163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Assuming variable b is stored in register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$s1</a:t>
            </a:r>
            <a:r>
              <a:rPr lang="en-US" altLang="zh-CN">
                <a:ea typeface="宋体" pitchFamily="2" charset="-122"/>
              </a:rPr>
              <a:t>, c is stored in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>
                <a:ea typeface="宋体" pitchFamily="2" charset="-122"/>
              </a:rPr>
              <a:t>, and d is stored in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>
                <a:ea typeface="宋体" pitchFamily="2" charset="-122"/>
              </a:rPr>
              <a:t> and the result is to be left in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$s0</a:t>
            </a:r>
            <a:r>
              <a:rPr lang="en-US" altLang="zh-CN">
                <a:ea typeface="宋体" pitchFamily="2" charset="-122"/>
              </a:rPr>
              <a:t>, what is the assembler equivalent to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h = (b - c) + d</a:t>
            </a:r>
          </a:p>
        </p:txBody>
      </p:sp>
    </p:spTree>
    <p:extLst>
      <p:ext uri="{BB962C8B-B14F-4D97-AF65-F5344CB8AC3E}">
        <p14:creationId xmlns:p14="http://schemas.microsoft.com/office/powerpoint/2010/main" val="10172105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6435725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More Complex Statements</a:t>
            </a:r>
          </a:p>
        </p:txBody>
      </p:sp>
      <p:sp>
        <p:nvSpPr>
          <p:cNvPr id="268291" name="Rectangle 1027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218916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Assuming variable b is stored in register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$s1</a:t>
            </a:r>
            <a:r>
              <a:rPr lang="en-US" altLang="zh-CN" dirty="0">
                <a:ea typeface="宋体" pitchFamily="2" charset="-122"/>
              </a:rPr>
              <a:t>, c is stored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 dirty="0">
                <a:ea typeface="宋体" pitchFamily="2" charset="-122"/>
              </a:rPr>
              <a:t>, and d is stored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dirty="0">
                <a:ea typeface="宋体" pitchFamily="2" charset="-122"/>
              </a:rPr>
              <a:t> and the result is to be left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$s0</a:t>
            </a:r>
            <a:r>
              <a:rPr lang="en-US" altLang="zh-CN" dirty="0">
                <a:ea typeface="宋体" pitchFamily="2" charset="-122"/>
              </a:rPr>
              <a:t>, what is the assembler equivalent to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h = (b - c) + d</a:t>
            </a:r>
          </a:p>
        </p:txBody>
      </p:sp>
      <p:sp>
        <p:nvSpPr>
          <p:cNvPr id="268292" name="Rectangle 102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47800" y="4495800"/>
            <a:ext cx="6553200" cy="946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sub	$t0, $s1, $s2</a:t>
            </a:r>
          </a:p>
          <a:p>
            <a:pPr algn="ctr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$s0, $t0, $s3</a:t>
            </a:r>
          </a:p>
        </p:txBody>
      </p:sp>
    </p:spTree>
    <p:extLst>
      <p:ext uri="{BB962C8B-B14F-4D97-AF65-F5344CB8AC3E}">
        <p14:creationId xmlns:p14="http://schemas.microsoft.com/office/powerpoint/2010/main" val="916366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050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3230563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Register File</a:t>
            </a:r>
          </a:p>
        </p:txBody>
      </p:sp>
      <p:sp>
        <p:nvSpPr>
          <p:cNvPr id="270339" name="Rectangle 2051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04800" y="685800"/>
            <a:ext cx="8610600" cy="5880584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Operands of arithmetic instructions must be from a limited number of special locations contained in the </a:t>
            </a:r>
            <a:r>
              <a:rPr lang="en-US" altLang="zh-CN" dirty="0" err="1">
                <a:ea typeface="宋体" pitchFamily="2" charset="-122"/>
              </a:rPr>
              <a:t>datapath’s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register file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Thirty-two 32-bit registers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Two read ports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One write </a:t>
            </a:r>
            <a:r>
              <a:rPr lang="en-US" altLang="zh-CN" dirty="0" smtClean="0">
                <a:ea typeface="宋体" pitchFamily="2" charset="-122"/>
              </a:rPr>
              <a:t>port</a:t>
            </a:r>
          </a:p>
          <a:p>
            <a:pPr lvl="2"/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Registers are</a:t>
            </a:r>
          </a:p>
          <a:p>
            <a:pPr lvl="1"/>
            <a:r>
              <a:rPr lang="en-US" altLang="zh-CN" dirty="0" smtClean="0">
                <a:ea typeface="宋体" pitchFamily="2" charset="-122"/>
              </a:rPr>
              <a:t>Faster than main memory</a:t>
            </a:r>
            <a:endParaRPr lang="en-US" altLang="zh-CN" dirty="0">
              <a:ea typeface="宋体" pitchFamily="2" charset="-122"/>
            </a:endParaRPr>
          </a:p>
          <a:p>
            <a:pPr lvl="2"/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Smaller is faster</a:t>
            </a:r>
            <a:r>
              <a:rPr lang="en-US" altLang="zh-CN" dirty="0">
                <a:ea typeface="宋体" pitchFamily="2" charset="-122"/>
              </a:rPr>
              <a:t> &amp;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Make the common case fast</a:t>
            </a:r>
            <a:endParaRPr lang="en-US" altLang="zh-CN" dirty="0">
              <a:solidFill>
                <a:schemeClr val="accent1"/>
              </a:solidFill>
              <a:ea typeface="宋体" pitchFamily="2" charset="-122"/>
              <a:cs typeface="Arial" charset="0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Easy for a compiler to use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e.g., (A*B) – (C*D) – (E*F) can do multiplies in any order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Improves code density</a:t>
            </a:r>
            <a:endParaRPr lang="en-US" altLang="zh-CN" b="1" dirty="0">
              <a:solidFill>
                <a:srgbClr val="000000"/>
              </a:solidFill>
              <a:ea typeface="宋体" pitchFamily="2" charset="-122"/>
              <a:cs typeface="Arial" charset="0"/>
            </a:endParaRPr>
          </a:p>
          <a:p>
            <a:pPr lvl="2"/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Since register are named with fewer bits than a memory location</a:t>
            </a:r>
            <a:r>
              <a:rPr lang="en-US" altLang="zh-CN" b="1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Register addresses are indicated by using </a:t>
            </a:r>
            <a:r>
              <a:rPr lang="en-US" altLang="zh-CN" dirty="0">
                <a:ea typeface="宋体" pitchFamily="2" charset="-122"/>
                <a:cs typeface="Arial" charset="0"/>
              </a:rPr>
              <a:t>$</a:t>
            </a:r>
            <a:r>
              <a:rPr lang="en-US" altLang="zh-CN" b="1" dirty="0">
                <a:ea typeface="宋体" pitchFamily="2" charset="-122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743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3230563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Register File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304800" y="685800"/>
            <a:ext cx="8610600" cy="235426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Operands of arithmetic instructions must be from a limited number of special locations contained in the </a:t>
            </a:r>
            <a:r>
              <a:rPr lang="en-US" altLang="zh-CN" dirty="0" err="1">
                <a:ea typeface="宋体" pitchFamily="2" charset="-122"/>
              </a:rPr>
              <a:t>datapath’s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register file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Thirty-two 32-bit registers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Two read ports 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One write port</a:t>
            </a:r>
            <a:endParaRPr lang="en-US" altLang="zh-CN" b="1" dirty="0">
              <a:ea typeface="宋体" pitchFamily="2" charset="-122"/>
              <a:cs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500562" y="1428738"/>
            <a:ext cx="4305300" cy="2763839"/>
            <a:chOff x="2832" y="870"/>
            <a:chExt cx="2712" cy="1741"/>
          </a:xfrm>
        </p:grpSpPr>
        <p:sp>
          <p:nvSpPr>
            <p:cNvPr id="330757" name="Rectangle 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888" y="1152"/>
              <a:ext cx="1008" cy="1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0758" name="Rectangle 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888" y="870"/>
              <a:ext cx="100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write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330759" name="Rectangle 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928" y="1248"/>
              <a:ext cx="680" cy="179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src1 addr</a:t>
              </a:r>
            </a:p>
          </p:txBody>
        </p:sp>
        <p:sp>
          <p:nvSpPr>
            <p:cNvPr id="330760" name="Rectangle 8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928" y="1536"/>
              <a:ext cx="6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src2 addr</a:t>
              </a:r>
            </a:p>
          </p:txBody>
        </p:sp>
        <p:sp>
          <p:nvSpPr>
            <p:cNvPr id="330761" name="Rectangle 9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976" y="1824"/>
              <a:ext cx="60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dst addr</a:t>
              </a:r>
            </a:p>
          </p:txBody>
        </p:sp>
        <p:sp>
          <p:nvSpPr>
            <p:cNvPr id="330762" name="Line 10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3600" y="192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63" name="Line 1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600" y="134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64" name="Line 12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3600" y="163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65" name="Line 13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3600" y="22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66" name="Rectangle 1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832" y="2112"/>
              <a:ext cx="81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write data</a:t>
              </a:r>
            </a:p>
          </p:txBody>
        </p:sp>
        <p:sp>
          <p:nvSpPr>
            <p:cNvPr id="330767" name="Line 1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3888" y="2448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68" name="Rectangle 1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032" y="2448"/>
              <a:ext cx="816" cy="1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32 bits</a:t>
              </a:r>
            </a:p>
          </p:txBody>
        </p:sp>
        <p:sp>
          <p:nvSpPr>
            <p:cNvPr id="330769" name="Line 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4896" y="13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70" name="Line 18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4896" y="211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71" name="Rectangle 1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184" y="1248"/>
              <a:ext cx="36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src1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data</a:t>
              </a:r>
            </a:p>
          </p:txBody>
        </p:sp>
        <p:sp>
          <p:nvSpPr>
            <p:cNvPr id="330772" name="Rectangle 2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184" y="1968"/>
              <a:ext cx="36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src2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data</a:t>
              </a:r>
            </a:p>
          </p:txBody>
        </p:sp>
        <p:sp>
          <p:nvSpPr>
            <p:cNvPr id="330773" name="Line 21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4752" y="115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74" name="Rectangle 22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080" y="1584"/>
              <a:ext cx="672" cy="2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32</a:t>
              </a:r>
            </a:p>
            <a:p>
              <a:pPr algn="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locations</a:t>
              </a:r>
            </a:p>
          </p:txBody>
        </p:sp>
        <p:sp>
          <p:nvSpPr>
            <p:cNvPr id="43" name="Rectangle 6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912" y="1185"/>
              <a:ext cx="100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Register File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777162" y="1952612"/>
            <a:ext cx="533400" cy="457200"/>
            <a:chOff x="4896" y="1200"/>
            <a:chExt cx="336" cy="288"/>
          </a:xfrm>
        </p:grpSpPr>
        <p:sp>
          <p:nvSpPr>
            <p:cNvPr id="330776" name="Line 24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77" name="Rectangle 2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719762" y="1876412"/>
            <a:ext cx="533400" cy="457200"/>
            <a:chOff x="3600" y="1152"/>
            <a:chExt cx="336" cy="288"/>
          </a:xfrm>
        </p:grpSpPr>
        <p:sp>
          <p:nvSpPr>
            <p:cNvPr id="330779" name="Line 27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3696" y="1296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80" name="Rectangle 2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600" y="1152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7777162" y="3095612"/>
            <a:ext cx="533400" cy="457200"/>
            <a:chOff x="4896" y="1200"/>
            <a:chExt cx="336" cy="288"/>
          </a:xfrm>
        </p:grpSpPr>
        <p:sp>
          <p:nvSpPr>
            <p:cNvPr id="330782" name="Line 30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83" name="Rectangle 31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grpSp>
        <p:nvGrpSpPr>
          <p:cNvPr id="6" name="Group 32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5719762" y="2333612"/>
            <a:ext cx="533400" cy="457200"/>
            <a:chOff x="3600" y="1152"/>
            <a:chExt cx="336" cy="288"/>
          </a:xfrm>
        </p:grpSpPr>
        <p:sp>
          <p:nvSpPr>
            <p:cNvPr id="330785" name="Line 3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3696" y="1296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86" name="Rectangle 3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600" y="1152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7" name="Group 35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719762" y="2790812"/>
            <a:ext cx="533400" cy="457200"/>
            <a:chOff x="3600" y="1152"/>
            <a:chExt cx="336" cy="288"/>
          </a:xfrm>
        </p:grpSpPr>
        <p:sp>
          <p:nvSpPr>
            <p:cNvPr id="330788" name="Line 36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3696" y="1296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89" name="Rectangle 3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600" y="1152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8" name="Group 38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5719762" y="3248012"/>
            <a:ext cx="533400" cy="457200"/>
            <a:chOff x="4896" y="1200"/>
            <a:chExt cx="336" cy="288"/>
          </a:xfrm>
        </p:grpSpPr>
        <p:sp>
          <p:nvSpPr>
            <p:cNvPr id="330791" name="Line 39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792" name="Rectangle 4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sp>
        <p:nvSpPr>
          <p:cNvPr id="330793" name="Rectangle 4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28600" y="3368045"/>
            <a:ext cx="8610600" cy="30613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Registers are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 smtClean="0">
                <a:solidFill>
                  <a:schemeClr val="tx1"/>
                </a:solidFill>
                <a:ea typeface="宋体" pitchFamily="2" charset="-122"/>
              </a:rPr>
              <a:t>Faster than main memory</a:t>
            </a: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 marL="1146175" lvl="2" indent="-17621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ea typeface="宋体" pitchFamily="2" charset="-122"/>
              </a:rPr>
              <a:t>Smaller is faster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&amp; </a:t>
            </a:r>
            <a:r>
              <a:rPr lang="en-US" altLang="zh-CN" dirty="0">
                <a:ea typeface="宋体" pitchFamily="2" charset="-122"/>
              </a:rPr>
              <a:t>Make the common case fast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Easy for a compiler to use</a:t>
            </a:r>
          </a:p>
          <a:p>
            <a:pPr marL="1146175" lvl="2" indent="-17621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e.g., (A*B) – (C*D) – (E*F) can do multiplies in any order</a:t>
            </a:r>
          </a:p>
          <a:p>
            <a:pPr marL="741363" lvl="1" indent="-24606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Improves code density</a:t>
            </a:r>
            <a:endParaRPr lang="en-US" altLang="zh-CN" sz="2000" b="1" dirty="0">
              <a:solidFill>
                <a:srgbClr val="000000"/>
              </a:solidFill>
              <a:ea typeface="宋体" pitchFamily="2" charset="-122"/>
              <a:cs typeface="Arial" charset="0"/>
            </a:endParaRPr>
          </a:p>
          <a:p>
            <a:pPr marL="1146175" lvl="2" indent="-176213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Since register are named with fewer bits than a memory location</a:t>
            </a:r>
            <a:r>
              <a:rPr lang="en-US" altLang="zh-CN" sz="2000" b="1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 </a:t>
            </a:r>
          </a:p>
          <a:p>
            <a:pPr marL="287338" indent="-287338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Register addresses are indicated by using </a:t>
            </a: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$</a:t>
            </a:r>
            <a:r>
              <a:rPr lang="en-US" altLang="zh-CN" sz="2400" b="1" dirty="0">
                <a:solidFill>
                  <a:schemeClr val="tx1"/>
                </a:solidFill>
                <a:ea typeface="宋体" pitchFamily="2" charset="-122"/>
                <a:cs typeface="Arial" charset="0"/>
              </a:rPr>
              <a:t> </a:t>
            </a:r>
          </a:p>
        </p:txBody>
      </p:sp>
      <p:sp>
        <p:nvSpPr>
          <p:cNvPr id="330794" name="Text Box 42"/>
          <p:cNvSpPr txBox="1">
            <a:spLocks noChangeArrowheads="1"/>
          </p:cNvSpPr>
          <p:nvPr/>
        </p:nvSpPr>
        <p:spPr bwMode="auto">
          <a:xfrm>
            <a:off x="6710362" y="2486012"/>
            <a:ext cx="5699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  <a:r>
              <a:rPr lang="en-US" sz="1600" baseline="30000"/>
              <a:t>5  </a:t>
            </a:r>
            <a:r>
              <a:rPr lang="en-US" sz="1600"/>
              <a:t>=</a:t>
            </a:r>
          </a:p>
        </p:txBody>
      </p:sp>
      <p:cxnSp>
        <p:nvCxnSpPr>
          <p:cNvPr id="45" name="Straight Arrow Connector 44"/>
          <p:cNvCxnSpPr/>
          <p:nvPr/>
        </p:nvCxnSpPr>
        <p:spPr bwMode="auto">
          <a:xfrm rot="5400000">
            <a:off x="6357950" y="1785926"/>
            <a:ext cx="142876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1896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93" grpId="0"/>
      <p:bldP spid="3307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7958166" cy="426142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MIPS </a:t>
            </a:r>
            <a:r>
              <a:rPr lang="en-US" altLang="zh-CN" dirty="0">
                <a:ea typeface="宋体" pitchFamily="2" charset="-122"/>
              </a:rPr>
              <a:t>Arithmetic </a:t>
            </a:r>
            <a:r>
              <a:rPr lang="en-US" altLang="zh-CN" dirty="0" smtClean="0">
                <a:ea typeface="宋体" pitchFamily="2" charset="-122"/>
              </a:rPr>
              <a:t>Instructions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537212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MIPS assembly language arithmetic </a:t>
            </a:r>
            <a:r>
              <a:rPr lang="en-US" altLang="zh-CN" dirty="0" smtClean="0">
                <a:ea typeface="宋体" pitchFamily="2" charset="-122"/>
              </a:rPr>
              <a:t>statements</a:t>
            </a:r>
          </a:p>
          <a:p>
            <a:pPr marL="287338" lvl="1" indent="-287338" algn="ctr">
              <a:buNone/>
            </a:pPr>
            <a:r>
              <a:rPr lang="en-US" altLang="zh-CN" dirty="0" smtClean="0">
                <a:solidFill>
                  <a:srgbClr val="0000D0"/>
                </a:solidFill>
                <a:ea typeface="宋体" pitchFamily="2" charset="-122"/>
              </a:rPr>
              <a:t>               </a:t>
            </a:r>
            <a:r>
              <a:rPr lang="en-US" altLang="zh-CN" dirty="0" err="1" smtClean="0">
                <a:solidFill>
                  <a:srgbClr val="0000D0"/>
                </a:solidFill>
                <a:ea typeface="宋体" pitchFamily="2" charset="-122"/>
              </a:rPr>
              <a:t>dst</a:t>
            </a:r>
            <a:r>
              <a:rPr lang="en-US" altLang="zh-CN" dirty="0" smtClean="0">
                <a:solidFill>
                  <a:srgbClr val="0000D0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  <a:sym typeface="Symbol" pitchFamily="18" charset="2"/>
              </a:rPr>
              <a:t>  src1  op  src2</a:t>
            </a:r>
            <a:endParaRPr lang="en-US" altLang="zh-CN" dirty="0">
              <a:ea typeface="宋体" pitchFamily="2" charset="-122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add	</a:t>
            </a:r>
            <a:r>
              <a:rPr lang="en-US" altLang="zh-CN" dirty="0">
                <a:solidFill>
                  <a:srgbClr val="0000D0"/>
                </a:solidFill>
                <a:latin typeface="Courier New" pitchFamily="49" charset="0"/>
                <a:ea typeface="宋体" pitchFamily="2" charset="-122"/>
              </a:rPr>
              <a:t>$t0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, $s1, $s2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sub	</a:t>
            </a:r>
            <a:r>
              <a:rPr lang="en-US" altLang="zh-CN" dirty="0">
                <a:solidFill>
                  <a:srgbClr val="0000D0"/>
                </a:solidFill>
                <a:latin typeface="Courier New" pitchFamily="49" charset="0"/>
                <a:ea typeface="宋体" pitchFamily="2" charset="-122"/>
              </a:rPr>
              <a:t>$t0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, $s1, $s2</a:t>
            </a:r>
          </a:p>
          <a:p>
            <a:pPr lvl="2"/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  <a:sym typeface="Symbol" pitchFamily="18" charset="2"/>
              </a:rPr>
              <a:t>The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operands </a:t>
            </a:r>
            <a:r>
              <a:rPr lang="en-US" altLang="zh-CN" dirty="0" smtClean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dirty="0" smtClean="0">
                <a:latin typeface="Courier New" pitchFamily="49" charset="0"/>
                <a:ea typeface="宋体" pitchFamily="2" charset="-122"/>
                <a:sym typeface="Symbol" pitchFamily="18" charset="2"/>
              </a:rPr>
              <a:t>$t0, $s1, $s2</a:t>
            </a:r>
            <a:r>
              <a:rPr lang="en-US" altLang="zh-CN" dirty="0" smtClean="0">
                <a:ea typeface="宋体" pitchFamily="2" charset="-122"/>
                <a:sym typeface="Symbol" pitchFamily="18" charset="2"/>
              </a:rPr>
              <a:t>) are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contained in the </a:t>
            </a:r>
            <a:r>
              <a:rPr lang="en-US" altLang="zh-CN" dirty="0" err="1">
                <a:ea typeface="宋体" pitchFamily="2" charset="-122"/>
                <a:sym typeface="Symbol" pitchFamily="18" charset="2"/>
              </a:rPr>
              <a:t>datapath’s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  <a:sym typeface="Symbol" pitchFamily="18" charset="2"/>
              </a:rPr>
              <a:t>register file </a:t>
            </a:r>
            <a:r>
              <a:rPr lang="en-US" altLang="zh-CN" dirty="0" smtClean="0">
                <a:ea typeface="宋体" pitchFamily="2" charset="-122"/>
                <a:sym typeface="Symbol" pitchFamily="18" charset="2"/>
              </a:rPr>
              <a:t>which </a:t>
            </a:r>
            <a:r>
              <a:rPr lang="en-US" altLang="zh-CN" dirty="0" smtClean="0">
                <a:ea typeface="宋体" pitchFamily="2" charset="-122"/>
              </a:rPr>
              <a:t>contains thirty-two 32-bit registers</a:t>
            </a:r>
          </a:p>
          <a:p>
            <a:pPr lvl="1"/>
            <a:r>
              <a:rPr lang="en-US" altLang="zh-CN" dirty="0" smtClean="0">
                <a:ea typeface="宋体" pitchFamily="2" charset="-122"/>
              </a:rPr>
              <a:t>Two read ports </a:t>
            </a:r>
          </a:p>
          <a:p>
            <a:pPr lvl="1"/>
            <a:r>
              <a:rPr lang="en-US" altLang="zh-CN" dirty="0" smtClean="0">
                <a:ea typeface="宋体" pitchFamily="2" charset="-122"/>
              </a:rPr>
              <a:t>One write port</a:t>
            </a:r>
          </a:p>
          <a:p>
            <a:pPr>
              <a:buNone/>
            </a:pPr>
            <a:r>
              <a:rPr lang="en-US" altLang="zh-CN" b="1" dirty="0" smtClean="0">
                <a:ea typeface="宋体" pitchFamily="2" charset="-122"/>
                <a:cs typeface="Arial" charset="0"/>
              </a:rPr>
              <a:t>    </a:t>
            </a:r>
            <a:endParaRPr lang="en-US" altLang="zh-CN" dirty="0" smtClean="0">
              <a:ea typeface="宋体" pitchFamily="2" charset="-122"/>
              <a:cs typeface="Arial" charset="0"/>
            </a:endParaRPr>
          </a:p>
          <a:p>
            <a:endParaRPr lang="en-US" altLang="zh-CN" dirty="0">
              <a:ea typeface="宋体" pitchFamily="2" charset="-122"/>
              <a:sym typeface="Symbol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124352" y="4452958"/>
            <a:ext cx="4305300" cy="1905000"/>
            <a:chOff x="2832" y="1152"/>
            <a:chExt cx="2712" cy="1200"/>
          </a:xfrm>
        </p:grpSpPr>
        <p:sp>
          <p:nvSpPr>
            <p:cNvPr id="12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888" y="1152"/>
              <a:ext cx="1008" cy="1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28" y="1248"/>
              <a:ext cx="680" cy="179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src1 addr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928" y="1536"/>
              <a:ext cx="6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src2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addr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976" y="1824"/>
              <a:ext cx="60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dst addr</a:t>
              </a:r>
            </a:p>
          </p:txBody>
        </p:sp>
        <p:sp>
          <p:nvSpPr>
            <p:cNvPr id="17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600" y="1920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600" y="134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3600" y="163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3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3600" y="22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832" y="2112"/>
              <a:ext cx="81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write data</a:t>
              </a:r>
            </a:p>
          </p:txBody>
        </p:sp>
        <p:sp>
          <p:nvSpPr>
            <p:cNvPr id="22" name="Line 15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3888" y="2262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032" y="2040"/>
              <a:ext cx="816" cy="1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32 bits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896" y="13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896" y="211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1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84" y="1248"/>
              <a:ext cx="36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src1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data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184" y="1968"/>
              <a:ext cx="360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src2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data</a:t>
              </a:r>
            </a:p>
          </p:txBody>
        </p:sp>
        <p:sp>
          <p:nvSpPr>
            <p:cNvPr id="28" name="Line 2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4752" y="115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080" y="1584"/>
              <a:ext cx="672" cy="2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32</a:t>
              </a:r>
            </a:p>
            <a:p>
              <a:pPr algn="r">
                <a:lnSpc>
                  <a:spcPct val="85000"/>
                </a:lnSpc>
              </a:pPr>
              <a:r>
                <a:rPr lang="en-US" altLang="zh-CN" sz="1600">
                  <a:solidFill>
                    <a:schemeClr val="tx1"/>
                  </a:solidFill>
                  <a:ea typeface="宋体" pitchFamily="2" charset="-122"/>
                </a:rPr>
                <a:t>locations</a:t>
              </a:r>
            </a:p>
          </p:txBody>
        </p:sp>
      </p:grpSp>
      <p:sp>
        <p:nvSpPr>
          <p:cNvPr id="49" name="Rectangle 1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24550" y="3929066"/>
            <a:ext cx="1009648" cy="2857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write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  <p:cxnSp>
        <p:nvCxnSpPr>
          <p:cNvPr id="54" name="Straight Arrow Connector 53"/>
          <p:cNvCxnSpPr/>
          <p:nvPr/>
        </p:nvCxnSpPr>
        <p:spPr bwMode="auto">
          <a:xfrm rot="5400000">
            <a:off x="5982534" y="4285462"/>
            <a:ext cx="285752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782200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</a:t>
            </a:r>
            <a:r>
              <a:rPr lang="en-US" dirty="0"/>
              <a:t>Register </a:t>
            </a:r>
            <a:r>
              <a:rPr lang="en-US" dirty="0" smtClean="0"/>
              <a:t>Naming Convention</a:t>
            </a:r>
            <a:endParaRPr lang="en-US" dirty="0"/>
          </a:p>
        </p:txBody>
      </p:sp>
      <p:graphicFrame>
        <p:nvGraphicFramePr>
          <p:cNvPr id="747611" name="Group 91"/>
          <p:cNvGraphicFramePr>
            <a:graphicFrameLocks noGrp="1"/>
          </p:cNvGraphicFramePr>
          <p:nvPr>
            <p:ph type="tbl" idx="1"/>
          </p:nvPr>
        </p:nvGraphicFramePr>
        <p:xfrm>
          <a:off x="1285852" y="785794"/>
          <a:ext cx="6324600" cy="5797296"/>
        </p:xfrm>
        <a:graphic>
          <a:graphicData uri="http://schemas.openxmlformats.org/drawingml/2006/table">
            <a:tbl>
              <a:tblPr/>
              <a:tblGrid>
                <a:gridCol w="1524000"/>
                <a:gridCol w="1447800"/>
                <a:gridCol w="3352800"/>
              </a:tblGrid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Nick 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Register 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$zero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constant 0 (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hardware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reserved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for assembler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$v0 - $v1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returned values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$a0 - $a3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arguments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$t0 - $t7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$s0 - $s7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16-23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saved values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$t8 - $t9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24-25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$k0 - $k1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26-27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reserved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for 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$gp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global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$sp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stack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$fp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hardware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5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7848600" cy="381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Registers vs. Memory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762000"/>
            <a:ext cx="7924800" cy="529427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>
                <a:ea typeface="宋体" pitchFamily="2" charset="-122"/>
              </a:rPr>
              <a:t>Arithmetic instructions </a:t>
            </a:r>
            <a:r>
              <a:rPr lang="en-US" altLang="zh-CN" i="1" dirty="0">
                <a:ea typeface="宋体" pitchFamily="2" charset="-122"/>
              </a:rPr>
              <a:t>operands</a:t>
            </a:r>
            <a:r>
              <a:rPr lang="en-US" altLang="zh-CN" dirty="0">
                <a:ea typeface="宋体" pitchFamily="2" charset="-122"/>
              </a:rPr>
              <a:t> must be in registers</a:t>
            </a:r>
          </a:p>
          <a:p>
            <a:pPr marL="742950" lvl="1" indent="-285750"/>
            <a:r>
              <a:rPr lang="en-US" altLang="zh-CN" dirty="0" smtClean="0">
                <a:ea typeface="宋体" pitchFamily="2" charset="-122"/>
              </a:rPr>
              <a:t>But only </a:t>
            </a:r>
            <a:r>
              <a:rPr lang="en-US" altLang="zh-CN" dirty="0">
                <a:ea typeface="宋体" pitchFamily="2" charset="-122"/>
              </a:rPr>
              <a:t>thirty-two registers are provided</a:t>
            </a: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796925" lvl="1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r>
              <a:rPr lang="en-US" altLang="zh-CN" dirty="0" smtClean="0">
                <a:ea typeface="宋体" pitchFamily="2" charset="-122"/>
              </a:rPr>
              <a:t>The compiler </a:t>
            </a:r>
            <a:r>
              <a:rPr lang="en-US" altLang="zh-CN" dirty="0">
                <a:ea typeface="宋体" pitchFamily="2" charset="-122"/>
              </a:rPr>
              <a:t>associates variables with registers</a:t>
            </a:r>
          </a:p>
          <a:p>
            <a:pPr marL="342900" indent="-342900" algn="ctr">
              <a:buFont typeface="Wingdings" pitchFamily="2" charset="2"/>
              <a:buNone/>
            </a:pPr>
            <a:r>
              <a:rPr lang="en-US" altLang="zh-CN" sz="2800" i="1" dirty="0">
                <a:solidFill>
                  <a:schemeClr val="accent1"/>
                </a:solidFill>
                <a:ea typeface="宋体" pitchFamily="2" charset="-122"/>
              </a:rPr>
              <a:t>What about programs with lots of variables?</a:t>
            </a:r>
          </a:p>
        </p:txBody>
      </p:sp>
      <p:sp>
        <p:nvSpPr>
          <p:cNvPr id="27443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28794" y="1857384"/>
            <a:ext cx="5143500" cy="2857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3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000" y="2143136"/>
            <a:ext cx="1460500" cy="2197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39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17750" y="2270136"/>
            <a:ext cx="1308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b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274440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37000" y="2143136"/>
            <a:ext cx="13335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41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435600" y="2143136"/>
            <a:ext cx="13335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42" name="AutoShap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89200" y="2828936"/>
            <a:ext cx="1079500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43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489200" y="3590936"/>
            <a:ext cx="1079500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44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540000" y="2994036"/>
            <a:ext cx="939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Control</a:t>
            </a:r>
          </a:p>
        </p:txBody>
      </p:sp>
      <p:sp>
        <p:nvSpPr>
          <p:cNvPr id="274445" name="Rectangle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3794136"/>
            <a:ext cx="1104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Datapath</a:t>
            </a:r>
          </a:p>
        </p:txBody>
      </p:sp>
      <p:sp>
        <p:nvSpPr>
          <p:cNvPr id="274446" name="Rectangle 1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14800" y="3108336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274454" name="Rectangle 2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97525" y="2193936"/>
            <a:ext cx="990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Devices</a:t>
            </a:r>
          </a:p>
        </p:txBody>
      </p:sp>
      <p:sp>
        <p:nvSpPr>
          <p:cNvPr id="274455" name="AutoShape 23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3130561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56" name="AutoShape 2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3778261"/>
            <a:ext cx="1079500" cy="4826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57" name="Rectangle 2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13400" y="3211524"/>
            <a:ext cx="6858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Input</a:t>
            </a:r>
          </a:p>
        </p:txBody>
      </p:sp>
      <p:sp>
        <p:nvSpPr>
          <p:cNvPr id="274458" name="Rectangle 26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613400" y="3829061"/>
            <a:ext cx="876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Output</a:t>
            </a:r>
          </a:p>
        </p:txBody>
      </p:sp>
      <p:sp>
        <p:nvSpPr>
          <p:cNvPr id="274459" name="AutoShape 27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80063" y="2482861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460" name="Rectangle 28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630863" y="2563824"/>
            <a:ext cx="10287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153357234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7848600" cy="381000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Registers vs. Memory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762000"/>
            <a:ext cx="7924800" cy="5180393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>
                <a:ea typeface="宋体" pitchFamily="2" charset="-122"/>
              </a:rPr>
              <a:t>Arithmetic instructions </a:t>
            </a:r>
            <a:r>
              <a:rPr lang="en-US" altLang="zh-CN" i="1" dirty="0">
                <a:ea typeface="宋体" pitchFamily="2" charset="-122"/>
              </a:rPr>
              <a:t>operands</a:t>
            </a:r>
            <a:r>
              <a:rPr lang="en-US" altLang="zh-CN" dirty="0">
                <a:ea typeface="宋体" pitchFamily="2" charset="-122"/>
              </a:rPr>
              <a:t> must be in registers</a:t>
            </a:r>
          </a:p>
          <a:p>
            <a:pPr marL="742950" lvl="1" indent="-285750"/>
            <a:r>
              <a:rPr lang="en-US" altLang="zh-CN" dirty="0" smtClean="0">
                <a:ea typeface="宋体" pitchFamily="2" charset="-122"/>
              </a:rPr>
              <a:t>But only </a:t>
            </a:r>
            <a:r>
              <a:rPr lang="en-US" altLang="zh-CN" dirty="0">
                <a:ea typeface="宋体" pitchFamily="2" charset="-122"/>
              </a:rPr>
              <a:t>thirty-two registers are provided</a:t>
            </a: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endParaRPr lang="en-US" altLang="zh-CN" dirty="0" smtClean="0">
              <a:ea typeface="宋体" pitchFamily="2" charset="-122"/>
            </a:endParaRPr>
          </a:p>
          <a:p>
            <a:pPr marL="342900" indent="-342900"/>
            <a:endParaRPr lang="en-US" altLang="zh-CN" dirty="0" smtClean="0">
              <a:ea typeface="宋体" pitchFamily="2" charset="-122"/>
            </a:endParaRPr>
          </a:p>
          <a:p>
            <a:pPr marL="342900" indent="-342900"/>
            <a:endParaRPr lang="en-US" altLang="zh-CN" dirty="0">
              <a:ea typeface="宋体" pitchFamily="2" charset="-122"/>
            </a:endParaRPr>
          </a:p>
          <a:p>
            <a:pPr marL="342900" indent="-342900"/>
            <a:r>
              <a:rPr lang="en-US" altLang="zh-CN" dirty="0" smtClean="0">
                <a:ea typeface="宋体" pitchFamily="2" charset="-122"/>
              </a:rPr>
              <a:t>The compiler </a:t>
            </a:r>
            <a:r>
              <a:rPr lang="en-US" altLang="zh-CN" dirty="0">
                <a:ea typeface="宋体" pitchFamily="2" charset="-122"/>
              </a:rPr>
              <a:t>associates variables with registers</a:t>
            </a:r>
            <a:endParaRPr lang="en-US" altLang="zh-CN" i="1" dirty="0">
              <a:solidFill>
                <a:schemeClr val="accent1"/>
              </a:solidFill>
              <a:ea typeface="宋体" pitchFamily="2" charset="-122"/>
            </a:endParaRPr>
          </a:p>
        </p:txBody>
      </p:sp>
      <p:sp>
        <p:nvSpPr>
          <p:cNvPr id="36864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0" y="2000240"/>
            <a:ext cx="5143500" cy="2857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4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000" y="2406640"/>
            <a:ext cx="1460500" cy="2197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46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17750" y="2533640"/>
            <a:ext cx="1308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b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368647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37000" y="2406640"/>
            <a:ext cx="13335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48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435600" y="2406640"/>
            <a:ext cx="1333500" cy="222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49" name="AutoShap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89200" y="3092440"/>
            <a:ext cx="1079500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50" name="AutoShap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489200" y="3854440"/>
            <a:ext cx="1079500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51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540000" y="3257540"/>
            <a:ext cx="939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Control</a:t>
            </a:r>
          </a:p>
        </p:txBody>
      </p:sp>
      <p:sp>
        <p:nvSpPr>
          <p:cNvPr id="368652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38400" y="4057640"/>
            <a:ext cx="1104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ea typeface="宋体" pitchFamily="2" charset="-122"/>
              </a:rPr>
              <a:t>Datapath</a:t>
            </a:r>
          </a:p>
        </p:txBody>
      </p:sp>
      <p:sp>
        <p:nvSpPr>
          <p:cNvPr id="368653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14800" y="3371840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368654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 flipV="1">
            <a:off x="4800600" y="4038600"/>
            <a:ext cx="213360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55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200400" y="4210040"/>
            <a:ext cx="838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56" name="Rectangle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97525" y="2457440"/>
            <a:ext cx="990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Devices</a:t>
            </a:r>
          </a:p>
        </p:txBody>
      </p:sp>
      <p:sp>
        <p:nvSpPr>
          <p:cNvPr id="368657" name="AutoShap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3394065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58" name="AutoShap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4041765"/>
            <a:ext cx="1079500" cy="4826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59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613400" y="3475028"/>
            <a:ext cx="6858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Input</a:t>
            </a:r>
          </a:p>
        </p:txBody>
      </p:sp>
      <p:sp>
        <p:nvSpPr>
          <p:cNvPr id="368660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613400" y="4092565"/>
            <a:ext cx="876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Output</a:t>
            </a:r>
          </a:p>
        </p:txBody>
      </p:sp>
      <p:sp>
        <p:nvSpPr>
          <p:cNvPr id="368661" name="AutoShap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80063" y="2746365"/>
            <a:ext cx="1079500" cy="512763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2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630863" y="2827328"/>
            <a:ext cx="1028700" cy="284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Network</a:t>
            </a:r>
          </a:p>
        </p:txBody>
      </p:sp>
      <p:sp>
        <p:nvSpPr>
          <p:cNvPr id="368663" name="Rectangle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914400" y="5867400"/>
            <a:ext cx="7924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ctr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800" i="1" dirty="0">
                <a:ea typeface="宋体" pitchFamily="2" charset="-122"/>
              </a:rPr>
              <a:t>What about programs with lots of variables?</a:t>
            </a:r>
          </a:p>
        </p:txBody>
      </p:sp>
    </p:spTree>
    <p:extLst>
      <p:ext uri="{BB962C8B-B14F-4D97-AF65-F5344CB8AC3E}">
        <p14:creationId xmlns:p14="http://schemas.microsoft.com/office/powerpoint/2010/main" val="1072196093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4" grpId="0" animBg="1"/>
      <p:bldP spid="368655" grpId="0" animBg="1"/>
      <p:bldP spid="3686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331"/>
            <a:ext cx="8229600" cy="426142"/>
          </a:xfrm>
        </p:spPr>
        <p:txBody>
          <a:bodyPr/>
          <a:lstStyle/>
          <a:p>
            <a:r>
              <a:rPr lang="en-US" dirty="0" smtClean="0"/>
              <a:t> Registers vs.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848600" cy="539492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Registers are faster to access than memory.</a:t>
            </a:r>
          </a:p>
          <a:p>
            <a:r>
              <a:rPr lang="en-US" dirty="0" smtClean="0"/>
              <a:t>There are not as many registers as variables (in most programs).</a:t>
            </a:r>
          </a:p>
          <a:p>
            <a:r>
              <a:rPr lang="en-US" dirty="0" smtClean="0"/>
              <a:t>Sometimes, the variables are arrays or </a:t>
            </a:r>
            <a:r>
              <a:rPr lang="en-US" dirty="0" err="1" smtClean="0"/>
              <a:t>structs</a:t>
            </a:r>
            <a:r>
              <a:rPr lang="en-US" dirty="0" smtClean="0"/>
              <a:t> or objects, and they won’t fit into one register.</a:t>
            </a:r>
          </a:p>
          <a:p>
            <a:r>
              <a:rPr lang="en-US" dirty="0" smtClean="0"/>
              <a:t>Operating on memory-resident data requires loads and stores.</a:t>
            </a:r>
          </a:p>
          <a:p>
            <a:pPr lvl="1"/>
            <a:r>
              <a:rPr lang="en-US" dirty="0" smtClean="0"/>
              <a:t>This is still true even if the ISA allows memory operands; in this case, the loads and stores are implicit in the instruction design.</a:t>
            </a:r>
          </a:p>
          <a:p>
            <a:r>
              <a:rPr lang="en-US" dirty="0" smtClean="0"/>
              <a:t>So, keep as much data as you can in the registers, and keep the rest in memory.</a:t>
            </a:r>
          </a:p>
          <a:p>
            <a:r>
              <a:rPr lang="en-US" dirty="0" smtClean="0"/>
              <a:t>Better, keep the most-frequently-used data in registers for as long as possible.</a:t>
            </a:r>
          </a:p>
          <a:p>
            <a:r>
              <a:rPr lang="en-US" dirty="0" smtClean="0"/>
              <a:t>Only “spill to memory” when there is too much data to hold in the registers all at once.</a:t>
            </a:r>
          </a:p>
          <a:p>
            <a:pPr lvl="1"/>
            <a:r>
              <a:rPr lang="en-US" dirty="0" smtClean="0"/>
              <a:t>“spill to memory” = “copy a register value to memory, to allow the register to be used for another purpose”</a:t>
            </a:r>
          </a:p>
          <a:p>
            <a:endParaRPr lang="en-US" dirty="0" smtClean="0"/>
          </a:p>
          <a:p>
            <a:r>
              <a:rPr lang="en-US" dirty="0" smtClean="0"/>
              <a:t>Compiler register allocation and optimization is important.</a:t>
            </a:r>
          </a:p>
        </p:txBody>
      </p:sp>
    </p:spTree>
    <p:extLst>
      <p:ext uri="{BB962C8B-B14F-4D97-AF65-F5344CB8AC3E}">
        <p14:creationId xmlns:p14="http://schemas.microsoft.com/office/powerpoint/2010/main" val="113594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1027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09600" y="762000"/>
            <a:ext cx="7848600" cy="1270091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Memory is a large, single-dimensional array</a:t>
            </a:r>
          </a:p>
          <a:p>
            <a:r>
              <a:rPr lang="en-US" altLang="zh-CN" dirty="0" smtClean="0">
                <a:ea typeface="宋体" pitchFamily="2" charset="-122"/>
              </a:rPr>
              <a:t>A memory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address</a:t>
            </a:r>
            <a:r>
              <a:rPr lang="en-US" altLang="zh-CN" dirty="0">
                <a:ea typeface="宋体" pitchFamily="2" charset="-122"/>
              </a:rPr>
              <a:t> acts as the index into the memory array</a:t>
            </a:r>
          </a:p>
        </p:txBody>
      </p:sp>
      <p:sp>
        <p:nvSpPr>
          <p:cNvPr id="217092" name="Rectangle 1028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228600"/>
            <a:ext cx="7848600" cy="477838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>
                <a:ea typeface="宋体" pitchFamily="2" charset="-122"/>
              </a:rPr>
              <a:t>Processor – Memory Interconnections</a:t>
            </a:r>
          </a:p>
        </p:txBody>
      </p:sp>
      <p:sp>
        <p:nvSpPr>
          <p:cNvPr id="217093" name="Rectangle 102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71600" y="2971800"/>
            <a:ext cx="16002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4" name="Rectangle 103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24400" y="2667000"/>
            <a:ext cx="1600200" cy="3048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5" name="Rectangle 103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3733800"/>
            <a:ext cx="1244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217096" name="Rectangle 103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29200" y="2341563"/>
            <a:ext cx="1003300" cy="325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217097" name="Line 1033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724400" y="6019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098" name="Rectangle 103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105400" y="6096000"/>
            <a:ext cx="8001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32 bits</a:t>
            </a:r>
          </a:p>
        </p:txBody>
      </p:sp>
      <p:sp>
        <p:nvSpPr>
          <p:cNvPr id="217099" name="Line 1035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972300" y="2667000"/>
            <a:ext cx="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00" name="Rectangle 103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62800" y="3733800"/>
            <a:ext cx="1028700" cy="60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?</a:t>
            </a:r>
          </a:p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locations</a:t>
            </a:r>
          </a:p>
        </p:txBody>
      </p:sp>
      <p:sp>
        <p:nvSpPr>
          <p:cNvPr id="217101" name="Line 1037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971800" y="3813189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02" name="Rectangle 103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200400" y="3471867"/>
            <a:ext cx="1168400" cy="60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read </a:t>
            </a:r>
            <a:r>
              <a:rPr lang="en-US" altLang="zh-CN" dirty="0" err="1">
                <a:solidFill>
                  <a:schemeClr val="tx1"/>
                </a:solidFill>
                <a:ea typeface="宋体" pitchFamily="2" charset="-122"/>
              </a:rPr>
              <a:t>addr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/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write </a:t>
            </a:r>
            <a:r>
              <a:rPr lang="en-US" altLang="zh-CN" dirty="0" err="1">
                <a:solidFill>
                  <a:schemeClr val="tx1"/>
                </a:solidFill>
                <a:ea typeface="宋体" pitchFamily="2" charset="-122"/>
              </a:rPr>
              <a:t>addr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7103" name="Line 103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971800" y="437516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04" name="Rectangle 104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276600" y="4070360"/>
            <a:ext cx="10922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217105" name="Rectangle 1041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276600" y="4603760"/>
            <a:ext cx="1117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217106" name="Line 1042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2971800" y="490856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0" name="Line 1066"/>
          <p:cNvSpPr>
            <a:spLocks noChangeShapeType="1"/>
          </p:cNvSpPr>
          <p:nvPr/>
        </p:nvSpPr>
        <p:spPr bwMode="auto">
          <a:xfrm>
            <a:off x="4724400" y="5486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1" name="Line 1067"/>
          <p:cNvSpPr>
            <a:spLocks noChangeShapeType="1"/>
          </p:cNvSpPr>
          <p:nvPr/>
        </p:nvSpPr>
        <p:spPr bwMode="auto">
          <a:xfrm>
            <a:off x="4724400" y="5257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2" name="Line 1068"/>
          <p:cNvSpPr>
            <a:spLocks noChangeShapeType="1"/>
          </p:cNvSpPr>
          <p:nvPr/>
        </p:nvSpPr>
        <p:spPr bwMode="auto">
          <a:xfrm>
            <a:off x="4724400" y="5029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3" name="Line 1069"/>
          <p:cNvSpPr>
            <a:spLocks noChangeShapeType="1"/>
          </p:cNvSpPr>
          <p:nvPr/>
        </p:nvSpPr>
        <p:spPr bwMode="auto">
          <a:xfrm>
            <a:off x="4724400" y="2895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34" name="Rectangle 1070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072066" y="5488937"/>
            <a:ext cx="972126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1111  …1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7135" name="Rectangle 1071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072066" y="5257800"/>
            <a:ext cx="1002647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1011 … 1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7136" name="Rectangle 1072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054291" y="5029200"/>
            <a:ext cx="1017907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1001 … 0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5" name="Line 104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000364" y="3143248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Rectangle 104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143240" y="2823706"/>
            <a:ext cx="1205458" cy="6052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read/write </a:t>
            </a:r>
          </a:p>
          <a:p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control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0395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1026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09600" y="762000"/>
            <a:ext cx="7848600" cy="1270091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Memory is a large, single-dimensional array</a:t>
            </a:r>
          </a:p>
          <a:p>
            <a:r>
              <a:rPr lang="en-US" altLang="zh-CN" dirty="0" smtClean="0">
                <a:ea typeface="宋体" pitchFamily="2" charset="-122"/>
              </a:rPr>
              <a:t>A memory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address</a:t>
            </a:r>
            <a:r>
              <a:rPr lang="en-US" altLang="zh-CN" dirty="0">
                <a:ea typeface="宋体" pitchFamily="2" charset="-122"/>
              </a:rPr>
              <a:t> acts as the index into the memory array</a:t>
            </a:r>
          </a:p>
        </p:txBody>
      </p:sp>
      <p:sp>
        <p:nvSpPr>
          <p:cNvPr id="279555" name="Rectangle 1027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228600"/>
            <a:ext cx="7848600" cy="477838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>
                <a:ea typeface="宋体" pitchFamily="2" charset="-122"/>
              </a:rPr>
              <a:t>Processor – Memory Interconnections</a:t>
            </a:r>
          </a:p>
        </p:txBody>
      </p:sp>
      <p:sp>
        <p:nvSpPr>
          <p:cNvPr id="279556" name="Rectangle 102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71600" y="2971800"/>
            <a:ext cx="16002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9557" name="Rectangle 102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24400" y="2667000"/>
            <a:ext cx="1600200" cy="3048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9558" name="Rectangle 103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3733800"/>
            <a:ext cx="1244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279559" name="Rectangle 103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29200" y="2362200"/>
            <a:ext cx="1003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279560" name="Line 1032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724400" y="6019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61" name="Rectangle 103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105400" y="6096000"/>
            <a:ext cx="8001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32 bits</a:t>
            </a:r>
          </a:p>
        </p:txBody>
      </p:sp>
      <p:sp>
        <p:nvSpPr>
          <p:cNvPr id="279562" name="Line 103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972300" y="2667000"/>
            <a:ext cx="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63" name="Rectangle 103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15200" y="3733800"/>
            <a:ext cx="1028700" cy="60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?</a:t>
            </a:r>
          </a:p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locations</a:t>
            </a:r>
          </a:p>
        </p:txBody>
      </p:sp>
      <p:sp>
        <p:nvSpPr>
          <p:cNvPr id="279564" name="Line 1036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971800" y="3805238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65" name="Rectangle 103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200400" y="3500438"/>
            <a:ext cx="1168400" cy="60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read addr/</a:t>
            </a:r>
          </a:p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write addr</a:t>
            </a:r>
          </a:p>
        </p:txBody>
      </p:sp>
      <p:sp>
        <p:nvSpPr>
          <p:cNvPr id="279566" name="Line 1038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971800" y="4367209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67" name="Rectangle 103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276600" y="4062409"/>
            <a:ext cx="10922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279568" name="Rectangle 104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276600" y="4595809"/>
            <a:ext cx="1117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279569" name="Line 1041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2971800" y="4900609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1042"/>
          <p:cNvGrpSpPr>
            <a:grpSpLocks/>
          </p:cNvGrpSpPr>
          <p:nvPr>
            <p:custDataLst>
              <p:tags r:id="rId17"/>
            </p:custDataLst>
          </p:nvPr>
        </p:nvGrpSpPr>
        <p:grpSpPr bwMode="auto">
          <a:xfrm>
            <a:off x="4267200" y="3500438"/>
            <a:ext cx="533400" cy="457200"/>
            <a:chOff x="4896" y="1200"/>
            <a:chExt cx="336" cy="288"/>
          </a:xfrm>
        </p:grpSpPr>
        <p:sp>
          <p:nvSpPr>
            <p:cNvPr id="279571" name="Line 1043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9572" name="Rectangle 1044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grpSp>
        <p:nvGrpSpPr>
          <p:cNvPr id="3" name="Group 1045"/>
          <p:cNvGrpSpPr>
            <a:grpSpLocks/>
          </p:cNvGrpSpPr>
          <p:nvPr>
            <p:custDataLst>
              <p:tags r:id="rId18"/>
            </p:custDataLst>
          </p:nvPr>
        </p:nvGrpSpPr>
        <p:grpSpPr bwMode="auto">
          <a:xfrm>
            <a:off x="4267200" y="4062409"/>
            <a:ext cx="533400" cy="457200"/>
            <a:chOff x="4896" y="1200"/>
            <a:chExt cx="336" cy="288"/>
          </a:xfrm>
        </p:grpSpPr>
        <p:sp>
          <p:nvSpPr>
            <p:cNvPr id="279574" name="Line 1046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9575" name="Rectangle 1047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grpSp>
        <p:nvGrpSpPr>
          <p:cNvPr id="4" name="Group 1048"/>
          <p:cNvGrpSpPr>
            <a:grpSpLocks/>
          </p:cNvGrpSpPr>
          <p:nvPr>
            <p:custDataLst>
              <p:tags r:id="rId19"/>
            </p:custDataLst>
          </p:nvPr>
        </p:nvGrpSpPr>
        <p:grpSpPr bwMode="auto">
          <a:xfrm>
            <a:off x="2971800" y="4595809"/>
            <a:ext cx="533400" cy="457200"/>
            <a:chOff x="4896" y="1200"/>
            <a:chExt cx="336" cy="288"/>
          </a:xfrm>
        </p:grpSpPr>
        <p:sp>
          <p:nvSpPr>
            <p:cNvPr id="279577" name="Line 1049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4992" y="1344"/>
              <a:ext cx="48" cy="1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9578" name="Rectangle 1050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896" y="1200"/>
              <a:ext cx="336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 algn="ctr"/>
              <a:r>
                <a:rPr lang="en-US" altLang="zh-CN" sz="1600">
                  <a:ea typeface="宋体" pitchFamily="2" charset="-122"/>
                </a:rPr>
                <a:t>32</a:t>
              </a:r>
            </a:p>
          </p:txBody>
        </p:sp>
      </p:grpSp>
      <p:sp>
        <p:nvSpPr>
          <p:cNvPr id="279581" name="Rectangle 1053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315200" y="4419600"/>
            <a:ext cx="1600200" cy="125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2</a:t>
            </a:r>
            <a:r>
              <a:rPr lang="en-US" altLang="zh-CN" baseline="30000">
                <a:ea typeface="宋体" pitchFamily="2" charset="-122"/>
              </a:rPr>
              <a:t>32 </a:t>
            </a:r>
            <a:r>
              <a:rPr lang="en-US" altLang="zh-CN">
                <a:ea typeface="宋体" pitchFamily="2" charset="-122"/>
              </a:rPr>
              <a:t>Bytes</a:t>
            </a:r>
            <a:r>
              <a:rPr lang="en-US" altLang="zh-CN" baseline="30000">
                <a:ea typeface="宋体" pitchFamily="2" charset="-122"/>
              </a:rPr>
              <a:t>         </a:t>
            </a:r>
            <a:r>
              <a:rPr lang="en-US" altLang="zh-CN">
                <a:ea typeface="宋体" pitchFamily="2" charset="-122"/>
              </a:rPr>
              <a:t>(4 GB)</a:t>
            </a:r>
            <a:r>
              <a:rPr lang="en-US" altLang="zh-CN" baseline="30000">
                <a:ea typeface="宋体" pitchFamily="2" charset="-122"/>
              </a:rPr>
              <a:t>                </a:t>
            </a:r>
            <a:r>
              <a:rPr lang="en-US" altLang="zh-CN" baseline="30000"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baseline="300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  <a:r>
              <a:rPr lang="en-US" altLang="zh-CN" baseline="30000">
                <a:ea typeface="宋体" pitchFamily="2" charset="-122"/>
              </a:rPr>
              <a:t>30 </a:t>
            </a:r>
            <a:r>
              <a:rPr lang="en-US" altLang="zh-CN">
                <a:ea typeface="宋体" pitchFamily="2" charset="-122"/>
              </a:rPr>
              <a:t>Words     (1 GW)</a:t>
            </a:r>
          </a:p>
        </p:txBody>
      </p:sp>
      <p:sp>
        <p:nvSpPr>
          <p:cNvPr id="279582" name="Rectangle 1054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019800" y="6096000"/>
            <a:ext cx="20828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= 4 Bytes = 1 Word</a:t>
            </a:r>
          </a:p>
        </p:txBody>
      </p:sp>
      <p:sp>
        <p:nvSpPr>
          <p:cNvPr id="279583" name="Line 1055"/>
          <p:cNvSpPr>
            <a:spLocks noChangeShapeType="1"/>
          </p:cNvSpPr>
          <p:nvPr/>
        </p:nvSpPr>
        <p:spPr bwMode="auto">
          <a:xfrm>
            <a:off x="4724400" y="5486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84" name="Line 1056"/>
          <p:cNvSpPr>
            <a:spLocks noChangeShapeType="1"/>
          </p:cNvSpPr>
          <p:nvPr/>
        </p:nvSpPr>
        <p:spPr bwMode="auto">
          <a:xfrm>
            <a:off x="4724400" y="5257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85" name="Line 1057"/>
          <p:cNvSpPr>
            <a:spLocks noChangeShapeType="1"/>
          </p:cNvSpPr>
          <p:nvPr/>
        </p:nvSpPr>
        <p:spPr bwMode="auto">
          <a:xfrm>
            <a:off x="4724400" y="5029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86" name="Line 1058"/>
          <p:cNvSpPr>
            <a:spLocks noChangeShapeType="1"/>
          </p:cNvSpPr>
          <p:nvPr/>
        </p:nvSpPr>
        <p:spPr bwMode="auto">
          <a:xfrm>
            <a:off x="4724400" y="2895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590" name="Rectangle 106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324600" y="5486400"/>
            <a:ext cx="23971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279591" name="Rectangle 106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324600" y="5257800"/>
            <a:ext cx="23971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279592" name="Rectangle 106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324600" y="5029200"/>
            <a:ext cx="23971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8</a:t>
            </a:r>
          </a:p>
        </p:txBody>
      </p:sp>
      <p:sp>
        <p:nvSpPr>
          <p:cNvPr id="279593" name="Rectangle 106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905000" y="5562600"/>
            <a:ext cx="2286000" cy="66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The data stored in the memory</a:t>
            </a:r>
          </a:p>
        </p:txBody>
      </p:sp>
      <p:sp>
        <p:nvSpPr>
          <p:cNvPr id="279594" name="Rectangle 1066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781800" y="2057400"/>
            <a:ext cx="1981200" cy="9652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The </a:t>
            </a:r>
            <a:r>
              <a:rPr lang="en-US" altLang="zh-CN" sz="2000">
                <a:ea typeface="宋体" pitchFamily="2" charset="-122"/>
              </a:rPr>
              <a:t>word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address of the data</a:t>
            </a:r>
          </a:p>
        </p:txBody>
      </p:sp>
      <p:cxnSp>
        <p:nvCxnSpPr>
          <p:cNvPr id="279595" name="AutoShape 1067"/>
          <p:cNvCxnSpPr>
            <a:cxnSpLocks noChangeShapeType="1"/>
            <a:stCxn id="279593" idx="0"/>
          </p:cNvCxnSpPr>
          <p:nvPr/>
        </p:nvCxnSpPr>
        <p:spPr bwMode="auto">
          <a:xfrm rot="16200000">
            <a:off x="4012407" y="4212431"/>
            <a:ext cx="385762" cy="2314575"/>
          </a:xfrm>
          <a:prstGeom prst="curvedConnector2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</p:cxnSp>
      <p:cxnSp>
        <p:nvCxnSpPr>
          <p:cNvPr id="279596" name="AutoShape 1068"/>
          <p:cNvCxnSpPr>
            <a:cxnSpLocks noChangeShapeType="1"/>
            <a:stCxn id="279594" idx="2"/>
            <a:endCxn id="279592" idx="0"/>
          </p:cNvCxnSpPr>
          <p:nvPr/>
        </p:nvCxnSpPr>
        <p:spPr bwMode="auto">
          <a:xfrm rot="5400000">
            <a:off x="6105525" y="3362325"/>
            <a:ext cx="2006600" cy="132715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</p:cxnSp>
      <p:sp>
        <p:nvSpPr>
          <p:cNvPr id="43" name="Rectangle 1070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072066" y="5488937"/>
            <a:ext cx="972126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1111  …1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4" name="Rectangle 1071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072066" y="5257800"/>
            <a:ext cx="1002647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1011 … 1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" name="Rectangle 1072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054291" y="5029200"/>
            <a:ext cx="1017907" cy="2975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1001 … 0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6" name="Line 1042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3000364" y="3143248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Rectangle 1041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143240" y="2823706"/>
            <a:ext cx="1205458" cy="6052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read/write </a:t>
            </a:r>
          </a:p>
          <a:p>
            <a:r>
              <a:rPr lang="en-US" altLang="zh-CN" dirty="0" smtClean="0">
                <a:solidFill>
                  <a:schemeClr val="tx1"/>
                </a:solidFill>
                <a:ea typeface="宋体" pitchFamily="2" charset="-122"/>
              </a:rPr>
              <a:t>control</a:t>
            </a:r>
            <a:endParaRPr lang="en-US" altLang="zh-CN" dirty="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71358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81" grpId="0" autoUpdateAnimBg="0"/>
      <p:bldP spid="279582" grpId="0"/>
      <p:bldP spid="279593" grpId="0"/>
      <p:bldP spid="27959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1"/>
            <a:ext cx="7038996" cy="480994"/>
          </a:xfrm>
        </p:spPr>
        <p:txBody>
          <a:bodyPr/>
          <a:lstStyle/>
          <a:p>
            <a:r>
              <a:rPr lang="en-US" dirty="0" smtClean="0"/>
              <a:t>Word Addresses </a:t>
            </a:r>
            <a:r>
              <a:rPr lang="en-US" dirty="0" err="1" smtClean="0"/>
              <a:t>vs</a:t>
            </a:r>
            <a:r>
              <a:rPr lang="en-US" dirty="0" smtClean="0"/>
              <a:t> Byte </a:t>
            </a:r>
            <a:r>
              <a:rPr lang="en-US" dirty="0"/>
              <a:t>Addresses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48" y="857232"/>
            <a:ext cx="7848600" cy="3729226"/>
          </a:xfrm>
        </p:spPr>
        <p:txBody>
          <a:bodyPr/>
          <a:lstStyle/>
          <a:p>
            <a:pPr marL="287338" lvl="1" indent="-287338"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1"/>
                </a:solidFill>
              </a:rPr>
              <a:t>Alignment restriction </a:t>
            </a:r>
            <a:r>
              <a:rPr lang="en-US" sz="2400" dirty="0" smtClean="0"/>
              <a:t>- the memory address of a </a:t>
            </a:r>
            <a:r>
              <a:rPr lang="en-US" sz="2400" dirty="0" smtClean="0">
                <a:solidFill>
                  <a:schemeClr val="accent1"/>
                </a:solidFill>
              </a:rPr>
              <a:t>word</a:t>
            </a:r>
            <a:r>
              <a:rPr lang="en-US" sz="2400" dirty="0" smtClean="0"/>
              <a:t> </a:t>
            </a:r>
            <a:r>
              <a:rPr lang="en-US" sz="2400" i="1" dirty="0" smtClean="0"/>
              <a:t>must</a:t>
            </a:r>
            <a:r>
              <a:rPr lang="en-US" sz="2400" dirty="0" smtClean="0"/>
              <a:t> be on natural word boundaries (a multiple of 4 in MIPS-32)</a:t>
            </a:r>
          </a:p>
          <a:p>
            <a:pPr lvl="1"/>
            <a:r>
              <a:rPr lang="en-US" dirty="0" smtClean="0"/>
              <a:t>But since </a:t>
            </a:r>
            <a:r>
              <a:rPr lang="en-US" dirty="0"/>
              <a:t>8-bit bytes are so useful, most architectures </a:t>
            </a:r>
            <a:r>
              <a:rPr lang="en-US" dirty="0" smtClean="0"/>
              <a:t>also support addressing </a:t>
            </a:r>
            <a:r>
              <a:rPr lang="en-US" dirty="0"/>
              <a:t>individual </a:t>
            </a:r>
            <a:r>
              <a:rPr lang="en-US" dirty="0">
                <a:solidFill>
                  <a:schemeClr val="accent1"/>
                </a:solidFill>
              </a:rPr>
              <a:t>bytes</a:t>
            </a:r>
            <a:r>
              <a:rPr lang="en-US" dirty="0"/>
              <a:t> in memory</a:t>
            </a:r>
          </a:p>
          <a:p>
            <a:r>
              <a:rPr lang="en-US" dirty="0" smtClean="0">
                <a:solidFill>
                  <a:srgbClr val="00B7A5"/>
                </a:solidFill>
              </a:rPr>
              <a:t>Big </a:t>
            </a:r>
            <a:r>
              <a:rPr lang="en-US" dirty="0" err="1">
                <a:solidFill>
                  <a:srgbClr val="00B7A5"/>
                </a:solidFill>
              </a:rPr>
              <a:t>Endian</a:t>
            </a:r>
            <a:r>
              <a:rPr lang="en-US" dirty="0">
                <a:solidFill>
                  <a:srgbClr val="00B7A5"/>
                </a:solidFill>
              </a:rPr>
              <a:t>:</a:t>
            </a:r>
            <a:r>
              <a:rPr lang="en-US" dirty="0"/>
              <a:t>	 leftmost byte is word address</a:t>
            </a:r>
          </a:p>
          <a:p>
            <a:pPr lvl="2">
              <a:buFontTx/>
              <a:buNone/>
            </a:pPr>
            <a:r>
              <a:rPr lang="en-US" dirty="0"/>
              <a:t> IBM 360/370, Motorola 68k, </a:t>
            </a:r>
            <a:r>
              <a:rPr lang="en-US" dirty="0">
                <a:solidFill>
                  <a:schemeClr val="accent1"/>
                </a:solidFill>
              </a:rPr>
              <a:t>MIPS</a:t>
            </a:r>
            <a:r>
              <a:rPr lang="en-US" dirty="0"/>
              <a:t>, </a:t>
            </a:r>
            <a:r>
              <a:rPr lang="en-US" dirty="0" err="1"/>
              <a:t>Sparc</a:t>
            </a:r>
            <a:r>
              <a:rPr lang="en-US" dirty="0"/>
              <a:t>, HP PA</a:t>
            </a:r>
            <a:endParaRPr lang="en-US" sz="2000" dirty="0"/>
          </a:p>
          <a:p>
            <a:r>
              <a:rPr lang="en-US" dirty="0">
                <a:solidFill>
                  <a:schemeClr val="accent1"/>
                </a:solidFill>
              </a:rPr>
              <a:t>Little </a:t>
            </a:r>
            <a:r>
              <a:rPr lang="en-US" dirty="0" err="1">
                <a:solidFill>
                  <a:schemeClr val="accent1"/>
                </a:solidFill>
              </a:rPr>
              <a:t>Endian</a:t>
            </a:r>
            <a:r>
              <a:rPr lang="en-US" dirty="0"/>
              <a:t>:	rightmost byte is word address</a:t>
            </a:r>
          </a:p>
          <a:p>
            <a:pPr lvl="2">
              <a:buFontTx/>
              <a:buNone/>
            </a:pPr>
            <a:r>
              <a:rPr lang="en-US" dirty="0"/>
              <a:t>Intel 80x86, DEC </a:t>
            </a:r>
            <a:r>
              <a:rPr lang="en-US" dirty="0" err="1"/>
              <a:t>Vax</a:t>
            </a:r>
            <a:r>
              <a:rPr lang="en-US" dirty="0"/>
              <a:t>, DEC Alpha (Windows NT)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71600" y="4706957"/>
            <a:ext cx="5930900" cy="1579563"/>
            <a:chOff x="816" y="1632"/>
            <a:chExt cx="3736" cy="995"/>
          </a:xfrm>
        </p:grpSpPr>
        <p:sp>
          <p:nvSpPr>
            <p:cNvPr id="594949" name="Rectangle 5"/>
            <p:cNvSpPr>
              <a:spLocks noChangeArrowheads="1"/>
            </p:cNvSpPr>
            <p:nvPr/>
          </p:nvSpPr>
          <p:spPr bwMode="auto">
            <a:xfrm>
              <a:off x="1728" y="1968"/>
              <a:ext cx="1960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950" name="Line 6"/>
            <p:cNvSpPr>
              <a:spLocks noChangeShapeType="1"/>
            </p:cNvSpPr>
            <p:nvPr/>
          </p:nvSpPr>
          <p:spPr bwMode="auto">
            <a:xfrm>
              <a:off x="2688" y="1968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951" name="Line 7"/>
            <p:cNvSpPr>
              <a:spLocks noChangeShapeType="1"/>
            </p:cNvSpPr>
            <p:nvPr/>
          </p:nvSpPr>
          <p:spPr bwMode="auto">
            <a:xfrm>
              <a:off x="2208" y="1968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952" name="Line 8"/>
            <p:cNvSpPr>
              <a:spLocks noChangeShapeType="1"/>
            </p:cNvSpPr>
            <p:nvPr/>
          </p:nvSpPr>
          <p:spPr bwMode="auto">
            <a:xfrm>
              <a:off x="3168" y="1968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953" name="Rectangle 9"/>
            <p:cNvSpPr>
              <a:spLocks noChangeArrowheads="1"/>
            </p:cNvSpPr>
            <p:nvPr/>
          </p:nvSpPr>
          <p:spPr bwMode="auto">
            <a:xfrm>
              <a:off x="1248" y="2016"/>
              <a:ext cx="37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msb</a:t>
              </a:r>
            </a:p>
          </p:txBody>
        </p:sp>
        <p:sp>
          <p:nvSpPr>
            <p:cNvPr id="594954" name="Rectangle 10"/>
            <p:cNvSpPr>
              <a:spLocks noChangeArrowheads="1"/>
            </p:cNvSpPr>
            <p:nvPr/>
          </p:nvSpPr>
          <p:spPr bwMode="auto">
            <a:xfrm>
              <a:off x="3792" y="2016"/>
              <a:ext cx="28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lsb</a:t>
              </a:r>
            </a:p>
          </p:txBody>
        </p:sp>
        <p:sp>
          <p:nvSpPr>
            <p:cNvPr id="594955" name="Rectangle 11"/>
            <p:cNvSpPr>
              <a:spLocks noChangeArrowheads="1"/>
            </p:cNvSpPr>
            <p:nvPr/>
          </p:nvSpPr>
          <p:spPr bwMode="auto">
            <a:xfrm>
              <a:off x="1920" y="1789"/>
              <a:ext cx="16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/>
                <a:t>3          2          1           0</a:t>
              </a:r>
            </a:p>
          </p:txBody>
        </p:sp>
        <p:sp>
          <p:nvSpPr>
            <p:cNvPr id="594956" name="Rectangle 12"/>
            <p:cNvSpPr>
              <a:spLocks noChangeArrowheads="1"/>
            </p:cNvSpPr>
            <p:nvPr/>
          </p:nvSpPr>
          <p:spPr bwMode="auto">
            <a:xfrm>
              <a:off x="3216" y="1632"/>
              <a:ext cx="1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 i="1"/>
                <a:t>little endian byte 0</a:t>
              </a: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816" y="2256"/>
              <a:ext cx="2696" cy="371"/>
              <a:chOff x="336" y="2688"/>
              <a:chExt cx="2696" cy="371"/>
            </a:xfrm>
          </p:grpSpPr>
          <p:sp>
            <p:nvSpPr>
              <p:cNvPr id="594958" name="Rectangle 14"/>
              <p:cNvSpPr>
                <a:spLocks noChangeArrowheads="1"/>
              </p:cNvSpPr>
              <p:nvPr/>
            </p:nvSpPr>
            <p:spPr bwMode="auto">
              <a:xfrm>
                <a:off x="1392" y="2688"/>
                <a:ext cx="1640" cy="17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b="1">
                    <a:solidFill>
                      <a:srgbClr val="00B7A5"/>
                    </a:solidFill>
                  </a:rPr>
                  <a:t>0          1          2           3</a:t>
                </a:r>
              </a:p>
            </p:txBody>
          </p:sp>
          <p:sp>
            <p:nvSpPr>
              <p:cNvPr id="594959" name="Rectangle 15"/>
              <p:cNvSpPr>
                <a:spLocks noChangeArrowheads="1"/>
              </p:cNvSpPr>
              <p:nvPr/>
            </p:nvSpPr>
            <p:spPr bwMode="auto">
              <a:xfrm>
                <a:off x="336" y="2880"/>
                <a:ext cx="1264" cy="17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b="1" i="1">
                    <a:solidFill>
                      <a:srgbClr val="00B7A5"/>
                    </a:solidFill>
                  </a:rPr>
                  <a:t>big endian byte 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722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33400" y="762000"/>
            <a:ext cx="8229600" cy="5703888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has two basic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data transfer</a:t>
            </a:r>
            <a:r>
              <a:rPr lang="en-US" altLang="zh-CN">
                <a:ea typeface="宋体" pitchFamily="2" charset="-122"/>
              </a:rPr>
              <a:t> instructions for accessing memory (assume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>
                <a:ea typeface="宋体" pitchFamily="2" charset="-122"/>
              </a:rPr>
              <a:t> holds 24</a:t>
            </a:r>
            <a:r>
              <a:rPr lang="en-US" altLang="zh-CN" baseline="-25000">
                <a:ea typeface="宋体" pitchFamily="2" charset="-122"/>
              </a:rPr>
              <a:t>10</a:t>
            </a:r>
            <a:r>
              <a:rPr lang="en-US" altLang="zh-CN">
                <a:ea typeface="宋体" pitchFamily="2" charset="-122"/>
              </a:rPr>
              <a:t>)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lw	$t0, 4($s3)  #load word from memory</a:t>
            </a:r>
          </a:p>
          <a:p>
            <a:pPr algn="ctr">
              <a:buFont typeface="Wingdings" pitchFamily="2" charset="2"/>
              <a:buNone/>
            </a:pPr>
            <a:endParaRPr lang="en-US" altLang="zh-CN" sz="1000">
              <a:latin typeface="Courier New" pitchFamily="49" charset="0"/>
              <a:ea typeface="宋体" pitchFamily="2" charset="-122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sw	$t0, 8($s3)  #store word to  memory</a:t>
            </a:r>
          </a:p>
          <a:p>
            <a:pPr lvl="2"/>
            <a:endParaRPr lang="en-US" altLang="zh-CN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The data transfer instruction must specify</a:t>
            </a:r>
          </a:p>
          <a:p>
            <a:pPr lvl="1"/>
            <a:r>
              <a:rPr lang="en-US" altLang="zh-CN">
                <a:ea typeface="宋体" pitchFamily="2" charset="-122"/>
              </a:rPr>
              <a:t>where in memory to read from (load) or write to (store) –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memory address</a:t>
            </a:r>
          </a:p>
          <a:p>
            <a:pPr lvl="1"/>
            <a:r>
              <a:rPr lang="en-US" altLang="zh-CN">
                <a:ea typeface="宋体" pitchFamily="2" charset="-122"/>
              </a:rPr>
              <a:t>where in the register file to write to (load) or read from (store) –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register destination (source)</a:t>
            </a:r>
          </a:p>
          <a:p>
            <a:r>
              <a:rPr lang="en-US" altLang="zh-CN">
                <a:ea typeface="宋体" pitchFamily="2" charset="-122"/>
              </a:rPr>
              <a:t>The memory address is formed by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summing the constant portion of the instruction and the contents of the second register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Accessing Memory</a:t>
            </a:r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2136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33400" y="762000"/>
            <a:ext cx="8229600" cy="5703888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has two basic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data transfer</a:t>
            </a:r>
            <a:r>
              <a:rPr lang="en-US" altLang="zh-CN">
                <a:ea typeface="宋体" pitchFamily="2" charset="-122"/>
              </a:rPr>
              <a:t> instructions for accessing memory (assume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>
                <a:ea typeface="宋体" pitchFamily="2" charset="-122"/>
              </a:rPr>
              <a:t> holds 24</a:t>
            </a:r>
            <a:r>
              <a:rPr lang="en-US" altLang="zh-CN" baseline="-25000">
                <a:ea typeface="宋体" pitchFamily="2" charset="-122"/>
              </a:rPr>
              <a:t>10</a:t>
            </a:r>
            <a:r>
              <a:rPr lang="en-US" altLang="zh-CN">
                <a:ea typeface="宋体" pitchFamily="2" charset="-122"/>
              </a:rPr>
              <a:t>)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lw	$t0, 4($s3)  #load word from memory</a:t>
            </a:r>
          </a:p>
          <a:p>
            <a:pPr algn="ctr">
              <a:buFont typeface="Wingdings" pitchFamily="2" charset="2"/>
              <a:buNone/>
            </a:pPr>
            <a:endParaRPr lang="en-US" altLang="zh-CN" sz="1000">
              <a:latin typeface="Courier New" pitchFamily="49" charset="0"/>
              <a:ea typeface="宋体" pitchFamily="2" charset="-122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sw	$t0, 8($s3)  #store word to  memory</a:t>
            </a:r>
          </a:p>
          <a:p>
            <a:pPr lvl="2"/>
            <a:endParaRPr lang="en-US" altLang="zh-CN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The data transfer instruction must specify</a:t>
            </a:r>
          </a:p>
          <a:p>
            <a:pPr lvl="1"/>
            <a:r>
              <a:rPr lang="en-US" altLang="zh-CN">
                <a:ea typeface="宋体" pitchFamily="2" charset="-122"/>
              </a:rPr>
              <a:t>where in memory to read from (load) or write to (store) –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memory address</a:t>
            </a:r>
          </a:p>
          <a:p>
            <a:pPr lvl="1"/>
            <a:r>
              <a:rPr lang="en-US" altLang="zh-CN">
                <a:ea typeface="宋体" pitchFamily="2" charset="-122"/>
              </a:rPr>
              <a:t>where in the register file to write to (load) or read from (store) –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register destination (source)</a:t>
            </a:r>
          </a:p>
          <a:p>
            <a:r>
              <a:rPr lang="en-US" altLang="zh-CN">
                <a:ea typeface="宋体" pitchFamily="2" charset="-122"/>
              </a:rPr>
              <a:t>The memory address is formed by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summing the constant portion of the instruction and the contents of the second register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Accessing Memory</a:t>
            </a:r>
            <a:endParaRPr lang="en-US">
              <a:ea typeface="宋体" pitchFamily="2" charset="-122"/>
            </a:endParaRPr>
          </a:p>
        </p:txBody>
      </p:sp>
      <p:sp>
        <p:nvSpPr>
          <p:cNvPr id="33485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57600" y="1946275"/>
            <a:ext cx="842962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28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宋体" pitchFamily="2" charset="-122"/>
              </a:rPr>
              <a:t>10</a:t>
            </a:r>
            <a:endParaRPr lang="en-US" altLang="zh-CN" sz="2400" baseline="-25000" dirty="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33485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57600" y="2590800"/>
            <a:ext cx="985838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32</a:t>
            </a:r>
            <a:r>
              <a:rPr lang="en-US" altLang="zh-CN" sz="2400" baseline="-25000" dirty="0" smtClean="0">
                <a:solidFill>
                  <a:schemeClr val="accent2"/>
                </a:solidFill>
                <a:ea typeface="宋体" pitchFamily="2" charset="-122"/>
              </a:rPr>
              <a:t>10</a:t>
            </a:r>
            <a:endParaRPr lang="en-US" altLang="zh-CN" sz="2400" baseline="-25000" dirty="0">
              <a:solidFill>
                <a:schemeClr val="accent2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965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2" grpId="0" autoUpdateAnimBg="0"/>
      <p:bldP spid="33485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4516438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Memory Addressing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685800"/>
            <a:ext cx="8153400" cy="5738813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The memory address is formed by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summing the constant portion of the instruction and the contents of the second (base) register</a:t>
            </a: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>
              <a:solidFill>
                <a:schemeClr val="accent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lw	$t0, 4($s3)  #what? is loaded into $t0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>
                <a:latin typeface="Courier New" pitchFamily="49" charset="0"/>
                <a:ea typeface="宋体" pitchFamily="2" charset="-122"/>
              </a:rPr>
              <a:t>sw	$t0, 8($s3)  #$t0 is stored where?</a:t>
            </a:r>
            <a:endParaRPr lang="en-US" altLang="zh-CN" sz="2400">
              <a:ea typeface="宋体" pitchFamily="2" charset="-122"/>
            </a:endParaRPr>
          </a:p>
        </p:txBody>
      </p:sp>
      <p:grpSp>
        <p:nvGrpSpPr>
          <p:cNvPr id="2" name="Group 30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895600" y="2057400"/>
            <a:ext cx="4851400" cy="2951163"/>
            <a:chOff x="1776" y="1248"/>
            <a:chExt cx="3056" cy="1859"/>
          </a:xfrm>
        </p:grpSpPr>
        <p:sp>
          <p:nvSpPr>
            <p:cNvPr id="174084" name="Rectangl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48" y="1248"/>
              <a:ext cx="1296" cy="16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085" name="Line 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2448" y="268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86" name="Line 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2448" y="244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88" name="Line 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2448" y="220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89" name="Line 9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448" y="196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90" name="Line 1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448" y="172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91" name="Line 1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2448" y="148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092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76" y="1392"/>
              <a:ext cx="60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Memory</a:t>
              </a:r>
            </a:p>
          </p:txBody>
        </p:sp>
        <p:sp>
          <p:nvSpPr>
            <p:cNvPr id="174093" name="Rectangle 1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832" y="273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0 0</a:t>
              </a:r>
            </a:p>
          </p:txBody>
        </p:sp>
        <p:sp>
          <p:nvSpPr>
            <p:cNvPr id="174094" name="Rectangle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80" y="2928"/>
              <a:ext cx="384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Data</a:t>
              </a:r>
            </a:p>
          </p:txBody>
        </p:sp>
        <p:sp>
          <p:nvSpPr>
            <p:cNvPr id="174095" name="Rectangl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840" y="2928"/>
              <a:ext cx="99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Word Address</a:t>
              </a:r>
            </a:p>
          </p:txBody>
        </p:sp>
        <p:sp>
          <p:nvSpPr>
            <p:cNvPr id="174096" name="Rectangle 1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840" y="273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174097" name="Rectangle 1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40" y="249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</a:t>
              </a:r>
            </a:p>
          </p:txBody>
        </p:sp>
        <p:sp>
          <p:nvSpPr>
            <p:cNvPr id="174098" name="Rectangle 18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840" y="225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174099" name="Rectangle 1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840" y="201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12</a:t>
              </a:r>
            </a:p>
          </p:txBody>
        </p:sp>
        <p:sp>
          <p:nvSpPr>
            <p:cNvPr id="174100" name="Rectangle 20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40" y="177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16</a:t>
              </a:r>
            </a:p>
          </p:txBody>
        </p:sp>
        <p:sp>
          <p:nvSpPr>
            <p:cNvPr id="174101" name="Rectangle 21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840" y="153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</a:p>
          </p:txBody>
        </p:sp>
        <p:sp>
          <p:nvSpPr>
            <p:cNvPr id="174102" name="Rectangle 22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840" y="129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24</a:t>
              </a:r>
            </a:p>
          </p:txBody>
        </p:sp>
        <p:sp>
          <p:nvSpPr>
            <p:cNvPr id="174103" name="Rectangle 23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832" y="249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1 0 0 0</a:t>
              </a:r>
            </a:p>
          </p:txBody>
        </p:sp>
        <p:sp>
          <p:nvSpPr>
            <p:cNvPr id="174104" name="Rectangle 24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832" y="225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0 1 0</a:t>
              </a:r>
            </a:p>
          </p:txBody>
        </p:sp>
        <p:sp>
          <p:nvSpPr>
            <p:cNvPr id="174105" name="Rectangle 2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832" y="201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0 0 1</a:t>
              </a:r>
            </a:p>
          </p:txBody>
        </p:sp>
        <p:sp>
          <p:nvSpPr>
            <p:cNvPr id="174106" name="Rectangle 26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832" y="177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1 1 0 0</a:t>
              </a:r>
            </a:p>
          </p:txBody>
        </p:sp>
        <p:sp>
          <p:nvSpPr>
            <p:cNvPr id="174107" name="Rectangle 27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832" y="153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0 1</a:t>
              </a:r>
            </a:p>
          </p:txBody>
        </p:sp>
        <p:sp>
          <p:nvSpPr>
            <p:cNvPr id="174108" name="Rectangle 28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832" y="129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1 0</a:t>
              </a:r>
            </a:p>
          </p:txBody>
        </p:sp>
      </p:grpSp>
      <p:sp>
        <p:nvSpPr>
          <p:cNvPr id="174109" name="Rectangle 2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2000" y="2133600"/>
            <a:ext cx="1743075" cy="361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holds 8</a:t>
            </a:r>
          </a:p>
        </p:txBody>
      </p:sp>
    </p:spTree>
    <p:extLst>
      <p:ext uri="{BB962C8B-B14F-4D97-AF65-F5344CB8AC3E}">
        <p14:creationId xmlns:p14="http://schemas.microsoft.com/office/powerpoint/2010/main" val="11168440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4516438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MIPS Memory Addressing</a:t>
            </a:r>
          </a:p>
        </p:txBody>
      </p:sp>
      <p:sp>
        <p:nvSpPr>
          <p:cNvPr id="282627" name="Rectangle 1027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685800"/>
            <a:ext cx="8153400" cy="573881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The memory address is formed by 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summing the constant portion of the instruction and the contents of the second (base) register</a:t>
            </a:r>
          </a:p>
          <a:p>
            <a:endParaRPr lang="en-US" altLang="zh-CN" dirty="0">
              <a:solidFill>
                <a:schemeClr val="accent2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endParaRPr lang="en-US" altLang="zh-CN" dirty="0">
              <a:solidFill>
                <a:schemeClr val="accent1"/>
              </a:solidFill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4($s3)  #what? is loaded into $t0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8($s3)  #$t0 is stored where?</a:t>
            </a:r>
            <a:endParaRPr lang="en-US" altLang="zh-CN" sz="2400" dirty="0">
              <a:ea typeface="宋体" pitchFamily="2" charset="-122"/>
            </a:endParaRPr>
          </a:p>
        </p:txBody>
      </p:sp>
      <p:grpSp>
        <p:nvGrpSpPr>
          <p:cNvPr id="2" name="Group 1028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819400" y="2057400"/>
            <a:ext cx="4851400" cy="2951163"/>
            <a:chOff x="1776" y="1248"/>
            <a:chExt cx="3056" cy="1859"/>
          </a:xfrm>
        </p:grpSpPr>
        <p:sp>
          <p:nvSpPr>
            <p:cNvPr id="282629" name="Rectangle 102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48" y="1248"/>
              <a:ext cx="1296" cy="16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30" name="Line 103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2448" y="268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1" name="Line 103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448" y="244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2" name="Line 103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448" y="220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3" name="Line 103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448" y="196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4" name="Line 103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448" y="172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5" name="Line 103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2448" y="148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636" name="Rectangle 103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76" y="1392"/>
              <a:ext cx="60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Memory</a:t>
              </a:r>
            </a:p>
          </p:txBody>
        </p:sp>
        <p:sp>
          <p:nvSpPr>
            <p:cNvPr id="282637" name="Rectangle 103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832" y="273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0 0</a:t>
              </a:r>
            </a:p>
          </p:txBody>
        </p:sp>
        <p:sp>
          <p:nvSpPr>
            <p:cNvPr id="282638" name="Rectangle 103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880" y="2928"/>
              <a:ext cx="77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32 bit Data</a:t>
              </a:r>
            </a:p>
          </p:txBody>
        </p:sp>
        <p:sp>
          <p:nvSpPr>
            <p:cNvPr id="282639" name="Rectangle 1039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40" y="2928"/>
              <a:ext cx="99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Word Address</a:t>
              </a:r>
            </a:p>
          </p:txBody>
        </p:sp>
        <p:sp>
          <p:nvSpPr>
            <p:cNvPr id="282640" name="Rectangle 1040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840" y="273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282641" name="Rectangle 1041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840" y="249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</a:t>
              </a:r>
            </a:p>
          </p:txBody>
        </p:sp>
        <p:sp>
          <p:nvSpPr>
            <p:cNvPr id="282642" name="Rectangle 1042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840" y="2256"/>
              <a:ext cx="1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282643" name="Rectangle 1043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840" y="201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12</a:t>
              </a:r>
            </a:p>
          </p:txBody>
        </p:sp>
        <p:sp>
          <p:nvSpPr>
            <p:cNvPr id="282644" name="Rectangle 1044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840" y="177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16</a:t>
              </a:r>
            </a:p>
          </p:txBody>
        </p:sp>
        <p:sp>
          <p:nvSpPr>
            <p:cNvPr id="282645" name="Rectangle 104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840" y="153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20</a:t>
              </a:r>
            </a:p>
          </p:txBody>
        </p:sp>
        <p:sp>
          <p:nvSpPr>
            <p:cNvPr id="282646" name="Rectangle 1046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840" y="1296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24</a:t>
              </a:r>
            </a:p>
          </p:txBody>
        </p:sp>
        <p:sp>
          <p:nvSpPr>
            <p:cNvPr id="282647" name="Rectangle 1047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832" y="249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1 0 0 0</a:t>
              </a:r>
            </a:p>
          </p:txBody>
        </p:sp>
        <p:sp>
          <p:nvSpPr>
            <p:cNvPr id="282648" name="Rectangle 1048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32" y="225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0 1 0</a:t>
              </a:r>
            </a:p>
          </p:txBody>
        </p:sp>
        <p:sp>
          <p:nvSpPr>
            <p:cNvPr id="282649" name="Rectangle 1049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832" y="201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0 0 1</a:t>
              </a:r>
            </a:p>
          </p:txBody>
        </p:sp>
        <p:sp>
          <p:nvSpPr>
            <p:cNvPr id="282650" name="Rectangle 1050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832" y="177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1 1 0 0</a:t>
              </a:r>
            </a:p>
          </p:txBody>
        </p:sp>
        <p:sp>
          <p:nvSpPr>
            <p:cNvPr id="282651" name="Rectangle 1051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832" y="153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0 1</a:t>
              </a:r>
            </a:p>
          </p:txBody>
        </p:sp>
        <p:sp>
          <p:nvSpPr>
            <p:cNvPr id="282652" name="Rectangle 1052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832" y="1296"/>
              <a:ext cx="76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 0 1 1 0</a:t>
              </a:r>
            </a:p>
          </p:txBody>
        </p:sp>
      </p:grpSp>
      <p:sp>
        <p:nvSpPr>
          <p:cNvPr id="282653" name="Rectangle 105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2133600"/>
            <a:ext cx="1743075" cy="361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 holds 8</a:t>
            </a:r>
          </a:p>
        </p:txBody>
      </p:sp>
      <p:sp>
        <p:nvSpPr>
          <p:cNvPr id="282655" name="Rectangle 105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14942" y="6000768"/>
            <a:ext cx="3141886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in 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memory location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16</a:t>
            </a:r>
          </a:p>
        </p:txBody>
      </p:sp>
      <p:grpSp>
        <p:nvGrpSpPr>
          <p:cNvPr id="3" name="Group 1057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676400" y="3000372"/>
            <a:ext cx="3048000" cy="660400"/>
            <a:chOff x="1440" y="1728"/>
            <a:chExt cx="1920" cy="416"/>
          </a:xfrm>
        </p:grpSpPr>
        <p:sp>
          <p:nvSpPr>
            <p:cNvPr id="282654" name="Rectangle 105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440" y="1920"/>
              <a:ext cx="700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ea typeface="宋体" pitchFamily="2" charset="-122"/>
                </a:rPr>
                <a:t>. . . 0001</a:t>
              </a:r>
            </a:p>
          </p:txBody>
        </p:sp>
        <p:sp>
          <p:nvSpPr>
            <p:cNvPr id="282656" name="Line 1056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2112" y="1728"/>
              <a:ext cx="1248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2658" name="Rectangle 105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572396" y="4857760"/>
            <a:ext cx="1311275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. . . 0001</a:t>
            </a:r>
          </a:p>
        </p:txBody>
      </p:sp>
    </p:spTree>
    <p:extLst>
      <p:ext uri="{BB962C8B-B14F-4D97-AF65-F5344CB8AC3E}">
        <p14:creationId xmlns:p14="http://schemas.microsoft.com/office/powerpoint/2010/main" val="4727294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55" grpId="0" autoUpdateAnimBg="0"/>
      <p:bldP spid="28265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5761038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with Loads and Stores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163942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Assuming variable </a:t>
            </a:r>
            <a:r>
              <a:rPr lang="en-US" altLang="zh-CN" dirty="0">
                <a:latin typeface="Helvetica" pitchFamily="34" charset="0"/>
                <a:ea typeface="宋体" pitchFamily="2" charset="-122"/>
              </a:rPr>
              <a:t>b</a:t>
            </a:r>
            <a:r>
              <a:rPr lang="en-US" altLang="zh-CN" dirty="0">
                <a:ea typeface="宋体" pitchFamily="2" charset="-122"/>
              </a:rPr>
              <a:t> is stored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 dirty="0">
                <a:ea typeface="宋体" pitchFamily="2" charset="-122"/>
              </a:rPr>
              <a:t> and that the base address of array A is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dirty="0">
                <a:ea typeface="宋体" pitchFamily="2" charset="-122"/>
              </a:rPr>
              <a:t>, what is the </a:t>
            </a:r>
            <a:r>
              <a:rPr lang="en-US" altLang="zh-CN" dirty="0" smtClean="0">
                <a:ea typeface="宋体" pitchFamily="2" charset="-122"/>
              </a:rPr>
              <a:t>three statement MIPS </a:t>
            </a:r>
            <a:r>
              <a:rPr lang="en-US" altLang="zh-CN" dirty="0">
                <a:ea typeface="宋体" pitchFamily="2" charset="-122"/>
              </a:rPr>
              <a:t>assembly code for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A[8] = A[2] - b</a:t>
            </a:r>
          </a:p>
        </p:txBody>
      </p:sp>
      <p:grpSp>
        <p:nvGrpSpPr>
          <p:cNvPr id="2" name="Group 38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09600" y="2667000"/>
            <a:ext cx="2219325" cy="1905000"/>
            <a:chOff x="3600" y="2256"/>
            <a:chExt cx="1398" cy="1200"/>
          </a:xfrm>
        </p:grpSpPr>
        <p:sp>
          <p:nvSpPr>
            <p:cNvPr id="190469" name="Rectangle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600" y="2256"/>
              <a:ext cx="576" cy="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470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600" y="321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71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60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72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600" y="273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73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600" y="249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80" name="Rectangle 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16" y="3264"/>
              <a:ext cx="33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</a:p>
          </p:txBody>
        </p:sp>
        <p:sp>
          <p:nvSpPr>
            <p:cNvPr id="190481" name="Rectangle 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16" y="302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+4</a:t>
              </a:r>
            </a:p>
          </p:txBody>
        </p:sp>
        <p:sp>
          <p:nvSpPr>
            <p:cNvPr id="190482" name="Rectangle 1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16" y="278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+8</a:t>
              </a:r>
            </a:p>
          </p:txBody>
        </p:sp>
        <p:sp>
          <p:nvSpPr>
            <p:cNvPr id="190483" name="Rectangle 1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16" y="2544"/>
              <a:ext cx="58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+12</a:t>
              </a:r>
            </a:p>
          </p:txBody>
        </p:sp>
        <p:sp>
          <p:nvSpPr>
            <p:cNvPr id="190484" name="Rectangle 20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12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190488" name="Rectangle 2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744" y="278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A[2]</a:t>
              </a:r>
            </a:p>
          </p:txBody>
        </p:sp>
        <p:sp>
          <p:nvSpPr>
            <p:cNvPr id="190493" name="Rectangle 2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44" y="254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A[3]</a:t>
              </a:r>
            </a:p>
          </p:txBody>
        </p:sp>
        <p:sp>
          <p:nvSpPr>
            <p:cNvPr id="190494" name="Rectangle 3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744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190496" name="Rectangle 32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44" y="302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A[1]</a:t>
              </a:r>
            </a:p>
          </p:txBody>
        </p:sp>
        <p:sp>
          <p:nvSpPr>
            <p:cNvPr id="190497" name="Rectangle 3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44" y="326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A[0]</a:t>
              </a:r>
            </a:p>
          </p:txBody>
        </p:sp>
        <p:sp>
          <p:nvSpPr>
            <p:cNvPr id="190498" name="Line 34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4176" y="33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499" name="Line 3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4176" y="312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500" name="Line 3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4176" y="288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501" name="Line 37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4176" y="264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69231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5761038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with Loads and Stores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1639423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Assuming variable </a:t>
            </a:r>
            <a:r>
              <a:rPr lang="en-US" altLang="zh-CN" dirty="0">
                <a:latin typeface="Helvetica" pitchFamily="34" charset="0"/>
                <a:ea typeface="宋体" pitchFamily="2" charset="-122"/>
              </a:rPr>
              <a:t>b</a:t>
            </a:r>
            <a:r>
              <a:rPr lang="en-US" altLang="zh-CN" dirty="0">
                <a:ea typeface="宋体" pitchFamily="2" charset="-122"/>
              </a:rPr>
              <a:t> is stored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 dirty="0">
                <a:ea typeface="宋体" pitchFamily="2" charset="-122"/>
              </a:rPr>
              <a:t> and that the base address of array A is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dirty="0">
                <a:ea typeface="宋体" pitchFamily="2" charset="-122"/>
              </a:rPr>
              <a:t>, what is the </a:t>
            </a:r>
            <a:r>
              <a:rPr lang="en-US" altLang="zh-CN" dirty="0" smtClean="0">
                <a:ea typeface="宋体" pitchFamily="2" charset="-122"/>
              </a:rPr>
              <a:t>three statement MIPS </a:t>
            </a:r>
            <a:r>
              <a:rPr lang="en-US" altLang="zh-CN" dirty="0">
                <a:ea typeface="宋体" pitchFamily="2" charset="-122"/>
              </a:rPr>
              <a:t>assembly code for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A[8] = A[2] - b</a:t>
            </a: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09600" y="2667000"/>
            <a:ext cx="2219325" cy="1905000"/>
            <a:chOff x="3600" y="2256"/>
            <a:chExt cx="1398" cy="1200"/>
          </a:xfrm>
        </p:grpSpPr>
        <p:sp>
          <p:nvSpPr>
            <p:cNvPr id="284677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00" y="2256"/>
              <a:ext cx="576" cy="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78" name="Line 6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600" y="321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79" name="Line 7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60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80" name="Line 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600" y="273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81" name="Line 9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600" y="249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82" name="Rectangle 1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16" y="3264"/>
              <a:ext cx="33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</a:p>
          </p:txBody>
        </p:sp>
        <p:sp>
          <p:nvSpPr>
            <p:cNvPr id="284683" name="Rectangle 1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16" y="302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+4</a:t>
              </a:r>
            </a:p>
          </p:txBody>
        </p:sp>
        <p:sp>
          <p:nvSpPr>
            <p:cNvPr id="284684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16" y="278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+8</a:t>
              </a:r>
            </a:p>
          </p:txBody>
        </p:sp>
        <p:sp>
          <p:nvSpPr>
            <p:cNvPr id="284685" name="Rectangle 1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16" y="2544"/>
              <a:ext cx="58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$s3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+12</a:t>
              </a:r>
            </a:p>
          </p:txBody>
        </p:sp>
        <p:sp>
          <p:nvSpPr>
            <p:cNvPr id="284686" name="Rectangle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512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284687" name="Rectangl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44" y="278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A[2]</a:t>
              </a:r>
            </a:p>
          </p:txBody>
        </p:sp>
        <p:sp>
          <p:nvSpPr>
            <p:cNvPr id="284688" name="Rectangle 1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744" y="254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A[3]</a:t>
              </a:r>
            </a:p>
          </p:txBody>
        </p:sp>
        <p:sp>
          <p:nvSpPr>
            <p:cNvPr id="284689" name="Rectangle 1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44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284690" name="Rectangle 18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44" y="302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A[1]</a:t>
              </a:r>
            </a:p>
          </p:txBody>
        </p:sp>
        <p:sp>
          <p:nvSpPr>
            <p:cNvPr id="284691" name="Rectangle 1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44" y="326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A[0]</a:t>
              </a:r>
            </a:p>
          </p:txBody>
        </p:sp>
        <p:sp>
          <p:nvSpPr>
            <p:cNvPr id="284692" name="Line 2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4176" y="33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93" name="Line 2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4176" y="312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94" name="Line 22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4176" y="288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4695" name="Line 2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4176" y="264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4696" name="Rectangle 2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0" y="3962400"/>
            <a:ext cx="3886200" cy="151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dirty="0" err="1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	$t0, 8($s3)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sub	$t0, $t0, $s2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dirty="0" err="1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	$t0, 32($s3)</a:t>
            </a:r>
          </a:p>
        </p:txBody>
      </p:sp>
    </p:spTree>
    <p:extLst>
      <p:ext uri="{BB962C8B-B14F-4D97-AF65-F5344CB8AC3E}">
        <p14:creationId xmlns:p14="http://schemas.microsoft.com/office/powerpoint/2010/main" val="1577221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9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6511925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with a Variable Array Index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819400" y="914400"/>
            <a:ext cx="6019800" cy="2378087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Assuming that the base address of array A is in register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$s4</a:t>
            </a:r>
            <a:r>
              <a:rPr lang="en-US" altLang="zh-CN" dirty="0">
                <a:ea typeface="宋体" pitchFamily="2" charset="-122"/>
              </a:rPr>
              <a:t>, and variables b, c, and </a:t>
            </a:r>
            <a:r>
              <a:rPr lang="en-US" altLang="zh-CN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 are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$s1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 dirty="0">
                <a:ea typeface="宋体" pitchFamily="2" charset="-122"/>
              </a:rPr>
              <a:t>, and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dirty="0">
                <a:ea typeface="宋体" pitchFamily="2" charset="-122"/>
              </a:rPr>
              <a:t>, respectively, </a:t>
            </a:r>
            <a:r>
              <a:rPr lang="en-US" altLang="zh-CN" dirty="0" smtClean="0">
                <a:ea typeface="宋体" pitchFamily="2" charset="-122"/>
              </a:rPr>
              <a:t>complete the </a:t>
            </a:r>
            <a:r>
              <a:rPr lang="en-US" altLang="zh-CN" dirty="0">
                <a:ea typeface="宋体" pitchFamily="2" charset="-122"/>
              </a:rPr>
              <a:t>MIPS assembly code for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c = A[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] - b</a:t>
            </a:r>
          </a:p>
        </p:txBody>
      </p:sp>
      <p:sp>
        <p:nvSpPr>
          <p:cNvPr id="19456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4078288"/>
            <a:ext cx="7696200" cy="798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$t1, $s3, $s3	#array index i is in $s3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$t1, $t1, $t1	#temp reg $t1 holds 4*i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57200" y="1219200"/>
            <a:ext cx="2219325" cy="1905000"/>
            <a:chOff x="3600" y="2256"/>
            <a:chExt cx="1398" cy="1200"/>
          </a:xfrm>
        </p:grpSpPr>
        <p:sp>
          <p:nvSpPr>
            <p:cNvPr id="194566" name="Rectangle 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00" y="2256"/>
              <a:ext cx="576" cy="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567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600" y="321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68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60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69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600" y="273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70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600" y="249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71" name="Rectangle 1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16" y="3264"/>
              <a:ext cx="33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</a:p>
          </p:txBody>
        </p:sp>
        <p:sp>
          <p:nvSpPr>
            <p:cNvPr id="194572" name="Rectangle 1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16" y="302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+4</a:t>
              </a:r>
            </a:p>
          </p:txBody>
        </p:sp>
        <p:sp>
          <p:nvSpPr>
            <p:cNvPr id="194573" name="Rectangle 1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16" y="278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+8</a:t>
              </a:r>
            </a:p>
          </p:txBody>
        </p:sp>
        <p:sp>
          <p:nvSpPr>
            <p:cNvPr id="194574" name="Rectangle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16" y="2544"/>
              <a:ext cx="58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+12</a:t>
              </a:r>
            </a:p>
          </p:txBody>
        </p:sp>
        <p:sp>
          <p:nvSpPr>
            <p:cNvPr id="194575" name="Rectangle 1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512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194576" name="Rectangle 1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44" y="278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A[2]</a:t>
              </a:r>
            </a:p>
          </p:txBody>
        </p:sp>
        <p:sp>
          <p:nvSpPr>
            <p:cNvPr id="194577" name="Rectangle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744" y="254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A[3]</a:t>
              </a:r>
            </a:p>
          </p:txBody>
        </p:sp>
        <p:sp>
          <p:nvSpPr>
            <p:cNvPr id="194578" name="Rectangle 1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44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194579" name="Rectangle 1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44" y="302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A[1]</a:t>
              </a:r>
            </a:p>
          </p:txBody>
        </p:sp>
        <p:sp>
          <p:nvSpPr>
            <p:cNvPr id="194580" name="Rectangle 2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44" y="326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A[0]</a:t>
              </a:r>
            </a:p>
          </p:txBody>
        </p:sp>
        <p:sp>
          <p:nvSpPr>
            <p:cNvPr id="194581" name="Line 2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4176" y="33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82" name="Line 2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4176" y="312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83" name="Line 2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4176" y="288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584" name="Line 2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4176" y="264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45591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63525"/>
            <a:ext cx="6511925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Compiling with a Variable Array Index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2819400" y="914400"/>
            <a:ext cx="6019800" cy="2378087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Assuming that the base address of array A is in register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$s4</a:t>
            </a:r>
            <a:r>
              <a:rPr lang="en-US" altLang="zh-CN" dirty="0">
                <a:ea typeface="宋体" pitchFamily="2" charset="-122"/>
              </a:rPr>
              <a:t>, and variables b, c, and </a:t>
            </a:r>
            <a:r>
              <a:rPr lang="en-US" altLang="zh-CN" dirty="0" err="1">
                <a:ea typeface="宋体" pitchFamily="2" charset="-122"/>
              </a:rPr>
              <a:t>i</a:t>
            </a:r>
            <a:r>
              <a:rPr lang="en-US" altLang="zh-CN" dirty="0">
                <a:ea typeface="宋体" pitchFamily="2" charset="-122"/>
              </a:rPr>
              <a:t> are in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$s1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$s2</a:t>
            </a:r>
            <a:r>
              <a:rPr lang="en-US" altLang="zh-CN" dirty="0">
                <a:ea typeface="宋体" pitchFamily="2" charset="-122"/>
              </a:rPr>
              <a:t>, and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$s3</a:t>
            </a:r>
            <a:r>
              <a:rPr lang="en-US" altLang="zh-CN" dirty="0">
                <a:ea typeface="宋体" pitchFamily="2" charset="-122"/>
              </a:rPr>
              <a:t>, respectively, </a:t>
            </a:r>
            <a:r>
              <a:rPr lang="en-US" altLang="zh-CN" dirty="0" smtClean="0">
                <a:ea typeface="宋体" pitchFamily="2" charset="-122"/>
              </a:rPr>
              <a:t>complete the </a:t>
            </a:r>
            <a:r>
              <a:rPr lang="en-US" altLang="zh-CN" dirty="0">
                <a:ea typeface="宋体" pitchFamily="2" charset="-122"/>
              </a:rPr>
              <a:t>MIPS assembly code for the C statement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c = A[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] - b</a:t>
            </a:r>
          </a:p>
        </p:txBody>
      </p:sp>
      <p:sp>
        <p:nvSpPr>
          <p:cNvPr id="3717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4078288"/>
            <a:ext cx="7696200" cy="798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$t1, $s3, $s3	#array index i is in $s3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$t1, $t1, $t1	#temp reg $t1 holds 4*i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57200" y="1219200"/>
            <a:ext cx="2219325" cy="1905000"/>
            <a:chOff x="3600" y="2256"/>
            <a:chExt cx="1398" cy="1200"/>
          </a:xfrm>
        </p:grpSpPr>
        <p:sp>
          <p:nvSpPr>
            <p:cNvPr id="371718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600" y="2256"/>
              <a:ext cx="576" cy="1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1719" name="Line 7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600" y="321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20" name="Line 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600" y="297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21" name="Line 9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600" y="273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22" name="Line 1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600" y="249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23" name="Rectangle 1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16" y="3264"/>
              <a:ext cx="338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</a:p>
          </p:txBody>
        </p:sp>
        <p:sp>
          <p:nvSpPr>
            <p:cNvPr id="371724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16" y="302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+4</a:t>
              </a:r>
            </a:p>
          </p:txBody>
        </p:sp>
        <p:sp>
          <p:nvSpPr>
            <p:cNvPr id="371725" name="Rectangle 1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16" y="2784"/>
              <a:ext cx="50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+8</a:t>
              </a:r>
            </a:p>
          </p:txBody>
        </p:sp>
        <p:sp>
          <p:nvSpPr>
            <p:cNvPr id="371726" name="Rectangle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416" y="2544"/>
              <a:ext cx="58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$s4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+12</a:t>
              </a:r>
            </a:p>
          </p:txBody>
        </p:sp>
        <p:sp>
          <p:nvSpPr>
            <p:cNvPr id="371727" name="Rectangl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512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371728" name="Rectangle 1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744" y="278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A[2]</a:t>
              </a:r>
            </a:p>
          </p:txBody>
        </p:sp>
        <p:sp>
          <p:nvSpPr>
            <p:cNvPr id="371729" name="Rectangle 1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44" y="254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A[3]</a:t>
              </a:r>
            </a:p>
          </p:txBody>
        </p:sp>
        <p:sp>
          <p:nvSpPr>
            <p:cNvPr id="371730" name="Rectangle 18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44" y="2304"/>
              <a:ext cx="2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. . .</a:t>
              </a:r>
            </a:p>
          </p:txBody>
        </p:sp>
        <p:sp>
          <p:nvSpPr>
            <p:cNvPr id="371731" name="Rectangle 1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44" y="302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A[1]</a:t>
              </a:r>
            </a:p>
          </p:txBody>
        </p:sp>
        <p:sp>
          <p:nvSpPr>
            <p:cNvPr id="371732" name="Rectangle 20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744" y="3264"/>
              <a:ext cx="33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A[0]</a:t>
              </a:r>
            </a:p>
          </p:txBody>
        </p:sp>
        <p:sp>
          <p:nvSpPr>
            <p:cNvPr id="371733" name="Line 2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4176" y="33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34" name="Line 22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4176" y="312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35" name="Line 2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4176" y="288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736" name="Line 24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4176" y="264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1737" name="Rectangle 2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5029200"/>
            <a:ext cx="7696200" cy="1271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	$t1, $t1, $s4	#addr of A[i] now in $t1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lw	$t0, 0($t1)</a:t>
            </a:r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sub	$s2, $t0, $s1</a:t>
            </a:r>
          </a:p>
        </p:txBody>
      </p:sp>
    </p:spTree>
    <p:extLst>
      <p:ext uri="{BB962C8B-B14F-4D97-AF65-F5344CB8AC3E}">
        <p14:creationId xmlns:p14="http://schemas.microsoft.com/office/powerpoint/2010/main" val="7287455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3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0124"/>
            <a:ext cx="8229600" cy="490367"/>
          </a:xfrm>
        </p:spPr>
        <p:txBody>
          <a:bodyPr/>
          <a:lstStyle/>
          <a:p>
            <a:r>
              <a:rPr lang="en-US" dirty="0" smtClean="0"/>
              <a:t>Address Calculation – One-Dimensional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828" y="785256"/>
            <a:ext cx="8305800" cy="5819027"/>
          </a:xfrm>
        </p:spPr>
        <p:txBody>
          <a:bodyPr/>
          <a:lstStyle/>
          <a:p>
            <a:r>
              <a:rPr lang="en-US" dirty="0" err="1" smtClean="0">
                <a:latin typeface="Courier New"/>
                <a:cs typeface="Courier New"/>
              </a:rPr>
              <a:t>int</a:t>
            </a:r>
            <a:r>
              <a:rPr lang="en-US" dirty="0" smtClean="0">
                <a:latin typeface="Courier New"/>
                <a:cs typeface="Courier New"/>
              </a:rPr>
              <a:t> A[10]; </a:t>
            </a:r>
          </a:p>
          <a:p>
            <a:pPr lvl="1"/>
            <a:r>
              <a:rPr lang="en-US" dirty="0" smtClean="0">
                <a:cs typeface="Courier New"/>
              </a:rPr>
              <a:t>or, in C,  </a:t>
            </a:r>
            <a:r>
              <a:rPr lang="en-US" dirty="0" err="1" smtClean="0">
                <a:latin typeface="Courier New"/>
                <a:cs typeface="Courier New"/>
              </a:rPr>
              <a:t>int</a:t>
            </a:r>
            <a:r>
              <a:rPr lang="en-US" dirty="0" smtClean="0">
                <a:latin typeface="Courier New"/>
                <a:cs typeface="Courier New"/>
              </a:rPr>
              <a:t> *A = malloc(10*</a:t>
            </a:r>
            <a:r>
              <a:rPr lang="en-US" dirty="0" err="1" smtClean="0">
                <a:latin typeface="Courier New"/>
                <a:cs typeface="Courier New"/>
              </a:rPr>
              <a:t>sizeof(int</a:t>
            </a:r>
            <a:r>
              <a:rPr lang="en-US" dirty="0" smtClean="0">
                <a:latin typeface="Courier New"/>
                <a:cs typeface="Courier New"/>
              </a:rPr>
              <a:t>));</a:t>
            </a:r>
          </a:p>
          <a:p>
            <a:r>
              <a:rPr lang="en-US" dirty="0" smtClean="0"/>
              <a:t>The compiler, linker, loader (if </a:t>
            </a:r>
            <a:r>
              <a:rPr lang="en-US" dirty="0" smtClean="0">
                <a:latin typeface="Courier New"/>
                <a:cs typeface="Courier New"/>
              </a:rPr>
              <a:t>A</a:t>
            </a:r>
            <a:r>
              <a:rPr lang="en-US" dirty="0" smtClean="0"/>
              <a:t> is global), or runtime stack management (if </a:t>
            </a:r>
            <a:r>
              <a:rPr lang="en-US" dirty="0" smtClean="0">
                <a:latin typeface="Courier New"/>
                <a:cs typeface="Courier New"/>
              </a:rPr>
              <a:t>A</a:t>
            </a:r>
            <a:r>
              <a:rPr lang="en-US" dirty="0" smtClean="0"/>
              <a:t> is local), or runtime heap management (if </a:t>
            </a:r>
            <a:r>
              <a:rPr lang="en-US" dirty="0" smtClean="0">
                <a:latin typeface="Courier New"/>
                <a:cs typeface="Courier New"/>
              </a:rPr>
              <a:t>A</a:t>
            </a:r>
            <a:r>
              <a:rPr lang="en-US" dirty="0" smtClean="0"/>
              <a:t> is dynamically-allocated), cooperate to place </a:t>
            </a:r>
            <a:r>
              <a:rPr lang="en-US" dirty="0" smtClean="0">
                <a:latin typeface="Courier New"/>
                <a:cs typeface="Courier New"/>
              </a:rPr>
              <a:t>A</a:t>
            </a:r>
            <a:r>
              <a:rPr lang="en-US" dirty="0" smtClean="0"/>
              <a:t> into memory, in consecutive locations.</a:t>
            </a:r>
          </a:p>
          <a:p>
            <a:r>
              <a:rPr lang="en-US" dirty="0" smtClean="0">
                <a:latin typeface="Courier New"/>
                <a:cs typeface="Courier New"/>
              </a:rPr>
              <a:t>A[0]</a:t>
            </a:r>
            <a:r>
              <a:rPr lang="en-US" dirty="0" smtClean="0"/>
              <a:t> is at the lowest address of the array elements.</a:t>
            </a:r>
          </a:p>
          <a:p>
            <a:r>
              <a:rPr lang="en-US" dirty="0" smtClean="0"/>
              <a:t>Address of </a:t>
            </a:r>
            <a:r>
              <a:rPr lang="en-US" dirty="0" err="1" smtClean="0">
                <a:latin typeface="Courier New"/>
                <a:cs typeface="Courier New"/>
              </a:rPr>
              <a:t>A[i</a:t>
            </a:r>
            <a:r>
              <a:rPr lang="en-US" dirty="0" smtClean="0">
                <a:latin typeface="Courier New"/>
                <a:cs typeface="Courier New"/>
              </a:rPr>
              <a:t>]</a:t>
            </a:r>
            <a:r>
              <a:rPr lang="en-US" dirty="0" smtClean="0"/>
              <a:t> = address of </a:t>
            </a:r>
            <a:r>
              <a:rPr lang="en-US" dirty="0" smtClean="0">
                <a:latin typeface="Courier New"/>
                <a:cs typeface="Courier New"/>
              </a:rPr>
              <a:t>A[0]</a:t>
            </a:r>
            <a:r>
              <a:rPr lang="en-US" dirty="0" smtClean="0"/>
              <a:t> + </a:t>
            </a:r>
            <a:r>
              <a:rPr lang="en-US" dirty="0" err="1" smtClean="0">
                <a:latin typeface="Courier New"/>
                <a:cs typeface="Courier New"/>
              </a:rPr>
              <a:t>i</a:t>
            </a:r>
            <a:r>
              <a:rPr lang="en-US" dirty="0" smtClean="0"/>
              <a:t> × size of one </a:t>
            </a:r>
            <a:r>
              <a:rPr lang="en-US" dirty="0" err="1" smtClean="0">
                <a:latin typeface="Courier New"/>
                <a:cs typeface="Courier New"/>
              </a:rPr>
              <a:t>int</a:t>
            </a:r>
            <a:endParaRPr lang="en-US" dirty="0" smtClean="0">
              <a:latin typeface="Courier New"/>
              <a:cs typeface="Courier New"/>
            </a:endParaRPr>
          </a:p>
          <a:p>
            <a:r>
              <a:rPr lang="en-US" dirty="0" smtClean="0"/>
              <a:t>If </a:t>
            </a:r>
            <a:r>
              <a:rPr lang="en-US" dirty="0" err="1" smtClean="0">
                <a:latin typeface="Courier New"/>
                <a:cs typeface="Courier New"/>
              </a:rPr>
              <a:t>i</a:t>
            </a:r>
            <a:r>
              <a:rPr lang="en-US" dirty="0" smtClean="0"/>
              <a:t> is a constant expression, the compiler </a:t>
            </a:r>
            <a:r>
              <a:rPr lang="en-US" dirty="0" err="1" smtClean="0"/>
              <a:t>precomputes</a:t>
            </a:r>
            <a:r>
              <a:rPr lang="en-US" dirty="0" smtClean="0"/>
              <a:t> the proper offset, and uses it in an </a:t>
            </a:r>
            <a:r>
              <a:rPr lang="en-US" dirty="0" err="1" smtClean="0">
                <a:latin typeface="Courier New"/>
                <a:cs typeface="Courier New"/>
              </a:rPr>
              <a:t>lw</a:t>
            </a:r>
            <a:r>
              <a:rPr lang="en-US" dirty="0" smtClean="0"/>
              <a:t> instruction.</a:t>
            </a:r>
          </a:p>
          <a:p>
            <a:r>
              <a:rPr lang="en-US" dirty="0" smtClean="0"/>
              <a:t>If </a:t>
            </a:r>
            <a:r>
              <a:rPr lang="en-US" dirty="0" err="1" smtClean="0">
                <a:latin typeface="Courier New"/>
                <a:cs typeface="Courier New"/>
              </a:rPr>
              <a:t>i</a:t>
            </a:r>
            <a:r>
              <a:rPr lang="en-US" dirty="0" smtClean="0"/>
              <a:t> is not known until runtime, the compiler generates code to compute the offset, adds it to the base address, and uses an </a:t>
            </a:r>
            <a:r>
              <a:rPr lang="en-US" dirty="0" err="1" smtClean="0">
                <a:latin typeface="Courier New"/>
                <a:cs typeface="Courier New"/>
              </a:rPr>
              <a:t>lw</a:t>
            </a:r>
            <a:r>
              <a:rPr lang="en-US" dirty="0" smtClean="0"/>
              <a:t> instruction with 0 offset.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ChangeArrowheads="1"/>
          </p:cNvSpPr>
          <p:nvPr/>
        </p:nvSpPr>
        <p:spPr bwMode="auto">
          <a:xfrm>
            <a:off x="225425" y="312738"/>
            <a:ext cx="159067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3832331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Small constants are used quite frequently (50% of operands in many common programs)</a:t>
            </a:r>
          </a:p>
          <a:p>
            <a:pPr marL="742950" lvl="1" indent="-285750">
              <a:lnSpc>
                <a:spcPct val="100000"/>
              </a:lnSpc>
              <a:buFont typeface="Monotype Sorts" pitchFamily="2" charset="2"/>
              <a:buNone/>
            </a:pPr>
            <a:r>
              <a:rPr lang="en-US" sz="2000" dirty="0"/>
              <a:t>e.g., 	A = A + 5;</a:t>
            </a:r>
            <a:br>
              <a:rPr lang="en-US" sz="2000" dirty="0"/>
            </a:br>
            <a:r>
              <a:rPr lang="en-US" sz="2000" dirty="0"/>
              <a:t>		B = B + 1;</a:t>
            </a:r>
            <a:br>
              <a:rPr lang="en-US" sz="2000" dirty="0"/>
            </a:br>
            <a:r>
              <a:rPr lang="en-US" sz="2000" dirty="0"/>
              <a:t>		C = C - 18;</a:t>
            </a:r>
          </a:p>
          <a:p>
            <a:pPr marL="342900" indent="-342900"/>
            <a:r>
              <a:rPr lang="en-US" dirty="0"/>
              <a:t>Solutions?  Why not?</a:t>
            </a:r>
          </a:p>
          <a:p>
            <a:pPr marL="742950" lvl="1" indent="-285750"/>
            <a:r>
              <a:rPr lang="en-US" dirty="0" smtClean="0"/>
              <a:t>Create hard-wired registers (like $zero) for constants like 1, 2, 4, 10, …</a:t>
            </a:r>
          </a:p>
          <a:p>
            <a:pPr marL="742950" lvl="1" indent="-285750"/>
            <a:r>
              <a:rPr lang="en-US" dirty="0" smtClean="0"/>
              <a:t>Put </a:t>
            </a:r>
            <a:r>
              <a:rPr lang="en-US" dirty="0"/>
              <a:t>“typical constants” in memory and load them </a:t>
            </a:r>
            <a:endParaRPr lang="en-US" dirty="0" smtClean="0"/>
          </a:p>
          <a:p>
            <a:pPr marL="742950" lvl="1" indent="-285750"/>
            <a:r>
              <a:rPr lang="en-US" dirty="0" smtClean="0"/>
              <a:t>. . .</a:t>
            </a:r>
            <a:endParaRPr lang="en-US" dirty="0"/>
          </a:p>
        </p:txBody>
      </p:sp>
      <p:sp>
        <p:nvSpPr>
          <p:cNvPr id="349188" name="Rectangle 4"/>
          <p:cNvSpPr>
            <a:spLocks noGrp="1" noChangeArrowheads="1"/>
          </p:cNvSpPr>
          <p:nvPr>
            <p:ph type="title"/>
          </p:nvPr>
        </p:nvSpPr>
        <p:spPr>
          <a:xfrm>
            <a:off x="495300" y="230294"/>
            <a:ext cx="8153400" cy="422275"/>
          </a:xfrm>
          <a:noFill/>
          <a:ln/>
        </p:spPr>
        <p:txBody>
          <a:bodyPr lIns="90488" tIns="44450" rIns="90488" bIns="44450" anchor="ctr"/>
          <a:lstStyle/>
          <a:p>
            <a:r>
              <a:rPr lang="en-US"/>
              <a:t>Dealing with Constants</a:t>
            </a:r>
          </a:p>
        </p:txBody>
      </p:sp>
      <p:sp>
        <p:nvSpPr>
          <p:cNvPr id="349189" name="Rectangle 5"/>
          <p:cNvSpPr>
            <a:spLocks noChangeArrowheads="1"/>
          </p:cNvSpPr>
          <p:nvPr/>
        </p:nvSpPr>
        <p:spPr bwMode="auto">
          <a:xfrm>
            <a:off x="609600" y="4724400"/>
            <a:ext cx="77724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8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 marL="342900" indent="-342900">
              <a:spcBef>
                <a:spcPct val="3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</a:rPr>
              <a:t>How do we make this </a:t>
            </a:r>
            <a:r>
              <a:rPr lang="en-US" sz="2400" dirty="0" smtClean="0">
                <a:solidFill>
                  <a:srgbClr val="000000"/>
                </a:solidFill>
              </a:rPr>
              <a:t>work?   </a:t>
            </a:r>
            <a:r>
              <a:rPr lang="en-US" sz="2400" dirty="0" smtClean="0">
                <a:solidFill>
                  <a:schemeClr val="tx1"/>
                </a:solidFill>
              </a:rPr>
              <a:t>How </a:t>
            </a:r>
            <a:r>
              <a:rPr lang="en-US" sz="2400" dirty="0">
                <a:solidFill>
                  <a:schemeClr val="tx1"/>
                </a:solidFill>
              </a:rPr>
              <a:t>do we </a:t>
            </a:r>
            <a:r>
              <a:rPr lang="en-US" sz="2400" dirty="0"/>
              <a:t>Make the common case fast</a:t>
            </a:r>
            <a:r>
              <a:rPr lang="en-US" sz="2400" dirty="0">
                <a:solidFill>
                  <a:schemeClr val="tx1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325335297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001000" cy="4306307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Include constants inside arithmetic instructions</a:t>
            </a:r>
          </a:p>
          <a:p>
            <a:pPr marL="742950" lvl="1" indent="-285750"/>
            <a:r>
              <a:rPr lang="en-US" dirty="0"/>
              <a:t>Much faster than if they have to be loaded from memory (they come in from memory </a:t>
            </a:r>
            <a:r>
              <a:rPr lang="en-US" i="1" dirty="0"/>
              <a:t>with</a:t>
            </a:r>
            <a:r>
              <a:rPr lang="en-US" dirty="0"/>
              <a:t> the instruction itself</a:t>
            </a:r>
            <a:r>
              <a:rPr lang="en-US" dirty="0" smtClean="0"/>
              <a:t>)</a:t>
            </a:r>
            <a:endParaRPr lang="en-US" dirty="0"/>
          </a:p>
          <a:p>
            <a:pPr marL="342900" indent="-342900"/>
            <a:r>
              <a:rPr lang="en-US" dirty="0"/>
              <a:t>MIPS </a:t>
            </a:r>
            <a:r>
              <a:rPr lang="en-US" dirty="0">
                <a:solidFill>
                  <a:schemeClr val="accent1"/>
                </a:solidFill>
              </a:rPr>
              <a:t>immediate</a:t>
            </a:r>
            <a:r>
              <a:rPr lang="en-US" dirty="0"/>
              <a:t> instructions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>
                <a:latin typeface="Courier New" pitchFamily="49" charset="0"/>
              </a:rPr>
              <a:t>	$s3, $s3, 4	#$s3 = $s3 + </a:t>
            </a:r>
            <a:r>
              <a:rPr lang="en-US" dirty="0" smtClean="0">
                <a:latin typeface="Courier New" pitchFamily="49" charset="0"/>
              </a:rPr>
              <a:t>4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</a:rPr>
              <a:t>	</a:t>
            </a:r>
            <a:endParaRPr lang="en-US" sz="2000" dirty="0" smtClean="0">
              <a:latin typeface="Courier New" pitchFamily="49" charset="0"/>
            </a:endParaRPr>
          </a:p>
          <a:p>
            <a:pPr marL="342900" indent="-342900"/>
            <a:r>
              <a:rPr lang="en-US" dirty="0" smtClean="0"/>
              <a:t>And to move (copy) the contents of one register to another in </a:t>
            </a:r>
            <a:r>
              <a:rPr lang="en-US" i="1" dirty="0" smtClean="0"/>
              <a:t>one</a:t>
            </a:r>
            <a:r>
              <a:rPr lang="en-US" dirty="0" smtClean="0"/>
              <a:t> instruction</a:t>
            </a:r>
            <a:endParaRPr lang="en-US" dirty="0"/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endParaRPr lang="en-US" dirty="0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3512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Constant (or Immediate) Operands</a:t>
            </a:r>
          </a:p>
        </p:txBody>
      </p:sp>
      <p:sp>
        <p:nvSpPr>
          <p:cNvPr id="351254" name="Rectangle 22"/>
          <p:cNvSpPr>
            <a:spLocks noChangeArrowheads="1"/>
          </p:cNvSpPr>
          <p:nvPr/>
        </p:nvSpPr>
        <p:spPr bwMode="auto">
          <a:xfrm>
            <a:off x="571472" y="5572140"/>
            <a:ext cx="8001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ctr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sz="2800" i="1" dirty="0"/>
              <a:t>There is no </a:t>
            </a:r>
            <a:r>
              <a:rPr lang="en-US" sz="2800" dirty="0" err="1">
                <a:latin typeface="Courier New" pitchFamily="49" charset="0"/>
              </a:rPr>
              <a:t>subi</a:t>
            </a:r>
            <a:r>
              <a:rPr lang="en-US" sz="2800" i="1" dirty="0"/>
              <a:t> instruction, can you guess why not?</a:t>
            </a:r>
            <a:r>
              <a:rPr lang="en-US" sz="2800" dirty="0"/>
              <a:t>	</a:t>
            </a:r>
            <a:endParaRPr lang="en-US" sz="2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912522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001000" cy="4306307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Include constants inside arithmetic instructions</a:t>
            </a:r>
          </a:p>
          <a:p>
            <a:pPr marL="742950" lvl="1" indent="-285750"/>
            <a:r>
              <a:rPr lang="en-US" dirty="0"/>
              <a:t>Much faster than if they have to be loaded from memory (they come in from memory </a:t>
            </a:r>
            <a:r>
              <a:rPr lang="en-US" i="1" dirty="0"/>
              <a:t>with</a:t>
            </a:r>
            <a:r>
              <a:rPr lang="en-US" dirty="0"/>
              <a:t> the instruction itself</a:t>
            </a:r>
            <a:r>
              <a:rPr lang="en-US" dirty="0" smtClean="0"/>
              <a:t>)</a:t>
            </a:r>
            <a:endParaRPr lang="en-US" dirty="0"/>
          </a:p>
          <a:p>
            <a:pPr marL="342900" indent="-342900"/>
            <a:r>
              <a:rPr lang="en-US" dirty="0"/>
              <a:t>MIPS </a:t>
            </a:r>
            <a:r>
              <a:rPr lang="en-US" dirty="0">
                <a:solidFill>
                  <a:schemeClr val="accent1"/>
                </a:solidFill>
              </a:rPr>
              <a:t>immediate</a:t>
            </a:r>
            <a:r>
              <a:rPr lang="en-US" dirty="0"/>
              <a:t> instructions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>
                <a:latin typeface="Courier New" pitchFamily="49" charset="0"/>
              </a:rPr>
              <a:t>	$s3, $s3, 4	#$s3 = $s3 + </a:t>
            </a:r>
            <a:r>
              <a:rPr lang="en-US" dirty="0" smtClean="0">
                <a:latin typeface="Courier New" pitchFamily="49" charset="0"/>
              </a:rPr>
              <a:t>4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</a:rPr>
              <a:t>	</a:t>
            </a:r>
            <a:endParaRPr lang="en-US" sz="2000" dirty="0" smtClean="0">
              <a:latin typeface="Courier New" pitchFamily="49" charset="0"/>
            </a:endParaRPr>
          </a:p>
          <a:p>
            <a:pPr marL="342900" indent="-342900"/>
            <a:r>
              <a:rPr lang="en-US" dirty="0" smtClean="0"/>
              <a:t>And to move (copy) the contents of one register to another in </a:t>
            </a:r>
            <a:r>
              <a:rPr lang="en-US" i="1" dirty="0" smtClean="0"/>
              <a:t>one</a:t>
            </a:r>
            <a:r>
              <a:rPr lang="en-US" dirty="0" smtClean="0"/>
              <a:t> instruction</a:t>
            </a:r>
            <a:endParaRPr lang="en-US" dirty="0"/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endParaRPr lang="en-US" dirty="0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3512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Constant (or Immediate) Operands</a:t>
            </a:r>
          </a:p>
        </p:txBody>
      </p:sp>
      <p:sp>
        <p:nvSpPr>
          <p:cNvPr id="351254" name="Rectangle 22"/>
          <p:cNvSpPr>
            <a:spLocks noChangeArrowheads="1"/>
          </p:cNvSpPr>
          <p:nvPr/>
        </p:nvSpPr>
        <p:spPr bwMode="auto">
          <a:xfrm>
            <a:off x="571472" y="5572140"/>
            <a:ext cx="8001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ctr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sz="2800" i="1" dirty="0"/>
              <a:t>There is no </a:t>
            </a:r>
            <a:r>
              <a:rPr lang="en-US" sz="2800" dirty="0" err="1">
                <a:latin typeface="Courier New" pitchFamily="49" charset="0"/>
              </a:rPr>
              <a:t>subi</a:t>
            </a:r>
            <a:r>
              <a:rPr lang="en-US" sz="2800" i="1" dirty="0"/>
              <a:t> instruction, can you guess why not?</a:t>
            </a:r>
            <a:r>
              <a:rPr lang="en-US" sz="2800" dirty="0"/>
              <a:t>	</a:t>
            </a:r>
            <a:endParaRPr lang="en-US" sz="2800" dirty="0">
              <a:latin typeface="Courier New" pitchFamily="49" charset="0"/>
            </a:endParaRPr>
          </a:p>
        </p:txBody>
      </p:sp>
      <p:sp>
        <p:nvSpPr>
          <p:cNvPr id="6" name="Rectangle 2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357422" y="4857760"/>
            <a:ext cx="3886200" cy="3929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dirty="0" smtClean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add</a:t>
            </a:r>
            <a:r>
              <a:rPr lang="en-US" altLang="zh-CN" sz="24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2400" dirty="0" smtClean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$s4, $s3, $zero</a:t>
            </a:r>
            <a:endParaRPr lang="en-US" altLang="zh-CN" sz="2400" dirty="0">
              <a:solidFill>
                <a:schemeClr val="accent2"/>
              </a:solidFill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442850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54" grpId="0"/>
      <p:bldP spid="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MIPS Instructions, so far</a:t>
            </a:r>
          </a:p>
        </p:txBody>
      </p:sp>
      <p:graphicFrame>
        <p:nvGraphicFramePr>
          <p:cNvPr id="220244" name="Group 84"/>
          <p:cNvGraphicFramePr>
            <a:graphicFrameLocks noGrp="1"/>
          </p:cNvGraphicFramePr>
          <p:nvPr>
            <p:ph type="tbl" idx="1"/>
            <p:custDataLst>
              <p:tags r:id="rId2"/>
            </p:custDataLst>
          </p:nvPr>
        </p:nvGraphicFramePr>
        <p:xfrm>
          <a:off x="685800" y="1600200"/>
          <a:ext cx="7315200" cy="2840737"/>
        </p:xfrm>
        <a:graphic>
          <a:graphicData uri="http://schemas.openxmlformats.org/drawingml/2006/table">
            <a:tbl>
              <a:tblPr/>
              <a:tblGrid>
                <a:gridCol w="1219200"/>
                <a:gridCol w="1295400"/>
                <a:gridCol w="2057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Arithmetic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+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$s2 -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addi $s1, $s2,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+ 4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Data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transfer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load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    $s1, 32($s2)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Memory($s2+32)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store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   $s1, 32($s2)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Memory($s2+32) = $s1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87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28600"/>
            <a:ext cx="7848600" cy="477838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>
                <a:ea typeface="宋体" pitchFamily="2" charset="-122"/>
              </a:rPr>
              <a:t>MIPS Organization, so far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0003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2438400"/>
            <a:ext cx="38100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003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62600" y="2209800"/>
            <a:ext cx="1600200" cy="3581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003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0" y="2057400"/>
            <a:ext cx="1244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Processor</a:t>
            </a:r>
          </a:p>
        </p:txBody>
      </p:sp>
      <p:sp>
        <p:nvSpPr>
          <p:cNvPr id="300038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67400" y="1828800"/>
            <a:ext cx="1003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300039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562600" y="5867400"/>
            <a:ext cx="16002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40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096000" y="5867400"/>
            <a:ext cx="649288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32 bits</a:t>
            </a:r>
          </a:p>
        </p:txBody>
      </p:sp>
      <p:sp>
        <p:nvSpPr>
          <p:cNvPr id="300041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8153400" y="2133600"/>
            <a:ext cx="1588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42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153399" y="3429000"/>
            <a:ext cx="819151" cy="2267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lang="en-US" altLang="zh-CN" sz="1600" baseline="30000" dirty="0">
                <a:solidFill>
                  <a:schemeClr val="tx1"/>
                </a:solidFill>
                <a:ea typeface="宋体" pitchFamily="2" charset="-122"/>
              </a:rPr>
              <a:t>30</a:t>
            </a:r>
          </a:p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words</a:t>
            </a:r>
          </a:p>
          <a:p>
            <a:endParaRPr lang="en-US" altLang="zh-CN" sz="1600" dirty="0" smtClean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= </a:t>
            </a:r>
          </a:p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lang="en-US" altLang="zh-CN" sz="1600" baseline="30000" dirty="0" smtClean="0">
                <a:solidFill>
                  <a:schemeClr val="tx1"/>
                </a:solidFill>
                <a:ea typeface="宋体" pitchFamily="2" charset="-122"/>
              </a:rPr>
              <a:t>32</a:t>
            </a:r>
            <a:endParaRPr lang="en-US" altLang="zh-CN" sz="1600" baseline="30000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Bytes</a:t>
            </a:r>
          </a:p>
          <a:p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  <a:ea typeface="宋体" pitchFamily="2" charset="-122"/>
              </a:rPr>
              <a:t>(4 GB)</a:t>
            </a:r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  <a:p>
            <a:endParaRPr lang="en-US" altLang="zh-CN" sz="16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00043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495800" y="3429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44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572000" y="2819400"/>
            <a:ext cx="1019175" cy="539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read/write</a:t>
            </a:r>
          </a:p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 addr</a:t>
            </a:r>
          </a:p>
        </p:txBody>
      </p:sp>
      <p:sp>
        <p:nvSpPr>
          <p:cNvPr id="300045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495800" y="4267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46" name="Rectangle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495800" y="3962400"/>
            <a:ext cx="985838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read data</a:t>
            </a:r>
          </a:p>
        </p:txBody>
      </p:sp>
      <p:sp>
        <p:nvSpPr>
          <p:cNvPr id="300047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495800" y="4648200"/>
            <a:ext cx="10080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300048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495800" y="4953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49" name="Rectangl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696200" y="5943600"/>
            <a:ext cx="1190625" cy="47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word address</a:t>
            </a:r>
          </a:p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(binary)</a:t>
            </a:r>
          </a:p>
        </p:txBody>
      </p:sp>
      <p:sp>
        <p:nvSpPr>
          <p:cNvPr id="300050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162800" y="5562600"/>
            <a:ext cx="8937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0…0000</a:t>
            </a:r>
          </a:p>
        </p:txBody>
      </p:sp>
      <p:sp>
        <p:nvSpPr>
          <p:cNvPr id="300051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162800" y="5334000"/>
            <a:ext cx="8937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0…0100</a:t>
            </a:r>
          </a:p>
        </p:txBody>
      </p:sp>
      <p:sp>
        <p:nvSpPr>
          <p:cNvPr id="300052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162800" y="5105400"/>
            <a:ext cx="8937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0…1000</a:t>
            </a:r>
          </a:p>
        </p:txBody>
      </p:sp>
      <p:sp>
        <p:nvSpPr>
          <p:cNvPr id="300053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162800" y="4876800"/>
            <a:ext cx="8937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0…1100</a:t>
            </a:r>
          </a:p>
        </p:txBody>
      </p:sp>
      <p:sp>
        <p:nvSpPr>
          <p:cNvPr id="300054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162800" y="2133600"/>
            <a:ext cx="893763" cy="29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1…1100</a:t>
            </a:r>
          </a:p>
        </p:txBody>
      </p:sp>
      <p:sp>
        <p:nvSpPr>
          <p:cNvPr id="300055" name="Rectangle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103438" y="2978150"/>
            <a:ext cx="1136650" cy="1463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0056" name="Rectangle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103438" y="2743200"/>
            <a:ext cx="1136650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Register File</a:t>
            </a:r>
          </a:p>
        </p:txBody>
      </p:sp>
      <p:sp>
        <p:nvSpPr>
          <p:cNvPr id="300057" name="Rectangle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973138" y="3094038"/>
            <a:ext cx="865187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src1 addr</a:t>
            </a:r>
          </a:p>
        </p:txBody>
      </p:sp>
      <p:sp>
        <p:nvSpPr>
          <p:cNvPr id="300058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69963" y="3446463"/>
            <a:ext cx="866775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src2 addr</a:t>
            </a:r>
          </a:p>
        </p:txBody>
      </p:sp>
      <p:sp>
        <p:nvSpPr>
          <p:cNvPr id="300059" name="Rectangle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031875" y="3797300"/>
            <a:ext cx="766763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dst addr</a:t>
            </a:r>
          </a:p>
        </p:txBody>
      </p:sp>
      <p:sp>
        <p:nvSpPr>
          <p:cNvPr id="300060" name="Line 28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1779588" y="3914775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1" name="Line 29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1779588" y="3211513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2" name="Line 30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1779588" y="3563938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3" name="Line 31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1779588" y="4265613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4" name="Rectangle 32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914400" y="4148138"/>
            <a:ext cx="919163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write data</a:t>
            </a:r>
          </a:p>
        </p:txBody>
      </p:sp>
      <p:sp>
        <p:nvSpPr>
          <p:cNvPr id="300065" name="Line 33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2103438" y="4559300"/>
            <a:ext cx="1136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6" name="Rectangle 34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266950" y="4559300"/>
            <a:ext cx="919163" cy="231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32 bits</a:t>
            </a:r>
          </a:p>
        </p:txBody>
      </p:sp>
      <p:sp>
        <p:nvSpPr>
          <p:cNvPr id="300067" name="Line 35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3240088" y="3270250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8" name="Line 36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3240088" y="4149725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69" name="Rectangle 37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530600" y="3095625"/>
            <a:ext cx="471488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src1</a:t>
            </a:r>
          </a:p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300070" name="Rectangle 38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530600" y="3971925"/>
            <a:ext cx="471488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src2</a:t>
            </a:r>
          </a:p>
          <a:p>
            <a:pPr algn="ct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300071" name="Line 39"/>
          <p:cNvSpPr>
            <a:spLocks noChangeShapeType="1"/>
          </p:cNvSpPr>
          <p:nvPr>
            <p:custDataLst>
              <p:tags r:id="rId38"/>
            </p:custDataLst>
          </p:nvPr>
        </p:nvSpPr>
        <p:spPr bwMode="auto">
          <a:xfrm>
            <a:off x="3124200" y="2971800"/>
            <a:ext cx="0" cy="146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72" name="Rectangle 40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905000" y="3505200"/>
            <a:ext cx="1247775" cy="593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algn="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32</a:t>
            </a:r>
          </a:p>
          <a:p>
            <a:pPr algn="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registers</a:t>
            </a:r>
          </a:p>
          <a:p>
            <a:pPr algn="r">
              <a:lnSpc>
                <a:spcPct val="85000"/>
              </a:lnSpc>
            </a:pPr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($zero - $ra)</a:t>
            </a:r>
          </a:p>
        </p:txBody>
      </p:sp>
      <p:sp>
        <p:nvSpPr>
          <p:cNvPr id="300073" name="Rectangle 41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572000" y="49530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4" name="Rectangle 42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181600" y="42672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5" name="Rectangle 43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572000" y="34290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6" name="Rectangle 44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3200400" y="41910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7" name="Rectangle 45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3200400" y="32766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8" name="Rectangle 46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1752600" y="42672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079" name="Rectangle 47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1828800" y="39624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5</a:t>
            </a:r>
          </a:p>
        </p:txBody>
      </p:sp>
      <p:sp>
        <p:nvSpPr>
          <p:cNvPr id="300080" name="Rectangle 48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1828800" y="35814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5</a:t>
            </a:r>
          </a:p>
        </p:txBody>
      </p:sp>
      <p:sp>
        <p:nvSpPr>
          <p:cNvPr id="300081" name="Rectangle 49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1828800" y="32004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5</a:t>
            </a:r>
          </a:p>
        </p:txBody>
      </p:sp>
      <p:sp>
        <p:nvSpPr>
          <p:cNvPr id="300082" name="Line 50"/>
          <p:cNvSpPr>
            <a:spLocks noChangeShapeType="1"/>
          </p:cNvSpPr>
          <p:nvPr>
            <p:custDataLst>
              <p:tags r:id="rId49"/>
            </p:custDataLst>
          </p:nvPr>
        </p:nvSpPr>
        <p:spPr bwMode="auto">
          <a:xfrm flipH="1">
            <a:off x="4572000" y="48768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3" name="Line 51"/>
          <p:cNvSpPr>
            <a:spLocks noChangeShapeType="1"/>
          </p:cNvSpPr>
          <p:nvPr>
            <p:custDataLst>
              <p:tags r:id="rId50"/>
            </p:custDataLst>
          </p:nvPr>
        </p:nvSpPr>
        <p:spPr bwMode="auto">
          <a:xfrm flipH="1">
            <a:off x="5334000" y="41910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4" name="Line 52"/>
          <p:cNvSpPr>
            <a:spLocks noChangeShapeType="1"/>
          </p:cNvSpPr>
          <p:nvPr>
            <p:custDataLst>
              <p:tags r:id="rId51"/>
            </p:custDataLst>
          </p:nvPr>
        </p:nvSpPr>
        <p:spPr bwMode="auto">
          <a:xfrm flipH="1">
            <a:off x="4572000" y="33528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5" name="Line 53"/>
          <p:cNvSpPr>
            <a:spLocks noChangeShapeType="1"/>
          </p:cNvSpPr>
          <p:nvPr>
            <p:custDataLst>
              <p:tags r:id="rId52"/>
            </p:custDataLst>
          </p:nvPr>
        </p:nvSpPr>
        <p:spPr bwMode="auto">
          <a:xfrm flipH="1">
            <a:off x="3276600" y="32004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6" name="Line 54"/>
          <p:cNvSpPr>
            <a:spLocks noChangeShapeType="1"/>
          </p:cNvSpPr>
          <p:nvPr>
            <p:custDataLst>
              <p:tags r:id="rId53"/>
            </p:custDataLst>
          </p:nvPr>
        </p:nvSpPr>
        <p:spPr bwMode="auto">
          <a:xfrm flipH="1">
            <a:off x="3276600" y="41148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7" name="Line 55"/>
          <p:cNvSpPr>
            <a:spLocks noChangeShapeType="1"/>
          </p:cNvSpPr>
          <p:nvPr>
            <p:custDataLst>
              <p:tags r:id="rId54"/>
            </p:custDataLst>
          </p:nvPr>
        </p:nvSpPr>
        <p:spPr bwMode="auto">
          <a:xfrm flipH="1">
            <a:off x="1828800" y="41910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8" name="Line 56"/>
          <p:cNvSpPr>
            <a:spLocks noChangeShapeType="1"/>
          </p:cNvSpPr>
          <p:nvPr>
            <p:custDataLst>
              <p:tags r:id="rId55"/>
            </p:custDataLst>
          </p:nvPr>
        </p:nvSpPr>
        <p:spPr bwMode="auto">
          <a:xfrm flipH="1">
            <a:off x="1828800" y="38862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89" name="Line 57"/>
          <p:cNvSpPr>
            <a:spLocks noChangeShapeType="1"/>
          </p:cNvSpPr>
          <p:nvPr>
            <p:custDataLst>
              <p:tags r:id="rId56"/>
            </p:custDataLst>
          </p:nvPr>
        </p:nvSpPr>
        <p:spPr bwMode="auto">
          <a:xfrm flipH="1">
            <a:off x="1828800" y="35052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90" name="Line 58"/>
          <p:cNvSpPr>
            <a:spLocks noChangeShapeType="1"/>
          </p:cNvSpPr>
          <p:nvPr>
            <p:custDataLst>
              <p:tags r:id="rId57"/>
            </p:custDataLst>
          </p:nvPr>
        </p:nvSpPr>
        <p:spPr bwMode="auto">
          <a:xfrm flipH="1">
            <a:off x="1828800" y="31242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091" name="Rectangle 59"/>
          <p:cNvSpPr>
            <a:spLocks noGrp="1" noChangeArrowheads="1"/>
          </p:cNvSpPr>
          <p:nvPr>
            <p:ph type="body" idx="1"/>
            <p:custDataLst>
              <p:tags r:id="rId58"/>
            </p:custDataLst>
          </p:nvPr>
        </p:nvSpPr>
        <p:spPr>
          <a:xfrm>
            <a:off x="685800" y="1323975"/>
            <a:ext cx="7848600" cy="457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>
                <a:ea typeface="宋体" pitchFamily="2" charset="-122"/>
              </a:rPr>
              <a:t> </a:t>
            </a:r>
          </a:p>
        </p:txBody>
      </p:sp>
      <p:grpSp>
        <p:nvGrpSpPr>
          <p:cNvPr id="2" name="Group 62"/>
          <p:cNvGrpSpPr>
            <a:grpSpLocks/>
          </p:cNvGrpSpPr>
          <p:nvPr>
            <p:custDataLst>
              <p:tags r:id="rId59"/>
            </p:custDataLst>
          </p:nvPr>
        </p:nvGrpSpPr>
        <p:grpSpPr bwMode="auto">
          <a:xfrm>
            <a:off x="2438400" y="4953000"/>
            <a:ext cx="457200" cy="762000"/>
            <a:chOff x="1392" y="2880"/>
            <a:chExt cx="288" cy="480"/>
          </a:xfrm>
        </p:grpSpPr>
        <p:sp>
          <p:nvSpPr>
            <p:cNvPr id="300095" name="Line 63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096" name="Line 64"/>
            <p:cNvSpPr>
              <a:spLocks noChangeShapeType="1"/>
            </p:cNvSpPr>
            <p:nvPr>
              <p:custDataLst>
                <p:tags r:id="rId91"/>
              </p:custDataLst>
            </p:nvPr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097" name="Line 65"/>
            <p:cNvSpPr>
              <a:spLocks noChangeShapeType="1"/>
            </p:cNvSpPr>
            <p:nvPr>
              <p:custDataLst>
                <p:tags r:id="rId92"/>
              </p:custDataLst>
            </p:nvPr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098" name="Line 66"/>
            <p:cNvSpPr>
              <a:spLocks noChangeShapeType="1"/>
            </p:cNvSpPr>
            <p:nvPr>
              <p:custDataLst>
                <p:tags r:id="rId93"/>
              </p:custDataLst>
            </p:nvPr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099" name="Line 67"/>
            <p:cNvSpPr>
              <a:spLocks noChangeShapeType="1"/>
            </p:cNvSpPr>
            <p:nvPr>
              <p:custDataLst>
                <p:tags r:id="rId94"/>
              </p:custDataLst>
            </p:nvPr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100" name="Line 68"/>
            <p:cNvSpPr>
              <a:spLocks noChangeShapeType="1"/>
            </p:cNvSpPr>
            <p:nvPr>
              <p:custDataLst>
                <p:tags r:id="rId95"/>
              </p:custDataLst>
            </p:nvPr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101" name="Line 69"/>
            <p:cNvSpPr>
              <a:spLocks noChangeShapeType="1"/>
            </p:cNvSpPr>
            <p:nvPr>
              <p:custDataLst>
                <p:tags r:id="rId96"/>
              </p:custDataLst>
            </p:nvPr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0102" name="Rectangle 70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2438400" y="5181600"/>
            <a:ext cx="47307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ALU</a:t>
            </a:r>
          </a:p>
        </p:txBody>
      </p:sp>
      <p:sp>
        <p:nvSpPr>
          <p:cNvPr id="300103" name="Line 71"/>
          <p:cNvSpPr>
            <a:spLocks noChangeShapeType="1"/>
          </p:cNvSpPr>
          <p:nvPr>
            <p:custDataLst>
              <p:tags r:id="rId61"/>
            </p:custDataLst>
          </p:nvPr>
        </p:nvSpPr>
        <p:spPr bwMode="auto">
          <a:xfrm flipV="1">
            <a:off x="2133600" y="5105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04" name="Line 72"/>
          <p:cNvSpPr>
            <a:spLocks noChangeShapeType="1"/>
          </p:cNvSpPr>
          <p:nvPr>
            <p:custDataLst>
              <p:tags r:id="rId62"/>
            </p:custDataLst>
          </p:nvPr>
        </p:nvSpPr>
        <p:spPr bwMode="auto">
          <a:xfrm flipV="1">
            <a:off x="2133600" y="5562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05" name="Line 73"/>
          <p:cNvSpPr>
            <a:spLocks noChangeShapeType="1"/>
          </p:cNvSpPr>
          <p:nvPr>
            <p:custDataLst>
              <p:tags r:id="rId63"/>
            </p:custDataLst>
          </p:nvPr>
        </p:nvSpPr>
        <p:spPr bwMode="auto">
          <a:xfrm flipV="1">
            <a:off x="2895600" y="5334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10" name="Line 78"/>
          <p:cNvSpPr>
            <a:spLocks noChangeShapeType="1"/>
          </p:cNvSpPr>
          <p:nvPr>
            <p:custDataLst>
              <p:tags r:id="rId64"/>
            </p:custDataLst>
          </p:nvPr>
        </p:nvSpPr>
        <p:spPr bwMode="auto">
          <a:xfrm flipH="1">
            <a:off x="2895600" y="52578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11" name="Line 79"/>
          <p:cNvSpPr>
            <a:spLocks noChangeShapeType="1"/>
          </p:cNvSpPr>
          <p:nvPr>
            <p:custDataLst>
              <p:tags r:id="rId65"/>
            </p:custDataLst>
          </p:nvPr>
        </p:nvSpPr>
        <p:spPr bwMode="auto">
          <a:xfrm flipH="1">
            <a:off x="2133600" y="50292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12" name="Line 80"/>
          <p:cNvSpPr>
            <a:spLocks noChangeShapeType="1"/>
          </p:cNvSpPr>
          <p:nvPr>
            <p:custDataLst>
              <p:tags r:id="rId66"/>
            </p:custDataLst>
          </p:nvPr>
        </p:nvSpPr>
        <p:spPr bwMode="auto">
          <a:xfrm flipH="1">
            <a:off x="2133600" y="5486400"/>
            <a:ext cx="152400" cy="152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15" name="Rectangle 83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2895600" y="53340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116" name="Rectangle 84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2133600" y="51054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117" name="Rectangle 85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2133600" y="5562600"/>
            <a:ext cx="32385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ea typeface="宋体" pitchFamily="2" charset="-122"/>
              </a:rPr>
              <a:t>32</a:t>
            </a:r>
          </a:p>
        </p:txBody>
      </p:sp>
      <p:sp>
        <p:nvSpPr>
          <p:cNvPr id="300118" name="Line 86"/>
          <p:cNvSpPr>
            <a:spLocks noChangeShapeType="1"/>
          </p:cNvSpPr>
          <p:nvPr>
            <p:custDataLst>
              <p:tags r:id="rId70"/>
            </p:custDataLst>
          </p:nvPr>
        </p:nvSpPr>
        <p:spPr bwMode="auto">
          <a:xfrm>
            <a:off x="5562600" y="5562600"/>
            <a:ext cx="16002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19" name="Line 87"/>
          <p:cNvSpPr>
            <a:spLocks noChangeShapeType="1"/>
          </p:cNvSpPr>
          <p:nvPr>
            <p:custDataLst>
              <p:tags r:id="rId71"/>
            </p:custDataLst>
          </p:nvPr>
        </p:nvSpPr>
        <p:spPr bwMode="auto">
          <a:xfrm>
            <a:off x="5562600" y="5334000"/>
            <a:ext cx="16002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0" name="Line 88"/>
          <p:cNvSpPr>
            <a:spLocks noChangeShapeType="1"/>
          </p:cNvSpPr>
          <p:nvPr>
            <p:custDataLst>
              <p:tags r:id="rId72"/>
            </p:custDataLst>
          </p:nvPr>
        </p:nvSpPr>
        <p:spPr bwMode="auto">
          <a:xfrm flipV="1">
            <a:off x="6324600" y="51054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1" name="Line 89"/>
          <p:cNvSpPr>
            <a:spLocks noChangeShapeType="1"/>
          </p:cNvSpPr>
          <p:nvPr>
            <p:custDataLst>
              <p:tags r:id="rId73"/>
            </p:custDataLst>
          </p:nvPr>
        </p:nvSpPr>
        <p:spPr bwMode="auto">
          <a:xfrm flipV="1">
            <a:off x="6705600" y="51054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2" name="Line 90"/>
          <p:cNvSpPr>
            <a:spLocks noChangeShapeType="1"/>
          </p:cNvSpPr>
          <p:nvPr>
            <p:custDataLst>
              <p:tags r:id="rId74"/>
            </p:custDataLst>
          </p:nvPr>
        </p:nvSpPr>
        <p:spPr bwMode="auto">
          <a:xfrm flipV="1">
            <a:off x="5943600" y="51054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3" name="Line 91"/>
          <p:cNvSpPr>
            <a:spLocks noChangeShapeType="1"/>
          </p:cNvSpPr>
          <p:nvPr>
            <p:custDataLst>
              <p:tags r:id="rId75"/>
            </p:custDataLst>
          </p:nvPr>
        </p:nvSpPr>
        <p:spPr bwMode="auto">
          <a:xfrm flipV="1">
            <a:off x="5943600" y="4800600"/>
            <a:ext cx="1588" cy="304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4" name="Line 92"/>
          <p:cNvSpPr>
            <a:spLocks noChangeShapeType="1"/>
          </p:cNvSpPr>
          <p:nvPr>
            <p:custDataLst>
              <p:tags r:id="rId76"/>
            </p:custDataLst>
          </p:nvPr>
        </p:nvSpPr>
        <p:spPr bwMode="auto">
          <a:xfrm flipV="1">
            <a:off x="6324600" y="4800600"/>
            <a:ext cx="1588" cy="304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5" name="Line 93"/>
          <p:cNvSpPr>
            <a:spLocks noChangeShapeType="1"/>
          </p:cNvSpPr>
          <p:nvPr>
            <p:custDataLst>
              <p:tags r:id="rId77"/>
            </p:custDataLst>
          </p:nvPr>
        </p:nvSpPr>
        <p:spPr bwMode="auto">
          <a:xfrm flipV="1">
            <a:off x="6705600" y="4800600"/>
            <a:ext cx="1588" cy="304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0126" name="Rectangle 94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5638800" y="55626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300127" name="Rectangle 95"/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6019800" y="55626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300128" name="Rectangle 96"/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6400800" y="55626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300129" name="Rectangle 97"/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6781800" y="55626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300130" name="Rectangle 98"/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6781800" y="53340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7</a:t>
            </a:r>
          </a:p>
        </p:txBody>
      </p:sp>
      <p:sp>
        <p:nvSpPr>
          <p:cNvPr id="300131" name="Rectangle 99"/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6400800" y="53340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</a:t>
            </a:r>
          </a:p>
        </p:txBody>
      </p:sp>
      <p:sp>
        <p:nvSpPr>
          <p:cNvPr id="300132" name="Rectangle 100"/>
          <p:cNvSpPr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6019800" y="53340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</a:t>
            </a:r>
          </a:p>
        </p:txBody>
      </p:sp>
      <p:sp>
        <p:nvSpPr>
          <p:cNvPr id="300133" name="Rectangle 101"/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5638800" y="5334000"/>
            <a:ext cx="22542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300134" name="Rectangle 102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4724400" y="5943600"/>
            <a:ext cx="1141413" cy="47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byte address</a:t>
            </a:r>
          </a:p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(big Endian)</a:t>
            </a:r>
          </a:p>
        </p:txBody>
      </p:sp>
      <p:cxnSp>
        <p:nvCxnSpPr>
          <p:cNvPr id="300135" name="AutoShape 103"/>
          <p:cNvCxnSpPr>
            <a:cxnSpLocks noChangeShapeType="1"/>
            <a:stCxn id="300134" idx="0"/>
            <a:endCxn id="300127" idx="1"/>
          </p:cNvCxnSpPr>
          <p:nvPr>
            <p:custDataLst>
              <p:tags r:id="rId87"/>
            </p:custDataLst>
          </p:nvPr>
        </p:nvCxnSpPr>
        <p:spPr bwMode="auto">
          <a:xfrm rot="16200000">
            <a:off x="5533231" y="5457032"/>
            <a:ext cx="249237" cy="723900"/>
          </a:xfrm>
          <a:prstGeom prst="curvedConnector2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  <p:sp>
        <p:nvSpPr>
          <p:cNvPr id="300136" name="Rectangle 104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609600" y="762000"/>
            <a:ext cx="7848600" cy="1096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Arithmetic instructions – to/from the register file</a:t>
            </a:r>
          </a:p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Load/store instructions </a:t>
            </a:r>
            <a:r>
              <a:rPr lang="en-US" altLang="zh-CN" sz="2800" dirty="0" smtClean="0">
                <a:solidFill>
                  <a:schemeClr val="tx1"/>
                </a:solidFill>
                <a:ea typeface="宋体" pitchFamily="2" charset="-122"/>
              </a:rPr>
              <a:t>– </a:t>
            </a: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to/from memory</a:t>
            </a:r>
          </a:p>
        </p:txBody>
      </p:sp>
      <p:cxnSp>
        <p:nvCxnSpPr>
          <p:cNvPr id="300137" name="AutoShape 105"/>
          <p:cNvCxnSpPr>
            <a:cxnSpLocks noChangeShapeType="1"/>
            <a:stCxn id="300049" idx="1"/>
            <a:endCxn id="300050" idx="2"/>
          </p:cNvCxnSpPr>
          <p:nvPr>
            <p:custDataLst>
              <p:tags r:id="rId89"/>
            </p:custDataLst>
          </p:nvPr>
        </p:nvCxnSpPr>
        <p:spPr bwMode="auto">
          <a:xfrm rot="10800000">
            <a:off x="7610475" y="5857875"/>
            <a:ext cx="85725" cy="323850"/>
          </a:xfrm>
          <a:prstGeom prst="curvedConnector2">
            <a:avLst/>
          </a:prstGeom>
          <a:noFill/>
          <a:ln w="12700">
            <a:solidFill>
              <a:schemeClr val="accent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962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Unsigned </a:t>
            </a:r>
            <a:r>
              <a:rPr lang="en-US" dirty="0"/>
              <a:t>Binary Representation</a:t>
            </a:r>
          </a:p>
        </p:txBody>
      </p:sp>
      <p:graphicFrame>
        <p:nvGraphicFramePr>
          <p:cNvPr id="618499" name="Group 3"/>
          <p:cNvGraphicFramePr>
            <a:graphicFrameLocks noGrp="1"/>
          </p:cNvGraphicFramePr>
          <p:nvPr>
            <p:ph type="tbl" idx="1"/>
          </p:nvPr>
        </p:nvGraphicFramePr>
        <p:xfrm>
          <a:off x="381000" y="990600"/>
          <a:ext cx="4038600" cy="5440680"/>
        </p:xfrm>
        <a:graphic>
          <a:graphicData uri="http://schemas.openxmlformats.org/drawingml/2006/table">
            <a:tbl>
              <a:tblPr/>
              <a:tblGrid>
                <a:gridCol w="1600200"/>
                <a:gridCol w="1295400"/>
                <a:gridCol w="114300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8569" name="Rectangle 73"/>
          <p:cNvSpPr>
            <a:spLocks noChangeArrowheads="1"/>
          </p:cNvSpPr>
          <p:nvPr/>
        </p:nvSpPr>
        <p:spPr bwMode="auto">
          <a:xfrm>
            <a:off x="3429000" y="6096000"/>
            <a:ext cx="752475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2</a:t>
            </a:r>
            <a:r>
              <a:rPr lang="en-US" baseline="30000">
                <a:solidFill>
                  <a:schemeClr val="tx1"/>
                </a:solidFill>
              </a:rPr>
              <a:t>32</a:t>
            </a:r>
            <a:r>
              <a:rPr lang="en-US">
                <a:solidFill>
                  <a:schemeClr val="tx1"/>
                </a:solidFill>
              </a:rPr>
              <a:t> - 1</a:t>
            </a:r>
          </a:p>
        </p:txBody>
      </p:sp>
      <p:sp>
        <p:nvSpPr>
          <p:cNvPr id="618570" name="Rectangle 74"/>
          <p:cNvSpPr>
            <a:spLocks noChangeArrowheads="1"/>
          </p:cNvSpPr>
          <p:nvPr/>
        </p:nvSpPr>
        <p:spPr bwMode="auto">
          <a:xfrm>
            <a:off x="3429000" y="5791200"/>
            <a:ext cx="752475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2</a:t>
            </a:r>
            <a:r>
              <a:rPr lang="en-US" baseline="30000">
                <a:solidFill>
                  <a:schemeClr val="tx1"/>
                </a:solidFill>
              </a:rPr>
              <a:t>32</a:t>
            </a:r>
            <a:r>
              <a:rPr lang="en-US">
                <a:solidFill>
                  <a:schemeClr val="tx1"/>
                </a:solidFill>
              </a:rPr>
              <a:t> - 2</a:t>
            </a:r>
            <a:endParaRPr lang="en-US" baseline="3000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618571" name="Rectangle 75"/>
          <p:cNvSpPr>
            <a:spLocks noChangeArrowheads="1"/>
          </p:cNvSpPr>
          <p:nvPr/>
        </p:nvSpPr>
        <p:spPr bwMode="auto">
          <a:xfrm>
            <a:off x="3429000" y="5410200"/>
            <a:ext cx="752475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2</a:t>
            </a:r>
            <a:r>
              <a:rPr lang="en-US" baseline="30000">
                <a:solidFill>
                  <a:schemeClr val="tx1"/>
                </a:solidFill>
              </a:rPr>
              <a:t>32</a:t>
            </a:r>
            <a:r>
              <a:rPr lang="en-US">
                <a:solidFill>
                  <a:schemeClr val="tx1"/>
                </a:solidFill>
              </a:rPr>
              <a:t> - 3</a:t>
            </a:r>
          </a:p>
        </p:txBody>
      </p:sp>
      <p:sp>
        <p:nvSpPr>
          <p:cNvPr id="618572" name="Rectangle 76"/>
          <p:cNvSpPr>
            <a:spLocks noChangeArrowheads="1"/>
          </p:cNvSpPr>
          <p:nvPr/>
        </p:nvSpPr>
        <p:spPr bwMode="auto">
          <a:xfrm>
            <a:off x="3429000" y="5105400"/>
            <a:ext cx="752475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2</a:t>
            </a:r>
            <a:r>
              <a:rPr lang="en-US" baseline="30000">
                <a:solidFill>
                  <a:schemeClr val="tx1"/>
                </a:solidFill>
              </a:rPr>
              <a:t>32</a:t>
            </a:r>
            <a:r>
              <a:rPr lang="en-US">
                <a:solidFill>
                  <a:schemeClr val="tx1"/>
                </a:solidFill>
              </a:rPr>
              <a:t> - 4</a:t>
            </a:r>
            <a:endParaRPr lang="en-US" baseline="30000">
              <a:solidFill>
                <a:schemeClr val="tx1"/>
              </a:solidFill>
            </a:endParaRPr>
          </a:p>
        </p:txBody>
      </p:sp>
      <p:sp>
        <p:nvSpPr>
          <p:cNvPr id="618573" name="Rectangle 77"/>
          <p:cNvSpPr>
            <a:spLocks noChangeArrowheads="1"/>
          </p:cNvSpPr>
          <p:nvPr/>
        </p:nvSpPr>
        <p:spPr bwMode="auto">
          <a:xfrm>
            <a:off x="5867400" y="4648200"/>
            <a:ext cx="879475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2</a:t>
            </a:r>
            <a:r>
              <a:rPr lang="en-US" b="1" baseline="30000">
                <a:solidFill>
                  <a:schemeClr val="tx1"/>
                </a:solidFill>
              </a:rPr>
              <a:t>32</a:t>
            </a:r>
            <a:r>
              <a:rPr lang="en-US" b="1">
                <a:solidFill>
                  <a:schemeClr val="tx1"/>
                </a:solidFill>
              </a:rPr>
              <a:t>  -  1</a:t>
            </a:r>
            <a:endParaRPr lang="en-US" b="1" baseline="30000">
              <a:solidFill>
                <a:schemeClr val="tx1"/>
              </a:solidFill>
            </a:endParaRPr>
          </a:p>
        </p:txBody>
      </p:sp>
      <p:sp>
        <p:nvSpPr>
          <p:cNvPr id="618574" name="Rectangle 78"/>
          <p:cNvSpPr>
            <a:spLocks noChangeArrowheads="1"/>
          </p:cNvSpPr>
          <p:nvPr/>
        </p:nvSpPr>
        <p:spPr bwMode="auto">
          <a:xfrm>
            <a:off x="4876800" y="2667000"/>
            <a:ext cx="35179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1   1   1      . . .     1   1   1   1    bit</a:t>
            </a:r>
            <a:endParaRPr lang="en-US" b="1" baseline="30000">
              <a:solidFill>
                <a:schemeClr val="tx1"/>
              </a:solidFill>
            </a:endParaRPr>
          </a:p>
        </p:txBody>
      </p:sp>
      <p:sp>
        <p:nvSpPr>
          <p:cNvPr id="618575" name="Rectangle 79"/>
          <p:cNvSpPr>
            <a:spLocks noChangeArrowheads="1"/>
          </p:cNvSpPr>
          <p:nvPr/>
        </p:nvSpPr>
        <p:spPr bwMode="auto">
          <a:xfrm>
            <a:off x="4876800" y="2209800"/>
            <a:ext cx="407511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sz="1400"/>
              <a:t>31  30  29       . . .        3    2    1     0      bit position</a:t>
            </a:r>
            <a:endParaRPr lang="en-US" sz="1400" baseline="30000"/>
          </a:p>
        </p:txBody>
      </p:sp>
      <p:sp>
        <p:nvSpPr>
          <p:cNvPr id="618576" name="Rectangle 80"/>
          <p:cNvSpPr>
            <a:spLocks noChangeArrowheads="1"/>
          </p:cNvSpPr>
          <p:nvPr/>
        </p:nvSpPr>
        <p:spPr bwMode="auto">
          <a:xfrm>
            <a:off x="4876800" y="1752600"/>
            <a:ext cx="4021138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sz="1400">
                <a:solidFill>
                  <a:srgbClr val="009900"/>
                </a:solidFill>
                <a:cs typeface="Arial" charset="0"/>
              </a:rPr>
              <a:t>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31</a:t>
            </a:r>
            <a:r>
              <a:rPr lang="en-US" sz="1400">
                <a:solidFill>
                  <a:srgbClr val="009900"/>
                </a:solidFill>
              </a:rPr>
              <a:t>  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30</a:t>
            </a:r>
            <a:r>
              <a:rPr lang="en-US" sz="1400">
                <a:solidFill>
                  <a:srgbClr val="009900"/>
                </a:solidFill>
              </a:rPr>
              <a:t>  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29</a:t>
            </a:r>
            <a:r>
              <a:rPr lang="en-US" sz="1400">
                <a:solidFill>
                  <a:srgbClr val="009900"/>
                </a:solidFill>
              </a:rPr>
              <a:t>     . . .       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3</a:t>
            </a:r>
            <a:r>
              <a:rPr lang="en-US" sz="1400">
                <a:solidFill>
                  <a:srgbClr val="009900"/>
                </a:solidFill>
              </a:rPr>
              <a:t>   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2</a:t>
            </a:r>
            <a:r>
              <a:rPr lang="en-US" sz="1400">
                <a:solidFill>
                  <a:srgbClr val="009900"/>
                </a:solidFill>
              </a:rPr>
              <a:t>   2</a:t>
            </a:r>
            <a:r>
              <a:rPr lang="en-US" sz="1400" baseline="30000">
                <a:solidFill>
                  <a:srgbClr val="009900"/>
                </a:solidFill>
                <a:cs typeface="Arial" charset="0"/>
              </a:rPr>
              <a:t>1</a:t>
            </a:r>
            <a:r>
              <a:rPr lang="en-US" sz="1400">
                <a:solidFill>
                  <a:srgbClr val="009900"/>
                </a:solidFill>
              </a:rPr>
              <a:t>    2</a:t>
            </a:r>
            <a:r>
              <a:rPr lang="en-US" sz="1400" baseline="30000">
                <a:solidFill>
                  <a:srgbClr val="009900"/>
                </a:solidFill>
              </a:rPr>
              <a:t>0</a:t>
            </a:r>
            <a:r>
              <a:rPr lang="en-US" sz="1400">
                <a:solidFill>
                  <a:srgbClr val="009900"/>
                </a:solidFill>
              </a:rPr>
              <a:t>      bit weight</a:t>
            </a:r>
          </a:p>
        </p:txBody>
      </p:sp>
      <p:sp>
        <p:nvSpPr>
          <p:cNvPr id="618577" name="Rectangle 81"/>
          <p:cNvSpPr>
            <a:spLocks noChangeArrowheads="1"/>
          </p:cNvSpPr>
          <p:nvPr/>
        </p:nvSpPr>
        <p:spPr bwMode="auto">
          <a:xfrm>
            <a:off x="4572000" y="3505200"/>
            <a:ext cx="40132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1   0   0   0      . . .     0   0   0   0    -    1</a:t>
            </a:r>
            <a:endParaRPr lang="en-US" b="1" baseline="30000">
              <a:solidFill>
                <a:schemeClr val="tx1"/>
              </a:solidFill>
            </a:endParaRPr>
          </a:p>
        </p:txBody>
      </p:sp>
      <p:sp>
        <p:nvSpPr>
          <p:cNvPr id="618578" name="AutoShape 82"/>
          <p:cNvSpPr>
            <a:spLocks noChangeArrowheads="1"/>
          </p:cNvSpPr>
          <p:nvPr/>
        </p:nvSpPr>
        <p:spPr bwMode="auto">
          <a:xfrm>
            <a:off x="6019800" y="3124200"/>
            <a:ext cx="457200" cy="228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8579" name="AutoShape 83"/>
          <p:cNvSpPr>
            <a:spLocks noChangeArrowheads="1"/>
          </p:cNvSpPr>
          <p:nvPr/>
        </p:nvSpPr>
        <p:spPr bwMode="auto">
          <a:xfrm>
            <a:off x="6019800" y="4038600"/>
            <a:ext cx="457200" cy="228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5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73" grpId="0"/>
      <p:bldP spid="618577" grpId="0"/>
      <p:bldP spid="618578" grpId="0" animBg="1"/>
      <p:bldP spid="61857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228600"/>
            <a:ext cx="8153400" cy="422275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Signed </a:t>
            </a:r>
            <a:r>
              <a:rPr lang="en-US" altLang="zh-CN" dirty="0">
                <a:ea typeface="宋体" pitchFamily="2" charset="-122"/>
              </a:rPr>
              <a:t>Binary Representation</a:t>
            </a:r>
          </a:p>
        </p:txBody>
      </p:sp>
      <p:graphicFrame>
        <p:nvGraphicFramePr>
          <p:cNvPr id="288771" name="Group 3"/>
          <p:cNvGraphicFramePr>
            <a:graphicFrameLocks noGrp="1"/>
          </p:cNvGraphicFramePr>
          <p:nvPr>
            <p:ph type="tbl" idx="1"/>
            <p:custDataLst>
              <p:tags r:id="rId2"/>
            </p:custDataLst>
          </p:nvPr>
        </p:nvGraphicFramePr>
        <p:xfrm>
          <a:off x="4953000" y="762000"/>
          <a:ext cx="2819400" cy="6013704"/>
        </p:xfrm>
        <a:graphic>
          <a:graphicData uri="http://schemas.openxmlformats.org/drawingml/2006/table">
            <a:tbl>
              <a:tblPr/>
              <a:tblGrid>
                <a:gridCol w="1455738"/>
                <a:gridCol w="1363662"/>
              </a:tblGrid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2’sc binary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51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8827" name="Rectangle 5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62400" y="6400800"/>
            <a:ext cx="865188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  <a:ea typeface="宋体" pitchFamily="2" charset="-122"/>
              </a:rPr>
              <a:t>3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- 1 =</a:t>
            </a:r>
          </a:p>
        </p:txBody>
      </p:sp>
      <p:sp>
        <p:nvSpPr>
          <p:cNvPr id="288831" name="Rectangle 6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0" y="1524000"/>
            <a:ext cx="1093788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-(2</a:t>
            </a:r>
            <a:r>
              <a:rPr lang="en-US" altLang="zh-CN" baseline="30000" dirty="0">
                <a:solidFill>
                  <a:schemeClr val="tx1"/>
                </a:solidFill>
                <a:ea typeface="宋体" pitchFamily="2" charset="-122"/>
              </a:rPr>
              <a:t>3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- 1) =</a:t>
            </a:r>
          </a:p>
        </p:txBody>
      </p:sp>
      <p:sp>
        <p:nvSpPr>
          <p:cNvPr id="288832" name="Rectangle 6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91000" y="1143000"/>
            <a:ext cx="674688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-2</a:t>
            </a:r>
            <a:r>
              <a:rPr lang="en-US" altLang="zh-CN" baseline="30000" dirty="0">
                <a:solidFill>
                  <a:schemeClr val="tx1"/>
                </a:solidFill>
                <a:ea typeface="宋体" pitchFamily="2" charset="-122"/>
              </a:rPr>
              <a:t>3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=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2057400" y="4343400"/>
            <a:ext cx="4114800" cy="1752600"/>
            <a:chOff x="1392" y="2592"/>
            <a:chExt cx="2592" cy="1104"/>
          </a:xfrm>
        </p:grpSpPr>
        <p:sp>
          <p:nvSpPr>
            <p:cNvPr id="288828" name="Rectangle 6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392" y="2592"/>
              <a:ext cx="1728" cy="6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sz="2000">
                  <a:ea typeface="宋体" pitchFamily="2" charset="-122"/>
                </a:rPr>
                <a:t>1010</a:t>
              </a:r>
            </a:p>
            <a:p>
              <a:endParaRPr lang="en-US" altLang="zh-CN" sz="2000">
                <a:solidFill>
                  <a:schemeClr val="tx1"/>
                </a:solidFill>
                <a:ea typeface="宋体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complement all the bits</a:t>
              </a:r>
              <a:endParaRPr lang="en-US" altLang="zh-CN" sz="2000" baseline="30000">
                <a:solidFill>
                  <a:schemeClr val="tx1"/>
                </a:solidFill>
                <a:ea typeface="宋体" pitchFamily="2" charset="-122"/>
                <a:cs typeface="Arial" charset="0"/>
              </a:endParaRPr>
            </a:p>
          </p:txBody>
        </p:sp>
        <p:cxnSp>
          <p:nvCxnSpPr>
            <p:cNvPr id="288829" name="AutoShape 61"/>
            <p:cNvCxnSpPr>
              <a:cxnSpLocks noChangeShapeType="1"/>
              <a:stCxn id="288833" idx="2"/>
              <a:endCxn id="288828" idx="2"/>
            </p:cNvCxnSpPr>
            <p:nvPr>
              <p:custDataLst>
                <p:tags r:id="rId16"/>
              </p:custDataLst>
            </p:nvPr>
          </p:nvCxnSpPr>
          <p:spPr bwMode="auto">
            <a:xfrm rot="10800000">
              <a:off x="2256" y="3200"/>
              <a:ext cx="1058" cy="376"/>
            </a:xfrm>
            <a:prstGeom prst="curvedConnector2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88833" name="Oval 6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314" y="3456"/>
              <a:ext cx="670" cy="24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1981200" y="2214562"/>
            <a:ext cx="4267200" cy="1747838"/>
            <a:chOff x="1392" y="1344"/>
            <a:chExt cx="2544" cy="1096"/>
          </a:xfrm>
        </p:grpSpPr>
        <p:cxnSp>
          <p:nvCxnSpPr>
            <p:cNvPr id="288830" name="AutoShape 62"/>
            <p:cNvCxnSpPr>
              <a:cxnSpLocks noChangeShapeType="1"/>
              <a:stCxn id="288835" idx="0"/>
              <a:endCxn id="288834" idx="2"/>
            </p:cNvCxnSpPr>
            <p:nvPr>
              <p:custDataLst>
                <p:tags r:id="rId12"/>
              </p:custDataLst>
            </p:nvPr>
          </p:nvCxnSpPr>
          <p:spPr bwMode="auto">
            <a:xfrm rot="16200000">
              <a:off x="2440" y="995"/>
              <a:ext cx="368" cy="1311"/>
            </a:xfrm>
            <a:prstGeom prst="curvedConnector2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288834" name="Oval 6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79" y="1344"/>
              <a:ext cx="657" cy="245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835" name="Rectangle 6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392" y="1835"/>
              <a:ext cx="1152" cy="6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sz="2000">
                  <a:ea typeface="宋体" pitchFamily="2" charset="-122"/>
                </a:rPr>
                <a:t>1011</a:t>
              </a:r>
            </a:p>
            <a:p>
              <a:endParaRPr lang="en-US" altLang="zh-CN" sz="2000">
                <a:solidFill>
                  <a:schemeClr val="tx1"/>
                </a:solidFill>
                <a:ea typeface="宋体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and add a 1</a:t>
              </a:r>
              <a:endParaRPr lang="en-US" altLang="zh-CN" sz="2000" baseline="30000">
                <a:solidFill>
                  <a:schemeClr val="tx1"/>
                </a:solidFill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381000" y="1778000"/>
            <a:ext cx="5843588" cy="1651000"/>
            <a:chOff x="240" y="1104"/>
            <a:chExt cx="3681" cy="1040"/>
          </a:xfrm>
        </p:grpSpPr>
        <p:sp>
          <p:nvSpPr>
            <p:cNvPr id="288838" name="Oval 7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64" y="1104"/>
              <a:ext cx="657" cy="245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840" name="Rectangle 7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0" y="1536"/>
              <a:ext cx="1776" cy="6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complement all the bits</a:t>
              </a:r>
            </a:p>
            <a:p>
              <a:endParaRPr lang="en-US" altLang="zh-CN" sz="2000">
                <a:solidFill>
                  <a:schemeClr val="tx1"/>
                </a:solidFill>
                <a:ea typeface="宋体" pitchFamily="2" charset="-122"/>
              </a:endParaRPr>
            </a:p>
            <a:p>
              <a:r>
                <a:rPr lang="en-US" altLang="zh-CN" sz="2000">
                  <a:solidFill>
                    <a:srgbClr val="009900"/>
                  </a:solidFill>
                  <a:ea typeface="宋体" pitchFamily="2" charset="-122"/>
                </a:rPr>
                <a:t>0101</a:t>
              </a:r>
              <a:endParaRPr lang="en-US" altLang="zh-CN" sz="2000" baseline="30000">
                <a:solidFill>
                  <a:srgbClr val="009900"/>
                </a:solidFill>
                <a:ea typeface="宋体" pitchFamily="2" charset="-122"/>
                <a:cs typeface="Arial" charset="0"/>
              </a:endParaRPr>
            </a:p>
          </p:txBody>
        </p:sp>
        <p:cxnSp>
          <p:nvCxnSpPr>
            <p:cNvPr id="288842" name="AutoShape 74"/>
            <p:cNvCxnSpPr>
              <a:cxnSpLocks noChangeShapeType="1"/>
              <a:stCxn id="288840" idx="0"/>
              <a:endCxn id="288838" idx="2"/>
            </p:cNvCxnSpPr>
            <p:nvPr>
              <p:custDataLst>
                <p:tags r:id="rId11"/>
              </p:custDataLst>
            </p:nvPr>
          </p:nvCxnSpPr>
          <p:spPr bwMode="auto">
            <a:xfrm rot="16200000">
              <a:off x="2041" y="314"/>
              <a:ext cx="309" cy="2136"/>
            </a:xfrm>
            <a:prstGeom prst="curvedConnector2">
              <a:avLst/>
            </a:prstGeom>
            <a:noFill/>
            <a:ln w="12700">
              <a:solidFill>
                <a:srgbClr val="009900"/>
              </a:solidFill>
              <a:round/>
              <a:headEnd type="triangle" w="med" len="med"/>
              <a:tailEnd/>
            </a:ln>
            <a:effectLst/>
          </p:spPr>
        </p:cxnSp>
      </p:grpSp>
      <p:grpSp>
        <p:nvGrpSpPr>
          <p:cNvPr id="5" name="Group 79"/>
          <p:cNvGrpSpPr>
            <a:grpSpLocks/>
          </p:cNvGrpSpPr>
          <p:nvPr/>
        </p:nvGrpSpPr>
        <p:grpSpPr bwMode="auto">
          <a:xfrm>
            <a:off x="381000" y="3802062"/>
            <a:ext cx="5843588" cy="2598738"/>
            <a:chOff x="240" y="2256"/>
            <a:chExt cx="3681" cy="1637"/>
          </a:xfrm>
        </p:grpSpPr>
        <p:sp>
          <p:nvSpPr>
            <p:cNvPr id="288839" name="Rectangle 7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0" y="2256"/>
              <a:ext cx="1152" cy="6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ea typeface="宋体" pitchFamily="2" charset="-122"/>
                </a:rPr>
                <a:t>and add a 1</a:t>
              </a:r>
            </a:p>
            <a:p>
              <a:endParaRPr lang="en-US" altLang="zh-CN" sz="2000" dirty="0">
                <a:solidFill>
                  <a:schemeClr val="tx1"/>
                </a:solidFill>
                <a:ea typeface="宋体" pitchFamily="2" charset="-122"/>
              </a:endParaRPr>
            </a:p>
            <a:p>
              <a:r>
                <a:rPr lang="en-US" altLang="zh-CN" sz="2000" dirty="0">
                  <a:solidFill>
                    <a:srgbClr val="009900"/>
                  </a:solidFill>
                  <a:ea typeface="宋体" pitchFamily="2" charset="-122"/>
                </a:rPr>
                <a:t>0110</a:t>
              </a:r>
              <a:endParaRPr lang="en-US" altLang="zh-CN" sz="2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88841" name="Oval 7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264" y="3648"/>
              <a:ext cx="657" cy="245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8843" name="AutoShape 75"/>
            <p:cNvCxnSpPr>
              <a:cxnSpLocks noChangeShapeType="1"/>
              <a:endCxn id="288839" idx="2"/>
            </p:cNvCxnSpPr>
            <p:nvPr>
              <p:custDataLst>
                <p:tags r:id="rId8"/>
              </p:custDataLst>
            </p:nvPr>
          </p:nvCxnSpPr>
          <p:spPr bwMode="auto">
            <a:xfrm rot="10800000">
              <a:off x="816" y="2864"/>
              <a:ext cx="2450" cy="920"/>
            </a:xfrm>
            <a:prstGeom prst="curvedConnector2">
              <a:avLst/>
            </a:prstGeom>
            <a:noFill/>
            <a:ln w="12700">
              <a:solidFill>
                <a:srgbClr val="009900"/>
              </a:solidFill>
              <a:round/>
              <a:headEnd type="triangle" w="med" len="med"/>
              <a:tailEnd/>
            </a:ln>
            <a:effectLst/>
          </p:spPr>
        </p:cxnSp>
      </p:grpSp>
      <p:sp>
        <p:nvSpPr>
          <p:cNvPr id="23" name="TextBox 22"/>
          <p:cNvSpPr txBox="1"/>
          <p:nvPr/>
        </p:nvSpPr>
        <p:spPr>
          <a:xfrm>
            <a:off x="533400" y="7620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two’s complement negation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02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426360"/>
          </a:xfrm>
        </p:spPr>
        <p:txBody>
          <a:bodyPr/>
          <a:lstStyle/>
          <a:p>
            <a:r>
              <a:rPr lang="en-US" dirty="0" smtClean="0"/>
              <a:t>Signed </a:t>
            </a:r>
            <a:r>
              <a:rPr lang="en-US" dirty="0"/>
              <a:t>Binary Representation</a:t>
            </a:r>
          </a:p>
        </p:txBody>
      </p:sp>
      <p:graphicFrame>
        <p:nvGraphicFramePr>
          <p:cNvPr id="618499" name="Group 3"/>
          <p:cNvGraphicFramePr>
            <a:graphicFrameLocks noGrp="1"/>
          </p:cNvGraphicFramePr>
          <p:nvPr>
            <p:ph type="tbl" idx="1"/>
          </p:nvPr>
        </p:nvGraphicFramePr>
        <p:xfrm>
          <a:off x="381000" y="990600"/>
          <a:ext cx="4038600" cy="5440680"/>
        </p:xfrm>
        <a:graphic>
          <a:graphicData uri="http://schemas.openxmlformats.org/drawingml/2006/table">
            <a:tbl>
              <a:tblPr/>
              <a:tblGrid>
                <a:gridCol w="1600200"/>
                <a:gridCol w="1295400"/>
                <a:gridCol w="114300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0x00000009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0…1001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0xFFFFFFFF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1…1111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8573" name="Rectangle 77"/>
          <p:cNvSpPr>
            <a:spLocks noChangeArrowheads="1"/>
          </p:cNvSpPr>
          <p:nvPr/>
        </p:nvSpPr>
        <p:spPr bwMode="auto">
          <a:xfrm>
            <a:off x="5334000" y="4648200"/>
            <a:ext cx="2071080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−2</a:t>
            </a:r>
            <a:r>
              <a:rPr lang="en-US" b="1" baseline="30000" dirty="0" smtClean="0">
                <a:solidFill>
                  <a:schemeClr val="tx1"/>
                </a:solidFill>
              </a:rPr>
              <a:t>31</a:t>
            </a:r>
            <a:r>
              <a:rPr lang="en-US" b="1" dirty="0" smtClean="0">
                <a:solidFill>
                  <a:schemeClr val="tx1"/>
                </a:solidFill>
              </a:rPr>
              <a:t> to (2</a:t>
            </a:r>
            <a:r>
              <a:rPr lang="en-US" b="1" baseline="30000" dirty="0" smtClean="0">
                <a:solidFill>
                  <a:schemeClr val="tx1"/>
                </a:solidFill>
              </a:rPr>
              <a:t>31</a:t>
            </a:r>
            <a:r>
              <a:rPr lang="en-US" b="1" dirty="0" smtClean="0">
                <a:solidFill>
                  <a:schemeClr val="tx1"/>
                </a:solidFill>
              </a:rPr>
              <a:t>  −  1)   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618574" name="Rectangle 78"/>
          <p:cNvSpPr>
            <a:spLocks noChangeArrowheads="1"/>
          </p:cNvSpPr>
          <p:nvPr/>
        </p:nvSpPr>
        <p:spPr bwMode="auto">
          <a:xfrm>
            <a:off x="4876800" y="2667000"/>
            <a:ext cx="35179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1   1   1      . . .     1   1   1   1    bit</a:t>
            </a:r>
            <a:endParaRPr lang="en-US" b="1" baseline="30000">
              <a:solidFill>
                <a:schemeClr val="tx1"/>
              </a:solidFill>
            </a:endParaRPr>
          </a:p>
        </p:txBody>
      </p:sp>
      <p:sp>
        <p:nvSpPr>
          <p:cNvPr id="618575" name="Rectangle 79"/>
          <p:cNvSpPr>
            <a:spLocks noChangeArrowheads="1"/>
          </p:cNvSpPr>
          <p:nvPr/>
        </p:nvSpPr>
        <p:spPr bwMode="auto">
          <a:xfrm>
            <a:off x="4876800" y="2209800"/>
            <a:ext cx="407511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sz="1400"/>
              <a:t>31  30  29       . . .        3    2    1     0      bit position</a:t>
            </a:r>
            <a:endParaRPr lang="en-US" sz="1400" baseline="30000"/>
          </a:p>
        </p:txBody>
      </p:sp>
      <p:sp>
        <p:nvSpPr>
          <p:cNvPr id="618576" name="Rectangle 80"/>
          <p:cNvSpPr>
            <a:spLocks noChangeArrowheads="1"/>
          </p:cNvSpPr>
          <p:nvPr/>
        </p:nvSpPr>
        <p:spPr bwMode="auto">
          <a:xfrm>
            <a:off x="4800600" y="1905000"/>
            <a:ext cx="4173538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1400" dirty="0" smtClean="0">
                <a:solidFill>
                  <a:srgbClr val="009900"/>
                </a:solidFill>
                <a:cs typeface="Arial" charset="0"/>
              </a:rPr>
              <a:t>-2</a:t>
            </a:r>
            <a:r>
              <a:rPr lang="en-US" sz="1400" baseline="30000" dirty="0" smtClean="0">
                <a:solidFill>
                  <a:srgbClr val="009900"/>
                </a:solidFill>
                <a:cs typeface="Arial" charset="0"/>
              </a:rPr>
              <a:t>31</a:t>
            </a:r>
            <a:r>
              <a:rPr lang="en-US" sz="1400" dirty="0" smtClean="0">
                <a:solidFill>
                  <a:srgbClr val="009900"/>
                </a:solidFill>
              </a:rPr>
              <a:t>  </a:t>
            </a:r>
            <a:r>
              <a:rPr lang="en-US" sz="1400" dirty="0">
                <a:solidFill>
                  <a:srgbClr val="009900"/>
                </a:solidFill>
              </a:rPr>
              <a:t>2</a:t>
            </a:r>
            <a:r>
              <a:rPr lang="en-US" sz="1400" baseline="30000" dirty="0">
                <a:solidFill>
                  <a:srgbClr val="009900"/>
                </a:solidFill>
                <a:cs typeface="Arial" charset="0"/>
              </a:rPr>
              <a:t>30</a:t>
            </a:r>
            <a:r>
              <a:rPr lang="en-US" sz="1400" dirty="0">
                <a:solidFill>
                  <a:srgbClr val="009900"/>
                </a:solidFill>
              </a:rPr>
              <a:t>  2</a:t>
            </a:r>
            <a:r>
              <a:rPr lang="en-US" sz="1400" baseline="30000" dirty="0">
                <a:solidFill>
                  <a:srgbClr val="009900"/>
                </a:solidFill>
                <a:cs typeface="Arial" charset="0"/>
              </a:rPr>
              <a:t>29</a:t>
            </a:r>
            <a:r>
              <a:rPr lang="en-US" sz="1400" dirty="0">
                <a:solidFill>
                  <a:srgbClr val="009900"/>
                </a:solidFill>
              </a:rPr>
              <a:t>     . . .       2</a:t>
            </a:r>
            <a:r>
              <a:rPr lang="en-US" sz="1400" baseline="30000" dirty="0">
                <a:solidFill>
                  <a:srgbClr val="009900"/>
                </a:solidFill>
                <a:cs typeface="Arial" charset="0"/>
              </a:rPr>
              <a:t>3</a:t>
            </a:r>
            <a:r>
              <a:rPr lang="en-US" sz="1400" dirty="0">
                <a:solidFill>
                  <a:srgbClr val="009900"/>
                </a:solidFill>
              </a:rPr>
              <a:t>   2</a:t>
            </a:r>
            <a:r>
              <a:rPr lang="en-US" sz="1400" baseline="30000" dirty="0">
                <a:solidFill>
                  <a:srgbClr val="009900"/>
                </a:solidFill>
                <a:cs typeface="Arial" charset="0"/>
              </a:rPr>
              <a:t>2</a:t>
            </a:r>
            <a:r>
              <a:rPr lang="en-US" sz="1400" dirty="0">
                <a:solidFill>
                  <a:srgbClr val="009900"/>
                </a:solidFill>
              </a:rPr>
              <a:t>   2</a:t>
            </a:r>
            <a:r>
              <a:rPr lang="en-US" sz="1400" baseline="30000" dirty="0">
                <a:solidFill>
                  <a:srgbClr val="009900"/>
                </a:solidFill>
                <a:cs typeface="Arial" charset="0"/>
              </a:rPr>
              <a:t>1</a:t>
            </a:r>
            <a:r>
              <a:rPr lang="en-US" sz="1400" dirty="0">
                <a:solidFill>
                  <a:srgbClr val="009900"/>
                </a:solidFill>
              </a:rPr>
              <a:t>    2</a:t>
            </a:r>
            <a:r>
              <a:rPr lang="en-US" sz="1400" baseline="30000" dirty="0">
                <a:solidFill>
                  <a:srgbClr val="009900"/>
                </a:solidFill>
              </a:rPr>
              <a:t>0</a:t>
            </a:r>
            <a:r>
              <a:rPr lang="en-US" sz="1400" dirty="0">
                <a:solidFill>
                  <a:srgbClr val="009900"/>
                </a:solidFill>
              </a:rPr>
              <a:t>      bit weight</a:t>
            </a:r>
          </a:p>
        </p:txBody>
      </p:sp>
      <p:sp>
        <p:nvSpPr>
          <p:cNvPr id="618577" name="Rectangle 81"/>
          <p:cNvSpPr>
            <a:spLocks noChangeArrowheads="1"/>
          </p:cNvSpPr>
          <p:nvPr/>
        </p:nvSpPr>
        <p:spPr bwMode="auto">
          <a:xfrm>
            <a:off x="4572000" y="3505200"/>
            <a:ext cx="3560069" cy="6052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 (−)   1   0   0      . . .     0   0   0   0 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(+)   0   1   1      </a:t>
            </a:r>
            <a:r>
              <a:rPr lang="en-US" b="1" dirty="0">
                <a:solidFill>
                  <a:schemeClr val="tx1"/>
                </a:solidFill>
              </a:rPr>
              <a:t>. . .    </a:t>
            </a:r>
            <a:r>
              <a:rPr lang="en-US" b="1" dirty="0" smtClean="0">
                <a:solidFill>
                  <a:schemeClr val="tx1"/>
                </a:solidFill>
              </a:rPr>
              <a:t> 1   1   1   1   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  <p:sp>
        <p:nvSpPr>
          <p:cNvPr id="618578" name="AutoShape 82"/>
          <p:cNvSpPr>
            <a:spLocks noChangeArrowheads="1"/>
          </p:cNvSpPr>
          <p:nvPr/>
        </p:nvSpPr>
        <p:spPr bwMode="auto">
          <a:xfrm>
            <a:off x="6019800" y="3124200"/>
            <a:ext cx="457200" cy="228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8579" name="AutoShape 83"/>
          <p:cNvSpPr>
            <a:spLocks noChangeArrowheads="1"/>
          </p:cNvSpPr>
          <p:nvPr/>
        </p:nvSpPr>
        <p:spPr bwMode="auto">
          <a:xfrm>
            <a:off x="6019800" y="4267200"/>
            <a:ext cx="457200" cy="228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1619" name="Object 3"/>
          <p:cNvGraphicFramePr>
            <a:graphicFrameLocks noChangeAspect="1"/>
          </p:cNvGraphicFramePr>
          <p:nvPr/>
        </p:nvGraphicFramePr>
        <p:xfrm>
          <a:off x="4800600" y="990600"/>
          <a:ext cx="38655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4" imgW="2590560" imgH="241200" progId="Equation.3">
                  <p:embed/>
                </p:oleObj>
              </mc:Choice>
              <mc:Fallback>
                <p:oleObj name="Equation" r:id="rId4" imgW="2590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990600"/>
                        <a:ext cx="3865563" cy="360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181600" y="13716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two’s complement</a:t>
            </a:r>
            <a:endParaRPr lang="en-US" dirty="0"/>
          </a:p>
        </p:txBody>
      </p:sp>
      <p:sp>
        <p:nvSpPr>
          <p:cNvPr id="14" name="Rectangle 77"/>
          <p:cNvSpPr>
            <a:spLocks noChangeArrowheads="1"/>
          </p:cNvSpPr>
          <p:nvPr/>
        </p:nvSpPr>
        <p:spPr bwMode="auto">
          <a:xfrm>
            <a:off x="4648200" y="6096000"/>
            <a:ext cx="4267200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b="1" dirty="0" err="1" smtClean="0">
                <a:solidFill>
                  <a:schemeClr val="tx1"/>
                </a:solidFill>
              </a:rPr>
              <a:t>n</a:t>
            </a:r>
            <a:r>
              <a:rPr lang="en-US" b="1" dirty="0" smtClean="0">
                <a:solidFill>
                  <a:schemeClr val="tx1"/>
                </a:solidFill>
              </a:rPr>
              <a:t> bits, the range is  −2</a:t>
            </a:r>
            <a:r>
              <a:rPr lang="en-US" b="1" baseline="30000" dirty="0" smtClean="0">
                <a:solidFill>
                  <a:schemeClr val="tx1"/>
                </a:solidFill>
              </a:rPr>
              <a:t>n-1 </a:t>
            </a:r>
            <a:r>
              <a:rPr lang="en-US" b="1" dirty="0" smtClean="0">
                <a:solidFill>
                  <a:schemeClr val="tx1"/>
                </a:solidFill>
              </a:rPr>
              <a:t> to  (2</a:t>
            </a:r>
            <a:r>
              <a:rPr lang="en-US" b="1" baseline="30000" dirty="0" smtClean="0">
                <a:solidFill>
                  <a:schemeClr val="tx1"/>
                </a:solidFill>
              </a:rPr>
              <a:t>n-1</a:t>
            </a:r>
            <a:r>
              <a:rPr lang="en-US" b="1" dirty="0" smtClean="0">
                <a:solidFill>
                  <a:schemeClr val="tx1"/>
                </a:solidFill>
              </a:rPr>
              <a:t>  −  1)  </a:t>
            </a:r>
            <a:endParaRPr lang="en-US" b="1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7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73" grpId="0"/>
      <p:bldP spid="618577" grpId="0"/>
      <p:bldP spid="618578" grpId="0" animBg="1"/>
      <p:bldP spid="618579" grpId="0" animBg="1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924800" cy="435504"/>
          </a:xfrm>
        </p:spPr>
        <p:txBody>
          <a:bodyPr/>
          <a:lstStyle/>
          <a:p>
            <a:r>
              <a:rPr lang="en-US" dirty="0" smtClean="0"/>
              <a:t>Zero Extension, Sign Extension</a:t>
            </a:r>
            <a:endParaRPr lang="en-US" dirty="0"/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229600" cy="4746848"/>
          </a:xfrm>
        </p:spPr>
        <p:txBody>
          <a:bodyPr/>
          <a:lstStyle/>
          <a:p>
            <a:r>
              <a:rPr lang="en-US" dirty="0" smtClean="0"/>
              <a:t>Represent a number using more bits, but preserve the numeric value</a:t>
            </a:r>
          </a:p>
          <a:p>
            <a:pPr lvl="1"/>
            <a:r>
              <a:rPr lang="en-US" dirty="0" smtClean="0"/>
              <a:t>unsigned – use zero-extension</a:t>
            </a:r>
          </a:p>
          <a:p>
            <a:pPr lvl="2"/>
            <a:r>
              <a:rPr lang="en-US" dirty="0" smtClean="0"/>
              <a:t>4 bits to 8 bits, </a:t>
            </a:r>
            <a:r>
              <a:rPr lang="en-US" dirty="0" err="1" smtClean="0"/>
              <a:t>wxyz</a:t>
            </a:r>
            <a:r>
              <a:rPr lang="en-US" dirty="0" smtClean="0"/>
              <a:t>   =&gt;  0000wxyz</a:t>
            </a:r>
          </a:p>
          <a:p>
            <a:pPr lvl="1"/>
            <a:r>
              <a:rPr lang="en-US" dirty="0" smtClean="0"/>
              <a:t>signed – use sign-extension</a:t>
            </a:r>
          </a:p>
          <a:p>
            <a:pPr lvl="2"/>
            <a:r>
              <a:rPr lang="en-US" dirty="0" smtClean="0"/>
              <a:t>4 bits to 8 bits, </a:t>
            </a:r>
            <a:r>
              <a:rPr lang="en-US" dirty="0" err="1" smtClean="0"/>
              <a:t>wxyz</a:t>
            </a:r>
            <a:r>
              <a:rPr lang="en-US" dirty="0" smtClean="0"/>
              <a:t>  =&gt;  </a:t>
            </a:r>
            <a:r>
              <a:rPr lang="en-US" dirty="0" err="1" smtClean="0"/>
              <a:t>wwwwwxyz</a:t>
            </a:r>
            <a:endParaRPr lang="en-US" dirty="0" smtClean="0"/>
          </a:p>
          <a:p>
            <a:pPr lvl="2"/>
            <a:r>
              <a:rPr lang="en-US" dirty="0" smtClean="0"/>
              <a:t>replicate the left-most bit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Exercise: prove that this works as claimed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714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 to Binary and Back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5800" y="914400"/>
          <a:ext cx="78486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1075"/>
                <a:gridCol w="981075"/>
                <a:gridCol w="981075"/>
                <a:gridCol w="981075"/>
                <a:gridCol w="981075"/>
                <a:gridCol w="981075"/>
                <a:gridCol w="981075"/>
                <a:gridCol w="9810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b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ontent Placeholder 17"/>
          <p:cNvSpPr txBox="1">
            <a:spLocks/>
          </p:cNvSpPr>
          <p:nvPr/>
        </p:nvSpPr>
        <p:spPr bwMode="auto">
          <a:xfrm>
            <a:off x="642910" y="3071810"/>
            <a:ext cx="7848600" cy="4067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eca8  6420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hex</a:t>
            </a:r>
          </a:p>
        </p:txBody>
      </p:sp>
      <p:sp>
        <p:nvSpPr>
          <p:cNvPr id="9" name="Content Placeholder 17"/>
          <p:cNvSpPr txBox="1">
            <a:spLocks/>
          </p:cNvSpPr>
          <p:nvPr/>
        </p:nvSpPr>
        <p:spPr bwMode="auto">
          <a:xfrm>
            <a:off x="642910" y="4572008"/>
            <a:ext cx="7848600" cy="4067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0001 0011 0101 0111 1001 1011 1101 1111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two</a:t>
            </a:r>
          </a:p>
        </p:txBody>
      </p:sp>
    </p:spTree>
    <p:extLst>
      <p:ext uri="{BB962C8B-B14F-4D97-AF65-F5344CB8AC3E}">
        <p14:creationId xmlns:p14="http://schemas.microsoft.com/office/powerpoint/2010/main" val="526561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to Hex </a:t>
            </a:r>
            <a:r>
              <a:rPr lang="en-US" smtClean="0"/>
              <a:t>and Back</a:t>
            </a:r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5800" y="914400"/>
          <a:ext cx="78486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1075"/>
                <a:gridCol w="981075"/>
                <a:gridCol w="981075"/>
                <a:gridCol w="981075"/>
                <a:gridCol w="981075"/>
                <a:gridCol w="981075"/>
                <a:gridCol w="981075"/>
                <a:gridCol w="9810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1110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r>
                        <a:rPr lang="en-US" baseline="-25000" dirty="0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b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</a:t>
                      </a:r>
                      <a:r>
                        <a:rPr lang="en-US" baseline="-25000" dirty="0" err="1" smtClean="0"/>
                        <a:t>hex</a:t>
                      </a:r>
                      <a:endParaRPr lang="en-US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1111</a:t>
                      </a:r>
                      <a:r>
                        <a:rPr lang="en-US" baseline="-25000" dirty="0" smtClean="0"/>
                        <a:t>two</a:t>
                      </a:r>
                      <a:endParaRPr lang="en-US" baseline="-25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ontent Placeholder 17"/>
          <p:cNvSpPr txBox="1">
            <a:spLocks/>
          </p:cNvSpPr>
          <p:nvPr/>
        </p:nvSpPr>
        <p:spPr bwMode="auto">
          <a:xfrm>
            <a:off x="642910" y="3071810"/>
            <a:ext cx="7848600" cy="4067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eca8  6420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hex</a:t>
            </a:r>
          </a:p>
        </p:txBody>
      </p:sp>
      <p:sp>
        <p:nvSpPr>
          <p:cNvPr id="9" name="Content Placeholder 17"/>
          <p:cNvSpPr txBox="1">
            <a:spLocks/>
          </p:cNvSpPr>
          <p:nvPr/>
        </p:nvSpPr>
        <p:spPr bwMode="auto">
          <a:xfrm>
            <a:off x="642910" y="4572008"/>
            <a:ext cx="7848600" cy="4067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0001 0011 0101 0111 1001 1011 1101 1111</a:t>
            </a:r>
            <a:r>
              <a:rPr kumimoji="0" lang="en-US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two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42910" y="3357562"/>
            <a:ext cx="7848600" cy="1049720"/>
            <a:chOff x="642910" y="3357562"/>
            <a:chExt cx="7848600" cy="1049720"/>
          </a:xfrm>
        </p:grpSpPr>
        <p:sp>
          <p:nvSpPr>
            <p:cNvPr id="7" name="Content Placeholder 17"/>
            <p:cNvSpPr txBox="1">
              <a:spLocks/>
            </p:cNvSpPr>
            <p:nvPr/>
          </p:nvSpPr>
          <p:spPr bwMode="auto">
            <a:xfrm>
              <a:off x="642910" y="4000504"/>
              <a:ext cx="7848600" cy="4067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63500" tIns="25400" rIns="63500" bIns="254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ctr" defTabSz="914400" rtl="0" eaLnBrk="0" fontAlgn="base" latinLnBrk="0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1110 1100 1010 1000  0110 0100 0010 0000</a:t>
              </a:r>
              <a:r>
                <a:rPr kumimoji="0" lang="en-US" sz="2400" b="0" i="0" u="none" strike="noStrike" kern="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two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 rot="10800000" flipV="1">
              <a:off x="1071538" y="3357562"/>
              <a:ext cx="2428892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 rot="10800000" flipV="1">
              <a:off x="2071670" y="3357562"/>
              <a:ext cx="1643074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" name="Straight Arrow Connector 15"/>
            <p:cNvCxnSpPr/>
            <p:nvPr/>
          </p:nvCxnSpPr>
          <p:spPr bwMode="auto">
            <a:xfrm rot="10800000" flipV="1">
              <a:off x="2928926" y="3357562"/>
              <a:ext cx="928694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/>
            <p:cNvCxnSpPr/>
            <p:nvPr/>
          </p:nvCxnSpPr>
          <p:spPr bwMode="auto">
            <a:xfrm rot="5400000">
              <a:off x="3643306" y="3571876"/>
              <a:ext cx="571504" cy="28575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" name="Straight Arrow Connector 21"/>
            <p:cNvCxnSpPr/>
            <p:nvPr/>
          </p:nvCxnSpPr>
          <p:spPr bwMode="auto">
            <a:xfrm rot="16200000" flipH="1">
              <a:off x="4464843" y="3536157"/>
              <a:ext cx="642942" cy="28575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4857752" y="3357562"/>
              <a:ext cx="928694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>
              <a:off x="5072066" y="3357562"/>
              <a:ext cx="1643074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5286380" y="3357562"/>
              <a:ext cx="2286016" cy="64294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6" name="Group 55"/>
          <p:cNvGrpSpPr/>
          <p:nvPr/>
        </p:nvGrpSpPr>
        <p:grpSpPr>
          <a:xfrm>
            <a:off x="723928" y="4857760"/>
            <a:ext cx="7848600" cy="1192596"/>
            <a:chOff x="723928" y="4857760"/>
            <a:chExt cx="7848600" cy="1192596"/>
          </a:xfrm>
        </p:grpSpPr>
        <p:sp>
          <p:nvSpPr>
            <p:cNvPr id="10" name="Content Placeholder 17"/>
            <p:cNvSpPr txBox="1">
              <a:spLocks/>
            </p:cNvSpPr>
            <p:nvPr/>
          </p:nvSpPr>
          <p:spPr bwMode="auto">
            <a:xfrm>
              <a:off x="723928" y="5643578"/>
              <a:ext cx="7848600" cy="4067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63500" tIns="25400" rIns="63500" bIns="254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ctr" defTabSz="914400" rtl="0" eaLnBrk="0" fontAlgn="base" latinLnBrk="0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tabLst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1357  9bdf</a:t>
              </a:r>
              <a:r>
                <a:rPr kumimoji="0" lang="en-US" sz="2400" b="0" i="0" u="none" strike="noStrike" kern="0" cap="none" spc="0" normalizeH="0" baseline="-2500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hex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 bwMode="auto">
            <a:xfrm>
              <a:off x="1214414" y="4857760"/>
              <a:ext cx="2286016" cy="7858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8" name="Straight Arrow Connector 37"/>
            <p:cNvCxnSpPr/>
            <p:nvPr/>
          </p:nvCxnSpPr>
          <p:spPr bwMode="auto">
            <a:xfrm>
              <a:off x="2071670" y="4857760"/>
              <a:ext cx="1643074" cy="7858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>
              <a:off x="3071802" y="4929198"/>
              <a:ext cx="857256" cy="71438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2" name="Straight Arrow Connector 41"/>
            <p:cNvCxnSpPr/>
            <p:nvPr/>
          </p:nvCxnSpPr>
          <p:spPr bwMode="auto">
            <a:xfrm rot="16200000" flipH="1">
              <a:off x="3679025" y="5179231"/>
              <a:ext cx="785818" cy="14287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4" name="Straight Arrow Connector 43"/>
            <p:cNvCxnSpPr/>
            <p:nvPr/>
          </p:nvCxnSpPr>
          <p:spPr bwMode="auto">
            <a:xfrm rot="5400000">
              <a:off x="4429124" y="5214950"/>
              <a:ext cx="785818" cy="7143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7" name="Straight Arrow Connector 46"/>
            <p:cNvCxnSpPr/>
            <p:nvPr/>
          </p:nvCxnSpPr>
          <p:spPr bwMode="auto">
            <a:xfrm rot="10800000" flipV="1">
              <a:off x="4929190" y="4929198"/>
              <a:ext cx="857256" cy="71438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9" name="Straight Arrow Connector 48"/>
            <p:cNvCxnSpPr/>
            <p:nvPr/>
          </p:nvCxnSpPr>
          <p:spPr bwMode="auto">
            <a:xfrm rot="10800000" flipV="1">
              <a:off x="5143504" y="4929198"/>
              <a:ext cx="1428760" cy="71438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1" name="Straight Arrow Connector 50"/>
            <p:cNvCxnSpPr/>
            <p:nvPr/>
          </p:nvCxnSpPr>
          <p:spPr bwMode="auto">
            <a:xfrm rot="10800000" flipV="1">
              <a:off x="5357818" y="4929198"/>
              <a:ext cx="2214578" cy="71438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57" name="Content Placeholder 17"/>
          <p:cNvSpPr txBox="1">
            <a:spLocks/>
          </p:cNvSpPr>
          <p:nvPr/>
        </p:nvSpPr>
        <p:spPr bwMode="auto">
          <a:xfrm>
            <a:off x="5857884" y="5643578"/>
            <a:ext cx="2928958" cy="4021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0x1357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9bdf</a:t>
            </a:r>
            <a:endParaRPr kumimoji="0" lang="en-US" sz="2400" b="0" i="0" u="none" strike="noStrike" kern="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8392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8153400" cy="5746701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>
                <a:ea typeface="宋体" pitchFamily="2" charset="-122"/>
              </a:rPr>
              <a:t>Instructions, like registers and words of data, are also 32 bits long</a:t>
            </a:r>
          </a:p>
          <a:p>
            <a:pPr marL="742950" lvl="1" indent="-285750"/>
            <a:r>
              <a:rPr lang="en-US" altLang="zh-CN" dirty="0">
                <a:ea typeface="宋体" pitchFamily="2" charset="-122"/>
              </a:rPr>
              <a:t>Example:    		  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add $t0, $s1, $</a:t>
            </a:r>
            <a:r>
              <a:rPr lang="en-US" altLang="zh-CN" sz="2400" dirty="0" smtClean="0">
                <a:latin typeface="Courier New" pitchFamily="49" charset="0"/>
                <a:ea typeface="宋体" pitchFamily="2" charset="-122"/>
              </a:rPr>
              <a:t>s2</a:t>
            </a:r>
          </a:p>
          <a:p>
            <a:pPr marL="742950" lvl="1" indent="-285750"/>
            <a:endParaRPr lang="en-US" altLang="zh-CN" dirty="0">
              <a:latin typeface="Courier New" pitchFamily="49" charset="0"/>
              <a:ea typeface="宋体" pitchFamily="2" charset="-122"/>
            </a:endParaRPr>
          </a:p>
          <a:p>
            <a:pPr marL="742950" lvl="1" indent="-285750">
              <a:buFont typeface="Monotype Sorts" pitchFamily="2" charset="2"/>
              <a:buNone/>
            </a:pPr>
            <a:r>
              <a:rPr lang="en-US" altLang="zh-CN" dirty="0">
                <a:ea typeface="宋体" pitchFamily="2" charset="-122"/>
              </a:rPr>
              <a:t>registers have numbers 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$</a:t>
            </a:r>
            <a:r>
              <a:rPr lang="en-US" altLang="zh-CN" dirty="0" smtClean="0">
                <a:latin typeface="Courier New" pitchFamily="49" charset="0"/>
                <a:ea typeface="宋体" pitchFamily="2" charset="-122"/>
              </a:rPr>
              <a:t>t0=8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,$</a:t>
            </a:r>
            <a:r>
              <a:rPr lang="en-US" altLang="zh-CN" dirty="0" smtClean="0">
                <a:latin typeface="Courier New" pitchFamily="49" charset="0"/>
                <a:ea typeface="宋体" pitchFamily="2" charset="-122"/>
              </a:rPr>
              <a:t>s1=17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,$</a:t>
            </a:r>
            <a:r>
              <a:rPr lang="en-US" altLang="zh-CN" dirty="0" smtClean="0">
                <a:latin typeface="Courier New" pitchFamily="49" charset="0"/>
                <a:ea typeface="宋体" pitchFamily="2" charset="-122"/>
              </a:rPr>
              <a:t>s2=18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</a:rPr>
              <a:t/>
            </a:r>
            <a:br>
              <a:rPr lang="en-US" altLang="zh-CN" sz="2000" dirty="0">
                <a:latin typeface="Courier New" pitchFamily="49" charset="0"/>
                <a:ea typeface="宋体" pitchFamily="2" charset="-122"/>
              </a:rPr>
            </a:br>
            <a:endParaRPr lang="en-US" altLang="zh-CN" sz="2000" dirty="0">
              <a:latin typeface="Courier New" pitchFamily="49" charset="0"/>
              <a:ea typeface="宋体" pitchFamily="2" charset="-122"/>
            </a:endParaRPr>
          </a:p>
          <a:p>
            <a:pPr marL="342900" indent="-342900"/>
            <a:r>
              <a:rPr lang="en-US" altLang="zh-CN" dirty="0">
                <a:ea typeface="宋体" pitchFamily="2" charset="-122"/>
              </a:rPr>
              <a:t>Instruction Format: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/>
            </a:r>
            <a:br>
              <a:rPr lang="en-US" altLang="zh-CN" sz="2400" dirty="0">
                <a:latin typeface="Courier New" pitchFamily="49" charset="0"/>
                <a:ea typeface="宋体" pitchFamily="2" charset="-122"/>
              </a:rPr>
            </a:b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  <a:p>
            <a:pPr marL="342900" indent="-342900">
              <a:buFont typeface="Wingdings" pitchFamily="2" charset="2"/>
              <a:buNone/>
            </a:pP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  <a:p>
            <a:pPr marL="342900" indent="-342900">
              <a:buFont typeface="Wingdings" pitchFamily="2" charset="2"/>
              <a:buNone/>
            </a:pP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  <a:p>
            <a:pPr marL="342900" indent="-342900">
              <a:buFont typeface="Wingdings" pitchFamily="2" charset="2"/>
              <a:buNone/>
            </a:pP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  <a:p>
            <a:pPr marL="342900" indent="-342900" algn="ctr">
              <a:buFont typeface="Wingdings" pitchFamily="2" charset="2"/>
              <a:buNone/>
            </a:pPr>
            <a:r>
              <a:rPr lang="en-US" altLang="zh-CN" sz="2800" i="1" dirty="0">
                <a:solidFill>
                  <a:schemeClr val="accent1"/>
                </a:solidFill>
                <a:ea typeface="宋体" pitchFamily="2" charset="-122"/>
              </a:rPr>
              <a:t>Can you guess what the field names stand for?</a:t>
            </a:r>
          </a:p>
        </p:txBody>
      </p:sp>
      <p:sp>
        <p:nvSpPr>
          <p:cNvPr id="232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00036" y="215900"/>
            <a:ext cx="7886728" cy="480994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 dirty="0">
                <a:ea typeface="宋体" pitchFamily="2" charset="-122"/>
              </a:rPr>
              <a:t>Machine Language - Arithmetic Instruction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76400" y="4052888"/>
            <a:ext cx="5791200" cy="366712"/>
            <a:chOff x="1056" y="2640"/>
            <a:chExt cx="3648" cy="231"/>
          </a:xfrm>
        </p:grpSpPr>
        <p:sp>
          <p:nvSpPr>
            <p:cNvPr id="232454" name="Rectangle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55" name="Line 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6" name="Line 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7" name="Line 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8" name="Line 10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9" name="Line 1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0" name="Text Box 1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rs            rt            rd        shamt       funct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76400" y="5043488"/>
            <a:ext cx="5797550" cy="366712"/>
            <a:chOff x="1056" y="2112"/>
            <a:chExt cx="3652" cy="231"/>
          </a:xfrm>
        </p:grpSpPr>
        <p:sp>
          <p:nvSpPr>
            <p:cNvPr id="232462" name="Text Box 1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52" y="2112"/>
              <a:ext cx="355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000000   10001    10010     01000     00000     100000</a:t>
              </a:r>
            </a:p>
          </p:txBody>
        </p:sp>
        <p:sp>
          <p:nvSpPr>
            <p:cNvPr id="232463" name="Rectangle 1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56" y="2112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4" name="Line 16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1728" y="211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5" name="Line 17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300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6" name="Line 18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2876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7" name="Line 19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3452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8" name="Line 20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028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2469" name="AutoShape 2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43400" y="45862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15494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8153400" cy="3746154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>
                <a:ea typeface="宋体" pitchFamily="2" charset="-122"/>
              </a:rPr>
              <a:t>Instructions, like registers and words of data, are also 32 bits long</a:t>
            </a:r>
          </a:p>
          <a:p>
            <a:pPr marL="742950" lvl="1" indent="-285750"/>
            <a:r>
              <a:rPr lang="en-US" altLang="zh-CN" dirty="0">
                <a:ea typeface="宋体" pitchFamily="2" charset="-122"/>
              </a:rPr>
              <a:t>Example:    		  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add $t0, $s1, $s2</a:t>
            </a:r>
          </a:p>
          <a:p>
            <a:pPr marL="742950" lvl="1" indent="-285750">
              <a:buFont typeface="Monotype Sorts" pitchFamily="2" charset="2"/>
              <a:buNone/>
            </a:pPr>
            <a:endParaRPr lang="en-US" altLang="zh-CN" dirty="0" smtClean="0">
              <a:ea typeface="宋体" pitchFamily="2" charset="-122"/>
            </a:endParaRPr>
          </a:p>
          <a:p>
            <a:pPr marL="742950" lvl="1" indent="-285750">
              <a:buFont typeface="Monotype Sorts" pitchFamily="2" charset="2"/>
              <a:buNone/>
            </a:pPr>
            <a:r>
              <a:rPr lang="en-US" altLang="zh-CN" dirty="0" smtClean="0">
                <a:ea typeface="宋体" pitchFamily="2" charset="-122"/>
              </a:rPr>
              <a:t>registers </a:t>
            </a:r>
            <a:r>
              <a:rPr lang="en-US" altLang="zh-CN" dirty="0">
                <a:ea typeface="宋体" pitchFamily="2" charset="-122"/>
              </a:rPr>
              <a:t>have numbers 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$</a:t>
            </a:r>
            <a:r>
              <a:rPr lang="en-US" altLang="zh-CN" smtClean="0">
                <a:latin typeface="Courier New" pitchFamily="49" charset="0"/>
                <a:ea typeface="宋体" pitchFamily="2" charset="-122"/>
              </a:rPr>
              <a:t>t0=8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,$</a:t>
            </a:r>
            <a:r>
              <a:rPr lang="en-US" altLang="zh-CN" smtClean="0">
                <a:latin typeface="Courier New" pitchFamily="49" charset="0"/>
                <a:ea typeface="宋体" pitchFamily="2" charset="-122"/>
              </a:rPr>
              <a:t>s1=17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,$</a:t>
            </a:r>
            <a:r>
              <a:rPr lang="en-US" altLang="zh-CN" smtClean="0">
                <a:latin typeface="Courier New" pitchFamily="49" charset="0"/>
                <a:ea typeface="宋体" pitchFamily="2" charset="-122"/>
              </a:rPr>
              <a:t>s2=18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</a:rPr>
              <a:t/>
            </a:r>
            <a:br>
              <a:rPr lang="en-US" altLang="zh-CN" sz="2000" dirty="0">
                <a:latin typeface="Courier New" pitchFamily="49" charset="0"/>
                <a:ea typeface="宋体" pitchFamily="2" charset="-122"/>
              </a:rPr>
            </a:br>
            <a:endParaRPr lang="en-US" altLang="zh-CN" sz="2000" dirty="0">
              <a:latin typeface="Courier New" pitchFamily="49" charset="0"/>
              <a:ea typeface="宋体" pitchFamily="2" charset="-122"/>
            </a:endParaRPr>
          </a:p>
          <a:p>
            <a:pPr marL="342900" indent="-342900"/>
            <a:r>
              <a:rPr lang="en-US" altLang="zh-CN" dirty="0">
                <a:ea typeface="宋体" pitchFamily="2" charset="-122"/>
              </a:rPr>
              <a:t>Instruction </a:t>
            </a:r>
            <a:r>
              <a:rPr lang="en-US" altLang="zh-CN" dirty="0" smtClean="0">
                <a:ea typeface="宋体" pitchFamily="2" charset="-122"/>
              </a:rPr>
              <a:t>Format (R-Type):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/>
            </a:r>
            <a:br>
              <a:rPr lang="en-US" altLang="zh-CN" sz="2400" dirty="0">
                <a:latin typeface="Courier New" pitchFamily="49" charset="0"/>
                <a:ea typeface="宋体" pitchFamily="2" charset="-122"/>
              </a:rPr>
            </a:b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  <a:p>
            <a:pPr marL="342900" indent="-342900">
              <a:buFont typeface="Wingdings" pitchFamily="2" charset="2"/>
              <a:buNone/>
            </a:pPr>
            <a:endParaRPr lang="en-US" altLang="zh-CN" i="1" dirty="0">
              <a:solidFill>
                <a:schemeClr val="accent1"/>
              </a:solidFill>
              <a:ea typeface="宋体" pitchFamily="2" charset="-122"/>
            </a:endParaRPr>
          </a:p>
        </p:txBody>
      </p:sp>
      <p:sp>
        <p:nvSpPr>
          <p:cNvPr id="33689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0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685800" y="304801"/>
            <a:ext cx="8101042" cy="409556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 dirty="0">
                <a:ea typeface="宋体" pitchFamily="2" charset="-122"/>
              </a:rPr>
              <a:t>Machine Language - Arithmetic Instruction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76400" y="4052888"/>
            <a:ext cx="5791200" cy="366712"/>
            <a:chOff x="1056" y="2640"/>
            <a:chExt cx="3648" cy="231"/>
          </a:xfrm>
        </p:grpSpPr>
        <p:sp>
          <p:nvSpPr>
            <p:cNvPr id="336902" name="Rectangle 6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03" name="Line 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04" name="Line 8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05" name="Line 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06" name="Line 1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07" name="Line 1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08" name="Text Box 1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rs            rt            rd        shamt       funct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76400" y="5043488"/>
            <a:ext cx="5797550" cy="366712"/>
            <a:chOff x="1056" y="2112"/>
            <a:chExt cx="3652" cy="231"/>
          </a:xfrm>
        </p:grpSpPr>
        <p:sp>
          <p:nvSpPr>
            <p:cNvPr id="336910" name="Text Box 1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152" y="2112"/>
              <a:ext cx="355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000000   10001    10010     01000     00000     100000</a:t>
              </a:r>
            </a:p>
          </p:txBody>
        </p:sp>
        <p:sp>
          <p:nvSpPr>
            <p:cNvPr id="336911" name="Rectangle 1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56" y="2112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12" name="Line 16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1728" y="211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13" name="Line 17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2300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14" name="Line 18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2876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15" name="Line 19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3452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16" name="Line 20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028" y="21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6917" name="AutoShape 2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43400" y="45862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2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4114800" y="1714488"/>
            <a:ext cx="3733800" cy="3314712"/>
            <a:chOff x="1968" y="1104"/>
            <a:chExt cx="2064" cy="1056"/>
          </a:xfrm>
        </p:grpSpPr>
        <p:sp>
          <p:nvSpPr>
            <p:cNvPr id="336919" name="Oval 2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600" y="110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20" name="Line 24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1968" y="1248"/>
              <a:ext cx="1872" cy="91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5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3276600" y="1714488"/>
            <a:ext cx="3581400" cy="3314712"/>
            <a:chOff x="1968" y="1104"/>
            <a:chExt cx="2064" cy="1056"/>
          </a:xfrm>
        </p:grpSpPr>
        <p:sp>
          <p:nvSpPr>
            <p:cNvPr id="336922" name="Oval 2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600" y="110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23" name="Line 2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1968" y="1248"/>
              <a:ext cx="1872" cy="91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5105400" y="1714488"/>
            <a:ext cx="914400" cy="3314712"/>
            <a:chOff x="3120" y="1104"/>
            <a:chExt cx="432" cy="1056"/>
          </a:xfrm>
        </p:grpSpPr>
        <p:sp>
          <p:nvSpPr>
            <p:cNvPr id="336925" name="Oval 2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120" y="110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26" name="Line 30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3168" y="1248"/>
              <a:ext cx="192" cy="91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2362200" y="1714488"/>
            <a:ext cx="4572000" cy="3390912"/>
            <a:chOff x="1440" y="1104"/>
            <a:chExt cx="2880" cy="1104"/>
          </a:xfrm>
        </p:grpSpPr>
        <p:sp>
          <p:nvSpPr>
            <p:cNvPr id="336928" name="Oval 3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736" y="1104"/>
              <a:ext cx="432" cy="144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929" name="Line 33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1440" y="1248"/>
              <a:ext cx="1536" cy="96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6930" name="Line 3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976" y="1248"/>
              <a:ext cx="1344" cy="912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6931" name="Rectangle 3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2910" y="5857892"/>
            <a:ext cx="8153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ctr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800" i="1" dirty="0">
                <a:ea typeface="宋体" pitchFamily="2" charset="-122"/>
              </a:rPr>
              <a:t>Can you guess what the field names stand for?</a:t>
            </a:r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1676400" y="5424487"/>
            <a:ext cx="5791200" cy="369888"/>
            <a:chOff x="1056" y="2640"/>
            <a:chExt cx="3648" cy="233"/>
          </a:xfrm>
        </p:grpSpPr>
        <p:sp>
          <p:nvSpPr>
            <p:cNvPr id="37" name="Rectangle 6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Line 7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Line 8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 Box 12"/>
            <p:cNvSpPr txBox="1">
              <a:spLocks noChangeArrowheads="1"/>
            </p:cNvSpPr>
            <p:nvPr/>
          </p:nvSpPr>
          <p:spPr bwMode="auto">
            <a:xfrm>
              <a:off x="1170" y="2640"/>
              <a:ext cx="349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0x00           17          18           8            0           0x20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2888492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6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MIPS Instruction Fields</a:t>
            </a:r>
          </a:p>
        </p:txBody>
      </p:sp>
      <p:sp>
        <p:nvSpPr>
          <p:cNvPr id="234499" name="Rectangle 1027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2438400"/>
            <a:ext cx="7848600" cy="3021013"/>
          </a:xfrm>
        </p:spPr>
        <p:txBody>
          <a:bodyPr/>
          <a:lstStyle/>
          <a:p>
            <a:r>
              <a:rPr lang="en-US" altLang="zh-CN" i="1">
                <a:ea typeface="宋体" pitchFamily="2" charset="-122"/>
              </a:rPr>
              <a:t>op</a:t>
            </a:r>
          </a:p>
          <a:p>
            <a:r>
              <a:rPr lang="en-US" altLang="zh-CN" i="1">
                <a:ea typeface="宋体" pitchFamily="2" charset="-122"/>
              </a:rPr>
              <a:t>rs</a:t>
            </a:r>
          </a:p>
          <a:p>
            <a:r>
              <a:rPr lang="en-US" altLang="zh-CN" i="1">
                <a:ea typeface="宋体" pitchFamily="2" charset="-122"/>
              </a:rPr>
              <a:t>rt</a:t>
            </a:r>
          </a:p>
          <a:p>
            <a:r>
              <a:rPr lang="en-US" altLang="zh-CN" i="1">
                <a:ea typeface="宋体" pitchFamily="2" charset="-122"/>
              </a:rPr>
              <a:t>rd</a:t>
            </a:r>
          </a:p>
          <a:p>
            <a:r>
              <a:rPr lang="en-US" altLang="zh-CN" i="1">
                <a:ea typeface="宋体" pitchFamily="2" charset="-122"/>
              </a:rPr>
              <a:t>shamt</a:t>
            </a:r>
          </a:p>
          <a:p>
            <a:r>
              <a:rPr lang="en-US" altLang="zh-CN" i="1">
                <a:ea typeface="宋体" pitchFamily="2" charset="-122"/>
              </a:rPr>
              <a:t>funct</a:t>
            </a:r>
          </a:p>
        </p:txBody>
      </p:sp>
      <p:grpSp>
        <p:nvGrpSpPr>
          <p:cNvPr id="2" name="Group 1028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600200" y="1219200"/>
            <a:ext cx="5791200" cy="366713"/>
            <a:chOff x="1056" y="2640"/>
            <a:chExt cx="3648" cy="231"/>
          </a:xfrm>
        </p:grpSpPr>
        <p:sp>
          <p:nvSpPr>
            <p:cNvPr id="234501" name="Rectangle 102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502" name="Line 103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503" name="Line 1031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504" name="Line 1032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505" name="Line 103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506" name="Line 1034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507" name="Text Box 103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rs            rt            rd        shamt       funct</a:t>
              </a:r>
            </a:p>
          </p:txBody>
        </p:sp>
      </p:grpSp>
      <p:sp>
        <p:nvSpPr>
          <p:cNvPr id="234508" name="Rectangle 103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34509" name="Rectangle 103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1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34510" name="Rectangle 103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733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34511" name="Rectangle 103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482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34512" name="Rectangle 104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626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34513" name="Rectangle 104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2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34514" name="Rectangle 104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72400" y="1600200"/>
            <a:ext cx="99060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= 32 bits</a:t>
            </a:r>
          </a:p>
        </p:txBody>
      </p:sp>
    </p:spTree>
    <p:extLst>
      <p:ext uri="{BB962C8B-B14F-4D97-AF65-F5344CB8AC3E}">
        <p14:creationId xmlns:p14="http://schemas.microsoft.com/office/powerpoint/2010/main" val="1519975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MIPS Instruction Fields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2438400"/>
            <a:ext cx="7848600" cy="3021013"/>
          </a:xfrm>
        </p:spPr>
        <p:txBody>
          <a:bodyPr/>
          <a:lstStyle/>
          <a:p>
            <a:r>
              <a:rPr lang="en-US" altLang="zh-CN" i="1">
                <a:ea typeface="宋体" pitchFamily="2" charset="-122"/>
              </a:rPr>
              <a:t>op</a:t>
            </a:r>
          </a:p>
          <a:p>
            <a:r>
              <a:rPr lang="en-US" altLang="zh-CN" i="1">
                <a:ea typeface="宋体" pitchFamily="2" charset="-122"/>
              </a:rPr>
              <a:t>rs</a:t>
            </a:r>
          </a:p>
          <a:p>
            <a:r>
              <a:rPr lang="en-US" altLang="zh-CN" i="1">
                <a:ea typeface="宋体" pitchFamily="2" charset="-122"/>
              </a:rPr>
              <a:t>rt</a:t>
            </a:r>
          </a:p>
          <a:p>
            <a:r>
              <a:rPr lang="en-US" altLang="zh-CN" i="1">
                <a:ea typeface="宋体" pitchFamily="2" charset="-122"/>
              </a:rPr>
              <a:t>rd</a:t>
            </a:r>
          </a:p>
          <a:p>
            <a:r>
              <a:rPr lang="en-US" altLang="zh-CN" i="1">
                <a:ea typeface="宋体" pitchFamily="2" charset="-122"/>
              </a:rPr>
              <a:t>shamt</a:t>
            </a:r>
          </a:p>
          <a:p>
            <a:r>
              <a:rPr lang="en-US" altLang="zh-CN" i="1">
                <a:ea typeface="宋体" pitchFamily="2" charset="-122"/>
              </a:rPr>
              <a:t>funct</a:t>
            </a: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600200" y="1219200"/>
            <a:ext cx="5791200" cy="366713"/>
            <a:chOff x="1056" y="2640"/>
            <a:chExt cx="3648" cy="231"/>
          </a:xfrm>
        </p:grpSpPr>
        <p:sp>
          <p:nvSpPr>
            <p:cNvPr id="290821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822" name="Line 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3" name="Line 7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4" name="Line 8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5" name="Line 9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6" name="Line 1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7" name="Text Box 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rs            rt            rd        shamt       funct</a:t>
              </a:r>
            </a:p>
          </p:txBody>
        </p:sp>
      </p:grpSp>
      <p:sp>
        <p:nvSpPr>
          <p:cNvPr id="29082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90829" name="Rectangle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1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0" name="Rectangle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733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1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482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2" name="Rectangle 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626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3" name="Rectangle 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2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90834" name="Rectangle 1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72400" y="1600200"/>
            <a:ext cx="99060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= 32 bits</a:t>
            </a:r>
          </a:p>
        </p:txBody>
      </p:sp>
      <p:sp>
        <p:nvSpPr>
          <p:cNvPr id="290835" name="Rectangle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981200" y="2428868"/>
            <a:ext cx="7086600" cy="37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err="1">
                <a:ea typeface="宋体" pitchFamily="2" charset="-122"/>
              </a:rPr>
              <a:t>op</a:t>
            </a:r>
            <a:r>
              <a:rPr lang="en-US" altLang="zh-CN" sz="2400" dirty="0" err="1">
                <a:solidFill>
                  <a:schemeClr val="accent2"/>
                </a:solidFill>
                <a:ea typeface="宋体" pitchFamily="2" charset="-122"/>
              </a:rPr>
              <a:t>code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indicating operation to be performed</a:t>
            </a:r>
          </a:p>
        </p:txBody>
      </p:sp>
      <p:sp>
        <p:nvSpPr>
          <p:cNvPr id="290836" name="Rectangle 20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981200" y="2971800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of the first </a:t>
            </a: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s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ource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operand</a:t>
            </a:r>
          </a:p>
        </p:txBody>
      </p:sp>
      <p:sp>
        <p:nvSpPr>
          <p:cNvPr id="290837" name="Rectangle 2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81200" y="3581400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of the second 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source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operand</a:t>
            </a:r>
          </a:p>
        </p:txBody>
      </p:sp>
      <p:sp>
        <p:nvSpPr>
          <p:cNvPr id="290838" name="Rectangle 22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81200" y="4188305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of the result’s </a:t>
            </a:r>
            <a:r>
              <a:rPr lang="en-US" altLang="zh-CN" sz="2400" b="1" dirty="0" smtClean="0">
                <a:ea typeface="宋体" pitchFamily="2" charset="-122"/>
              </a:rPr>
              <a:t>d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estination</a:t>
            </a:r>
            <a:endParaRPr lang="en-US" altLang="zh-CN" sz="2400" dirty="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290839" name="Rectangle 2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981200" y="4670425"/>
            <a:ext cx="70866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ea typeface="宋体" pitchFamily="2" charset="-122"/>
              </a:rPr>
              <a:t>sh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ift </a:t>
            </a:r>
            <a:r>
              <a:rPr lang="en-US" altLang="zh-CN" sz="2400" b="1" dirty="0">
                <a:ea typeface="宋体" pitchFamily="2" charset="-122"/>
              </a:rPr>
              <a:t>am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oun</a:t>
            </a:r>
            <a:r>
              <a:rPr lang="en-US" altLang="zh-CN" sz="2800" dirty="0"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(for shift instructions)</a:t>
            </a:r>
          </a:p>
        </p:txBody>
      </p:sp>
      <p:sp>
        <p:nvSpPr>
          <p:cNvPr id="290840" name="Rectangle 2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981200" y="5311775"/>
            <a:ext cx="7086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ea typeface="宋体" pitchFamily="2" charset="-122"/>
              </a:rPr>
              <a:t>funct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ion code that selects the specific variant of the operation specified in the </a:t>
            </a:r>
            <a:r>
              <a:rPr lang="en-US" altLang="zh-CN" sz="2400" dirty="0" err="1">
                <a:solidFill>
                  <a:schemeClr val="accent2"/>
                </a:solidFill>
                <a:ea typeface="宋体" pitchFamily="2" charset="-122"/>
              </a:rPr>
              <a:t>opcode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field</a:t>
            </a:r>
          </a:p>
        </p:txBody>
      </p:sp>
    </p:spTree>
    <p:extLst>
      <p:ext uri="{BB962C8B-B14F-4D97-AF65-F5344CB8AC3E}">
        <p14:creationId xmlns:p14="http://schemas.microsoft.com/office/powerpoint/2010/main" val="1712344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35" grpId="0" autoUpdateAnimBg="0"/>
      <p:bldP spid="290836" grpId="0" autoUpdateAnimBg="0"/>
      <p:bldP spid="290837" grpId="0" autoUpdateAnimBg="0"/>
      <p:bldP spid="290838" grpId="0" autoUpdateAnimBg="0"/>
      <p:bldP spid="290839" grpId="0" autoUpdateAnimBg="0"/>
      <p:bldP spid="290840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mjicse43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mjicse43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jicse43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jicse43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21409</TotalTime>
  <Pages>47</Pages>
  <Words>3697</Words>
  <Application>Microsoft Macintosh PowerPoint</Application>
  <PresentationFormat>Letter Paper (8.5x11 in)</PresentationFormat>
  <Paragraphs>996</Paragraphs>
  <Slides>46</Slides>
  <Notes>42</Notes>
  <HiddenSlides>14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Calibri</vt:lpstr>
      <vt:lpstr>Calibri Light</vt:lpstr>
      <vt:lpstr>Courier New</vt:lpstr>
      <vt:lpstr>Helvetica</vt:lpstr>
      <vt:lpstr>Monotype Sorts</vt:lpstr>
      <vt:lpstr>Symbol</vt:lpstr>
      <vt:lpstr>Times New Roman</vt:lpstr>
      <vt:lpstr>Wingdings</vt:lpstr>
      <vt:lpstr>宋体</vt:lpstr>
      <vt:lpstr>Arial</vt:lpstr>
      <vt:lpstr>mjicse431</vt:lpstr>
      <vt:lpstr>1_Custom Design</vt:lpstr>
      <vt:lpstr>Custom Design</vt:lpstr>
      <vt:lpstr>Equation</vt:lpstr>
      <vt:lpstr>CSE 424  Computer Architecture    Chapter 2: Instructions:  Language of the Computer (focus on MIPS ISA – Appendix A)</vt:lpstr>
      <vt:lpstr>Review:  The Execute Cycle</vt:lpstr>
      <vt:lpstr>Review:  Processor Organization</vt:lpstr>
      <vt:lpstr>Two Key Principles of Machine Design</vt:lpstr>
      <vt:lpstr>Assembly Language Instructions</vt:lpstr>
      <vt:lpstr>RISC - Reduced Instruction Set Computer</vt:lpstr>
      <vt:lpstr>The Four RISC Design Principles</vt:lpstr>
      <vt:lpstr>MIPS (RISC) Design Principles</vt:lpstr>
      <vt:lpstr>MIPS Arithmetic Instruction</vt:lpstr>
      <vt:lpstr>MIPS Arithmetic Instruction</vt:lpstr>
      <vt:lpstr>Compiling More Complex Statements</vt:lpstr>
      <vt:lpstr>Compiling More Complex Statements</vt:lpstr>
      <vt:lpstr>MIPS Register File</vt:lpstr>
      <vt:lpstr>MIPS Register File</vt:lpstr>
      <vt:lpstr>MIPS Arithmetic Instructions</vt:lpstr>
      <vt:lpstr>MIPS Register Naming Convention</vt:lpstr>
      <vt:lpstr>Registers vs. Memory</vt:lpstr>
      <vt:lpstr>Registers vs. Memory</vt:lpstr>
      <vt:lpstr> Registers vs. Memory</vt:lpstr>
      <vt:lpstr>Processor – Memory Interconnections</vt:lpstr>
      <vt:lpstr>Processor – Memory Interconnections</vt:lpstr>
      <vt:lpstr>Word Addresses vs Byte Addresses</vt:lpstr>
      <vt:lpstr>Accessing Memory</vt:lpstr>
      <vt:lpstr>Accessing Memory</vt:lpstr>
      <vt:lpstr>MIPS Memory Addressing</vt:lpstr>
      <vt:lpstr>MIPS Memory Addressing</vt:lpstr>
      <vt:lpstr>Compiling with Loads and Stores</vt:lpstr>
      <vt:lpstr>Compiling with Loads and Stores</vt:lpstr>
      <vt:lpstr>Compiling with a Variable Array Index</vt:lpstr>
      <vt:lpstr>Compiling with a Variable Array Index</vt:lpstr>
      <vt:lpstr>Address Calculation – One-Dimensional Array</vt:lpstr>
      <vt:lpstr>Dealing with Constants</vt:lpstr>
      <vt:lpstr>Constant (or Immediate) Operands</vt:lpstr>
      <vt:lpstr>Constant (or Immediate) Operands</vt:lpstr>
      <vt:lpstr>MIPS Instructions, so far</vt:lpstr>
      <vt:lpstr>MIPS Organization, so far</vt:lpstr>
      <vt:lpstr>Unsigned Binary Representation</vt:lpstr>
      <vt:lpstr>Signed Binary Representation</vt:lpstr>
      <vt:lpstr>Signed Binary Representation</vt:lpstr>
      <vt:lpstr>Zero Extension, Sign Extension</vt:lpstr>
      <vt:lpstr>Hex to Binary and Back</vt:lpstr>
      <vt:lpstr>Binary to Hex and Back</vt:lpstr>
      <vt:lpstr>Machine Language - Arithmetic Instruction</vt:lpstr>
      <vt:lpstr>Machine Language - Arithmetic Instruction</vt:lpstr>
      <vt:lpstr>MIPS Instruction Fields</vt:lpstr>
      <vt:lpstr>MIPS Instruction Fields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431. Computer Architecture</dc:title>
  <dc:subject>Lecture 01</dc:subject>
  <dc:creator>Janie Irwin</dc:creator>
  <cp:lastModifiedBy>Jog, Adwait</cp:lastModifiedBy>
  <cp:revision>739</cp:revision>
  <cp:lastPrinted>1997-08-27T08:28:34Z</cp:lastPrinted>
  <dcterms:created xsi:type="dcterms:W3CDTF">1997-08-19T16:58:46Z</dcterms:created>
  <dcterms:modified xsi:type="dcterms:W3CDTF">2019-09-11T21:13:03Z</dcterms:modified>
</cp:coreProperties>
</file>