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76" r:id="rId2"/>
    <p:sldMasterId id="2147483663" r:id="rId3"/>
  </p:sldMasterIdLst>
  <p:notesMasterIdLst>
    <p:notesMasterId r:id="rId56"/>
  </p:notesMasterIdLst>
  <p:handoutMasterIdLst>
    <p:handoutMasterId r:id="rId57"/>
  </p:handoutMasterIdLst>
  <p:sldIdLst>
    <p:sldId id="313" r:id="rId4"/>
    <p:sldId id="314" r:id="rId5"/>
    <p:sldId id="315" r:id="rId6"/>
    <p:sldId id="316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5" r:id="rId30"/>
    <p:sldId id="346" r:id="rId31"/>
    <p:sldId id="347" r:id="rId32"/>
    <p:sldId id="348" r:id="rId33"/>
    <p:sldId id="349" r:id="rId34"/>
    <p:sldId id="350" r:id="rId35"/>
    <p:sldId id="351" r:id="rId36"/>
    <p:sldId id="352" r:id="rId37"/>
    <p:sldId id="353" r:id="rId38"/>
    <p:sldId id="354" r:id="rId39"/>
    <p:sldId id="355" r:id="rId40"/>
    <p:sldId id="356" r:id="rId41"/>
    <p:sldId id="357" r:id="rId42"/>
    <p:sldId id="358" r:id="rId43"/>
    <p:sldId id="359" r:id="rId44"/>
    <p:sldId id="360" r:id="rId45"/>
    <p:sldId id="361" r:id="rId46"/>
    <p:sldId id="362" r:id="rId47"/>
    <p:sldId id="364" r:id="rId48"/>
    <p:sldId id="370" r:id="rId49"/>
    <p:sldId id="371" r:id="rId50"/>
    <p:sldId id="365" r:id="rId51"/>
    <p:sldId id="366" r:id="rId52"/>
    <p:sldId id="367" r:id="rId53"/>
    <p:sldId id="368" r:id="rId54"/>
    <p:sldId id="369" r:id="rId55"/>
  </p:sldIdLst>
  <p:sldSz cx="9144000" cy="6858000" type="letter"/>
  <p:notesSz cx="6985000" cy="92837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>
          <p15:clr>
            <a:srgbClr val="A4A3A4"/>
          </p15:clr>
        </p15:guide>
        <p15:guide id="2" pos="22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8901F3"/>
    <a:srgbClr val="00A091"/>
    <a:srgbClr val="51DC00"/>
    <a:srgbClr val="5A11FD"/>
    <a:srgbClr val="000000"/>
    <a:srgbClr val="CC3399"/>
    <a:srgbClr val="0082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311" autoAdjust="0"/>
    <p:restoredTop sz="93014" autoAdjust="0"/>
  </p:normalViewPr>
  <p:slideViewPr>
    <p:cSldViewPr>
      <p:cViewPr>
        <p:scale>
          <a:sx n="100" d="100"/>
          <a:sy n="100" d="100"/>
        </p:scale>
        <p:origin x="688" y="1216"/>
      </p:cViewPr>
      <p:guideLst>
        <p:guide orient="horz" pos="2160"/>
        <p:guide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40"/>
    </p:cViewPr>
  </p:sorterViewPr>
  <p:notesViewPr>
    <p:cSldViewPr>
      <p:cViewPr varScale="1">
        <p:scale>
          <a:sx n="84" d="100"/>
          <a:sy n="84" d="100"/>
        </p:scale>
        <p:origin x="-1932" y="-84"/>
      </p:cViewPr>
      <p:guideLst>
        <p:guide orient="horz" pos="2923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notesMaster" Target="notesMasters/notesMaster1.xml"/><Relationship Id="rId57" Type="http://schemas.openxmlformats.org/officeDocument/2006/relationships/handoutMaster" Target="handoutMasters/handout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55636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9038" y="598488"/>
            <a:ext cx="4622800" cy="346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25493" y="4408146"/>
            <a:ext cx="6019711" cy="41776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3520" tIns="45939" rIns="93520" bIns="45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we want this to be in font 11 and justify.</a:t>
            </a:r>
          </a:p>
        </p:txBody>
      </p:sp>
    </p:spTree>
    <p:extLst>
      <p:ext uri="{BB962C8B-B14F-4D97-AF65-F5344CB8AC3E}">
        <p14:creationId xmlns:p14="http://schemas.microsoft.com/office/powerpoint/2010/main" val="19347337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>
            <a:noFill/>
          </a:ln>
        </p:spPr>
        <p:txBody>
          <a:bodyPr/>
          <a:lstStyle/>
          <a:p>
            <a:endParaRPr lang="en-US" dirty="0" smtClean="0"/>
          </a:p>
        </p:txBody>
      </p:sp>
      <p:sp>
        <p:nvSpPr>
          <p:cNvPr id="563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976427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7055" y="4562237"/>
            <a:ext cx="5361093" cy="4318873"/>
          </a:xfrm>
          <a:noFill/>
          <a:ln>
            <a:noFill/>
          </a:ln>
        </p:spPr>
        <p:txBody>
          <a:bodyPr lIns="95639" tIns="46981" rIns="95639" bIns="46981"/>
          <a:lstStyle/>
          <a:p>
            <a:r>
              <a:rPr lang="en-US" dirty="0"/>
              <a:t>memory reference use ALU to compute addresses</a:t>
            </a:r>
          </a:p>
          <a:p>
            <a:endParaRPr lang="en-US" dirty="0"/>
          </a:p>
          <a:p>
            <a:r>
              <a:rPr lang="en-US" dirty="0"/>
              <a:t>arithmetic use the ALU to do the require arithmetic</a:t>
            </a:r>
          </a:p>
          <a:p>
            <a:endParaRPr lang="en-US" dirty="0"/>
          </a:p>
          <a:p>
            <a:r>
              <a:rPr lang="en-US" dirty="0"/>
              <a:t>control use the ALU to compute branch conditions.</a:t>
            </a:r>
          </a:p>
        </p:txBody>
      </p:sp>
      <p:sp>
        <p:nvSpPr>
          <p:cNvPr id="70144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27075"/>
            <a:ext cx="4779963" cy="3584575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909071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15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6645" tIns="48323" rIns="96645" bIns="48323"/>
          <a:lstStyle/>
          <a:p>
            <a:r>
              <a:rPr lang="en-US"/>
              <a:t>Have the class tell which is which in the picture - combinational and sequential</a:t>
            </a:r>
          </a:p>
        </p:txBody>
      </p:sp>
    </p:spTree>
    <p:extLst>
      <p:ext uri="{BB962C8B-B14F-4D97-AF65-F5344CB8AC3E}">
        <p14:creationId xmlns:p14="http://schemas.microsoft.com/office/powerpoint/2010/main" val="688921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27075"/>
            <a:ext cx="4779963" cy="3584575"/>
          </a:xfrm>
          <a:ln cap="flat">
            <a:solidFill>
              <a:schemeClr val="tx1"/>
            </a:solidFill>
          </a:ln>
        </p:spPr>
      </p:sp>
      <p:sp>
        <p:nvSpPr>
          <p:cNvPr id="66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055" y="4562237"/>
            <a:ext cx="5361093" cy="4318873"/>
          </a:xfrm>
          <a:ln>
            <a:noFill/>
          </a:ln>
        </p:spPr>
        <p:txBody>
          <a:bodyPr lIns="95639" tIns="46981" rIns="95639" bIns="4698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61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7055" y="4562237"/>
            <a:ext cx="5361093" cy="4318873"/>
          </a:xfrm>
          <a:noFill/>
          <a:ln>
            <a:noFill/>
          </a:ln>
        </p:spPr>
        <p:txBody>
          <a:bodyPr lIns="95639" tIns="46981" rIns="95639" bIns="46981"/>
          <a:lstStyle/>
          <a:p>
            <a:r>
              <a:rPr lang="en-US" dirty="0"/>
              <a:t>memory reference use ALU to compute addresses</a:t>
            </a:r>
          </a:p>
          <a:p>
            <a:endParaRPr lang="en-US" dirty="0"/>
          </a:p>
          <a:p>
            <a:r>
              <a:rPr lang="en-US" dirty="0"/>
              <a:t>arithmetic use the ALU to do the require arithmetic</a:t>
            </a:r>
          </a:p>
          <a:p>
            <a:endParaRPr lang="en-US" dirty="0"/>
          </a:p>
          <a:p>
            <a:r>
              <a:rPr lang="en-US" dirty="0"/>
              <a:t>control use the ALU to compute branch conditions.</a:t>
            </a:r>
          </a:p>
        </p:txBody>
      </p:sp>
      <p:sp>
        <p:nvSpPr>
          <p:cNvPr id="6594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27075"/>
            <a:ext cx="4779963" cy="3584575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802053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6788" cy="3582987"/>
          </a:xfrm>
          <a:ln cap="flat">
            <a:solidFill>
              <a:schemeClr val="tx1"/>
            </a:solidFill>
          </a:ln>
        </p:spPr>
      </p:sp>
      <p:sp>
        <p:nvSpPr>
          <p:cNvPr id="70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587" y="5092304"/>
            <a:ext cx="4958080" cy="508396"/>
          </a:xfrm>
          <a:ln>
            <a:noFill/>
          </a:ln>
        </p:spPr>
        <p:txBody>
          <a:bodyPr wrap="none" lIns="20475" tIns="29007" rIns="20475" bIns="29007"/>
          <a:lstStyle/>
          <a:p>
            <a:pPr>
              <a:lnSpc>
                <a:spcPts val="1903"/>
              </a:lnSpc>
              <a:spcBef>
                <a:spcPct val="0"/>
              </a:spcBef>
              <a:buClr>
                <a:srgbClr val="000000"/>
              </a:buClr>
              <a:tabLst>
                <a:tab pos="483306" algn="l"/>
                <a:tab pos="966612" algn="l"/>
                <a:tab pos="1449918" algn="l"/>
              </a:tabLst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048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6645" tIns="48323" rIns="96645" bIns="48323"/>
          <a:lstStyle/>
          <a:p>
            <a:r>
              <a:rPr lang="en-US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1700293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78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6645" tIns="48323" rIns="96645" bIns="48323"/>
          <a:lstStyle/>
          <a:p>
            <a:r>
              <a:rPr lang="en-US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1144114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096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6645" tIns="48323" rIns="96645" bIns="48323"/>
          <a:lstStyle/>
          <a:p>
            <a:r>
              <a:rPr lang="en-US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301532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6645" tIns="48323" rIns="96645" bIns="48323"/>
          <a:lstStyle/>
          <a:p>
            <a:r>
              <a:rPr lang="en-US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1661036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168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8231367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27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1102925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7055" y="4562237"/>
            <a:ext cx="5361093" cy="4318873"/>
          </a:xfrm>
          <a:ln>
            <a:noFill/>
          </a:ln>
        </p:spPr>
        <p:txBody>
          <a:bodyPr lIns="95639" tIns="46981" rIns="95639" bIns="46981"/>
          <a:lstStyle/>
          <a:p>
            <a:endParaRPr lang="en-US"/>
          </a:p>
        </p:txBody>
      </p:sp>
      <p:sp>
        <p:nvSpPr>
          <p:cNvPr id="686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27075"/>
            <a:ext cx="4779963" cy="3584575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649242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ln>
            <a:noFill/>
          </a:ln>
        </p:spPr>
        <p:txBody>
          <a:bodyPr lIns="95632" tIns="46975" rIns="95632" bIns="46975"/>
          <a:lstStyle/>
          <a:p>
            <a:endParaRPr lang="zh-CN" altLang="en-US"/>
          </a:p>
        </p:txBody>
      </p:sp>
      <p:sp>
        <p:nvSpPr>
          <p:cNvPr id="70861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039455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1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 dirty="0" smtClean="0"/>
              <a:t>Need</a:t>
            </a:r>
            <a:r>
              <a:rPr lang="en-US" altLang="zh-CN" baseline="0" dirty="0" smtClean="0"/>
              <a:t> 4-bit ALU control input and 2-bit ALU OP input.</a:t>
            </a:r>
          </a:p>
          <a:p>
            <a:r>
              <a:rPr lang="en-US" altLang="zh-CN" baseline="0" dirty="0" smtClean="0"/>
              <a:t>2-bit ALU Op encoding: 00 (ADD for LOAD and STORE instruction), 01 SUBTRACT for branch instructions, 10 for operation encoded in the FUNCTION filed (Arithmetic and Logic operations).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2593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7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 dirty="0"/>
              <a:t>For lecture</a:t>
            </a:r>
          </a:p>
          <a:p>
            <a:r>
              <a:rPr lang="en-US" altLang="zh-CN" dirty="0"/>
              <a:t>Note that unsigned operations are not included.  So there is no way to disable the overflow flag within the ALU.  But you have </a:t>
            </a:r>
            <a:r>
              <a:rPr lang="en-US" altLang="zh-CN" dirty="0" err="1"/>
              <a:t>have</a:t>
            </a:r>
            <a:r>
              <a:rPr lang="en-US" altLang="zh-CN" dirty="0"/>
              <a:t> the centralized control do that, based on </a:t>
            </a:r>
            <a:r>
              <a:rPr lang="en-US" altLang="zh-CN" dirty="0" err="1"/>
              <a:t>mo</a:t>
            </a:r>
            <a:r>
              <a:rPr lang="en-US" altLang="zh-CN" dirty="0"/>
              <a:t> of the function field.</a:t>
            </a:r>
          </a:p>
        </p:txBody>
      </p:sp>
    </p:spTree>
    <p:extLst>
      <p:ext uri="{BB962C8B-B14F-4D97-AF65-F5344CB8AC3E}">
        <p14:creationId xmlns:p14="http://schemas.microsoft.com/office/powerpoint/2010/main" val="9839998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1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19507226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1986103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 cap="flat">
            <a:solidFill>
              <a:schemeClr val="tx1"/>
            </a:solidFill>
          </a:ln>
        </p:spPr>
      </p:sp>
      <p:sp>
        <p:nvSpPr>
          <p:cNvPr id="78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noFill/>
          <a:ln>
            <a:noFill/>
          </a:ln>
        </p:spPr>
        <p:txBody>
          <a:bodyPr lIns="95632" tIns="46975" rIns="95632" bIns="46975"/>
          <a:lstStyle/>
          <a:p>
            <a:r>
              <a:rPr lang="en-US" altLang="zh-CN" dirty="0"/>
              <a:t>ALUcontrol3 = ALUOp0  or  !F2 F1 ALUOp1</a:t>
            </a:r>
          </a:p>
          <a:p>
            <a:r>
              <a:rPr lang="en-US" altLang="zh-CN" dirty="0"/>
              <a:t>ALUcontrol2 = !F2 ALUOp1  or  !ALUOp1</a:t>
            </a:r>
          </a:p>
          <a:p>
            <a:r>
              <a:rPr lang="en-US" altLang="zh-CN" dirty="0"/>
              <a:t>ALUcontrol1 = !F2 ALUOp1  or  !ALUOp1  or  F1 ALUOp1</a:t>
            </a:r>
          </a:p>
          <a:p>
            <a:r>
              <a:rPr lang="en-US" altLang="zh-CN" dirty="0"/>
              <a:t>ALUcontrol0 = F0 ALUOp1  or  F3 ALUOp1</a:t>
            </a:r>
          </a:p>
        </p:txBody>
      </p:sp>
    </p:spTree>
    <p:extLst>
      <p:ext uri="{BB962C8B-B14F-4D97-AF65-F5344CB8AC3E}">
        <p14:creationId xmlns:p14="http://schemas.microsoft.com/office/powerpoint/2010/main" val="14728749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2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608486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18008717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ln>
            <a:noFill/>
          </a:ln>
        </p:spPr>
        <p:txBody>
          <a:bodyPr lIns="95632" tIns="46975" rIns="95632" bIns="46975"/>
          <a:lstStyle/>
          <a:p>
            <a:endParaRPr lang="zh-CN" altLang="en-US"/>
          </a:p>
        </p:txBody>
      </p:sp>
      <p:sp>
        <p:nvSpPr>
          <p:cNvPr id="70861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6475537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/>
              <a:t>For class handout – have a student come forward and mark the connections in the datapath that are active.  And show the state of the control lines.</a:t>
            </a:r>
          </a:p>
        </p:txBody>
      </p:sp>
    </p:spTree>
    <p:extLst>
      <p:ext uri="{BB962C8B-B14F-4D97-AF65-F5344CB8AC3E}">
        <p14:creationId xmlns:p14="http://schemas.microsoft.com/office/powerpoint/2010/main" val="13702359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2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1566739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/>
              <a:t>For class handout – have a student come forward and mark the connections in the datapath that are active.  And show the state of the control lines.</a:t>
            </a:r>
          </a:p>
        </p:txBody>
      </p:sp>
    </p:spTree>
    <p:extLst>
      <p:ext uri="{BB962C8B-B14F-4D97-AF65-F5344CB8AC3E}">
        <p14:creationId xmlns:p14="http://schemas.microsoft.com/office/powerpoint/2010/main" val="21003474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16068171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/>
              <a:t>For class handout – have a student come forward and mark the connections in the datapath that are active.  And show the state of the control lines.</a:t>
            </a:r>
          </a:p>
        </p:txBody>
      </p:sp>
    </p:spTree>
    <p:extLst>
      <p:ext uri="{BB962C8B-B14F-4D97-AF65-F5344CB8AC3E}">
        <p14:creationId xmlns:p14="http://schemas.microsoft.com/office/powerpoint/2010/main" val="429005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8659920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3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/>
              <a:t>For class handout – have a student come forward and mark the connections in the datapath that are active.  And show the state of the control lines.</a:t>
            </a:r>
          </a:p>
        </p:txBody>
      </p:sp>
    </p:spTree>
    <p:extLst>
      <p:ext uri="{BB962C8B-B14F-4D97-AF65-F5344CB8AC3E}">
        <p14:creationId xmlns:p14="http://schemas.microsoft.com/office/powerpoint/2010/main" val="14529713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1928507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 dirty="0"/>
              <a:t>For </a:t>
            </a:r>
            <a:r>
              <a:rPr lang="en-US" altLang="zh-CN" dirty="0" smtClean="0"/>
              <a:t>lecture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44118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 cap="flat">
            <a:solidFill>
              <a:schemeClr val="tx1"/>
            </a:solidFill>
          </a:ln>
        </p:spPr>
      </p:sp>
      <p:sp>
        <p:nvSpPr>
          <p:cNvPr id="74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ln>
            <a:noFill/>
          </a:ln>
        </p:spPr>
        <p:txBody>
          <a:bodyPr lIns="95632" tIns="46975" rIns="95632" bIns="46975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2432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619125"/>
            <a:ext cx="4779963" cy="3584575"/>
          </a:xfrm>
        </p:spPr>
      </p:sp>
      <p:sp>
        <p:nvSpPr>
          <p:cNvPr id="78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57713"/>
            <a:ext cx="6303962" cy="4321175"/>
          </a:xfrm>
          <a:ln/>
        </p:spPr>
        <p:txBody>
          <a:bodyPr lIns="96645" tIns="48323" rIns="96645" bIns="48323"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10874113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0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6645" tIns="48323" rIns="96645" bIns="48323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799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765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6645" tIns="48323" rIns="96645" bIns="48323"/>
          <a:lstStyle/>
          <a:p>
            <a:r>
              <a:rPr lang="en-US"/>
              <a:t>Also have set-up and hold-times to deal with</a:t>
            </a:r>
          </a:p>
        </p:txBody>
      </p:sp>
    </p:spTree>
    <p:extLst>
      <p:ext uri="{BB962C8B-B14F-4D97-AF65-F5344CB8AC3E}">
        <p14:creationId xmlns:p14="http://schemas.microsoft.com/office/powerpoint/2010/main" val="15062010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939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6645" tIns="48323" rIns="96645" bIns="48323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01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936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914400"/>
            <a:ext cx="4000500" cy="239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000500" cy="239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8450" y="304800"/>
            <a:ext cx="2038350" cy="30035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04800"/>
            <a:ext cx="5962650" cy="30035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533400" y="914400"/>
            <a:ext cx="8153400" cy="239395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2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342188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914400"/>
            <a:ext cx="7848600" cy="239871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33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342188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914400"/>
            <a:ext cx="3848100" cy="1550168"/>
          </a:xfrm>
        </p:spPr>
        <p:txBody>
          <a:bodyPr/>
          <a:lstStyle>
            <a:lvl3pPr>
              <a:defRPr b="1"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3848100" cy="155016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0261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58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161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43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52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50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9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55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823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166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768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517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07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6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326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95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371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769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4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029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670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981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7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8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9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04800"/>
            <a:ext cx="8153400" cy="422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Title goes here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914400"/>
            <a:ext cx="8153400" cy="2393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/>
              <a:t>This is our 1st Level Bullet</a:t>
            </a:r>
          </a:p>
          <a:p>
            <a:pPr lvl="1"/>
            <a:r>
              <a:rPr lang="en-US" dirty="0" smtClean="0"/>
              <a:t>this is our 2nd level bullet</a:t>
            </a:r>
          </a:p>
          <a:p>
            <a:pPr lvl="2"/>
            <a:r>
              <a:rPr lang="en-US" dirty="0" smtClean="0"/>
              <a:t>this is our 3rd level bullet</a:t>
            </a:r>
          </a:p>
          <a:p>
            <a:pPr lvl="0"/>
            <a:r>
              <a:rPr lang="en-US" dirty="0" smtClean="0"/>
              <a:t>This is our next 1st Level Bullet</a:t>
            </a:r>
          </a:p>
          <a:p>
            <a:pPr lvl="1"/>
            <a:r>
              <a:rPr lang="en-US" dirty="0" smtClean="0"/>
              <a:t>this is our 2nd level bullet</a:t>
            </a:r>
          </a:p>
          <a:p>
            <a:pPr lvl="2"/>
            <a:r>
              <a:rPr lang="en-US" dirty="0" smtClean="0"/>
              <a:t>this is our 3rd level bullet</a:t>
            </a: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533400" y="685800"/>
            <a:ext cx="8153400" cy="0"/>
          </a:xfrm>
          <a:prstGeom prst="line">
            <a:avLst/>
          </a:prstGeom>
          <a:noFill/>
          <a:ln w="57150" cmpd="thickThin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75" r:id="rId14"/>
    <p:sldLayoutId id="2147483688" r:id="rId15"/>
    <p:sldLayoutId id="2147483689" r:id="rId1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9pPr>
    </p:titleStyle>
    <p:bodyStyle>
      <a:lvl1pPr marL="287338" indent="-287338" algn="l" rtl="0" eaLnBrk="0" fontAlgn="base" hangingPunct="0">
        <a:lnSpc>
          <a:spcPct val="90000"/>
        </a:lnSpc>
        <a:spcBef>
          <a:spcPct val="65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q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46063" algn="l" rtl="0" eaLnBrk="0" fontAlgn="base" hangingPunct="0">
        <a:lnSpc>
          <a:spcPct val="85000"/>
        </a:lnSpc>
        <a:spcBef>
          <a:spcPct val="4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2pPr>
      <a:lvl3pPr marL="1146175" indent="-176213" algn="l" rtl="0" eaLnBrk="0" fontAlgn="base" hangingPunct="0">
        <a:lnSpc>
          <a:spcPct val="85000"/>
        </a:lnSpc>
        <a:spcBef>
          <a:spcPct val="40000"/>
        </a:spcBef>
        <a:spcAft>
          <a:spcPct val="0"/>
        </a:spcAft>
        <a:buClr>
          <a:schemeClr val="accent1"/>
        </a:buClr>
        <a:buSzPct val="100000"/>
        <a:buChar char="-"/>
        <a:defRPr>
          <a:solidFill>
            <a:schemeClr val="tx1"/>
          </a:solidFill>
          <a:latin typeface="+mn-lt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6289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30861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5433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40005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39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6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6037" y="1100413"/>
            <a:ext cx="5729132" cy="2622000"/>
          </a:xfrm>
          <a:noFill/>
        </p:spPr>
        <p:txBody>
          <a:bodyPr wrap="none" anchor="ctr"/>
          <a:lstStyle/>
          <a:p>
            <a:pPr algn="ctr"/>
            <a:r>
              <a:rPr lang="en-US" sz="3200" dirty="0" smtClean="0"/>
              <a:t>CSE 424</a:t>
            </a:r>
            <a:br>
              <a:rPr lang="en-US" sz="3200" dirty="0" smtClean="0"/>
            </a:br>
            <a:r>
              <a:rPr lang="en-US" sz="3200" dirty="0" smtClean="0"/>
              <a:t> Computer Architecture </a:t>
            </a:r>
            <a:r>
              <a:rPr lang="en-US" sz="3200" smtClean="0"/>
              <a:t/>
            </a:r>
            <a:br>
              <a:rPr lang="en-US" sz="3200" smtClean="0"/>
            </a:br>
            <a:r>
              <a:rPr lang="en-US" sz="3200" smtClean="0"/>
              <a:t/>
            </a:r>
            <a:br>
              <a:rPr lang="en-US" sz="320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MIPS </a:t>
            </a:r>
            <a:r>
              <a:rPr lang="en-US" sz="3200" dirty="0" err="1" smtClean="0"/>
              <a:t>Datapath</a:t>
            </a:r>
            <a:r>
              <a:rPr lang="en-US" sz="3200" dirty="0" smtClean="0"/>
              <a:t> Components </a:t>
            </a:r>
            <a:br>
              <a:rPr lang="en-US" sz="3200" dirty="0" smtClean="0"/>
            </a:br>
            <a:r>
              <a:rPr lang="en-US" sz="3200" dirty="0" smtClean="0"/>
              <a:t>and Design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430409"/>
          </a:xfrm>
          <a:noFill/>
        </p:spPr>
        <p:txBody>
          <a:bodyPr/>
          <a:lstStyle/>
          <a:p>
            <a:pPr marL="203200" indent="-203200"/>
            <a:r>
              <a:rPr lang="en-US" dirty="0" smtClean="0"/>
              <a:t>Adwait </a:t>
            </a:r>
            <a:r>
              <a:rPr lang="en-US" dirty="0"/>
              <a:t>Jog (http://</a:t>
            </a:r>
            <a:r>
              <a:rPr lang="en-US" dirty="0" err="1"/>
              <a:t>adwaitjog.github.io</a:t>
            </a:r>
            <a:r>
              <a:rPr lang="en-US" dirty="0"/>
              <a:t>/) </a:t>
            </a:r>
            <a:endParaRPr lang="en-US" dirty="0" smtClean="0"/>
          </a:p>
          <a:p>
            <a:pPr marL="203200" indent="-203200"/>
            <a:endParaRPr lang="en-US" dirty="0" smtClean="0"/>
          </a:p>
          <a:p>
            <a:pPr marL="203200" indent="-203200"/>
            <a:r>
              <a:rPr lang="en-US" sz="2000" dirty="0" smtClean="0"/>
              <a:t>Based on the slides from Mary. J. Irwin (Penn State)</a:t>
            </a:r>
          </a:p>
          <a:p>
            <a:pPr marL="203200" indent="-203200">
              <a:spcBef>
                <a:spcPct val="30000"/>
              </a:spcBef>
            </a:pPr>
            <a:r>
              <a:rPr lang="en-US" sz="1800" dirty="0" smtClean="0"/>
              <a:t>[Adapted from </a:t>
            </a:r>
            <a:r>
              <a:rPr lang="en-US" sz="1800" i="1" dirty="0" smtClean="0"/>
              <a:t>Computer Organization and Design, </a:t>
            </a:r>
          </a:p>
          <a:p>
            <a:pPr marL="203200" indent="-203200">
              <a:spcBef>
                <a:spcPct val="30000"/>
              </a:spcBef>
            </a:pPr>
            <a:r>
              <a:rPr lang="en-US" sz="1800" i="1" dirty="0" smtClean="0"/>
              <a:t>5</a:t>
            </a:r>
            <a:r>
              <a:rPr lang="en-US" sz="1800" i="1" baseline="30000" dirty="0" smtClean="0"/>
              <a:t>th</a:t>
            </a:r>
            <a:r>
              <a:rPr lang="en-US" sz="1800" i="1" dirty="0" smtClean="0"/>
              <a:t> Edition</a:t>
            </a:r>
            <a:r>
              <a:rPr lang="en-US" sz="1800" dirty="0"/>
              <a:t>, Patterson &amp; </a:t>
            </a:r>
            <a:r>
              <a:rPr lang="en-US" sz="1800" dirty="0" smtClean="0"/>
              <a:t>Hennessy, </a:t>
            </a:r>
          </a:p>
          <a:p>
            <a:pPr marL="203200" indent="-203200">
              <a:spcBef>
                <a:spcPct val="30000"/>
              </a:spcBef>
            </a:pPr>
            <a:r>
              <a:rPr lang="en-US" sz="1800" dirty="0" smtClean="0"/>
              <a:t>Morgan Kaufmann]</a:t>
            </a:r>
          </a:p>
        </p:txBody>
      </p:sp>
    </p:spTree>
    <p:extLst>
      <p:ext uri="{BB962C8B-B14F-4D97-AF65-F5344CB8AC3E}">
        <p14:creationId xmlns:p14="http://schemas.microsoft.com/office/powerpoint/2010/main" val="6584732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/>
          <p:cNvSpPr>
            <a:spLocks noChangeArrowheads="1"/>
          </p:cNvSpPr>
          <p:nvPr/>
        </p:nvSpPr>
        <p:spPr bwMode="auto">
          <a:xfrm>
            <a:off x="225425" y="312738"/>
            <a:ext cx="521017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458200" cy="5254259"/>
          </a:xfrm>
          <a:noFill/>
          <a:ln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We're ready to look at an implementation of the </a:t>
            </a:r>
            <a:r>
              <a:rPr lang="en-US" dirty="0" smtClean="0"/>
              <a:t>MIPS simplified </a:t>
            </a:r>
            <a:r>
              <a:rPr lang="en-US" dirty="0"/>
              <a:t>to contain only: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memory-reference instructions: 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lw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sw</a:t>
            </a:r>
            <a:r>
              <a:rPr lang="en-US" dirty="0">
                <a:latin typeface="Courier New" pitchFamily="49" charset="0"/>
              </a:rPr>
              <a:t> </a:t>
            </a: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arithmetic-logical instructions:  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add,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addu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sub,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subu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and, or,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xor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nor,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slt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sltu</a:t>
            </a:r>
            <a:endParaRPr lang="en-US" b="1" dirty="0">
              <a:solidFill>
                <a:schemeClr val="accent1"/>
              </a:solidFill>
              <a:latin typeface="Courier New" pitchFamily="49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arithmetic-logical immediate instructions: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addiu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andi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ori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xori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slti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sltiu</a:t>
            </a:r>
            <a:endParaRPr lang="en-US" b="1" dirty="0">
              <a:solidFill>
                <a:schemeClr val="accent1"/>
              </a:solidFill>
              <a:latin typeface="Courier New" pitchFamily="49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control flow instructions: 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beq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</a:t>
            </a:r>
            <a:r>
              <a:rPr lang="en-US" b="1" dirty="0" smtClean="0">
                <a:solidFill>
                  <a:schemeClr val="accent1"/>
                </a:solidFill>
                <a:latin typeface="Courier New" pitchFamily="49" charset="0"/>
              </a:rPr>
              <a:t>j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b="1" dirty="0">
              <a:solidFill>
                <a:schemeClr val="accent1"/>
              </a:solidFill>
              <a:latin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Generic implementation: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use the program counter (PC) to supply                                              the instruction address and fetch the                                            instruction from memory	</a:t>
            </a:r>
            <a:r>
              <a:rPr lang="en-US" dirty="0" smtClean="0"/>
              <a:t>                             </a:t>
            </a:r>
            <a:r>
              <a:rPr lang="en-US" dirty="0"/>
              <a:t>			      (and update the PC)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decode the instruction (and read registers)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execute the instruction</a:t>
            </a:r>
          </a:p>
        </p:txBody>
      </p:sp>
      <p:sp>
        <p:nvSpPr>
          <p:cNvPr id="70042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/>
              <a:t>The Processor:  Datapath &amp; Control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781800" y="4191000"/>
            <a:ext cx="1938338" cy="992188"/>
            <a:chOff x="432" y="2736"/>
            <a:chExt cx="1221" cy="625"/>
          </a:xfrm>
        </p:grpSpPr>
        <p:sp>
          <p:nvSpPr>
            <p:cNvPr id="700422" name="Oval 6"/>
            <p:cNvSpPr>
              <a:spLocks noChangeArrowheads="1"/>
            </p:cNvSpPr>
            <p:nvPr/>
          </p:nvSpPr>
          <p:spPr bwMode="auto">
            <a:xfrm>
              <a:off x="672" y="2736"/>
              <a:ext cx="624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423" name="Text Box 7"/>
            <p:cNvSpPr txBox="1">
              <a:spLocks noChangeArrowheads="1"/>
            </p:cNvSpPr>
            <p:nvPr/>
          </p:nvSpPr>
          <p:spPr bwMode="auto">
            <a:xfrm>
              <a:off x="624" y="2736"/>
              <a:ext cx="720" cy="32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sz="1400"/>
                <a:t>Fetch</a:t>
              </a:r>
            </a:p>
            <a:p>
              <a:pPr algn="ctr"/>
              <a:r>
                <a:rPr lang="en-US" sz="1400"/>
                <a:t>PC = PC+4</a:t>
              </a:r>
            </a:p>
          </p:txBody>
        </p:sp>
        <p:sp>
          <p:nvSpPr>
            <p:cNvPr id="700424" name="Oval 8"/>
            <p:cNvSpPr>
              <a:spLocks noChangeArrowheads="1"/>
            </p:cNvSpPr>
            <p:nvPr/>
          </p:nvSpPr>
          <p:spPr bwMode="auto">
            <a:xfrm>
              <a:off x="1196" y="3148"/>
              <a:ext cx="364" cy="2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425" name="Text Box 9"/>
            <p:cNvSpPr txBox="1">
              <a:spLocks noChangeArrowheads="1"/>
            </p:cNvSpPr>
            <p:nvPr/>
          </p:nvSpPr>
          <p:spPr bwMode="auto">
            <a:xfrm>
              <a:off x="1152" y="3168"/>
              <a:ext cx="501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Decode</a:t>
              </a:r>
            </a:p>
          </p:txBody>
        </p:sp>
        <p:sp>
          <p:nvSpPr>
            <p:cNvPr id="700426" name="Oval 10"/>
            <p:cNvSpPr>
              <a:spLocks noChangeArrowheads="1"/>
            </p:cNvSpPr>
            <p:nvPr/>
          </p:nvSpPr>
          <p:spPr bwMode="auto">
            <a:xfrm>
              <a:off x="480" y="3148"/>
              <a:ext cx="338" cy="2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427" name="Text Box 11"/>
            <p:cNvSpPr txBox="1">
              <a:spLocks noChangeArrowheads="1"/>
            </p:cNvSpPr>
            <p:nvPr/>
          </p:nvSpPr>
          <p:spPr bwMode="auto">
            <a:xfrm>
              <a:off x="432" y="3168"/>
              <a:ext cx="365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Exec</a:t>
              </a:r>
            </a:p>
          </p:txBody>
        </p:sp>
        <p:cxnSp>
          <p:nvCxnSpPr>
            <p:cNvPr id="700428" name="AutoShape 12"/>
            <p:cNvCxnSpPr>
              <a:cxnSpLocks noChangeShapeType="1"/>
              <a:stCxn id="700422" idx="6"/>
              <a:endCxn id="700424" idx="0"/>
            </p:cNvCxnSpPr>
            <p:nvPr/>
          </p:nvCxnSpPr>
          <p:spPr bwMode="auto">
            <a:xfrm>
              <a:off x="1296" y="2880"/>
              <a:ext cx="82" cy="268"/>
            </a:xfrm>
            <a:prstGeom prst="curvedConnector2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700429" name="AutoShape 13"/>
            <p:cNvCxnSpPr>
              <a:cxnSpLocks noChangeShapeType="1"/>
              <a:stCxn id="700424" idx="4"/>
              <a:endCxn id="700426" idx="4"/>
            </p:cNvCxnSpPr>
            <p:nvPr/>
          </p:nvCxnSpPr>
          <p:spPr bwMode="auto">
            <a:xfrm rot="5400000">
              <a:off x="1013" y="2996"/>
              <a:ext cx="1" cy="729"/>
            </a:xfrm>
            <a:prstGeom prst="curvedConnector3">
              <a:avLst>
                <a:gd name="adj1" fmla="val 1440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700430" name="AutoShape 14"/>
            <p:cNvCxnSpPr>
              <a:cxnSpLocks noChangeShapeType="1"/>
              <a:stCxn id="700426" idx="0"/>
              <a:endCxn id="700422" idx="2"/>
            </p:cNvCxnSpPr>
            <p:nvPr/>
          </p:nvCxnSpPr>
          <p:spPr bwMode="auto">
            <a:xfrm rot="16200000">
              <a:off x="527" y="3002"/>
              <a:ext cx="268" cy="23"/>
            </a:xfrm>
            <a:prstGeom prst="curvedConnector2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897034051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41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 Implementation View</a:t>
            </a:r>
          </a:p>
        </p:txBody>
      </p:sp>
      <p:sp>
        <p:nvSpPr>
          <p:cNvPr id="66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848600" cy="5800562"/>
          </a:xfrm>
        </p:spPr>
        <p:txBody>
          <a:bodyPr/>
          <a:lstStyle/>
          <a:p>
            <a:r>
              <a:rPr lang="en-US" dirty="0"/>
              <a:t>Two types of functional units:</a:t>
            </a:r>
          </a:p>
          <a:p>
            <a:pPr lvl="1"/>
            <a:r>
              <a:rPr lang="en-US" dirty="0"/>
              <a:t>elements that operate on data values (combinational)</a:t>
            </a:r>
          </a:p>
          <a:p>
            <a:pPr lvl="1"/>
            <a:r>
              <a:rPr lang="en-US" dirty="0"/>
              <a:t>elements that contain state (sequential)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95300" lvl="1" indent="0">
              <a:buNone/>
            </a:pPr>
            <a:endParaRPr lang="en-US" dirty="0"/>
          </a:p>
          <a:p>
            <a:r>
              <a:rPr lang="en-US" dirty="0"/>
              <a:t>Single cycle operation</a:t>
            </a:r>
          </a:p>
          <a:p>
            <a:r>
              <a:rPr lang="en-US" dirty="0"/>
              <a:t>Split memory (</a:t>
            </a:r>
            <a:r>
              <a:rPr lang="en-US" dirty="0">
                <a:solidFill>
                  <a:schemeClr val="accent1"/>
                </a:solidFill>
              </a:rPr>
              <a:t>Harvard</a:t>
            </a:r>
            <a:r>
              <a:rPr lang="en-US" dirty="0"/>
              <a:t>) model - one memory for instructions and one for </a:t>
            </a:r>
            <a:r>
              <a:rPr lang="en-US" dirty="0" smtClean="0"/>
              <a:t>data</a:t>
            </a:r>
          </a:p>
          <a:p>
            <a:r>
              <a:rPr lang="en-US" dirty="0" smtClean="0"/>
              <a:t>Von Neumann architecture: Uses one combined memory for instruction and data</a:t>
            </a:r>
            <a:endParaRPr lang="en-US" dirty="0"/>
          </a:p>
        </p:txBody>
      </p:sp>
      <p:sp>
        <p:nvSpPr>
          <p:cNvPr id="660484" name="Rectangle 4"/>
          <p:cNvSpPr>
            <a:spLocks noChangeArrowheads="1"/>
          </p:cNvSpPr>
          <p:nvPr/>
        </p:nvSpPr>
        <p:spPr bwMode="auto">
          <a:xfrm>
            <a:off x="3429000" y="25146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410200" y="2743200"/>
            <a:ext cx="381000" cy="990600"/>
            <a:chOff x="1392" y="2880"/>
            <a:chExt cx="288" cy="480"/>
          </a:xfrm>
        </p:grpSpPr>
        <p:sp>
          <p:nvSpPr>
            <p:cNvPr id="660486" name="Line 6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0487" name="Line 7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0488" name="Line 8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0489" name="Line 9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0490" name="Line 10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0491" name="Line 11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0492" name="Line 12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0493" name="Rectangle 13"/>
          <p:cNvSpPr>
            <a:spLocks noChangeArrowheads="1"/>
          </p:cNvSpPr>
          <p:nvPr/>
        </p:nvSpPr>
        <p:spPr bwMode="auto">
          <a:xfrm>
            <a:off x="1371600" y="25146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494" name="Rectangle 14"/>
          <p:cNvSpPr>
            <a:spLocks noChangeArrowheads="1"/>
          </p:cNvSpPr>
          <p:nvPr/>
        </p:nvSpPr>
        <p:spPr bwMode="auto">
          <a:xfrm>
            <a:off x="6400800" y="2438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495" name="Rectangle 15"/>
          <p:cNvSpPr>
            <a:spLocks noChangeArrowheads="1"/>
          </p:cNvSpPr>
          <p:nvPr/>
        </p:nvSpPr>
        <p:spPr bwMode="auto">
          <a:xfrm>
            <a:off x="838200" y="2895600"/>
            <a:ext cx="2286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496" name="Line 16"/>
          <p:cNvSpPr>
            <a:spLocks noChangeShapeType="1"/>
          </p:cNvSpPr>
          <p:nvPr/>
        </p:nvSpPr>
        <p:spPr bwMode="auto">
          <a:xfrm>
            <a:off x="2819400" y="32766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497" name="Line 17"/>
          <p:cNvSpPr>
            <a:spLocks noChangeShapeType="1"/>
          </p:cNvSpPr>
          <p:nvPr/>
        </p:nvSpPr>
        <p:spPr bwMode="auto">
          <a:xfrm>
            <a:off x="3124200" y="3048000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498" name="Line 18"/>
          <p:cNvSpPr>
            <a:spLocks noChangeShapeType="1"/>
          </p:cNvSpPr>
          <p:nvPr/>
        </p:nvSpPr>
        <p:spPr bwMode="auto">
          <a:xfrm>
            <a:off x="3124200" y="30480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499" name="Line 19"/>
          <p:cNvSpPr>
            <a:spLocks noChangeShapeType="1"/>
          </p:cNvSpPr>
          <p:nvPr/>
        </p:nvSpPr>
        <p:spPr bwMode="auto">
          <a:xfrm>
            <a:off x="1066800" y="32766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00" name="Line 20"/>
          <p:cNvSpPr>
            <a:spLocks noChangeShapeType="1"/>
          </p:cNvSpPr>
          <p:nvPr/>
        </p:nvSpPr>
        <p:spPr bwMode="auto">
          <a:xfrm>
            <a:off x="3124200" y="34290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01" name="Line 21"/>
          <p:cNvSpPr>
            <a:spLocks noChangeShapeType="1"/>
          </p:cNvSpPr>
          <p:nvPr/>
        </p:nvSpPr>
        <p:spPr bwMode="auto">
          <a:xfrm>
            <a:off x="3124200" y="38100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02" name="Line 22"/>
          <p:cNvSpPr>
            <a:spLocks noChangeShapeType="1"/>
          </p:cNvSpPr>
          <p:nvPr/>
        </p:nvSpPr>
        <p:spPr bwMode="auto">
          <a:xfrm>
            <a:off x="3124200" y="2667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03" name="Line 23"/>
          <p:cNvSpPr>
            <a:spLocks noChangeShapeType="1"/>
          </p:cNvSpPr>
          <p:nvPr/>
        </p:nvSpPr>
        <p:spPr bwMode="auto">
          <a:xfrm>
            <a:off x="4876800" y="28956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04" name="Line 24"/>
          <p:cNvSpPr>
            <a:spLocks noChangeShapeType="1"/>
          </p:cNvSpPr>
          <p:nvPr/>
        </p:nvSpPr>
        <p:spPr bwMode="auto">
          <a:xfrm>
            <a:off x="4876800" y="35814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05" name="Line 25"/>
          <p:cNvSpPr>
            <a:spLocks noChangeShapeType="1"/>
          </p:cNvSpPr>
          <p:nvPr/>
        </p:nvSpPr>
        <p:spPr bwMode="auto">
          <a:xfrm>
            <a:off x="3124200" y="4343400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06" name="Line 26"/>
          <p:cNvSpPr>
            <a:spLocks noChangeShapeType="1"/>
          </p:cNvSpPr>
          <p:nvPr/>
        </p:nvSpPr>
        <p:spPr bwMode="auto">
          <a:xfrm>
            <a:off x="5181600" y="3581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07" name="Line 27"/>
          <p:cNvSpPr>
            <a:spLocks noChangeShapeType="1"/>
          </p:cNvSpPr>
          <p:nvPr/>
        </p:nvSpPr>
        <p:spPr bwMode="auto">
          <a:xfrm>
            <a:off x="5029200" y="3581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08" name="Line 28"/>
          <p:cNvSpPr>
            <a:spLocks noChangeShapeType="1"/>
          </p:cNvSpPr>
          <p:nvPr/>
        </p:nvSpPr>
        <p:spPr bwMode="auto">
          <a:xfrm>
            <a:off x="3124200" y="20574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09" name="Line 29"/>
          <p:cNvSpPr>
            <a:spLocks noChangeShapeType="1"/>
          </p:cNvSpPr>
          <p:nvPr/>
        </p:nvSpPr>
        <p:spPr bwMode="auto">
          <a:xfrm>
            <a:off x="3124200" y="2057400"/>
            <a:ext cx="502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10" name="Line 30"/>
          <p:cNvSpPr>
            <a:spLocks noChangeShapeType="1"/>
          </p:cNvSpPr>
          <p:nvPr/>
        </p:nvSpPr>
        <p:spPr bwMode="auto">
          <a:xfrm>
            <a:off x="7848600" y="3200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11" name="Line 31"/>
          <p:cNvSpPr>
            <a:spLocks noChangeShapeType="1"/>
          </p:cNvSpPr>
          <p:nvPr/>
        </p:nvSpPr>
        <p:spPr bwMode="auto">
          <a:xfrm>
            <a:off x="8153400" y="20574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12" name="Line 32"/>
          <p:cNvSpPr>
            <a:spLocks noChangeShapeType="1"/>
          </p:cNvSpPr>
          <p:nvPr/>
        </p:nvSpPr>
        <p:spPr bwMode="auto">
          <a:xfrm>
            <a:off x="6096000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13" name="Line 33"/>
          <p:cNvSpPr>
            <a:spLocks noChangeShapeType="1"/>
          </p:cNvSpPr>
          <p:nvPr/>
        </p:nvSpPr>
        <p:spPr bwMode="auto">
          <a:xfrm>
            <a:off x="5791200" y="3200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14" name="Line 34"/>
          <p:cNvSpPr>
            <a:spLocks noChangeShapeType="1"/>
          </p:cNvSpPr>
          <p:nvPr/>
        </p:nvSpPr>
        <p:spPr bwMode="auto">
          <a:xfrm>
            <a:off x="6096000" y="20574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15" name="Line 35"/>
          <p:cNvSpPr>
            <a:spLocks noChangeShapeType="1"/>
          </p:cNvSpPr>
          <p:nvPr/>
        </p:nvSpPr>
        <p:spPr bwMode="auto">
          <a:xfrm>
            <a:off x="6096000" y="3581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16" name="Line 36"/>
          <p:cNvSpPr>
            <a:spLocks noChangeShapeType="1"/>
          </p:cNvSpPr>
          <p:nvPr/>
        </p:nvSpPr>
        <p:spPr bwMode="auto">
          <a:xfrm>
            <a:off x="5029200" y="39624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17" name="Line 37"/>
          <p:cNvSpPr>
            <a:spLocks noChangeShapeType="1"/>
          </p:cNvSpPr>
          <p:nvPr/>
        </p:nvSpPr>
        <p:spPr bwMode="auto">
          <a:xfrm>
            <a:off x="6096000" y="3581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0518" name="Text Box 38"/>
          <p:cNvSpPr txBox="1">
            <a:spLocks noChangeArrowheads="1"/>
          </p:cNvSpPr>
          <p:nvPr/>
        </p:nvSpPr>
        <p:spPr bwMode="auto">
          <a:xfrm>
            <a:off x="1295400" y="3124200"/>
            <a:ext cx="7413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Address</a:t>
            </a:r>
          </a:p>
        </p:txBody>
      </p:sp>
      <p:sp>
        <p:nvSpPr>
          <p:cNvPr id="660519" name="Text Box 39"/>
          <p:cNvSpPr txBox="1">
            <a:spLocks noChangeArrowheads="1"/>
          </p:cNvSpPr>
          <p:nvPr/>
        </p:nvSpPr>
        <p:spPr bwMode="auto">
          <a:xfrm>
            <a:off x="2057400" y="3124200"/>
            <a:ext cx="8858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Instruction</a:t>
            </a:r>
          </a:p>
        </p:txBody>
      </p:sp>
      <p:sp>
        <p:nvSpPr>
          <p:cNvPr id="660520" name="Text Box 40"/>
          <p:cNvSpPr txBox="1">
            <a:spLocks noChangeArrowheads="1"/>
          </p:cNvSpPr>
          <p:nvPr/>
        </p:nvSpPr>
        <p:spPr bwMode="auto">
          <a:xfrm>
            <a:off x="1600200" y="2590800"/>
            <a:ext cx="973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Instruction</a:t>
            </a:r>
          </a:p>
          <a:p>
            <a:pPr algn="ctr"/>
            <a:r>
              <a:rPr lang="en-US" sz="1200" b="1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660521" name="Text Box 41"/>
          <p:cNvSpPr txBox="1">
            <a:spLocks noChangeArrowheads="1"/>
          </p:cNvSpPr>
          <p:nvPr/>
        </p:nvSpPr>
        <p:spPr bwMode="auto">
          <a:xfrm>
            <a:off x="3352800" y="25146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Write Data</a:t>
            </a:r>
          </a:p>
        </p:txBody>
      </p:sp>
      <p:sp>
        <p:nvSpPr>
          <p:cNvPr id="660522" name="Text Box 42"/>
          <p:cNvSpPr txBox="1">
            <a:spLocks noChangeArrowheads="1"/>
          </p:cNvSpPr>
          <p:nvPr/>
        </p:nvSpPr>
        <p:spPr bwMode="auto">
          <a:xfrm>
            <a:off x="3352800" y="2895600"/>
            <a:ext cx="82550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Reg Addr</a:t>
            </a:r>
          </a:p>
        </p:txBody>
      </p:sp>
      <p:sp>
        <p:nvSpPr>
          <p:cNvPr id="660523" name="Text Box 43"/>
          <p:cNvSpPr txBox="1">
            <a:spLocks noChangeArrowheads="1"/>
          </p:cNvSpPr>
          <p:nvPr/>
        </p:nvSpPr>
        <p:spPr bwMode="auto">
          <a:xfrm>
            <a:off x="3352800" y="3276600"/>
            <a:ext cx="82550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Reg Addr</a:t>
            </a:r>
          </a:p>
        </p:txBody>
      </p:sp>
      <p:sp>
        <p:nvSpPr>
          <p:cNvPr id="660524" name="Text Box 44"/>
          <p:cNvSpPr txBox="1">
            <a:spLocks noChangeArrowheads="1"/>
          </p:cNvSpPr>
          <p:nvPr/>
        </p:nvSpPr>
        <p:spPr bwMode="auto">
          <a:xfrm>
            <a:off x="3352800" y="3657600"/>
            <a:ext cx="82550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Reg Addr</a:t>
            </a:r>
          </a:p>
        </p:txBody>
      </p:sp>
      <p:sp>
        <p:nvSpPr>
          <p:cNvPr id="660525" name="Text Box 45"/>
          <p:cNvSpPr txBox="1">
            <a:spLocks noChangeArrowheads="1"/>
          </p:cNvSpPr>
          <p:nvPr/>
        </p:nvSpPr>
        <p:spPr bwMode="auto">
          <a:xfrm>
            <a:off x="3676650" y="27432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Register</a:t>
            </a: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File</a:t>
            </a:r>
          </a:p>
        </p:txBody>
      </p:sp>
      <p:sp>
        <p:nvSpPr>
          <p:cNvPr id="660526" name="Text Box 46"/>
          <p:cNvSpPr txBox="1">
            <a:spLocks noChangeArrowheads="1"/>
          </p:cNvSpPr>
          <p:nvPr/>
        </p:nvSpPr>
        <p:spPr bwMode="auto">
          <a:xfrm>
            <a:off x="5410200" y="3124200"/>
            <a:ext cx="4968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ALU</a:t>
            </a:r>
          </a:p>
        </p:txBody>
      </p:sp>
      <p:sp>
        <p:nvSpPr>
          <p:cNvPr id="660527" name="Text Box 47"/>
          <p:cNvSpPr txBox="1">
            <a:spLocks noChangeArrowheads="1"/>
          </p:cNvSpPr>
          <p:nvPr/>
        </p:nvSpPr>
        <p:spPr bwMode="auto">
          <a:xfrm>
            <a:off x="6324600" y="2895600"/>
            <a:ext cx="766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US" sz="1200" b="1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660528" name="Text Box 48"/>
          <p:cNvSpPr txBox="1">
            <a:spLocks noChangeArrowheads="1"/>
          </p:cNvSpPr>
          <p:nvPr/>
        </p:nvSpPr>
        <p:spPr bwMode="auto">
          <a:xfrm>
            <a:off x="6324600" y="2590800"/>
            <a:ext cx="7413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Address</a:t>
            </a:r>
          </a:p>
        </p:txBody>
      </p:sp>
      <p:sp>
        <p:nvSpPr>
          <p:cNvPr id="660529" name="Text Box 49"/>
          <p:cNvSpPr txBox="1">
            <a:spLocks noChangeArrowheads="1"/>
          </p:cNvSpPr>
          <p:nvPr/>
        </p:nvSpPr>
        <p:spPr bwMode="auto">
          <a:xfrm>
            <a:off x="6324600" y="34290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Write Data</a:t>
            </a:r>
          </a:p>
        </p:txBody>
      </p:sp>
      <p:sp>
        <p:nvSpPr>
          <p:cNvPr id="660530" name="Text Box 50"/>
          <p:cNvSpPr txBox="1">
            <a:spLocks noChangeArrowheads="1"/>
          </p:cNvSpPr>
          <p:nvPr/>
        </p:nvSpPr>
        <p:spPr bwMode="auto">
          <a:xfrm>
            <a:off x="7010400" y="3048000"/>
            <a:ext cx="909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Read Data</a:t>
            </a:r>
          </a:p>
        </p:txBody>
      </p:sp>
      <p:sp>
        <p:nvSpPr>
          <p:cNvPr id="660531" name="Text Box 51"/>
          <p:cNvSpPr txBox="1">
            <a:spLocks noChangeArrowheads="1"/>
          </p:cNvSpPr>
          <p:nvPr/>
        </p:nvSpPr>
        <p:spPr bwMode="auto">
          <a:xfrm>
            <a:off x="762000" y="3124200"/>
            <a:ext cx="395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660532" name="Text Box 52"/>
          <p:cNvSpPr txBox="1">
            <a:spLocks noChangeArrowheads="1"/>
          </p:cNvSpPr>
          <p:nvPr/>
        </p:nvSpPr>
        <p:spPr bwMode="auto">
          <a:xfrm>
            <a:off x="4419600" y="2667000"/>
            <a:ext cx="547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Read</a:t>
            </a:r>
          </a:p>
          <a:p>
            <a:r>
              <a:rPr lang="en-US" sz="1200">
                <a:solidFill>
                  <a:schemeClr val="tx1"/>
                </a:solidFill>
              </a:rPr>
              <a:t> Data</a:t>
            </a:r>
          </a:p>
        </p:txBody>
      </p:sp>
      <p:sp>
        <p:nvSpPr>
          <p:cNvPr id="660533" name="Text Box 53"/>
          <p:cNvSpPr txBox="1">
            <a:spLocks noChangeArrowheads="1"/>
          </p:cNvSpPr>
          <p:nvPr/>
        </p:nvSpPr>
        <p:spPr bwMode="auto">
          <a:xfrm>
            <a:off x="4419600" y="3352800"/>
            <a:ext cx="547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Read</a:t>
            </a:r>
          </a:p>
          <a:p>
            <a:r>
              <a:rPr lang="en-US" sz="1200">
                <a:solidFill>
                  <a:schemeClr val="tx1"/>
                </a:solidFill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1648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Clocking Methodologies</a:t>
            </a:r>
          </a:p>
        </p:txBody>
      </p:sp>
      <p:sp>
        <p:nvSpPr>
          <p:cNvPr id="66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38200"/>
            <a:ext cx="7848600" cy="708025"/>
          </a:xfrm>
        </p:spPr>
        <p:txBody>
          <a:bodyPr/>
          <a:lstStyle/>
          <a:p>
            <a:r>
              <a:rPr lang="en-US"/>
              <a:t>Clocking methodology defines when signals can be read and when they can be written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295400" y="2514600"/>
            <a:ext cx="5867400" cy="381000"/>
            <a:chOff x="816" y="1488"/>
            <a:chExt cx="3696" cy="240"/>
          </a:xfrm>
        </p:grpSpPr>
        <p:sp>
          <p:nvSpPr>
            <p:cNvPr id="662533" name="Line 5"/>
            <p:cNvSpPr>
              <a:spLocks noChangeShapeType="1"/>
            </p:cNvSpPr>
            <p:nvPr/>
          </p:nvSpPr>
          <p:spPr bwMode="auto">
            <a:xfrm>
              <a:off x="816" y="172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34" name="Line 6"/>
            <p:cNvSpPr>
              <a:spLocks noChangeShapeType="1"/>
            </p:cNvSpPr>
            <p:nvPr/>
          </p:nvSpPr>
          <p:spPr bwMode="auto">
            <a:xfrm>
              <a:off x="1152" y="14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35" name="Line 7"/>
            <p:cNvSpPr>
              <a:spLocks noChangeShapeType="1"/>
            </p:cNvSpPr>
            <p:nvPr/>
          </p:nvSpPr>
          <p:spPr bwMode="auto">
            <a:xfrm>
              <a:off x="1152" y="148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36" name="Line 8"/>
            <p:cNvSpPr>
              <a:spLocks noChangeShapeType="1"/>
            </p:cNvSpPr>
            <p:nvPr/>
          </p:nvSpPr>
          <p:spPr bwMode="auto">
            <a:xfrm>
              <a:off x="1488" y="14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37" name="Line 9"/>
            <p:cNvSpPr>
              <a:spLocks noChangeShapeType="1"/>
            </p:cNvSpPr>
            <p:nvPr/>
          </p:nvSpPr>
          <p:spPr bwMode="auto">
            <a:xfrm>
              <a:off x="1488" y="172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38" name="Line 10"/>
            <p:cNvSpPr>
              <a:spLocks noChangeShapeType="1"/>
            </p:cNvSpPr>
            <p:nvPr/>
          </p:nvSpPr>
          <p:spPr bwMode="auto">
            <a:xfrm>
              <a:off x="1824" y="14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39" name="Line 11"/>
            <p:cNvSpPr>
              <a:spLocks noChangeShapeType="1"/>
            </p:cNvSpPr>
            <p:nvPr/>
          </p:nvSpPr>
          <p:spPr bwMode="auto">
            <a:xfrm>
              <a:off x="1824" y="148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40" name="Line 12"/>
            <p:cNvSpPr>
              <a:spLocks noChangeShapeType="1"/>
            </p:cNvSpPr>
            <p:nvPr/>
          </p:nvSpPr>
          <p:spPr bwMode="auto">
            <a:xfrm>
              <a:off x="2160" y="14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41" name="Line 13"/>
            <p:cNvSpPr>
              <a:spLocks noChangeShapeType="1"/>
            </p:cNvSpPr>
            <p:nvPr/>
          </p:nvSpPr>
          <p:spPr bwMode="auto">
            <a:xfrm>
              <a:off x="2160" y="172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42" name="Line 14"/>
            <p:cNvSpPr>
              <a:spLocks noChangeShapeType="1"/>
            </p:cNvSpPr>
            <p:nvPr/>
          </p:nvSpPr>
          <p:spPr bwMode="auto">
            <a:xfrm>
              <a:off x="2496" y="14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43" name="Line 15"/>
            <p:cNvSpPr>
              <a:spLocks noChangeShapeType="1"/>
            </p:cNvSpPr>
            <p:nvPr/>
          </p:nvSpPr>
          <p:spPr bwMode="auto">
            <a:xfrm>
              <a:off x="2496" y="148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44" name="Line 16"/>
            <p:cNvSpPr>
              <a:spLocks noChangeShapeType="1"/>
            </p:cNvSpPr>
            <p:nvPr/>
          </p:nvSpPr>
          <p:spPr bwMode="auto">
            <a:xfrm>
              <a:off x="2832" y="14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45" name="Line 17"/>
            <p:cNvSpPr>
              <a:spLocks noChangeShapeType="1"/>
            </p:cNvSpPr>
            <p:nvPr/>
          </p:nvSpPr>
          <p:spPr bwMode="auto">
            <a:xfrm>
              <a:off x="2832" y="172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46" name="Line 18"/>
            <p:cNvSpPr>
              <a:spLocks noChangeShapeType="1"/>
            </p:cNvSpPr>
            <p:nvPr/>
          </p:nvSpPr>
          <p:spPr bwMode="auto">
            <a:xfrm>
              <a:off x="3168" y="14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47" name="Line 19"/>
            <p:cNvSpPr>
              <a:spLocks noChangeShapeType="1"/>
            </p:cNvSpPr>
            <p:nvPr/>
          </p:nvSpPr>
          <p:spPr bwMode="auto">
            <a:xfrm>
              <a:off x="3168" y="148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48" name="Line 20"/>
            <p:cNvSpPr>
              <a:spLocks noChangeShapeType="1"/>
            </p:cNvSpPr>
            <p:nvPr/>
          </p:nvSpPr>
          <p:spPr bwMode="auto">
            <a:xfrm>
              <a:off x="3504" y="14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49" name="Line 21"/>
            <p:cNvSpPr>
              <a:spLocks noChangeShapeType="1"/>
            </p:cNvSpPr>
            <p:nvPr/>
          </p:nvSpPr>
          <p:spPr bwMode="auto">
            <a:xfrm>
              <a:off x="3504" y="172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50" name="Line 22"/>
            <p:cNvSpPr>
              <a:spLocks noChangeShapeType="1"/>
            </p:cNvSpPr>
            <p:nvPr/>
          </p:nvSpPr>
          <p:spPr bwMode="auto">
            <a:xfrm>
              <a:off x="3840" y="14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51" name="Line 23"/>
            <p:cNvSpPr>
              <a:spLocks noChangeShapeType="1"/>
            </p:cNvSpPr>
            <p:nvPr/>
          </p:nvSpPr>
          <p:spPr bwMode="auto">
            <a:xfrm>
              <a:off x="3840" y="148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52" name="Line 24"/>
            <p:cNvSpPr>
              <a:spLocks noChangeShapeType="1"/>
            </p:cNvSpPr>
            <p:nvPr/>
          </p:nvSpPr>
          <p:spPr bwMode="auto">
            <a:xfrm>
              <a:off x="4176" y="14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553" name="Line 25"/>
            <p:cNvSpPr>
              <a:spLocks noChangeShapeType="1"/>
            </p:cNvSpPr>
            <p:nvPr/>
          </p:nvSpPr>
          <p:spPr bwMode="auto">
            <a:xfrm>
              <a:off x="4176" y="172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4495800" y="1828800"/>
            <a:ext cx="2514600" cy="914400"/>
            <a:chOff x="2832" y="1056"/>
            <a:chExt cx="1584" cy="576"/>
          </a:xfrm>
        </p:grpSpPr>
        <p:sp>
          <p:nvSpPr>
            <p:cNvPr id="662555" name="Rectangle 27"/>
            <p:cNvSpPr>
              <a:spLocks noChangeArrowheads="1"/>
            </p:cNvSpPr>
            <p:nvPr/>
          </p:nvSpPr>
          <p:spPr bwMode="auto">
            <a:xfrm>
              <a:off x="2832" y="1056"/>
              <a:ext cx="1584" cy="2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r>
                <a:rPr lang="en-US" b="1">
                  <a:solidFill>
                    <a:srgbClr val="000000"/>
                  </a:solidFill>
                </a:rPr>
                <a:t>falling (negative) edge</a:t>
              </a:r>
            </a:p>
          </p:txBody>
        </p:sp>
        <p:sp>
          <p:nvSpPr>
            <p:cNvPr id="662556" name="Line 28"/>
            <p:cNvSpPr>
              <a:spLocks noChangeShapeType="1"/>
            </p:cNvSpPr>
            <p:nvPr/>
          </p:nvSpPr>
          <p:spPr bwMode="auto">
            <a:xfrm flipH="1">
              <a:off x="2832" y="1248"/>
              <a:ext cx="336" cy="384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3962400" y="2743200"/>
            <a:ext cx="2819400" cy="922338"/>
            <a:chOff x="2496" y="1632"/>
            <a:chExt cx="1776" cy="581"/>
          </a:xfrm>
        </p:grpSpPr>
        <p:sp>
          <p:nvSpPr>
            <p:cNvPr id="662558" name="Rectangle 30"/>
            <p:cNvSpPr>
              <a:spLocks noChangeArrowheads="1"/>
            </p:cNvSpPr>
            <p:nvPr/>
          </p:nvSpPr>
          <p:spPr bwMode="auto">
            <a:xfrm>
              <a:off x="2736" y="1920"/>
              <a:ext cx="1536" cy="29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r>
                <a:rPr lang="en-US" b="1">
                  <a:solidFill>
                    <a:srgbClr val="000000"/>
                  </a:solidFill>
                </a:rPr>
                <a:t>rising (positive) edge</a:t>
              </a:r>
            </a:p>
          </p:txBody>
        </p:sp>
        <p:sp>
          <p:nvSpPr>
            <p:cNvPr id="662559" name="Line 31"/>
            <p:cNvSpPr>
              <a:spLocks noChangeShapeType="1"/>
            </p:cNvSpPr>
            <p:nvPr/>
          </p:nvSpPr>
          <p:spPr bwMode="auto">
            <a:xfrm flipH="1" flipV="1">
              <a:off x="2496" y="1632"/>
              <a:ext cx="240" cy="384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1828800" y="3048000"/>
            <a:ext cx="1090613" cy="463550"/>
            <a:chOff x="1152" y="1824"/>
            <a:chExt cx="687" cy="292"/>
          </a:xfrm>
        </p:grpSpPr>
        <p:sp>
          <p:nvSpPr>
            <p:cNvPr id="662561" name="Rectangle 33"/>
            <p:cNvSpPr>
              <a:spLocks noChangeArrowheads="1"/>
            </p:cNvSpPr>
            <p:nvPr/>
          </p:nvSpPr>
          <p:spPr bwMode="auto">
            <a:xfrm>
              <a:off x="1152" y="1872"/>
              <a:ext cx="687" cy="2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r>
                <a:rPr lang="en-US" b="1">
                  <a:solidFill>
                    <a:srgbClr val="000000"/>
                  </a:solidFill>
                </a:rPr>
                <a:t>clock cycle</a:t>
              </a:r>
            </a:p>
          </p:txBody>
        </p:sp>
        <p:sp>
          <p:nvSpPr>
            <p:cNvPr id="662562" name="Line 34"/>
            <p:cNvSpPr>
              <a:spLocks noChangeShapeType="1"/>
            </p:cNvSpPr>
            <p:nvPr/>
          </p:nvSpPr>
          <p:spPr bwMode="auto">
            <a:xfrm>
              <a:off x="1152" y="1824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2563" name="Rectangle 35"/>
          <p:cNvSpPr>
            <a:spLocks noChangeArrowheads="1"/>
          </p:cNvSpPr>
          <p:nvPr/>
        </p:nvSpPr>
        <p:spPr bwMode="auto">
          <a:xfrm>
            <a:off x="1524000" y="3733800"/>
            <a:ext cx="5867400" cy="106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r>
              <a:rPr lang="en-US" sz="2000">
                <a:solidFill>
                  <a:srgbClr val="000000"/>
                </a:solidFill>
              </a:rPr>
              <a:t>clock rate = 1/(clock cycle)</a:t>
            </a:r>
          </a:p>
          <a:p>
            <a:r>
              <a:rPr lang="en-US" sz="2000">
                <a:solidFill>
                  <a:srgbClr val="000000"/>
                </a:solidFill>
              </a:rPr>
              <a:t>    e.g., 10 nsec clock cycle = 100 MHz clock rate</a:t>
            </a:r>
          </a:p>
          <a:p>
            <a:r>
              <a:rPr lang="en-US" sz="2000">
                <a:solidFill>
                  <a:srgbClr val="000000"/>
                </a:solidFill>
              </a:rPr>
              <a:t>              1 nsec clock cycle = 1 GHz clock rate</a:t>
            </a:r>
          </a:p>
        </p:txBody>
      </p:sp>
      <p:sp>
        <p:nvSpPr>
          <p:cNvPr id="662564" name="Rectangle 36"/>
          <p:cNvSpPr>
            <a:spLocks noChangeArrowheads="1"/>
          </p:cNvSpPr>
          <p:nvPr/>
        </p:nvSpPr>
        <p:spPr bwMode="auto">
          <a:xfrm>
            <a:off x="609600" y="4953000"/>
            <a:ext cx="7848600" cy="1231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State element design choices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200" dirty="0">
                <a:solidFill>
                  <a:schemeClr val="tx1"/>
                </a:solidFill>
              </a:rPr>
              <a:t>level sensitive latch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200" dirty="0" smtClean="0">
                <a:solidFill>
                  <a:schemeClr val="tx1"/>
                </a:solidFill>
              </a:rPr>
              <a:t>edge-triggered (master-slave) </a:t>
            </a:r>
            <a:r>
              <a:rPr lang="en-US" sz="2200" dirty="0" err="1">
                <a:solidFill>
                  <a:schemeClr val="tx1"/>
                </a:solidFill>
              </a:rPr>
              <a:t>flipflops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11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2563" grpId="0" autoUpdateAnimBg="0"/>
      <p:bldP spid="66256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/>
              <a:t>Our Implementation</a:t>
            </a:r>
          </a:p>
        </p:txBody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762000"/>
            <a:ext cx="8001000" cy="2362200"/>
          </a:xfrm>
          <a:noFill/>
          <a:ln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An edge-triggered methodology, typical execution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read contents of some state elements (combinational activity, so no clock control signal needed)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send values through some combinational logic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write results to one or more state elements on clock edge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1981200" y="3124200"/>
            <a:ext cx="4724400" cy="639763"/>
            <a:chOff x="1248" y="1776"/>
            <a:chExt cx="2976" cy="403"/>
          </a:xfrm>
        </p:grpSpPr>
        <p:sp>
          <p:nvSpPr>
            <p:cNvPr id="668676" name="Rectangle 4"/>
            <p:cNvSpPr>
              <a:spLocks noChangeArrowheads="1"/>
            </p:cNvSpPr>
            <p:nvPr/>
          </p:nvSpPr>
          <p:spPr bwMode="auto">
            <a:xfrm>
              <a:off x="1488" y="1776"/>
              <a:ext cx="480" cy="3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677" name="Text Box 5"/>
            <p:cNvSpPr txBox="1">
              <a:spLocks noChangeArrowheads="1"/>
            </p:cNvSpPr>
            <p:nvPr/>
          </p:nvSpPr>
          <p:spPr bwMode="auto">
            <a:xfrm>
              <a:off x="1488" y="1776"/>
              <a:ext cx="478" cy="4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State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element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8678" name="Rectangle 6"/>
            <p:cNvSpPr>
              <a:spLocks noChangeArrowheads="1"/>
            </p:cNvSpPr>
            <p:nvPr/>
          </p:nvSpPr>
          <p:spPr bwMode="auto">
            <a:xfrm>
              <a:off x="3504" y="1776"/>
              <a:ext cx="480" cy="3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679" name="Text Box 7"/>
            <p:cNvSpPr txBox="1">
              <a:spLocks noChangeArrowheads="1"/>
            </p:cNvSpPr>
            <p:nvPr/>
          </p:nvSpPr>
          <p:spPr bwMode="auto">
            <a:xfrm>
              <a:off x="3504" y="1776"/>
              <a:ext cx="478" cy="4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State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element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68680" name="Oval 8"/>
            <p:cNvSpPr>
              <a:spLocks noChangeArrowheads="1"/>
            </p:cNvSpPr>
            <p:nvPr/>
          </p:nvSpPr>
          <p:spPr bwMode="auto">
            <a:xfrm>
              <a:off x="2352" y="1776"/>
              <a:ext cx="768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681" name="Text Box 9"/>
            <p:cNvSpPr txBox="1">
              <a:spLocks noChangeArrowheads="1"/>
            </p:cNvSpPr>
            <p:nvPr/>
          </p:nvSpPr>
          <p:spPr bwMode="auto">
            <a:xfrm>
              <a:off x="2352" y="1824"/>
              <a:ext cx="784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Combinational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logic</a:t>
              </a:r>
            </a:p>
          </p:txBody>
        </p:sp>
        <p:sp>
          <p:nvSpPr>
            <p:cNvPr id="668682" name="Line 10"/>
            <p:cNvSpPr>
              <a:spLocks noChangeShapeType="1"/>
            </p:cNvSpPr>
            <p:nvPr/>
          </p:nvSpPr>
          <p:spPr bwMode="auto">
            <a:xfrm>
              <a:off x="1968" y="196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683" name="Line 11"/>
            <p:cNvSpPr>
              <a:spLocks noChangeShapeType="1"/>
            </p:cNvSpPr>
            <p:nvPr/>
          </p:nvSpPr>
          <p:spPr bwMode="auto">
            <a:xfrm>
              <a:off x="3120" y="196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691" name="Line 19"/>
            <p:cNvSpPr>
              <a:spLocks noChangeShapeType="1"/>
            </p:cNvSpPr>
            <p:nvPr/>
          </p:nvSpPr>
          <p:spPr bwMode="auto">
            <a:xfrm>
              <a:off x="1248" y="1968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692" name="Line 20"/>
            <p:cNvSpPr>
              <a:spLocks noChangeShapeType="1"/>
            </p:cNvSpPr>
            <p:nvPr/>
          </p:nvSpPr>
          <p:spPr bwMode="auto">
            <a:xfrm>
              <a:off x="3984" y="1968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8684" name="Line 12"/>
          <p:cNvSpPr>
            <a:spLocks noChangeShapeType="1"/>
          </p:cNvSpPr>
          <p:nvPr/>
        </p:nvSpPr>
        <p:spPr bwMode="auto">
          <a:xfrm>
            <a:off x="2057400" y="3944938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8685" name="Line 13"/>
          <p:cNvSpPr>
            <a:spLocks noChangeShapeType="1"/>
          </p:cNvSpPr>
          <p:nvPr/>
        </p:nvSpPr>
        <p:spPr bwMode="auto">
          <a:xfrm flipV="1">
            <a:off x="2667000" y="3944938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8686" name="Line 14"/>
          <p:cNvSpPr>
            <a:spLocks noChangeShapeType="1"/>
          </p:cNvSpPr>
          <p:nvPr/>
        </p:nvSpPr>
        <p:spPr bwMode="auto">
          <a:xfrm>
            <a:off x="2667000" y="4249738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8687" name="Line 15"/>
          <p:cNvSpPr>
            <a:spLocks noChangeShapeType="1"/>
          </p:cNvSpPr>
          <p:nvPr/>
        </p:nvSpPr>
        <p:spPr bwMode="auto">
          <a:xfrm>
            <a:off x="4343400" y="394493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8688" name="Line 16"/>
          <p:cNvSpPr>
            <a:spLocks noChangeShapeType="1"/>
          </p:cNvSpPr>
          <p:nvPr/>
        </p:nvSpPr>
        <p:spPr bwMode="auto">
          <a:xfrm>
            <a:off x="4343400" y="3944938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8689" name="Line 17"/>
          <p:cNvSpPr>
            <a:spLocks noChangeShapeType="1"/>
          </p:cNvSpPr>
          <p:nvPr/>
        </p:nvSpPr>
        <p:spPr bwMode="auto">
          <a:xfrm flipV="1">
            <a:off x="6019800" y="3944938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8690" name="Line 18"/>
          <p:cNvSpPr>
            <a:spLocks noChangeShapeType="1"/>
          </p:cNvSpPr>
          <p:nvPr/>
        </p:nvSpPr>
        <p:spPr bwMode="auto">
          <a:xfrm>
            <a:off x="6019800" y="4249738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8693" name="Text Box 21"/>
          <p:cNvSpPr txBox="1">
            <a:spLocks noChangeArrowheads="1"/>
          </p:cNvSpPr>
          <p:nvPr/>
        </p:nvSpPr>
        <p:spPr bwMode="auto">
          <a:xfrm>
            <a:off x="1544638" y="4000504"/>
            <a:ext cx="65114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clock</a:t>
            </a:r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2667000" y="4495800"/>
            <a:ext cx="3352800" cy="363538"/>
            <a:chOff x="1680" y="2640"/>
            <a:chExt cx="2112" cy="229"/>
          </a:xfrm>
        </p:grpSpPr>
        <p:sp>
          <p:nvSpPr>
            <p:cNvPr id="668694" name="Text Box 22"/>
            <p:cNvSpPr txBox="1">
              <a:spLocks noChangeArrowheads="1"/>
            </p:cNvSpPr>
            <p:nvPr/>
          </p:nvSpPr>
          <p:spPr bwMode="auto">
            <a:xfrm>
              <a:off x="2240" y="2657"/>
              <a:ext cx="983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one clock cycle</a:t>
              </a:r>
            </a:p>
          </p:txBody>
        </p:sp>
        <p:sp>
          <p:nvSpPr>
            <p:cNvPr id="668695" name="Line 23"/>
            <p:cNvSpPr>
              <a:spLocks noChangeShapeType="1"/>
            </p:cNvSpPr>
            <p:nvPr/>
          </p:nvSpPr>
          <p:spPr bwMode="auto">
            <a:xfrm>
              <a:off x="1680" y="2640"/>
              <a:ext cx="21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8699" name="Rectangle 27"/>
          <p:cNvSpPr>
            <a:spLocks noChangeArrowheads="1"/>
          </p:cNvSpPr>
          <p:nvPr/>
        </p:nvSpPr>
        <p:spPr bwMode="auto">
          <a:xfrm>
            <a:off x="762000" y="4876800"/>
            <a:ext cx="8001000" cy="1676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Assumes state elements are written on every clock cycle; if not, need explicit write control signal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200" dirty="0">
                <a:solidFill>
                  <a:schemeClr val="tx1"/>
                </a:solidFill>
              </a:rPr>
              <a:t>write occurs only when </a:t>
            </a:r>
            <a:r>
              <a:rPr lang="en-US" sz="2200" dirty="0"/>
              <a:t>both</a:t>
            </a:r>
            <a:r>
              <a:rPr lang="en-US" sz="2200" dirty="0">
                <a:solidFill>
                  <a:schemeClr val="tx1"/>
                </a:solidFill>
              </a:rPr>
              <a:t> the write control is asserted and the clock edge occurs</a:t>
            </a:r>
          </a:p>
        </p:txBody>
      </p:sp>
    </p:spTree>
    <p:extLst>
      <p:ext uri="{BB962C8B-B14F-4D97-AF65-F5344CB8AC3E}">
        <p14:creationId xmlns:p14="http://schemas.microsoft.com/office/powerpoint/2010/main" val="16667863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9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Fetching Instructions</a:t>
            </a:r>
          </a:p>
        </p:txBody>
      </p:sp>
      <p:sp>
        <p:nvSpPr>
          <p:cNvPr id="67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848600" cy="1549400"/>
          </a:xfrm>
        </p:spPr>
        <p:txBody>
          <a:bodyPr/>
          <a:lstStyle/>
          <a:p>
            <a:r>
              <a:rPr lang="en-US"/>
              <a:t>Fetching instructions involves</a:t>
            </a:r>
          </a:p>
          <a:p>
            <a:pPr lvl="1"/>
            <a:r>
              <a:rPr lang="en-US"/>
              <a:t>reading the instruction from the Instruction Memory</a:t>
            </a:r>
          </a:p>
          <a:p>
            <a:pPr lvl="1"/>
            <a:r>
              <a:rPr lang="en-US"/>
              <a:t>updating the PC value to be the address of the next (sequential) instruction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4800600" y="2209800"/>
            <a:ext cx="2590800" cy="2743200"/>
            <a:chOff x="1920" y="1440"/>
            <a:chExt cx="1632" cy="1728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880" y="1536"/>
              <a:ext cx="240" cy="624"/>
              <a:chOff x="1392" y="2880"/>
              <a:chExt cx="288" cy="480"/>
            </a:xfrm>
          </p:grpSpPr>
          <p:sp>
            <p:nvSpPr>
              <p:cNvPr id="670725" name="Line 5"/>
              <p:cNvSpPr>
                <a:spLocks noChangeShapeType="1"/>
              </p:cNvSpPr>
              <p:nvPr/>
            </p:nvSpPr>
            <p:spPr bwMode="auto">
              <a:xfrm>
                <a:off x="1392" y="3072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726" name="Line 6"/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727" name="Line 7"/>
              <p:cNvSpPr>
                <a:spLocks noChangeShapeType="1"/>
              </p:cNvSpPr>
              <p:nvPr/>
            </p:nvSpPr>
            <p:spPr bwMode="auto">
              <a:xfrm flipV="1">
                <a:off x="1392" y="2880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728" name="Line 8"/>
              <p:cNvSpPr>
                <a:spLocks noChangeShapeType="1"/>
              </p:cNvSpPr>
              <p:nvPr/>
            </p:nvSpPr>
            <p:spPr bwMode="auto">
              <a:xfrm flipV="1">
                <a:off x="1392" y="316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729" name="Line 9"/>
              <p:cNvSpPr>
                <a:spLocks noChangeShapeType="1"/>
              </p:cNvSpPr>
              <p:nvPr/>
            </p:nvSpPr>
            <p:spPr bwMode="auto">
              <a:xfrm flipV="1">
                <a:off x="1392" y="3216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730" name="Line 1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731" name="Line 11"/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70732" name="Rectangle 12"/>
            <p:cNvSpPr>
              <a:spLocks noChangeArrowheads="1"/>
            </p:cNvSpPr>
            <p:nvPr/>
          </p:nvSpPr>
          <p:spPr bwMode="auto">
            <a:xfrm>
              <a:off x="2448" y="2256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0733" name="Rectangle 13"/>
            <p:cNvSpPr>
              <a:spLocks noChangeArrowheads="1"/>
            </p:cNvSpPr>
            <p:nvPr/>
          </p:nvSpPr>
          <p:spPr bwMode="auto">
            <a:xfrm>
              <a:off x="2112" y="2496"/>
              <a:ext cx="144" cy="5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0734" name="Line 14"/>
            <p:cNvSpPr>
              <a:spLocks noChangeShapeType="1"/>
            </p:cNvSpPr>
            <p:nvPr/>
          </p:nvSpPr>
          <p:spPr bwMode="auto">
            <a:xfrm>
              <a:off x="3360" y="273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0735" name="Line 15"/>
            <p:cNvSpPr>
              <a:spLocks noChangeShapeType="1"/>
            </p:cNvSpPr>
            <p:nvPr/>
          </p:nvSpPr>
          <p:spPr bwMode="auto">
            <a:xfrm>
              <a:off x="2256" y="273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0736" name="Line 16"/>
            <p:cNvSpPr>
              <a:spLocks noChangeShapeType="1"/>
            </p:cNvSpPr>
            <p:nvPr/>
          </p:nvSpPr>
          <p:spPr bwMode="auto">
            <a:xfrm>
              <a:off x="2304" y="1632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0737" name="Line 17"/>
            <p:cNvSpPr>
              <a:spLocks noChangeShapeType="1"/>
            </p:cNvSpPr>
            <p:nvPr/>
          </p:nvSpPr>
          <p:spPr bwMode="auto">
            <a:xfrm>
              <a:off x="2640" y="206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0738" name="Line 18"/>
            <p:cNvSpPr>
              <a:spLocks noChangeShapeType="1"/>
            </p:cNvSpPr>
            <p:nvPr/>
          </p:nvSpPr>
          <p:spPr bwMode="auto">
            <a:xfrm>
              <a:off x="3312" y="144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0739" name="Line 19"/>
            <p:cNvSpPr>
              <a:spLocks noChangeShapeType="1"/>
            </p:cNvSpPr>
            <p:nvPr/>
          </p:nvSpPr>
          <p:spPr bwMode="auto">
            <a:xfrm>
              <a:off x="3120" y="182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0740" name="Text Box 20"/>
            <p:cNvSpPr txBox="1">
              <a:spLocks noChangeArrowheads="1"/>
            </p:cNvSpPr>
            <p:nvPr/>
          </p:nvSpPr>
          <p:spPr bwMode="auto">
            <a:xfrm>
              <a:off x="2400" y="2592"/>
              <a:ext cx="467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r>
                <a:rPr lang="en-US" sz="1200">
                  <a:solidFill>
                    <a:schemeClr val="tx1"/>
                  </a:solidFill>
                </a:rPr>
                <a:t>Address</a:t>
              </a:r>
            </a:p>
          </p:txBody>
        </p:sp>
        <p:sp>
          <p:nvSpPr>
            <p:cNvPr id="670741" name="Text Box 21"/>
            <p:cNvSpPr txBox="1">
              <a:spLocks noChangeArrowheads="1"/>
            </p:cNvSpPr>
            <p:nvPr/>
          </p:nvSpPr>
          <p:spPr bwMode="auto">
            <a:xfrm>
              <a:off x="2856" y="2640"/>
              <a:ext cx="55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tx1"/>
                  </a:solidFill>
                </a:rPr>
                <a:t>Instruction</a:t>
              </a:r>
            </a:p>
          </p:txBody>
        </p:sp>
        <p:sp>
          <p:nvSpPr>
            <p:cNvPr id="670742" name="Text Box 22"/>
            <p:cNvSpPr txBox="1">
              <a:spLocks noChangeArrowheads="1"/>
            </p:cNvSpPr>
            <p:nvPr/>
          </p:nvSpPr>
          <p:spPr bwMode="auto">
            <a:xfrm>
              <a:off x="2592" y="2304"/>
              <a:ext cx="61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Instruction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670743" name="Text Box 23"/>
            <p:cNvSpPr txBox="1">
              <a:spLocks noChangeArrowheads="1"/>
            </p:cNvSpPr>
            <p:nvPr/>
          </p:nvSpPr>
          <p:spPr bwMode="auto">
            <a:xfrm>
              <a:off x="2880" y="1776"/>
              <a:ext cx="30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Add</a:t>
              </a:r>
            </a:p>
          </p:txBody>
        </p:sp>
        <p:sp>
          <p:nvSpPr>
            <p:cNvPr id="670744" name="Text Box 24"/>
            <p:cNvSpPr txBox="1">
              <a:spLocks noChangeArrowheads="1"/>
            </p:cNvSpPr>
            <p:nvPr/>
          </p:nvSpPr>
          <p:spPr bwMode="auto">
            <a:xfrm>
              <a:off x="2064" y="2640"/>
              <a:ext cx="24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PC</a:t>
              </a:r>
            </a:p>
          </p:txBody>
        </p:sp>
        <p:sp>
          <p:nvSpPr>
            <p:cNvPr id="670745" name="Line 25"/>
            <p:cNvSpPr>
              <a:spLocks noChangeShapeType="1"/>
            </p:cNvSpPr>
            <p:nvPr/>
          </p:nvSpPr>
          <p:spPr bwMode="auto">
            <a:xfrm>
              <a:off x="1920" y="1440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0746" name="Line 26"/>
            <p:cNvSpPr>
              <a:spLocks noChangeShapeType="1"/>
            </p:cNvSpPr>
            <p:nvPr/>
          </p:nvSpPr>
          <p:spPr bwMode="auto">
            <a:xfrm>
              <a:off x="1920" y="1440"/>
              <a:ext cx="0" cy="12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0747" name="Line 27"/>
            <p:cNvSpPr>
              <a:spLocks noChangeShapeType="1"/>
            </p:cNvSpPr>
            <p:nvPr/>
          </p:nvSpPr>
          <p:spPr bwMode="auto">
            <a:xfrm>
              <a:off x="1920" y="273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0748" name="Line 28"/>
            <p:cNvSpPr>
              <a:spLocks noChangeShapeType="1"/>
            </p:cNvSpPr>
            <p:nvPr/>
          </p:nvSpPr>
          <p:spPr bwMode="auto">
            <a:xfrm>
              <a:off x="2304" y="1632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0749" name="Text Box 29"/>
            <p:cNvSpPr txBox="1">
              <a:spLocks noChangeArrowheads="1"/>
            </p:cNvSpPr>
            <p:nvPr/>
          </p:nvSpPr>
          <p:spPr bwMode="auto">
            <a:xfrm>
              <a:off x="2496" y="1968"/>
              <a:ext cx="1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670751" name="Rectangle 31"/>
          <p:cNvSpPr>
            <a:spLocks noChangeArrowheads="1"/>
          </p:cNvSpPr>
          <p:nvPr/>
        </p:nvSpPr>
        <p:spPr bwMode="auto">
          <a:xfrm>
            <a:off x="685800" y="5105400"/>
            <a:ext cx="8029604" cy="14224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200" dirty="0">
                <a:solidFill>
                  <a:schemeClr val="tx1"/>
                </a:solidFill>
              </a:rPr>
              <a:t>PC is updated </a:t>
            </a:r>
            <a:r>
              <a:rPr lang="en-US" sz="2200" dirty="0" smtClean="0">
                <a:solidFill>
                  <a:schemeClr val="tx1"/>
                </a:solidFill>
              </a:rPr>
              <a:t>at the end of every </a:t>
            </a:r>
            <a:r>
              <a:rPr lang="en-US" sz="2200" dirty="0">
                <a:solidFill>
                  <a:schemeClr val="tx1"/>
                </a:solidFill>
              </a:rPr>
              <a:t>clock cycle, so it does not need an explicit write control signal just a clock signal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200" dirty="0">
                <a:solidFill>
                  <a:schemeClr val="tx1"/>
                </a:solidFill>
              </a:rPr>
              <a:t>Reading from the Instruction Memory is a combinational activity, so it doesn’t need an explicit read control signal</a:t>
            </a:r>
          </a:p>
        </p:txBody>
      </p:sp>
      <p:grpSp>
        <p:nvGrpSpPr>
          <p:cNvPr id="4" name="Group 79"/>
          <p:cNvGrpSpPr>
            <a:grpSpLocks/>
          </p:cNvGrpSpPr>
          <p:nvPr/>
        </p:nvGrpSpPr>
        <p:grpSpPr bwMode="auto">
          <a:xfrm>
            <a:off x="1643042" y="3000372"/>
            <a:ext cx="1938337" cy="992188"/>
            <a:chOff x="1035" y="2064"/>
            <a:chExt cx="1221" cy="625"/>
          </a:xfrm>
        </p:grpSpPr>
        <p:sp>
          <p:nvSpPr>
            <p:cNvPr id="670753" name="Oval 33"/>
            <p:cNvSpPr>
              <a:spLocks noChangeArrowheads="1"/>
            </p:cNvSpPr>
            <p:nvPr/>
          </p:nvSpPr>
          <p:spPr bwMode="auto">
            <a:xfrm>
              <a:off x="1275" y="2064"/>
              <a:ext cx="624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0754" name="Text Box 34"/>
            <p:cNvSpPr txBox="1">
              <a:spLocks noChangeArrowheads="1"/>
            </p:cNvSpPr>
            <p:nvPr/>
          </p:nvSpPr>
          <p:spPr bwMode="auto">
            <a:xfrm>
              <a:off x="1227" y="2064"/>
              <a:ext cx="720" cy="32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sz="1400"/>
                <a:t>Fetch</a:t>
              </a:r>
            </a:p>
            <a:p>
              <a:pPr algn="ctr"/>
              <a:r>
                <a:rPr lang="en-US" sz="1400"/>
                <a:t>PC = PC+4</a:t>
              </a:r>
            </a:p>
          </p:txBody>
        </p:sp>
        <p:sp>
          <p:nvSpPr>
            <p:cNvPr id="670755" name="Oval 35"/>
            <p:cNvSpPr>
              <a:spLocks noChangeArrowheads="1"/>
            </p:cNvSpPr>
            <p:nvPr/>
          </p:nvSpPr>
          <p:spPr bwMode="auto">
            <a:xfrm>
              <a:off x="1799" y="2476"/>
              <a:ext cx="364" cy="212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0756" name="Text Box 36"/>
            <p:cNvSpPr txBox="1">
              <a:spLocks noChangeArrowheads="1"/>
            </p:cNvSpPr>
            <p:nvPr/>
          </p:nvSpPr>
          <p:spPr bwMode="auto">
            <a:xfrm>
              <a:off x="1755" y="2496"/>
              <a:ext cx="501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tx1"/>
                  </a:solidFill>
                </a:rPr>
                <a:t>Decode</a:t>
              </a:r>
            </a:p>
          </p:txBody>
        </p:sp>
        <p:sp>
          <p:nvSpPr>
            <p:cNvPr id="670757" name="Oval 37"/>
            <p:cNvSpPr>
              <a:spLocks noChangeArrowheads="1"/>
            </p:cNvSpPr>
            <p:nvPr/>
          </p:nvSpPr>
          <p:spPr bwMode="auto">
            <a:xfrm>
              <a:off x="1083" y="2476"/>
              <a:ext cx="338" cy="212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0758" name="Text Box 38"/>
            <p:cNvSpPr txBox="1">
              <a:spLocks noChangeArrowheads="1"/>
            </p:cNvSpPr>
            <p:nvPr/>
          </p:nvSpPr>
          <p:spPr bwMode="auto">
            <a:xfrm>
              <a:off x="1035" y="2496"/>
              <a:ext cx="365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tx1"/>
                  </a:solidFill>
                </a:rPr>
                <a:t>Exec</a:t>
              </a:r>
            </a:p>
          </p:txBody>
        </p:sp>
        <p:cxnSp>
          <p:nvCxnSpPr>
            <p:cNvPr id="670759" name="AutoShape 39"/>
            <p:cNvCxnSpPr>
              <a:cxnSpLocks noChangeShapeType="1"/>
              <a:stCxn id="670753" idx="6"/>
              <a:endCxn id="670755" idx="0"/>
            </p:cNvCxnSpPr>
            <p:nvPr/>
          </p:nvCxnSpPr>
          <p:spPr bwMode="auto">
            <a:xfrm>
              <a:off x="1899" y="2208"/>
              <a:ext cx="82" cy="268"/>
            </a:xfrm>
            <a:prstGeom prst="curvedConnector2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70760" name="AutoShape 40"/>
            <p:cNvCxnSpPr>
              <a:cxnSpLocks noChangeShapeType="1"/>
              <a:stCxn id="670755" idx="4"/>
              <a:endCxn id="670757" idx="4"/>
            </p:cNvCxnSpPr>
            <p:nvPr/>
          </p:nvCxnSpPr>
          <p:spPr bwMode="auto">
            <a:xfrm rot="5400000">
              <a:off x="1616" y="2324"/>
              <a:ext cx="1" cy="729"/>
            </a:xfrm>
            <a:prstGeom prst="curvedConnector3">
              <a:avLst>
                <a:gd name="adj1" fmla="val 14400000"/>
              </a:avLst>
            </a:prstGeom>
            <a:noFill/>
            <a:ln w="12700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70761" name="AutoShape 41"/>
            <p:cNvCxnSpPr>
              <a:cxnSpLocks noChangeShapeType="1"/>
              <a:stCxn id="670757" idx="0"/>
              <a:endCxn id="670753" idx="2"/>
            </p:cNvCxnSpPr>
            <p:nvPr/>
          </p:nvCxnSpPr>
          <p:spPr bwMode="auto">
            <a:xfrm rot="16200000">
              <a:off x="1130" y="2330"/>
              <a:ext cx="268" cy="23"/>
            </a:xfrm>
            <a:prstGeom prst="curvedConnector2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1818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7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Decoding Instructions</a:t>
            </a:r>
          </a:p>
        </p:txBody>
      </p:sp>
      <p:sp>
        <p:nvSpPr>
          <p:cNvPr id="67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848600" cy="368306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dirty="0"/>
              <a:t>Decoding instructions involves</a:t>
            </a:r>
          </a:p>
          <a:p>
            <a:pPr lvl="1">
              <a:spcBef>
                <a:spcPct val="20000"/>
              </a:spcBef>
            </a:pPr>
            <a:r>
              <a:rPr lang="en-US" dirty="0"/>
              <a:t>sending the fetched instruction’s </a:t>
            </a:r>
            <a:r>
              <a:rPr lang="en-US" dirty="0" err="1"/>
              <a:t>opcode</a:t>
            </a:r>
            <a:r>
              <a:rPr lang="en-US" dirty="0"/>
              <a:t> and function field bits to the control unit</a:t>
            </a:r>
          </a:p>
          <a:p>
            <a:pPr lvl="1">
              <a:spcBef>
                <a:spcPct val="20000"/>
              </a:spcBef>
              <a:buFont typeface="Monotype Sorts" pitchFamily="2" charset="2"/>
              <a:buNone/>
            </a:pPr>
            <a:endParaRPr lang="en-US" dirty="0"/>
          </a:p>
          <a:p>
            <a:pPr lvl="1">
              <a:spcBef>
                <a:spcPct val="20000"/>
              </a:spcBef>
              <a:buFont typeface="Monotype Sorts" pitchFamily="2" charset="2"/>
              <a:buNone/>
            </a:pPr>
            <a:endParaRPr lang="en-US" dirty="0"/>
          </a:p>
          <a:p>
            <a:pPr lvl="1">
              <a:spcBef>
                <a:spcPct val="20000"/>
              </a:spcBef>
              <a:buFont typeface="Monotype Sorts" pitchFamily="2" charset="2"/>
              <a:buNone/>
            </a:pPr>
            <a:endParaRPr lang="en-US" dirty="0"/>
          </a:p>
          <a:p>
            <a:pPr lvl="1">
              <a:spcBef>
                <a:spcPct val="20000"/>
              </a:spcBef>
              <a:buFont typeface="Monotype Sorts" pitchFamily="2" charset="2"/>
              <a:buNone/>
            </a:pPr>
            <a:endParaRPr lang="en-US" dirty="0"/>
          </a:p>
          <a:p>
            <a:pPr lvl="1">
              <a:spcBef>
                <a:spcPct val="20000"/>
              </a:spcBef>
              <a:buFont typeface="Monotype Sorts" pitchFamily="2" charset="2"/>
              <a:buNone/>
            </a:pPr>
            <a:endParaRPr lang="en-US" dirty="0"/>
          </a:p>
          <a:p>
            <a:pPr lvl="1">
              <a:spcBef>
                <a:spcPct val="20000"/>
              </a:spcBef>
              <a:buFont typeface="Monotype Sorts" pitchFamily="2" charset="2"/>
              <a:buNone/>
            </a:pPr>
            <a:endParaRPr lang="en-US" dirty="0"/>
          </a:p>
          <a:p>
            <a:pPr lvl="1">
              <a:spcBef>
                <a:spcPct val="20000"/>
              </a:spcBef>
              <a:buFont typeface="Monotype Sorts" pitchFamily="2" charset="2"/>
              <a:buNone/>
            </a:pPr>
            <a:r>
              <a:rPr lang="en-US" dirty="0"/>
              <a:t>and</a:t>
            </a:r>
          </a:p>
        </p:txBody>
      </p:sp>
      <p:sp>
        <p:nvSpPr>
          <p:cNvPr id="671748" name="Line 4"/>
          <p:cNvSpPr>
            <a:spLocks noChangeShapeType="1"/>
          </p:cNvSpPr>
          <p:nvPr/>
        </p:nvSpPr>
        <p:spPr bwMode="auto">
          <a:xfrm>
            <a:off x="4495800" y="4138602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1749" name="Line 5"/>
          <p:cNvSpPr>
            <a:spLocks noChangeShapeType="1"/>
          </p:cNvSpPr>
          <p:nvPr/>
        </p:nvSpPr>
        <p:spPr bwMode="auto">
          <a:xfrm>
            <a:off x="5181600" y="2614602"/>
            <a:ext cx="0" cy="1524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1750" name="Text Box 6"/>
          <p:cNvSpPr txBox="1">
            <a:spLocks noChangeArrowheads="1"/>
          </p:cNvSpPr>
          <p:nvPr/>
        </p:nvSpPr>
        <p:spPr bwMode="auto">
          <a:xfrm>
            <a:off x="3810000" y="3833802"/>
            <a:ext cx="8858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Instruction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181600" y="3376602"/>
            <a:ext cx="2286000" cy="1447800"/>
            <a:chOff x="2064" y="2208"/>
            <a:chExt cx="1440" cy="912"/>
          </a:xfrm>
        </p:grpSpPr>
        <p:sp>
          <p:nvSpPr>
            <p:cNvPr id="671752" name="Rectangle 8"/>
            <p:cNvSpPr>
              <a:spLocks noChangeArrowheads="1"/>
            </p:cNvSpPr>
            <p:nvPr/>
          </p:nvSpPr>
          <p:spPr bwMode="auto">
            <a:xfrm>
              <a:off x="2256" y="2208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1753" name="Line 9"/>
            <p:cNvSpPr>
              <a:spLocks noChangeShapeType="1"/>
            </p:cNvSpPr>
            <p:nvPr/>
          </p:nvSpPr>
          <p:spPr bwMode="auto">
            <a:xfrm>
              <a:off x="2064" y="254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1754" name="Line 10"/>
            <p:cNvSpPr>
              <a:spLocks noChangeShapeType="1"/>
            </p:cNvSpPr>
            <p:nvPr/>
          </p:nvSpPr>
          <p:spPr bwMode="auto">
            <a:xfrm>
              <a:off x="2064" y="230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1755" name="Line 11"/>
            <p:cNvSpPr>
              <a:spLocks noChangeShapeType="1"/>
            </p:cNvSpPr>
            <p:nvPr/>
          </p:nvSpPr>
          <p:spPr bwMode="auto">
            <a:xfrm>
              <a:off x="3168" y="244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1756" name="Line 12"/>
            <p:cNvSpPr>
              <a:spLocks noChangeShapeType="1"/>
            </p:cNvSpPr>
            <p:nvPr/>
          </p:nvSpPr>
          <p:spPr bwMode="auto">
            <a:xfrm>
              <a:off x="3168" y="288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1757" name="Text Box 13"/>
            <p:cNvSpPr txBox="1">
              <a:spLocks noChangeArrowheads="1"/>
            </p:cNvSpPr>
            <p:nvPr/>
          </p:nvSpPr>
          <p:spPr bwMode="auto">
            <a:xfrm>
              <a:off x="2208" y="2928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671758" name="Text Box 14"/>
            <p:cNvSpPr txBox="1">
              <a:spLocks noChangeArrowheads="1"/>
            </p:cNvSpPr>
            <p:nvPr/>
          </p:nvSpPr>
          <p:spPr bwMode="auto">
            <a:xfrm>
              <a:off x="2208" y="2208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1</a:t>
              </a:r>
            </a:p>
          </p:txBody>
        </p:sp>
        <p:sp>
          <p:nvSpPr>
            <p:cNvPr id="671759" name="Text Box 15"/>
            <p:cNvSpPr txBox="1">
              <a:spLocks noChangeArrowheads="1"/>
            </p:cNvSpPr>
            <p:nvPr/>
          </p:nvSpPr>
          <p:spPr bwMode="auto">
            <a:xfrm>
              <a:off x="2208" y="2448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2</a:t>
              </a:r>
            </a:p>
          </p:txBody>
        </p:sp>
        <p:sp>
          <p:nvSpPr>
            <p:cNvPr id="671760" name="Text Box 16"/>
            <p:cNvSpPr txBox="1">
              <a:spLocks noChangeArrowheads="1"/>
            </p:cNvSpPr>
            <p:nvPr/>
          </p:nvSpPr>
          <p:spPr bwMode="auto">
            <a:xfrm>
              <a:off x="2208" y="2688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Addr</a:t>
              </a:r>
            </a:p>
          </p:txBody>
        </p:sp>
        <p:sp>
          <p:nvSpPr>
            <p:cNvPr id="671761" name="Text Box 17"/>
            <p:cNvSpPr txBox="1">
              <a:spLocks noChangeArrowheads="1"/>
            </p:cNvSpPr>
            <p:nvPr/>
          </p:nvSpPr>
          <p:spPr bwMode="auto">
            <a:xfrm>
              <a:off x="2412" y="2352"/>
              <a:ext cx="499" cy="4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Register</a:t>
              </a:r>
            </a:p>
            <a:p>
              <a:pPr algn="ctr"/>
              <a:endParaRPr lang="en-US" sz="1200" b="1">
                <a:solidFill>
                  <a:schemeClr val="tx1"/>
                </a:solidFill>
              </a:endParaRP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671762" name="Text Box 18"/>
            <p:cNvSpPr txBox="1">
              <a:spLocks noChangeArrowheads="1"/>
            </p:cNvSpPr>
            <p:nvPr/>
          </p:nvSpPr>
          <p:spPr bwMode="auto">
            <a:xfrm>
              <a:off x="2784" y="2304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1</a:t>
              </a:r>
            </a:p>
          </p:txBody>
        </p:sp>
        <p:sp>
          <p:nvSpPr>
            <p:cNvPr id="671763" name="Text Box 19"/>
            <p:cNvSpPr txBox="1">
              <a:spLocks noChangeArrowheads="1"/>
            </p:cNvSpPr>
            <p:nvPr/>
          </p:nvSpPr>
          <p:spPr bwMode="auto">
            <a:xfrm>
              <a:off x="2800" y="2736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2</a:t>
              </a:r>
            </a:p>
          </p:txBody>
        </p:sp>
      </p:grpSp>
      <p:sp>
        <p:nvSpPr>
          <p:cNvPr id="671764" name="Oval 20"/>
          <p:cNvSpPr>
            <a:spLocks noChangeArrowheads="1"/>
          </p:cNvSpPr>
          <p:nvPr/>
        </p:nvSpPr>
        <p:spPr bwMode="auto">
          <a:xfrm>
            <a:off x="5486400" y="1928802"/>
            <a:ext cx="762000" cy="12192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1765" name="Rectangle 21"/>
          <p:cNvSpPr>
            <a:spLocks noChangeArrowheads="1"/>
          </p:cNvSpPr>
          <p:nvPr/>
        </p:nvSpPr>
        <p:spPr bwMode="auto">
          <a:xfrm>
            <a:off x="5638800" y="2386002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sz="1200" b="1"/>
              <a:t>Control</a:t>
            </a:r>
          </a:p>
          <a:p>
            <a:pPr algn="ctr"/>
            <a:r>
              <a:rPr lang="en-US" sz="1200" b="1"/>
              <a:t>Unit</a:t>
            </a:r>
          </a:p>
        </p:txBody>
      </p:sp>
      <p:sp>
        <p:nvSpPr>
          <p:cNvPr id="671766" name="Line 22"/>
          <p:cNvSpPr>
            <a:spLocks noChangeShapeType="1"/>
          </p:cNvSpPr>
          <p:nvPr/>
        </p:nvSpPr>
        <p:spPr bwMode="auto">
          <a:xfrm>
            <a:off x="5181600" y="2614602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1767" name="Rectangle 23"/>
          <p:cNvSpPr>
            <a:spLocks noChangeArrowheads="1"/>
          </p:cNvSpPr>
          <p:nvPr/>
        </p:nvSpPr>
        <p:spPr bwMode="auto">
          <a:xfrm>
            <a:off x="762000" y="5143512"/>
            <a:ext cx="7848600" cy="108234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741363" lvl="1" indent="-246063">
              <a:spcBef>
                <a:spcPts val="6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200" dirty="0">
                <a:solidFill>
                  <a:schemeClr val="tx1"/>
                </a:solidFill>
              </a:rPr>
              <a:t>reading two values from the Register File</a:t>
            </a:r>
          </a:p>
          <a:p>
            <a:pPr marL="1146175" lvl="2" indent="-176213">
              <a:spcBef>
                <a:spcPts val="6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Register File addresses are contained in the </a:t>
            </a:r>
            <a:r>
              <a:rPr lang="en-US" sz="2000" dirty="0" smtClean="0">
                <a:solidFill>
                  <a:schemeClr val="tx1"/>
                </a:solidFill>
              </a:rPr>
              <a:t>instruction just fetched from the Instruction Memory</a:t>
            </a: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1524000" y="2285992"/>
            <a:ext cx="1938338" cy="992188"/>
            <a:chOff x="960" y="1536"/>
            <a:chExt cx="1221" cy="625"/>
          </a:xfrm>
        </p:grpSpPr>
        <p:sp>
          <p:nvSpPr>
            <p:cNvPr id="671770" name="Oval 26"/>
            <p:cNvSpPr>
              <a:spLocks noChangeArrowheads="1"/>
            </p:cNvSpPr>
            <p:nvPr/>
          </p:nvSpPr>
          <p:spPr bwMode="auto">
            <a:xfrm>
              <a:off x="1200" y="1536"/>
              <a:ext cx="624" cy="288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1771" name="Text Box 27"/>
            <p:cNvSpPr txBox="1">
              <a:spLocks noChangeArrowheads="1"/>
            </p:cNvSpPr>
            <p:nvPr/>
          </p:nvSpPr>
          <p:spPr bwMode="auto">
            <a:xfrm>
              <a:off x="1152" y="1536"/>
              <a:ext cx="720" cy="33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Fetch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PC = PC+4</a:t>
              </a:r>
            </a:p>
          </p:txBody>
        </p:sp>
        <p:sp>
          <p:nvSpPr>
            <p:cNvPr id="671772" name="Oval 28"/>
            <p:cNvSpPr>
              <a:spLocks noChangeArrowheads="1"/>
            </p:cNvSpPr>
            <p:nvPr/>
          </p:nvSpPr>
          <p:spPr bwMode="auto">
            <a:xfrm>
              <a:off x="1724" y="1948"/>
              <a:ext cx="364" cy="2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1773" name="Text Box 29"/>
            <p:cNvSpPr txBox="1">
              <a:spLocks noChangeArrowheads="1"/>
            </p:cNvSpPr>
            <p:nvPr/>
          </p:nvSpPr>
          <p:spPr bwMode="auto">
            <a:xfrm>
              <a:off x="1680" y="1968"/>
              <a:ext cx="501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Decode</a:t>
              </a:r>
            </a:p>
          </p:txBody>
        </p:sp>
        <p:sp>
          <p:nvSpPr>
            <p:cNvPr id="671774" name="Oval 30"/>
            <p:cNvSpPr>
              <a:spLocks noChangeArrowheads="1"/>
            </p:cNvSpPr>
            <p:nvPr/>
          </p:nvSpPr>
          <p:spPr bwMode="auto">
            <a:xfrm>
              <a:off x="1008" y="1948"/>
              <a:ext cx="338" cy="212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1775" name="Text Box 31"/>
            <p:cNvSpPr txBox="1">
              <a:spLocks noChangeArrowheads="1"/>
            </p:cNvSpPr>
            <p:nvPr/>
          </p:nvSpPr>
          <p:spPr bwMode="auto">
            <a:xfrm>
              <a:off x="960" y="1968"/>
              <a:ext cx="365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tx1"/>
                  </a:solidFill>
                </a:rPr>
                <a:t>Exec</a:t>
              </a:r>
            </a:p>
          </p:txBody>
        </p:sp>
        <p:cxnSp>
          <p:nvCxnSpPr>
            <p:cNvPr id="671776" name="AutoShape 32"/>
            <p:cNvCxnSpPr>
              <a:cxnSpLocks noChangeShapeType="1"/>
              <a:stCxn id="671770" idx="6"/>
              <a:endCxn id="671772" idx="0"/>
            </p:cNvCxnSpPr>
            <p:nvPr/>
          </p:nvCxnSpPr>
          <p:spPr bwMode="auto">
            <a:xfrm>
              <a:off x="1824" y="1680"/>
              <a:ext cx="82" cy="268"/>
            </a:xfrm>
            <a:prstGeom prst="curvedConnector2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71777" name="AutoShape 33"/>
            <p:cNvCxnSpPr>
              <a:cxnSpLocks noChangeShapeType="1"/>
              <a:stCxn id="671772" idx="4"/>
              <a:endCxn id="671774" idx="4"/>
            </p:cNvCxnSpPr>
            <p:nvPr/>
          </p:nvCxnSpPr>
          <p:spPr bwMode="auto">
            <a:xfrm rot="5400000">
              <a:off x="1541" y="1796"/>
              <a:ext cx="1" cy="729"/>
            </a:xfrm>
            <a:prstGeom prst="curvedConnector3">
              <a:avLst>
                <a:gd name="adj1" fmla="val 1440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71778" name="AutoShape 34"/>
            <p:cNvCxnSpPr>
              <a:cxnSpLocks noChangeShapeType="1"/>
              <a:stCxn id="671774" idx="0"/>
              <a:endCxn id="671770" idx="2"/>
            </p:cNvCxnSpPr>
            <p:nvPr/>
          </p:nvCxnSpPr>
          <p:spPr bwMode="auto">
            <a:xfrm rot="16200000">
              <a:off x="1055" y="1802"/>
              <a:ext cx="268" cy="23"/>
            </a:xfrm>
            <a:prstGeom prst="curvedConnector2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24143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ChangeArrowheads="1"/>
          </p:cNvSpPr>
          <p:nvPr/>
        </p:nvSpPr>
        <p:spPr bwMode="auto">
          <a:xfrm>
            <a:off x="225425" y="312738"/>
            <a:ext cx="521017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305800" cy="5429692"/>
          </a:xfrm>
          <a:noFill/>
          <a:ln/>
        </p:spPr>
        <p:txBody>
          <a:bodyPr lIns="90488" tIns="44450" rIns="90488" bIns="44450"/>
          <a:lstStyle/>
          <a:p>
            <a:pPr marL="342900" indent="-342900">
              <a:spcBef>
                <a:spcPts val="600"/>
              </a:spcBef>
            </a:pPr>
            <a:r>
              <a:rPr lang="en-US" dirty="0"/>
              <a:t>Note that both </a:t>
            </a:r>
            <a:r>
              <a:rPr lang="en-US" dirty="0" err="1"/>
              <a:t>RegFile</a:t>
            </a:r>
            <a:r>
              <a:rPr lang="en-US" dirty="0"/>
              <a:t> read ports are active for </a:t>
            </a:r>
            <a:r>
              <a:rPr lang="en-US" dirty="0">
                <a:solidFill>
                  <a:schemeClr val="accent1"/>
                </a:solidFill>
              </a:rPr>
              <a:t>all</a:t>
            </a:r>
            <a:r>
              <a:rPr lang="en-US" dirty="0"/>
              <a:t> instructions during the Decode cycle using the </a:t>
            </a:r>
            <a:r>
              <a:rPr lang="en-US" dirty="0" err="1"/>
              <a:t>rs</a:t>
            </a:r>
            <a:r>
              <a:rPr lang="en-US" dirty="0"/>
              <a:t> and </a:t>
            </a:r>
            <a:r>
              <a:rPr lang="en-US" dirty="0" err="1"/>
              <a:t>rt</a:t>
            </a:r>
            <a:r>
              <a:rPr lang="en-US" dirty="0"/>
              <a:t> instruction field addresses</a:t>
            </a:r>
          </a:p>
          <a:p>
            <a:pPr marL="742950" lvl="1" indent="-285750">
              <a:spcBef>
                <a:spcPts val="600"/>
              </a:spcBef>
            </a:pPr>
            <a:r>
              <a:rPr lang="en-US" dirty="0"/>
              <a:t>Since haven’t decoded the instruction yet, don’t know what the instruction is !</a:t>
            </a:r>
          </a:p>
          <a:p>
            <a:pPr marL="742950" lvl="1" indent="-285750">
              <a:spcBef>
                <a:spcPts val="600"/>
              </a:spcBef>
            </a:pPr>
            <a:r>
              <a:rPr lang="en-US" i="1" dirty="0">
                <a:solidFill>
                  <a:srgbClr val="FF0000"/>
                </a:solidFill>
              </a:rPr>
              <a:t>Just in case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the instruction uses values from the </a:t>
            </a:r>
            <a:r>
              <a:rPr lang="en-US" dirty="0" err="1"/>
              <a:t>RegFile</a:t>
            </a:r>
            <a:r>
              <a:rPr lang="en-US" dirty="0"/>
              <a:t> do “work ahead” by reading the two source operands</a:t>
            </a:r>
          </a:p>
          <a:p>
            <a:pPr marL="1147762" lvl="2" indent="-285750">
              <a:spcBef>
                <a:spcPts val="600"/>
              </a:spcBef>
            </a:pPr>
            <a:endParaRPr lang="en-US" dirty="0"/>
          </a:p>
          <a:p>
            <a:pPr marL="342900" indent="-342900" algn="ctr">
              <a:spcBef>
                <a:spcPts val="600"/>
              </a:spcBef>
              <a:buFont typeface="Wingdings" pitchFamily="2" charset="2"/>
              <a:buNone/>
            </a:pPr>
            <a:r>
              <a:rPr lang="en-US" dirty="0"/>
              <a:t>Which instructions </a:t>
            </a:r>
            <a:r>
              <a:rPr lang="en-US" i="1" dirty="0"/>
              <a:t>do</a:t>
            </a:r>
            <a:r>
              <a:rPr lang="en-US" dirty="0"/>
              <a:t> make use of the </a:t>
            </a:r>
            <a:r>
              <a:rPr lang="en-US" dirty="0" err="1"/>
              <a:t>RegFile</a:t>
            </a:r>
            <a:r>
              <a:rPr lang="en-US" dirty="0"/>
              <a:t> values?</a:t>
            </a:r>
          </a:p>
          <a:p>
            <a:pPr marL="796925" lvl="1" indent="-342900">
              <a:spcBef>
                <a:spcPts val="600"/>
              </a:spcBef>
            </a:pPr>
            <a:endParaRPr lang="en-US" dirty="0"/>
          </a:p>
          <a:p>
            <a:pPr marL="342900" indent="-342900">
              <a:spcBef>
                <a:spcPts val="600"/>
              </a:spcBef>
            </a:pPr>
            <a:r>
              <a:rPr lang="en-US" dirty="0"/>
              <a:t>Also, all instructions (except 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dirty="0"/>
              <a:t>) use the ALU </a:t>
            </a:r>
            <a:r>
              <a:rPr lang="en-US" dirty="0">
                <a:solidFill>
                  <a:schemeClr val="accent1"/>
                </a:solidFill>
              </a:rPr>
              <a:t>after</a:t>
            </a:r>
            <a:r>
              <a:rPr lang="en-US" dirty="0"/>
              <a:t> reading the registers</a:t>
            </a:r>
          </a:p>
          <a:p>
            <a:pPr marL="342900" indent="-342900" algn="ctr">
              <a:spcBef>
                <a:spcPts val="600"/>
              </a:spcBef>
              <a:buFont typeface="Wingdings" pitchFamily="2" charset="2"/>
              <a:buNone/>
            </a:pPr>
            <a:r>
              <a:rPr lang="en-US" sz="2000" dirty="0">
                <a:solidFill>
                  <a:srgbClr val="000000"/>
                </a:solidFill>
              </a:rPr>
              <a:t/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Why?  memory-reference?  arithmetic? control flow?</a:t>
            </a:r>
          </a:p>
        </p:txBody>
      </p:sp>
      <p:sp>
        <p:nvSpPr>
          <p:cNvPr id="65843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/>
              <a:t>Reading Registers “Just in Case”</a:t>
            </a:r>
          </a:p>
        </p:txBody>
      </p:sp>
    </p:spTree>
    <p:extLst>
      <p:ext uri="{BB962C8B-B14F-4D97-AF65-F5344CB8AC3E}">
        <p14:creationId xmlns:p14="http://schemas.microsoft.com/office/powerpoint/2010/main" val="1937472279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43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R Format Operations</a:t>
            </a:r>
          </a:p>
        </p:txBody>
      </p:sp>
      <p:sp>
        <p:nvSpPr>
          <p:cNvPr id="67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382000" cy="2244725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dirty="0"/>
              <a:t>R format operations (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add, sub,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</a:rPr>
              <a:t>slt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, and, or</a:t>
            </a:r>
            <a:r>
              <a:rPr lang="en-US" dirty="0"/>
              <a:t>)</a:t>
            </a:r>
          </a:p>
          <a:p>
            <a:pPr lvl="2">
              <a:spcBef>
                <a:spcPct val="20000"/>
              </a:spcBef>
            </a:pPr>
            <a:endParaRPr lang="en-US" dirty="0"/>
          </a:p>
          <a:p>
            <a:pPr lvl="2">
              <a:spcBef>
                <a:spcPct val="20000"/>
              </a:spcBef>
            </a:pPr>
            <a:endParaRPr lang="en-US" dirty="0"/>
          </a:p>
          <a:p>
            <a:pPr lvl="2">
              <a:spcBef>
                <a:spcPct val="20000"/>
              </a:spcBef>
            </a:pPr>
            <a:endParaRPr lang="en-US" dirty="0"/>
          </a:p>
          <a:p>
            <a:pPr lvl="1">
              <a:spcBef>
                <a:spcPct val="20000"/>
              </a:spcBef>
            </a:pPr>
            <a:endParaRPr lang="en-US" dirty="0" smtClean="0"/>
          </a:p>
          <a:p>
            <a:pPr lvl="1">
              <a:spcBef>
                <a:spcPct val="20000"/>
              </a:spcBef>
            </a:pPr>
            <a:r>
              <a:rPr lang="en-US" dirty="0" smtClean="0"/>
              <a:t>perform </a:t>
            </a:r>
            <a:r>
              <a:rPr lang="en-US" dirty="0"/>
              <a:t>operation (</a:t>
            </a:r>
            <a:r>
              <a:rPr lang="en-US" dirty="0">
                <a:solidFill>
                  <a:schemeClr val="accent1"/>
                </a:solidFill>
              </a:rPr>
              <a:t>op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1"/>
                </a:solidFill>
              </a:rPr>
              <a:t>funct</a:t>
            </a:r>
            <a:r>
              <a:rPr lang="en-US" dirty="0"/>
              <a:t>) on values in </a:t>
            </a:r>
            <a:r>
              <a:rPr lang="en-US" dirty="0" err="1">
                <a:solidFill>
                  <a:schemeClr val="accent1"/>
                </a:solidFill>
              </a:rPr>
              <a:t>rs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1"/>
                </a:solidFill>
              </a:rPr>
              <a:t>rt</a:t>
            </a:r>
            <a:endParaRPr lang="en-US" dirty="0">
              <a:solidFill>
                <a:schemeClr val="accent1"/>
              </a:solidFill>
            </a:endParaRPr>
          </a:p>
          <a:p>
            <a:pPr lvl="1">
              <a:spcBef>
                <a:spcPct val="20000"/>
              </a:spcBef>
            </a:pPr>
            <a:r>
              <a:rPr lang="en-US" dirty="0"/>
              <a:t>store the result back into the Register File (into location </a:t>
            </a:r>
            <a:r>
              <a:rPr lang="en-US" dirty="0" err="1">
                <a:solidFill>
                  <a:schemeClr val="accent1"/>
                </a:solidFill>
              </a:rPr>
              <a:t>rd</a:t>
            </a:r>
            <a:r>
              <a:rPr lang="en-US" dirty="0"/>
              <a:t>)</a:t>
            </a:r>
          </a:p>
        </p:txBody>
      </p:sp>
      <p:grpSp>
        <p:nvGrpSpPr>
          <p:cNvPr id="2" name="Group 86"/>
          <p:cNvGrpSpPr>
            <a:grpSpLocks/>
          </p:cNvGrpSpPr>
          <p:nvPr/>
        </p:nvGrpSpPr>
        <p:grpSpPr bwMode="auto">
          <a:xfrm>
            <a:off x="2819400" y="3000372"/>
            <a:ext cx="5638800" cy="2438400"/>
            <a:chOff x="896" y="2160"/>
            <a:chExt cx="3552" cy="1536"/>
          </a:xfrm>
        </p:grpSpPr>
        <p:sp>
          <p:nvSpPr>
            <p:cNvPr id="672772" name="Rectangle 4"/>
            <p:cNvSpPr>
              <a:spLocks noChangeArrowheads="1"/>
            </p:cNvSpPr>
            <p:nvPr/>
          </p:nvSpPr>
          <p:spPr bwMode="auto">
            <a:xfrm>
              <a:off x="1952" y="2592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773" name="Line 5"/>
            <p:cNvSpPr>
              <a:spLocks noChangeShapeType="1"/>
            </p:cNvSpPr>
            <p:nvPr/>
          </p:nvSpPr>
          <p:spPr bwMode="auto">
            <a:xfrm>
              <a:off x="1328" y="3072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74" name="Line 6"/>
            <p:cNvSpPr>
              <a:spLocks noChangeShapeType="1"/>
            </p:cNvSpPr>
            <p:nvPr/>
          </p:nvSpPr>
          <p:spPr bwMode="auto">
            <a:xfrm>
              <a:off x="1760" y="2688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75" name="Line 7"/>
            <p:cNvSpPr>
              <a:spLocks noChangeShapeType="1"/>
            </p:cNvSpPr>
            <p:nvPr/>
          </p:nvSpPr>
          <p:spPr bwMode="auto">
            <a:xfrm>
              <a:off x="1760" y="292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76" name="Line 8"/>
            <p:cNvSpPr>
              <a:spLocks noChangeShapeType="1"/>
            </p:cNvSpPr>
            <p:nvPr/>
          </p:nvSpPr>
          <p:spPr bwMode="auto">
            <a:xfrm>
              <a:off x="1760" y="31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77" name="Line 9"/>
            <p:cNvSpPr>
              <a:spLocks noChangeShapeType="1"/>
            </p:cNvSpPr>
            <p:nvPr/>
          </p:nvSpPr>
          <p:spPr bwMode="auto">
            <a:xfrm>
              <a:off x="1760" y="340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78" name="Line 10"/>
            <p:cNvSpPr>
              <a:spLocks noChangeShapeType="1"/>
            </p:cNvSpPr>
            <p:nvPr/>
          </p:nvSpPr>
          <p:spPr bwMode="auto">
            <a:xfrm>
              <a:off x="1760" y="268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79" name="Line 11"/>
            <p:cNvSpPr>
              <a:spLocks noChangeShapeType="1"/>
            </p:cNvSpPr>
            <p:nvPr/>
          </p:nvSpPr>
          <p:spPr bwMode="auto">
            <a:xfrm>
              <a:off x="2864" y="283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80" name="Line 12"/>
            <p:cNvSpPr>
              <a:spLocks noChangeShapeType="1"/>
            </p:cNvSpPr>
            <p:nvPr/>
          </p:nvSpPr>
          <p:spPr bwMode="auto">
            <a:xfrm>
              <a:off x="2864" y="326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81" name="Line 13"/>
            <p:cNvSpPr>
              <a:spLocks noChangeShapeType="1"/>
            </p:cNvSpPr>
            <p:nvPr/>
          </p:nvSpPr>
          <p:spPr bwMode="auto">
            <a:xfrm>
              <a:off x="1760" y="340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82" name="Line 14"/>
            <p:cNvSpPr>
              <a:spLocks noChangeShapeType="1"/>
            </p:cNvSpPr>
            <p:nvPr/>
          </p:nvSpPr>
          <p:spPr bwMode="auto">
            <a:xfrm>
              <a:off x="1760" y="3696"/>
              <a:ext cx="19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83" name="Line 15"/>
            <p:cNvSpPr>
              <a:spLocks noChangeShapeType="1"/>
            </p:cNvSpPr>
            <p:nvPr/>
          </p:nvSpPr>
          <p:spPr bwMode="auto">
            <a:xfrm>
              <a:off x="3536" y="31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84" name="Line 16"/>
            <p:cNvSpPr>
              <a:spLocks noChangeShapeType="1"/>
            </p:cNvSpPr>
            <p:nvPr/>
          </p:nvSpPr>
          <p:spPr bwMode="auto">
            <a:xfrm>
              <a:off x="3728" y="3168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85" name="Text Box 17"/>
            <p:cNvSpPr txBox="1">
              <a:spLocks noChangeArrowheads="1"/>
            </p:cNvSpPr>
            <p:nvPr/>
          </p:nvSpPr>
          <p:spPr bwMode="auto">
            <a:xfrm>
              <a:off x="896" y="2880"/>
              <a:ext cx="55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Instruction</a:t>
              </a:r>
            </a:p>
          </p:txBody>
        </p:sp>
        <p:sp>
          <p:nvSpPr>
            <p:cNvPr id="672786" name="Text Box 18"/>
            <p:cNvSpPr txBox="1">
              <a:spLocks noChangeArrowheads="1"/>
            </p:cNvSpPr>
            <p:nvPr/>
          </p:nvSpPr>
          <p:spPr bwMode="auto">
            <a:xfrm>
              <a:off x="1904" y="3312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672787" name="Text Box 19"/>
            <p:cNvSpPr txBox="1">
              <a:spLocks noChangeArrowheads="1"/>
            </p:cNvSpPr>
            <p:nvPr/>
          </p:nvSpPr>
          <p:spPr bwMode="auto">
            <a:xfrm>
              <a:off x="1904" y="2592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1</a:t>
              </a:r>
            </a:p>
          </p:txBody>
        </p:sp>
        <p:sp>
          <p:nvSpPr>
            <p:cNvPr id="672788" name="Text Box 20"/>
            <p:cNvSpPr txBox="1">
              <a:spLocks noChangeArrowheads="1"/>
            </p:cNvSpPr>
            <p:nvPr/>
          </p:nvSpPr>
          <p:spPr bwMode="auto">
            <a:xfrm>
              <a:off x="1904" y="2832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2</a:t>
              </a:r>
            </a:p>
          </p:txBody>
        </p:sp>
        <p:sp>
          <p:nvSpPr>
            <p:cNvPr id="672789" name="Text Box 21"/>
            <p:cNvSpPr txBox="1">
              <a:spLocks noChangeArrowheads="1"/>
            </p:cNvSpPr>
            <p:nvPr/>
          </p:nvSpPr>
          <p:spPr bwMode="auto">
            <a:xfrm>
              <a:off x="1904" y="3072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Addr</a:t>
              </a:r>
            </a:p>
          </p:txBody>
        </p:sp>
        <p:sp>
          <p:nvSpPr>
            <p:cNvPr id="672790" name="Text Box 22"/>
            <p:cNvSpPr txBox="1">
              <a:spLocks noChangeArrowheads="1"/>
            </p:cNvSpPr>
            <p:nvPr/>
          </p:nvSpPr>
          <p:spPr bwMode="auto">
            <a:xfrm>
              <a:off x="2108" y="2736"/>
              <a:ext cx="499" cy="4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Register</a:t>
              </a:r>
            </a:p>
            <a:p>
              <a:pPr algn="ctr"/>
              <a:endParaRPr lang="en-US" sz="1200" b="1">
                <a:solidFill>
                  <a:schemeClr val="tx1"/>
                </a:solidFill>
              </a:endParaRP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672791" name="Text Box 23"/>
            <p:cNvSpPr txBox="1">
              <a:spLocks noChangeArrowheads="1"/>
            </p:cNvSpPr>
            <p:nvPr/>
          </p:nvSpPr>
          <p:spPr bwMode="auto">
            <a:xfrm>
              <a:off x="2480" y="2688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1</a:t>
              </a:r>
            </a:p>
          </p:txBody>
        </p:sp>
        <p:sp>
          <p:nvSpPr>
            <p:cNvPr id="672792" name="Text Box 24"/>
            <p:cNvSpPr txBox="1">
              <a:spLocks noChangeArrowheads="1"/>
            </p:cNvSpPr>
            <p:nvPr/>
          </p:nvSpPr>
          <p:spPr bwMode="auto">
            <a:xfrm>
              <a:off x="2496" y="3120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2</a:t>
              </a:r>
            </a:p>
          </p:txBody>
        </p:sp>
        <p:sp>
          <p:nvSpPr>
            <p:cNvPr id="672793" name="Freeform 25"/>
            <p:cNvSpPr>
              <a:spLocks/>
            </p:cNvSpPr>
            <p:nvPr/>
          </p:nvSpPr>
          <p:spPr bwMode="auto">
            <a:xfrm>
              <a:off x="3200" y="2640"/>
              <a:ext cx="336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27"/>
                </a:cxn>
                <a:cxn ang="0">
                  <a:pos x="111" y="553"/>
                </a:cxn>
                <a:cxn ang="0">
                  <a:pos x="0" y="671"/>
                </a:cxn>
                <a:cxn ang="0">
                  <a:pos x="0" y="1098"/>
                </a:cxn>
                <a:cxn ang="0">
                  <a:pos x="387" y="790"/>
                </a:cxn>
                <a:cxn ang="0">
                  <a:pos x="387" y="308"/>
                </a:cxn>
                <a:cxn ang="0">
                  <a:pos x="0" y="0"/>
                </a:cxn>
              </a:cxnLst>
              <a:rect l="0" t="0" r="r" b="b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94" name="Rectangle 26"/>
            <p:cNvSpPr>
              <a:spLocks noChangeArrowheads="1"/>
            </p:cNvSpPr>
            <p:nvPr/>
          </p:nvSpPr>
          <p:spPr bwMode="auto">
            <a:xfrm>
              <a:off x="3296" y="3024"/>
              <a:ext cx="31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ALU</a:t>
              </a:r>
            </a:p>
          </p:txBody>
        </p:sp>
        <p:sp>
          <p:nvSpPr>
            <p:cNvPr id="672795" name="Line 27"/>
            <p:cNvSpPr>
              <a:spLocks noChangeShapeType="1"/>
            </p:cNvSpPr>
            <p:nvPr/>
          </p:nvSpPr>
          <p:spPr bwMode="auto">
            <a:xfrm>
              <a:off x="3536" y="307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96" name="Line 28"/>
            <p:cNvSpPr>
              <a:spLocks noChangeShapeType="1"/>
            </p:cNvSpPr>
            <p:nvPr/>
          </p:nvSpPr>
          <p:spPr bwMode="auto">
            <a:xfrm>
              <a:off x="3536" y="292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797" name="Rectangle 29"/>
            <p:cNvSpPr>
              <a:spLocks noChangeArrowheads="1"/>
            </p:cNvSpPr>
            <p:nvPr/>
          </p:nvSpPr>
          <p:spPr bwMode="auto">
            <a:xfrm>
              <a:off x="3776" y="2832"/>
              <a:ext cx="67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overflow</a:t>
              </a:r>
            </a:p>
          </p:txBody>
        </p:sp>
        <p:sp>
          <p:nvSpPr>
            <p:cNvPr id="672798" name="Rectangle 30"/>
            <p:cNvSpPr>
              <a:spLocks noChangeArrowheads="1"/>
            </p:cNvSpPr>
            <p:nvPr/>
          </p:nvSpPr>
          <p:spPr bwMode="auto">
            <a:xfrm>
              <a:off x="3776" y="2976"/>
              <a:ext cx="3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zero</a:t>
              </a:r>
            </a:p>
          </p:txBody>
        </p:sp>
        <p:sp>
          <p:nvSpPr>
            <p:cNvPr id="672799" name="Rectangle 31"/>
            <p:cNvSpPr>
              <a:spLocks noChangeArrowheads="1"/>
            </p:cNvSpPr>
            <p:nvPr/>
          </p:nvSpPr>
          <p:spPr bwMode="auto">
            <a:xfrm>
              <a:off x="3200" y="2160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ALU control</a:t>
              </a:r>
            </a:p>
          </p:txBody>
        </p:sp>
        <p:sp>
          <p:nvSpPr>
            <p:cNvPr id="672800" name="Line 32"/>
            <p:cNvSpPr>
              <a:spLocks noChangeShapeType="1"/>
            </p:cNvSpPr>
            <p:nvPr/>
          </p:nvSpPr>
          <p:spPr bwMode="auto">
            <a:xfrm>
              <a:off x="3440" y="2400"/>
              <a:ext cx="0" cy="38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801" name="Line 33"/>
            <p:cNvSpPr>
              <a:spLocks noChangeShapeType="1"/>
            </p:cNvSpPr>
            <p:nvPr/>
          </p:nvSpPr>
          <p:spPr bwMode="auto">
            <a:xfrm>
              <a:off x="2384" y="2400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2802" name="Rectangle 34"/>
            <p:cNvSpPr>
              <a:spLocks noChangeArrowheads="1"/>
            </p:cNvSpPr>
            <p:nvPr/>
          </p:nvSpPr>
          <p:spPr bwMode="auto">
            <a:xfrm>
              <a:off x="2192" y="2160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RegWrite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1447800" y="1219200"/>
            <a:ext cx="5870575" cy="820738"/>
            <a:chOff x="720" y="672"/>
            <a:chExt cx="3698" cy="517"/>
          </a:xfrm>
        </p:grpSpPr>
        <p:sp>
          <p:nvSpPr>
            <p:cNvPr id="672804" name="Rectangle 36"/>
            <p:cNvSpPr>
              <a:spLocks noChangeArrowheads="1"/>
            </p:cNvSpPr>
            <p:nvPr/>
          </p:nvSpPr>
          <p:spPr bwMode="auto">
            <a:xfrm>
              <a:off x="720" y="912"/>
              <a:ext cx="61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R-type:</a:t>
              </a:r>
              <a:endParaRPr lang="en-US"/>
            </a:p>
          </p:txBody>
        </p: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1317" y="890"/>
              <a:ext cx="560" cy="272"/>
              <a:chOff x="1016" y="728"/>
              <a:chExt cx="560" cy="272"/>
            </a:xfrm>
          </p:grpSpPr>
          <p:sp>
            <p:nvSpPr>
              <p:cNvPr id="672806" name="Rectangle 38"/>
              <p:cNvSpPr>
                <a:spLocks noChangeArrowheads="1"/>
              </p:cNvSpPr>
              <p:nvPr/>
            </p:nvSpPr>
            <p:spPr bwMode="auto">
              <a:xfrm>
                <a:off x="1016" y="728"/>
                <a:ext cx="560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07" name="Line 39"/>
              <p:cNvSpPr>
                <a:spLocks noChangeShapeType="1"/>
              </p:cNvSpPr>
              <p:nvPr/>
            </p:nvSpPr>
            <p:spPr bwMode="auto">
              <a:xfrm>
                <a:off x="1392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08" name="Line 40"/>
              <p:cNvSpPr>
                <a:spLocks noChangeShapeType="1"/>
              </p:cNvSpPr>
              <p:nvPr/>
            </p:nvSpPr>
            <p:spPr bwMode="auto">
              <a:xfrm>
                <a:off x="1296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09" name="Line 41"/>
              <p:cNvSpPr>
                <a:spLocks noChangeShapeType="1"/>
              </p:cNvSpPr>
              <p:nvPr/>
            </p:nvSpPr>
            <p:spPr bwMode="auto">
              <a:xfrm>
                <a:off x="1488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10" name="Line 42"/>
              <p:cNvSpPr>
                <a:spLocks noChangeShapeType="1"/>
              </p:cNvSpPr>
              <p:nvPr/>
            </p:nvSpPr>
            <p:spPr bwMode="auto">
              <a:xfrm>
                <a:off x="1200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11" name="Line 43"/>
              <p:cNvSpPr>
                <a:spLocks noChangeShapeType="1"/>
              </p:cNvSpPr>
              <p:nvPr/>
            </p:nvSpPr>
            <p:spPr bwMode="auto">
              <a:xfrm>
                <a:off x="1104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1893" y="890"/>
              <a:ext cx="464" cy="272"/>
              <a:chOff x="1592" y="728"/>
              <a:chExt cx="464" cy="272"/>
            </a:xfrm>
          </p:grpSpPr>
          <p:sp>
            <p:nvSpPr>
              <p:cNvPr id="672813" name="Rectangle 45"/>
              <p:cNvSpPr>
                <a:spLocks noChangeArrowheads="1"/>
              </p:cNvSpPr>
              <p:nvPr/>
            </p:nvSpPr>
            <p:spPr bwMode="auto">
              <a:xfrm>
                <a:off x="1592" y="728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14" name="Line 46"/>
              <p:cNvSpPr>
                <a:spLocks noChangeShapeType="1"/>
              </p:cNvSpPr>
              <p:nvPr/>
            </p:nvSpPr>
            <p:spPr bwMode="auto">
              <a:xfrm>
                <a:off x="1776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15" name="Line 47"/>
              <p:cNvSpPr>
                <a:spLocks noChangeShapeType="1"/>
              </p:cNvSpPr>
              <p:nvPr/>
            </p:nvSpPr>
            <p:spPr bwMode="auto">
              <a:xfrm>
                <a:off x="1680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16" name="Line 48"/>
              <p:cNvSpPr>
                <a:spLocks noChangeShapeType="1"/>
              </p:cNvSpPr>
              <p:nvPr/>
            </p:nvSpPr>
            <p:spPr bwMode="auto">
              <a:xfrm>
                <a:off x="1872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17" name="Line 49"/>
              <p:cNvSpPr>
                <a:spLocks noChangeShapeType="1"/>
              </p:cNvSpPr>
              <p:nvPr/>
            </p:nvSpPr>
            <p:spPr bwMode="auto">
              <a:xfrm>
                <a:off x="1968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50"/>
            <p:cNvGrpSpPr>
              <a:grpSpLocks/>
            </p:cNvGrpSpPr>
            <p:nvPr/>
          </p:nvGrpSpPr>
          <p:grpSpPr bwMode="auto">
            <a:xfrm>
              <a:off x="2373" y="890"/>
              <a:ext cx="464" cy="272"/>
              <a:chOff x="2072" y="728"/>
              <a:chExt cx="464" cy="272"/>
            </a:xfrm>
          </p:grpSpPr>
          <p:sp>
            <p:nvSpPr>
              <p:cNvPr id="672819" name="Rectangle 51"/>
              <p:cNvSpPr>
                <a:spLocks noChangeArrowheads="1"/>
              </p:cNvSpPr>
              <p:nvPr/>
            </p:nvSpPr>
            <p:spPr bwMode="auto">
              <a:xfrm>
                <a:off x="2072" y="728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20" name="Line 52"/>
              <p:cNvSpPr>
                <a:spLocks noChangeShapeType="1"/>
              </p:cNvSpPr>
              <p:nvPr/>
            </p:nvSpPr>
            <p:spPr bwMode="auto">
              <a:xfrm>
                <a:off x="2256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21" name="Line 53"/>
              <p:cNvSpPr>
                <a:spLocks noChangeShapeType="1"/>
              </p:cNvSpPr>
              <p:nvPr/>
            </p:nvSpPr>
            <p:spPr bwMode="auto">
              <a:xfrm>
                <a:off x="2160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22" name="Line 54"/>
              <p:cNvSpPr>
                <a:spLocks noChangeShapeType="1"/>
              </p:cNvSpPr>
              <p:nvPr/>
            </p:nvSpPr>
            <p:spPr bwMode="auto">
              <a:xfrm>
                <a:off x="2352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23" name="Line 55"/>
              <p:cNvSpPr>
                <a:spLocks noChangeShapeType="1"/>
              </p:cNvSpPr>
              <p:nvPr/>
            </p:nvSpPr>
            <p:spPr bwMode="auto">
              <a:xfrm>
                <a:off x="2448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56"/>
            <p:cNvGrpSpPr>
              <a:grpSpLocks/>
            </p:cNvGrpSpPr>
            <p:nvPr/>
          </p:nvGrpSpPr>
          <p:grpSpPr bwMode="auto">
            <a:xfrm>
              <a:off x="2853" y="890"/>
              <a:ext cx="464" cy="272"/>
              <a:chOff x="2552" y="728"/>
              <a:chExt cx="464" cy="272"/>
            </a:xfrm>
          </p:grpSpPr>
          <p:sp>
            <p:nvSpPr>
              <p:cNvPr id="672825" name="Rectangle 57"/>
              <p:cNvSpPr>
                <a:spLocks noChangeArrowheads="1"/>
              </p:cNvSpPr>
              <p:nvPr/>
            </p:nvSpPr>
            <p:spPr bwMode="auto">
              <a:xfrm>
                <a:off x="2552" y="728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26" name="Line 58"/>
              <p:cNvSpPr>
                <a:spLocks noChangeShapeType="1"/>
              </p:cNvSpPr>
              <p:nvPr/>
            </p:nvSpPr>
            <p:spPr bwMode="auto">
              <a:xfrm>
                <a:off x="2736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27" name="Line 59"/>
              <p:cNvSpPr>
                <a:spLocks noChangeShapeType="1"/>
              </p:cNvSpPr>
              <p:nvPr/>
            </p:nvSpPr>
            <p:spPr bwMode="auto">
              <a:xfrm>
                <a:off x="2640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28" name="Line 60"/>
              <p:cNvSpPr>
                <a:spLocks noChangeShapeType="1"/>
              </p:cNvSpPr>
              <p:nvPr/>
            </p:nvSpPr>
            <p:spPr bwMode="auto">
              <a:xfrm>
                <a:off x="2832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829" name="Line 61"/>
              <p:cNvSpPr>
                <a:spLocks noChangeShapeType="1"/>
              </p:cNvSpPr>
              <p:nvPr/>
            </p:nvSpPr>
            <p:spPr bwMode="auto">
              <a:xfrm>
                <a:off x="2928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72830" name="Rectangle 62"/>
            <p:cNvSpPr>
              <a:spLocks noChangeArrowheads="1"/>
            </p:cNvSpPr>
            <p:nvPr/>
          </p:nvSpPr>
          <p:spPr bwMode="auto">
            <a:xfrm>
              <a:off x="3333" y="890"/>
              <a:ext cx="464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31" name="Rectangle 63"/>
            <p:cNvSpPr>
              <a:spLocks noChangeArrowheads="1"/>
            </p:cNvSpPr>
            <p:nvPr/>
          </p:nvSpPr>
          <p:spPr bwMode="auto">
            <a:xfrm>
              <a:off x="3813" y="890"/>
              <a:ext cx="560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32" name="Line 64"/>
            <p:cNvSpPr>
              <a:spLocks noChangeShapeType="1"/>
            </p:cNvSpPr>
            <p:nvPr/>
          </p:nvSpPr>
          <p:spPr bwMode="auto">
            <a:xfrm>
              <a:off x="4189" y="890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33" name="Line 65"/>
            <p:cNvSpPr>
              <a:spLocks noChangeShapeType="1"/>
            </p:cNvSpPr>
            <p:nvPr/>
          </p:nvSpPr>
          <p:spPr bwMode="auto">
            <a:xfrm>
              <a:off x="4093" y="890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34" name="Line 66"/>
            <p:cNvSpPr>
              <a:spLocks noChangeShapeType="1"/>
            </p:cNvSpPr>
            <p:nvPr/>
          </p:nvSpPr>
          <p:spPr bwMode="auto">
            <a:xfrm>
              <a:off x="3408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35" name="Line 67"/>
            <p:cNvSpPr>
              <a:spLocks noChangeShapeType="1"/>
            </p:cNvSpPr>
            <p:nvPr/>
          </p:nvSpPr>
          <p:spPr bwMode="auto">
            <a:xfrm>
              <a:off x="3997" y="890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36" name="Line 68"/>
            <p:cNvSpPr>
              <a:spLocks noChangeShapeType="1"/>
            </p:cNvSpPr>
            <p:nvPr/>
          </p:nvSpPr>
          <p:spPr bwMode="auto">
            <a:xfrm>
              <a:off x="3901" y="890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37" name="Rectangle 69"/>
            <p:cNvSpPr>
              <a:spLocks noChangeArrowheads="1"/>
            </p:cNvSpPr>
            <p:nvPr/>
          </p:nvSpPr>
          <p:spPr bwMode="auto">
            <a:xfrm>
              <a:off x="1248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31</a:t>
              </a:r>
              <a:endParaRPr lang="en-US"/>
            </a:p>
          </p:txBody>
        </p:sp>
        <p:sp>
          <p:nvSpPr>
            <p:cNvPr id="672838" name="Rectangle 70"/>
            <p:cNvSpPr>
              <a:spLocks noChangeArrowheads="1"/>
            </p:cNvSpPr>
            <p:nvPr/>
          </p:nvSpPr>
          <p:spPr bwMode="auto">
            <a:xfrm>
              <a:off x="1824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25</a:t>
              </a:r>
              <a:endParaRPr lang="en-US"/>
            </a:p>
          </p:txBody>
        </p:sp>
        <p:sp>
          <p:nvSpPr>
            <p:cNvPr id="672839" name="Rectangle 71"/>
            <p:cNvSpPr>
              <a:spLocks noChangeArrowheads="1"/>
            </p:cNvSpPr>
            <p:nvPr/>
          </p:nvSpPr>
          <p:spPr bwMode="auto">
            <a:xfrm>
              <a:off x="2304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20</a:t>
              </a:r>
              <a:endParaRPr lang="en-US"/>
            </a:p>
          </p:txBody>
        </p:sp>
        <p:sp>
          <p:nvSpPr>
            <p:cNvPr id="672840" name="Rectangle 72"/>
            <p:cNvSpPr>
              <a:spLocks noChangeArrowheads="1"/>
            </p:cNvSpPr>
            <p:nvPr/>
          </p:nvSpPr>
          <p:spPr bwMode="auto">
            <a:xfrm>
              <a:off x="2784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15</a:t>
              </a:r>
              <a:endParaRPr lang="en-US"/>
            </a:p>
          </p:txBody>
        </p:sp>
        <p:sp>
          <p:nvSpPr>
            <p:cNvPr id="672841" name="Rectangle 73"/>
            <p:cNvSpPr>
              <a:spLocks noChangeArrowheads="1"/>
            </p:cNvSpPr>
            <p:nvPr/>
          </p:nvSpPr>
          <p:spPr bwMode="auto">
            <a:xfrm>
              <a:off x="3744" y="67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5</a:t>
              </a:r>
              <a:endParaRPr lang="en-US"/>
            </a:p>
          </p:txBody>
        </p:sp>
        <p:sp>
          <p:nvSpPr>
            <p:cNvPr id="672842" name="Rectangle 74"/>
            <p:cNvSpPr>
              <a:spLocks noChangeArrowheads="1"/>
            </p:cNvSpPr>
            <p:nvPr/>
          </p:nvSpPr>
          <p:spPr bwMode="auto">
            <a:xfrm>
              <a:off x="4224" y="67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0</a:t>
              </a:r>
              <a:endParaRPr lang="en-US"/>
            </a:p>
          </p:txBody>
        </p:sp>
        <p:sp>
          <p:nvSpPr>
            <p:cNvPr id="672843" name="Rectangle 75"/>
            <p:cNvSpPr>
              <a:spLocks noChangeArrowheads="1"/>
            </p:cNvSpPr>
            <p:nvPr/>
          </p:nvSpPr>
          <p:spPr bwMode="auto">
            <a:xfrm>
              <a:off x="1344" y="960"/>
              <a:ext cx="29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op</a:t>
              </a:r>
              <a:endParaRPr lang="en-US"/>
            </a:p>
          </p:txBody>
        </p:sp>
        <p:sp>
          <p:nvSpPr>
            <p:cNvPr id="672844" name="Rectangle 76"/>
            <p:cNvSpPr>
              <a:spLocks noChangeArrowheads="1"/>
            </p:cNvSpPr>
            <p:nvPr/>
          </p:nvSpPr>
          <p:spPr bwMode="auto">
            <a:xfrm>
              <a:off x="1920" y="960"/>
              <a:ext cx="2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rs</a:t>
              </a:r>
              <a:endParaRPr lang="en-US"/>
            </a:p>
          </p:txBody>
        </p:sp>
        <p:sp>
          <p:nvSpPr>
            <p:cNvPr id="672845" name="Rectangle 77"/>
            <p:cNvSpPr>
              <a:spLocks noChangeArrowheads="1"/>
            </p:cNvSpPr>
            <p:nvPr/>
          </p:nvSpPr>
          <p:spPr bwMode="auto">
            <a:xfrm>
              <a:off x="2400" y="960"/>
              <a:ext cx="21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rt</a:t>
              </a:r>
              <a:endParaRPr lang="en-US"/>
            </a:p>
          </p:txBody>
        </p:sp>
        <p:sp>
          <p:nvSpPr>
            <p:cNvPr id="672846" name="Rectangle 78"/>
            <p:cNvSpPr>
              <a:spLocks noChangeArrowheads="1"/>
            </p:cNvSpPr>
            <p:nvPr/>
          </p:nvSpPr>
          <p:spPr bwMode="auto">
            <a:xfrm>
              <a:off x="2832" y="960"/>
              <a:ext cx="2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rd</a:t>
              </a:r>
              <a:endParaRPr lang="en-US"/>
            </a:p>
          </p:txBody>
        </p:sp>
        <p:sp>
          <p:nvSpPr>
            <p:cNvPr id="672847" name="Rectangle 79"/>
            <p:cNvSpPr>
              <a:spLocks noChangeArrowheads="1"/>
            </p:cNvSpPr>
            <p:nvPr/>
          </p:nvSpPr>
          <p:spPr bwMode="auto">
            <a:xfrm>
              <a:off x="3840" y="960"/>
              <a:ext cx="46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funct</a:t>
              </a:r>
              <a:endParaRPr lang="en-US"/>
            </a:p>
          </p:txBody>
        </p:sp>
        <p:sp>
          <p:nvSpPr>
            <p:cNvPr id="672848" name="Rectangle 80"/>
            <p:cNvSpPr>
              <a:spLocks noChangeArrowheads="1"/>
            </p:cNvSpPr>
            <p:nvPr/>
          </p:nvSpPr>
          <p:spPr bwMode="auto">
            <a:xfrm>
              <a:off x="3312" y="960"/>
              <a:ext cx="53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shamt</a:t>
              </a:r>
              <a:endParaRPr lang="en-US"/>
            </a:p>
          </p:txBody>
        </p:sp>
        <p:sp>
          <p:nvSpPr>
            <p:cNvPr id="672849" name="Line 81"/>
            <p:cNvSpPr>
              <a:spLocks noChangeShapeType="1"/>
            </p:cNvSpPr>
            <p:nvPr/>
          </p:nvSpPr>
          <p:spPr bwMode="auto">
            <a:xfrm>
              <a:off x="3504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50" name="Line 82"/>
            <p:cNvSpPr>
              <a:spLocks noChangeShapeType="1"/>
            </p:cNvSpPr>
            <p:nvPr/>
          </p:nvSpPr>
          <p:spPr bwMode="auto">
            <a:xfrm>
              <a:off x="3600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51" name="Line 83"/>
            <p:cNvSpPr>
              <a:spLocks noChangeShapeType="1"/>
            </p:cNvSpPr>
            <p:nvPr/>
          </p:nvSpPr>
          <p:spPr bwMode="auto">
            <a:xfrm>
              <a:off x="3696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52" name="Line 84"/>
            <p:cNvSpPr>
              <a:spLocks noChangeShapeType="1"/>
            </p:cNvSpPr>
            <p:nvPr/>
          </p:nvSpPr>
          <p:spPr bwMode="auto">
            <a:xfrm>
              <a:off x="4272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53" name="Rectangle 85"/>
            <p:cNvSpPr>
              <a:spLocks noChangeArrowheads="1"/>
            </p:cNvSpPr>
            <p:nvPr/>
          </p:nvSpPr>
          <p:spPr bwMode="auto">
            <a:xfrm>
              <a:off x="3264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10</a:t>
              </a:r>
              <a:endParaRPr lang="en-US"/>
            </a:p>
          </p:txBody>
        </p:sp>
      </p:grpSp>
      <p:sp>
        <p:nvSpPr>
          <p:cNvPr id="672855" name="Rectangle 87"/>
          <p:cNvSpPr>
            <a:spLocks noChangeArrowheads="1"/>
          </p:cNvSpPr>
          <p:nvPr/>
        </p:nvSpPr>
        <p:spPr bwMode="auto">
          <a:xfrm>
            <a:off x="457200" y="5667372"/>
            <a:ext cx="8382000" cy="685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741363" lvl="1" indent="-246063">
              <a:lnSpc>
                <a:spcPct val="95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200">
                <a:solidFill>
                  <a:schemeClr val="tx1"/>
                </a:solidFill>
              </a:rPr>
              <a:t>Note that Register File is not written every cycle (e.g. </a:t>
            </a:r>
            <a:r>
              <a:rPr lang="en-US" sz="2200" b="1">
                <a:latin typeface="Courier New" pitchFamily="49" charset="0"/>
              </a:rPr>
              <a:t>sw</a:t>
            </a:r>
            <a:r>
              <a:rPr lang="en-US" sz="2200">
                <a:solidFill>
                  <a:schemeClr val="tx1"/>
                </a:solidFill>
              </a:rPr>
              <a:t>), so we need an explicit write control signal for the Register File</a:t>
            </a:r>
          </a:p>
        </p:txBody>
      </p:sp>
      <p:grpSp>
        <p:nvGrpSpPr>
          <p:cNvPr id="8" name="Group 99"/>
          <p:cNvGrpSpPr>
            <a:grpSpLocks/>
          </p:cNvGrpSpPr>
          <p:nvPr/>
        </p:nvGrpSpPr>
        <p:grpSpPr bwMode="auto">
          <a:xfrm>
            <a:off x="609600" y="3838572"/>
            <a:ext cx="1938338" cy="992188"/>
            <a:chOff x="384" y="2592"/>
            <a:chExt cx="1221" cy="625"/>
          </a:xfrm>
        </p:grpSpPr>
        <p:sp>
          <p:nvSpPr>
            <p:cNvPr id="672857" name="Oval 89"/>
            <p:cNvSpPr>
              <a:spLocks noChangeArrowheads="1"/>
            </p:cNvSpPr>
            <p:nvPr/>
          </p:nvSpPr>
          <p:spPr bwMode="auto">
            <a:xfrm>
              <a:off x="624" y="2592"/>
              <a:ext cx="624" cy="288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58" name="Text Box 90"/>
            <p:cNvSpPr txBox="1">
              <a:spLocks noChangeArrowheads="1"/>
            </p:cNvSpPr>
            <p:nvPr/>
          </p:nvSpPr>
          <p:spPr bwMode="auto">
            <a:xfrm>
              <a:off x="576" y="2592"/>
              <a:ext cx="720" cy="32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sz="1400"/>
                <a:t>Fetch</a:t>
              </a:r>
            </a:p>
            <a:p>
              <a:pPr algn="ctr"/>
              <a:r>
                <a:rPr lang="en-US" sz="1400"/>
                <a:t>PC = PC+4</a:t>
              </a:r>
            </a:p>
          </p:txBody>
        </p:sp>
        <p:sp>
          <p:nvSpPr>
            <p:cNvPr id="672859" name="Oval 91"/>
            <p:cNvSpPr>
              <a:spLocks noChangeArrowheads="1"/>
            </p:cNvSpPr>
            <p:nvPr/>
          </p:nvSpPr>
          <p:spPr bwMode="auto">
            <a:xfrm>
              <a:off x="1148" y="3004"/>
              <a:ext cx="364" cy="212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60" name="Text Box 92"/>
            <p:cNvSpPr txBox="1">
              <a:spLocks noChangeArrowheads="1"/>
            </p:cNvSpPr>
            <p:nvPr/>
          </p:nvSpPr>
          <p:spPr bwMode="auto">
            <a:xfrm>
              <a:off x="1104" y="3024"/>
              <a:ext cx="501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Decode</a:t>
              </a:r>
            </a:p>
          </p:txBody>
        </p:sp>
        <p:sp>
          <p:nvSpPr>
            <p:cNvPr id="672861" name="Oval 93"/>
            <p:cNvSpPr>
              <a:spLocks noChangeArrowheads="1"/>
            </p:cNvSpPr>
            <p:nvPr/>
          </p:nvSpPr>
          <p:spPr bwMode="auto">
            <a:xfrm>
              <a:off x="432" y="3004"/>
              <a:ext cx="338" cy="2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2862" name="Text Box 94"/>
            <p:cNvSpPr txBox="1">
              <a:spLocks noChangeArrowheads="1"/>
            </p:cNvSpPr>
            <p:nvPr/>
          </p:nvSpPr>
          <p:spPr bwMode="auto">
            <a:xfrm>
              <a:off x="384" y="3024"/>
              <a:ext cx="365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Exec</a:t>
              </a:r>
            </a:p>
          </p:txBody>
        </p:sp>
        <p:cxnSp>
          <p:nvCxnSpPr>
            <p:cNvPr id="672863" name="AutoShape 95"/>
            <p:cNvCxnSpPr>
              <a:cxnSpLocks noChangeShapeType="1"/>
              <a:stCxn id="672857" idx="6"/>
              <a:endCxn id="672859" idx="0"/>
            </p:cNvCxnSpPr>
            <p:nvPr/>
          </p:nvCxnSpPr>
          <p:spPr bwMode="auto">
            <a:xfrm>
              <a:off x="1248" y="2736"/>
              <a:ext cx="82" cy="268"/>
            </a:xfrm>
            <a:prstGeom prst="curvedConnector2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72864" name="AutoShape 96"/>
            <p:cNvCxnSpPr>
              <a:cxnSpLocks noChangeShapeType="1"/>
              <a:stCxn id="672859" idx="4"/>
              <a:endCxn id="672861" idx="4"/>
            </p:cNvCxnSpPr>
            <p:nvPr/>
          </p:nvCxnSpPr>
          <p:spPr bwMode="auto">
            <a:xfrm rot="5400000">
              <a:off x="965" y="2852"/>
              <a:ext cx="1" cy="729"/>
            </a:xfrm>
            <a:prstGeom prst="curvedConnector3">
              <a:avLst>
                <a:gd name="adj1" fmla="val 14400000"/>
              </a:avLst>
            </a:prstGeom>
            <a:noFill/>
            <a:ln w="12700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72865" name="AutoShape 97"/>
            <p:cNvCxnSpPr>
              <a:cxnSpLocks noChangeShapeType="1"/>
              <a:stCxn id="672861" idx="0"/>
              <a:endCxn id="672857" idx="2"/>
            </p:cNvCxnSpPr>
            <p:nvPr/>
          </p:nvCxnSpPr>
          <p:spPr bwMode="auto">
            <a:xfrm rot="16200000">
              <a:off x="479" y="2858"/>
              <a:ext cx="268" cy="23"/>
            </a:xfrm>
            <a:prstGeom prst="curvedConnector2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6154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8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305800" cy="1905000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/>
              <a:t>Remember the R format instruction </a:t>
            </a:r>
            <a:r>
              <a:rPr lang="en-US">
                <a:latin typeface="Courier New" pitchFamily="49" charset="0"/>
              </a:rPr>
              <a:t>slt</a:t>
            </a:r>
          </a:p>
          <a:p>
            <a:pPr marL="342900" indent="-342900">
              <a:buFont typeface="Wingdings" pitchFamily="2" charset="2"/>
              <a:buNone/>
            </a:pPr>
            <a:r>
              <a:rPr lang="en-US">
                <a:latin typeface="Courier New" pitchFamily="49" charset="0"/>
              </a:rPr>
              <a:t>	</a:t>
            </a:r>
            <a:r>
              <a:rPr lang="en-US" sz="2200">
                <a:latin typeface="Courier New" pitchFamily="49" charset="0"/>
              </a:rPr>
              <a:t> slt $t0, $s0, $s1 	# if $s0 &lt; $s1						#     then  $t0 = 1</a:t>
            </a:r>
            <a:br>
              <a:rPr lang="en-US" sz="2200">
                <a:latin typeface="Courier New" pitchFamily="49" charset="0"/>
              </a:rPr>
            </a:br>
            <a:r>
              <a:rPr lang="en-US" sz="2200">
                <a:latin typeface="Courier New" pitchFamily="49" charset="0"/>
              </a:rPr>
              <a:t>				#     else  $t0 = 0</a:t>
            </a:r>
            <a:endParaRPr lang="en-US" sz="2200"/>
          </a:p>
        </p:txBody>
      </p:sp>
      <p:sp>
        <p:nvSpPr>
          <p:cNvPr id="703491" name="Rectangle 3"/>
          <p:cNvSpPr>
            <a:spLocks noChangeArrowheads="1"/>
          </p:cNvSpPr>
          <p:nvPr/>
        </p:nvSpPr>
        <p:spPr bwMode="auto">
          <a:xfrm>
            <a:off x="225425" y="312738"/>
            <a:ext cx="19542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3492" name="Rectangle 4"/>
          <p:cNvSpPr>
            <a:spLocks noChangeArrowheads="1"/>
          </p:cNvSpPr>
          <p:nvPr/>
        </p:nvSpPr>
        <p:spPr bwMode="auto">
          <a:xfrm>
            <a:off x="8667750" y="6430963"/>
            <a:ext cx="250825" cy="3889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2100"/>
              </a:lnSpc>
            </a:pPr>
            <a:r>
              <a:rPr lang="en-US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703493" name="Rectangle 5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/>
              <a:t>Consider the </a:t>
            </a:r>
            <a:r>
              <a:rPr lang="en-US">
                <a:latin typeface="Courier New" pitchFamily="49" charset="0"/>
              </a:rPr>
              <a:t>slt</a:t>
            </a:r>
            <a:r>
              <a:rPr lang="en-US"/>
              <a:t> Instruction</a:t>
            </a:r>
          </a:p>
        </p:txBody>
      </p:sp>
      <p:sp>
        <p:nvSpPr>
          <p:cNvPr id="703510" name="Rectangle 22"/>
          <p:cNvSpPr>
            <a:spLocks noChangeArrowheads="1"/>
          </p:cNvSpPr>
          <p:nvPr/>
        </p:nvSpPr>
        <p:spPr bwMode="auto">
          <a:xfrm>
            <a:off x="381000" y="2743200"/>
            <a:ext cx="8382000" cy="6360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741363" lvl="1" indent="-246063">
              <a:lnSpc>
                <a:spcPct val="95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000" dirty="0">
                <a:solidFill>
                  <a:schemeClr val="tx1"/>
                </a:solidFill>
              </a:rPr>
              <a:t>Where does the 1 (or 0) come from to store into $t0 in the Register File at the end of the execute cycle?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752600" y="3571876"/>
            <a:ext cx="5638800" cy="2438400"/>
            <a:chOff x="896" y="2160"/>
            <a:chExt cx="3552" cy="1536"/>
          </a:xfrm>
        </p:grpSpPr>
        <p:sp>
          <p:nvSpPr>
            <p:cNvPr id="703512" name="Rectangle 24"/>
            <p:cNvSpPr>
              <a:spLocks noChangeArrowheads="1"/>
            </p:cNvSpPr>
            <p:nvPr/>
          </p:nvSpPr>
          <p:spPr bwMode="auto">
            <a:xfrm>
              <a:off x="1952" y="2592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3513" name="Line 25"/>
            <p:cNvSpPr>
              <a:spLocks noChangeShapeType="1"/>
            </p:cNvSpPr>
            <p:nvPr/>
          </p:nvSpPr>
          <p:spPr bwMode="auto">
            <a:xfrm>
              <a:off x="1328" y="3072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14" name="Line 26"/>
            <p:cNvSpPr>
              <a:spLocks noChangeShapeType="1"/>
            </p:cNvSpPr>
            <p:nvPr/>
          </p:nvSpPr>
          <p:spPr bwMode="auto">
            <a:xfrm>
              <a:off x="1760" y="2688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15" name="Line 27"/>
            <p:cNvSpPr>
              <a:spLocks noChangeShapeType="1"/>
            </p:cNvSpPr>
            <p:nvPr/>
          </p:nvSpPr>
          <p:spPr bwMode="auto">
            <a:xfrm>
              <a:off x="1760" y="292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16" name="Line 28"/>
            <p:cNvSpPr>
              <a:spLocks noChangeShapeType="1"/>
            </p:cNvSpPr>
            <p:nvPr/>
          </p:nvSpPr>
          <p:spPr bwMode="auto">
            <a:xfrm>
              <a:off x="1760" y="31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17" name="Line 29"/>
            <p:cNvSpPr>
              <a:spLocks noChangeShapeType="1"/>
            </p:cNvSpPr>
            <p:nvPr/>
          </p:nvSpPr>
          <p:spPr bwMode="auto">
            <a:xfrm>
              <a:off x="1760" y="340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18" name="Line 30"/>
            <p:cNvSpPr>
              <a:spLocks noChangeShapeType="1"/>
            </p:cNvSpPr>
            <p:nvPr/>
          </p:nvSpPr>
          <p:spPr bwMode="auto">
            <a:xfrm>
              <a:off x="1760" y="268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19" name="Line 31"/>
            <p:cNvSpPr>
              <a:spLocks noChangeShapeType="1"/>
            </p:cNvSpPr>
            <p:nvPr/>
          </p:nvSpPr>
          <p:spPr bwMode="auto">
            <a:xfrm>
              <a:off x="2864" y="283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20" name="Line 32"/>
            <p:cNvSpPr>
              <a:spLocks noChangeShapeType="1"/>
            </p:cNvSpPr>
            <p:nvPr/>
          </p:nvSpPr>
          <p:spPr bwMode="auto">
            <a:xfrm>
              <a:off x="2864" y="326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21" name="Line 33"/>
            <p:cNvSpPr>
              <a:spLocks noChangeShapeType="1"/>
            </p:cNvSpPr>
            <p:nvPr/>
          </p:nvSpPr>
          <p:spPr bwMode="auto">
            <a:xfrm>
              <a:off x="1760" y="340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22" name="Line 34"/>
            <p:cNvSpPr>
              <a:spLocks noChangeShapeType="1"/>
            </p:cNvSpPr>
            <p:nvPr/>
          </p:nvSpPr>
          <p:spPr bwMode="auto">
            <a:xfrm>
              <a:off x="1760" y="3696"/>
              <a:ext cx="19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23" name="Line 35"/>
            <p:cNvSpPr>
              <a:spLocks noChangeShapeType="1"/>
            </p:cNvSpPr>
            <p:nvPr/>
          </p:nvSpPr>
          <p:spPr bwMode="auto">
            <a:xfrm>
              <a:off x="3536" y="31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24" name="Line 36"/>
            <p:cNvSpPr>
              <a:spLocks noChangeShapeType="1"/>
            </p:cNvSpPr>
            <p:nvPr/>
          </p:nvSpPr>
          <p:spPr bwMode="auto">
            <a:xfrm>
              <a:off x="3728" y="3168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25" name="Text Box 37"/>
            <p:cNvSpPr txBox="1">
              <a:spLocks noChangeArrowheads="1"/>
            </p:cNvSpPr>
            <p:nvPr/>
          </p:nvSpPr>
          <p:spPr bwMode="auto">
            <a:xfrm>
              <a:off x="896" y="2880"/>
              <a:ext cx="55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Instruction</a:t>
              </a:r>
            </a:p>
          </p:txBody>
        </p:sp>
        <p:sp>
          <p:nvSpPr>
            <p:cNvPr id="703526" name="Text Box 38"/>
            <p:cNvSpPr txBox="1">
              <a:spLocks noChangeArrowheads="1"/>
            </p:cNvSpPr>
            <p:nvPr/>
          </p:nvSpPr>
          <p:spPr bwMode="auto">
            <a:xfrm>
              <a:off x="1904" y="3312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703527" name="Text Box 39"/>
            <p:cNvSpPr txBox="1">
              <a:spLocks noChangeArrowheads="1"/>
            </p:cNvSpPr>
            <p:nvPr/>
          </p:nvSpPr>
          <p:spPr bwMode="auto">
            <a:xfrm>
              <a:off x="1904" y="2592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1</a:t>
              </a:r>
            </a:p>
          </p:txBody>
        </p:sp>
        <p:sp>
          <p:nvSpPr>
            <p:cNvPr id="703528" name="Text Box 40"/>
            <p:cNvSpPr txBox="1">
              <a:spLocks noChangeArrowheads="1"/>
            </p:cNvSpPr>
            <p:nvPr/>
          </p:nvSpPr>
          <p:spPr bwMode="auto">
            <a:xfrm>
              <a:off x="1904" y="2832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2</a:t>
              </a:r>
            </a:p>
          </p:txBody>
        </p:sp>
        <p:sp>
          <p:nvSpPr>
            <p:cNvPr id="703529" name="Text Box 41"/>
            <p:cNvSpPr txBox="1">
              <a:spLocks noChangeArrowheads="1"/>
            </p:cNvSpPr>
            <p:nvPr/>
          </p:nvSpPr>
          <p:spPr bwMode="auto">
            <a:xfrm>
              <a:off x="1904" y="3072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Addr</a:t>
              </a:r>
            </a:p>
          </p:txBody>
        </p:sp>
        <p:sp>
          <p:nvSpPr>
            <p:cNvPr id="703530" name="Text Box 42"/>
            <p:cNvSpPr txBox="1">
              <a:spLocks noChangeArrowheads="1"/>
            </p:cNvSpPr>
            <p:nvPr/>
          </p:nvSpPr>
          <p:spPr bwMode="auto">
            <a:xfrm>
              <a:off x="2108" y="2736"/>
              <a:ext cx="499" cy="4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Register</a:t>
              </a:r>
            </a:p>
            <a:p>
              <a:pPr algn="ctr"/>
              <a:endParaRPr lang="en-US" sz="1200" b="1">
                <a:solidFill>
                  <a:schemeClr val="tx1"/>
                </a:solidFill>
              </a:endParaRP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703531" name="Text Box 43"/>
            <p:cNvSpPr txBox="1">
              <a:spLocks noChangeArrowheads="1"/>
            </p:cNvSpPr>
            <p:nvPr/>
          </p:nvSpPr>
          <p:spPr bwMode="auto">
            <a:xfrm>
              <a:off x="2480" y="2688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1</a:t>
              </a:r>
            </a:p>
          </p:txBody>
        </p:sp>
        <p:sp>
          <p:nvSpPr>
            <p:cNvPr id="703532" name="Text Box 44"/>
            <p:cNvSpPr txBox="1">
              <a:spLocks noChangeArrowheads="1"/>
            </p:cNvSpPr>
            <p:nvPr/>
          </p:nvSpPr>
          <p:spPr bwMode="auto">
            <a:xfrm>
              <a:off x="2496" y="3120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2</a:t>
              </a:r>
            </a:p>
          </p:txBody>
        </p:sp>
        <p:sp>
          <p:nvSpPr>
            <p:cNvPr id="703533" name="Freeform 45"/>
            <p:cNvSpPr>
              <a:spLocks/>
            </p:cNvSpPr>
            <p:nvPr/>
          </p:nvSpPr>
          <p:spPr bwMode="auto">
            <a:xfrm>
              <a:off x="3200" y="2640"/>
              <a:ext cx="336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27"/>
                </a:cxn>
                <a:cxn ang="0">
                  <a:pos x="111" y="553"/>
                </a:cxn>
                <a:cxn ang="0">
                  <a:pos x="0" y="671"/>
                </a:cxn>
                <a:cxn ang="0">
                  <a:pos x="0" y="1098"/>
                </a:cxn>
                <a:cxn ang="0">
                  <a:pos x="387" y="790"/>
                </a:cxn>
                <a:cxn ang="0">
                  <a:pos x="387" y="308"/>
                </a:cxn>
                <a:cxn ang="0">
                  <a:pos x="0" y="0"/>
                </a:cxn>
              </a:cxnLst>
              <a:rect l="0" t="0" r="r" b="b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34" name="Rectangle 46"/>
            <p:cNvSpPr>
              <a:spLocks noChangeArrowheads="1"/>
            </p:cNvSpPr>
            <p:nvPr/>
          </p:nvSpPr>
          <p:spPr bwMode="auto">
            <a:xfrm>
              <a:off x="3296" y="3024"/>
              <a:ext cx="31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ALU</a:t>
              </a:r>
            </a:p>
          </p:txBody>
        </p:sp>
        <p:sp>
          <p:nvSpPr>
            <p:cNvPr id="703535" name="Line 47"/>
            <p:cNvSpPr>
              <a:spLocks noChangeShapeType="1"/>
            </p:cNvSpPr>
            <p:nvPr/>
          </p:nvSpPr>
          <p:spPr bwMode="auto">
            <a:xfrm>
              <a:off x="3536" y="307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36" name="Line 48"/>
            <p:cNvSpPr>
              <a:spLocks noChangeShapeType="1"/>
            </p:cNvSpPr>
            <p:nvPr/>
          </p:nvSpPr>
          <p:spPr bwMode="auto">
            <a:xfrm>
              <a:off x="3536" y="292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37" name="Rectangle 49"/>
            <p:cNvSpPr>
              <a:spLocks noChangeArrowheads="1"/>
            </p:cNvSpPr>
            <p:nvPr/>
          </p:nvSpPr>
          <p:spPr bwMode="auto">
            <a:xfrm>
              <a:off x="3776" y="2832"/>
              <a:ext cx="67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overflow</a:t>
              </a:r>
            </a:p>
          </p:txBody>
        </p:sp>
        <p:sp>
          <p:nvSpPr>
            <p:cNvPr id="703538" name="Rectangle 50"/>
            <p:cNvSpPr>
              <a:spLocks noChangeArrowheads="1"/>
            </p:cNvSpPr>
            <p:nvPr/>
          </p:nvSpPr>
          <p:spPr bwMode="auto">
            <a:xfrm>
              <a:off x="3776" y="2976"/>
              <a:ext cx="3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zero</a:t>
              </a:r>
            </a:p>
          </p:txBody>
        </p:sp>
        <p:sp>
          <p:nvSpPr>
            <p:cNvPr id="703539" name="Rectangle 51"/>
            <p:cNvSpPr>
              <a:spLocks noChangeArrowheads="1"/>
            </p:cNvSpPr>
            <p:nvPr/>
          </p:nvSpPr>
          <p:spPr bwMode="auto">
            <a:xfrm>
              <a:off x="3200" y="2160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ALU control</a:t>
              </a:r>
            </a:p>
          </p:txBody>
        </p:sp>
        <p:sp>
          <p:nvSpPr>
            <p:cNvPr id="703540" name="Line 52"/>
            <p:cNvSpPr>
              <a:spLocks noChangeShapeType="1"/>
            </p:cNvSpPr>
            <p:nvPr/>
          </p:nvSpPr>
          <p:spPr bwMode="auto">
            <a:xfrm>
              <a:off x="3440" y="2400"/>
              <a:ext cx="0" cy="38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41" name="Line 53"/>
            <p:cNvSpPr>
              <a:spLocks noChangeShapeType="1"/>
            </p:cNvSpPr>
            <p:nvPr/>
          </p:nvSpPr>
          <p:spPr bwMode="auto">
            <a:xfrm>
              <a:off x="2384" y="2400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3542" name="Rectangle 54"/>
            <p:cNvSpPr>
              <a:spLocks noChangeArrowheads="1"/>
            </p:cNvSpPr>
            <p:nvPr/>
          </p:nvSpPr>
          <p:spPr bwMode="auto">
            <a:xfrm>
              <a:off x="2192" y="2160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RegWrite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6587212"/>
      </p:ext>
    </p:extLst>
  </p:cSld>
  <p:clrMapOvr>
    <a:masterClrMapping/>
  </p:clrMapOvr>
  <p:transition advTm="2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Load and Store Operations</a:t>
            </a:r>
          </a:p>
        </p:txBody>
      </p:sp>
      <p:sp>
        <p:nvSpPr>
          <p:cNvPr id="67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762000"/>
            <a:ext cx="8077200" cy="512653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Load and store operations have to</a:t>
            </a:r>
          </a:p>
          <a:p>
            <a:pPr>
              <a:spcBef>
                <a:spcPts val="600"/>
              </a:spcBef>
            </a:pPr>
            <a:endParaRPr lang="en-US" sz="3000" dirty="0"/>
          </a:p>
          <a:p>
            <a:pPr lvl="1">
              <a:spcBef>
                <a:spcPts val="600"/>
              </a:spcBef>
            </a:pPr>
            <a:endParaRPr lang="en-US" sz="2600" dirty="0"/>
          </a:p>
          <a:p>
            <a:pPr lvl="1">
              <a:spcBef>
                <a:spcPts val="600"/>
              </a:spcBef>
            </a:pPr>
            <a:endParaRPr lang="en-US" sz="2600" dirty="0"/>
          </a:p>
          <a:p>
            <a:pPr lvl="1">
              <a:spcBef>
                <a:spcPts val="600"/>
              </a:spcBef>
            </a:pPr>
            <a:r>
              <a:rPr lang="en-US" dirty="0"/>
              <a:t>compute a memory address by adding the base register (in </a:t>
            </a:r>
            <a:r>
              <a:rPr lang="en-US" dirty="0" err="1">
                <a:solidFill>
                  <a:schemeClr val="accent1"/>
                </a:solidFill>
              </a:rPr>
              <a:t>rs</a:t>
            </a:r>
            <a:r>
              <a:rPr lang="en-US" dirty="0"/>
              <a:t>) to the 16-bit signed offset field in the instruction</a:t>
            </a:r>
          </a:p>
          <a:p>
            <a:pPr lvl="2">
              <a:spcBef>
                <a:spcPts val="600"/>
              </a:spcBef>
            </a:pPr>
            <a:r>
              <a:rPr lang="en-US" sz="2000" dirty="0"/>
              <a:t>base register was read from the Register File during decode</a:t>
            </a:r>
          </a:p>
          <a:p>
            <a:pPr lvl="2">
              <a:spcBef>
                <a:spcPts val="600"/>
              </a:spcBef>
            </a:pPr>
            <a:r>
              <a:rPr lang="en-US" sz="2000" dirty="0"/>
              <a:t>offset value in the low order 16 bits of the instruction must be sign extended to create a 32-bit signed </a:t>
            </a:r>
            <a:r>
              <a:rPr lang="en-US" sz="2000" dirty="0" smtClean="0"/>
              <a:t>value</a:t>
            </a:r>
          </a:p>
          <a:p>
            <a:pPr lvl="2">
              <a:spcBef>
                <a:spcPts val="600"/>
              </a:spcBef>
            </a:pPr>
            <a:endParaRPr lang="en-US" sz="2000" dirty="0"/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store</a:t>
            </a:r>
            <a:r>
              <a:rPr lang="en-US" dirty="0"/>
              <a:t> value, read from the Register File during decode, must be written to the Data </a:t>
            </a:r>
            <a:r>
              <a:rPr lang="en-US" dirty="0" smtClean="0"/>
              <a:t>Memory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load </a:t>
            </a:r>
            <a:r>
              <a:rPr lang="en-US" dirty="0"/>
              <a:t>value, read from the Data Memory, must be stored in the Register File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600200" y="1219200"/>
            <a:ext cx="5903913" cy="779463"/>
            <a:chOff x="699" y="1392"/>
            <a:chExt cx="3719" cy="491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832" y="1584"/>
              <a:ext cx="1520" cy="272"/>
              <a:chOff x="2552" y="1160"/>
              <a:chExt cx="1520" cy="272"/>
            </a:xfrm>
          </p:grpSpPr>
          <p:sp>
            <p:nvSpPr>
              <p:cNvPr id="673798" name="Line 6"/>
              <p:cNvSpPr>
                <a:spLocks noChangeShapeType="1"/>
              </p:cNvSpPr>
              <p:nvPr/>
            </p:nvSpPr>
            <p:spPr bwMode="auto">
              <a:xfrm>
                <a:off x="283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799" name="Line 7"/>
              <p:cNvSpPr>
                <a:spLocks noChangeShapeType="1"/>
              </p:cNvSpPr>
              <p:nvPr/>
            </p:nvSpPr>
            <p:spPr bwMode="auto">
              <a:xfrm>
                <a:off x="273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00" name="Line 8"/>
              <p:cNvSpPr>
                <a:spLocks noChangeShapeType="1"/>
              </p:cNvSpPr>
              <p:nvPr/>
            </p:nvSpPr>
            <p:spPr bwMode="auto">
              <a:xfrm>
                <a:off x="292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01" name="Line 9"/>
              <p:cNvSpPr>
                <a:spLocks noChangeShapeType="1"/>
              </p:cNvSpPr>
              <p:nvPr/>
            </p:nvSpPr>
            <p:spPr bwMode="auto">
              <a:xfrm>
                <a:off x="3024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02" name="Line 10"/>
              <p:cNvSpPr>
                <a:spLocks noChangeShapeType="1"/>
              </p:cNvSpPr>
              <p:nvPr/>
            </p:nvSpPr>
            <p:spPr bwMode="auto">
              <a:xfrm>
                <a:off x="331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03" name="Line 11"/>
              <p:cNvSpPr>
                <a:spLocks noChangeShapeType="1"/>
              </p:cNvSpPr>
              <p:nvPr/>
            </p:nvSpPr>
            <p:spPr bwMode="auto">
              <a:xfrm>
                <a:off x="321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04" name="Line 12"/>
              <p:cNvSpPr>
                <a:spLocks noChangeShapeType="1"/>
              </p:cNvSpPr>
              <p:nvPr/>
            </p:nvSpPr>
            <p:spPr bwMode="auto">
              <a:xfrm>
                <a:off x="340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05" name="Line 13"/>
              <p:cNvSpPr>
                <a:spLocks noChangeShapeType="1"/>
              </p:cNvSpPr>
              <p:nvPr/>
            </p:nvSpPr>
            <p:spPr bwMode="auto">
              <a:xfrm>
                <a:off x="3504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06" name="Line 14"/>
              <p:cNvSpPr>
                <a:spLocks noChangeShapeType="1"/>
              </p:cNvSpPr>
              <p:nvPr/>
            </p:nvSpPr>
            <p:spPr bwMode="auto">
              <a:xfrm>
                <a:off x="379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07" name="Line 15"/>
              <p:cNvSpPr>
                <a:spLocks noChangeShapeType="1"/>
              </p:cNvSpPr>
              <p:nvPr/>
            </p:nvSpPr>
            <p:spPr bwMode="auto">
              <a:xfrm>
                <a:off x="369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08" name="Line 16"/>
              <p:cNvSpPr>
                <a:spLocks noChangeShapeType="1"/>
              </p:cNvSpPr>
              <p:nvPr/>
            </p:nvSpPr>
            <p:spPr bwMode="auto">
              <a:xfrm>
                <a:off x="388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09" name="Line 17"/>
              <p:cNvSpPr>
                <a:spLocks noChangeShapeType="1"/>
              </p:cNvSpPr>
              <p:nvPr/>
            </p:nvSpPr>
            <p:spPr bwMode="auto">
              <a:xfrm>
                <a:off x="3984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10" name="Rectangle 18"/>
              <p:cNvSpPr>
                <a:spLocks noChangeArrowheads="1"/>
              </p:cNvSpPr>
              <p:nvPr/>
            </p:nvSpPr>
            <p:spPr bwMode="auto">
              <a:xfrm>
                <a:off x="2552" y="1160"/>
                <a:ext cx="1520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11" name="Line 19"/>
              <p:cNvSpPr>
                <a:spLocks noChangeShapeType="1"/>
              </p:cNvSpPr>
              <p:nvPr/>
            </p:nvSpPr>
            <p:spPr bwMode="auto">
              <a:xfrm>
                <a:off x="264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12" name="Line 20"/>
              <p:cNvSpPr>
                <a:spLocks noChangeShapeType="1"/>
              </p:cNvSpPr>
              <p:nvPr/>
            </p:nvSpPr>
            <p:spPr bwMode="auto">
              <a:xfrm>
                <a:off x="312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13" name="Line 21"/>
              <p:cNvSpPr>
                <a:spLocks noChangeShapeType="1"/>
              </p:cNvSpPr>
              <p:nvPr/>
            </p:nvSpPr>
            <p:spPr bwMode="auto">
              <a:xfrm>
                <a:off x="360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73814" name="Rectangle 22"/>
            <p:cNvSpPr>
              <a:spLocks noChangeArrowheads="1"/>
            </p:cNvSpPr>
            <p:nvPr/>
          </p:nvSpPr>
          <p:spPr bwMode="auto">
            <a:xfrm>
              <a:off x="1296" y="1584"/>
              <a:ext cx="560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3815" name="Line 23"/>
            <p:cNvSpPr>
              <a:spLocks noChangeShapeType="1"/>
            </p:cNvSpPr>
            <p:nvPr/>
          </p:nvSpPr>
          <p:spPr bwMode="auto">
            <a:xfrm>
              <a:off x="1672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3816" name="Line 24"/>
            <p:cNvSpPr>
              <a:spLocks noChangeShapeType="1"/>
            </p:cNvSpPr>
            <p:nvPr/>
          </p:nvSpPr>
          <p:spPr bwMode="auto">
            <a:xfrm>
              <a:off x="1576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3817" name="Line 25"/>
            <p:cNvSpPr>
              <a:spLocks noChangeShapeType="1"/>
            </p:cNvSpPr>
            <p:nvPr/>
          </p:nvSpPr>
          <p:spPr bwMode="auto">
            <a:xfrm>
              <a:off x="1768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3818" name="Line 26"/>
            <p:cNvSpPr>
              <a:spLocks noChangeShapeType="1"/>
            </p:cNvSpPr>
            <p:nvPr/>
          </p:nvSpPr>
          <p:spPr bwMode="auto">
            <a:xfrm>
              <a:off x="1480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3819" name="Line 27"/>
            <p:cNvSpPr>
              <a:spLocks noChangeShapeType="1"/>
            </p:cNvSpPr>
            <p:nvPr/>
          </p:nvSpPr>
          <p:spPr bwMode="auto">
            <a:xfrm>
              <a:off x="1384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1872" y="1584"/>
              <a:ext cx="464" cy="272"/>
              <a:chOff x="1592" y="1160"/>
              <a:chExt cx="464" cy="272"/>
            </a:xfrm>
          </p:grpSpPr>
          <p:sp>
            <p:nvSpPr>
              <p:cNvPr id="673821" name="Rectangle 29"/>
              <p:cNvSpPr>
                <a:spLocks noChangeArrowheads="1"/>
              </p:cNvSpPr>
              <p:nvPr/>
            </p:nvSpPr>
            <p:spPr bwMode="auto">
              <a:xfrm>
                <a:off x="1592" y="1160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22" name="Line 30"/>
              <p:cNvSpPr>
                <a:spLocks noChangeShapeType="1"/>
              </p:cNvSpPr>
              <p:nvPr/>
            </p:nvSpPr>
            <p:spPr bwMode="auto">
              <a:xfrm>
                <a:off x="177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23" name="Line 31"/>
              <p:cNvSpPr>
                <a:spLocks noChangeShapeType="1"/>
              </p:cNvSpPr>
              <p:nvPr/>
            </p:nvSpPr>
            <p:spPr bwMode="auto">
              <a:xfrm>
                <a:off x="168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24" name="Line 32"/>
              <p:cNvSpPr>
                <a:spLocks noChangeShapeType="1"/>
              </p:cNvSpPr>
              <p:nvPr/>
            </p:nvSpPr>
            <p:spPr bwMode="auto">
              <a:xfrm>
                <a:off x="187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25" name="Line 33"/>
              <p:cNvSpPr>
                <a:spLocks noChangeShapeType="1"/>
              </p:cNvSpPr>
              <p:nvPr/>
            </p:nvSpPr>
            <p:spPr bwMode="auto">
              <a:xfrm>
                <a:off x="196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34"/>
            <p:cNvGrpSpPr>
              <a:grpSpLocks/>
            </p:cNvGrpSpPr>
            <p:nvPr/>
          </p:nvGrpSpPr>
          <p:grpSpPr bwMode="auto">
            <a:xfrm>
              <a:off x="2352" y="1584"/>
              <a:ext cx="464" cy="272"/>
              <a:chOff x="2072" y="1160"/>
              <a:chExt cx="464" cy="272"/>
            </a:xfrm>
          </p:grpSpPr>
          <p:sp>
            <p:nvSpPr>
              <p:cNvPr id="673827" name="Rectangle 35"/>
              <p:cNvSpPr>
                <a:spLocks noChangeArrowheads="1"/>
              </p:cNvSpPr>
              <p:nvPr/>
            </p:nvSpPr>
            <p:spPr bwMode="auto">
              <a:xfrm>
                <a:off x="2072" y="1160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28" name="Line 36"/>
              <p:cNvSpPr>
                <a:spLocks noChangeShapeType="1"/>
              </p:cNvSpPr>
              <p:nvPr/>
            </p:nvSpPr>
            <p:spPr bwMode="auto">
              <a:xfrm>
                <a:off x="225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29" name="Line 37"/>
              <p:cNvSpPr>
                <a:spLocks noChangeShapeType="1"/>
              </p:cNvSpPr>
              <p:nvPr/>
            </p:nvSpPr>
            <p:spPr bwMode="auto">
              <a:xfrm>
                <a:off x="216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30" name="Line 38"/>
              <p:cNvSpPr>
                <a:spLocks noChangeShapeType="1"/>
              </p:cNvSpPr>
              <p:nvPr/>
            </p:nvSpPr>
            <p:spPr bwMode="auto">
              <a:xfrm>
                <a:off x="235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3831" name="Line 39"/>
              <p:cNvSpPr>
                <a:spLocks noChangeShapeType="1"/>
              </p:cNvSpPr>
              <p:nvPr/>
            </p:nvSpPr>
            <p:spPr bwMode="auto">
              <a:xfrm>
                <a:off x="244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73832" name="Rectangle 40"/>
            <p:cNvSpPr>
              <a:spLocks noChangeArrowheads="1"/>
            </p:cNvSpPr>
            <p:nvPr/>
          </p:nvSpPr>
          <p:spPr bwMode="auto">
            <a:xfrm>
              <a:off x="699" y="1606"/>
              <a:ext cx="58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I-Type:</a:t>
              </a:r>
              <a:endParaRPr lang="en-US"/>
            </a:p>
          </p:txBody>
        </p:sp>
        <p:sp>
          <p:nvSpPr>
            <p:cNvPr id="673833" name="Rectangle 41"/>
            <p:cNvSpPr>
              <a:spLocks noChangeArrowheads="1"/>
            </p:cNvSpPr>
            <p:nvPr/>
          </p:nvSpPr>
          <p:spPr bwMode="auto">
            <a:xfrm>
              <a:off x="1323" y="1654"/>
              <a:ext cx="29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op</a:t>
              </a:r>
              <a:endParaRPr lang="en-US"/>
            </a:p>
          </p:txBody>
        </p:sp>
        <p:sp>
          <p:nvSpPr>
            <p:cNvPr id="673834" name="Rectangle 42"/>
            <p:cNvSpPr>
              <a:spLocks noChangeArrowheads="1"/>
            </p:cNvSpPr>
            <p:nvPr/>
          </p:nvSpPr>
          <p:spPr bwMode="auto">
            <a:xfrm>
              <a:off x="1899" y="1654"/>
              <a:ext cx="2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rs</a:t>
              </a:r>
              <a:endParaRPr lang="en-US"/>
            </a:p>
          </p:txBody>
        </p:sp>
        <p:sp>
          <p:nvSpPr>
            <p:cNvPr id="673835" name="Rectangle 43"/>
            <p:cNvSpPr>
              <a:spLocks noChangeArrowheads="1"/>
            </p:cNvSpPr>
            <p:nvPr/>
          </p:nvSpPr>
          <p:spPr bwMode="auto">
            <a:xfrm>
              <a:off x="2379" y="1654"/>
              <a:ext cx="21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rt</a:t>
              </a:r>
              <a:endParaRPr lang="en-US"/>
            </a:p>
          </p:txBody>
        </p:sp>
        <p:sp>
          <p:nvSpPr>
            <p:cNvPr id="673836" name="Rectangle 44"/>
            <p:cNvSpPr>
              <a:spLocks noChangeArrowheads="1"/>
            </p:cNvSpPr>
            <p:nvPr/>
          </p:nvSpPr>
          <p:spPr bwMode="auto">
            <a:xfrm>
              <a:off x="3024" y="1632"/>
              <a:ext cx="109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address offset</a:t>
              </a:r>
              <a:endParaRPr lang="en-US"/>
            </a:p>
          </p:txBody>
        </p:sp>
        <p:sp>
          <p:nvSpPr>
            <p:cNvPr id="673837" name="Rectangle 45"/>
            <p:cNvSpPr>
              <a:spLocks noChangeArrowheads="1"/>
            </p:cNvSpPr>
            <p:nvPr/>
          </p:nvSpPr>
          <p:spPr bwMode="auto">
            <a:xfrm>
              <a:off x="1200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31</a:t>
              </a:r>
              <a:endParaRPr lang="en-US"/>
            </a:p>
          </p:txBody>
        </p:sp>
        <p:sp>
          <p:nvSpPr>
            <p:cNvPr id="673838" name="Rectangle 46"/>
            <p:cNvSpPr>
              <a:spLocks noChangeArrowheads="1"/>
            </p:cNvSpPr>
            <p:nvPr/>
          </p:nvSpPr>
          <p:spPr bwMode="auto">
            <a:xfrm>
              <a:off x="1776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25</a:t>
              </a:r>
              <a:endParaRPr lang="en-US"/>
            </a:p>
          </p:txBody>
        </p:sp>
        <p:sp>
          <p:nvSpPr>
            <p:cNvPr id="673839" name="Rectangle 47"/>
            <p:cNvSpPr>
              <a:spLocks noChangeArrowheads="1"/>
            </p:cNvSpPr>
            <p:nvPr/>
          </p:nvSpPr>
          <p:spPr bwMode="auto">
            <a:xfrm>
              <a:off x="2256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20</a:t>
              </a:r>
              <a:endParaRPr lang="en-US"/>
            </a:p>
          </p:txBody>
        </p:sp>
        <p:sp>
          <p:nvSpPr>
            <p:cNvPr id="673840" name="Rectangle 48"/>
            <p:cNvSpPr>
              <a:spLocks noChangeArrowheads="1"/>
            </p:cNvSpPr>
            <p:nvPr/>
          </p:nvSpPr>
          <p:spPr bwMode="auto">
            <a:xfrm>
              <a:off x="2736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15</a:t>
              </a:r>
              <a:endParaRPr lang="en-US"/>
            </a:p>
          </p:txBody>
        </p:sp>
        <p:sp>
          <p:nvSpPr>
            <p:cNvPr id="673841" name="Rectangle 49"/>
            <p:cNvSpPr>
              <a:spLocks noChangeArrowheads="1"/>
            </p:cNvSpPr>
            <p:nvPr/>
          </p:nvSpPr>
          <p:spPr bwMode="auto">
            <a:xfrm>
              <a:off x="4224" y="139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0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617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5" grpId="0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43852" cy="422275"/>
          </a:xfrm>
        </p:spPr>
        <p:txBody>
          <a:bodyPr/>
          <a:lstStyle/>
          <a:p>
            <a:r>
              <a:rPr lang="en-US" dirty="0"/>
              <a:t>Executing Load and Store Operations, </a:t>
            </a:r>
            <a:r>
              <a:rPr lang="en-US" dirty="0" err="1"/>
              <a:t>con’t</a:t>
            </a:r>
            <a:endParaRPr lang="en-US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066800" y="1752600"/>
            <a:ext cx="6705600" cy="3200400"/>
            <a:chOff x="672" y="1104"/>
            <a:chExt cx="4224" cy="2016"/>
          </a:xfrm>
        </p:grpSpPr>
        <p:sp>
          <p:nvSpPr>
            <p:cNvPr id="674820" name="Rectangle 4"/>
            <p:cNvSpPr>
              <a:spLocks noChangeArrowheads="1"/>
            </p:cNvSpPr>
            <p:nvPr/>
          </p:nvSpPr>
          <p:spPr bwMode="auto">
            <a:xfrm>
              <a:off x="1728" y="1536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4821" name="Line 5"/>
            <p:cNvSpPr>
              <a:spLocks noChangeShapeType="1"/>
            </p:cNvSpPr>
            <p:nvPr/>
          </p:nvSpPr>
          <p:spPr bwMode="auto">
            <a:xfrm>
              <a:off x="1152" y="201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22" name="Line 6"/>
            <p:cNvSpPr>
              <a:spLocks noChangeShapeType="1"/>
            </p:cNvSpPr>
            <p:nvPr/>
          </p:nvSpPr>
          <p:spPr bwMode="auto">
            <a:xfrm>
              <a:off x="1392" y="163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23" name="Line 7"/>
            <p:cNvSpPr>
              <a:spLocks noChangeShapeType="1"/>
            </p:cNvSpPr>
            <p:nvPr/>
          </p:nvSpPr>
          <p:spPr bwMode="auto">
            <a:xfrm>
              <a:off x="1392" y="187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24" name="Line 8"/>
            <p:cNvSpPr>
              <a:spLocks noChangeShapeType="1"/>
            </p:cNvSpPr>
            <p:nvPr/>
          </p:nvSpPr>
          <p:spPr bwMode="auto">
            <a:xfrm>
              <a:off x="1392" y="211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25" name="Line 9"/>
            <p:cNvSpPr>
              <a:spLocks noChangeShapeType="1"/>
            </p:cNvSpPr>
            <p:nvPr/>
          </p:nvSpPr>
          <p:spPr bwMode="auto">
            <a:xfrm>
              <a:off x="1392" y="163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26" name="Text Box 10"/>
            <p:cNvSpPr txBox="1">
              <a:spLocks noChangeArrowheads="1"/>
            </p:cNvSpPr>
            <p:nvPr/>
          </p:nvSpPr>
          <p:spPr bwMode="auto">
            <a:xfrm>
              <a:off x="672" y="1824"/>
              <a:ext cx="55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Instruction</a:t>
              </a:r>
            </a:p>
          </p:txBody>
        </p:sp>
        <p:sp>
          <p:nvSpPr>
            <p:cNvPr id="674827" name="Text Box 11"/>
            <p:cNvSpPr txBox="1">
              <a:spLocks noChangeArrowheads="1"/>
            </p:cNvSpPr>
            <p:nvPr/>
          </p:nvSpPr>
          <p:spPr bwMode="auto">
            <a:xfrm>
              <a:off x="1680" y="2256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674828" name="Text Box 12"/>
            <p:cNvSpPr txBox="1">
              <a:spLocks noChangeArrowheads="1"/>
            </p:cNvSpPr>
            <p:nvPr/>
          </p:nvSpPr>
          <p:spPr bwMode="auto">
            <a:xfrm>
              <a:off x="1680" y="1536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1</a:t>
              </a:r>
            </a:p>
          </p:txBody>
        </p:sp>
        <p:sp>
          <p:nvSpPr>
            <p:cNvPr id="674829" name="Text Box 13"/>
            <p:cNvSpPr txBox="1">
              <a:spLocks noChangeArrowheads="1"/>
            </p:cNvSpPr>
            <p:nvPr/>
          </p:nvSpPr>
          <p:spPr bwMode="auto">
            <a:xfrm>
              <a:off x="1680" y="1776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2</a:t>
              </a:r>
            </a:p>
          </p:txBody>
        </p:sp>
        <p:sp>
          <p:nvSpPr>
            <p:cNvPr id="674830" name="Text Box 14"/>
            <p:cNvSpPr txBox="1">
              <a:spLocks noChangeArrowheads="1"/>
            </p:cNvSpPr>
            <p:nvPr/>
          </p:nvSpPr>
          <p:spPr bwMode="auto">
            <a:xfrm>
              <a:off x="1680" y="2016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Addr</a:t>
              </a:r>
            </a:p>
          </p:txBody>
        </p:sp>
        <p:sp>
          <p:nvSpPr>
            <p:cNvPr id="674831" name="Text Box 15"/>
            <p:cNvSpPr txBox="1">
              <a:spLocks noChangeArrowheads="1"/>
            </p:cNvSpPr>
            <p:nvPr/>
          </p:nvSpPr>
          <p:spPr bwMode="auto">
            <a:xfrm>
              <a:off x="1884" y="1680"/>
              <a:ext cx="499" cy="4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Register</a:t>
              </a:r>
            </a:p>
            <a:p>
              <a:pPr algn="ctr"/>
              <a:endParaRPr lang="en-US" sz="1200" b="1">
                <a:solidFill>
                  <a:schemeClr val="tx1"/>
                </a:solidFill>
              </a:endParaRP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674832" name="Text Box 16"/>
            <p:cNvSpPr txBox="1">
              <a:spLocks noChangeArrowheads="1"/>
            </p:cNvSpPr>
            <p:nvPr/>
          </p:nvSpPr>
          <p:spPr bwMode="auto">
            <a:xfrm>
              <a:off x="2256" y="1632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1</a:t>
              </a:r>
            </a:p>
          </p:txBody>
        </p:sp>
        <p:sp>
          <p:nvSpPr>
            <p:cNvPr id="674833" name="Text Box 17"/>
            <p:cNvSpPr txBox="1">
              <a:spLocks noChangeArrowheads="1"/>
            </p:cNvSpPr>
            <p:nvPr/>
          </p:nvSpPr>
          <p:spPr bwMode="auto">
            <a:xfrm>
              <a:off x="2272" y="2064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2</a:t>
              </a:r>
            </a:p>
          </p:txBody>
        </p:sp>
        <p:sp>
          <p:nvSpPr>
            <p:cNvPr id="674834" name="Freeform 18"/>
            <p:cNvSpPr>
              <a:spLocks/>
            </p:cNvSpPr>
            <p:nvPr/>
          </p:nvSpPr>
          <p:spPr bwMode="auto">
            <a:xfrm>
              <a:off x="2976" y="1584"/>
              <a:ext cx="336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27"/>
                </a:cxn>
                <a:cxn ang="0">
                  <a:pos x="111" y="553"/>
                </a:cxn>
                <a:cxn ang="0">
                  <a:pos x="0" y="671"/>
                </a:cxn>
                <a:cxn ang="0">
                  <a:pos x="0" y="1098"/>
                </a:cxn>
                <a:cxn ang="0">
                  <a:pos x="387" y="790"/>
                </a:cxn>
                <a:cxn ang="0">
                  <a:pos x="387" y="308"/>
                </a:cxn>
                <a:cxn ang="0">
                  <a:pos x="0" y="0"/>
                </a:cxn>
              </a:cxnLst>
              <a:rect l="0" t="0" r="r" b="b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35" name="Rectangle 19"/>
            <p:cNvSpPr>
              <a:spLocks noChangeArrowheads="1"/>
            </p:cNvSpPr>
            <p:nvPr/>
          </p:nvSpPr>
          <p:spPr bwMode="auto">
            <a:xfrm>
              <a:off x="3072" y="1968"/>
              <a:ext cx="31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ALU</a:t>
              </a:r>
            </a:p>
          </p:txBody>
        </p:sp>
        <p:sp>
          <p:nvSpPr>
            <p:cNvPr id="674836" name="Rectangle 20"/>
            <p:cNvSpPr>
              <a:spLocks noChangeArrowheads="1"/>
            </p:cNvSpPr>
            <p:nvPr/>
          </p:nvSpPr>
          <p:spPr bwMode="auto">
            <a:xfrm>
              <a:off x="3072" y="1344"/>
              <a:ext cx="67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overflow</a:t>
              </a:r>
            </a:p>
          </p:txBody>
        </p:sp>
        <p:sp>
          <p:nvSpPr>
            <p:cNvPr id="674837" name="Rectangle 21"/>
            <p:cNvSpPr>
              <a:spLocks noChangeArrowheads="1"/>
            </p:cNvSpPr>
            <p:nvPr/>
          </p:nvSpPr>
          <p:spPr bwMode="auto">
            <a:xfrm>
              <a:off x="3216" y="1488"/>
              <a:ext cx="3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zero</a:t>
              </a:r>
            </a:p>
          </p:txBody>
        </p:sp>
        <p:sp>
          <p:nvSpPr>
            <p:cNvPr id="674838" name="Rectangle 22"/>
            <p:cNvSpPr>
              <a:spLocks noChangeArrowheads="1"/>
            </p:cNvSpPr>
            <p:nvPr/>
          </p:nvSpPr>
          <p:spPr bwMode="auto">
            <a:xfrm>
              <a:off x="2784" y="1104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ALU control</a:t>
              </a:r>
            </a:p>
          </p:txBody>
        </p:sp>
        <p:sp>
          <p:nvSpPr>
            <p:cNvPr id="674839" name="Line 23"/>
            <p:cNvSpPr>
              <a:spLocks noChangeShapeType="1"/>
            </p:cNvSpPr>
            <p:nvPr/>
          </p:nvSpPr>
          <p:spPr bwMode="auto">
            <a:xfrm>
              <a:off x="3024" y="1344"/>
              <a:ext cx="0" cy="288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40" name="Line 24"/>
            <p:cNvSpPr>
              <a:spLocks noChangeShapeType="1"/>
            </p:cNvSpPr>
            <p:nvPr/>
          </p:nvSpPr>
          <p:spPr bwMode="auto">
            <a:xfrm>
              <a:off x="2160" y="1344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41" name="Rectangle 25"/>
            <p:cNvSpPr>
              <a:spLocks noChangeArrowheads="1"/>
            </p:cNvSpPr>
            <p:nvPr/>
          </p:nvSpPr>
          <p:spPr bwMode="auto">
            <a:xfrm>
              <a:off x="1968" y="1104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RegWrite</a:t>
              </a:r>
            </a:p>
          </p:txBody>
        </p:sp>
        <p:sp>
          <p:nvSpPr>
            <p:cNvPr id="674842" name="Rectangle 26"/>
            <p:cNvSpPr>
              <a:spLocks noChangeArrowheads="1"/>
            </p:cNvSpPr>
            <p:nvPr/>
          </p:nvSpPr>
          <p:spPr bwMode="auto">
            <a:xfrm>
              <a:off x="3792" y="1536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4843" name="Line 27"/>
            <p:cNvSpPr>
              <a:spLocks noChangeShapeType="1"/>
            </p:cNvSpPr>
            <p:nvPr/>
          </p:nvSpPr>
          <p:spPr bwMode="auto">
            <a:xfrm>
              <a:off x="4704" y="20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44" name="Text Box 28"/>
            <p:cNvSpPr txBox="1">
              <a:spLocks noChangeArrowheads="1"/>
            </p:cNvSpPr>
            <p:nvPr/>
          </p:nvSpPr>
          <p:spPr bwMode="auto">
            <a:xfrm>
              <a:off x="3744" y="1824"/>
              <a:ext cx="48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Data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674845" name="Text Box 29"/>
            <p:cNvSpPr txBox="1">
              <a:spLocks noChangeArrowheads="1"/>
            </p:cNvSpPr>
            <p:nvPr/>
          </p:nvSpPr>
          <p:spPr bwMode="auto">
            <a:xfrm>
              <a:off x="3744" y="1632"/>
              <a:ext cx="467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Address</a:t>
              </a:r>
            </a:p>
          </p:txBody>
        </p:sp>
        <p:sp>
          <p:nvSpPr>
            <p:cNvPr id="674846" name="Text Box 30"/>
            <p:cNvSpPr txBox="1">
              <a:spLocks noChangeArrowheads="1"/>
            </p:cNvSpPr>
            <p:nvPr/>
          </p:nvSpPr>
          <p:spPr bwMode="auto">
            <a:xfrm>
              <a:off x="3744" y="2160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674847" name="Text Box 31"/>
            <p:cNvSpPr txBox="1">
              <a:spLocks noChangeArrowheads="1"/>
            </p:cNvSpPr>
            <p:nvPr/>
          </p:nvSpPr>
          <p:spPr bwMode="auto">
            <a:xfrm>
              <a:off x="4176" y="1920"/>
              <a:ext cx="57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Data</a:t>
              </a:r>
            </a:p>
          </p:txBody>
        </p:sp>
        <p:sp>
          <p:nvSpPr>
            <p:cNvPr id="674848" name="Line 32"/>
            <p:cNvSpPr>
              <a:spLocks noChangeShapeType="1"/>
            </p:cNvSpPr>
            <p:nvPr/>
          </p:nvSpPr>
          <p:spPr bwMode="auto">
            <a:xfrm flipV="1">
              <a:off x="3168" y="1488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49" name="Line 33"/>
            <p:cNvSpPr>
              <a:spLocks noChangeShapeType="1"/>
            </p:cNvSpPr>
            <p:nvPr/>
          </p:nvSpPr>
          <p:spPr bwMode="auto">
            <a:xfrm flipV="1">
              <a:off x="3264" y="163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50" name="Oval 34"/>
            <p:cNvSpPr>
              <a:spLocks noChangeArrowheads="1"/>
            </p:cNvSpPr>
            <p:nvPr/>
          </p:nvSpPr>
          <p:spPr bwMode="auto">
            <a:xfrm>
              <a:off x="2112" y="2544"/>
              <a:ext cx="384" cy="57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4851" name="Rectangle 35"/>
            <p:cNvSpPr>
              <a:spLocks noChangeArrowheads="1"/>
            </p:cNvSpPr>
            <p:nvPr/>
          </p:nvSpPr>
          <p:spPr bwMode="auto">
            <a:xfrm>
              <a:off x="2160" y="2688"/>
              <a:ext cx="336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algn="ctr"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Sign</a:t>
              </a:r>
            </a:p>
            <a:p>
              <a:pPr algn="ctr"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Extend</a:t>
              </a:r>
            </a:p>
          </p:txBody>
        </p:sp>
        <p:sp>
          <p:nvSpPr>
            <p:cNvPr id="674852" name="Line 36"/>
            <p:cNvSpPr>
              <a:spLocks noChangeShapeType="1"/>
            </p:cNvSpPr>
            <p:nvPr/>
          </p:nvSpPr>
          <p:spPr bwMode="auto">
            <a:xfrm>
              <a:off x="4224" y="1344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53" name="Rectangle 37"/>
            <p:cNvSpPr>
              <a:spLocks noChangeArrowheads="1"/>
            </p:cNvSpPr>
            <p:nvPr/>
          </p:nvSpPr>
          <p:spPr bwMode="auto">
            <a:xfrm>
              <a:off x="3936" y="1104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MemWrite</a:t>
              </a:r>
            </a:p>
          </p:txBody>
        </p:sp>
        <p:sp>
          <p:nvSpPr>
            <p:cNvPr id="674854" name="Rectangle 38"/>
            <p:cNvSpPr>
              <a:spLocks noChangeArrowheads="1"/>
            </p:cNvSpPr>
            <p:nvPr/>
          </p:nvSpPr>
          <p:spPr bwMode="auto">
            <a:xfrm>
              <a:off x="3984" y="2640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MemRead</a:t>
              </a:r>
            </a:p>
          </p:txBody>
        </p:sp>
        <p:sp>
          <p:nvSpPr>
            <p:cNvPr id="674855" name="Line 39"/>
            <p:cNvSpPr>
              <a:spLocks noChangeShapeType="1"/>
            </p:cNvSpPr>
            <p:nvPr/>
          </p:nvSpPr>
          <p:spPr bwMode="auto">
            <a:xfrm>
              <a:off x="4224" y="2448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56" name="Line 40"/>
            <p:cNvSpPr>
              <a:spLocks noChangeShapeType="1"/>
            </p:cNvSpPr>
            <p:nvPr/>
          </p:nvSpPr>
          <p:spPr bwMode="auto">
            <a:xfrm>
              <a:off x="3312" y="20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57" name="Line 41"/>
            <p:cNvSpPr>
              <a:spLocks noChangeShapeType="1"/>
            </p:cNvSpPr>
            <p:nvPr/>
          </p:nvSpPr>
          <p:spPr bwMode="auto">
            <a:xfrm>
              <a:off x="2640" y="225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58" name="Line 42"/>
            <p:cNvSpPr>
              <a:spLocks noChangeShapeType="1"/>
            </p:cNvSpPr>
            <p:nvPr/>
          </p:nvSpPr>
          <p:spPr bwMode="auto">
            <a:xfrm>
              <a:off x="1536" y="235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59" name="Line 43"/>
            <p:cNvSpPr>
              <a:spLocks noChangeShapeType="1"/>
            </p:cNvSpPr>
            <p:nvPr/>
          </p:nvSpPr>
          <p:spPr bwMode="auto">
            <a:xfrm>
              <a:off x="1920" y="283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60" name="Line 44"/>
            <p:cNvSpPr>
              <a:spLocks noChangeShapeType="1"/>
            </p:cNvSpPr>
            <p:nvPr/>
          </p:nvSpPr>
          <p:spPr bwMode="auto">
            <a:xfrm>
              <a:off x="2496" y="283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61" name="Line 45"/>
            <p:cNvSpPr>
              <a:spLocks noChangeShapeType="1"/>
            </p:cNvSpPr>
            <p:nvPr/>
          </p:nvSpPr>
          <p:spPr bwMode="auto">
            <a:xfrm>
              <a:off x="2640" y="172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62" name="Line 46"/>
            <p:cNvSpPr>
              <a:spLocks noChangeShapeType="1"/>
            </p:cNvSpPr>
            <p:nvPr/>
          </p:nvSpPr>
          <p:spPr bwMode="auto">
            <a:xfrm>
              <a:off x="2832" y="172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63" name="Line 47"/>
            <p:cNvSpPr>
              <a:spLocks noChangeShapeType="1"/>
            </p:cNvSpPr>
            <p:nvPr/>
          </p:nvSpPr>
          <p:spPr bwMode="auto">
            <a:xfrm>
              <a:off x="2832" y="225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64" name="Line 48"/>
            <p:cNvSpPr>
              <a:spLocks noChangeShapeType="1"/>
            </p:cNvSpPr>
            <p:nvPr/>
          </p:nvSpPr>
          <p:spPr bwMode="auto">
            <a:xfrm>
              <a:off x="3648" y="172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4865" name="Line 49"/>
            <p:cNvSpPr>
              <a:spLocks noChangeShapeType="1"/>
            </p:cNvSpPr>
            <p:nvPr/>
          </p:nvSpPr>
          <p:spPr bwMode="auto">
            <a:xfrm>
              <a:off x="3648" y="225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57324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43852" cy="422275"/>
          </a:xfrm>
        </p:spPr>
        <p:txBody>
          <a:bodyPr/>
          <a:lstStyle/>
          <a:p>
            <a:r>
              <a:rPr lang="en-US" dirty="0"/>
              <a:t>Executing Load and Store Operations, </a:t>
            </a:r>
            <a:r>
              <a:rPr lang="en-US" dirty="0" err="1"/>
              <a:t>con’t</a:t>
            </a:r>
            <a:endParaRPr lang="en-US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066800" y="1752600"/>
            <a:ext cx="6705600" cy="3200400"/>
            <a:chOff x="672" y="1104"/>
            <a:chExt cx="4224" cy="2016"/>
          </a:xfrm>
        </p:grpSpPr>
        <p:sp>
          <p:nvSpPr>
            <p:cNvPr id="676868" name="Rectangle 4"/>
            <p:cNvSpPr>
              <a:spLocks noChangeArrowheads="1"/>
            </p:cNvSpPr>
            <p:nvPr/>
          </p:nvSpPr>
          <p:spPr bwMode="auto">
            <a:xfrm>
              <a:off x="1728" y="1536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69" name="Line 5"/>
            <p:cNvSpPr>
              <a:spLocks noChangeShapeType="1"/>
            </p:cNvSpPr>
            <p:nvPr/>
          </p:nvSpPr>
          <p:spPr bwMode="auto">
            <a:xfrm>
              <a:off x="1152" y="201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870" name="Line 6"/>
            <p:cNvSpPr>
              <a:spLocks noChangeShapeType="1"/>
            </p:cNvSpPr>
            <p:nvPr/>
          </p:nvSpPr>
          <p:spPr bwMode="auto">
            <a:xfrm>
              <a:off x="1392" y="163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871" name="Line 7"/>
            <p:cNvSpPr>
              <a:spLocks noChangeShapeType="1"/>
            </p:cNvSpPr>
            <p:nvPr/>
          </p:nvSpPr>
          <p:spPr bwMode="auto">
            <a:xfrm>
              <a:off x="1392" y="187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872" name="Line 8"/>
            <p:cNvSpPr>
              <a:spLocks noChangeShapeType="1"/>
            </p:cNvSpPr>
            <p:nvPr/>
          </p:nvSpPr>
          <p:spPr bwMode="auto">
            <a:xfrm>
              <a:off x="1392" y="211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873" name="Line 9"/>
            <p:cNvSpPr>
              <a:spLocks noChangeShapeType="1"/>
            </p:cNvSpPr>
            <p:nvPr/>
          </p:nvSpPr>
          <p:spPr bwMode="auto">
            <a:xfrm>
              <a:off x="1392" y="163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874" name="Text Box 10"/>
            <p:cNvSpPr txBox="1">
              <a:spLocks noChangeArrowheads="1"/>
            </p:cNvSpPr>
            <p:nvPr/>
          </p:nvSpPr>
          <p:spPr bwMode="auto">
            <a:xfrm>
              <a:off x="672" y="1824"/>
              <a:ext cx="55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Instruction</a:t>
              </a:r>
            </a:p>
          </p:txBody>
        </p:sp>
        <p:sp>
          <p:nvSpPr>
            <p:cNvPr id="676875" name="Text Box 11"/>
            <p:cNvSpPr txBox="1">
              <a:spLocks noChangeArrowheads="1"/>
            </p:cNvSpPr>
            <p:nvPr/>
          </p:nvSpPr>
          <p:spPr bwMode="auto">
            <a:xfrm>
              <a:off x="1680" y="2256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676876" name="Text Box 12"/>
            <p:cNvSpPr txBox="1">
              <a:spLocks noChangeArrowheads="1"/>
            </p:cNvSpPr>
            <p:nvPr/>
          </p:nvSpPr>
          <p:spPr bwMode="auto">
            <a:xfrm>
              <a:off x="1680" y="1536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1</a:t>
              </a:r>
            </a:p>
          </p:txBody>
        </p:sp>
        <p:sp>
          <p:nvSpPr>
            <p:cNvPr id="676877" name="Text Box 13"/>
            <p:cNvSpPr txBox="1">
              <a:spLocks noChangeArrowheads="1"/>
            </p:cNvSpPr>
            <p:nvPr/>
          </p:nvSpPr>
          <p:spPr bwMode="auto">
            <a:xfrm>
              <a:off x="1680" y="1776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2</a:t>
              </a:r>
            </a:p>
          </p:txBody>
        </p:sp>
        <p:sp>
          <p:nvSpPr>
            <p:cNvPr id="676878" name="Text Box 14"/>
            <p:cNvSpPr txBox="1">
              <a:spLocks noChangeArrowheads="1"/>
            </p:cNvSpPr>
            <p:nvPr/>
          </p:nvSpPr>
          <p:spPr bwMode="auto">
            <a:xfrm>
              <a:off x="1680" y="2016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Addr</a:t>
              </a:r>
            </a:p>
          </p:txBody>
        </p:sp>
        <p:sp>
          <p:nvSpPr>
            <p:cNvPr id="676879" name="Text Box 15"/>
            <p:cNvSpPr txBox="1">
              <a:spLocks noChangeArrowheads="1"/>
            </p:cNvSpPr>
            <p:nvPr/>
          </p:nvSpPr>
          <p:spPr bwMode="auto">
            <a:xfrm>
              <a:off x="1884" y="1680"/>
              <a:ext cx="499" cy="4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Register</a:t>
              </a:r>
            </a:p>
            <a:p>
              <a:pPr algn="ctr"/>
              <a:endParaRPr lang="en-US" sz="1200" b="1">
                <a:solidFill>
                  <a:schemeClr val="tx1"/>
                </a:solidFill>
              </a:endParaRP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676880" name="Text Box 16"/>
            <p:cNvSpPr txBox="1">
              <a:spLocks noChangeArrowheads="1"/>
            </p:cNvSpPr>
            <p:nvPr/>
          </p:nvSpPr>
          <p:spPr bwMode="auto">
            <a:xfrm>
              <a:off x="2256" y="1632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1</a:t>
              </a:r>
            </a:p>
          </p:txBody>
        </p:sp>
        <p:sp>
          <p:nvSpPr>
            <p:cNvPr id="676881" name="Text Box 17"/>
            <p:cNvSpPr txBox="1">
              <a:spLocks noChangeArrowheads="1"/>
            </p:cNvSpPr>
            <p:nvPr/>
          </p:nvSpPr>
          <p:spPr bwMode="auto">
            <a:xfrm>
              <a:off x="2272" y="2064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2</a:t>
              </a:r>
            </a:p>
          </p:txBody>
        </p:sp>
        <p:sp>
          <p:nvSpPr>
            <p:cNvPr id="676882" name="Freeform 18"/>
            <p:cNvSpPr>
              <a:spLocks/>
            </p:cNvSpPr>
            <p:nvPr/>
          </p:nvSpPr>
          <p:spPr bwMode="auto">
            <a:xfrm>
              <a:off x="2976" y="1584"/>
              <a:ext cx="336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27"/>
                </a:cxn>
                <a:cxn ang="0">
                  <a:pos x="111" y="553"/>
                </a:cxn>
                <a:cxn ang="0">
                  <a:pos x="0" y="671"/>
                </a:cxn>
                <a:cxn ang="0">
                  <a:pos x="0" y="1098"/>
                </a:cxn>
                <a:cxn ang="0">
                  <a:pos x="387" y="790"/>
                </a:cxn>
                <a:cxn ang="0">
                  <a:pos x="387" y="308"/>
                </a:cxn>
                <a:cxn ang="0">
                  <a:pos x="0" y="0"/>
                </a:cxn>
              </a:cxnLst>
              <a:rect l="0" t="0" r="r" b="b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883" name="Rectangle 19"/>
            <p:cNvSpPr>
              <a:spLocks noChangeArrowheads="1"/>
            </p:cNvSpPr>
            <p:nvPr/>
          </p:nvSpPr>
          <p:spPr bwMode="auto">
            <a:xfrm>
              <a:off x="3072" y="1968"/>
              <a:ext cx="31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ALU</a:t>
              </a:r>
            </a:p>
          </p:txBody>
        </p:sp>
        <p:sp>
          <p:nvSpPr>
            <p:cNvPr id="676884" name="Rectangle 20"/>
            <p:cNvSpPr>
              <a:spLocks noChangeArrowheads="1"/>
            </p:cNvSpPr>
            <p:nvPr/>
          </p:nvSpPr>
          <p:spPr bwMode="auto">
            <a:xfrm>
              <a:off x="3072" y="1344"/>
              <a:ext cx="67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overflow</a:t>
              </a:r>
            </a:p>
          </p:txBody>
        </p:sp>
        <p:sp>
          <p:nvSpPr>
            <p:cNvPr id="676885" name="Rectangle 21"/>
            <p:cNvSpPr>
              <a:spLocks noChangeArrowheads="1"/>
            </p:cNvSpPr>
            <p:nvPr/>
          </p:nvSpPr>
          <p:spPr bwMode="auto">
            <a:xfrm>
              <a:off x="3216" y="1488"/>
              <a:ext cx="3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zero</a:t>
              </a:r>
            </a:p>
          </p:txBody>
        </p:sp>
        <p:sp>
          <p:nvSpPr>
            <p:cNvPr id="676886" name="Rectangle 22"/>
            <p:cNvSpPr>
              <a:spLocks noChangeArrowheads="1"/>
            </p:cNvSpPr>
            <p:nvPr/>
          </p:nvSpPr>
          <p:spPr bwMode="auto">
            <a:xfrm>
              <a:off x="2784" y="1104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ALU control</a:t>
              </a:r>
            </a:p>
          </p:txBody>
        </p:sp>
        <p:sp>
          <p:nvSpPr>
            <p:cNvPr id="676887" name="Line 23"/>
            <p:cNvSpPr>
              <a:spLocks noChangeShapeType="1"/>
            </p:cNvSpPr>
            <p:nvPr/>
          </p:nvSpPr>
          <p:spPr bwMode="auto">
            <a:xfrm>
              <a:off x="3024" y="1344"/>
              <a:ext cx="0" cy="288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888" name="Line 24"/>
            <p:cNvSpPr>
              <a:spLocks noChangeShapeType="1"/>
            </p:cNvSpPr>
            <p:nvPr/>
          </p:nvSpPr>
          <p:spPr bwMode="auto">
            <a:xfrm>
              <a:off x="2160" y="1344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889" name="Rectangle 25"/>
            <p:cNvSpPr>
              <a:spLocks noChangeArrowheads="1"/>
            </p:cNvSpPr>
            <p:nvPr/>
          </p:nvSpPr>
          <p:spPr bwMode="auto">
            <a:xfrm>
              <a:off x="1968" y="1104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RegWrite</a:t>
              </a:r>
            </a:p>
          </p:txBody>
        </p:sp>
        <p:sp>
          <p:nvSpPr>
            <p:cNvPr id="676890" name="Rectangle 26"/>
            <p:cNvSpPr>
              <a:spLocks noChangeArrowheads="1"/>
            </p:cNvSpPr>
            <p:nvPr/>
          </p:nvSpPr>
          <p:spPr bwMode="auto">
            <a:xfrm>
              <a:off x="3792" y="1536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91" name="Line 27"/>
            <p:cNvSpPr>
              <a:spLocks noChangeShapeType="1"/>
            </p:cNvSpPr>
            <p:nvPr/>
          </p:nvSpPr>
          <p:spPr bwMode="auto">
            <a:xfrm>
              <a:off x="4704" y="20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892" name="Text Box 28"/>
            <p:cNvSpPr txBox="1">
              <a:spLocks noChangeArrowheads="1"/>
            </p:cNvSpPr>
            <p:nvPr/>
          </p:nvSpPr>
          <p:spPr bwMode="auto">
            <a:xfrm>
              <a:off x="3744" y="1824"/>
              <a:ext cx="48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Data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676893" name="Text Box 29"/>
            <p:cNvSpPr txBox="1">
              <a:spLocks noChangeArrowheads="1"/>
            </p:cNvSpPr>
            <p:nvPr/>
          </p:nvSpPr>
          <p:spPr bwMode="auto">
            <a:xfrm>
              <a:off x="3744" y="1632"/>
              <a:ext cx="467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Address</a:t>
              </a:r>
            </a:p>
          </p:txBody>
        </p:sp>
        <p:sp>
          <p:nvSpPr>
            <p:cNvPr id="676894" name="Text Box 30"/>
            <p:cNvSpPr txBox="1">
              <a:spLocks noChangeArrowheads="1"/>
            </p:cNvSpPr>
            <p:nvPr/>
          </p:nvSpPr>
          <p:spPr bwMode="auto">
            <a:xfrm>
              <a:off x="3744" y="2160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676895" name="Text Box 31"/>
            <p:cNvSpPr txBox="1">
              <a:spLocks noChangeArrowheads="1"/>
            </p:cNvSpPr>
            <p:nvPr/>
          </p:nvSpPr>
          <p:spPr bwMode="auto">
            <a:xfrm>
              <a:off x="4176" y="1920"/>
              <a:ext cx="57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Data</a:t>
              </a:r>
            </a:p>
          </p:txBody>
        </p:sp>
        <p:sp>
          <p:nvSpPr>
            <p:cNvPr id="676896" name="Line 32"/>
            <p:cNvSpPr>
              <a:spLocks noChangeShapeType="1"/>
            </p:cNvSpPr>
            <p:nvPr/>
          </p:nvSpPr>
          <p:spPr bwMode="auto">
            <a:xfrm flipV="1">
              <a:off x="3168" y="1488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897" name="Line 33"/>
            <p:cNvSpPr>
              <a:spLocks noChangeShapeType="1"/>
            </p:cNvSpPr>
            <p:nvPr/>
          </p:nvSpPr>
          <p:spPr bwMode="auto">
            <a:xfrm flipV="1">
              <a:off x="3264" y="163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898" name="Oval 34"/>
            <p:cNvSpPr>
              <a:spLocks noChangeArrowheads="1"/>
            </p:cNvSpPr>
            <p:nvPr/>
          </p:nvSpPr>
          <p:spPr bwMode="auto">
            <a:xfrm>
              <a:off x="2112" y="2544"/>
              <a:ext cx="384" cy="57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99" name="Rectangle 35"/>
            <p:cNvSpPr>
              <a:spLocks noChangeArrowheads="1"/>
            </p:cNvSpPr>
            <p:nvPr/>
          </p:nvSpPr>
          <p:spPr bwMode="auto">
            <a:xfrm>
              <a:off x="2160" y="2688"/>
              <a:ext cx="336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algn="ctr"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Sign</a:t>
              </a:r>
            </a:p>
            <a:p>
              <a:pPr algn="ctr"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Extend</a:t>
              </a:r>
            </a:p>
          </p:txBody>
        </p:sp>
        <p:sp>
          <p:nvSpPr>
            <p:cNvPr id="676900" name="Line 36"/>
            <p:cNvSpPr>
              <a:spLocks noChangeShapeType="1"/>
            </p:cNvSpPr>
            <p:nvPr/>
          </p:nvSpPr>
          <p:spPr bwMode="auto">
            <a:xfrm>
              <a:off x="4224" y="1344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01" name="Rectangle 37"/>
            <p:cNvSpPr>
              <a:spLocks noChangeArrowheads="1"/>
            </p:cNvSpPr>
            <p:nvPr/>
          </p:nvSpPr>
          <p:spPr bwMode="auto">
            <a:xfrm>
              <a:off x="3936" y="1104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MemWrite</a:t>
              </a:r>
            </a:p>
          </p:txBody>
        </p:sp>
        <p:sp>
          <p:nvSpPr>
            <p:cNvPr id="676902" name="Rectangle 38"/>
            <p:cNvSpPr>
              <a:spLocks noChangeArrowheads="1"/>
            </p:cNvSpPr>
            <p:nvPr/>
          </p:nvSpPr>
          <p:spPr bwMode="auto">
            <a:xfrm>
              <a:off x="3984" y="2640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MemRead</a:t>
              </a:r>
            </a:p>
          </p:txBody>
        </p:sp>
        <p:sp>
          <p:nvSpPr>
            <p:cNvPr id="676903" name="Line 39"/>
            <p:cNvSpPr>
              <a:spLocks noChangeShapeType="1"/>
            </p:cNvSpPr>
            <p:nvPr/>
          </p:nvSpPr>
          <p:spPr bwMode="auto">
            <a:xfrm>
              <a:off x="4224" y="2448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04" name="Line 40"/>
            <p:cNvSpPr>
              <a:spLocks noChangeShapeType="1"/>
            </p:cNvSpPr>
            <p:nvPr/>
          </p:nvSpPr>
          <p:spPr bwMode="auto">
            <a:xfrm>
              <a:off x="3312" y="20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05" name="Line 41"/>
            <p:cNvSpPr>
              <a:spLocks noChangeShapeType="1"/>
            </p:cNvSpPr>
            <p:nvPr/>
          </p:nvSpPr>
          <p:spPr bwMode="auto">
            <a:xfrm>
              <a:off x="2640" y="225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06" name="Line 42"/>
            <p:cNvSpPr>
              <a:spLocks noChangeShapeType="1"/>
            </p:cNvSpPr>
            <p:nvPr/>
          </p:nvSpPr>
          <p:spPr bwMode="auto">
            <a:xfrm>
              <a:off x="1536" y="235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07" name="Line 43"/>
            <p:cNvSpPr>
              <a:spLocks noChangeShapeType="1"/>
            </p:cNvSpPr>
            <p:nvPr/>
          </p:nvSpPr>
          <p:spPr bwMode="auto">
            <a:xfrm>
              <a:off x="1920" y="283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08" name="Line 44"/>
            <p:cNvSpPr>
              <a:spLocks noChangeShapeType="1"/>
            </p:cNvSpPr>
            <p:nvPr/>
          </p:nvSpPr>
          <p:spPr bwMode="auto">
            <a:xfrm>
              <a:off x="2496" y="283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09" name="Line 45"/>
            <p:cNvSpPr>
              <a:spLocks noChangeShapeType="1"/>
            </p:cNvSpPr>
            <p:nvPr/>
          </p:nvSpPr>
          <p:spPr bwMode="auto">
            <a:xfrm>
              <a:off x="2640" y="172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10" name="Line 46"/>
            <p:cNvSpPr>
              <a:spLocks noChangeShapeType="1"/>
            </p:cNvSpPr>
            <p:nvPr/>
          </p:nvSpPr>
          <p:spPr bwMode="auto">
            <a:xfrm>
              <a:off x="2832" y="172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11" name="Line 47"/>
            <p:cNvSpPr>
              <a:spLocks noChangeShapeType="1"/>
            </p:cNvSpPr>
            <p:nvPr/>
          </p:nvSpPr>
          <p:spPr bwMode="auto">
            <a:xfrm>
              <a:off x="2832" y="225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12" name="Line 48"/>
            <p:cNvSpPr>
              <a:spLocks noChangeShapeType="1"/>
            </p:cNvSpPr>
            <p:nvPr/>
          </p:nvSpPr>
          <p:spPr bwMode="auto">
            <a:xfrm>
              <a:off x="3648" y="172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13" name="Line 49"/>
            <p:cNvSpPr>
              <a:spLocks noChangeShapeType="1"/>
            </p:cNvSpPr>
            <p:nvPr/>
          </p:nvSpPr>
          <p:spPr bwMode="auto">
            <a:xfrm>
              <a:off x="3648" y="225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76914" name="Line 50"/>
          <p:cNvSpPr>
            <a:spLocks noChangeShapeType="1"/>
          </p:cNvSpPr>
          <p:nvPr/>
        </p:nvSpPr>
        <p:spPr bwMode="auto">
          <a:xfrm>
            <a:off x="4343400" y="2743200"/>
            <a:ext cx="1524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5562600" y="2743200"/>
            <a:ext cx="228600" cy="457200"/>
            <a:chOff x="3504" y="1728"/>
            <a:chExt cx="144" cy="288"/>
          </a:xfrm>
        </p:grpSpPr>
        <p:sp>
          <p:nvSpPr>
            <p:cNvPr id="676916" name="Line 52"/>
            <p:cNvSpPr>
              <a:spLocks noChangeShapeType="1"/>
            </p:cNvSpPr>
            <p:nvPr/>
          </p:nvSpPr>
          <p:spPr bwMode="auto">
            <a:xfrm>
              <a:off x="3504" y="1728"/>
              <a:ext cx="0" cy="28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17" name="Line 53"/>
            <p:cNvSpPr>
              <a:spLocks noChangeShapeType="1"/>
            </p:cNvSpPr>
            <p:nvPr/>
          </p:nvSpPr>
          <p:spPr bwMode="auto">
            <a:xfrm>
              <a:off x="3504" y="1728"/>
              <a:ext cx="14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4343400" y="3581400"/>
            <a:ext cx="1524000" cy="381000"/>
            <a:chOff x="2736" y="2256"/>
            <a:chExt cx="960" cy="240"/>
          </a:xfrm>
        </p:grpSpPr>
        <p:sp>
          <p:nvSpPr>
            <p:cNvPr id="676919" name="Line 55"/>
            <p:cNvSpPr>
              <a:spLocks noChangeShapeType="1"/>
            </p:cNvSpPr>
            <p:nvPr/>
          </p:nvSpPr>
          <p:spPr bwMode="auto">
            <a:xfrm>
              <a:off x="2736" y="2256"/>
              <a:ext cx="0" cy="24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20" name="Line 56"/>
            <p:cNvSpPr>
              <a:spLocks noChangeShapeType="1"/>
            </p:cNvSpPr>
            <p:nvPr/>
          </p:nvSpPr>
          <p:spPr bwMode="auto">
            <a:xfrm>
              <a:off x="2736" y="2496"/>
              <a:ext cx="86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21" name="Line 57"/>
            <p:cNvSpPr>
              <a:spLocks noChangeShapeType="1"/>
            </p:cNvSpPr>
            <p:nvPr/>
          </p:nvSpPr>
          <p:spPr bwMode="auto">
            <a:xfrm>
              <a:off x="3600" y="2256"/>
              <a:ext cx="0" cy="24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22" name="Line 58"/>
            <p:cNvSpPr>
              <a:spLocks noChangeShapeType="1"/>
            </p:cNvSpPr>
            <p:nvPr/>
          </p:nvSpPr>
          <p:spPr bwMode="auto">
            <a:xfrm>
              <a:off x="3600" y="2256"/>
              <a:ext cx="96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9"/>
          <p:cNvGrpSpPr>
            <a:grpSpLocks/>
          </p:cNvGrpSpPr>
          <p:nvPr/>
        </p:nvGrpSpPr>
        <p:grpSpPr bwMode="auto">
          <a:xfrm>
            <a:off x="2438400" y="3200400"/>
            <a:ext cx="5334000" cy="1905000"/>
            <a:chOff x="1536" y="2016"/>
            <a:chExt cx="3360" cy="1200"/>
          </a:xfrm>
        </p:grpSpPr>
        <p:sp>
          <p:nvSpPr>
            <p:cNvPr id="676924" name="Line 60"/>
            <p:cNvSpPr>
              <a:spLocks noChangeShapeType="1"/>
            </p:cNvSpPr>
            <p:nvPr/>
          </p:nvSpPr>
          <p:spPr bwMode="auto">
            <a:xfrm>
              <a:off x="1536" y="2352"/>
              <a:ext cx="0" cy="86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25" name="Line 61"/>
            <p:cNvSpPr>
              <a:spLocks noChangeShapeType="1"/>
            </p:cNvSpPr>
            <p:nvPr/>
          </p:nvSpPr>
          <p:spPr bwMode="auto">
            <a:xfrm>
              <a:off x="1536" y="3216"/>
              <a:ext cx="336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26" name="Line 62"/>
            <p:cNvSpPr>
              <a:spLocks noChangeShapeType="1"/>
            </p:cNvSpPr>
            <p:nvPr/>
          </p:nvSpPr>
          <p:spPr bwMode="auto">
            <a:xfrm>
              <a:off x="4896" y="2016"/>
              <a:ext cx="0" cy="12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3"/>
          <p:cNvGrpSpPr>
            <a:grpSpLocks/>
          </p:cNvGrpSpPr>
          <p:nvPr/>
        </p:nvGrpSpPr>
        <p:grpSpPr bwMode="auto">
          <a:xfrm>
            <a:off x="2209800" y="3352800"/>
            <a:ext cx="2333625" cy="1417638"/>
            <a:chOff x="1392" y="2112"/>
            <a:chExt cx="1470" cy="893"/>
          </a:xfrm>
        </p:grpSpPr>
        <p:sp>
          <p:nvSpPr>
            <p:cNvPr id="676928" name="Line 64"/>
            <p:cNvSpPr>
              <a:spLocks noChangeShapeType="1"/>
            </p:cNvSpPr>
            <p:nvPr/>
          </p:nvSpPr>
          <p:spPr bwMode="auto">
            <a:xfrm>
              <a:off x="1872" y="2784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29" name="Text Box 65"/>
            <p:cNvSpPr txBox="1">
              <a:spLocks noChangeArrowheads="1"/>
            </p:cNvSpPr>
            <p:nvPr/>
          </p:nvSpPr>
          <p:spPr bwMode="auto">
            <a:xfrm>
              <a:off x="1872" y="2832"/>
              <a:ext cx="2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676930" name="Line 66"/>
            <p:cNvSpPr>
              <a:spLocks noChangeShapeType="1"/>
            </p:cNvSpPr>
            <p:nvPr/>
          </p:nvSpPr>
          <p:spPr bwMode="auto">
            <a:xfrm>
              <a:off x="1392" y="2112"/>
              <a:ext cx="0" cy="72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31" name="Line 67"/>
            <p:cNvSpPr>
              <a:spLocks noChangeShapeType="1"/>
            </p:cNvSpPr>
            <p:nvPr/>
          </p:nvSpPr>
          <p:spPr bwMode="auto">
            <a:xfrm>
              <a:off x="1392" y="2832"/>
              <a:ext cx="72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32" name="Line 68"/>
            <p:cNvSpPr>
              <a:spLocks noChangeShapeType="1"/>
            </p:cNvSpPr>
            <p:nvPr/>
          </p:nvSpPr>
          <p:spPr bwMode="auto">
            <a:xfrm>
              <a:off x="2832" y="2256"/>
              <a:ext cx="0" cy="57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33" name="Line 69"/>
            <p:cNvSpPr>
              <a:spLocks noChangeShapeType="1"/>
            </p:cNvSpPr>
            <p:nvPr/>
          </p:nvSpPr>
          <p:spPr bwMode="auto">
            <a:xfrm>
              <a:off x="2496" y="2832"/>
              <a:ext cx="336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34" name="Line 70"/>
            <p:cNvSpPr>
              <a:spLocks noChangeShapeType="1"/>
            </p:cNvSpPr>
            <p:nvPr/>
          </p:nvSpPr>
          <p:spPr bwMode="auto">
            <a:xfrm>
              <a:off x="2640" y="2784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6935" name="Text Box 71"/>
            <p:cNvSpPr txBox="1">
              <a:spLocks noChangeArrowheads="1"/>
            </p:cNvSpPr>
            <p:nvPr/>
          </p:nvSpPr>
          <p:spPr bwMode="auto">
            <a:xfrm>
              <a:off x="2640" y="2832"/>
              <a:ext cx="2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32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3251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9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Branch Operations</a:t>
            </a:r>
          </a:p>
        </p:txBody>
      </p:sp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848600" cy="469256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Branch operations have to</a:t>
            </a:r>
          </a:p>
          <a:p>
            <a:pPr lvl="2">
              <a:spcBef>
                <a:spcPts val="600"/>
              </a:spcBef>
            </a:pPr>
            <a:endParaRPr lang="en-US" sz="2400" dirty="0"/>
          </a:p>
          <a:p>
            <a:pPr lvl="2">
              <a:spcBef>
                <a:spcPts val="600"/>
              </a:spcBef>
            </a:pPr>
            <a:endParaRPr lang="en-US" sz="2400" dirty="0"/>
          </a:p>
          <a:p>
            <a:pPr lvl="2">
              <a:spcBef>
                <a:spcPts val="600"/>
              </a:spcBef>
            </a:pPr>
            <a:endParaRPr lang="en-US" sz="2400" dirty="0"/>
          </a:p>
          <a:p>
            <a:pPr lvl="1">
              <a:spcBef>
                <a:spcPts val="600"/>
              </a:spcBef>
            </a:pPr>
            <a:r>
              <a:rPr lang="en-US" dirty="0"/>
              <a:t>compare the operands read from the Register File during decode (</a:t>
            </a:r>
            <a:r>
              <a:rPr lang="en-US" dirty="0" err="1">
                <a:solidFill>
                  <a:schemeClr val="accent1"/>
                </a:solidFill>
              </a:rPr>
              <a:t>rs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1"/>
                </a:solidFill>
              </a:rPr>
              <a:t>rt</a:t>
            </a:r>
            <a:r>
              <a:rPr lang="en-US" dirty="0"/>
              <a:t> values) for equality (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zero</a:t>
            </a:r>
            <a:r>
              <a:rPr lang="en-US" dirty="0"/>
              <a:t> ALU output)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compute the branch target address by adding the updated PC to the sign extended16-bit signed offset field in the instruction</a:t>
            </a:r>
          </a:p>
          <a:p>
            <a:pPr lvl="2">
              <a:spcBef>
                <a:spcPts val="600"/>
              </a:spcBef>
            </a:pPr>
            <a:r>
              <a:rPr lang="en-US" sz="2000" dirty="0"/>
              <a:t>“base register” is the </a:t>
            </a:r>
            <a:r>
              <a:rPr lang="en-US" sz="2000" dirty="0">
                <a:solidFill>
                  <a:schemeClr val="accent1"/>
                </a:solidFill>
              </a:rPr>
              <a:t>updated</a:t>
            </a:r>
            <a:r>
              <a:rPr lang="en-US" sz="2000" dirty="0"/>
              <a:t> PC</a:t>
            </a:r>
          </a:p>
          <a:p>
            <a:pPr lvl="2">
              <a:spcBef>
                <a:spcPts val="600"/>
              </a:spcBef>
            </a:pPr>
            <a:r>
              <a:rPr lang="en-US" sz="2000" dirty="0"/>
              <a:t>offset value in the low order 16 bits of the instruction must be sign extended to create a 32-bit signed value and then shifted left 2 bits to turn it into a word address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600200" y="1295400"/>
            <a:ext cx="5903913" cy="779463"/>
            <a:chOff x="699" y="1392"/>
            <a:chExt cx="3719" cy="491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832" y="1584"/>
              <a:ext cx="1520" cy="272"/>
              <a:chOff x="2552" y="1160"/>
              <a:chExt cx="1520" cy="272"/>
            </a:xfrm>
          </p:grpSpPr>
          <p:sp>
            <p:nvSpPr>
              <p:cNvPr id="678918" name="Line 6"/>
              <p:cNvSpPr>
                <a:spLocks noChangeShapeType="1"/>
              </p:cNvSpPr>
              <p:nvPr/>
            </p:nvSpPr>
            <p:spPr bwMode="auto">
              <a:xfrm>
                <a:off x="283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19" name="Line 7"/>
              <p:cNvSpPr>
                <a:spLocks noChangeShapeType="1"/>
              </p:cNvSpPr>
              <p:nvPr/>
            </p:nvSpPr>
            <p:spPr bwMode="auto">
              <a:xfrm>
                <a:off x="273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0" name="Line 8"/>
              <p:cNvSpPr>
                <a:spLocks noChangeShapeType="1"/>
              </p:cNvSpPr>
              <p:nvPr/>
            </p:nvSpPr>
            <p:spPr bwMode="auto">
              <a:xfrm>
                <a:off x="292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1" name="Line 9"/>
              <p:cNvSpPr>
                <a:spLocks noChangeShapeType="1"/>
              </p:cNvSpPr>
              <p:nvPr/>
            </p:nvSpPr>
            <p:spPr bwMode="auto">
              <a:xfrm>
                <a:off x="3024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2" name="Line 10"/>
              <p:cNvSpPr>
                <a:spLocks noChangeShapeType="1"/>
              </p:cNvSpPr>
              <p:nvPr/>
            </p:nvSpPr>
            <p:spPr bwMode="auto">
              <a:xfrm>
                <a:off x="331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3" name="Line 11"/>
              <p:cNvSpPr>
                <a:spLocks noChangeShapeType="1"/>
              </p:cNvSpPr>
              <p:nvPr/>
            </p:nvSpPr>
            <p:spPr bwMode="auto">
              <a:xfrm>
                <a:off x="321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4" name="Line 12"/>
              <p:cNvSpPr>
                <a:spLocks noChangeShapeType="1"/>
              </p:cNvSpPr>
              <p:nvPr/>
            </p:nvSpPr>
            <p:spPr bwMode="auto">
              <a:xfrm>
                <a:off x="340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5" name="Line 13"/>
              <p:cNvSpPr>
                <a:spLocks noChangeShapeType="1"/>
              </p:cNvSpPr>
              <p:nvPr/>
            </p:nvSpPr>
            <p:spPr bwMode="auto">
              <a:xfrm>
                <a:off x="3504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6" name="Line 14"/>
              <p:cNvSpPr>
                <a:spLocks noChangeShapeType="1"/>
              </p:cNvSpPr>
              <p:nvPr/>
            </p:nvSpPr>
            <p:spPr bwMode="auto">
              <a:xfrm>
                <a:off x="379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7" name="Line 15"/>
              <p:cNvSpPr>
                <a:spLocks noChangeShapeType="1"/>
              </p:cNvSpPr>
              <p:nvPr/>
            </p:nvSpPr>
            <p:spPr bwMode="auto">
              <a:xfrm>
                <a:off x="369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8" name="Line 16"/>
              <p:cNvSpPr>
                <a:spLocks noChangeShapeType="1"/>
              </p:cNvSpPr>
              <p:nvPr/>
            </p:nvSpPr>
            <p:spPr bwMode="auto">
              <a:xfrm>
                <a:off x="388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29" name="Line 17"/>
              <p:cNvSpPr>
                <a:spLocks noChangeShapeType="1"/>
              </p:cNvSpPr>
              <p:nvPr/>
            </p:nvSpPr>
            <p:spPr bwMode="auto">
              <a:xfrm>
                <a:off x="3984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30" name="Rectangle 18"/>
              <p:cNvSpPr>
                <a:spLocks noChangeArrowheads="1"/>
              </p:cNvSpPr>
              <p:nvPr/>
            </p:nvSpPr>
            <p:spPr bwMode="auto">
              <a:xfrm>
                <a:off x="2552" y="1160"/>
                <a:ext cx="1520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31" name="Line 19"/>
              <p:cNvSpPr>
                <a:spLocks noChangeShapeType="1"/>
              </p:cNvSpPr>
              <p:nvPr/>
            </p:nvSpPr>
            <p:spPr bwMode="auto">
              <a:xfrm>
                <a:off x="264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32" name="Line 20"/>
              <p:cNvSpPr>
                <a:spLocks noChangeShapeType="1"/>
              </p:cNvSpPr>
              <p:nvPr/>
            </p:nvSpPr>
            <p:spPr bwMode="auto">
              <a:xfrm>
                <a:off x="312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33" name="Line 21"/>
              <p:cNvSpPr>
                <a:spLocks noChangeShapeType="1"/>
              </p:cNvSpPr>
              <p:nvPr/>
            </p:nvSpPr>
            <p:spPr bwMode="auto">
              <a:xfrm>
                <a:off x="360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78934" name="Rectangle 22"/>
            <p:cNvSpPr>
              <a:spLocks noChangeArrowheads="1"/>
            </p:cNvSpPr>
            <p:nvPr/>
          </p:nvSpPr>
          <p:spPr bwMode="auto">
            <a:xfrm>
              <a:off x="1296" y="1584"/>
              <a:ext cx="560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935" name="Line 23"/>
            <p:cNvSpPr>
              <a:spLocks noChangeShapeType="1"/>
            </p:cNvSpPr>
            <p:nvPr/>
          </p:nvSpPr>
          <p:spPr bwMode="auto">
            <a:xfrm>
              <a:off x="1672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936" name="Line 24"/>
            <p:cNvSpPr>
              <a:spLocks noChangeShapeType="1"/>
            </p:cNvSpPr>
            <p:nvPr/>
          </p:nvSpPr>
          <p:spPr bwMode="auto">
            <a:xfrm>
              <a:off x="1576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937" name="Line 25"/>
            <p:cNvSpPr>
              <a:spLocks noChangeShapeType="1"/>
            </p:cNvSpPr>
            <p:nvPr/>
          </p:nvSpPr>
          <p:spPr bwMode="auto">
            <a:xfrm>
              <a:off x="1768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938" name="Line 26"/>
            <p:cNvSpPr>
              <a:spLocks noChangeShapeType="1"/>
            </p:cNvSpPr>
            <p:nvPr/>
          </p:nvSpPr>
          <p:spPr bwMode="auto">
            <a:xfrm>
              <a:off x="1480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939" name="Line 27"/>
            <p:cNvSpPr>
              <a:spLocks noChangeShapeType="1"/>
            </p:cNvSpPr>
            <p:nvPr/>
          </p:nvSpPr>
          <p:spPr bwMode="auto">
            <a:xfrm>
              <a:off x="1384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1872" y="1584"/>
              <a:ext cx="464" cy="272"/>
              <a:chOff x="1592" y="1160"/>
              <a:chExt cx="464" cy="272"/>
            </a:xfrm>
          </p:grpSpPr>
          <p:sp>
            <p:nvSpPr>
              <p:cNvPr id="678941" name="Rectangle 29"/>
              <p:cNvSpPr>
                <a:spLocks noChangeArrowheads="1"/>
              </p:cNvSpPr>
              <p:nvPr/>
            </p:nvSpPr>
            <p:spPr bwMode="auto">
              <a:xfrm>
                <a:off x="1592" y="1160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2" name="Line 30"/>
              <p:cNvSpPr>
                <a:spLocks noChangeShapeType="1"/>
              </p:cNvSpPr>
              <p:nvPr/>
            </p:nvSpPr>
            <p:spPr bwMode="auto">
              <a:xfrm>
                <a:off x="177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3" name="Line 31"/>
              <p:cNvSpPr>
                <a:spLocks noChangeShapeType="1"/>
              </p:cNvSpPr>
              <p:nvPr/>
            </p:nvSpPr>
            <p:spPr bwMode="auto">
              <a:xfrm>
                <a:off x="168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4" name="Line 32"/>
              <p:cNvSpPr>
                <a:spLocks noChangeShapeType="1"/>
              </p:cNvSpPr>
              <p:nvPr/>
            </p:nvSpPr>
            <p:spPr bwMode="auto">
              <a:xfrm>
                <a:off x="187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5" name="Line 33"/>
              <p:cNvSpPr>
                <a:spLocks noChangeShapeType="1"/>
              </p:cNvSpPr>
              <p:nvPr/>
            </p:nvSpPr>
            <p:spPr bwMode="auto">
              <a:xfrm>
                <a:off x="196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34"/>
            <p:cNvGrpSpPr>
              <a:grpSpLocks/>
            </p:cNvGrpSpPr>
            <p:nvPr/>
          </p:nvGrpSpPr>
          <p:grpSpPr bwMode="auto">
            <a:xfrm>
              <a:off x="2352" y="1584"/>
              <a:ext cx="464" cy="272"/>
              <a:chOff x="2072" y="1160"/>
              <a:chExt cx="464" cy="272"/>
            </a:xfrm>
          </p:grpSpPr>
          <p:sp>
            <p:nvSpPr>
              <p:cNvPr id="678947" name="Rectangle 35"/>
              <p:cNvSpPr>
                <a:spLocks noChangeArrowheads="1"/>
              </p:cNvSpPr>
              <p:nvPr/>
            </p:nvSpPr>
            <p:spPr bwMode="auto">
              <a:xfrm>
                <a:off x="2072" y="1160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8" name="Line 36"/>
              <p:cNvSpPr>
                <a:spLocks noChangeShapeType="1"/>
              </p:cNvSpPr>
              <p:nvPr/>
            </p:nvSpPr>
            <p:spPr bwMode="auto">
              <a:xfrm>
                <a:off x="225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49" name="Line 37"/>
              <p:cNvSpPr>
                <a:spLocks noChangeShapeType="1"/>
              </p:cNvSpPr>
              <p:nvPr/>
            </p:nvSpPr>
            <p:spPr bwMode="auto">
              <a:xfrm>
                <a:off x="216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50" name="Line 38"/>
              <p:cNvSpPr>
                <a:spLocks noChangeShapeType="1"/>
              </p:cNvSpPr>
              <p:nvPr/>
            </p:nvSpPr>
            <p:spPr bwMode="auto">
              <a:xfrm>
                <a:off x="235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8951" name="Line 39"/>
              <p:cNvSpPr>
                <a:spLocks noChangeShapeType="1"/>
              </p:cNvSpPr>
              <p:nvPr/>
            </p:nvSpPr>
            <p:spPr bwMode="auto">
              <a:xfrm>
                <a:off x="244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78952" name="Rectangle 40"/>
            <p:cNvSpPr>
              <a:spLocks noChangeArrowheads="1"/>
            </p:cNvSpPr>
            <p:nvPr/>
          </p:nvSpPr>
          <p:spPr bwMode="auto">
            <a:xfrm>
              <a:off x="699" y="1606"/>
              <a:ext cx="58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I-Type:</a:t>
              </a:r>
              <a:endParaRPr lang="en-US"/>
            </a:p>
          </p:txBody>
        </p:sp>
        <p:sp>
          <p:nvSpPr>
            <p:cNvPr id="678953" name="Rectangle 41"/>
            <p:cNvSpPr>
              <a:spLocks noChangeArrowheads="1"/>
            </p:cNvSpPr>
            <p:nvPr/>
          </p:nvSpPr>
          <p:spPr bwMode="auto">
            <a:xfrm>
              <a:off x="1323" y="1654"/>
              <a:ext cx="29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op</a:t>
              </a:r>
              <a:endParaRPr lang="en-US"/>
            </a:p>
          </p:txBody>
        </p:sp>
        <p:sp>
          <p:nvSpPr>
            <p:cNvPr id="678954" name="Rectangle 42"/>
            <p:cNvSpPr>
              <a:spLocks noChangeArrowheads="1"/>
            </p:cNvSpPr>
            <p:nvPr/>
          </p:nvSpPr>
          <p:spPr bwMode="auto">
            <a:xfrm>
              <a:off x="1899" y="1654"/>
              <a:ext cx="2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rs</a:t>
              </a:r>
              <a:endParaRPr lang="en-US"/>
            </a:p>
          </p:txBody>
        </p:sp>
        <p:sp>
          <p:nvSpPr>
            <p:cNvPr id="678955" name="Rectangle 43"/>
            <p:cNvSpPr>
              <a:spLocks noChangeArrowheads="1"/>
            </p:cNvSpPr>
            <p:nvPr/>
          </p:nvSpPr>
          <p:spPr bwMode="auto">
            <a:xfrm>
              <a:off x="2379" y="1654"/>
              <a:ext cx="21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rt</a:t>
              </a:r>
              <a:endParaRPr lang="en-US"/>
            </a:p>
          </p:txBody>
        </p:sp>
        <p:sp>
          <p:nvSpPr>
            <p:cNvPr id="678956" name="Rectangle 44"/>
            <p:cNvSpPr>
              <a:spLocks noChangeArrowheads="1"/>
            </p:cNvSpPr>
            <p:nvPr/>
          </p:nvSpPr>
          <p:spPr bwMode="auto">
            <a:xfrm>
              <a:off x="3024" y="1632"/>
              <a:ext cx="109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/>
                <a:t>address offset</a:t>
              </a:r>
              <a:endParaRPr lang="en-US"/>
            </a:p>
          </p:txBody>
        </p:sp>
        <p:sp>
          <p:nvSpPr>
            <p:cNvPr id="678957" name="Rectangle 45"/>
            <p:cNvSpPr>
              <a:spLocks noChangeArrowheads="1"/>
            </p:cNvSpPr>
            <p:nvPr/>
          </p:nvSpPr>
          <p:spPr bwMode="auto">
            <a:xfrm>
              <a:off x="1200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31</a:t>
              </a:r>
              <a:endParaRPr lang="en-US"/>
            </a:p>
          </p:txBody>
        </p:sp>
        <p:sp>
          <p:nvSpPr>
            <p:cNvPr id="678958" name="Rectangle 46"/>
            <p:cNvSpPr>
              <a:spLocks noChangeArrowheads="1"/>
            </p:cNvSpPr>
            <p:nvPr/>
          </p:nvSpPr>
          <p:spPr bwMode="auto">
            <a:xfrm>
              <a:off x="1776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25</a:t>
              </a:r>
              <a:endParaRPr lang="en-US"/>
            </a:p>
          </p:txBody>
        </p:sp>
        <p:sp>
          <p:nvSpPr>
            <p:cNvPr id="678959" name="Rectangle 47"/>
            <p:cNvSpPr>
              <a:spLocks noChangeArrowheads="1"/>
            </p:cNvSpPr>
            <p:nvPr/>
          </p:nvSpPr>
          <p:spPr bwMode="auto">
            <a:xfrm>
              <a:off x="2256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20</a:t>
              </a:r>
              <a:endParaRPr lang="en-US"/>
            </a:p>
          </p:txBody>
        </p:sp>
        <p:sp>
          <p:nvSpPr>
            <p:cNvPr id="678960" name="Rectangle 48"/>
            <p:cNvSpPr>
              <a:spLocks noChangeArrowheads="1"/>
            </p:cNvSpPr>
            <p:nvPr/>
          </p:nvSpPr>
          <p:spPr bwMode="auto">
            <a:xfrm>
              <a:off x="2736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15</a:t>
              </a:r>
              <a:endParaRPr lang="en-US"/>
            </a:p>
          </p:txBody>
        </p:sp>
        <p:sp>
          <p:nvSpPr>
            <p:cNvPr id="678961" name="Rectangle 49"/>
            <p:cNvSpPr>
              <a:spLocks noChangeArrowheads="1"/>
            </p:cNvSpPr>
            <p:nvPr/>
          </p:nvSpPr>
          <p:spPr bwMode="auto">
            <a:xfrm>
              <a:off x="4224" y="139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0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604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15" grpId="0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Branch Operations, con’t</a:t>
            </a:r>
          </a:p>
        </p:txBody>
      </p:sp>
      <p:sp>
        <p:nvSpPr>
          <p:cNvPr id="679939" name="Rectangle 3"/>
          <p:cNvSpPr>
            <a:spLocks noChangeArrowheads="1"/>
          </p:cNvSpPr>
          <p:nvPr/>
        </p:nvSpPr>
        <p:spPr bwMode="auto">
          <a:xfrm>
            <a:off x="4267200" y="35052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9940" name="Line 4"/>
          <p:cNvSpPr>
            <a:spLocks noChangeShapeType="1"/>
          </p:cNvSpPr>
          <p:nvPr/>
        </p:nvSpPr>
        <p:spPr bwMode="auto">
          <a:xfrm>
            <a:off x="3352800" y="42672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41" name="Line 5"/>
          <p:cNvSpPr>
            <a:spLocks noChangeShapeType="1"/>
          </p:cNvSpPr>
          <p:nvPr/>
        </p:nvSpPr>
        <p:spPr bwMode="auto">
          <a:xfrm>
            <a:off x="3733800" y="3657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42" name="Line 6"/>
          <p:cNvSpPr>
            <a:spLocks noChangeShapeType="1"/>
          </p:cNvSpPr>
          <p:nvPr/>
        </p:nvSpPr>
        <p:spPr bwMode="auto">
          <a:xfrm>
            <a:off x="3733800" y="40386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43" name="Line 7"/>
          <p:cNvSpPr>
            <a:spLocks noChangeShapeType="1"/>
          </p:cNvSpPr>
          <p:nvPr/>
        </p:nvSpPr>
        <p:spPr bwMode="auto">
          <a:xfrm>
            <a:off x="3733800" y="36576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44" name="Line 8"/>
          <p:cNvSpPr>
            <a:spLocks noChangeShapeType="1"/>
          </p:cNvSpPr>
          <p:nvPr/>
        </p:nvSpPr>
        <p:spPr bwMode="auto">
          <a:xfrm>
            <a:off x="6019800" y="3886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45" name="Text Box 9"/>
          <p:cNvSpPr txBox="1">
            <a:spLocks noChangeArrowheads="1"/>
          </p:cNvSpPr>
          <p:nvPr/>
        </p:nvSpPr>
        <p:spPr bwMode="auto">
          <a:xfrm>
            <a:off x="2590800" y="3962400"/>
            <a:ext cx="8858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Instruction</a:t>
            </a:r>
          </a:p>
        </p:txBody>
      </p:sp>
      <p:sp>
        <p:nvSpPr>
          <p:cNvPr id="679946" name="Text Box 10"/>
          <p:cNvSpPr txBox="1">
            <a:spLocks noChangeArrowheads="1"/>
          </p:cNvSpPr>
          <p:nvPr/>
        </p:nvSpPr>
        <p:spPr bwMode="auto">
          <a:xfrm>
            <a:off x="4191000" y="46482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Write Data</a:t>
            </a:r>
          </a:p>
        </p:txBody>
      </p:sp>
      <p:sp>
        <p:nvSpPr>
          <p:cNvPr id="679947" name="Text Box 11"/>
          <p:cNvSpPr txBox="1">
            <a:spLocks noChangeArrowheads="1"/>
          </p:cNvSpPr>
          <p:nvPr/>
        </p:nvSpPr>
        <p:spPr bwMode="auto">
          <a:xfrm>
            <a:off x="4191000" y="35052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Read Addr 1</a:t>
            </a:r>
          </a:p>
        </p:txBody>
      </p:sp>
      <p:sp>
        <p:nvSpPr>
          <p:cNvPr id="679948" name="Text Box 12"/>
          <p:cNvSpPr txBox="1">
            <a:spLocks noChangeArrowheads="1"/>
          </p:cNvSpPr>
          <p:nvPr/>
        </p:nvSpPr>
        <p:spPr bwMode="auto">
          <a:xfrm>
            <a:off x="4191000" y="38862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Read Addr 2</a:t>
            </a:r>
          </a:p>
        </p:txBody>
      </p:sp>
      <p:sp>
        <p:nvSpPr>
          <p:cNvPr id="679949" name="Text Box 13"/>
          <p:cNvSpPr txBox="1">
            <a:spLocks noChangeArrowheads="1"/>
          </p:cNvSpPr>
          <p:nvPr/>
        </p:nvSpPr>
        <p:spPr bwMode="auto">
          <a:xfrm>
            <a:off x="4191000" y="42672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Write Addr</a:t>
            </a:r>
          </a:p>
        </p:txBody>
      </p:sp>
      <p:sp>
        <p:nvSpPr>
          <p:cNvPr id="679950" name="Text Box 14"/>
          <p:cNvSpPr txBox="1">
            <a:spLocks noChangeArrowheads="1"/>
          </p:cNvSpPr>
          <p:nvPr/>
        </p:nvSpPr>
        <p:spPr bwMode="auto">
          <a:xfrm>
            <a:off x="4514850" y="37338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Register</a:t>
            </a:r>
          </a:p>
          <a:p>
            <a:pPr algn="ctr"/>
            <a:endParaRPr lang="en-US" sz="1200" b="1">
              <a:solidFill>
                <a:schemeClr val="tx1"/>
              </a:solidFill>
            </a:endParaRPr>
          </a:p>
          <a:p>
            <a:pPr algn="ctr"/>
            <a:r>
              <a:rPr lang="en-US" sz="1200" b="1">
                <a:solidFill>
                  <a:schemeClr val="tx1"/>
                </a:solidFill>
              </a:rPr>
              <a:t>File</a:t>
            </a:r>
          </a:p>
        </p:txBody>
      </p:sp>
      <p:sp>
        <p:nvSpPr>
          <p:cNvPr id="679951" name="Text Box 15"/>
          <p:cNvSpPr txBox="1">
            <a:spLocks noChangeArrowheads="1"/>
          </p:cNvSpPr>
          <p:nvPr/>
        </p:nvSpPr>
        <p:spPr bwMode="auto">
          <a:xfrm>
            <a:off x="5105400" y="36576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chemeClr val="tx1"/>
                </a:solidFill>
              </a:rPr>
              <a:t>Read</a:t>
            </a:r>
          </a:p>
          <a:p>
            <a:pPr algn="r"/>
            <a:r>
              <a:rPr lang="en-US" sz="1200">
                <a:solidFill>
                  <a:schemeClr val="tx1"/>
                </a:solidFill>
              </a:rPr>
              <a:t> Data 1</a:t>
            </a:r>
          </a:p>
        </p:txBody>
      </p:sp>
      <p:sp>
        <p:nvSpPr>
          <p:cNvPr id="679952" name="Text Box 16"/>
          <p:cNvSpPr txBox="1">
            <a:spLocks noChangeArrowheads="1"/>
          </p:cNvSpPr>
          <p:nvPr/>
        </p:nvSpPr>
        <p:spPr bwMode="auto">
          <a:xfrm>
            <a:off x="5130800" y="43434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chemeClr val="tx1"/>
                </a:solidFill>
              </a:rPr>
              <a:t>Read</a:t>
            </a:r>
          </a:p>
          <a:p>
            <a:pPr algn="r"/>
            <a:r>
              <a:rPr lang="en-US" sz="1200">
                <a:solidFill>
                  <a:schemeClr val="tx1"/>
                </a:solidFill>
              </a:rPr>
              <a:t> Data 2</a:t>
            </a:r>
          </a:p>
        </p:txBody>
      </p:sp>
      <p:sp>
        <p:nvSpPr>
          <p:cNvPr id="679953" name="Freeform 17"/>
          <p:cNvSpPr>
            <a:spLocks/>
          </p:cNvSpPr>
          <p:nvPr/>
        </p:nvSpPr>
        <p:spPr bwMode="auto">
          <a:xfrm>
            <a:off x="6248400" y="35814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54" name="Rectangle 18"/>
          <p:cNvSpPr>
            <a:spLocks noChangeArrowheads="1"/>
          </p:cNvSpPr>
          <p:nvPr/>
        </p:nvSpPr>
        <p:spPr bwMode="auto">
          <a:xfrm>
            <a:off x="6400800" y="41910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1200" b="1">
                <a:solidFill>
                  <a:srgbClr val="000000"/>
                </a:solidFill>
              </a:rPr>
              <a:t>ALU</a:t>
            </a:r>
          </a:p>
        </p:txBody>
      </p:sp>
      <p:sp>
        <p:nvSpPr>
          <p:cNvPr id="679955" name="Rectangle 19"/>
          <p:cNvSpPr>
            <a:spLocks noChangeArrowheads="1"/>
          </p:cNvSpPr>
          <p:nvPr/>
        </p:nvSpPr>
        <p:spPr bwMode="auto">
          <a:xfrm>
            <a:off x="6629400" y="3429000"/>
            <a:ext cx="4572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sz="1400">
                <a:solidFill>
                  <a:srgbClr val="000000"/>
                </a:solidFill>
              </a:rPr>
              <a:t>zero</a:t>
            </a:r>
          </a:p>
        </p:txBody>
      </p:sp>
      <p:sp>
        <p:nvSpPr>
          <p:cNvPr id="679956" name="Rectangle 20"/>
          <p:cNvSpPr>
            <a:spLocks noChangeArrowheads="1"/>
          </p:cNvSpPr>
          <p:nvPr/>
        </p:nvSpPr>
        <p:spPr bwMode="auto">
          <a:xfrm>
            <a:off x="6019800" y="28194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sz="1400"/>
              <a:t>ALU control</a:t>
            </a:r>
          </a:p>
        </p:txBody>
      </p:sp>
      <p:sp>
        <p:nvSpPr>
          <p:cNvPr id="679957" name="Line 21"/>
          <p:cNvSpPr>
            <a:spLocks noChangeShapeType="1"/>
          </p:cNvSpPr>
          <p:nvPr/>
        </p:nvSpPr>
        <p:spPr bwMode="auto">
          <a:xfrm>
            <a:off x="6324600" y="3200400"/>
            <a:ext cx="0" cy="4572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58" name="Line 22"/>
          <p:cNvSpPr>
            <a:spLocks noChangeShapeType="1"/>
          </p:cNvSpPr>
          <p:nvPr/>
        </p:nvSpPr>
        <p:spPr bwMode="auto">
          <a:xfrm flipV="1">
            <a:off x="6705600" y="36576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59" name="Line 23"/>
          <p:cNvSpPr>
            <a:spLocks noChangeShapeType="1"/>
          </p:cNvSpPr>
          <p:nvPr/>
        </p:nvSpPr>
        <p:spPr bwMode="auto">
          <a:xfrm>
            <a:off x="5486400" y="556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60" name="Oval 24"/>
          <p:cNvSpPr>
            <a:spLocks noChangeArrowheads="1"/>
          </p:cNvSpPr>
          <p:nvPr/>
        </p:nvSpPr>
        <p:spPr bwMode="auto">
          <a:xfrm>
            <a:off x="4876800" y="5105400"/>
            <a:ext cx="609600" cy="914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9961" name="Rectangle 25"/>
          <p:cNvSpPr>
            <a:spLocks noChangeArrowheads="1"/>
          </p:cNvSpPr>
          <p:nvPr/>
        </p:nvSpPr>
        <p:spPr bwMode="auto">
          <a:xfrm>
            <a:off x="4953000" y="5334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1200" b="1">
                <a:solidFill>
                  <a:srgbClr val="000000"/>
                </a:solidFill>
              </a:rPr>
              <a:t>Sign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1200" b="1">
                <a:solidFill>
                  <a:srgbClr val="000000"/>
                </a:solidFill>
              </a:rPr>
              <a:t>Extend</a:t>
            </a:r>
          </a:p>
        </p:txBody>
      </p:sp>
      <p:sp>
        <p:nvSpPr>
          <p:cNvPr id="679962" name="Line 26"/>
          <p:cNvSpPr>
            <a:spLocks noChangeShapeType="1"/>
          </p:cNvSpPr>
          <p:nvPr/>
        </p:nvSpPr>
        <p:spPr bwMode="auto">
          <a:xfrm>
            <a:off x="4343400" y="55626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63" name="Line 27"/>
          <p:cNvSpPr>
            <a:spLocks noChangeShapeType="1"/>
          </p:cNvSpPr>
          <p:nvPr/>
        </p:nvSpPr>
        <p:spPr bwMode="auto">
          <a:xfrm>
            <a:off x="4495800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64" name="Line 28"/>
          <p:cNvSpPr>
            <a:spLocks noChangeShapeType="1"/>
          </p:cNvSpPr>
          <p:nvPr/>
        </p:nvSpPr>
        <p:spPr bwMode="auto">
          <a:xfrm>
            <a:off x="5562600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65" name="Text Box 29"/>
          <p:cNvSpPr txBox="1">
            <a:spLocks noChangeArrowheads="1"/>
          </p:cNvSpPr>
          <p:nvPr/>
        </p:nvSpPr>
        <p:spPr bwMode="auto">
          <a:xfrm>
            <a:off x="4495800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679966" name="Text Box 30"/>
          <p:cNvSpPr txBox="1">
            <a:spLocks noChangeArrowheads="1"/>
          </p:cNvSpPr>
          <p:nvPr/>
        </p:nvSpPr>
        <p:spPr bwMode="auto">
          <a:xfrm>
            <a:off x="5562600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679967" name="Oval 31"/>
          <p:cNvSpPr>
            <a:spLocks noChangeArrowheads="1"/>
          </p:cNvSpPr>
          <p:nvPr/>
        </p:nvSpPr>
        <p:spPr bwMode="auto">
          <a:xfrm>
            <a:off x="6096000" y="2057400"/>
            <a:ext cx="4572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9968" name="Rectangle 32"/>
          <p:cNvSpPr>
            <a:spLocks noChangeArrowheads="1"/>
          </p:cNvSpPr>
          <p:nvPr/>
        </p:nvSpPr>
        <p:spPr bwMode="auto">
          <a:xfrm>
            <a:off x="6096000" y="2133600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1200" b="1">
                <a:solidFill>
                  <a:srgbClr val="000000"/>
                </a:solidFill>
              </a:rPr>
              <a:t>Shift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1200" b="1">
                <a:solidFill>
                  <a:srgbClr val="000000"/>
                </a:solidFill>
              </a:rPr>
              <a:t>left 2</a:t>
            </a:r>
          </a:p>
        </p:txBody>
      </p:sp>
      <p:sp>
        <p:nvSpPr>
          <p:cNvPr id="679969" name="Line 33"/>
          <p:cNvSpPr>
            <a:spLocks noChangeShapeType="1"/>
          </p:cNvSpPr>
          <p:nvPr/>
        </p:nvSpPr>
        <p:spPr bwMode="auto">
          <a:xfrm>
            <a:off x="5867400" y="2362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2362200" y="1371600"/>
            <a:ext cx="381000" cy="990600"/>
            <a:chOff x="1392" y="2880"/>
            <a:chExt cx="288" cy="480"/>
          </a:xfrm>
        </p:grpSpPr>
        <p:sp>
          <p:nvSpPr>
            <p:cNvPr id="679971" name="Line 35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9972" name="Line 36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9973" name="Line 37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9974" name="Line 38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9975" name="Line 39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9976" name="Line 40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9977" name="Line 41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79978" name="Line 42"/>
          <p:cNvSpPr>
            <a:spLocks noChangeShapeType="1"/>
          </p:cNvSpPr>
          <p:nvPr/>
        </p:nvSpPr>
        <p:spPr bwMode="auto">
          <a:xfrm>
            <a:off x="1447800" y="1524000"/>
            <a:ext cx="914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79" name="Line 43"/>
          <p:cNvSpPr>
            <a:spLocks noChangeShapeType="1"/>
          </p:cNvSpPr>
          <p:nvPr/>
        </p:nvSpPr>
        <p:spPr bwMode="auto">
          <a:xfrm>
            <a:off x="1981200" y="2209800"/>
            <a:ext cx="3810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80" name="Line 44"/>
          <p:cNvSpPr>
            <a:spLocks noChangeShapeType="1"/>
          </p:cNvSpPr>
          <p:nvPr/>
        </p:nvSpPr>
        <p:spPr bwMode="auto">
          <a:xfrm>
            <a:off x="3048000" y="1219200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81" name="Line 45"/>
          <p:cNvSpPr>
            <a:spLocks noChangeShapeType="1"/>
          </p:cNvSpPr>
          <p:nvPr/>
        </p:nvSpPr>
        <p:spPr bwMode="auto">
          <a:xfrm>
            <a:off x="2743200" y="1828800"/>
            <a:ext cx="403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82" name="Text Box 46"/>
          <p:cNvSpPr txBox="1">
            <a:spLocks noChangeArrowheads="1"/>
          </p:cNvSpPr>
          <p:nvPr/>
        </p:nvSpPr>
        <p:spPr bwMode="auto">
          <a:xfrm>
            <a:off x="2362200" y="17526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bg2"/>
                </a:solidFill>
              </a:rPr>
              <a:t>Add</a:t>
            </a:r>
          </a:p>
        </p:txBody>
      </p:sp>
      <p:sp>
        <p:nvSpPr>
          <p:cNvPr id="679983" name="Line 47"/>
          <p:cNvSpPr>
            <a:spLocks noChangeShapeType="1"/>
          </p:cNvSpPr>
          <p:nvPr/>
        </p:nvSpPr>
        <p:spPr bwMode="auto">
          <a:xfrm>
            <a:off x="838200" y="1219200"/>
            <a:ext cx="22098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84" name="Text Box 48"/>
          <p:cNvSpPr txBox="1">
            <a:spLocks noChangeArrowheads="1"/>
          </p:cNvSpPr>
          <p:nvPr/>
        </p:nvSpPr>
        <p:spPr bwMode="auto">
          <a:xfrm>
            <a:off x="1752600" y="20574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bg2"/>
                </a:solidFill>
              </a:rPr>
              <a:t>4</a:t>
            </a:r>
          </a:p>
        </p:txBody>
      </p: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6781800" y="1600200"/>
            <a:ext cx="381000" cy="990600"/>
            <a:chOff x="1392" y="2880"/>
            <a:chExt cx="288" cy="480"/>
          </a:xfrm>
        </p:grpSpPr>
        <p:sp>
          <p:nvSpPr>
            <p:cNvPr id="679986" name="Line 50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9987" name="Line 51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9988" name="Line 52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9989" name="Line 53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9990" name="Line 54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9991" name="Line 55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9992" name="Line 56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79993" name="Text Box 57"/>
          <p:cNvSpPr txBox="1">
            <a:spLocks noChangeArrowheads="1"/>
          </p:cNvSpPr>
          <p:nvPr/>
        </p:nvSpPr>
        <p:spPr bwMode="auto">
          <a:xfrm>
            <a:off x="6781800" y="19812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Add</a:t>
            </a:r>
          </a:p>
        </p:txBody>
      </p:sp>
      <p:sp>
        <p:nvSpPr>
          <p:cNvPr id="679994" name="Line 58"/>
          <p:cNvSpPr>
            <a:spLocks noChangeShapeType="1"/>
          </p:cNvSpPr>
          <p:nvPr/>
        </p:nvSpPr>
        <p:spPr bwMode="auto">
          <a:xfrm>
            <a:off x="6553200" y="2362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95" name="Rectangle 59"/>
          <p:cNvSpPr>
            <a:spLocks noChangeArrowheads="1"/>
          </p:cNvSpPr>
          <p:nvPr/>
        </p:nvSpPr>
        <p:spPr bwMode="auto">
          <a:xfrm>
            <a:off x="1143000" y="2895600"/>
            <a:ext cx="228600" cy="8382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9996" name="Text Box 60"/>
          <p:cNvSpPr txBox="1">
            <a:spLocks noChangeArrowheads="1"/>
          </p:cNvSpPr>
          <p:nvPr/>
        </p:nvSpPr>
        <p:spPr bwMode="auto">
          <a:xfrm>
            <a:off x="1066800" y="3124200"/>
            <a:ext cx="395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bg2"/>
                </a:solidFill>
              </a:rPr>
              <a:t>PC</a:t>
            </a:r>
          </a:p>
        </p:txBody>
      </p:sp>
      <p:sp>
        <p:nvSpPr>
          <p:cNvPr id="679997" name="Line 61"/>
          <p:cNvSpPr>
            <a:spLocks noChangeShapeType="1"/>
          </p:cNvSpPr>
          <p:nvPr/>
        </p:nvSpPr>
        <p:spPr bwMode="auto">
          <a:xfrm>
            <a:off x="838200" y="1219200"/>
            <a:ext cx="0" cy="2057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98" name="Line 62"/>
          <p:cNvSpPr>
            <a:spLocks noChangeShapeType="1"/>
          </p:cNvSpPr>
          <p:nvPr/>
        </p:nvSpPr>
        <p:spPr bwMode="auto">
          <a:xfrm>
            <a:off x="838200" y="3276600"/>
            <a:ext cx="3048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9999" name="Line 63"/>
          <p:cNvSpPr>
            <a:spLocks noChangeShapeType="1"/>
          </p:cNvSpPr>
          <p:nvPr/>
        </p:nvSpPr>
        <p:spPr bwMode="auto">
          <a:xfrm>
            <a:off x="1447800" y="1524000"/>
            <a:ext cx="0" cy="1752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0000" name="Line 64"/>
          <p:cNvSpPr>
            <a:spLocks noChangeShapeType="1"/>
          </p:cNvSpPr>
          <p:nvPr/>
        </p:nvSpPr>
        <p:spPr bwMode="auto">
          <a:xfrm>
            <a:off x="1371600" y="3276600"/>
            <a:ext cx="762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0001" name="Line 65"/>
          <p:cNvSpPr>
            <a:spLocks noChangeShapeType="1"/>
          </p:cNvSpPr>
          <p:nvPr/>
        </p:nvSpPr>
        <p:spPr bwMode="auto">
          <a:xfrm>
            <a:off x="7162800" y="20574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0002" name="Text Box 66"/>
          <p:cNvSpPr txBox="1">
            <a:spLocks noChangeArrowheads="1"/>
          </p:cNvSpPr>
          <p:nvPr/>
        </p:nvSpPr>
        <p:spPr bwMode="auto">
          <a:xfrm>
            <a:off x="7543800" y="1730375"/>
            <a:ext cx="814388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tx1"/>
                </a:solidFill>
              </a:rPr>
              <a:t>Branch</a:t>
            </a:r>
          </a:p>
          <a:p>
            <a:r>
              <a:rPr lang="en-US" sz="1400">
                <a:solidFill>
                  <a:schemeClr val="tx1"/>
                </a:solidFill>
              </a:rPr>
              <a:t>target</a:t>
            </a:r>
          </a:p>
          <a:p>
            <a:r>
              <a:rPr lang="en-US" sz="1400">
                <a:solidFill>
                  <a:schemeClr val="tx1"/>
                </a:solidFill>
              </a:rPr>
              <a:t>address</a:t>
            </a:r>
          </a:p>
        </p:txBody>
      </p:sp>
      <p:sp>
        <p:nvSpPr>
          <p:cNvPr id="680003" name="Text Box 67"/>
          <p:cNvSpPr txBox="1">
            <a:spLocks noChangeArrowheads="1"/>
          </p:cNvSpPr>
          <p:nvPr/>
        </p:nvSpPr>
        <p:spPr bwMode="auto">
          <a:xfrm>
            <a:off x="7010400" y="3429000"/>
            <a:ext cx="1371600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(to branch control logic)</a:t>
            </a:r>
          </a:p>
        </p:txBody>
      </p:sp>
      <p:sp>
        <p:nvSpPr>
          <p:cNvPr id="680004" name="Line 68"/>
          <p:cNvSpPr>
            <a:spLocks noChangeShapeType="1"/>
          </p:cNvSpPr>
          <p:nvPr/>
        </p:nvSpPr>
        <p:spPr bwMode="auto">
          <a:xfrm>
            <a:off x="6019800" y="4648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0005" name="Line 69"/>
          <p:cNvSpPr>
            <a:spLocks noChangeShapeType="1"/>
          </p:cNvSpPr>
          <p:nvPr/>
        </p:nvSpPr>
        <p:spPr bwMode="auto">
          <a:xfrm>
            <a:off x="5715000" y="46482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0006" name="Line 70"/>
          <p:cNvSpPr>
            <a:spLocks noChangeShapeType="1"/>
          </p:cNvSpPr>
          <p:nvPr/>
        </p:nvSpPr>
        <p:spPr bwMode="auto">
          <a:xfrm>
            <a:off x="5715000" y="38862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20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Branch Operations, con’t</a:t>
            </a:r>
          </a:p>
        </p:txBody>
      </p:sp>
      <p:sp>
        <p:nvSpPr>
          <p:cNvPr id="681987" name="Rectangle 3"/>
          <p:cNvSpPr>
            <a:spLocks noChangeArrowheads="1"/>
          </p:cNvSpPr>
          <p:nvPr/>
        </p:nvSpPr>
        <p:spPr bwMode="auto">
          <a:xfrm>
            <a:off x="4267200" y="35052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1988" name="Line 4"/>
          <p:cNvSpPr>
            <a:spLocks noChangeShapeType="1"/>
          </p:cNvSpPr>
          <p:nvPr/>
        </p:nvSpPr>
        <p:spPr bwMode="auto">
          <a:xfrm>
            <a:off x="3352800" y="42672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1989" name="Line 5"/>
          <p:cNvSpPr>
            <a:spLocks noChangeShapeType="1"/>
          </p:cNvSpPr>
          <p:nvPr/>
        </p:nvSpPr>
        <p:spPr bwMode="auto">
          <a:xfrm>
            <a:off x="3733800" y="3657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1990" name="Line 6"/>
          <p:cNvSpPr>
            <a:spLocks noChangeShapeType="1"/>
          </p:cNvSpPr>
          <p:nvPr/>
        </p:nvSpPr>
        <p:spPr bwMode="auto">
          <a:xfrm>
            <a:off x="3733800" y="40386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1991" name="Line 7"/>
          <p:cNvSpPr>
            <a:spLocks noChangeShapeType="1"/>
          </p:cNvSpPr>
          <p:nvPr/>
        </p:nvSpPr>
        <p:spPr bwMode="auto">
          <a:xfrm>
            <a:off x="3733800" y="36576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1992" name="Line 8"/>
          <p:cNvSpPr>
            <a:spLocks noChangeShapeType="1"/>
          </p:cNvSpPr>
          <p:nvPr/>
        </p:nvSpPr>
        <p:spPr bwMode="auto">
          <a:xfrm>
            <a:off x="6019800" y="3886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1993" name="Text Box 9"/>
          <p:cNvSpPr txBox="1">
            <a:spLocks noChangeArrowheads="1"/>
          </p:cNvSpPr>
          <p:nvPr/>
        </p:nvSpPr>
        <p:spPr bwMode="auto">
          <a:xfrm>
            <a:off x="2590800" y="3962400"/>
            <a:ext cx="8858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Instruction</a:t>
            </a:r>
          </a:p>
        </p:txBody>
      </p:sp>
      <p:sp>
        <p:nvSpPr>
          <p:cNvPr id="681994" name="Text Box 10"/>
          <p:cNvSpPr txBox="1">
            <a:spLocks noChangeArrowheads="1"/>
          </p:cNvSpPr>
          <p:nvPr/>
        </p:nvSpPr>
        <p:spPr bwMode="auto">
          <a:xfrm>
            <a:off x="4191000" y="46482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Write Data</a:t>
            </a:r>
          </a:p>
        </p:txBody>
      </p:sp>
      <p:sp>
        <p:nvSpPr>
          <p:cNvPr id="681995" name="Text Box 11"/>
          <p:cNvSpPr txBox="1">
            <a:spLocks noChangeArrowheads="1"/>
          </p:cNvSpPr>
          <p:nvPr/>
        </p:nvSpPr>
        <p:spPr bwMode="auto">
          <a:xfrm>
            <a:off x="4191000" y="35052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Read Addr 1</a:t>
            </a:r>
          </a:p>
        </p:txBody>
      </p:sp>
      <p:sp>
        <p:nvSpPr>
          <p:cNvPr id="681996" name="Text Box 12"/>
          <p:cNvSpPr txBox="1">
            <a:spLocks noChangeArrowheads="1"/>
          </p:cNvSpPr>
          <p:nvPr/>
        </p:nvSpPr>
        <p:spPr bwMode="auto">
          <a:xfrm>
            <a:off x="4191000" y="38862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Read Addr 2</a:t>
            </a:r>
          </a:p>
        </p:txBody>
      </p:sp>
      <p:sp>
        <p:nvSpPr>
          <p:cNvPr id="681997" name="Text Box 13"/>
          <p:cNvSpPr txBox="1">
            <a:spLocks noChangeArrowheads="1"/>
          </p:cNvSpPr>
          <p:nvPr/>
        </p:nvSpPr>
        <p:spPr bwMode="auto">
          <a:xfrm>
            <a:off x="4191000" y="42672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Write Addr</a:t>
            </a:r>
          </a:p>
        </p:txBody>
      </p:sp>
      <p:sp>
        <p:nvSpPr>
          <p:cNvPr id="681998" name="Text Box 14"/>
          <p:cNvSpPr txBox="1">
            <a:spLocks noChangeArrowheads="1"/>
          </p:cNvSpPr>
          <p:nvPr/>
        </p:nvSpPr>
        <p:spPr bwMode="auto">
          <a:xfrm>
            <a:off x="4514850" y="37338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Register</a:t>
            </a:r>
          </a:p>
          <a:p>
            <a:pPr algn="ctr"/>
            <a:endParaRPr lang="en-US" sz="1200" b="1">
              <a:solidFill>
                <a:schemeClr val="tx1"/>
              </a:solidFill>
            </a:endParaRPr>
          </a:p>
          <a:p>
            <a:pPr algn="ctr"/>
            <a:r>
              <a:rPr lang="en-US" sz="1200" b="1">
                <a:solidFill>
                  <a:schemeClr val="tx1"/>
                </a:solidFill>
              </a:rPr>
              <a:t>File</a:t>
            </a:r>
          </a:p>
        </p:txBody>
      </p:sp>
      <p:sp>
        <p:nvSpPr>
          <p:cNvPr id="681999" name="Text Box 15"/>
          <p:cNvSpPr txBox="1">
            <a:spLocks noChangeArrowheads="1"/>
          </p:cNvSpPr>
          <p:nvPr/>
        </p:nvSpPr>
        <p:spPr bwMode="auto">
          <a:xfrm>
            <a:off x="5105400" y="36576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chemeClr val="tx1"/>
                </a:solidFill>
              </a:rPr>
              <a:t>Read</a:t>
            </a:r>
          </a:p>
          <a:p>
            <a:pPr algn="r"/>
            <a:r>
              <a:rPr lang="en-US" sz="1200">
                <a:solidFill>
                  <a:schemeClr val="tx1"/>
                </a:solidFill>
              </a:rPr>
              <a:t> Data 1</a:t>
            </a:r>
          </a:p>
        </p:txBody>
      </p:sp>
      <p:sp>
        <p:nvSpPr>
          <p:cNvPr id="682000" name="Text Box 16"/>
          <p:cNvSpPr txBox="1">
            <a:spLocks noChangeArrowheads="1"/>
          </p:cNvSpPr>
          <p:nvPr/>
        </p:nvSpPr>
        <p:spPr bwMode="auto">
          <a:xfrm>
            <a:off x="5130800" y="43434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chemeClr val="tx1"/>
                </a:solidFill>
              </a:rPr>
              <a:t>Read</a:t>
            </a:r>
          </a:p>
          <a:p>
            <a:pPr algn="r"/>
            <a:r>
              <a:rPr lang="en-US" sz="1200">
                <a:solidFill>
                  <a:schemeClr val="tx1"/>
                </a:solidFill>
              </a:rPr>
              <a:t> Data 2</a:t>
            </a:r>
          </a:p>
        </p:txBody>
      </p:sp>
      <p:sp>
        <p:nvSpPr>
          <p:cNvPr id="682001" name="Freeform 17"/>
          <p:cNvSpPr>
            <a:spLocks/>
          </p:cNvSpPr>
          <p:nvPr/>
        </p:nvSpPr>
        <p:spPr bwMode="auto">
          <a:xfrm>
            <a:off x="6248400" y="35814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02" name="Rectangle 18"/>
          <p:cNvSpPr>
            <a:spLocks noChangeArrowheads="1"/>
          </p:cNvSpPr>
          <p:nvPr/>
        </p:nvSpPr>
        <p:spPr bwMode="auto">
          <a:xfrm>
            <a:off x="6400800" y="41910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1200" b="1">
                <a:solidFill>
                  <a:srgbClr val="000000"/>
                </a:solidFill>
              </a:rPr>
              <a:t>ALU</a:t>
            </a:r>
          </a:p>
        </p:txBody>
      </p:sp>
      <p:sp>
        <p:nvSpPr>
          <p:cNvPr id="682003" name="Rectangle 19"/>
          <p:cNvSpPr>
            <a:spLocks noChangeArrowheads="1"/>
          </p:cNvSpPr>
          <p:nvPr/>
        </p:nvSpPr>
        <p:spPr bwMode="auto">
          <a:xfrm>
            <a:off x="6629400" y="3429000"/>
            <a:ext cx="4572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sz="1400">
                <a:solidFill>
                  <a:srgbClr val="000000"/>
                </a:solidFill>
              </a:rPr>
              <a:t>zero</a:t>
            </a:r>
          </a:p>
        </p:txBody>
      </p:sp>
      <p:sp>
        <p:nvSpPr>
          <p:cNvPr id="682004" name="Rectangle 20"/>
          <p:cNvSpPr>
            <a:spLocks noChangeArrowheads="1"/>
          </p:cNvSpPr>
          <p:nvPr/>
        </p:nvSpPr>
        <p:spPr bwMode="auto">
          <a:xfrm>
            <a:off x="6019800" y="28194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sz="1400"/>
              <a:t>ALU control</a:t>
            </a:r>
          </a:p>
        </p:txBody>
      </p:sp>
      <p:sp>
        <p:nvSpPr>
          <p:cNvPr id="682005" name="Line 21"/>
          <p:cNvSpPr>
            <a:spLocks noChangeShapeType="1"/>
          </p:cNvSpPr>
          <p:nvPr/>
        </p:nvSpPr>
        <p:spPr bwMode="auto">
          <a:xfrm>
            <a:off x="6324600" y="3200400"/>
            <a:ext cx="0" cy="4572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06" name="Line 22"/>
          <p:cNvSpPr>
            <a:spLocks noChangeShapeType="1"/>
          </p:cNvSpPr>
          <p:nvPr/>
        </p:nvSpPr>
        <p:spPr bwMode="auto">
          <a:xfrm flipV="1">
            <a:off x="6705600" y="36576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07" name="Line 23"/>
          <p:cNvSpPr>
            <a:spLocks noChangeShapeType="1"/>
          </p:cNvSpPr>
          <p:nvPr/>
        </p:nvSpPr>
        <p:spPr bwMode="auto">
          <a:xfrm>
            <a:off x="5486400" y="556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08" name="Oval 24"/>
          <p:cNvSpPr>
            <a:spLocks noChangeArrowheads="1"/>
          </p:cNvSpPr>
          <p:nvPr/>
        </p:nvSpPr>
        <p:spPr bwMode="auto">
          <a:xfrm>
            <a:off x="4876800" y="5105400"/>
            <a:ext cx="609600" cy="914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2009" name="Rectangle 25"/>
          <p:cNvSpPr>
            <a:spLocks noChangeArrowheads="1"/>
          </p:cNvSpPr>
          <p:nvPr/>
        </p:nvSpPr>
        <p:spPr bwMode="auto">
          <a:xfrm>
            <a:off x="4953000" y="5334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1200" b="1">
                <a:solidFill>
                  <a:srgbClr val="000000"/>
                </a:solidFill>
              </a:rPr>
              <a:t>Sign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1200" b="1">
                <a:solidFill>
                  <a:srgbClr val="000000"/>
                </a:solidFill>
              </a:rPr>
              <a:t>Extend</a:t>
            </a:r>
          </a:p>
        </p:txBody>
      </p:sp>
      <p:sp>
        <p:nvSpPr>
          <p:cNvPr id="682010" name="Line 26"/>
          <p:cNvSpPr>
            <a:spLocks noChangeShapeType="1"/>
          </p:cNvSpPr>
          <p:nvPr/>
        </p:nvSpPr>
        <p:spPr bwMode="auto">
          <a:xfrm>
            <a:off x="4343400" y="55626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11" name="Line 27"/>
          <p:cNvSpPr>
            <a:spLocks noChangeShapeType="1"/>
          </p:cNvSpPr>
          <p:nvPr/>
        </p:nvSpPr>
        <p:spPr bwMode="auto">
          <a:xfrm>
            <a:off x="4495800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12" name="Line 28"/>
          <p:cNvSpPr>
            <a:spLocks noChangeShapeType="1"/>
          </p:cNvSpPr>
          <p:nvPr/>
        </p:nvSpPr>
        <p:spPr bwMode="auto">
          <a:xfrm>
            <a:off x="5562600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13" name="Text Box 29"/>
          <p:cNvSpPr txBox="1">
            <a:spLocks noChangeArrowheads="1"/>
          </p:cNvSpPr>
          <p:nvPr/>
        </p:nvSpPr>
        <p:spPr bwMode="auto">
          <a:xfrm>
            <a:off x="4495800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682014" name="Text Box 30"/>
          <p:cNvSpPr txBox="1">
            <a:spLocks noChangeArrowheads="1"/>
          </p:cNvSpPr>
          <p:nvPr/>
        </p:nvSpPr>
        <p:spPr bwMode="auto">
          <a:xfrm>
            <a:off x="5562600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682015" name="Oval 31"/>
          <p:cNvSpPr>
            <a:spLocks noChangeArrowheads="1"/>
          </p:cNvSpPr>
          <p:nvPr/>
        </p:nvSpPr>
        <p:spPr bwMode="auto">
          <a:xfrm>
            <a:off x="6096000" y="2057400"/>
            <a:ext cx="4572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2016" name="Rectangle 32"/>
          <p:cNvSpPr>
            <a:spLocks noChangeArrowheads="1"/>
          </p:cNvSpPr>
          <p:nvPr/>
        </p:nvSpPr>
        <p:spPr bwMode="auto">
          <a:xfrm>
            <a:off x="6096000" y="2133600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1200" b="1">
                <a:solidFill>
                  <a:srgbClr val="000000"/>
                </a:solidFill>
              </a:rPr>
              <a:t>Shift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1200" b="1">
                <a:solidFill>
                  <a:srgbClr val="000000"/>
                </a:solidFill>
              </a:rPr>
              <a:t>left 2</a:t>
            </a:r>
          </a:p>
        </p:txBody>
      </p:sp>
      <p:sp>
        <p:nvSpPr>
          <p:cNvPr id="682017" name="Line 33"/>
          <p:cNvSpPr>
            <a:spLocks noChangeShapeType="1"/>
          </p:cNvSpPr>
          <p:nvPr/>
        </p:nvSpPr>
        <p:spPr bwMode="auto">
          <a:xfrm>
            <a:off x="5867400" y="2362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2362200" y="1371600"/>
            <a:ext cx="381000" cy="990600"/>
            <a:chOff x="1392" y="2880"/>
            <a:chExt cx="288" cy="480"/>
          </a:xfrm>
        </p:grpSpPr>
        <p:sp>
          <p:nvSpPr>
            <p:cNvPr id="682019" name="Line 35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20" name="Line 36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21" name="Line 37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22" name="Line 38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23" name="Line 39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24" name="Line 40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25" name="Line 41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2026" name="Line 42"/>
          <p:cNvSpPr>
            <a:spLocks noChangeShapeType="1"/>
          </p:cNvSpPr>
          <p:nvPr/>
        </p:nvSpPr>
        <p:spPr bwMode="auto">
          <a:xfrm>
            <a:off x="1447800" y="1524000"/>
            <a:ext cx="914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27" name="Line 43"/>
          <p:cNvSpPr>
            <a:spLocks noChangeShapeType="1"/>
          </p:cNvSpPr>
          <p:nvPr/>
        </p:nvSpPr>
        <p:spPr bwMode="auto">
          <a:xfrm>
            <a:off x="1981200" y="2209800"/>
            <a:ext cx="3810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28" name="Line 44"/>
          <p:cNvSpPr>
            <a:spLocks noChangeShapeType="1"/>
          </p:cNvSpPr>
          <p:nvPr/>
        </p:nvSpPr>
        <p:spPr bwMode="auto">
          <a:xfrm>
            <a:off x="3048000" y="1219200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29" name="Line 45"/>
          <p:cNvSpPr>
            <a:spLocks noChangeShapeType="1"/>
          </p:cNvSpPr>
          <p:nvPr/>
        </p:nvSpPr>
        <p:spPr bwMode="auto">
          <a:xfrm>
            <a:off x="2743200" y="1828800"/>
            <a:ext cx="403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30" name="Text Box 46"/>
          <p:cNvSpPr txBox="1">
            <a:spLocks noChangeArrowheads="1"/>
          </p:cNvSpPr>
          <p:nvPr/>
        </p:nvSpPr>
        <p:spPr bwMode="auto">
          <a:xfrm>
            <a:off x="2362200" y="17526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bg2"/>
                </a:solidFill>
              </a:rPr>
              <a:t>Add</a:t>
            </a:r>
          </a:p>
        </p:txBody>
      </p:sp>
      <p:sp>
        <p:nvSpPr>
          <p:cNvPr id="682031" name="Line 47"/>
          <p:cNvSpPr>
            <a:spLocks noChangeShapeType="1"/>
          </p:cNvSpPr>
          <p:nvPr/>
        </p:nvSpPr>
        <p:spPr bwMode="auto">
          <a:xfrm>
            <a:off x="838200" y="1219200"/>
            <a:ext cx="22098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32" name="Text Box 48"/>
          <p:cNvSpPr txBox="1">
            <a:spLocks noChangeArrowheads="1"/>
          </p:cNvSpPr>
          <p:nvPr/>
        </p:nvSpPr>
        <p:spPr bwMode="auto">
          <a:xfrm>
            <a:off x="1752600" y="20574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bg2"/>
                </a:solidFill>
              </a:rPr>
              <a:t>4</a:t>
            </a:r>
          </a:p>
        </p:txBody>
      </p: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6781800" y="1600200"/>
            <a:ext cx="381000" cy="990600"/>
            <a:chOff x="1392" y="2880"/>
            <a:chExt cx="288" cy="480"/>
          </a:xfrm>
        </p:grpSpPr>
        <p:sp>
          <p:nvSpPr>
            <p:cNvPr id="682034" name="Line 50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35" name="Line 51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36" name="Line 52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37" name="Line 53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38" name="Line 54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39" name="Line 55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40" name="Line 56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2041" name="Text Box 57"/>
          <p:cNvSpPr txBox="1">
            <a:spLocks noChangeArrowheads="1"/>
          </p:cNvSpPr>
          <p:nvPr/>
        </p:nvSpPr>
        <p:spPr bwMode="auto">
          <a:xfrm>
            <a:off x="6781800" y="19812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Add</a:t>
            </a:r>
          </a:p>
        </p:txBody>
      </p:sp>
      <p:sp>
        <p:nvSpPr>
          <p:cNvPr id="682042" name="Line 58"/>
          <p:cNvSpPr>
            <a:spLocks noChangeShapeType="1"/>
          </p:cNvSpPr>
          <p:nvPr/>
        </p:nvSpPr>
        <p:spPr bwMode="auto">
          <a:xfrm>
            <a:off x="6553200" y="2362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43" name="Rectangle 59"/>
          <p:cNvSpPr>
            <a:spLocks noChangeArrowheads="1"/>
          </p:cNvSpPr>
          <p:nvPr/>
        </p:nvSpPr>
        <p:spPr bwMode="auto">
          <a:xfrm>
            <a:off x="1143000" y="2895600"/>
            <a:ext cx="228600" cy="8382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2044" name="Text Box 60"/>
          <p:cNvSpPr txBox="1">
            <a:spLocks noChangeArrowheads="1"/>
          </p:cNvSpPr>
          <p:nvPr/>
        </p:nvSpPr>
        <p:spPr bwMode="auto">
          <a:xfrm>
            <a:off x="1066800" y="3124200"/>
            <a:ext cx="395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bg2"/>
                </a:solidFill>
              </a:rPr>
              <a:t>PC</a:t>
            </a:r>
          </a:p>
        </p:txBody>
      </p:sp>
      <p:sp>
        <p:nvSpPr>
          <p:cNvPr id="682045" name="Line 61"/>
          <p:cNvSpPr>
            <a:spLocks noChangeShapeType="1"/>
          </p:cNvSpPr>
          <p:nvPr/>
        </p:nvSpPr>
        <p:spPr bwMode="auto">
          <a:xfrm>
            <a:off x="838200" y="1219200"/>
            <a:ext cx="0" cy="2057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46" name="Line 62"/>
          <p:cNvSpPr>
            <a:spLocks noChangeShapeType="1"/>
          </p:cNvSpPr>
          <p:nvPr/>
        </p:nvSpPr>
        <p:spPr bwMode="auto">
          <a:xfrm>
            <a:off x="838200" y="3276600"/>
            <a:ext cx="3048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47" name="Line 63"/>
          <p:cNvSpPr>
            <a:spLocks noChangeShapeType="1"/>
          </p:cNvSpPr>
          <p:nvPr/>
        </p:nvSpPr>
        <p:spPr bwMode="auto">
          <a:xfrm>
            <a:off x="1447800" y="1524000"/>
            <a:ext cx="0" cy="1752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48" name="Line 64"/>
          <p:cNvSpPr>
            <a:spLocks noChangeShapeType="1"/>
          </p:cNvSpPr>
          <p:nvPr/>
        </p:nvSpPr>
        <p:spPr bwMode="auto">
          <a:xfrm>
            <a:off x="1371600" y="3276600"/>
            <a:ext cx="762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49" name="Line 65"/>
          <p:cNvSpPr>
            <a:spLocks noChangeShapeType="1"/>
          </p:cNvSpPr>
          <p:nvPr/>
        </p:nvSpPr>
        <p:spPr bwMode="auto">
          <a:xfrm>
            <a:off x="7162800" y="20574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50" name="Text Box 66"/>
          <p:cNvSpPr txBox="1">
            <a:spLocks noChangeArrowheads="1"/>
          </p:cNvSpPr>
          <p:nvPr/>
        </p:nvSpPr>
        <p:spPr bwMode="auto">
          <a:xfrm>
            <a:off x="7543800" y="1730375"/>
            <a:ext cx="814388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tx1"/>
                </a:solidFill>
              </a:rPr>
              <a:t>Branch</a:t>
            </a:r>
          </a:p>
          <a:p>
            <a:r>
              <a:rPr lang="en-US" sz="1400">
                <a:solidFill>
                  <a:schemeClr val="tx1"/>
                </a:solidFill>
              </a:rPr>
              <a:t>target</a:t>
            </a:r>
          </a:p>
          <a:p>
            <a:r>
              <a:rPr lang="en-US" sz="1400">
                <a:solidFill>
                  <a:schemeClr val="tx1"/>
                </a:solidFill>
              </a:rPr>
              <a:t>address</a:t>
            </a:r>
          </a:p>
        </p:txBody>
      </p:sp>
      <p:sp>
        <p:nvSpPr>
          <p:cNvPr id="682051" name="Text Box 67"/>
          <p:cNvSpPr txBox="1">
            <a:spLocks noChangeArrowheads="1"/>
          </p:cNvSpPr>
          <p:nvPr/>
        </p:nvSpPr>
        <p:spPr bwMode="auto">
          <a:xfrm>
            <a:off x="7010400" y="3429000"/>
            <a:ext cx="1371600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(to branch control logic)</a:t>
            </a:r>
          </a:p>
        </p:txBody>
      </p:sp>
      <p:sp>
        <p:nvSpPr>
          <p:cNvPr id="682052" name="Line 68"/>
          <p:cNvSpPr>
            <a:spLocks noChangeShapeType="1"/>
          </p:cNvSpPr>
          <p:nvPr/>
        </p:nvSpPr>
        <p:spPr bwMode="auto">
          <a:xfrm>
            <a:off x="6019800" y="4648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53" name="Line 69"/>
          <p:cNvSpPr>
            <a:spLocks noChangeShapeType="1"/>
          </p:cNvSpPr>
          <p:nvPr/>
        </p:nvSpPr>
        <p:spPr bwMode="auto">
          <a:xfrm>
            <a:off x="5715000" y="46482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2054" name="Line 70"/>
          <p:cNvSpPr>
            <a:spLocks noChangeShapeType="1"/>
          </p:cNvSpPr>
          <p:nvPr/>
        </p:nvSpPr>
        <p:spPr bwMode="auto">
          <a:xfrm>
            <a:off x="5715000" y="38862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" name="Group 71"/>
          <p:cNvGrpSpPr>
            <a:grpSpLocks/>
          </p:cNvGrpSpPr>
          <p:nvPr/>
        </p:nvGrpSpPr>
        <p:grpSpPr bwMode="auto">
          <a:xfrm>
            <a:off x="3733800" y="2362200"/>
            <a:ext cx="2133600" cy="3200400"/>
            <a:chOff x="2352" y="1488"/>
            <a:chExt cx="1344" cy="2016"/>
          </a:xfrm>
        </p:grpSpPr>
        <p:sp>
          <p:nvSpPr>
            <p:cNvPr id="682056" name="Line 72"/>
            <p:cNvSpPr>
              <a:spLocks noChangeShapeType="1"/>
            </p:cNvSpPr>
            <p:nvPr/>
          </p:nvSpPr>
          <p:spPr bwMode="auto">
            <a:xfrm>
              <a:off x="2352" y="2688"/>
              <a:ext cx="0" cy="81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57" name="Line 73"/>
            <p:cNvSpPr>
              <a:spLocks noChangeShapeType="1"/>
            </p:cNvSpPr>
            <p:nvPr/>
          </p:nvSpPr>
          <p:spPr bwMode="auto">
            <a:xfrm>
              <a:off x="2352" y="3504"/>
              <a:ext cx="43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58" name="Line 74"/>
            <p:cNvSpPr>
              <a:spLocks noChangeShapeType="1"/>
            </p:cNvSpPr>
            <p:nvPr/>
          </p:nvSpPr>
          <p:spPr bwMode="auto">
            <a:xfrm>
              <a:off x="3696" y="1488"/>
              <a:ext cx="0" cy="201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75"/>
          <p:cNvGrpSpPr>
            <a:grpSpLocks/>
          </p:cNvGrpSpPr>
          <p:nvPr/>
        </p:nvGrpSpPr>
        <p:grpSpPr bwMode="auto">
          <a:xfrm>
            <a:off x="5791200" y="3886200"/>
            <a:ext cx="228600" cy="762000"/>
            <a:chOff x="3648" y="2448"/>
            <a:chExt cx="144" cy="480"/>
          </a:xfrm>
        </p:grpSpPr>
        <p:sp>
          <p:nvSpPr>
            <p:cNvPr id="682060" name="Line 76"/>
            <p:cNvSpPr>
              <a:spLocks noChangeShapeType="1"/>
            </p:cNvSpPr>
            <p:nvPr/>
          </p:nvSpPr>
          <p:spPr bwMode="auto">
            <a:xfrm>
              <a:off x="3648" y="2448"/>
              <a:ext cx="14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2061" name="Line 77"/>
            <p:cNvSpPr>
              <a:spLocks noChangeShapeType="1"/>
            </p:cNvSpPr>
            <p:nvPr/>
          </p:nvSpPr>
          <p:spPr bwMode="auto">
            <a:xfrm>
              <a:off x="3648" y="2928"/>
              <a:ext cx="14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77789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Jump Operations</a:t>
            </a:r>
          </a:p>
        </p:txBody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848600" cy="2352675"/>
          </a:xfrm>
        </p:spPr>
        <p:txBody>
          <a:bodyPr/>
          <a:lstStyle/>
          <a:p>
            <a:r>
              <a:rPr lang="en-US"/>
              <a:t>Jump operations have to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replace the lower 28 bits of the PC with the lower 26 bits of the fetched instruction shifted left by 2 bits</a:t>
            </a: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2614613" y="3505200"/>
            <a:ext cx="4852987" cy="2743200"/>
            <a:chOff x="1392" y="2160"/>
            <a:chExt cx="3057" cy="1728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352" y="2256"/>
              <a:ext cx="240" cy="624"/>
              <a:chOff x="1392" y="2880"/>
              <a:chExt cx="288" cy="480"/>
            </a:xfrm>
          </p:grpSpPr>
          <p:sp>
            <p:nvSpPr>
              <p:cNvPr id="684037" name="Line 5"/>
              <p:cNvSpPr>
                <a:spLocks noChangeShapeType="1"/>
              </p:cNvSpPr>
              <p:nvPr/>
            </p:nvSpPr>
            <p:spPr bwMode="auto">
              <a:xfrm>
                <a:off x="1392" y="3072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038" name="Line 6"/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039" name="Line 7"/>
              <p:cNvSpPr>
                <a:spLocks noChangeShapeType="1"/>
              </p:cNvSpPr>
              <p:nvPr/>
            </p:nvSpPr>
            <p:spPr bwMode="auto">
              <a:xfrm flipV="1">
                <a:off x="1392" y="2880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040" name="Line 8"/>
              <p:cNvSpPr>
                <a:spLocks noChangeShapeType="1"/>
              </p:cNvSpPr>
              <p:nvPr/>
            </p:nvSpPr>
            <p:spPr bwMode="auto">
              <a:xfrm flipV="1">
                <a:off x="1392" y="316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041" name="Line 9"/>
              <p:cNvSpPr>
                <a:spLocks noChangeShapeType="1"/>
              </p:cNvSpPr>
              <p:nvPr/>
            </p:nvSpPr>
            <p:spPr bwMode="auto">
              <a:xfrm flipV="1">
                <a:off x="1392" y="3216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042" name="Line 1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043" name="Line 11"/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84044" name="Rectangle 12"/>
            <p:cNvSpPr>
              <a:spLocks noChangeArrowheads="1"/>
            </p:cNvSpPr>
            <p:nvPr/>
          </p:nvSpPr>
          <p:spPr bwMode="auto">
            <a:xfrm>
              <a:off x="1920" y="2976"/>
              <a:ext cx="912" cy="91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4045" name="Rectangle 13"/>
            <p:cNvSpPr>
              <a:spLocks noChangeArrowheads="1"/>
            </p:cNvSpPr>
            <p:nvPr/>
          </p:nvSpPr>
          <p:spPr bwMode="auto">
            <a:xfrm>
              <a:off x="1584" y="3216"/>
              <a:ext cx="144" cy="5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4046" name="Line 14"/>
            <p:cNvSpPr>
              <a:spLocks noChangeShapeType="1"/>
            </p:cNvSpPr>
            <p:nvPr/>
          </p:nvSpPr>
          <p:spPr bwMode="auto">
            <a:xfrm>
              <a:off x="2832" y="345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47" name="Line 15"/>
            <p:cNvSpPr>
              <a:spLocks noChangeShapeType="1"/>
            </p:cNvSpPr>
            <p:nvPr/>
          </p:nvSpPr>
          <p:spPr bwMode="auto">
            <a:xfrm>
              <a:off x="1728" y="3456"/>
              <a:ext cx="192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48" name="Line 16"/>
            <p:cNvSpPr>
              <a:spLocks noChangeShapeType="1"/>
            </p:cNvSpPr>
            <p:nvPr/>
          </p:nvSpPr>
          <p:spPr bwMode="auto">
            <a:xfrm>
              <a:off x="1776" y="2352"/>
              <a:ext cx="576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49" name="Line 17"/>
            <p:cNvSpPr>
              <a:spLocks noChangeShapeType="1"/>
            </p:cNvSpPr>
            <p:nvPr/>
          </p:nvSpPr>
          <p:spPr bwMode="auto">
            <a:xfrm>
              <a:off x="2112" y="2784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50" name="Line 18"/>
            <p:cNvSpPr>
              <a:spLocks noChangeShapeType="1"/>
            </p:cNvSpPr>
            <p:nvPr/>
          </p:nvSpPr>
          <p:spPr bwMode="auto">
            <a:xfrm>
              <a:off x="2784" y="2160"/>
              <a:ext cx="0" cy="384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51" name="Line 19"/>
            <p:cNvSpPr>
              <a:spLocks noChangeShapeType="1"/>
            </p:cNvSpPr>
            <p:nvPr/>
          </p:nvSpPr>
          <p:spPr bwMode="auto">
            <a:xfrm>
              <a:off x="2592" y="2544"/>
              <a:ext cx="192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52" name="Text Box 20"/>
            <p:cNvSpPr txBox="1">
              <a:spLocks noChangeArrowheads="1"/>
            </p:cNvSpPr>
            <p:nvPr/>
          </p:nvSpPr>
          <p:spPr bwMode="auto">
            <a:xfrm>
              <a:off x="1872" y="3312"/>
              <a:ext cx="467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bg2"/>
                  </a:solidFill>
                </a:rPr>
                <a:t>Read</a:t>
              </a:r>
            </a:p>
            <a:p>
              <a:r>
                <a:rPr lang="en-US" sz="1200">
                  <a:solidFill>
                    <a:schemeClr val="bg2"/>
                  </a:solidFill>
                </a:rPr>
                <a:t>Address</a:t>
              </a:r>
            </a:p>
          </p:txBody>
        </p:sp>
        <p:sp>
          <p:nvSpPr>
            <p:cNvPr id="684053" name="Text Box 21"/>
            <p:cNvSpPr txBox="1">
              <a:spLocks noChangeArrowheads="1"/>
            </p:cNvSpPr>
            <p:nvPr/>
          </p:nvSpPr>
          <p:spPr bwMode="auto">
            <a:xfrm>
              <a:off x="2352" y="3360"/>
              <a:ext cx="55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bg2"/>
                  </a:solidFill>
                </a:rPr>
                <a:t>Instruction</a:t>
              </a:r>
            </a:p>
          </p:txBody>
        </p:sp>
        <p:sp>
          <p:nvSpPr>
            <p:cNvPr id="684054" name="Text Box 22"/>
            <p:cNvSpPr txBox="1">
              <a:spLocks noChangeArrowheads="1"/>
            </p:cNvSpPr>
            <p:nvPr/>
          </p:nvSpPr>
          <p:spPr bwMode="auto">
            <a:xfrm>
              <a:off x="2064" y="3024"/>
              <a:ext cx="61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bg2"/>
                  </a:solidFill>
                </a:rPr>
                <a:t>Instruction</a:t>
              </a:r>
            </a:p>
            <a:p>
              <a:pPr algn="ctr"/>
              <a:r>
                <a:rPr lang="en-US" sz="1200" b="1">
                  <a:solidFill>
                    <a:schemeClr val="bg2"/>
                  </a:solidFill>
                </a:rPr>
                <a:t>Memory</a:t>
              </a:r>
            </a:p>
          </p:txBody>
        </p:sp>
        <p:sp>
          <p:nvSpPr>
            <p:cNvPr id="684055" name="Text Box 23"/>
            <p:cNvSpPr txBox="1">
              <a:spLocks noChangeArrowheads="1"/>
            </p:cNvSpPr>
            <p:nvPr/>
          </p:nvSpPr>
          <p:spPr bwMode="auto">
            <a:xfrm>
              <a:off x="2352" y="2496"/>
              <a:ext cx="30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bg2"/>
                  </a:solidFill>
                </a:rPr>
                <a:t>Add</a:t>
              </a:r>
            </a:p>
          </p:txBody>
        </p:sp>
        <p:sp>
          <p:nvSpPr>
            <p:cNvPr id="684056" name="Text Box 24"/>
            <p:cNvSpPr txBox="1">
              <a:spLocks noChangeArrowheads="1"/>
            </p:cNvSpPr>
            <p:nvPr/>
          </p:nvSpPr>
          <p:spPr bwMode="auto">
            <a:xfrm>
              <a:off x="1536" y="3360"/>
              <a:ext cx="24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PC</a:t>
              </a:r>
            </a:p>
          </p:txBody>
        </p:sp>
        <p:sp>
          <p:nvSpPr>
            <p:cNvPr id="684057" name="Line 25"/>
            <p:cNvSpPr>
              <a:spLocks noChangeShapeType="1"/>
            </p:cNvSpPr>
            <p:nvPr/>
          </p:nvSpPr>
          <p:spPr bwMode="auto">
            <a:xfrm>
              <a:off x="1392" y="2160"/>
              <a:ext cx="1392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58" name="Line 26"/>
            <p:cNvSpPr>
              <a:spLocks noChangeShapeType="1"/>
            </p:cNvSpPr>
            <p:nvPr/>
          </p:nvSpPr>
          <p:spPr bwMode="auto">
            <a:xfrm>
              <a:off x="1392" y="2160"/>
              <a:ext cx="0" cy="12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59" name="Line 27"/>
            <p:cNvSpPr>
              <a:spLocks noChangeShapeType="1"/>
            </p:cNvSpPr>
            <p:nvPr/>
          </p:nvSpPr>
          <p:spPr bwMode="auto">
            <a:xfrm>
              <a:off x="1392" y="3456"/>
              <a:ext cx="192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60" name="Line 28"/>
            <p:cNvSpPr>
              <a:spLocks noChangeShapeType="1"/>
            </p:cNvSpPr>
            <p:nvPr/>
          </p:nvSpPr>
          <p:spPr bwMode="auto">
            <a:xfrm>
              <a:off x="1776" y="2352"/>
              <a:ext cx="0" cy="1104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61" name="Text Box 29"/>
            <p:cNvSpPr txBox="1">
              <a:spLocks noChangeArrowheads="1"/>
            </p:cNvSpPr>
            <p:nvPr/>
          </p:nvSpPr>
          <p:spPr bwMode="auto">
            <a:xfrm>
              <a:off x="1968" y="2688"/>
              <a:ext cx="1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bg2"/>
                  </a:solidFill>
                </a:rPr>
                <a:t>4</a:t>
              </a:r>
            </a:p>
          </p:txBody>
        </p:sp>
        <p:sp>
          <p:nvSpPr>
            <p:cNvPr id="684062" name="Oval 30"/>
            <p:cNvSpPr>
              <a:spLocks noChangeArrowheads="1"/>
            </p:cNvSpPr>
            <p:nvPr/>
          </p:nvSpPr>
          <p:spPr bwMode="auto">
            <a:xfrm>
              <a:off x="3168" y="3024"/>
              <a:ext cx="288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4063" name="Rectangle 31"/>
            <p:cNvSpPr>
              <a:spLocks noChangeArrowheads="1"/>
            </p:cNvSpPr>
            <p:nvPr/>
          </p:nvSpPr>
          <p:spPr bwMode="auto">
            <a:xfrm>
              <a:off x="3168" y="3072"/>
              <a:ext cx="288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algn="ctr"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Shift</a:t>
              </a:r>
            </a:p>
            <a:p>
              <a:pPr algn="ctr"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left 2</a:t>
              </a:r>
            </a:p>
          </p:txBody>
        </p:sp>
        <p:sp>
          <p:nvSpPr>
            <p:cNvPr id="684064" name="Line 32"/>
            <p:cNvSpPr>
              <a:spLocks noChangeShapeType="1"/>
            </p:cNvSpPr>
            <p:nvPr/>
          </p:nvSpPr>
          <p:spPr bwMode="auto">
            <a:xfrm>
              <a:off x="3024" y="321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65" name="Line 33"/>
            <p:cNvSpPr>
              <a:spLocks noChangeShapeType="1"/>
            </p:cNvSpPr>
            <p:nvPr/>
          </p:nvSpPr>
          <p:spPr bwMode="auto">
            <a:xfrm flipV="1">
              <a:off x="3024" y="321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66" name="Line 34"/>
            <p:cNvSpPr>
              <a:spLocks noChangeShapeType="1"/>
            </p:cNvSpPr>
            <p:nvPr/>
          </p:nvSpPr>
          <p:spPr bwMode="auto">
            <a:xfrm>
              <a:off x="3456" y="3216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67" name="Text Box 35"/>
            <p:cNvSpPr txBox="1">
              <a:spLocks noChangeArrowheads="1"/>
            </p:cNvSpPr>
            <p:nvPr/>
          </p:nvSpPr>
          <p:spPr bwMode="auto">
            <a:xfrm>
              <a:off x="3936" y="2928"/>
              <a:ext cx="513" cy="32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tx1"/>
                  </a:solidFill>
                </a:rPr>
                <a:t>Jump</a:t>
              </a:r>
            </a:p>
            <a:p>
              <a:r>
                <a:rPr lang="en-US" sz="1400">
                  <a:solidFill>
                    <a:schemeClr val="tx1"/>
                  </a:solidFill>
                </a:rPr>
                <a:t>address</a:t>
              </a:r>
            </a:p>
          </p:txBody>
        </p:sp>
        <p:sp>
          <p:nvSpPr>
            <p:cNvPr id="684068" name="Line 36"/>
            <p:cNvSpPr>
              <a:spLocks noChangeShapeType="1"/>
            </p:cNvSpPr>
            <p:nvPr/>
          </p:nvSpPr>
          <p:spPr bwMode="auto">
            <a:xfrm>
              <a:off x="2784" y="2928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69" name="Line 37"/>
            <p:cNvSpPr>
              <a:spLocks noChangeShapeType="1"/>
            </p:cNvSpPr>
            <p:nvPr/>
          </p:nvSpPr>
          <p:spPr bwMode="auto">
            <a:xfrm>
              <a:off x="3456" y="2880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70" name="Line 38"/>
            <p:cNvSpPr>
              <a:spLocks noChangeShapeType="1"/>
            </p:cNvSpPr>
            <p:nvPr/>
          </p:nvSpPr>
          <p:spPr bwMode="auto">
            <a:xfrm>
              <a:off x="2928" y="3408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71" name="Text Box 39"/>
            <p:cNvSpPr txBox="1">
              <a:spLocks noChangeArrowheads="1"/>
            </p:cNvSpPr>
            <p:nvPr/>
          </p:nvSpPr>
          <p:spPr bwMode="auto">
            <a:xfrm>
              <a:off x="2928" y="3456"/>
              <a:ext cx="2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26</a:t>
              </a:r>
            </a:p>
          </p:txBody>
        </p:sp>
        <p:sp>
          <p:nvSpPr>
            <p:cNvPr id="684072" name="Text Box 40"/>
            <p:cNvSpPr txBox="1">
              <a:spLocks noChangeArrowheads="1"/>
            </p:cNvSpPr>
            <p:nvPr/>
          </p:nvSpPr>
          <p:spPr bwMode="auto">
            <a:xfrm>
              <a:off x="3456" y="2784"/>
              <a:ext cx="1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84073" name="Line 41"/>
            <p:cNvSpPr>
              <a:spLocks noChangeShapeType="1"/>
            </p:cNvSpPr>
            <p:nvPr/>
          </p:nvSpPr>
          <p:spPr bwMode="auto">
            <a:xfrm>
              <a:off x="3504" y="3168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4074" name="Text Box 42"/>
            <p:cNvSpPr txBox="1">
              <a:spLocks noChangeArrowheads="1"/>
            </p:cNvSpPr>
            <p:nvPr/>
          </p:nvSpPr>
          <p:spPr bwMode="auto">
            <a:xfrm>
              <a:off x="3504" y="3216"/>
              <a:ext cx="2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28</a:t>
              </a:r>
            </a:p>
          </p:txBody>
        </p:sp>
        <p:sp>
          <p:nvSpPr>
            <p:cNvPr id="684075" name="AutoShape 43"/>
            <p:cNvSpPr>
              <a:spLocks/>
            </p:cNvSpPr>
            <p:nvPr/>
          </p:nvSpPr>
          <p:spPr bwMode="auto">
            <a:xfrm>
              <a:off x="3792" y="2832"/>
              <a:ext cx="96" cy="576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4076" name="Line 44"/>
            <p:cNvSpPr>
              <a:spLocks noChangeShapeType="1"/>
            </p:cNvSpPr>
            <p:nvPr/>
          </p:nvSpPr>
          <p:spPr bwMode="auto">
            <a:xfrm>
              <a:off x="2784" y="2544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4077" name="Line 45"/>
          <p:cNvSpPr>
            <a:spLocks noChangeShapeType="1"/>
          </p:cNvSpPr>
          <p:nvPr/>
        </p:nvSpPr>
        <p:spPr bwMode="auto">
          <a:xfrm>
            <a:off x="41148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78" name="Line 46"/>
          <p:cNvSpPr>
            <a:spLocks noChangeShapeType="1"/>
          </p:cNvSpPr>
          <p:nvPr/>
        </p:nvSpPr>
        <p:spPr bwMode="auto">
          <a:xfrm>
            <a:off x="38100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79" name="Line 47"/>
          <p:cNvSpPr>
            <a:spLocks noChangeShapeType="1"/>
          </p:cNvSpPr>
          <p:nvPr/>
        </p:nvSpPr>
        <p:spPr bwMode="auto">
          <a:xfrm>
            <a:off x="47244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80" name="Line 48"/>
          <p:cNvSpPr>
            <a:spLocks noChangeShapeType="1"/>
          </p:cNvSpPr>
          <p:nvPr/>
        </p:nvSpPr>
        <p:spPr bwMode="auto">
          <a:xfrm>
            <a:off x="48768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81" name="Line 49"/>
          <p:cNvSpPr>
            <a:spLocks noChangeShapeType="1"/>
          </p:cNvSpPr>
          <p:nvPr/>
        </p:nvSpPr>
        <p:spPr bwMode="auto">
          <a:xfrm>
            <a:off x="62484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82" name="Line 50"/>
          <p:cNvSpPr>
            <a:spLocks noChangeShapeType="1"/>
          </p:cNvSpPr>
          <p:nvPr/>
        </p:nvSpPr>
        <p:spPr bwMode="auto">
          <a:xfrm>
            <a:off x="39624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83" name="Line 51"/>
          <p:cNvSpPr>
            <a:spLocks noChangeShapeType="1"/>
          </p:cNvSpPr>
          <p:nvPr/>
        </p:nvSpPr>
        <p:spPr bwMode="auto">
          <a:xfrm>
            <a:off x="64008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84" name="Line 52"/>
          <p:cNvSpPr>
            <a:spLocks noChangeShapeType="1"/>
          </p:cNvSpPr>
          <p:nvPr/>
        </p:nvSpPr>
        <p:spPr bwMode="auto">
          <a:xfrm>
            <a:off x="65532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85" name="Line 53"/>
          <p:cNvSpPr>
            <a:spLocks noChangeShapeType="1"/>
          </p:cNvSpPr>
          <p:nvPr/>
        </p:nvSpPr>
        <p:spPr bwMode="auto">
          <a:xfrm>
            <a:off x="70104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86" name="Line 54"/>
          <p:cNvSpPr>
            <a:spLocks noChangeShapeType="1"/>
          </p:cNvSpPr>
          <p:nvPr/>
        </p:nvSpPr>
        <p:spPr bwMode="auto">
          <a:xfrm>
            <a:off x="68580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87" name="Line 55"/>
          <p:cNvSpPr>
            <a:spLocks noChangeShapeType="1"/>
          </p:cNvSpPr>
          <p:nvPr/>
        </p:nvSpPr>
        <p:spPr bwMode="auto">
          <a:xfrm>
            <a:off x="71628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88" name="Line 56"/>
          <p:cNvSpPr>
            <a:spLocks noChangeShapeType="1"/>
          </p:cNvSpPr>
          <p:nvPr/>
        </p:nvSpPr>
        <p:spPr bwMode="auto">
          <a:xfrm>
            <a:off x="73152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89" name="Rectangle 57"/>
          <p:cNvSpPr>
            <a:spLocks noChangeArrowheads="1"/>
          </p:cNvSpPr>
          <p:nvPr/>
        </p:nvSpPr>
        <p:spPr bwMode="auto">
          <a:xfrm>
            <a:off x="3505200" y="1676400"/>
            <a:ext cx="3970338" cy="431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90" name="Line 58"/>
          <p:cNvSpPr>
            <a:spLocks noChangeShapeType="1"/>
          </p:cNvSpPr>
          <p:nvPr/>
        </p:nvSpPr>
        <p:spPr bwMode="auto">
          <a:xfrm>
            <a:off x="36576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91" name="Line 59"/>
          <p:cNvSpPr>
            <a:spLocks noChangeShapeType="1"/>
          </p:cNvSpPr>
          <p:nvPr/>
        </p:nvSpPr>
        <p:spPr bwMode="auto">
          <a:xfrm>
            <a:off x="50292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92" name="Line 60"/>
          <p:cNvSpPr>
            <a:spLocks noChangeShapeType="1"/>
          </p:cNvSpPr>
          <p:nvPr/>
        </p:nvSpPr>
        <p:spPr bwMode="auto">
          <a:xfrm>
            <a:off x="67056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93" name="Rectangle 61"/>
          <p:cNvSpPr>
            <a:spLocks noChangeArrowheads="1"/>
          </p:cNvSpPr>
          <p:nvPr/>
        </p:nvSpPr>
        <p:spPr bwMode="auto">
          <a:xfrm>
            <a:off x="2624138" y="1676400"/>
            <a:ext cx="889000" cy="431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94" name="Line 62"/>
          <p:cNvSpPr>
            <a:spLocks noChangeShapeType="1"/>
          </p:cNvSpPr>
          <p:nvPr/>
        </p:nvSpPr>
        <p:spPr bwMode="auto">
          <a:xfrm>
            <a:off x="3221038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95" name="Line 63"/>
          <p:cNvSpPr>
            <a:spLocks noChangeShapeType="1"/>
          </p:cNvSpPr>
          <p:nvPr/>
        </p:nvSpPr>
        <p:spPr bwMode="auto">
          <a:xfrm>
            <a:off x="3068638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96" name="Line 64"/>
          <p:cNvSpPr>
            <a:spLocks noChangeShapeType="1"/>
          </p:cNvSpPr>
          <p:nvPr/>
        </p:nvSpPr>
        <p:spPr bwMode="auto">
          <a:xfrm>
            <a:off x="3373438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97" name="Line 65"/>
          <p:cNvSpPr>
            <a:spLocks noChangeShapeType="1"/>
          </p:cNvSpPr>
          <p:nvPr/>
        </p:nvSpPr>
        <p:spPr bwMode="auto">
          <a:xfrm>
            <a:off x="2916238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98" name="Line 66"/>
          <p:cNvSpPr>
            <a:spLocks noChangeShapeType="1"/>
          </p:cNvSpPr>
          <p:nvPr/>
        </p:nvSpPr>
        <p:spPr bwMode="auto">
          <a:xfrm>
            <a:off x="2763838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099" name="Rectangle 67"/>
          <p:cNvSpPr>
            <a:spLocks noChangeArrowheads="1"/>
          </p:cNvSpPr>
          <p:nvPr/>
        </p:nvSpPr>
        <p:spPr bwMode="auto">
          <a:xfrm>
            <a:off x="1676400" y="1711325"/>
            <a:ext cx="9937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just"/>
            <a:r>
              <a:rPr lang="en-US" b="1"/>
              <a:t>J-Type:</a:t>
            </a:r>
            <a:endParaRPr lang="en-US"/>
          </a:p>
        </p:txBody>
      </p:sp>
      <p:sp>
        <p:nvSpPr>
          <p:cNvPr id="684100" name="Rectangle 68"/>
          <p:cNvSpPr>
            <a:spLocks noChangeArrowheads="1"/>
          </p:cNvSpPr>
          <p:nvPr/>
        </p:nvSpPr>
        <p:spPr bwMode="auto">
          <a:xfrm>
            <a:off x="2667000" y="1787525"/>
            <a:ext cx="4603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b="1"/>
              <a:t>op</a:t>
            </a:r>
            <a:endParaRPr lang="en-US"/>
          </a:p>
        </p:txBody>
      </p:sp>
      <p:sp>
        <p:nvSpPr>
          <p:cNvPr id="684101" name="Rectangle 69"/>
          <p:cNvSpPr>
            <a:spLocks noChangeArrowheads="1"/>
          </p:cNvSpPr>
          <p:nvPr/>
        </p:nvSpPr>
        <p:spPr bwMode="auto">
          <a:xfrm>
            <a:off x="2471738" y="1371600"/>
            <a:ext cx="434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31</a:t>
            </a:r>
            <a:endParaRPr lang="en-US"/>
          </a:p>
        </p:txBody>
      </p:sp>
      <p:sp>
        <p:nvSpPr>
          <p:cNvPr id="684102" name="Rectangle 70"/>
          <p:cNvSpPr>
            <a:spLocks noChangeArrowheads="1"/>
          </p:cNvSpPr>
          <p:nvPr/>
        </p:nvSpPr>
        <p:spPr bwMode="auto">
          <a:xfrm>
            <a:off x="3352800" y="1371600"/>
            <a:ext cx="434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25</a:t>
            </a:r>
            <a:endParaRPr lang="en-US"/>
          </a:p>
        </p:txBody>
      </p:sp>
      <p:sp>
        <p:nvSpPr>
          <p:cNvPr id="684103" name="Rectangle 71"/>
          <p:cNvSpPr>
            <a:spLocks noChangeArrowheads="1"/>
          </p:cNvSpPr>
          <p:nvPr/>
        </p:nvSpPr>
        <p:spPr bwMode="auto">
          <a:xfrm>
            <a:off x="7272338" y="137160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0</a:t>
            </a:r>
            <a:endParaRPr lang="en-US"/>
          </a:p>
        </p:txBody>
      </p:sp>
      <p:sp>
        <p:nvSpPr>
          <p:cNvPr id="684104" name="Line 72"/>
          <p:cNvSpPr>
            <a:spLocks noChangeShapeType="1"/>
          </p:cNvSpPr>
          <p:nvPr/>
        </p:nvSpPr>
        <p:spPr bwMode="auto">
          <a:xfrm>
            <a:off x="60960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105" name="Line 73"/>
          <p:cNvSpPr>
            <a:spLocks noChangeShapeType="1"/>
          </p:cNvSpPr>
          <p:nvPr/>
        </p:nvSpPr>
        <p:spPr bwMode="auto">
          <a:xfrm>
            <a:off x="59436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106" name="Line 74"/>
          <p:cNvSpPr>
            <a:spLocks noChangeShapeType="1"/>
          </p:cNvSpPr>
          <p:nvPr/>
        </p:nvSpPr>
        <p:spPr bwMode="auto">
          <a:xfrm>
            <a:off x="57912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107" name="Line 75"/>
          <p:cNvSpPr>
            <a:spLocks noChangeShapeType="1"/>
          </p:cNvSpPr>
          <p:nvPr/>
        </p:nvSpPr>
        <p:spPr bwMode="auto">
          <a:xfrm>
            <a:off x="56388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108" name="Line 76"/>
          <p:cNvSpPr>
            <a:spLocks noChangeShapeType="1"/>
          </p:cNvSpPr>
          <p:nvPr/>
        </p:nvSpPr>
        <p:spPr bwMode="auto">
          <a:xfrm>
            <a:off x="53340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109" name="Line 77"/>
          <p:cNvSpPr>
            <a:spLocks noChangeShapeType="1"/>
          </p:cNvSpPr>
          <p:nvPr/>
        </p:nvSpPr>
        <p:spPr bwMode="auto">
          <a:xfrm>
            <a:off x="54864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110" name="Line 78"/>
          <p:cNvSpPr>
            <a:spLocks noChangeShapeType="1"/>
          </p:cNvSpPr>
          <p:nvPr/>
        </p:nvSpPr>
        <p:spPr bwMode="auto">
          <a:xfrm>
            <a:off x="51816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111" name="Line 79"/>
          <p:cNvSpPr>
            <a:spLocks noChangeShapeType="1"/>
          </p:cNvSpPr>
          <p:nvPr/>
        </p:nvSpPr>
        <p:spPr bwMode="auto">
          <a:xfrm>
            <a:off x="45720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112" name="Line 80"/>
          <p:cNvSpPr>
            <a:spLocks noChangeShapeType="1"/>
          </p:cNvSpPr>
          <p:nvPr/>
        </p:nvSpPr>
        <p:spPr bwMode="auto">
          <a:xfrm>
            <a:off x="44196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113" name="Line 81"/>
          <p:cNvSpPr>
            <a:spLocks noChangeShapeType="1"/>
          </p:cNvSpPr>
          <p:nvPr/>
        </p:nvSpPr>
        <p:spPr bwMode="auto">
          <a:xfrm>
            <a:off x="4267200" y="1676400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4114" name="Rectangle 82"/>
          <p:cNvSpPr>
            <a:spLocks noChangeArrowheads="1"/>
          </p:cNvSpPr>
          <p:nvPr/>
        </p:nvSpPr>
        <p:spPr bwMode="auto">
          <a:xfrm>
            <a:off x="4114800" y="1752600"/>
            <a:ext cx="23653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b="1"/>
              <a:t>jump target address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45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Single Datapath from the Parts</a:t>
            </a:r>
          </a:p>
        </p:txBody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848600" cy="5310188"/>
          </a:xfrm>
        </p:spPr>
        <p:txBody>
          <a:bodyPr/>
          <a:lstStyle/>
          <a:p>
            <a:r>
              <a:rPr lang="en-US" dirty="0"/>
              <a:t>Assemble the </a:t>
            </a:r>
            <a:r>
              <a:rPr lang="en-US" dirty="0" err="1"/>
              <a:t>datapath</a:t>
            </a:r>
            <a:r>
              <a:rPr lang="en-US" dirty="0"/>
              <a:t> elements, add control lines as needed, and design the control path</a:t>
            </a:r>
          </a:p>
          <a:p>
            <a:r>
              <a:rPr lang="en-US" dirty="0"/>
              <a:t>Fetch, decode and execute each instructions in one clock cycle – </a:t>
            </a:r>
            <a:r>
              <a:rPr lang="en-US" dirty="0">
                <a:solidFill>
                  <a:schemeClr val="accent1"/>
                </a:solidFill>
              </a:rPr>
              <a:t>single cycle</a:t>
            </a:r>
            <a:r>
              <a:rPr lang="en-US" dirty="0"/>
              <a:t> design</a:t>
            </a:r>
          </a:p>
          <a:p>
            <a:pPr lvl="1"/>
            <a:r>
              <a:rPr lang="en-US" dirty="0"/>
              <a:t>no </a:t>
            </a:r>
            <a:r>
              <a:rPr lang="en-US" dirty="0" err="1"/>
              <a:t>datapath</a:t>
            </a:r>
            <a:r>
              <a:rPr lang="en-US" dirty="0"/>
              <a:t> resource can be used more than once per instruction, so some must be duplicated (e.g., why we have a separate Instruction Memory and Data Memory)</a:t>
            </a:r>
          </a:p>
          <a:p>
            <a:pPr lvl="1"/>
            <a:r>
              <a:rPr lang="en-US" dirty="0"/>
              <a:t>to share </a:t>
            </a:r>
            <a:r>
              <a:rPr lang="en-US" dirty="0" err="1"/>
              <a:t>datapath</a:t>
            </a:r>
            <a:r>
              <a:rPr lang="en-US" dirty="0"/>
              <a:t> elements between two different instruction classes will need </a:t>
            </a:r>
            <a:r>
              <a:rPr lang="en-US" dirty="0">
                <a:solidFill>
                  <a:schemeClr val="accent1"/>
                </a:solidFill>
              </a:rPr>
              <a:t>multiplexors</a:t>
            </a:r>
            <a:r>
              <a:rPr lang="en-US" dirty="0"/>
              <a:t> at the input of the shared elements with control lines to do the selection</a:t>
            </a:r>
          </a:p>
          <a:p>
            <a:pPr lvl="1"/>
            <a:endParaRPr lang="en-US" dirty="0">
              <a:cs typeface="Arial" charset="0"/>
            </a:endParaRPr>
          </a:p>
          <a:p>
            <a:r>
              <a:rPr lang="en-US" dirty="0">
                <a:cs typeface="Arial" charset="0"/>
              </a:rPr>
              <a:t>Cycle time is determined by length of the longest path</a:t>
            </a:r>
          </a:p>
        </p:txBody>
      </p:sp>
    </p:spTree>
    <p:extLst>
      <p:ext uri="{BB962C8B-B14F-4D97-AF65-F5344CB8AC3E}">
        <p14:creationId xmlns:p14="http://schemas.microsoft.com/office/powerpoint/2010/main" val="164887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2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Fetch, R, and Memory Access Portions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184400" y="1524000"/>
            <a:ext cx="381000" cy="990600"/>
            <a:chOff x="1392" y="2880"/>
            <a:chExt cx="288" cy="480"/>
          </a:xfrm>
        </p:grpSpPr>
        <p:sp>
          <p:nvSpPr>
            <p:cNvPr id="693253" name="Line 5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3254" name="Line 6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3255" name="Line 7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3256" name="Line 8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3257" name="Line 9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3258" name="Line 10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3259" name="Line 11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3260" name="Rectangle 12"/>
          <p:cNvSpPr>
            <a:spLocks noChangeArrowheads="1"/>
          </p:cNvSpPr>
          <p:nvPr/>
        </p:nvSpPr>
        <p:spPr bwMode="auto">
          <a:xfrm>
            <a:off x="1498600" y="26670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3261" name="Rectangle 13"/>
          <p:cNvSpPr>
            <a:spLocks noChangeArrowheads="1"/>
          </p:cNvSpPr>
          <p:nvPr/>
        </p:nvSpPr>
        <p:spPr bwMode="auto">
          <a:xfrm>
            <a:off x="965200" y="3048000"/>
            <a:ext cx="2286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3262" name="Line 14"/>
          <p:cNvSpPr>
            <a:spLocks noChangeShapeType="1"/>
          </p:cNvSpPr>
          <p:nvPr/>
        </p:nvSpPr>
        <p:spPr bwMode="auto">
          <a:xfrm>
            <a:off x="1193800" y="3429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63" name="Line 15"/>
          <p:cNvSpPr>
            <a:spLocks noChangeShapeType="1"/>
          </p:cNvSpPr>
          <p:nvPr/>
        </p:nvSpPr>
        <p:spPr bwMode="auto">
          <a:xfrm>
            <a:off x="1270000" y="16764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64" name="Line 16"/>
          <p:cNvSpPr>
            <a:spLocks noChangeShapeType="1"/>
          </p:cNvSpPr>
          <p:nvPr/>
        </p:nvSpPr>
        <p:spPr bwMode="auto">
          <a:xfrm>
            <a:off x="1803400" y="23622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65" name="Line 17"/>
          <p:cNvSpPr>
            <a:spLocks noChangeShapeType="1"/>
          </p:cNvSpPr>
          <p:nvPr/>
        </p:nvSpPr>
        <p:spPr bwMode="auto">
          <a:xfrm>
            <a:off x="2870200" y="137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66" name="Line 18"/>
          <p:cNvSpPr>
            <a:spLocks noChangeShapeType="1"/>
          </p:cNvSpPr>
          <p:nvPr/>
        </p:nvSpPr>
        <p:spPr bwMode="auto">
          <a:xfrm>
            <a:off x="2565400" y="1981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67" name="Text Box 19"/>
          <p:cNvSpPr txBox="1">
            <a:spLocks noChangeArrowheads="1"/>
          </p:cNvSpPr>
          <p:nvPr/>
        </p:nvSpPr>
        <p:spPr bwMode="auto">
          <a:xfrm>
            <a:off x="1422400" y="3200400"/>
            <a:ext cx="7413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Read</a:t>
            </a:r>
          </a:p>
          <a:p>
            <a:r>
              <a:rPr lang="en-US" sz="1200">
                <a:solidFill>
                  <a:schemeClr val="tx1"/>
                </a:solidFill>
              </a:rPr>
              <a:t>Address</a:t>
            </a:r>
          </a:p>
        </p:txBody>
      </p:sp>
      <p:sp>
        <p:nvSpPr>
          <p:cNvPr id="693268" name="Text Box 20"/>
          <p:cNvSpPr txBox="1">
            <a:spLocks noChangeArrowheads="1"/>
          </p:cNvSpPr>
          <p:nvPr/>
        </p:nvSpPr>
        <p:spPr bwMode="auto">
          <a:xfrm>
            <a:off x="2143108" y="3276600"/>
            <a:ext cx="8858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Instruction</a:t>
            </a:r>
          </a:p>
        </p:txBody>
      </p:sp>
      <p:sp>
        <p:nvSpPr>
          <p:cNvPr id="693269" name="Text Box 21"/>
          <p:cNvSpPr txBox="1">
            <a:spLocks noChangeArrowheads="1"/>
          </p:cNvSpPr>
          <p:nvPr/>
        </p:nvSpPr>
        <p:spPr bwMode="auto">
          <a:xfrm>
            <a:off x="1727200" y="2743200"/>
            <a:ext cx="973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Instruction</a:t>
            </a:r>
          </a:p>
          <a:p>
            <a:pPr algn="ctr"/>
            <a:r>
              <a:rPr lang="en-US" sz="1200" b="1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693270" name="Text Box 22"/>
          <p:cNvSpPr txBox="1">
            <a:spLocks noChangeArrowheads="1"/>
          </p:cNvSpPr>
          <p:nvPr/>
        </p:nvSpPr>
        <p:spPr bwMode="auto">
          <a:xfrm>
            <a:off x="2184400" y="19050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Add</a:t>
            </a:r>
          </a:p>
        </p:txBody>
      </p:sp>
      <p:sp>
        <p:nvSpPr>
          <p:cNvPr id="693271" name="Text Box 23"/>
          <p:cNvSpPr txBox="1">
            <a:spLocks noChangeArrowheads="1"/>
          </p:cNvSpPr>
          <p:nvPr/>
        </p:nvSpPr>
        <p:spPr bwMode="auto">
          <a:xfrm>
            <a:off x="889000" y="3276600"/>
            <a:ext cx="395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693272" name="Line 24"/>
          <p:cNvSpPr>
            <a:spLocks noChangeShapeType="1"/>
          </p:cNvSpPr>
          <p:nvPr/>
        </p:nvSpPr>
        <p:spPr bwMode="auto">
          <a:xfrm>
            <a:off x="660400" y="1371600"/>
            <a:ext cx="2209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73" name="Line 25"/>
          <p:cNvSpPr>
            <a:spLocks noChangeShapeType="1"/>
          </p:cNvSpPr>
          <p:nvPr/>
        </p:nvSpPr>
        <p:spPr bwMode="auto">
          <a:xfrm>
            <a:off x="660400" y="1371600"/>
            <a:ext cx="0" cy="2057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74" name="Line 26"/>
          <p:cNvSpPr>
            <a:spLocks noChangeShapeType="1"/>
          </p:cNvSpPr>
          <p:nvPr/>
        </p:nvSpPr>
        <p:spPr bwMode="auto">
          <a:xfrm>
            <a:off x="660400" y="3429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75" name="Line 27"/>
          <p:cNvSpPr>
            <a:spLocks noChangeShapeType="1"/>
          </p:cNvSpPr>
          <p:nvPr/>
        </p:nvSpPr>
        <p:spPr bwMode="auto">
          <a:xfrm>
            <a:off x="1270000" y="1676400"/>
            <a:ext cx="0" cy="1752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76" name="Text Box 28"/>
          <p:cNvSpPr txBox="1">
            <a:spLocks noChangeArrowheads="1"/>
          </p:cNvSpPr>
          <p:nvPr/>
        </p:nvSpPr>
        <p:spPr bwMode="auto">
          <a:xfrm>
            <a:off x="1574800" y="22098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93277" name="Rectangle 29"/>
          <p:cNvSpPr>
            <a:spLocks noChangeArrowheads="1"/>
          </p:cNvSpPr>
          <p:nvPr/>
        </p:nvSpPr>
        <p:spPr bwMode="auto">
          <a:xfrm>
            <a:off x="3556000" y="26670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3278" name="Line 30"/>
          <p:cNvSpPr>
            <a:spLocks noChangeShapeType="1"/>
          </p:cNvSpPr>
          <p:nvPr/>
        </p:nvSpPr>
        <p:spPr bwMode="auto">
          <a:xfrm>
            <a:off x="2946400" y="3429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79" name="Line 31"/>
          <p:cNvSpPr>
            <a:spLocks noChangeShapeType="1"/>
          </p:cNvSpPr>
          <p:nvPr/>
        </p:nvSpPr>
        <p:spPr bwMode="auto">
          <a:xfrm>
            <a:off x="3251200" y="32004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80" name="Line 32"/>
          <p:cNvSpPr>
            <a:spLocks noChangeShapeType="1"/>
          </p:cNvSpPr>
          <p:nvPr/>
        </p:nvSpPr>
        <p:spPr bwMode="auto">
          <a:xfrm>
            <a:off x="3251200" y="35814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81" name="Line 33"/>
          <p:cNvSpPr>
            <a:spLocks noChangeShapeType="1"/>
          </p:cNvSpPr>
          <p:nvPr/>
        </p:nvSpPr>
        <p:spPr bwMode="auto">
          <a:xfrm>
            <a:off x="3352800" y="3962400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82" name="Line 34"/>
          <p:cNvSpPr>
            <a:spLocks noChangeShapeType="1"/>
          </p:cNvSpPr>
          <p:nvPr/>
        </p:nvSpPr>
        <p:spPr bwMode="auto">
          <a:xfrm>
            <a:off x="3251200" y="28194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83" name="Line 35"/>
          <p:cNvSpPr>
            <a:spLocks noChangeShapeType="1"/>
          </p:cNvSpPr>
          <p:nvPr/>
        </p:nvSpPr>
        <p:spPr bwMode="auto">
          <a:xfrm>
            <a:off x="5029200" y="30480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84" name="Line 36"/>
          <p:cNvSpPr>
            <a:spLocks noChangeShapeType="1"/>
          </p:cNvSpPr>
          <p:nvPr/>
        </p:nvSpPr>
        <p:spPr bwMode="auto">
          <a:xfrm>
            <a:off x="5003800" y="3733800"/>
            <a:ext cx="63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85" name="Line 37"/>
          <p:cNvSpPr>
            <a:spLocks noChangeShapeType="1"/>
          </p:cNvSpPr>
          <p:nvPr/>
        </p:nvSpPr>
        <p:spPr bwMode="auto">
          <a:xfrm>
            <a:off x="3352800" y="4343400"/>
            <a:ext cx="297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86" name="Line 38"/>
          <p:cNvSpPr>
            <a:spLocks noChangeShapeType="1"/>
          </p:cNvSpPr>
          <p:nvPr/>
        </p:nvSpPr>
        <p:spPr bwMode="auto">
          <a:xfrm>
            <a:off x="6172200" y="34290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87" name="Line 39"/>
          <p:cNvSpPr>
            <a:spLocks noChangeShapeType="1"/>
          </p:cNvSpPr>
          <p:nvPr/>
        </p:nvSpPr>
        <p:spPr bwMode="auto">
          <a:xfrm flipH="1">
            <a:off x="6324600" y="29718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88" name="Text Box 40"/>
          <p:cNvSpPr txBox="1">
            <a:spLocks noChangeArrowheads="1"/>
          </p:cNvSpPr>
          <p:nvPr/>
        </p:nvSpPr>
        <p:spPr bwMode="auto">
          <a:xfrm>
            <a:off x="3479800" y="38100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Write Data</a:t>
            </a:r>
          </a:p>
        </p:txBody>
      </p:sp>
      <p:sp>
        <p:nvSpPr>
          <p:cNvPr id="693289" name="Text Box 41"/>
          <p:cNvSpPr txBox="1">
            <a:spLocks noChangeArrowheads="1"/>
          </p:cNvSpPr>
          <p:nvPr/>
        </p:nvSpPr>
        <p:spPr bwMode="auto">
          <a:xfrm>
            <a:off x="3479800" y="26670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Read Addr 1</a:t>
            </a:r>
          </a:p>
        </p:txBody>
      </p:sp>
      <p:sp>
        <p:nvSpPr>
          <p:cNvPr id="693290" name="Text Box 42"/>
          <p:cNvSpPr txBox="1">
            <a:spLocks noChangeArrowheads="1"/>
          </p:cNvSpPr>
          <p:nvPr/>
        </p:nvSpPr>
        <p:spPr bwMode="auto">
          <a:xfrm>
            <a:off x="3479800" y="30480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Read Addr 2</a:t>
            </a:r>
          </a:p>
        </p:txBody>
      </p:sp>
      <p:sp>
        <p:nvSpPr>
          <p:cNvPr id="693291" name="Text Box 43"/>
          <p:cNvSpPr txBox="1">
            <a:spLocks noChangeArrowheads="1"/>
          </p:cNvSpPr>
          <p:nvPr/>
        </p:nvSpPr>
        <p:spPr bwMode="auto">
          <a:xfrm>
            <a:off x="3479800" y="34290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Write Addr</a:t>
            </a:r>
          </a:p>
        </p:txBody>
      </p:sp>
      <p:sp>
        <p:nvSpPr>
          <p:cNvPr id="693292" name="Text Box 44"/>
          <p:cNvSpPr txBox="1">
            <a:spLocks noChangeArrowheads="1"/>
          </p:cNvSpPr>
          <p:nvPr/>
        </p:nvSpPr>
        <p:spPr bwMode="auto">
          <a:xfrm>
            <a:off x="3803650" y="28956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Register</a:t>
            </a:r>
          </a:p>
          <a:p>
            <a:pPr algn="ctr"/>
            <a:endParaRPr lang="en-US" sz="1200" b="1">
              <a:solidFill>
                <a:schemeClr val="tx1"/>
              </a:solidFill>
            </a:endParaRPr>
          </a:p>
          <a:p>
            <a:pPr algn="ctr"/>
            <a:r>
              <a:rPr lang="en-US" sz="1200" b="1">
                <a:solidFill>
                  <a:schemeClr val="tx1"/>
                </a:solidFill>
              </a:rPr>
              <a:t>File</a:t>
            </a:r>
          </a:p>
        </p:txBody>
      </p:sp>
      <p:sp>
        <p:nvSpPr>
          <p:cNvPr id="693293" name="Text Box 45"/>
          <p:cNvSpPr txBox="1">
            <a:spLocks noChangeArrowheads="1"/>
          </p:cNvSpPr>
          <p:nvPr/>
        </p:nvSpPr>
        <p:spPr bwMode="auto">
          <a:xfrm>
            <a:off x="4394200" y="28194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chemeClr val="tx1"/>
                </a:solidFill>
              </a:rPr>
              <a:t>Read</a:t>
            </a:r>
          </a:p>
          <a:p>
            <a:pPr algn="r"/>
            <a:r>
              <a:rPr lang="en-US" sz="1200">
                <a:solidFill>
                  <a:schemeClr val="tx1"/>
                </a:solidFill>
              </a:rPr>
              <a:t> Data 1</a:t>
            </a:r>
          </a:p>
        </p:txBody>
      </p:sp>
      <p:sp>
        <p:nvSpPr>
          <p:cNvPr id="693294" name="Text Box 46"/>
          <p:cNvSpPr txBox="1">
            <a:spLocks noChangeArrowheads="1"/>
          </p:cNvSpPr>
          <p:nvPr/>
        </p:nvSpPr>
        <p:spPr bwMode="auto">
          <a:xfrm>
            <a:off x="4419600" y="35052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chemeClr val="tx1"/>
                </a:solidFill>
              </a:rPr>
              <a:t>Read</a:t>
            </a:r>
          </a:p>
          <a:p>
            <a:pPr algn="r"/>
            <a:r>
              <a:rPr lang="en-US" sz="1200">
                <a:solidFill>
                  <a:schemeClr val="tx1"/>
                </a:solidFill>
              </a:rPr>
              <a:t> Data 2</a:t>
            </a:r>
          </a:p>
        </p:txBody>
      </p:sp>
      <p:sp>
        <p:nvSpPr>
          <p:cNvPr id="693295" name="Freeform 47"/>
          <p:cNvSpPr>
            <a:spLocks/>
          </p:cNvSpPr>
          <p:nvPr/>
        </p:nvSpPr>
        <p:spPr bwMode="auto">
          <a:xfrm>
            <a:off x="5613400" y="27432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296" name="Rectangle 48"/>
          <p:cNvSpPr>
            <a:spLocks noChangeArrowheads="1"/>
          </p:cNvSpPr>
          <p:nvPr/>
        </p:nvSpPr>
        <p:spPr bwMode="auto">
          <a:xfrm>
            <a:off x="5715000" y="33528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1200" b="1">
                <a:solidFill>
                  <a:srgbClr val="000000"/>
                </a:solidFill>
              </a:rPr>
              <a:t>ALU</a:t>
            </a:r>
          </a:p>
        </p:txBody>
      </p:sp>
      <p:sp>
        <p:nvSpPr>
          <p:cNvPr id="693297" name="Rectangle 49"/>
          <p:cNvSpPr>
            <a:spLocks noChangeArrowheads="1"/>
          </p:cNvSpPr>
          <p:nvPr/>
        </p:nvSpPr>
        <p:spPr bwMode="auto">
          <a:xfrm>
            <a:off x="5765800" y="2286000"/>
            <a:ext cx="7620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sz="1400">
                <a:solidFill>
                  <a:srgbClr val="000000"/>
                </a:solidFill>
              </a:rPr>
              <a:t>ovf</a:t>
            </a:r>
          </a:p>
        </p:txBody>
      </p:sp>
      <p:sp>
        <p:nvSpPr>
          <p:cNvPr id="693298" name="Rectangle 50"/>
          <p:cNvSpPr>
            <a:spLocks noChangeArrowheads="1"/>
          </p:cNvSpPr>
          <p:nvPr/>
        </p:nvSpPr>
        <p:spPr bwMode="auto">
          <a:xfrm>
            <a:off x="5918200" y="2514600"/>
            <a:ext cx="5334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sz="1400">
                <a:solidFill>
                  <a:srgbClr val="000000"/>
                </a:solidFill>
              </a:rPr>
              <a:t>zero</a:t>
            </a:r>
          </a:p>
        </p:txBody>
      </p:sp>
      <p:sp>
        <p:nvSpPr>
          <p:cNvPr id="693299" name="Rectangle 51"/>
          <p:cNvSpPr>
            <a:spLocks noChangeArrowheads="1"/>
          </p:cNvSpPr>
          <p:nvPr/>
        </p:nvSpPr>
        <p:spPr bwMode="auto">
          <a:xfrm>
            <a:off x="5308600" y="19812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sz="1400"/>
              <a:t>ALU control</a:t>
            </a:r>
          </a:p>
        </p:txBody>
      </p:sp>
      <p:sp>
        <p:nvSpPr>
          <p:cNvPr id="693300" name="Line 52"/>
          <p:cNvSpPr>
            <a:spLocks noChangeShapeType="1"/>
          </p:cNvSpPr>
          <p:nvPr/>
        </p:nvSpPr>
        <p:spPr bwMode="auto">
          <a:xfrm>
            <a:off x="5765800" y="2362200"/>
            <a:ext cx="0" cy="4572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01" name="Line 53"/>
          <p:cNvSpPr>
            <a:spLocks noChangeShapeType="1"/>
          </p:cNvSpPr>
          <p:nvPr/>
        </p:nvSpPr>
        <p:spPr bwMode="auto">
          <a:xfrm>
            <a:off x="4241800" y="23622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02" name="Rectangle 54"/>
          <p:cNvSpPr>
            <a:spLocks noChangeArrowheads="1"/>
          </p:cNvSpPr>
          <p:nvPr/>
        </p:nvSpPr>
        <p:spPr bwMode="auto">
          <a:xfrm>
            <a:off x="3937000" y="19812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sz="1400"/>
              <a:t>RegWrite</a:t>
            </a:r>
          </a:p>
        </p:txBody>
      </p:sp>
      <p:sp>
        <p:nvSpPr>
          <p:cNvPr id="693303" name="Line 55"/>
          <p:cNvSpPr>
            <a:spLocks noChangeShapeType="1"/>
          </p:cNvSpPr>
          <p:nvPr/>
        </p:nvSpPr>
        <p:spPr bwMode="auto">
          <a:xfrm flipV="1">
            <a:off x="5918200" y="25146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04" name="Line 56"/>
          <p:cNvSpPr>
            <a:spLocks noChangeShapeType="1"/>
          </p:cNvSpPr>
          <p:nvPr/>
        </p:nvSpPr>
        <p:spPr bwMode="auto">
          <a:xfrm flipV="1">
            <a:off x="6070600" y="2743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05" name="Line 57"/>
          <p:cNvSpPr>
            <a:spLocks noChangeShapeType="1"/>
          </p:cNvSpPr>
          <p:nvPr/>
        </p:nvSpPr>
        <p:spPr bwMode="auto">
          <a:xfrm>
            <a:off x="8458200" y="3429000"/>
            <a:ext cx="0" cy="2057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06" name="Rectangle 58"/>
          <p:cNvSpPr>
            <a:spLocks noChangeArrowheads="1"/>
          </p:cNvSpPr>
          <p:nvPr/>
        </p:nvSpPr>
        <p:spPr bwMode="auto">
          <a:xfrm>
            <a:off x="6705600" y="26670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3307" name="Line 59"/>
          <p:cNvSpPr>
            <a:spLocks noChangeShapeType="1"/>
          </p:cNvSpPr>
          <p:nvPr/>
        </p:nvSpPr>
        <p:spPr bwMode="auto">
          <a:xfrm>
            <a:off x="8153400" y="3429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08" name="Line 60"/>
          <p:cNvSpPr>
            <a:spLocks noChangeShapeType="1"/>
          </p:cNvSpPr>
          <p:nvPr/>
        </p:nvSpPr>
        <p:spPr bwMode="auto">
          <a:xfrm>
            <a:off x="6324600" y="29718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09" name="Line 61"/>
          <p:cNvSpPr>
            <a:spLocks noChangeShapeType="1"/>
          </p:cNvSpPr>
          <p:nvPr/>
        </p:nvSpPr>
        <p:spPr bwMode="auto">
          <a:xfrm>
            <a:off x="6477000" y="3810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10" name="Line 62"/>
          <p:cNvSpPr>
            <a:spLocks noChangeShapeType="1"/>
          </p:cNvSpPr>
          <p:nvPr/>
        </p:nvSpPr>
        <p:spPr bwMode="auto">
          <a:xfrm>
            <a:off x="6477000" y="38100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11" name="Text Box 63"/>
          <p:cNvSpPr txBox="1">
            <a:spLocks noChangeArrowheads="1"/>
          </p:cNvSpPr>
          <p:nvPr/>
        </p:nvSpPr>
        <p:spPr bwMode="auto">
          <a:xfrm>
            <a:off x="6629400" y="3124200"/>
            <a:ext cx="766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US" sz="1200" b="1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693312" name="Text Box 64"/>
          <p:cNvSpPr txBox="1">
            <a:spLocks noChangeArrowheads="1"/>
          </p:cNvSpPr>
          <p:nvPr/>
        </p:nvSpPr>
        <p:spPr bwMode="auto">
          <a:xfrm>
            <a:off x="6629400" y="2819400"/>
            <a:ext cx="7413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Address</a:t>
            </a:r>
          </a:p>
        </p:txBody>
      </p:sp>
      <p:sp>
        <p:nvSpPr>
          <p:cNvPr id="693313" name="Text Box 65"/>
          <p:cNvSpPr txBox="1">
            <a:spLocks noChangeArrowheads="1"/>
          </p:cNvSpPr>
          <p:nvPr/>
        </p:nvSpPr>
        <p:spPr bwMode="auto">
          <a:xfrm>
            <a:off x="6629400" y="36576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Write Data</a:t>
            </a:r>
          </a:p>
        </p:txBody>
      </p:sp>
      <p:sp>
        <p:nvSpPr>
          <p:cNvPr id="693314" name="Text Box 66"/>
          <p:cNvSpPr txBox="1">
            <a:spLocks noChangeArrowheads="1"/>
          </p:cNvSpPr>
          <p:nvPr/>
        </p:nvSpPr>
        <p:spPr bwMode="auto">
          <a:xfrm>
            <a:off x="7315200" y="3276600"/>
            <a:ext cx="909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Read Data</a:t>
            </a:r>
          </a:p>
        </p:txBody>
      </p:sp>
      <p:sp>
        <p:nvSpPr>
          <p:cNvPr id="693315" name="Line 67"/>
          <p:cNvSpPr>
            <a:spLocks noChangeShapeType="1"/>
          </p:cNvSpPr>
          <p:nvPr/>
        </p:nvSpPr>
        <p:spPr bwMode="auto">
          <a:xfrm>
            <a:off x="7391400" y="23622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16" name="Rectangle 68"/>
          <p:cNvSpPr>
            <a:spLocks noChangeArrowheads="1"/>
          </p:cNvSpPr>
          <p:nvPr/>
        </p:nvSpPr>
        <p:spPr bwMode="auto">
          <a:xfrm>
            <a:off x="6934200" y="19812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/>
              <a:t>MemWrite</a:t>
            </a:r>
          </a:p>
        </p:txBody>
      </p:sp>
      <p:sp>
        <p:nvSpPr>
          <p:cNvPr id="693317" name="Rectangle 69"/>
          <p:cNvSpPr>
            <a:spLocks noChangeArrowheads="1"/>
          </p:cNvSpPr>
          <p:nvPr/>
        </p:nvSpPr>
        <p:spPr bwMode="auto">
          <a:xfrm>
            <a:off x="7010400" y="44196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/>
              <a:t>MemRead</a:t>
            </a:r>
          </a:p>
        </p:txBody>
      </p:sp>
      <p:sp>
        <p:nvSpPr>
          <p:cNvPr id="693318" name="Line 70"/>
          <p:cNvSpPr>
            <a:spLocks noChangeShapeType="1"/>
          </p:cNvSpPr>
          <p:nvPr/>
        </p:nvSpPr>
        <p:spPr bwMode="auto">
          <a:xfrm>
            <a:off x="7391400" y="41148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19" name="Line 71"/>
          <p:cNvSpPr>
            <a:spLocks noChangeShapeType="1"/>
          </p:cNvSpPr>
          <p:nvPr/>
        </p:nvSpPr>
        <p:spPr bwMode="auto">
          <a:xfrm>
            <a:off x="3124200" y="5486400"/>
            <a:ext cx="533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20" name="Line 72"/>
          <p:cNvSpPr>
            <a:spLocks noChangeShapeType="1"/>
          </p:cNvSpPr>
          <p:nvPr/>
        </p:nvSpPr>
        <p:spPr bwMode="auto">
          <a:xfrm>
            <a:off x="5105400" y="4191000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21" name="Line 73"/>
          <p:cNvSpPr>
            <a:spLocks noChangeShapeType="1"/>
          </p:cNvSpPr>
          <p:nvPr/>
        </p:nvSpPr>
        <p:spPr bwMode="auto">
          <a:xfrm>
            <a:off x="4876800" y="4800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22" name="Oval 74"/>
          <p:cNvSpPr>
            <a:spLocks noChangeArrowheads="1"/>
          </p:cNvSpPr>
          <p:nvPr/>
        </p:nvSpPr>
        <p:spPr bwMode="auto">
          <a:xfrm>
            <a:off x="4267200" y="4419600"/>
            <a:ext cx="609600" cy="914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3323" name="Rectangle 75"/>
          <p:cNvSpPr>
            <a:spLocks noChangeArrowheads="1"/>
          </p:cNvSpPr>
          <p:nvPr/>
        </p:nvSpPr>
        <p:spPr bwMode="auto">
          <a:xfrm>
            <a:off x="4318000" y="4572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sz="1200" b="1">
                <a:solidFill>
                  <a:srgbClr val="000000"/>
                </a:solidFill>
              </a:rPr>
              <a:t>Sign</a:t>
            </a:r>
          </a:p>
          <a:p>
            <a:pPr algn="ctr"/>
            <a:r>
              <a:rPr lang="en-US" sz="1200" b="1">
                <a:solidFill>
                  <a:srgbClr val="000000"/>
                </a:solidFill>
              </a:rPr>
              <a:t>Extend</a:t>
            </a:r>
          </a:p>
        </p:txBody>
      </p:sp>
      <p:sp>
        <p:nvSpPr>
          <p:cNvPr id="693324" name="Line 76"/>
          <p:cNvSpPr>
            <a:spLocks noChangeShapeType="1"/>
          </p:cNvSpPr>
          <p:nvPr/>
        </p:nvSpPr>
        <p:spPr bwMode="auto">
          <a:xfrm>
            <a:off x="3276600" y="48006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25" name="Line 77"/>
          <p:cNvSpPr>
            <a:spLocks noChangeShapeType="1"/>
          </p:cNvSpPr>
          <p:nvPr/>
        </p:nvSpPr>
        <p:spPr bwMode="auto">
          <a:xfrm>
            <a:off x="3937000" y="4724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26" name="Line 78"/>
          <p:cNvSpPr>
            <a:spLocks noChangeShapeType="1"/>
          </p:cNvSpPr>
          <p:nvPr/>
        </p:nvSpPr>
        <p:spPr bwMode="auto">
          <a:xfrm>
            <a:off x="4953000" y="4724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27" name="Text Box 79"/>
          <p:cNvSpPr txBox="1">
            <a:spLocks noChangeArrowheads="1"/>
          </p:cNvSpPr>
          <p:nvPr/>
        </p:nvSpPr>
        <p:spPr bwMode="auto">
          <a:xfrm>
            <a:off x="3937000" y="4800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693328" name="Text Box 80"/>
          <p:cNvSpPr txBox="1">
            <a:spLocks noChangeArrowheads="1"/>
          </p:cNvSpPr>
          <p:nvPr/>
        </p:nvSpPr>
        <p:spPr bwMode="auto">
          <a:xfrm>
            <a:off x="4953000" y="4800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693329" name="Line 81"/>
          <p:cNvSpPr>
            <a:spLocks noChangeShapeType="1"/>
          </p:cNvSpPr>
          <p:nvPr/>
        </p:nvSpPr>
        <p:spPr bwMode="auto">
          <a:xfrm>
            <a:off x="5105400" y="37338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30" name="Line 82"/>
          <p:cNvSpPr>
            <a:spLocks noChangeShapeType="1"/>
          </p:cNvSpPr>
          <p:nvPr/>
        </p:nvSpPr>
        <p:spPr bwMode="auto">
          <a:xfrm>
            <a:off x="3352800" y="3962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31" name="Line 83"/>
          <p:cNvSpPr>
            <a:spLocks noChangeShapeType="1"/>
          </p:cNvSpPr>
          <p:nvPr/>
        </p:nvSpPr>
        <p:spPr bwMode="auto">
          <a:xfrm>
            <a:off x="5257800" y="3962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32" name="Line 84"/>
          <p:cNvSpPr>
            <a:spLocks noChangeShapeType="1"/>
          </p:cNvSpPr>
          <p:nvPr/>
        </p:nvSpPr>
        <p:spPr bwMode="auto">
          <a:xfrm>
            <a:off x="5257800" y="39624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33" name="Line 85"/>
          <p:cNvSpPr>
            <a:spLocks noChangeShapeType="1"/>
          </p:cNvSpPr>
          <p:nvPr/>
        </p:nvSpPr>
        <p:spPr bwMode="auto">
          <a:xfrm>
            <a:off x="3276600" y="2819400"/>
            <a:ext cx="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34" name="Line 86"/>
          <p:cNvSpPr>
            <a:spLocks noChangeShapeType="1"/>
          </p:cNvSpPr>
          <p:nvPr/>
        </p:nvSpPr>
        <p:spPr bwMode="auto">
          <a:xfrm flipV="1">
            <a:off x="3124200" y="38862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35" name="Line 87"/>
          <p:cNvSpPr>
            <a:spLocks noChangeShapeType="1"/>
          </p:cNvSpPr>
          <p:nvPr/>
        </p:nvSpPr>
        <p:spPr bwMode="auto">
          <a:xfrm>
            <a:off x="3124200" y="38862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3336" name="Oval 88"/>
          <p:cNvSpPr>
            <a:spLocks noChangeArrowheads="1"/>
          </p:cNvSpPr>
          <p:nvPr/>
        </p:nvSpPr>
        <p:spPr bwMode="auto">
          <a:xfrm>
            <a:off x="3276600" y="3733800"/>
            <a:ext cx="533400" cy="4572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3337" name="Oval 89"/>
          <p:cNvSpPr>
            <a:spLocks noChangeArrowheads="1"/>
          </p:cNvSpPr>
          <p:nvPr/>
        </p:nvSpPr>
        <p:spPr bwMode="auto">
          <a:xfrm>
            <a:off x="5257800" y="3581400"/>
            <a:ext cx="533400" cy="4572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9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336" grpId="0" animBg="1"/>
      <p:bldP spid="6933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Multiplexer </a:t>
            </a:r>
            <a:r>
              <a:rPr lang="en-US" dirty="0"/>
              <a:t>Insertion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82600" y="1371600"/>
            <a:ext cx="8520113" cy="4114800"/>
            <a:chOff x="304" y="864"/>
            <a:chExt cx="5367" cy="2592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3984" y="1248"/>
              <a:ext cx="1687" cy="1776"/>
              <a:chOff x="3984" y="1248"/>
              <a:chExt cx="1687" cy="1776"/>
            </a:xfrm>
          </p:grpSpPr>
          <p:sp>
            <p:nvSpPr>
              <p:cNvPr id="694277" name="Line 5"/>
              <p:cNvSpPr>
                <a:spLocks noChangeShapeType="1"/>
              </p:cNvSpPr>
              <p:nvPr/>
            </p:nvSpPr>
            <p:spPr bwMode="auto">
              <a:xfrm>
                <a:off x="3984" y="3024"/>
                <a:ext cx="1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5088" y="1248"/>
                <a:ext cx="583" cy="1776"/>
                <a:chOff x="5088" y="1248"/>
                <a:chExt cx="583" cy="1776"/>
              </a:xfrm>
            </p:grpSpPr>
            <p:sp>
              <p:nvSpPr>
                <p:cNvPr id="694279" name="Line 7"/>
                <p:cNvSpPr>
                  <a:spLocks noChangeShapeType="1"/>
                </p:cNvSpPr>
                <p:nvPr/>
              </p:nvSpPr>
              <p:spPr bwMode="auto">
                <a:xfrm>
                  <a:off x="5184" y="2400"/>
                  <a:ext cx="1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4280" name="Line 8"/>
                <p:cNvSpPr>
                  <a:spLocks noChangeShapeType="1"/>
                </p:cNvSpPr>
                <p:nvPr/>
              </p:nvSpPr>
              <p:spPr bwMode="auto">
                <a:xfrm>
                  <a:off x="5136" y="2160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4281" name="Line 9"/>
                <p:cNvSpPr>
                  <a:spLocks noChangeShapeType="1"/>
                </p:cNvSpPr>
                <p:nvPr/>
              </p:nvSpPr>
              <p:spPr bwMode="auto">
                <a:xfrm>
                  <a:off x="5184" y="2400"/>
                  <a:ext cx="0" cy="62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4282" name="AutoShape 10"/>
                <p:cNvSpPr>
                  <a:spLocks noChangeArrowheads="1"/>
                </p:cNvSpPr>
                <p:nvPr/>
              </p:nvSpPr>
              <p:spPr bwMode="auto">
                <a:xfrm rot="-5400000">
                  <a:off x="5184" y="2208"/>
                  <a:ext cx="432" cy="144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4283" name="Line 11"/>
                <p:cNvSpPr>
                  <a:spLocks noChangeShapeType="1"/>
                </p:cNvSpPr>
                <p:nvPr/>
              </p:nvSpPr>
              <p:spPr bwMode="auto">
                <a:xfrm>
                  <a:off x="5472" y="2256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4284" name="Line 12"/>
                <p:cNvSpPr>
                  <a:spLocks noChangeShapeType="1"/>
                </p:cNvSpPr>
                <p:nvPr/>
              </p:nvSpPr>
              <p:spPr bwMode="auto">
                <a:xfrm>
                  <a:off x="5376" y="1488"/>
                  <a:ext cx="0" cy="576"/>
                </a:xfrm>
                <a:prstGeom prst="line">
                  <a:avLst/>
                </a:prstGeom>
                <a:noFill/>
                <a:ln w="12700">
                  <a:solidFill>
                    <a:schemeClr val="accent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4285" name="Rectangle 13"/>
                <p:cNvSpPr>
                  <a:spLocks noChangeArrowheads="1"/>
                </p:cNvSpPr>
                <p:nvPr/>
              </p:nvSpPr>
              <p:spPr bwMode="auto">
                <a:xfrm>
                  <a:off x="5088" y="1248"/>
                  <a:ext cx="583" cy="20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19050" tIns="26988" rIns="19050" bIns="26988"/>
                <a:lstStyle/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400"/>
                    <a:t>MemtoReg</a:t>
                  </a:r>
                </a:p>
              </p:txBody>
            </p:sp>
          </p:grpSp>
        </p:grpSp>
        <p:grpSp>
          <p:nvGrpSpPr>
            <p:cNvPr id="5" name="Group 14"/>
            <p:cNvGrpSpPr>
              <a:grpSpLocks/>
            </p:cNvGrpSpPr>
            <p:nvPr/>
          </p:nvGrpSpPr>
          <p:grpSpPr bwMode="auto">
            <a:xfrm>
              <a:off x="304" y="864"/>
              <a:ext cx="5264" cy="2592"/>
              <a:chOff x="304" y="864"/>
              <a:chExt cx="5264" cy="2592"/>
            </a:xfrm>
          </p:grpSpPr>
          <p:grpSp>
            <p:nvGrpSpPr>
              <p:cNvPr id="6" name="Group 15"/>
              <p:cNvGrpSpPr>
                <a:grpSpLocks/>
              </p:cNvGrpSpPr>
              <p:nvPr/>
            </p:nvGrpSpPr>
            <p:grpSpPr bwMode="auto">
              <a:xfrm>
                <a:off x="1264" y="960"/>
                <a:ext cx="240" cy="624"/>
                <a:chOff x="1392" y="2880"/>
                <a:chExt cx="288" cy="480"/>
              </a:xfrm>
            </p:grpSpPr>
            <p:sp>
              <p:nvSpPr>
                <p:cNvPr id="694288" name="Line 16"/>
                <p:cNvSpPr>
                  <a:spLocks noChangeShapeType="1"/>
                </p:cNvSpPr>
                <p:nvPr/>
              </p:nvSpPr>
              <p:spPr bwMode="auto">
                <a:xfrm>
                  <a:off x="1392" y="3072"/>
                  <a:ext cx="48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4289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1392" y="3120"/>
                  <a:ext cx="48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4290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1392" y="2880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429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1392" y="3168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4292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1392" y="3216"/>
                  <a:ext cx="288" cy="14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4293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1680" y="3024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4294" name="Line 22"/>
                <p:cNvSpPr>
                  <a:spLocks noChangeShapeType="1"/>
                </p:cNvSpPr>
                <p:nvPr/>
              </p:nvSpPr>
              <p:spPr bwMode="auto">
                <a:xfrm>
                  <a:off x="1392" y="2880"/>
                  <a:ext cx="288" cy="14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94295" name="Rectangle 23"/>
              <p:cNvSpPr>
                <a:spLocks noChangeArrowheads="1"/>
              </p:cNvSpPr>
              <p:nvPr/>
            </p:nvSpPr>
            <p:spPr bwMode="auto">
              <a:xfrm>
                <a:off x="832" y="1680"/>
                <a:ext cx="912" cy="91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4296" name="Rectangle 24"/>
              <p:cNvSpPr>
                <a:spLocks noChangeArrowheads="1"/>
              </p:cNvSpPr>
              <p:nvPr/>
            </p:nvSpPr>
            <p:spPr bwMode="auto">
              <a:xfrm>
                <a:off x="496" y="1920"/>
                <a:ext cx="144" cy="52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4297" name="Line 25"/>
              <p:cNvSpPr>
                <a:spLocks noChangeShapeType="1"/>
              </p:cNvSpPr>
              <p:nvPr/>
            </p:nvSpPr>
            <p:spPr bwMode="auto">
              <a:xfrm>
                <a:off x="640" y="216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298" name="Line 26"/>
              <p:cNvSpPr>
                <a:spLocks noChangeShapeType="1"/>
              </p:cNvSpPr>
              <p:nvPr/>
            </p:nvSpPr>
            <p:spPr bwMode="auto">
              <a:xfrm>
                <a:off x="688" y="1056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299" name="Line 27"/>
              <p:cNvSpPr>
                <a:spLocks noChangeShapeType="1"/>
              </p:cNvSpPr>
              <p:nvPr/>
            </p:nvSpPr>
            <p:spPr bwMode="auto">
              <a:xfrm>
                <a:off x="1024" y="1488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00" name="Line 28"/>
              <p:cNvSpPr>
                <a:spLocks noChangeShapeType="1"/>
              </p:cNvSpPr>
              <p:nvPr/>
            </p:nvSpPr>
            <p:spPr bwMode="auto">
              <a:xfrm>
                <a:off x="1696" y="86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01" name="Line 29"/>
              <p:cNvSpPr>
                <a:spLocks noChangeShapeType="1"/>
              </p:cNvSpPr>
              <p:nvPr/>
            </p:nvSpPr>
            <p:spPr bwMode="auto">
              <a:xfrm>
                <a:off x="1504" y="124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02" name="Text Box 30"/>
              <p:cNvSpPr txBox="1">
                <a:spLocks noChangeArrowheads="1"/>
              </p:cNvSpPr>
              <p:nvPr/>
            </p:nvSpPr>
            <p:spPr bwMode="auto">
              <a:xfrm>
                <a:off x="784" y="2016"/>
                <a:ext cx="467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Read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Address</a:t>
                </a:r>
              </a:p>
            </p:txBody>
          </p:sp>
          <p:sp>
            <p:nvSpPr>
              <p:cNvPr id="694303" name="Text Box 31"/>
              <p:cNvSpPr txBox="1">
                <a:spLocks noChangeArrowheads="1"/>
              </p:cNvSpPr>
              <p:nvPr/>
            </p:nvSpPr>
            <p:spPr bwMode="auto">
              <a:xfrm>
                <a:off x="1215" y="2064"/>
                <a:ext cx="558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tx1"/>
                    </a:solidFill>
                  </a:rPr>
                  <a:t>Instruction</a:t>
                </a:r>
              </a:p>
            </p:txBody>
          </p:sp>
          <p:sp>
            <p:nvSpPr>
              <p:cNvPr id="694304" name="Text Box 32"/>
              <p:cNvSpPr txBox="1">
                <a:spLocks noChangeArrowheads="1"/>
              </p:cNvSpPr>
              <p:nvPr/>
            </p:nvSpPr>
            <p:spPr bwMode="auto">
              <a:xfrm>
                <a:off x="976" y="1728"/>
                <a:ext cx="613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chemeClr val="tx1"/>
                    </a:solidFill>
                  </a:rPr>
                  <a:t>Instruction</a:t>
                </a:r>
              </a:p>
              <a:p>
                <a:pPr algn="ctr"/>
                <a:r>
                  <a:rPr lang="en-US" sz="1200" b="1">
                    <a:solidFill>
                      <a:schemeClr val="tx1"/>
                    </a:solidFill>
                  </a:rPr>
                  <a:t>Memory</a:t>
                </a:r>
              </a:p>
            </p:txBody>
          </p:sp>
          <p:sp>
            <p:nvSpPr>
              <p:cNvPr id="694305" name="Text Box 33"/>
              <p:cNvSpPr txBox="1">
                <a:spLocks noChangeArrowheads="1"/>
              </p:cNvSpPr>
              <p:nvPr/>
            </p:nvSpPr>
            <p:spPr bwMode="auto">
              <a:xfrm>
                <a:off x="1264" y="1200"/>
                <a:ext cx="303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 b="1">
                    <a:solidFill>
                      <a:schemeClr val="tx1"/>
                    </a:solidFill>
                  </a:rPr>
                  <a:t>Add</a:t>
                </a:r>
              </a:p>
            </p:txBody>
          </p:sp>
          <p:sp>
            <p:nvSpPr>
              <p:cNvPr id="694306" name="Text Box 34"/>
              <p:cNvSpPr txBox="1">
                <a:spLocks noChangeArrowheads="1"/>
              </p:cNvSpPr>
              <p:nvPr/>
            </p:nvSpPr>
            <p:spPr bwMode="auto">
              <a:xfrm>
                <a:off x="448" y="2064"/>
                <a:ext cx="249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 b="1">
                    <a:solidFill>
                      <a:schemeClr val="tx1"/>
                    </a:solidFill>
                  </a:rPr>
                  <a:t>PC</a:t>
                </a:r>
              </a:p>
            </p:txBody>
          </p:sp>
          <p:sp>
            <p:nvSpPr>
              <p:cNvPr id="694307" name="Line 35"/>
              <p:cNvSpPr>
                <a:spLocks noChangeShapeType="1"/>
              </p:cNvSpPr>
              <p:nvPr/>
            </p:nvSpPr>
            <p:spPr bwMode="auto">
              <a:xfrm>
                <a:off x="304" y="864"/>
                <a:ext cx="13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08" name="Line 36"/>
              <p:cNvSpPr>
                <a:spLocks noChangeShapeType="1"/>
              </p:cNvSpPr>
              <p:nvPr/>
            </p:nvSpPr>
            <p:spPr bwMode="auto">
              <a:xfrm>
                <a:off x="304" y="864"/>
                <a:ext cx="0" cy="12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09" name="Line 37"/>
              <p:cNvSpPr>
                <a:spLocks noChangeShapeType="1"/>
              </p:cNvSpPr>
              <p:nvPr/>
            </p:nvSpPr>
            <p:spPr bwMode="auto">
              <a:xfrm>
                <a:off x="304" y="216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10" name="Line 38"/>
              <p:cNvSpPr>
                <a:spLocks noChangeShapeType="1"/>
              </p:cNvSpPr>
              <p:nvPr/>
            </p:nvSpPr>
            <p:spPr bwMode="auto">
              <a:xfrm>
                <a:off x="688" y="1056"/>
                <a:ext cx="0" cy="11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11" name="Text Box 39"/>
              <p:cNvSpPr txBox="1">
                <a:spLocks noChangeArrowheads="1"/>
              </p:cNvSpPr>
              <p:nvPr/>
            </p:nvSpPr>
            <p:spPr bwMode="auto">
              <a:xfrm>
                <a:off x="880" y="1392"/>
                <a:ext cx="169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 b="1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94312" name="Rectangle 40"/>
              <p:cNvSpPr>
                <a:spLocks noChangeArrowheads="1"/>
              </p:cNvSpPr>
              <p:nvPr/>
            </p:nvSpPr>
            <p:spPr bwMode="auto">
              <a:xfrm>
                <a:off x="2096" y="1680"/>
                <a:ext cx="912" cy="91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4313" name="Line 41"/>
              <p:cNvSpPr>
                <a:spLocks noChangeShapeType="1"/>
              </p:cNvSpPr>
              <p:nvPr/>
            </p:nvSpPr>
            <p:spPr bwMode="auto">
              <a:xfrm>
                <a:off x="1744" y="2160"/>
                <a:ext cx="1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14" name="Line 42"/>
              <p:cNvSpPr>
                <a:spLocks noChangeShapeType="1"/>
              </p:cNvSpPr>
              <p:nvPr/>
            </p:nvSpPr>
            <p:spPr bwMode="auto">
              <a:xfrm>
                <a:off x="1904" y="201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15" name="Line 43"/>
              <p:cNvSpPr>
                <a:spLocks noChangeShapeType="1"/>
              </p:cNvSpPr>
              <p:nvPr/>
            </p:nvSpPr>
            <p:spPr bwMode="auto">
              <a:xfrm>
                <a:off x="1904" y="225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16" name="Line 44"/>
              <p:cNvSpPr>
                <a:spLocks noChangeShapeType="1"/>
              </p:cNvSpPr>
              <p:nvPr/>
            </p:nvSpPr>
            <p:spPr bwMode="auto">
              <a:xfrm>
                <a:off x="1904" y="177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17" name="Line 45"/>
              <p:cNvSpPr>
                <a:spLocks noChangeShapeType="1"/>
              </p:cNvSpPr>
              <p:nvPr/>
            </p:nvSpPr>
            <p:spPr bwMode="auto">
              <a:xfrm>
                <a:off x="3008" y="1920"/>
                <a:ext cx="5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18" name="Line 46"/>
              <p:cNvSpPr>
                <a:spLocks noChangeShapeType="1"/>
              </p:cNvSpPr>
              <p:nvPr/>
            </p:nvSpPr>
            <p:spPr bwMode="auto">
              <a:xfrm>
                <a:off x="3888" y="2160"/>
                <a:ext cx="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19" name="Line 47"/>
              <p:cNvSpPr>
                <a:spLocks noChangeShapeType="1"/>
              </p:cNvSpPr>
              <p:nvPr/>
            </p:nvSpPr>
            <p:spPr bwMode="auto">
              <a:xfrm flipH="1">
                <a:off x="3984" y="1872"/>
                <a:ext cx="0" cy="115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20" name="Text Box 48"/>
              <p:cNvSpPr txBox="1">
                <a:spLocks noChangeArrowheads="1"/>
              </p:cNvSpPr>
              <p:nvPr/>
            </p:nvSpPr>
            <p:spPr bwMode="auto">
              <a:xfrm>
                <a:off x="2048" y="2400"/>
                <a:ext cx="569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Write Data</a:t>
                </a:r>
              </a:p>
            </p:txBody>
          </p:sp>
          <p:sp>
            <p:nvSpPr>
              <p:cNvPr id="694321" name="Text Box 49"/>
              <p:cNvSpPr txBox="1">
                <a:spLocks noChangeArrowheads="1"/>
              </p:cNvSpPr>
              <p:nvPr/>
            </p:nvSpPr>
            <p:spPr bwMode="auto">
              <a:xfrm>
                <a:off x="2048" y="1680"/>
                <a:ext cx="653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Read Addr 1</a:t>
                </a:r>
              </a:p>
            </p:txBody>
          </p:sp>
          <p:sp>
            <p:nvSpPr>
              <p:cNvPr id="694322" name="Text Box 50"/>
              <p:cNvSpPr txBox="1">
                <a:spLocks noChangeArrowheads="1"/>
              </p:cNvSpPr>
              <p:nvPr/>
            </p:nvSpPr>
            <p:spPr bwMode="auto">
              <a:xfrm>
                <a:off x="2048" y="1920"/>
                <a:ext cx="653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Read Addr 2</a:t>
                </a:r>
              </a:p>
            </p:txBody>
          </p:sp>
          <p:sp>
            <p:nvSpPr>
              <p:cNvPr id="694323" name="Text Box 51"/>
              <p:cNvSpPr txBox="1">
                <a:spLocks noChangeArrowheads="1"/>
              </p:cNvSpPr>
              <p:nvPr/>
            </p:nvSpPr>
            <p:spPr bwMode="auto">
              <a:xfrm>
                <a:off x="2048" y="2160"/>
                <a:ext cx="569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Write Addr</a:t>
                </a:r>
              </a:p>
            </p:txBody>
          </p:sp>
          <p:sp>
            <p:nvSpPr>
              <p:cNvPr id="694324" name="Text Box 52"/>
              <p:cNvSpPr txBox="1">
                <a:spLocks noChangeArrowheads="1"/>
              </p:cNvSpPr>
              <p:nvPr/>
            </p:nvSpPr>
            <p:spPr bwMode="auto">
              <a:xfrm>
                <a:off x="2252" y="1824"/>
                <a:ext cx="499" cy="40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chemeClr val="tx1"/>
                    </a:solidFill>
                  </a:rPr>
                  <a:t>Register</a:t>
                </a:r>
              </a:p>
              <a:p>
                <a:pPr algn="ctr"/>
                <a:endParaRPr lang="en-US" sz="1200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200" b="1">
                    <a:solidFill>
                      <a:schemeClr val="tx1"/>
                    </a:solidFill>
                  </a:rPr>
                  <a:t>File</a:t>
                </a:r>
              </a:p>
            </p:txBody>
          </p:sp>
          <p:sp>
            <p:nvSpPr>
              <p:cNvPr id="694325" name="Text Box 53"/>
              <p:cNvSpPr txBox="1">
                <a:spLocks noChangeArrowheads="1"/>
              </p:cNvSpPr>
              <p:nvPr/>
            </p:nvSpPr>
            <p:spPr bwMode="auto">
              <a:xfrm>
                <a:off x="2624" y="1776"/>
                <a:ext cx="425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200">
                    <a:solidFill>
                      <a:schemeClr val="tx1"/>
                    </a:solidFill>
                  </a:rPr>
                  <a:t>Read</a:t>
                </a:r>
              </a:p>
              <a:p>
                <a:pPr algn="r"/>
                <a:r>
                  <a:rPr lang="en-US" sz="1200">
                    <a:solidFill>
                      <a:schemeClr val="tx1"/>
                    </a:solidFill>
                  </a:rPr>
                  <a:t> Data 1</a:t>
                </a:r>
              </a:p>
            </p:txBody>
          </p:sp>
          <p:sp>
            <p:nvSpPr>
              <p:cNvPr id="694326" name="Text Box 54"/>
              <p:cNvSpPr txBox="1">
                <a:spLocks noChangeArrowheads="1"/>
              </p:cNvSpPr>
              <p:nvPr/>
            </p:nvSpPr>
            <p:spPr bwMode="auto">
              <a:xfrm>
                <a:off x="2610" y="2208"/>
                <a:ext cx="425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tx1"/>
                    </a:solidFill>
                  </a:rPr>
                  <a:t>Read</a:t>
                </a:r>
              </a:p>
              <a:p>
                <a:pPr algn="r"/>
                <a:r>
                  <a:rPr lang="en-US" sz="1200" dirty="0">
                    <a:solidFill>
                      <a:schemeClr val="tx1"/>
                    </a:solidFill>
                  </a:rPr>
                  <a:t> Data 2</a:t>
                </a:r>
              </a:p>
            </p:txBody>
          </p:sp>
          <p:sp>
            <p:nvSpPr>
              <p:cNvPr id="694327" name="Freeform 55"/>
              <p:cNvSpPr>
                <a:spLocks/>
              </p:cNvSpPr>
              <p:nvPr/>
            </p:nvSpPr>
            <p:spPr bwMode="auto">
              <a:xfrm>
                <a:off x="3536" y="1728"/>
                <a:ext cx="336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27"/>
                  </a:cxn>
                  <a:cxn ang="0">
                    <a:pos x="111" y="553"/>
                  </a:cxn>
                  <a:cxn ang="0">
                    <a:pos x="0" y="671"/>
                  </a:cxn>
                  <a:cxn ang="0">
                    <a:pos x="0" y="1098"/>
                  </a:cxn>
                  <a:cxn ang="0">
                    <a:pos x="387" y="790"/>
                  </a:cxn>
                  <a:cxn ang="0">
                    <a:pos x="387" y="308"/>
                  </a:cxn>
                  <a:cxn ang="0">
                    <a:pos x="0" y="0"/>
                  </a:cxn>
                </a:cxnLst>
                <a:rect l="0" t="0" r="r" b="b"/>
                <a:pathLst>
                  <a:path w="388" h="1099">
                    <a:moveTo>
                      <a:pt x="0" y="0"/>
                    </a:moveTo>
                    <a:lnTo>
                      <a:pt x="0" y="427"/>
                    </a:lnTo>
                    <a:lnTo>
                      <a:pt x="111" y="553"/>
                    </a:lnTo>
                    <a:lnTo>
                      <a:pt x="0" y="671"/>
                    </a:lnTo>
                    <a:lnTo>
                      <a:pt x="0" y="1098"/>
                    </a:lnTo>
                    <a:lnTo>
                      <a:pt x="387" y="790"/>
                    </a:lnTo>
                    <a:lnTo>
                      <a:pt x="387" y="308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28" name="Rectangle 56"/>
              <p:cNvSpPr>
                <a:spLocks noChangeArrowheads="1"/>
              </p:cNvSpPr>
              <p:nvPr/>
            </p:nvSpPr>
            <p:spPr bwMode="auto">
              <a:xfrm>
                <a:off x="3600" y="2112"/>
                <a:ext cx="31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19050" tIns="26988" rIns="19050" bIns="26988"/>
              <a:lstStyle/>
              <a:p>
                <a:pPr defTabSz="904875">
                  <a:lnSpc>
                    <a:spcPts val="1600"/>
                  </a:lnSpc>
                  <a:tabLst>
                    <a:tab pos="452438" algn="l"/>
                    <a:tab pos="904875" algn="l"/>
                    <a:tab pos="1357313" algn="l"/>
                  </a:tabLst>
                </a:pPr>
                <a:r>
                  <a:rPr lang="en-US" sz="1200" b="1">
                    <a:solidFill>
                      <a:srgbClr val="000000"/>
                    </a:solidFill>
                  </a:rPr>
                  <a:t>ALU</a:t>
                </a:r>
              </a:p>
            </p:txBody>
          </p:sp>
          <p:sp>
            <p:nvSpPr>
              <p:cNvPr id="694329" name="Rectangle 57"/>
              <p:cNvSpPr>
                <a:spLocks noChangeArrowheads="1"/>
              </p:cNvSpPr>
              <p:nvPr/>
            </p:nvSpPr>
            <p:spPr bwMode="auto">
              <a:xfrm>
                <a:off x="3632" y="1440"/>
                <a:ext cx="480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19050" tIns="26988" rIns="19050" bIns="26988"/>
              <a:lstStyle/>
              <a:p>
                <a:pPr defTabSz="904875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  <a:tabLst>
                    <a:tab pos="452438" algn="l"/>
                    <a:tab pos="904875" algn="l"/>
                    <a:tab pos="1357313" algn="l"/>
                  </a:tabLst>
                </a:pPr>
                <a:r>
                  <a:rPr lang="en-US" sz="1400">
                    <a:solidFill>
                      <a:srgbClr val="000000"/>
                    </a:solidFill>
                  </a:rPr>
                  <a:t>ovf</a:t>
                </a:r>
              </a:p>
            </p:txBody>
          </p:sp>
          <p:sp>
            <p:nvSpPr>
              <p:cNvPr id="694330" name="Rectangle 58"/>
              <p:cNvSpPr>
                <a:spLocks noChangeArrowheads="1"/>
              </p:cNvSpPr>
              <p:nvPr/>
            </p:nvSpPr>
            <p:spPr bwMode="auto">
              <a:xfrm>
                <a:off x="3728" y="1584"/>
                <a:ext cx="336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19050" tIns="26988" rIns="19050" bIns="26988"/>
              <a:lstStyle/>
              <a:p>
                <a:pPr defTabSz="904875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  <a:tabLst>
                    <a:tab pos="452438" algn="l"/>
                    <a:tab pos="904875" algn="l"/>
                    <a:tab pos="1357313" algn="l"/>
                  </a:tabLst>
                </a:pPr>
                <a:r>
                  <a:rPr lang="en-US" sz="1400">
                    <a:solidFill>
                      <a:srgbClr val="000000"/>
                    </a:solidFill>
                  </a:rPr>
                  <a:t>zero</a:t>
                </a:r>
              </a:p>
            </p:txBody>
          </p:sp>
          <p:sp>
            <p:nvSpPr>
              <p:cNvPr id="694331" name="Rectangle 59"/>
              <p:cNvSpPr>
                <a:spLocks noChangeArrowheads="1"/>
              </p:cNvSpPr>
              <p:nvPr/>
            </p:nvSpPr>
            <p:spPr bwMode="auto">
              <a:xfrm>
                <a:off x="3552" y="1248"/>
                <a:ext cx="583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19050" tIns="26988" rIns="19050" bIns="26988"/>
              <a:lstStyle/>
              <a:p>
                <a:pPr defTabSz="904875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  <a:tabLst>
                    <a:tab pos="452438" algn="l"/>
                    <a:tab pos="904875" algn="l"/>
                    <a:tab pos="1357313" algn="l"/>
                  </a:tabLst>
                </a:pPr>
                <a:r>
                  <a:rPr lang="en-US" sz="1400"/>
                  <a:t>ALU control</a:t>
                </a:r>
              </a:p>
            </p:txBody>
          </p:sp>
          <p:sp>
            <p:nvSpPr>
              <p:cNvPr id="694332" name="Line 60"/>
              <p:cNvSpPr>
                <a:spLocks noChangeShapeType="1"/>
              </p:cNvSpPr>
              <p:nvPr/>
            </p:nvSpPr>
            <p:spPr bwMode="auto">
              <a:xfrm>
                <a:off x="3632" y="14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33" name="Line 61"/>
              <p:cNvSpPr>
                <a:spLocks noChangeShapeType="1"/>
              </p:cNvSpPr>
              <p:nvPr/>
            </p:nvSpPr>
            <p:spPr bwMode="auto">
              <a:xfrm>
                <a:off x="2528" y="14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34" name="Rectangle 62"/>
              <p:cNvSpPr>
                <a:spLocks noChangeArrowheads="1"/>
              </p:cNvSpPr>
              <p:nvPr/>
            </p:nvSpPr>
            <p:spPr bwMode="auto">
              <a:xfrm>
                <a:off x="2336" y="1248"/>
                <a:ext cx="583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19050" tIns="26988" rIns="19050" bIns="26988"/>
              <a:lstStyle/>
              <a:p>
                <a:pPr defTabSz="904875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  <a:tabLst>
                    <a:tab pos="452438" algn="l"/>
                    <a:tab pos="904875" algn="l"/>
                    <a:tab pos="1357313" algn="l"/>
                  </a:tabLst>
                </a:pPr>
                <a:r>
                  <a:rPr lang="en-US" sz="1400"/>
                  <a:t>RegWrite</a:t>
                </a:r>
              </a:p>
            </p:txBody>
          </p:sp>
          <p:sp>
            <p:nvSpPr>
              <p:cNvPr id="694335" name="Line 63"/>
              <p:cNvSpPr>
                <a:spLocks noChangeShapeType="1"/>
              </p:cNvSpPr>
              <p:nvPr/>
            </p:nvSpPr>
            <p:spPr bwMode="auto">
              <a:xfrm flipV="1">
                <a:off x="3728" y="1584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36" name="Line 64"/>
              <p:cNvSpPr>
                <a:spLocks noChangeShapeType="1"/>
              </p:cNvSpPr>
              <p:nvPr/>
            </p:nvSpPr>
            <p:spPr bwMode="auto">
              <a:xfrm flipV="1">
                <a:off x="3824" y="172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37" name="Line 65"/>
              <p:cNvSpPr>
                <a:spLocks noChangeShapeType="1"/>
              </p:cNvSpPr>
              <p:nvPr/>
            </p:nvSpPr>
            <p:spPr bwMode="auto">
              <a:xfrm>
                <a:off x="5568" y="2256"/>
                <a:ext cx="0" cy="1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38" name="Rectangle 66"/>
              <p:cNvSpPr>
                <a:spLocks noChangeArrowheads="1"/>
              </p:cNvSpPr>
              <p:nvPr/>
            </p:nvSpPr>
            <p:spPr bwMode="auto">
              <a:xfrm>
                <a:off x="4224" y="1680"/>
                <a:ext cx="912" cy="91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4339" name="Line 67"/>
              <p:cNvSpPr>
                <a:spLocks noChangeShapeType="1"/>
              </p:cNvSpPr>
              <p:nvPr/>
            </p:nvSpPr>
            <p:spPr bwMode="auto">
              <a:xfrm>
                <a:off x="3984" y="187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40" name="Line 68"/>
              <p:cNvSpPr>
                <a:spLocks noChangeShapeType="1"/>
              </p:cNvSpPr>
              <p:nvPr/>
            </p:nvSpPr>
            <p:spPr bwMode="auto">
              <a:xfrm>
                <a:off x="4080" y="2400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41" name="Line 69"/>
              <p:cNvSpPr>
                <a:spLocks noChangeShapeType="1"/>
              </p:cNvSpPr>
              <p:nvPr/>
            </p:nvSpPr>
            <p:spPr bwMode="auto">
              <a:xfrm>
                <a:off x="4080" y="240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42" name="Text Box 70"/>
              <p:cNvSpPr txBox="1">
                <a:spLocks noChangeArrowheads="1"/>
              </p:cNvSpPr>
              <p:nvPr/>
            </p:nvSpPr>
            <p:spPr bwMode="auto">
              <a:xfrm>
                <a:off x="4176" y="1968"/>
                <a:ext cx="483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chemeClr val="tx1"/>
                    </a:solidFill>
                  </a:rPr>
                  <a:t>Data</a:t>
                </a:r>
              </a:p>
              <a:p>
                <a:pPr algn="ctr"/>
                <a:r>
                  <a:rPr lang="en-US" sz="1200" b="1">
                    <a:solidFill>
                      <a:schemeClr val="tx1"/>
                    </a:solidFill>
                  </a:rPr>
                  <a:t>Memory</a:t>
                </a:r>
              </a:p>
            </p:txBody>
          </p:sp>
          <p:sp>
            <p:nvSpPr>
              <p:cNvPr id="694343" name="Text Box 71"/>
              <p:cNvSpPr txBox="1">
                <a:spLocks noChangeArrowheads="1"/>
              </p:cNvSpPr>
              <p:nvPr/>
            </p:nvSpPr>
            <p:spPr bwMode="auto">
              <a:xfrm>
                <a:off x="4176" y="1776"/>
                <a:ext cx="467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Address</a:t>
                </a:r>
              </a:p>
            </p:txBody>
          </p:sp>
          <p:sp>
            <p:nvSpPr>
              <p:cNvPr id="694344" name="Text Box 72"/>
              <p:cNvSpPr txBox="1">
                <a:spLocks noChangeArrowheads="1"/>
              </p:cNvSpPr>
              <p:nvPr/>
            </p:nvSpPr>
            <p:spPr bwMode="auto">
              <a:xfrm>
                <a:off x="4176" y="2304"/>
                <a:ext cx="569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Write Data</a:t>
                </a:r>
              </a:p>
            </p:txBody>
          </p:sp>
          <p:sp>
            <p:nvSpPr>
              <p:cNvPr id="694345" name="Text Box 73"/>
              <p:cNvSpPr txBox="1">
                <a:spLocks noChangeArrowheads="1"/>
              </p:cNvSpPr>
              <p:nvPr/>
            </p:nvSpPr>
            <p:spPr bwMode="auto">
              <a:xfrm>
                <a:off x="4608" y="2064"/>
                <a:ext cx="573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Read Data</a:t>
                </a:r>
              </a:p>
            </p:txBody>
          </p:sp>
          <p:sp>
            <p:nvSpPr>
              <p:cNvPr id="694346" name="Line 74"/>
              <p:cNvSpPr>
                <a:spLocks noChangeShapeType="1"/>
              </p:cNvSpPr>
              <p:nvPr/>
            </p:nvSpPr>
            <p:spPr bwMode="auto">
              <a:xfrm>
                <a:off x="4656" y="14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47" name="Rectangle 75"/>
              <p:cNvSpPr>
                <a:spLocks noChangeArrowheads="1"/>
              </p:cNvSpPr>
              <p:nvPr/>
            </p:nvSpPr>
            <p:spPr bwMode="auto">
              <a:xfrm>
                <a:off x="4368" y="1248"/>
                <a:ext cx="583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19050" tIns="26988" rIns="19050" bIns="26988"/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400"/>
                  <a:t>MemWrite</a:t>
                </a:r>
              </a:p>
            </p:txBody>
          </p:sp>
          <p:sp>
            <p:nvSpPr>
              <p:cNvPr id="694348" name="Rectangle 76"/>
              <p:cNvSpPr>
                <a:spLocks noChangeArrowheads="1"/>
              </p:cNvSpPr>
              <p:nvPr/>
            </p:nvSpPr>
            <p:spPr bwMode="auto">
              <a:xfrm>
                <a:off x="4416" y="2784"/>
                <a:ext cx="583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19050" tIns="26988" rIns="19050" bIns="26988"/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400"/>
                  <a:t>MemRead</a:t>
                </a:r>
              </a:p>
            </p:txBody>
          </p:sp>
          <p:sp>
            <p:nvSpPr>
              <p:cNvPr id="694349" name="Line 77"/>
              <p:cNvSpPr>
                <a:spLocks noChangeShapeType="1"/>
              </p:cNvSpPr>
              <p:nvPr/>
            </p:nvSpPr>
            <p:spPr bwMode="auto">
              <a:xfrm>
                <a:off x="4656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 type="triangle" w="med" len="med"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50" name="Line 78"/>
              <p:cNvSpPr>
                <a:spLocks noChangeShapeType="1"/>
              </p:cNvSpPr>
              <p:nvPr/>
            </p:nvSpPr>
            <p:spPr bwMode="auto">
              <a:xfrm>
                <a:off x="1824" y="3456"/>
                <a:ext cx="37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51" name="Line 79"/>
              <p:cNvSpPr>
                <a:spLocks noChangeShapeType="1"/>
              </p:cNvSpPr>
              <p:nvPr/>
            </p:nvSpPr>
            <p:spPr bwMode="auto">
              <a:xfrm>
                <a:off x="3072" y="2688"/>
                <a:ext cx="10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52" name="Line 80"/>
              <p:cNvSpPr>
                <a:spLocks noChangeShapeType="1"/>
              </p:cNvSpPr>
              <p:nvPr/>
            </p:nvSpPr>
            <p:spPr bwMode="auto">
              <a:xfrm>
                <a:off x="2928" y="302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53" name="Oval 81"/>
              <p:cNvSpPr>
                <a:spLocks noChangeArrowheads="1"/>
              </p:cNvSpPr>
              <p:nvPr/>
            </p:nvSpPr>
            <p:spPr bwMode="auto">
              <a:xfrm>
                <a:off x="2544" y="2784"/>
                <a:ext cx="384" cy="57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4354" name="Rectangle 82"/>
              <p:cNvSpPr>
                <a:spLocks noChangeArrowheads="1"/>
              </p:cNvSpPr>
              <p:nvPr/>
            </p:nvSpPr>
            <p:spPr bwMode="auto">
              <a:xfrm>
                <a:off x="2576" y="2880"/>
                <a:ext cx="336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19050" tIns="26988" rIns="19050" bIns="26988"/>
              <a:lstStyle/>
              <a:p>
                <a:pPr algn="ctr"/>
                <a:r>
                  <a:rPr lang="en-US" sz="1200" b="1">
                    <a:solidFill>
                      <a:srgbClr val="000000"/>
                    </a:solidFill>
                  </a:rPr>
                  <a:t>Sign</a:t>
                </a:r>
              </a:p>
              <a:p>
                <a:pPr algn="ctr"/>
                <a:r>
                  <a:rPr lang="en-US" sz="1200" b="1">
                    <a:solidFill>
                      <a:srgbClr val="000000"/>
                    </a:solidFill>
                  </a:rPr>
                  <a:t>Extend</a:t>
                </a:r>
              </a:p>
            </p:txBody>
          </p:sp>
          <p:sp>
            <p:nvSpPr>
              <p:cNvPr id="694355" name="Line 83"/>
              <p:cNvSpPr>
                <a:spLocks noChangeShapeType="1"/>
              </p:cNvSpPr>
              <p:nvPr/>
            </p:nvSpPr>
            <p:spPr bwMode="auto">
              <a:xfrm>
                <a:off x="1920" y="302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56" name="Line 84"/>
              <p:cNvSpPr>
                <a:spLocks noChangeShapeType="1"/>
              </p:cNvSpPr>
              <p:nvPr/>
            </p:nvSpPr>
            <p:spPr bwMode="auto">
              <a:xfrm>
                <a:off x="2336" y="2976"/>
                <a:ext cx="48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57" name="Line 85"/>
              <p:cNvSpPr>
                <a:spLocks noChangeShapeType="1"/>
              </p:cNvSpPr>
              <p:nvPr/>
            </p:nvSpPr>
            <p:spPr bwMode="auto">
              <a:xfrm>
                <a:off x="2976" y="2976"/>
                <a:ext cx="48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58" name="Text Box 86"/>
              <p:cNvSpPr txBox="1">
                <a:spLocks noChangeArrowheads="1"/>
              </p:cNvSpPr>
              <p:nvPr/>
            </p:nvSpPr>
            <p:spPr bwMode="auto">
              <a:xfrm>
                <a:off x="2336" y="3024"/>
                <a:ext cx="222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694359" name="Text Box 87"/>
              <p:cNvSpPr txBox="1">
                <a:spLocks noChangeArrowheads="1"/>
              </p:cNvSpPr>
              <p:nvPr/>
            </p:nvSpPr>
            <p:spPr bwMode="auto">
              <a:xfrm>
                <a:off x="2976" y="3024"/>
                <a:ext cx="222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32</a:t>
                </a:r>
              </a:p>
            </p:txBody>
          </p:sp>
          <p:sp>
            <p:nvSpPr>
              <p:cNvPr id="694360" name="Line 88"/>
              <p:cNvSpPr>
                <a:spLocks noChangeShapeType="1"/>
              </p:cNvSpPr>
              <p:nvPr/>
            </p:nvSpPr>
            <p:spPr bwMode="auto">
              <a:xfrm>
                <a:off x="3072" y="230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61" name="Line 89"/>
              <p:cNvSpPr>
                <a:spLocks noChangeShapeType="1"/>
              </p:cNvSpPr>
              <p:nvPr/>
            </p:nvSpPr>
            <p:spPr bwMode="auto">
              <a:xfrm>
                <a:off x="1920" y="1776"/>
                <a:ext cx="0" cy="12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62" name="Line 90"/>
              <p:cNvSpPr>
                <a:spLocks noChangeShapeType="1"/>
              </p:cNvSpPr>
              <p:nvPr/>
            </p:nvSpPr>
            <p:spPr bwMode="auto">
              <a:xfrm>
                <a:off x="1824" y="2496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63" name="Line 91"/>
              <p:cNvSpPr>
                <a:spLocks noChangeShapeType="1"/>
              </p:cNvSpPr>
              <p:nvPr/>
            </p:nvSpPr>
            <p:spPr bwMode="auto">
              <a:xfrm>
                <a:off x="3408" y="2400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64" name="Line 92"/>
              <p:cNvSpPr>
                <a:spLocks noChangeShapeType="1"/>
              </p:cNvSpPr>
              <p:nvPr/>
            </p:nvSpPr>
            <p:spPr bwMode="auto">
              <a:xfrm>
                <a:off x="1824" y="2496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65" name="Line 93"/>
              <p:cNvSpPr>
                <a:spLocks noChangeShapeType="1"/>
              </p:cNvSpPr>
              <p:nvPr/>
            </p:nvSpPr>
            <p:spPr bwMode="auto">
              <a:xfrm>
                <a:off x="3168" y="2544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66" name="Line 94"/>
              <p:cNvSpPr>
                <a:spLocks noChangeShapeType="1"/>
              </p:cNvSpPr>
              <p:nvPr/>
            </p:nvSpPr>
            <p:spPr bwMode="auto">
              <a:xfrm>
                <a:off x="2976" y="230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95"/>
            <p:cNvGrpSpPr>
              <a:grpSpLocks/>
            </p:cNvGrpSpPr>
            <p:nvPr/>
          </p:nvGrpSpPr>
          <p:grpSpPr bwMode="auto">
            <a:xfrm>
              <a:off x="3024" y="1248"/>
              <a:ext cx="480" cy="1392"/>
              <a:chOff x="3024" y="1248"/>
              <a:chExt cx="480" cy="1392"/>
            </a:xfrm>
          </p:grpSpPr>
          <p:sp>
            <p:nvSpPr>
              <p:cNvPr id="694368" name="Line 96"/>
              <p:cNvSpPr>
                <a:spLocks noChangeShapeType="1"/>
              </p:cNvSpPr>
              <p:nvPr/>
            </p:nvSpPr>
            <p:spPr bwMode="auto">
              <a:xfrm>
                <a:off x="3024" y="2304"/>
                <a:ext cx="2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69" name="Line 97"/>
              <p:cNvSpPr>
                <a:spLocks noChangeShapeType="1"/>
              </p:cNvSpPr>
              <p:nvPr/>
            </p:nvSpPr>
            <p:spPr bwMode="auto">
              <a:xfrm>
                <a:off x="3168" y="2544"/>
                <a:ext cx="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70" name="AutoShape 98"/>
              <p:cNvSpPr>
                <a:spLocks noChangeArrowheads="1"/>
              </p:cNvSpPr>
              <p:nvPr/>
            </p:nvSpPr>
            <p:spPr bwMode="auto">
              <a:xfrm rot="-5400000">
                <a:off x="3120" y="2352"/>
                <a:ext cx="432" cy="144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4371" name="Line 99"/>
              <p:cNvSpPr>
                <a:spLocks noChangeShapeType="1"/>
              </p:cNvSpPr>
              <p:nvPr/>
            </p:nvSpPr>
            <p:spPr bwMode="auto">
              <a:xfrm>
                <a:off x="3312" y="1488"/>
                <a:ext cx="0" cy="72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372" name="Rectangle 100"/>
              <p:cNvSpPr>
                <a:spLocks noChangeArrowheads="1"/>
              </p:cNvSpPr>
              <p:nvPr/>
            </p:nvSpPr>
            <p:spPr bwMode="auto">
              <a:xfrm>
                <a:off x="3072" y="1248"/>
                <a:ext cx="432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19050" tIns="26988" rIns="19050" bIns="26988"/>
              <a:lstStyle/>
              <a:p>
                <a:pPr defTabSz="904875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  <a:tabLst>
                    <a:tab pos="452438" algn="l"/>
                    <a:tab pos="904875" algn="l"/>
                    <a:tab pos="1357313" algn="l"/>
                  </a:tabLst>
                </a:pPr>
                <a:r>
                  <a:rPr lang="en-US" sz="1400"/>
                  <a:t>ALUSrc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179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Clock Distribution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82600" y="2133600"/>
            <a:ext cx="8520113" cy="4114800"/>
            <a:chOff x="304" y="1344"/>
            <a:chExt cx="5367" cy="2592"/>
          </a:xfrm>
        </p:grpSpPr>
        <p:sp>
          <p:nvSpPr>
            <p:cNvPr id="695300" name="Line 4"/>
            <p:cNvSpPr>
              <a:spLocks noChangeShapeType="1"/>
            </p:cNvSpPr>
            <p:nvPr/>
          </p:nvSpPr>
          <p:spPr bwMode="auto">
            <a:xfrm>
              <a:off x="3984" y="3504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5088" y="1728"/>
              <a:ext cx="583" cy="1776"/>
              <a:chOff x="5088" y="1248"/>
              <a:chExt cx="583" cy="1776"/>
            </a:xfrm>
          </p:grpSpPr>
          <p:sp>
            <p:nvSpPr>
              <p:cNvPr id="695302" name="Line 6"/>
              <p:cNvSpPr>
                <a:spLocks noChangeShapeType="1"/>
              </p:cNvSpPr>
              <p:nvPr/>
            </p:nvSpPr>
            <p:spPr bwMode="auto">
              <a:xfrm>
                <a:off x="5184" y="2400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303" name="Line 7"/>
              <p:cNvSpPr>
                <a:spLocks noChangeShapeType="1"/>
              </p:cNvSpPr>
              <p:nvPr/>
            </p:nvSpPr>
            <p:spPr bwMode="auto">
              <a:xfrm>
                <a:off x="5136" y="216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304" name="Line 8"/>
              <p:cNvSpPr>
                <a:spLocks noChangeShapeType="1"/>
              </p:cNvSpPr>
              <p:nvPr/>
            </p:nvSpPr>
            <p:spPr bwMode="auto">
              <a:xfrm>
                <a:off x="5184" y="2400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305" name="AutoShape 9"/>
              <p:cNvSpPr>
                <a:spLocks noChangeArrowheads="1"/>
              </p:cNvSpPr>
              <p:nvPr/>
            </p:nvSpPr>
            <p:spPr bwMode="auto">
              <a:xfrm rot="-5400000">
                <a:off x="5184" y="2208"/>
                <a:ext cx="432" cy="144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5306" name="Line 10"/>
              <p:cNvSpPr>
                <a:spLocks noChangeShapeType="1"/>
              </p:cNvSpPr>
              <p:nvPr/>
            </p:nvSpPr>
            <p:spPr bwMode="auto">
              <a:xfrm>
                <a:off x="5472" y="2256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307" name="Line 11"/>
              <p:cNvSpPr>
                <a:spLocks noChangeShapeType="1"/>
              </p:cNvSpPr>
              <p:nvPr/>
            </p:nvSpPr>
            <p:spPr bwMode="auto">
              <a:xfrm>
                <a:off x="5376" y="1488"/>
                <a:ext cx="0" cy="576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308" name="Rectangle 12"/>
              <p:cNvSpPr>
                <a:spLocks noChangeArrowheads="1"/>
              </p:cNvSpPr>
              <p:nvPr/>
            </p:nvSpPr>
            <p:spPr bwMode="auto">
              <a:xfrm>
                <a:off x="5088" y="1248"/>
                <a:ext cx="583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19050" tIns="26988" rIns="19050" bIns="26988"/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400"/>
                  <a:t>MemtoReg</a:t>
                </a:r>
              </a:p>
            </p:txBody>
          </p:sp>
        </p:grpSp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1264" y="1440"/>
              <a:ext cx="240" cy="624"/>
              <a:chOff x="1392" y="2880"/>
              <a:chExt cx="288" cy="480"/>
            </a:xfrm>
          </p:grpSpPr>
          <p:sp>
            <p:nvSpPr>
              <p:cNvPr id="695310" name="Line 14"/>
              <p:cNvSpPr>
                <a:spLocks noChangeShapeType="1"/>
              </p:cNvSpPr>
              <p:nvPr/>
            </p:nvSpPr>
            <p:spPr bwMode="auto">
              <a:xfrm>
                <a:off x="1392" y="3072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311" name="Line 15"/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312" name="Line 16"/>
              <p:cNvSpPr>
                <a:spLocks noChangeShapeType="1"/>
              </p:cNvSpPr>
              <p:nvPr/>
            </p:nvSpPr>
            <p:spPr bwMode="auto">
              <a:xfrm flipV="1">
                <a:off x="1392" y="2880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313" name="Line 17"/>
              <p:cNvSpPr>
                <a:spLocks noChangeShapeType="1"/>
              </p:cNvSpPr>
              <p:nvPr/>
            </p:nvSpPr>
            <p:spPr bwMode="auto">
              <a:xfrm flipV="1">
                <a:off x="1392" y="316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314" name="Line 18"/>
              <p:cNvSpPr>
                <a:spLocks noChangeShapeType="1"/>
              </p:cNvSpPr>
              <p:nvPr/>
            </p:nvSpPr>
            <p:spPr bwMode="auto">
              <a:xfrm flipV="1">
                <a:off x="1392" y="3216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315" name="Line 19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316" name="Line 20"/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95317" name="Rectangle 21"/>
            <p:cNvSpPr>
              <a:spLocks noChangeArrowheads="1"/>
            </p:cNvSpPr>
            <p:nvPr/>
          </p:nvSpPr>
          <p:spPr bwMode="auto">
            <a:xfrm>
              <a:off x="832" y="2160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8" name="Rectangle 22"/>
            <p:cNvSpPr>
              <a:spLocks noChangeArrowheads="1"/>
            </p:cNvSpPr>
            <p:nvPr/>
          </p:nvSpPr>
          <p:spPr bwMode="auto">
            <a:xfrm>
              <a:off x="496" y="2400"/>
              <a:ext cx="144" cy="528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9" name="Line 23"/>
            <p:cNvSpPr>
              <a:spLocks noChangeShapeType="1"/>
            </p:cNvSpPr>
            <p:nvPr/>
          </p:nvSpPr>
          <p:spPr bwMode="auto">
            <a:xfrm>
              <a:off x="640" y="264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20" name="Line 24"/>
            <p:cNvSpPr>
              <a:spLocks noChangeShapeType="1"/>
            </p:cNvSpPr>
            <p:nvPr/>
          </p:nvSpPr>
          <p:spPr bwMode="auto">
            <a:xfrm>
              <a:off x="688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21" name="Line 25"/>
            <p:cNvSpPr>
              <a:spLocks noChangeShapeType="1"/>
            </p:cNvSpPr>
            <p:nvPr/>
          </p:nvSpPr>
          <p:spPr bwMode="auto">
            <a:xfrm>
              <a:off x="1024" y="196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22" name="Line 26"/>
            <p:cNvSpPr>
              <a:spLocks noChangeShapeType="1"/>
            </p:cNvSpPr>
            <p:nvPr/>
          </p:nvSpPr>
          <p:spPr bwMode="auto">
            <a:xfrm>
              <a:off x="1696" y="134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23" name="Line 27"/>
            <p:cNvSpPr>
              <a:spLocks noChangeShapeType="1"/>
            </p:cNvSpPr>
            <p:nvPr/>
          </p:nvSpPr>
          <p:spPr bwMode="auto">
            <a:xfrm>
              <a:off x="1504" y="172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24" name="Text Box 28"/>
            <p:cNvSpPr txBox="1">
              <a:spLocks noChangeArrowheads="1"/>
            </p:cNvSpPr>
            <p:nvPr/>
          </p:nvSpPr>
          <p:spPr bwMode="auto">
            <a:xfrm>
              <a:off x="784" y="2496"/>
              <a:ext cx="467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r>
                <a:rPr lang="en-US" sz="1200">
                  <a:solidFill>
                    <a:schemeClr val="tx1"/>
                  </a:solidFill>
                </a:rPr>
                <a:t>Address</a:t>
              </a:r>
            </a:p>
          </p:txBody>
        </p:sp>
        <p:sp>
          <p:nvSpPr>
            <p:cNvPr id="695325" name="Text Box 29"/>
            <p:cNvSpPr txBox="1">
              <a:spLocks noChangeArrowheads="1"/>
            </p:cNvSpPr>
            <p:nvPr/>
          </p:nvSpPr>
          <p:spPr bwMode="auto">
            <a:xfrm>
              <a:off x="1215" y="2544"/>
              <a:ext cx="55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tx1"/>
                  </a:solidFill>
                </a:rPr>
                <a:t>Instruction</a:t>
              </a:r>
            </a:p>
          </p:txBody>
        </p:sp>
        <p:sp>
          <p:nvSpPr>
            <p:cNvPr id="695326" name="Text Box 30"/>
            <p:cNvSpPr txBox="1">
              <a:spLocks noChangeArrowheads="1"/>
            </p:cNvSpPr>
            <p:nvPr/>
          </p:nvSpPr>
          <p:spPr bwMode="auto">
            <a:xfrm>
              <a:off x="976" y="2208"/>
              <a:ext cx="61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Instruction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695327" name="Text Box 31"/>
            <p:cNvSpPr txBox="1">
              <a:spLocks noChangeArrowheads="1"/>
            </p:cNvSpPr>
            <p:nvPr/>
          </p:nvSpPr>
          <p:spPr bwMode="auto">
            <a:xfrm>
              <a:off x="1264" y="1680"/>
              <a:ext cx="30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Add</a:t>
              </a:r>
            </a:p>
          </p:txBody>
        </p:sp>
        <p:sp>
          <p:nvSpPr>
            <p:cNvPr id="695328" name="Text Box 32"/>
            <p:cNvSpPr txBox="1">
              <a:spLocks noChangeArrowheads="1"/>
            </p:cNvSpPr>
            <p:nvPr/>
          </p:nvSpPr>
          <p:spPr bwMode="auto">
            <a:xfrm>
              <a:off x="448" y="2544"/>
              <a:ext cx="24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PC</a:t>
              </a:r>
            </a:p>
          </p:txBody>
        </p:sp>
        <p:sp>
          <p:nvSpPr>
            <p:cNvPr id="695329" name="Line 33"/>
            <p:cNvSpPr>
              <a:spLocks noChangeShapeType="1"/>
            </p:cNvSpPr>
            <p:nvPr/>
          </p:nvSpPr>
          <p:spPr bwMode="auto">
            <a:xfrm>
              <a:off x="304" y="1344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30" name="Line 34"/>
            <p:cNvSpPr>
              <a:spLocks noChangeShapeType="1"/>
            </p:cNvSpPr>
            <p:nvPr/>
          </p:nvSpPr>
          <p:spPr bwMode="auto">
            <a:xfrm>
              <a:off x="304" y="1344"/>
              <a:ext cx="0" cy="12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31" name="Line 35"/>
            <p:cNvSpPr>
              <a:spLocks noChangeShapeType="1"/>
            </p:cNvSpPr>
            <p:nvPr/>
          </p:nvSpPr>
          <p:spPr bwMode="auto">
            <a:xfrm>
              <a:off x="304" y="264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32" name="Line 36"/>
            <p:cNvSpPr>
              <a:spLocks noChangeShapeType="1"/>
            </p:cNvSpPr>
            <p:nvPr/>
          </p:nvSpPr>
          <p:spPr bwMode="auto">
            <a:xfrm>
              <a:off x="688" y="1536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33" name="Text Box 37"/>
            <p:cNvSpPr txBox="1">
              <a:spLocks noChangeArrowheads="1"/>
            </p:cNvSpPr>
            <p:nvPr/>
          </p:nvSpPr>
          <p:spPr bwMode="auto">
            <a:xfrm>
              <a:off x="880" y="1872"/>
              <a:ext cx="1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95334" name="Rectangle 38"/>
            <p:cNvSpPr>
              <a:spLocks noChangeArrowheads="1"/>
            </p:cNvSpPr>
            <p:nvPr/>
          </p:nvSpPr>
          <p:spPr bwMode="auto">
            <a:xfrm>
              <a:off x="2096" y="2160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35" name="Line 39"/>
            <p:cNvSpPr>
              <a:spLocks noChangeShapeType="1"/>
            </p:cNvSpPr>
            <p:nvPr/>
          </p:nvSpPr>
          <p:spPr bwMode="auto">
            <a:xfrm>
              <a:off x="1744" y="2640"/>
              <a:ext cx="1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36" name="Line 40"/>
            <p:cNvSpPr>
              <a:spLocks noChangeShapeType="1"/>
            </p:cNvSpPr>
            <p:nvPr/>
          </p:nvSpPr>
          <p:spPr bwMode="auto">
            <a:xfrm>
              <a:off x="1904" y="249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37" name="Line 41"/>
            <p:cNvSpPr>
              <a:spLocks noChangeShapeType="1"/>
            </p:cNvSpPr>
            <p:nvPr/>
          </p:nvSpPr>
          <p:spPr bwMode="auto">
            <a:xfrm>
              <a:off x="1904" y="273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38" name="Line 42"/>
            <p:cNvSpPr>
              <a:spLocks noChangeShapeType="1"/>
            </p:cNvSpPr>
            <p:nvPr/>
          </p:nvSpPr>
          <p:spPr bwMode="auto">
            <a:xfrm>
              <a:off x="1904" y="225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39" name="Line 43"/>
            <p:cNvSpPr>
              <a:spLocks noChangeShapeType="1"/>
            </p:cNvSpPr>
            <p:nvPr/>
          </p:nvSpPr>
          <p:spPr bwMode="auto">
            <a:xfrm>
              <a:off x="3008" y="2400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40" name="Line 44"/>
            <p:cNvSpPr>
              <a:spLocks noChangeShapeType="1"/>
            </p:cNvSpPr>
            <p:nvPr/>
          </p:nvSpPr>
          <p:spPr bwMode="auto">
            <a:xfrm>
              <a:off x="3888" y="2640"/>
              <a:ext cx="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41" name="Line 45"/>
            <p:cNvSpPr>
              <a:spLocks noChangeShapeType="1"/>
            </p:cNvSpPr>
            <p:nvPr/>
          </p:nvSpPr>
          <p:spPr bwMode="auto">
            <a:xfrm flipH="1">
              <a:off x="3984" y="2352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42" name="Text Box 46"/>
            <p:cNvSpPr txBox="1">
              <a:spLocks noChangeArrowheads="1"/>
            </p:cNvSpPr>
            <p:nvPr/>
          </p:nvSpPr>
          <p:spPr bwMode="auto">
            <a:xfrm>
              <a:off x="2048" y="2880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695343" name="Text Box 47"/>
            <p:cNvSpPr txBox="1">
              <a:spLocks noChangeArrowheads="1"/>
            </p:cNvSpPr>
            <p:nvPr/>
          </p:nvSpPr>
          <p:spPr bwMode="auto">
            <a:xfrm>
              <a:off x="2048" y="2160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1</a:t>
              </a:r>
            </a:p>
          </p:txBody>
        </p:sp>
        <p:sp>
          <p:nvSpPr>
            <p:cNvPr id="695344" name="Text Box 48"/>
            <p:cNvSpPr txBox="1">
              <a:spLocks noChangeArrowheads="1"/>
            </p:cNvSpPr>
            <p:nvPr/>
          </p:nvSpPr>
          <p:spPr bwMode="auto">
            <a:xfrm>
              <a:off x="2048" y="2400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2</a:t>
              </a:r>
            </a:p>
          </p:txBody>
        </p:sp>
        <p:sp>
          <p:nvSpPr>
            <p:cNvPr id="695345" name="Text Box 49"/>
            <p:cNvSpPr txBox="1">
              <a:spLocks noChangeArrowheads="1"/>
            </p:cNvSpPr>
            <p:nvPr/>
          </p:nvSpPr>
          <p:spPr bwMode="auto">
            <a:xfrm>
              <a:off x="2048" y="2640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Addr</a:t>
              </a:r>
            </a:p>
          </p:txBody>
        </p:sp>
        <p:sp>
          <p:nvSpPr>
            <p:cNvPr id="695346" name="Text Box 50"/>
            <p:cNvSpPr txBox="1">
              <a:spLocks noChangeArrowheads="1"/>
            </p:cNvSpPr>
            <p:nvPr/>
          </p:nvSpPr>
          <p:spPr bwMode="auto">
            <a:xfrm>
              <a:off x="2252" y="2304"/>
              <a:ext cx="499" cy="4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Register</a:t>
              </a:r>
            </a:p>
            <a:p>
              <a:pPr algn="ctr"/>
              <a:endParaRPr lang="en-US" sz="1200" b="1">
                <a:solidFill>
                  <a:schemeClr val="tx1"/>
                </a:solidFill>
              </a:endParaRP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695347" name="Text Box 51"/>
            <p:cNvSpPr txBox="1">
              <a:spLocks noChangeArrowheads="1"/>
            </p:cNvSpPr>
            <p:nvPr/>
          </p:nvSpPr>
          <p:spPr bwMode="auto">
            <a:xfrm>
              <a:off x="2624" y="2256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1</a:t>
              </a:r>
            </a:p>
          </p:txBody>
        </p:sp>
        <p:sp>
          <p:nvSpPr>
            <p:cNvPr id="695348" name="Text Box 52"/>
            <p:cNvSpPr txBox="1">
              <a:spLocks noChangeArrowheads="1"/>
            </p:cNvSpPr>
            <p:nvPr/>
          </p:nvSpPr>
          <p:spPr bwMode="auto">
            <a:xfrm>
              <a:off x="2610" y="2688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 dirty="0">
                  <a:solidFill>
                    <a:schemeClr val="tx1"/>
                  </a:solidFill>
                </a:rPr>
                <a:t> Data 2</a:t>
              </a:r>
            </a:p>
          </p:txBody>
        </p:sp>
        <p:sp>
          <p:nvSpPr>
            <p:cNvPr id="695349" name="Freeform 53"/>
            <p:cNvSpPr>
              <a:spLocks/>
            </p:cNvSpPr>
            <p:nvPr/>
          </p:nvSpPr>
          <p:spPr bwMode="auto">
            <a:xfrm>
              <a:off x="3536" y="2208"/>
              <a:ext cx="336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27"/>
                </a:cxn>
                <a:cxn ang="0">
                  <a:pos x="111" y="553"/>
                </a:cxn>
                <a:cxn ang="0">
                  <a:pos x="0" y="671"/>
                </a:cxn>
                <a:cxn ang="0">
                  <a:pos x="0" y="1098"/>
                </a:cxn>
                <a:cxn ang="0">
                  <a:pos x="387" y="790"/>
                </a:cxn>
                <a:cxn ang="0">
                  <a:pos x="387" y="308"/>
                </a:cxn>
                <a:cxn ang="0">
                  <a:pos x="0" y="0"/>
                </a:cxn>
              </a:cxnLst>
              <a:rect l="0" t="0" r="r" b="b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50" name="Rectangle 54"/>
            <p:cNvSpPr>
              <a:spLocks noChangeArrowheads="1"/>
            </p:cNvSpPr>
            <p:nvPr/>
          </p:nvSpPr>
          <p:spPr bwMode="auto">
            <a:xfrm>
              <a:off x="3600" y="2592"/>
              <a:ext cx="31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ALU</a:t>
              </a:r>
            </a:p>
          </p:txBody>
        </p:sp>
        <p:sp>
          <p:nvSpPr>
            <p:cNvPr id="695351" name="Rectangle 55"/>
            <p:cNvSpPr>
              <a:spLocks noChangeArrowheads="1"/>
            </p:cNvSpPr>
            <p:nvPr/>
          </p:nvSpPr>
          <p:spPr bwMode="auto">
            <a:xfrm>
              <a:off x="3632" y="1920"/>
              <a:ext cx="480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ovf</a:t>
              </a:r>
            </a:p>
          </p:txBody>
        </p:sp>
        <p:sp>
          <p:nvSpPr>
            <p:cNvPr id="695352" name="Rectangle 56"/>
            <p:cNvSpPr>
              <a:spLocks noChangeArrowheads="1"/>
            </p:cNvSpPr>
            <p:nvPr/>
          </p:nvSpPr>
          <p:spPr bwMode="auto">
            <a:xfrm>
              <a:off x="3728" y="2064"/>
              <a:ext cx="3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zero</a:t>
              </a:r>
            </a:p>
          </p:txBody>
        </p:sp>
        <p:sp>
          <p:nvSpPr>
            <p:cNvPr id="695353" name="Rectangle 57"/>
            <p:cNvSpPr>
              <a:spLocks noChangeArrowheads="1"/>
            </p:cNvSpPr>
            <p:nvPr/>
          </p:nvSpPr>
          <p:spPr bwMode="auto">
            <a:xfrm>
              <a:off x="3552" y="1728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ALU control</a:t>
              </a:r>
            </a:p>
          </p:txBody>
        </p:sp>
        <p:sp>
          <p:nvSpPr>
            <p:cNvPr id="695354" name="Line 58"/>
            <p:cNvSpPr>
              <a:spLocks noChangeShapeType="1"/>
            </p:cNvSpPr>
            <p:nvPr/>
          </p:nvSpPr>
          <p:spPr bwMode="auto">
            <a:xfrm>
              <a:off x="3632" y="1968"/>
              <a:ext cx="0" cy="288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55" name="Line 59"/>
            <p:cNvSpPr>
              <a:spLocks noChangeShapeType="1"/>
            </p:cNvSpPr>
            <p:nvPr/>
          </p:nvSpPr>
          <p:spPr bwMode="auto">
            <a:xfrm>
              <a:off x="2496" y="1968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56" name="Rectangle 60"/>
            <p:cNvSpPr>
              <a:spLocks noChangeArrowheads="1"/>
            </p:cNvSpPr>
            <p:nvPr/>
          </p:nvSpPr>
          <p:spPr bwMode="auto">
            <a:xfrm>
              <a:off x="2544" y="1440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RegWrite</a:t>
              </a:r>
            </a:p>
          </p:txBody>
        </p:sp>
        <p:sp>
          <p:nvSpPr>
            <p:cNvPr id="695357" name="Line 61"/>
            <p:cNvSpPr>
              <a:spLocks noChangeShapeType="1"/>
            </p:cNvSpPr>
            <p:nvPr/>
          </p:nvSpPr>
          <p:spPr bwMode="auto">
            <a:xfrm flipV="1">
              <a:off x="3728" y="2064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58" name="Line 62"/>
            <p:cNvSpPr>
              <a:spLocks noChangeShapeType="1"/>
            </p:cNvSpPr>
            <p:nvPr/>
          </p:nvSpPr>
          <p:spPr bwMode="auto">
            <a:xfrm flipV="1">
              <a:off x="3824" y="22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59" name="Line 63"/>
            <p:cNvSpPr>
              <a:spLocks noChangeShapeType="1"/>
            </p:cNvSpPr>
            <p:nvPr/>
          </p:nvSpPr>
          <p:spPr bwMode="auto">
            <a:xfrm>
              <a:off x="5568" y="2736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60" name="Rectangle 64"/>
            <p:cNvSpPr>
              <a:spLocks noChangeArrowheads="1"/>
            </p:cNvSpPr>
            <p:nvPr/>
          </p:nvSpPr>
          <p:spPr bwMode="auto">
            <a:xfrm>
              <a:off x="4224" y="2160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61" name="Line 65"/>
            <p:cNvSpPr>
              <a:spLocks noChangeShapeType="1"/>
            </p:cNvSpPr>
            <p:nvPr/>
          </p:nvSpPr>
          <p:spPr bwMode="auto">
            <a:xfrm>
              <a:off x="3984" y="2352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62" name="Line 66"/>
            <p:cNvSpPr>
              <a:spLocks noChangeShapeType="1"/>
            </p:cNvSpPr>
            <p:nvPr/>
          </p:nvSpPr>
          <p:spPr bwMode="auto">
            <a:xfrm>
              <a:off x="4080" y="288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63" name="Line 67"/>
            <p:cNvSpPr>
              <a:spLocks noChangeShapeType="1"/>
            </p:cNvSpPr>
            <p:nvPr/>
          </p:nvSpPr>
          <p:spPr bwMode="auto">
            <a:xfrm>
              <a:off x="4080" y="288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64" name="Text Box 68"/>
            <p:cNvSpPr txBox="1">
              <a:spLocks noChangeArrowheads="1"/>
            </p:cNvSpPr>
            <p:nvPr/>
          </p:nvSpPr>
          <p:spPr bwMode="auto">
            <a:xfrm>
              <a:off x="4176" y="2448"/>
              <a:ext cx="48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Data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695365" name="Text Box 69"/>
            <p:cNvSpPr txBox="1">
              <a:spLocks noChangeArrowheads="1"/>
            </p:cNvSpPr>
            <p:nvPr/>
          </p:nvSpPr>
          <p:spPr bwMode="auto">
            <a:xfrm>
              <a:off x="4176" y="2256"/>
              <a:ext cx="467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Address</a:t>
              </a:r>
            </a:p>
          </p:txBody>
        </p:sp>
        <p:sp>
          <p:nvSpPr>
            <p:cNvPr id="695366" name="Text Box 70"/>
            <p:cNvSpPr txBox="1">
              <a:spLocks noChangeArrowheads="1"/>
            </p:cNvSpPr>
            <p:nvPr/>
          </p:nvSpPr>
          <p:spPr bwMode="auto">
            <a:xfrm>
              <a:off x="4176" y="2784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695367" name="Text Box 71"/>
            <p:cNvSpPr txBox="1">
              <a:spLocks noChangeArrowheads="1"/>
            </p:cNvSpPr>
            <p:nvPr/>
          </p:nvSpPr>
          <p:spPr bwMode="auto">
            <a:xfrm>
              <a:off x="4608" y="2544"/>
              <a:ext cx="57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Data</a:t>
              </a:r>
            </a:p>
          </p:txBody>
        </p:sp>
        <p:sp>
          <p:nvSpPr>
            <p:cNvPr id="695368" name="Line 72"/>
            <p:cNvSpPr>
              <a:spLocks noChangeShapeType="1"/>
            </p:cNvSpPr>
            <p:nvPr/>
          </p:nvSpPr>
          <p:spPr bwMode="auto">
            <a:xfrm>
              <a:off x="4656" y="1968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69" name="Rectangle 73"/>
            <p:cNvSpPr>
              <a:spLocks noChangeArrowheads="1"/>
            </p:cNvSpPr>
            <p:nvPr/>
          </p:nvSpPr>
          <p:spPr bwMode="auto">
            <a:xfrm>
              <a:off x="4656" y="1440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400"/>
                <a:t>MemWrite</a:t>
              </a:r>
            </a:p>
          </p:txBody>
        </p:sp>
        <p:sp>
          <p:nvSpPr>
            <p:cNvPr id="695370" name="Rectangle 74"/>
            <p:cNvSpPr>
              <a:spLocks noChangeArrowheads="1"/>
            </p:cNvSpPr>
            <p:nvPr/>
          </p:nvSpPr>
          <p:spPr bwMode="auto">
            <a:xfrm>
              <a:off x="4416" y="3264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400"/>
                <a:t>MemRead</a:t>
              </a:r>
            </a:p>
          </p:txBody>
        </p:sp>
        <p:sp>
          <p:nvSpPr>
            <p:cNvPr id="695371" name="Line 75"/>
            <p:cNvSpPr>
              <a:spLocks noChangeShapeType="1"/>
            </p:cNvSpPr>
            <p:nvPr/>
          </p:nvSpPr>
          <p:spPr bwMode="auto">
            <a:xfrm>
              <a:off x="4656" y="3072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72" name="Line 76"/>
            <p:cNvSpPr>
              <a:spLocks noChangeShapeType="1"/>
            </p:cNvSpPr>
            <p:nvPr/>
          </p:nvSpPr>
          <p:spPr bwMode="auto">
            <a:xfrm>
              <a:off x="1824" y="3936"/>
              <a:ext cx="37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73" name="Line 77"/>
            <p:cNvSpPr>
              <a:spLocks noChangeShapeType="1"/>
            </p:cNvSpPr>
            <p:nvPr/>
          </p:nvSpPr>
          <p:spPr bwMode="auto">
            <a:xfrm>
              <a:off x="3072" y="3168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74" name="Line 78"/>
            <p:cNvSpPr>
              <a:spLocks noChangeShapeType="1"/>
            </p:cNvSpPr>
            <p:nvPr/>
          </p:nvSpPr>
          <p:spPr bwMode="auto">
            <a:xfrm>
              <a:off x="2928" y="350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75" name="Oval 79"/>
            <p:cNvSpPr>
              <a:spLocks noChangeArrowheads="1"/>
            </p:cNvSpPr>
            <p:nvPr/>
          </p:nvSpPr>
          <p:spPr bwMode="auto">
            <a:xfrm>
              <a:off x="2544" y="3264"/>
              <a:ext cx="384" cy="57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76" name="Rectangle 80"/>
            <p:cNvSpPr>
              <a:spLocks noChangeArrowheads="1"/>
            </p:cNvSpPr>
            <p:nvPr/>
          </p:nvSpPr>
          <p:spPr bwMode="auto">
            <a:xfrm>
              <a:off x="2576" y="3360"/>
              <a:ext cx="336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algn="ctr"/>
              <a:r>
                <a:rPr lang="en-US" sz="1200" b="1">
                  <a:solidFill>
                    <a:srgbClr val="000000"/>
                  </a:solidFill>
                </a:rPr>
                <a:t>Sign</a:t>
              </a:r>
            </a:p>
            <a:p>
              <a:pPr algn="ctr"/>
              <a:r>
                <a:rPr lang="en-US" sz="1200" b="1">
                  <a:solidFill>
                    <a:srgbClr val="000000"/>
                  </a:solidFill>
                </a:rPr>
                <a:t>Extend</a:t>
              </a:r>
            </a:p>
          </p:txBody>
        </p:sp>
        <p:sp>
          <p:nvSpPr>
            <p:cNvPr id="695377" name="Line 81"/>
            <p:cNvSpPr>
              <a:spLocks noChangeShapeType="1"/>
            </p:cNvSpPr>
            <p:nvPr/>
          </p:nvSpPr>
          <p:spPr bwMode="auto">
            <a:xfrm>
              <a:off x="1920" y="3504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78" name="Line 82"/>
            <p:cNvSpPr>
              <a:spLocks noChangeShapeType="1"/>
            </p:cNvSpPr>
            <p:nvPr/>
          </p:nvSpPr>
          <p:spPr bwMode="auto">
            <a:xfrm>
              <a:off x="2336" y="3456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79" name="Line 83"/>
            <p:cNvSpPr>
              <a:spLocks noChangeShapeType="1"/>
            </p:cNvSpPr>
            <p:nvPr/>
          </p:nvSpPr>
          <p:spPr bwMode="auto">
            <a:xfrm>
              <a:off x="2976" y="3456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80" name="Text Box 84"/>
            <p:cNvSpPr txBox="1">
              <a:spLocks noChangeArrowheads="1"/>
            </p:cNvSpPr>
            <p:nvPr/>
          </p:nvSpPr>
          <p:spPr bwMode="auto">
            <a:xfrm>
              <a:off x="2336" y="3504"/>
              <a:ext cx="2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695381" name="Text Box 85"/>
            <p:cNvSpPr txBox="1">
              <a:spLocks noChangeArrowheads="1"/>
            </p:cNvSpPr>
            <p:nvPr/>
          </p:nvSpPr>
          <p:spPr bwMode="auto">
            <a:xfrm>
              <a:off x="2976" y="3504"/>
              <a:ext cx="2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32</a:t>
              </a:r>
            </a:p>
          </p:txBody>
        </p:sp>
        <p:sp>
          <p:nvSpPr>
            <p:cNvPr id="695382" name="Line 86"/>
            <p:cNvSpPr>
              <a:spLocks noChangeShapeType="1"/>
            </p:cNvSpPr>
            <p:nvPr/>
          </p:nvSpPr>
          <p:spPr bwMode="auto">
            <a:xfrm>
              <a:off x="3072" y="278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83" name="Line 87"/>
            <p:cNvSpPr>
              <a:spLocks noChangeShapeType="1"/>
            </p:cNvSpPr>
            <p:nvPr/>
          </p:nvSpPr>
          <p:spPr bwMode="auto">
            <a:xfrm>
              <a:off x="1920" y="2256"/>
              <a:ext cx="0" cy="12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84" name="Line 88"/>
            <p:cNvSpPr>
              <a:spLocks noChangeShapeType="1"/>
            </p:cNvSpPr>
            <p:nvPr/>
          </p:nvSpPr>
          <p:spPr bwMode="auto">
            <a:xfrm>
              <a:off x="1824" y="297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85" name="Line 89"/>
            <p:cNvSpPr>
              <a:spLocks noChangeShapeType="1"/>
            </p:cNvSpPr>
            <p:nvPr/>
          </p:nvSpPr>
          <p:spPr bwMode="auto">
            <a:xfrm>
              <a:off x="3408" y="288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86" name="Line 90"/>
            <p:cNvSpPr>
              <a:spLocks noChangeShapeType="1"/>
            </p:cNvSpPr>
            <p:nvPr/>
          </p:nvSpPr>
          <p:spPr bwMode="auto">
            <a:xfrm>
              <a:off x="1824" y="2976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87" name="Line 91"/>
            <p:cNvSpPr>
              <a:spLocks noChangeShapeType="1"/>
            </p:cNvSpPr>
            <p:nvPr/>
          </p:nvSpPr>
          <p:spPr bwMode="auto">
            <a:xfrm>
              <a:off x="3168" y="3024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88" name="Line 92"/>
            <p:cNvSpPr>
              <a:spLocks noChangeShapeType="1"/>
            </p:cNvSpPr>
            <p:nvPr/>
          </p:nvSpPr>
          <p:spPr bwMode="auto">
            <a:xfrm>
              <a:off x="2976" y="278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89" name="Line 93"/>
            <p:cNvSpPr>
              <a:spLocks noChangeShapeType="1"/>
            </p:cNvSpPr>
            <p:nvPr/>
          </p:nvSpPr>
          <p:spPr bwMode="auto">
            <a:xfrm>
              <a:off x="3024" y="2784"/>
              <a:ext cx="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90" name="Line 94"/>
            <p:cNvSpPr>
              <a:spLocks noChangeShapeType="1"/>
            </p:cNvSpPr>
            <p:nvPr/>
          </p:nvSpPr>
          <p:spPr bwMode="auto">
            <a:xfrm>
              <a:off x="3168" y="3024"/>
              <a:ext cx="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91" name="AutoShape 95"/>
            <p:cNvSpPr>
              <a:spLocks noChangeArrowheads="1"/>
            </p:cNvSpPr>
            <p:nvPr/>
          </p:nvSpPr>
          <p:spPr bwMode="auto">
            <a:xfrm rot="-5400000">
              <a:off x="3120" y="2832"/>
              <a:ext cx="432" cy="144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92" name="Line 96"/>
            <p:cNvSpPr>
              <a:spLocks noChangeShapeType="1"/>
            </p:cNvSpPr>
            <p:nvPr/>
          </p:nvSpPr>
          <p:spPr bwMode="auto">
            <a:xfrm>
              <a:off x="3312" y="1968"/>
              <a:ext cx="0" cy="72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93" name="Rectangle 97"/>
            <p:cNvSpPr>
              <a:spLocks noChangeArrowheads="1"/>
            </p:cNvSpPr>
            <p:nvPr/>
          </p:nvSpPr>
          <p:spPr bwMode="auto">
            <a:xfrm>
              <a:off x="3072" y="1728"/>
              <a:ext cx="432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ALUSrc</a:t>
              </a:r>
            </a:p>
          </p:txBody>
        </p:sp>
      </p:grpSp>
      <p:grpSp>
        <p:nvGrpSpPr>
          <p:cNvPr id="5" name="Group 98"/>
          <p:cNvGrpSpPr>
            <a:grpSpLocks/>
          </p:cNvGrpSpPr>
          <p:nvPr/>
        </p:nvGrpSpPr>
        <p:grpSpPr bwMode="auto">
          <a:xfrm>
            <a:off x="838200" y="838200"/>
            <a:ext cx="6705600" cy="2971800"/>
            <a:chOff x="528" y="528"/>
            <a:chExt cx="4224" cy="1872"/>
          </a:xfrm>
        </p:grpSpPr>
        <p:sp>
          <p:nvSpPr>
            <p:cNvPr id="695395" name="AutoShape 99"/>
            <p:cNvSpPr>
              <a:spLocks noChangeArrowheads="1"/>
            </p:cNvSpPr>
            <p:nvPr/>
          </p:nvSpPr>
          <p:spPr bwMode="auto">
            <a:xfrm rot="5400000">
              <a:off x="4560" y="1776"/>
              <a:ext cx="192" cy="192"/>
            </a:xfrm>
            <a:prstGeom prst="flowChartDelay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96" name="AutoShape 100"/>
            <p:cNvSpPr>
              <a:spLocks noChangeArrowheads="1"/>
            </p:cNvSpPr>
            <p:nvPr/>
          </p:nvSpPr>
          <p:spPr bwMode="auto">
            <a:xfrm rot="5400000">
              <a:off x="2400" y="1776"/>
              <a:ext cx="192" cy="192"/>
            </a:xfrm>
            <a:prstGeom prst="flowChartDelay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97" name="Line 101"/>
            <p:cNvSpPr>
              <a:spLocks noChangeShapeType="1"/>
            </p:cNvSpPr>
            <p:nvPr/>
          </p:nvSpPr>
          <p:spPr bwMode="auto">
            <a:xfrm>
              <a:off x="2544" y="1632"/>
              <a:ext cx="0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98" name="Line 102"/>
            <p:cNvSpPr>
              <a:spLocks noChangeShapeType="1"/>
            </p:cNvSpPr>
            <p:nvPr/>
          </p:nvSpPr>
          <p:spPr bwMode="auto">
            <a:xfrm>
              <a:off x="4704" y="1632"/>
              <a:ext cx="0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399" name="Rectangle 103"/>
            <p:cNvSpPr>
              <a:spLocks noChangeArrowheads="1"/>
            </p:cNvSpPr>
            <p:nvPr/>
          </p:nvSpPr>
          <p:spPr bwMode="auto">
            <a:xfrm>
              <a:off x="720" y="528"/>
              <a:ext cx="81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600">
                  <a:solidFill>
                    <a:schemeClr val="accent2"/>
                  </a:solidFill>
                </a:rPr>
                <a:t>System Clock</a:t>
              </a:r>
            </a:p>
          </p:txBody>
        </p:sp>
        <p:sp>
          <p:nvSpPr>
            <p:cNvPr id="695400" name="Line 104"/>
            <p:cNvSpPr>
              <a:spLocks noChangeShapeType="1"/>
            </p:cNvSpPr>
            <p:nvPr/>
          </p:nvSpPr>
          <p:spPr bwMode="auto">
            <a:xfrm>
              <a:off x="4608" y="1248"/>
              <a:ext cx="0" cy="52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01" name="Line 105"/>
            <p:cNvSpPr>
              <a:spLocks noChangeShapeType="1"/>
            </p:cNvSpPr>
            <p:nvPr/>
          </p:nvSpPr>
          <p:spPr bwMode="auto">
            <a:xfrm>
              <a:off x="2448" y="1248"/>
              <a:ext cx="0" cy="52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02" name="Line 106"/>
            <p:cNvSpPr>
              <a:spLocks noChangeShapeType="1"/>
            </p:cNvSpPr>
            <p:nvPr/>
          </p:nvSpPr>
          <p:spPr bwMode="auto">
            <a:xfrm>
              <a:off x="528" y="1248"/>
              <a:ext cx="408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03" name="Line 107"/>
            <p:cNvSpPr>
              <a:spLocks noChangeShapeType="1"/>
            </p:cNvSpPr>
            <p:nvPr/>
          </p:nvSpPr>
          <p:spPr bwMode="auto">
            <a:xfrm>
              <a:off x="528" y="1248"/>
              <a:ext cx="0" cy="115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04" name="Line 108"/>
            <p:cNvSpPr>
              <a:spLocks noChangeShapeType="1"/>
            </p:cNvSpPr>
            <p:nvPr/>
          </p:nvSpPr>
          <p:spPr bwMode="auto">
            <a:xfrm>
              <a:off x="1056" y="768"/>
              <a:ext cx="0" cy="48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109"/>
          <p:cNvGrpSpPr>
            <a:grpSpLocks/>
          </p:cNvGrpSpPr>
          <p:nvPr/>
        </p:nvGrpSpPr>
        <p:grpSpPr bwMode="auto">
          <a:xfrm>
            <a:off x="2590800" y="1136650"/>
            <a:ext cx="5943600" cy="768350"/>
            <a:chOff x="1632" y="624"/>
            <a:chExt cx="3744" cy="484"/>
          </a:xfrm>
        </p:grpSpPr>
        <p:sp>
          <p:nvSpPr>
            <p:cNvPr id="695406" name="Line 110"/>
            <p:cNvSpPr>
              <a:spLocks noChangeShapeType="1"/>
            </p:cNvSpPr>
            <p:nvPr/>
          </p:nvSpPr>
          <p:spPr bwMode="auto">
            <a:xfrm>
              <a:off x="1968" y="86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07" name="Line 111"/>
            <p:cNvSpPr>
              <a:spLocks noChangeShapeType="1"/>
            </p:cNvSpPr>
            <p:nvPr/>
          </p:nvSpPr>
          <p:spPr bwMode="auto">
            <a:xfrm>
              <a:off x="2736" y="62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08" name="Line 112"/>
            <p:cNvSpPr>
              <a:spLocks noChangeShapeType="1"/>
            </p:cNvSpPr>
            <p:nvPr/>
          </p:nvSpPr>
          <p:spPr bwMode="auto">
            <a:xfrm>
              <a:off x="1968" y="62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09" name="Line 113"/>
            <p:cNvSpPr>
              <a:spLocks noChangeShapeType="1"/>
            </p:cNvSpPr>
            <p:nvPr/>
          </p:nvSpPr>
          <p:spPr bwMode="auto">
            <a:xfrm>
              <a:off x="1632" y="62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10" name="Line 114"/>
            <p:cNvSpPr>
              <a:spLocks noChangeShapeType="1"/>
            </p:cNvSpPr>
            <p:nvPr/>
          </p:nvSpPr>
          <p:spPr bwMode="auto">
            <a:xfrm>
              <a:off x="3504" y="62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11" name="Line 115"/>
            <p:cNvSpPr>
              <a:spLocks noChangeShapeType="1"/>
            </p:cNvSpPr>
            <p:nvPr/>
          </p:nvSpPr>
          <p:spPr bwMode="auto">
            <a:xfrm>
              <a:off x="4272" y="62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12" name="Line 116"/>
            <p:cNvSpPr>
              <a:spLocks noChangeShapeType="1"/>
            </p:cNvSpPr>
            <p:nvPr/>
          </p:nvSpPr>
          <p:spPr bwMode="auto">
            <a:xfrm>
              <a:off x="5040" y="86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13" name="Rectangle 117"/>
            <p:cNvSpPr>
              <a:spLocks noChangeArrowheads="1"/>
            </p:cNvSpPr>
            <p:nvPr/>
          </p:nvSpPr>
          <p:spPr bwMode="auto">
            <a:xfrm>
              <a:off x="2448" y="864"/>
              <a:ext cx="687" cy="2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r>
                <a:rPr lang="en-US" b="1">
                  <a:solidFill>
                    <a:srgbClr val="000000"/>
                  </a:solidFill>
                </a:rPr>
                <a:t>clock cycle</a:t>
              </a:r>
            </a:p>
          </p:txBody>
        </p:sp>
        <p:sp>
          <p:nvSpPr>
            <p:cNvPr id="695414" name="Line 118"/>
            <p:cNvSpPr>
              <a:spLocks noChangeShapeType="1"/>
            </p:cNvSpPr>
            <p:nvPr/>
          </p:nvSpPr>
          <p:spPr bwMode="auto">
            <a:xfrm>
              <a:off x="1968" y="912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15" name="Line 119"/>
            <p:cNvSpPr>
              <a:spLocks noChangeShapeType="1"/>
            </p:cNvSpPr>
            <p:nvPr/>
          </p:nvSpPr>
          <p:spPr bwMode="auto">
            <a:xfrm>
              <a:off x="2736" y="62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16" name="Line 120"/>
            <p:cNvSpPr>
              <a:spLocks noChangeShapeType="1"/>
            </p:cNvSpPr>
            <p:nvPr/>
          </p:nvSpPr>
          <p:spPr bwMode="auto">
            <a:xfrm>
              <a:off x="3504" y="86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17" name="Line 121"/>
            <p:cNvSpPr>
              <a:spLocks noChangeShapeType="1"/>
            </p:cNvSpPr>
            <p:nvPr/>
          </p:nvSpPr>
          <p:spPr bwMode="auto">
            <a:xfrm>
              <a:off x="4272" y="62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5418" name="Line 122"/>
            <p:cNvSpPr>
              <a:spLocks noChangeShapeType="1"/>
            </p:cNvSpPr>
            <p:nvPr/>
          </p:nvSpPr>
          <p:spPr bwMode="auto">
            <a:xfrm>
              <a:off x="5040" y="62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386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 the Branch Portion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768600" y="2590800"/>
            <a:ext cx="6081713" cy="3429000"/>
            <a:chOff x="1744" y="1632"/>
            <a:chExt cx="3831" cy="2160"/>
          </a:xfrm>
        </p:grpSpPr>
        <p:sp>
          <p:nvSpPr>
            <p:cNvPr id="696324" name="Rectangle 4"/>
            <p:cNvSpPr>
              <a:spLocks noChangeArrowheads="1"/>
            </p:cNvSpPr>
            <p:nvPr/>
          </p:nvSpPr>
          <p:spPr bwMode="auto">
            <a:xfrm>
              <a:off x="2016" y="2016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25" name="Line 5"/>
            <p:cNvSpPr>
              <a:spLocks noChangeShapeType="1"/>
            </p:cNvSpPr>
            <p:nvPr/>
          </p:nvSpPr>
          <p:spPr bwMode="auto">
            <a:xfrm>
              <a:off x="1824" y="235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26" name="Line 6"/>
            <p:cNvSpPr>
              <a:spLocks noChangeShapeType="1"/>
            </p:cNvSpPr>
            <p:nvPr/>
          </p:nvSpPr>
          <p:spPr bwMode="auto">
            <a:xfrm>
              <a:off x="1824" y="259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27" name="Line 7"/>
            <p:cNvSpPr>
              <a:spLocks noChangeShapeType="1"/>
            </p:cNvSpPr>
            <p:nvPr/>
          </p:nvSpPr>
          <p:spPr bwMode="auto">
            <a:xfrm>
              <a:off x="5104" y="273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28" name="Line 8"/>
            <p:cNvSpPr>
              <a:spLocks noChangeShapeType="1"/>
            </p:cNvSpPr>
            <p:nvPr/>
          </p:nvSpPr>
          <p:spPr bwMode="auto">
            <a:xfrm>
              <a:off x="1824" y="211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29" name="Line 9"/>
            <p:cNvSpPr>
              <a:spLocks noChangeShapeType="1"/>
            </p:cNvSpPr>
            <p:nvPr/>
          </p:nvSpPr>
          <p:spPr bwMode="auto">
            <a:xfrm>
              <a:off x="2928" y="2256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30" name="Line 10"/>
            <p:cNvSpPr>
              <a:spLocks noChangeShapeType="1"/>
            </p:cNvSpPr>
            <p:nvPr/>
          </p:nvSpPr>
          <p:spPr bwMode="auto">
            <a:xfrm>
              <a:off x="2944" y="2640"/>
              <a:ext cx="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31" name="Line 11"/>
            <p:cNvSpPr>
              <a:spLocks noChangeShapeType="1"/>
            </p:cNvSpPr>
            <p:nvPr/>
          </p:nvSpPr>
          <p:spPr bwMode="auto">
            <a:xfrm>
              <a:off x="3904" y="3360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32" name="Line 12"/>
            <p:cNvSpPr>
              <a:spLocks noChangeShapeType="1"/>
            </p:cNvSpPr>
            <p:nvPr/>
          </p:nvSpPr>
          <p:spPr bwMode="auto">
            <a:xfrm>
              <a:off x="3808" y="2496"/>
              <a:ext cx="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33" name="Line 13"/>
            <p:cNvSpPr>
              <a:spLocks noChangeShapeType="1"/>
            </p:cNvSpPr>
            <p:nvPr/>
          </p:nvSpPr>
          <p:spPr bwMode="auto">
            <a:xfrm flipH="1">
              <a:off x="3904" y="2208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34" name="Text Box 14"/>
            <p:cNvSpPr txBox="1">
              <a:spLocks noChangeArrowheads="1"/>
            </p:cNvSpPr>
            <p:nvPr/>
          </p:nvSpPr>
          <p:spPr bwMode="auto">
            <a:xfrm>
              <a:off x="1968" y="2736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696335" name="Text Box 15"/>
            <p:cNvSpPr txBox="1">
              <a:spLocks noChangeArrowheads="1"/>
            </p:cNvSpPr>
            <p:nvPr/>
          </p:nvSpPr>
          <p:spPr bwMode="auto">
            <a:xfrm>
              <a:off x="1968" y="2016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1</a:t>
              </a:r>
            </a:p>
          </p:txBody>
        </p:sp>
        <p:sp>
          <p:nvSpPr>
            <p:cNvPr id="696336" name="Text Box 16"/>
            <p:cNvSpPr txBox="1">
              <a:spLocks noChangeArrowheads="1"/>
            </p:cNvSpPr>
            <p:nvPr/>
          </p:nvSpPr>
          <p:spPr bwMode="auto">
            <a:xfrm>
              <a:off x="1968" y="2256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2</a:t>
              </a:r>
            </a:p>
          </p:txBody>
        </p:sp>
        <p:sp>
          <p:nvSpPr>
            <p:cNvPr id="696337" name="Text Box 17"/>
            <p:cNvSpPr txBox="1">
              <a:spLocks noChangeArrowheads="1"/>
            </p:cNvSpPr>
            <p:nvPr/>
          </p:nvSpPr>
          <p:spPr bwMode="auto">
            <a:xfrm>
              <a:off x="1968" y="2496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Addr</a:t>
              </a:r>
            </a:p>
          </p:txBody>
        </p:sp>
        <p:sp>
          <p:nvSpPr>
            <p:cNvPr id="696338" name="Text Box 18"/>
            <p:cNvSpPr txBox="1">
              <a:spLocks noChangeArrowheads="1"/>
            </p:cNvSpPr>
            <p:nvPr/>
          </p:nvSpPr>
          <p:spPr bwMode="auto">
            <a:xfrm>
              <a:off x="2172" y="2160"/>
              <a:ext cx="499" cy="4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Register</a:t>
              </a:r>
            </a:p>
            <a:p>
              <a:pPr algn="ctr"/>
              <a:endParaRPr lang="en-US" sz="1200" b="1">
                <a:solidFill>
                  <a:schemeClr val="tx1"/>
                </a:solidFill>
              </a:endParaRP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696339" name="Text Box 19"/>
            <p:cNvSpPr txBox="1">
              <a:spLocks noChangeArrowheads="1"/>
            </p:cNvSpPr>
            <p:nvPr/>
          </p:nvSpPr>
          <p:spPr bwMode="auto">
            <a:xfrm>
              <a:off x="2544" y="2112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1</a:t>
              </a:r>
            </a:p>
          </p:txBody>
        </p:sp>
        <p:sp>
          <p:nvSpPr>
            <p:cNvPr id="696340" name="Text Box 20"/>
            <p:cNvSpPr txBox="1">
              <a:spLocks noChangeArrowheads="1"/>
            </p:cNvSpPr>
            <p:nvPr/>
          </p:nvSpPr>
          <p:spPr bwMode="auto">
            <a:xfrm>
              <a:off x="2560" y="2544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2</a:t>
              </a:r>
            </a:p>
          </p:txBody>
        </p:sp>
        <p:sp>
          <p:nvSpPr>
            <p:cNvPr id="696341" name="Freeform 21"/>
            <p:cNvSpPr>
              <a:spLocks/>
            </p:cNvSpPr>
            <p:nvPr/>
          </p:nvSpPr>
          <p:spPr bwMode="auto">
            <a:xfrm>
              <a:off x="3456" y="2064"/>
              <a:ext cx="336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27"/>
                </a:cxn>
                <a:cxn ang="0">
                  <a:pos x="111" y="553"/>
                </a:cxn>
                <a:cxn ang="0">
                  <a:pos x="0" y="671"/>
                </a:cxn>
                <a:cxn ang="0">
                  <a:pos x="0" y="1098"/>
                </a:cxn>
                <a:cxn ang="0">
                  <a:pos x="387" y="790"/>
                </a:cxn>
                <a:cxn ang="0">
                  <a:pos x="387" y="308"/>
                </a:cxn>
                <a:cxn ang="0">
                  <a:pos x="0" y="0"/>
                </a:cxn>
              </a:cxnLst>
              <a:rect l="0" t="0" r="r" b="b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42" name="Rectangle 22"/>
            <p:cNvSpPr>
              <a:spLocks noChangeArrowheads="1"/>
            </p:cNvSpPr>
            <p:nvPr/>
          </p:nvSpPr>
          <p:spPr bwMode="auto">
            <a:xfrm>
              <a:off x="3520" y="2448"/>
              <a:ext cx="31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ALU</a:t>
              </a:r>
            </a:p>
          </p:txBody>
        </p:sp>
        <p:sp>
          <p:nvSpPr>
            <p:cNvPr id="696343" name="Rectangle 23"/>
            <p:cNvSpPr>
              <a:spLocks noChangeArrowheads="1"/>
            </p:cNvSpPr>
            <p:nvPr/>
          </p:nvSpPr>
          <p:spPr bwMode="auto">
            <a:xfrm>
              <a:off x="3552" y="1776"/>
              <a:ext cx="480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ovf</a:t>
              </a:r>
            </a:p>
          </p:txBody>
        </p:sp>
        <p:sp>
          <p:nvSpPr>
            <p:cNvPr id="696344" name="Rectangle 24"/>
            <p:cNvSpPr>
              <a:spLocks noChangeArrowheads="1"/>
            </p:cNvSpPr>
            <p:nvPr/>
          </p:nvSpPr>
          <p:spPr bwMode="auto">
            <a:xfrm>
              <a:off x="3648" y="1920"/>
              <a:ext cx="3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zero</a:t>
              </a:r>
            </a:p>
          </p:txBody>
        </p:sp>
        <p:sp>
          <p:nvSpPr>
            <p:cNvPr id="696345" name="Rectangle 25"/>
            <p:cNvSpPr>
              <a:spLocks noChangeArrowheads="1"/>
            </p:cNvSpPr>
            <p:nvPr/>
          </p:nvSpPr>
          <p:spPr bwMode="auto">
            <a:xfrm>
              <a:off x="3504" y="1632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ALU control</a:t>
              </a:r>
            </a:p>
          </p:txBody>
        </p:sp>
        <p:sp>
          <p:nvSpPr>
            <p:cNvPr id="696346" name="Line 26"/>
            <p:cNvSpPr>
              <a:spLocks noChangeShapeType="1"/>
            </p:cNvSpPr>
            <p:nvPr/>
          </p:nvSpPr>
          <p:spPr bwMode="auto">
            <a:xfrm>
              <a:off x="3552" y="1824"/>
              <a:ext cx="0" cy="288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47" name="Line 27"/>
            <p:cNvSpPr>
              <a:spLocks noChangeShapeType="1"/>
            </p:cNvSpPr>
            <p:nvPr/>
          </p:nvSpPr>
          <p:spPr bwMode="auto">
            <a:xfrm>
              <a:off x="2448" y="1824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48" name="Rectangle 28"/>
            <p:cNvSpPr>
              <a:spLocks noChangeArrowheads="1"/>
            </p:cNvSpPr>
            <p:nvPr/>
          </p:nvSpPr>
          <p:spPr bwMode="auto">
            <a:xfrm>
              <a:off x="2240" y="1632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RegWrite</a:t>
              </a:r>
            </a:p>
          </p:txBody>
        </p:sp>
        <p:sp>
          <p:nvSpPr>
            <p:cNvPr id="696349" name="Line 29"/>
            <p:cNvSpPr>
              <a:spLocks noChangeShapeType="1"/>
            </p:cNvSpPr>
            <p:nvPr/>
          </p:nvSpPr>
          <p:spPr bwMode="auto">
            <a:xfrm flipV="1">
              <a:off x="3648" y="1920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50" name="Line 30"/>
            <p:cNvSpPr>
              <a:spLocks noChangeShapeType="1"/>
            </p:cNvSpPr>
            <p:nvPr/>
          </p:nvSpPr>
          <p:spPr bwMode="auto">
            <a:xfrm flipV="1">
              <a:off x="3744" y="206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51" name="Line 31"/>
            <p:cNvSpPr>
              <a:spLocks noChangeShapeType="1"/>
            </p:cNvSpPr>
            <p:nvPr/>
          </p:nvSpPr>
          <p:spPr bwMode="auto">
            <a:xfrm>
              <a:off x="5488" y="2592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52" name="Rectangle 32"/>
            <p:cNvSpPr>
              <a:spLocks noChangeArrowheads="1"/>
            </p:cNvSpPr>
            <p:nvPr/>
          </p:nvSpPr>
          <p:spPr bwMode="auto">
            <a:xfrm>
              <a:off x="4144" y="2016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53" name="Line 33"/>
            <p:cNvSpPr>
              <a:spLocks noChangeShapeType="1"/>
            </p:cNvSpPr>
            <p:nvPr/>
          </p:nvSpPr>
          <p:spPr bwMode="auto">
            <a:xfrm>
              <a:off x="5056" y="249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54" name="Line 34"/>
            <p:cNvSpPr>
              <a:spLocks noChangeShapeType="1"/>
            </p:cNvSpPr>
            <p:nvPr/>
          </p:nvSpPr>
          <p:spPr bwMode="auto">
            <a:xfrm>
              <a:off x="3904" y="220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55" name="Line 35"/>
            <p:cNvSpPr>
              <a:spLocks noChangeShapeType="1"/>
            </p:cNvSpPr>
            <p:nvPr/>
          </p:nvSpPr>
          <p:spPr bwMode="auto">
            <a:xfrm>
              <a:off x="4000" y="273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56" name="Line 36"/>
            <p:cNvSpPr>
              <a:spLocks noChangeShapeType="1"/>
            </p:cNvSpPr>
            <p:nvPr/>
          </p:nvSpPr>
          <p:spPr bwMode="auto">
            <a:xfrm>
              <a:off x="4000" y="273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57" name="Text Box 37"/>
            <p:cNvSpPr txBox="1">
              <a:spLocks noChangeArrowheads="1"/>
            </p:cNvSpPr>
            <p:nvPr/>
          </p:nvSpPr>
          <p:spPr bwMode="auto">
            <a:xfrm>
              <a:off x="4096" y="2304"/>
              <a:ext cx="48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Data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696358" name="Text Box 38"/>
            <p:cNvSpPr txBox="1">
              <a:spLocks noChangeArrowheads="1"/>
            </p:cNvSpPr>
            <p:nvPr/>
          </p:nvSpPr>
          <p:spPr bwMode="auto">
            <a:xfrm>
              <a:off x="4096" y="2112"/>
              <a:ext cx="467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Address</a:t>
              </a:r>
            </a:p>
          </p:txBody>
        </p:sp>
        <p:sp>
          <p:nvSpPr>
            <p:cNvPr id="696359" name="Text Box 39"/>
            <p:cNvSpPr txBox="1">
              <a:spLocks noChangeArrowheads="1"/>
            </p:cNvSpPr>
            <p:nvPr/>
          </p:nvSpPr>
          <p:spPr bwMode="auto">
            <a:xfrm>
              <a:off x="4096" y="2640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696360" name="Text Box 40"/>
            <p:cNvSpPr txBox="1">
              <a:spLocks noChangeArrowheads="1"/>
            </p:cNvSpPr>
            <p:nvPr/>
          </p:nvSpPr>
          <p:spPr bwMode="auto">
            <a:xfrm>
              <a:off x="4528" y="2400"/>
              <a:ext cx="57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Data</a:t>
              </a:r>
            </a:p>
          </p:txBody>
        </p:sp>
        <p:sp>
          <p:nvSpPr>
            <p:cNvPr id="696361" name="Line 41"/>
            <p:cNvSpPr>
              <a:spLocks noChangeShapeType="1"/>
            </p:cNvSpPr>
            <p:nvPr/>
          </p:nvSpPr>
          <p:spPr bwMode="auto">
            <a:xfrm>
              <a:off x="4576" y="1824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62" name="Rectangle 42"/>
            <p:cNvSpPr>
              <a:spLocks noChangeArrowheads="1"/>
            </p:cNvSpPr>
            <p:nvPr/>
          </p:nvSpPr>
          <p:spPr bwMode="auto">
            <a:xfrm>
              <a:off x="4320" y="1632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400"/>
                <a:t>MemWrite</a:t>
              </a:r>
            </a:p>
          </p:txBody>
        </p:sp>
        <p:sp>
          <p:nvSpPr>
            <p:cNvPr id="696363" name="Rectangle 43"/>
            <p:cNvSpPr>
              <a:spLocks noChangeArrowheads="1"/>
            </p:cNvSpPr>
            <p:nvPr/>
          </p:nvSpPr>
          <p:spPr bwMode="auto">
            <a:xfrm>
              <a:off x="4336" y="3120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400"/>
                <a:t>MemRead</a:t>
              </a:r>
            </a:p>
          </p:txBody>
        </p:sp>
        <p:sp>
          <p:nvSpPr>
            <p:cNvPr id="696364" name="Line 44"/>
            <p:cNvSpPr>
              <a:spLocks noChangeShapeType="1"/>
            </p:cNvSpPr>
            <p:nvPr/>
          </p:nvSpPr>
          <p:spPr bwMode="auto">
            <a:xfrm>
              <a:off x="4576" y="2928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65" name="Line 45"/>
            <p:cNvSpPr>
              <a:spLocks noChangeShapeType="1"/>
            </p:cNvSpPr>
            <p:nvPr/>
          </p:nvSpPr>
          <p:spPr bwMode="auto">
            <a:xfrm>
              <a:off x="1744" y="3792"/>
              <a:ext cx="37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66" name="Line 46"/>
            <p:cNvSpPr>
              <a:spLocks noChangeShapeType="1"/>
            </p:cNvSpPr>
            <p:nvPr/>
          </p:nvSpPr>
          <p:spPr bwMode="auto">
            <a:xfrm>
              <a:off x="2992" y="3024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67" name="Line 47"/>
            <p:cNvSpPr>
              <a:spLocks noChangeShapeType="1"/>
            </p:cNvSpPr>
            <p:nvPr/>
          </p:nvSpPr>
          <p:spPr bwMode="auto">
            <a:xfrm>
              <a:off x="2848" y="33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68" name="Oval 48"/>
            <p:cNvSpPr>
              <a:spLocks noChangeArrowheads="1"/>
            </p:cNvSpPr>
            <p:nvPr/>
          </p:nvSpPr>
          <p:spPr bwMode="auto">
            <a:xfrm>
              <a:off x="2464" y="3120"/>
              <a:ext cx="384" cy="57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69" name="Rectangle 49"/>
            <p:cNvSpPr>
              <a:spLocks noChangeArrowheads="1"/>
            </p:cNvSpPr>
            <p:nvPr/>
          </p:nvSpPr>
          <p:spPr bwMode="auto">
            <a:xfrm>
              <a:off x="2496" y="3216"/>
              <a:ext cx="336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algn="ctr"/>
              <a:r>
                <a:rPr lang="en-US" sz="1200" b="1">
                  <a:solidFill>
                    <a:srgbClr val="000000"/>
                  </a:solidFill>
                </a:rPr>
                <a:t>Sign</a:t>
              </a:r>
            </a:p>
            <a:p>
              <a:pPr algn="ctr"/>
              <a:r>
                <a:rPr lang="en-US" sz="1200" b="1">
                  <a:solidFill>
                    <a:srgbClr val="000000"/>
                  </a:solidFill>
                </a:rPr>
                <a:t>Extend</a:t>
              </a:r>
            </a:p>
          </p:txBody>
        </p:sp>
        <p:sp>
          <p:nvSpPr>
            <p:cNvPr id="696370" name="Line 50"/>
            <p:cNvSpPr>
              <a:spLocks noChangeShapeType="1"/>
            </p:cNvSpPr>
            <p:nvPr/>
          </p:nvSpPr>
          <p:spPr bwMode="auto">
            <a:xfrm>
              <a:off x="1840" y="3360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71" name="Line 51"/>
            <p:cNvSpPr>
              <a:spLocks noChangeShapeType="1"/>
            </p:cNvSpPr>
            <p:nvPr/>
          </p:nvSpPr>
          <p:spPr bwMode="auto">
            <a:xfrm>
              <a:off x="2256" y="3312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72" name="Line 52"/>
            <p:cNvSpPr>
              <a:spLocks noChangeShapeType="1"/>
            </p:cNvSpPr>
            <p:nvPr/>
          </p:nvSpPr>
          <p:spPr bwMode="auto">
            <a:xfrm>
              <a:off x="2896" y="3312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73" name="Text Box 53"/>
            <p:cNvSpPr txBox="1">
              <a:spLocks noChangeArrowheads="1"/>
            </p:cNvSpPr>
            <p:nvPr/>
          </p:nvSpPr>
          <p:spPr bwMode="auto">
            <a:xfrm>
              <a:off x="2256" y="3360"/>
              <a:ext cx="2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696374" name="Text Box 54"/>
            <p:cNvSpPr txBox="1">
              <a:spLocks noChangeArrowheads="1"/>
            </p:cNvSpPr>
            <p:nvPr/>
          </p:nvSpPr>
          <p:spPr bwMode="auto">
            <a:xfrm>
              <a:off x="2896" y="3360"/>
              <a:ext cx="2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32</a:t>
              </a:r>
            </a:p>
          </p:txBody>
        </p:sp>
        <p:sp>
          <p:nvSpPr>
            <p:cNvPr id="696375" name="Line 55"/>
            <p:cNvSpPr>
              <a:spLocks noChangeShapeType="1"/>
            </p:cNvSpPr>
            <p:nvPr/>
          </p:nvSpPr>
          <p:spPr bwMode="auto">
            <a:xfrm>
              <a:off x="2992" y="264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76" name="Line 56"/>
            <p:cNvSpPr>
              <a:spLocks noChangeShapeType="1"/>
            </p:cNvSpPr>
            <p:nvPr/>
          </p:nvSpPr>
          <p:spPr bwMode="auto">
            <a:xfrm>
              <a:off x="5104" y="2736"/>
              <a:ext cx="0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77" name="Line 57"/>
            <p:cNvSpPr>
              <a:spLocks noChangeShapeType="1"/>
            </p:cNvSpPr>
            <p:nvPr/>
          </p:nvSpPr>
          <p:spPr bwMode="auto">
            <a:xfrm>
              <a:off x="3072" y="2880"/>
              <a:ext cx="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78" name="Line 58"/>
            <p:cNvSpPr>
              <a:spLocks noChangeShapeType="1"/>
            </p:cNvSpPr>
            <p:nvPr/>
          </p:nvSpPr>
          <p:spPr bwMode="auto">
            <a:xfrm>
              <a:off x="1744" y="283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79" name="AutoShape 59"/>
            <p:cNvSpPr>
              <a:spLocks noChangeArrowheads="1"/>
            </p:cNvSpPr>
            <p:nvPr/>
          </p:nvSpPr>
          <p:spPr bwMode="auto">
            <a:xfrm rot="-5400000">
              <a:off x="5096" y="2552"/>
              <a:ext cx="432" cy="128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80" name="Line 60"/>
            <p:cNvSpPr>
              <a:spLocks noChangeShapeType="1"/>
            </p:cNvSpPr>
            <p:nvPr/>
          </p:nvSpPr>
          <p:spPr bwMode="auto">
            <a:xfrm>
              <a:off x="5392" y="25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81" name="AutoShape 61"/>
            <p:cNvSpPr>
              <a:spLocks noChangeArrowheads="1"/>
            </p:cNvSpPr>
            <p:nvPr/>
          </p:nvSpPr>
          <p:spPr bwMode="auto">
            <a:xfrm rot="-5400000">
              <a:off x="3032" y="2696"/>
              <a:ext cx="432" cy="128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82" name="Line 62"/>
            <p:cNvSpPr>
              <a:spLocks noChangeShapeType="1"/>
            </p:cNvSpPr>
            <p:nvPr/>
          </p:nvSpPr>
          <p:spPr bwMode="auto">
            <a:xfrm>
              <a:off x="3328" y="273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83" name="Line 63"/>
            <p:cNvSpPr>
              <a:spLocks noChangeShapeType="1"/>
            </p:cNvSpPr>
            <p:nvPr/>
          </p:nvSpPr>
          <p:spPr bwMode="auto">
            <a:xfrm>
              <a:off x="3232" y="1824"/>
              <a:ext cx="0" cy="72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84" name="Line 64"/>
            <p:cNvSpPr>
              <a:spLocks noChangeShapeType="1"/>
            </p:cNvSpPr>
            <p:nvPr/>
          </p:nvSpPr>
          <p:spPr bwMode="auto">
            <a:xfrm>
              <a:off x="5296" y="1824"/>
              <a:ext cx="0" cy="576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85" name="Rectangle 65"/>
            <p:cNvSpPr>
              <a:spLocks noChangeArrowheads="1"/>
            </p:cNvSpPr>
            <p:nvPr/>
          </p:nvSpPr>
          <p:spPr bwMode="auto">
            <a:xfrm>
              <a:off x="4992" y="1632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400"/>
                <a:t>MemtoReg</a:t>
              </a:r>
            </a:p>
          </p:txBody>
        </p:sp>
        <p:sp>
          <p:nvSpPr>
            <p:cNvPr id="696386" name="Rectangle 66"/>
            <p:cNvSpPr>
              <a:spLocks noChangeArrowheads="1"/>
            </p:cNvSpPr>
            <p:nvPr/>
          </p:nvSpPr>
          <p:spPr bwMode="auto">
            <a:xfrm>
              <a:off x="3024" y="1632"/>
              <a:ext cx="432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ALUSrc</a:t>
              </a:r>
            </a:p>
          </p:txBody>
        </p:sp>
      </p:grpSp>
      <p:grpSp>
        <p:nvGrpSpPr>
          <p:cNvPr id="3" name="Group 67"/>
          <p:cNvGrpSpPr>
            <a:grpSpLocks/>
          </p:cNvGrpSpPr>
          <p:nvPr/>
        </p:nvGrpSpPr>
        <p:grpSpPr bwMode="auto">
          <a:xfrm>
            <a:off x="355600" y="1143000"/>
            <a:ext cx="2565400" cy="4876800"/>
            <a:chOff x="224" y="720"/>
            <a:chExt cx="1616" cy="3072"/>
          </a:xfrm>
        </p:grpSpPr>
        <p:grpSp>
          <p:nvGrpSpPr>
            <p:cNvPr id="4" name="Group 68"/>
            <p:cNvGrpSpPr>
              <a:grpSpLocks/>
            </p:cNvGrpSpPr>
            <p:nvPr/>
          </p:nvGrpSpPr>
          <p:grpSpPr bwMode="auto">
            <a:xfrm>
              <a:off x="1200" y="816"/>
              <a:ext cx="240" cy="624"/>
              <a:chOff x="1392" y="2880"/>
              <a:chExt cx="288" cy="480"/>
            </a:xfrm>
          </p:grpSpPr>
          <p:sp>
            <p:nvSpPr>
              <p:cNvPr id="696389" name="Line 69"/>
              <p:cNvSpPr>
                <a:spLocks noChangeShapeType="1"/>
              </p:cNvSpPr>
              <p:nvPr/>
            </p:nvSpPr>
            <p:spPr bwMode="auto">
              <a:xfrm>
                <a:off x="1392" y="3072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390" name="Line 70"/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391" name="Line 71"/>
              <p:cNvSpPr>
                <a:spLocks noChangeShapeType="1"/>
              </p:cNvSpPr>
              <p:nvPr/>
            </p:nvSpPr>
            <p:spPr bwMode="auto">
              <a:xfrm flipV="1">
                <a:off x="1392" y="2880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392" name="Line 72"/>
              <p:cNvSpPr>
                <a:spLocks noChangeShapeType="1"/>
              </p:cNvSpPr>
              <p:nvPr/>
            </p:nvSpPr>
            <p:spPr bwMode="auto">
              <a:xfrm flipV="1">
                <a:off x="1392" y="316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393" name="Line 73"/>
              <p:cNvSpPr>
                <a:spLocks noChangeShapeType="1"/>
              </p:cNvSpPr>
              <p:nvPr/>
            </p:nvSpPr>
            <p:spPr bwMode="auto">
              <a:xfrm flipV="1">
                <a:off x="1392" y="3216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394" name="Line 74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395" name="Line 75"/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96396" name="Rectangle 76"/>
            <p:cNvSpPr>
              <a:spLocks noChangeArrowheads="1"/>
            </p:cNvSpPr>
            <p:nvPr/>
          </p:nvSpPr>
          <p:spPr bwMode="auto">
            <a:xfrm>
              <a:off x="752" y="2016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97" name="Rectangle 77"/>
            <p:cNvSpPr>
              <a:spLocks noChangeArrowheads="1"/>
            </p:cNvSpPr>
            <p:nvPr/>
          </p:nvSpPr>
          <p:spPr bwMode="auto">
            <a:xfrm>
              <a:off x="416" y="2256"/>
              <a:ext cx="144" cy="5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398" name="Line 78"/>
            <p:cNvSpPr>
              <a:spLocks noChangeShapeType="1"/>
            </p:cNvSpPr>
            <p:nvPr/>
          </p:nvSpPr>
          <p:spPr bwMode="auto">
            <a:xfrm>
              <a:off x="560" y="249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399" name="Line 79"/>
            <p:cNvSpPr>
              <a:spLocks noChangeShapeType="1"/>
            </p:cNvSpPr>
            <p:nvPr/>
          </p:nvSpPr>
          <p:spPr bwMode="auto">
            <a:xfrm>
              <a:off x="624" y="912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400" name="Line 80"/>
            <p:cNvSpPr>
              <a:spLocks noChangeShapeType="1"/>
            </p:cNvSpPr>
            <p:nvPr/>
          </p:nvSpPr>
          <p:spPr bwMode="auto">
            <a:xfrm>
              <a:off x="960" y="134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401" name="Line 81"/>
            <p:cNvSpPr>
              <a:spLocks noChangeShapeType="1"/>
            </p:cNvSpPr>
            <p:nvPr/>
          </p:nvSpPr>
          <p:spPr bwMode="auto">
            <a:xfrm>
              <a:off x="1440" y="110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402" name="Text Box 82"/>
            <p:cNvSpPr txBox="1">
              <a:spLocks noChangeArrowheads="1"/>
            </p:cNvSpPr>
            <p:nvPr/>
          </p:nvSpPr>
          <p:spPr bwMode="auto">
            <a:xfrm>
              <a:off x="704" y="2352"/>
              <a:ext cx="467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r>
                <a:rPr lang="en-US" sz="1200">
                  <a:solidFill>
                    <a:schemeClr val="tx1"/>
                  </a:solidFill>
                </a:rPr>
                <a:t>Address</a:t>
              </a:r>
            </a:p>
          </p:txBody>
        </p:sp>
        <p:sp>
          <p:nvSpPr>
            <p:cNvPr id="696403" name="Text Box 83"/>
            <p:cNvSpPr txBox="1">
              <a:spLocks noChangeArrowheads="1"/>
            </p:cNvSpPr>
            <p:nvPr/>
          </p:nvSpPr>
          <p:spPr bwMode="auto">
            <a:xfrm>
              <a:off x="1184" y="2400"/>
              <a:ext cx="55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Instruction</a:t>
              </a:r>
            </a:p>
          </p:txBody>
        </p:sp>
        <p:sp>
          <p:nvSpPr>
            <p:cNvPr id="696404" name="Text Box 84"/>
            <p:cNvSpPr txBox="1">
              <a:spLocks noChangeArrowheads="1"/>
            </p:cNvSpPr>
            <p:nvPr/>
          </p:nvSpPr>
          <p:spPr bwMode="auto">
            <a:xfrm>
              <a:off x="896" y="2064"/>
              <a:ext cx="61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Instruction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696405" name="Text Box 85"/>
            <p:cNvSpPr txBox="1">
              <a:spLocks noChangeArrowheads="1"/>
            </p:cNvSpPr>
            <p:nvPr/>
          </p:nvSpPr>
          <p:spPr bwMode="auto">
            <a:xfrm>
              <a:off x="1200" y="1056"/>
              <a:ext cx="30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Add</a:t>
              </a:r>
            </a:p>
          </p:txBody>
        </p:sp>
        <p:sp>
          <p:nvSpPr>
            <p:cNvPr id="696406" name="Text Box 86"/>
            <p:cNvSpPr txBox="1">
              <a:spLocks noChangeArrowheads="1"/>
            </p:cNvSpPr>
            <p:nvPr/>
          </p:nvSpPr>
          <p:spPr bwMode="auto">
            <a:xfrm>
              <a:off x="368" y="2400"/>
              <a:ext cx="24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PC</a:t>
              </a:r>
            </a:p>
          </p:txBody>
        </p:sp>
        <p:sp>
          <p:nvSpPr>
            <p:cNvPr id="696407" name="Line 87"/>
            <p:cNvSpPr>
              <a:spLocks noChangeShapeType="1"/>
            </p:cNvSpPr>
            <p:nvPr/>
          </p:nvSpPr>
          <p:spPr bwMode="auto">
            <a:xfrm>
              <a:off x="224" y="249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408" name="Text Box 88"/>
            <p:cNvSpPr txBox="1">
              <a:spLocks noChangeArrowheads="1"/>
            </p:cNvSpPr>
            <p:nvPr/>
          </p:nvSpPr>
          <p:spPr bwMode="auto">
            <a:xfrm>
              <a:off x="816" y="1248"/>
              <a:ext cx="1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96409" name="Line 89"/>
            <p:cNvSpPr>
              <a:spLocks noChangeShapeType="1"/>
            </p:cNvSpPr>
            <p:nvPr/>
          </p:nvSpPr>
          <p:spPr bwMode="auto">
            <a:xfrm>
              <a:off x="1664" y="2496"/>
              <a:ext cx="1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410" name="Line 90"/>
            <p:cNvSpPr>
              <a:spLocks noChangeShapeType="1"/>
            </p:cNvSpPr>
            <p:nvPr/>
          </p:nvSpPr>
          <p:spPr bwMode="auto">
            <a:xfrm>
              <a:off x="1840" y="2112"/>
              <a:ext cx="0" cy="12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411" name="Line 91"/>
            <p:cNvSpPr>
              <a:spLocks noChangeShapeType="1"/>
            </p:cNvSpPr>
            <p:nvPr/>
          </p:nvSpPr>
          <p:spPr bwMode="auto">
            <a:xfrm>
              <a:off x="1744" y="2832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412" name="Line 92"/>
            <p:cNvSpPr>
              <a:spLocks noChangeShapeType="1"/>
            </p:cNvSpPr>
            <p:nvPr/>
          </p:nvSpPr>
          <p:spPr bwMode="auto">
            <a:xfrm>
              <a:off x="624" y="912"/>
              <a:ext cx="0" cy="15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6413" name="Line 93"/>
            <p:cNvSpPr>
              <a:spLocks noChangeShapeType="1"/>
            </p:cNvSpPr>
            <p:nvPr/>
          </p:nvSpPr>
          <p:spPr bwMode="auto">
            <a:xfrm>
              <a:off x="240" y="720"/>
              <a:ext cx="0" cy="17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439" name="Line 119"/>
          <p:cNvSpPr>
            <a:spLocks noChangeShapeType="1"/>
          </p:cNvSpPr>
          <p:nvPr/>
        </p:nvSpPr>
        <p:spPr bwMode="auto">
          <a:xfrm>
            <a:off x="4876800" y="4572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6440" name="Line 120"/>
          <p:cNvSpPr>
            <a:spLocks noChangeShapeType="1"/>
          </p:cNvSpPr>
          <p:nvPr/>
        </p:nvSpPr>
        <p:spPr bwMode="auto">
          <a:xfrm>
            <a:off x="381000" y="1143000"/>
            <a:ext cx="2209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6442" name="Line 122"/>
          <p:cNvSpPr>
            <a:spLocks noChangeShapeType="1"/>
          </p:cNvSpPr>
          <p:nvPr/>
        </p:nvSpPr>
        <p:spPr bwMode="auto">
          <a:xfrm>
            <a:off x="2590800" y="11430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233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 the Branch Portion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768600" y="2590800"/>
            <a:ext cx="6081713" cy="3429000"/>
            <a:chOff x="1744" y="1632"/>
            <a:chExt cx="3831" cy="2160"/>
          </a:xfrm>
        </p:grpSpPr>
        <p:sp>
          <p:nvSpPr>
            <p:cNvPr id="710660" name="Rectangle 4"/>
            <p:cNvSpPr>
              <a:spLocks noChangeArrowheads="1"/>
            </p:cNvSpPr>
            <p:nvPr/>
          </p:nvSpPr>
          <p:spPr bwMode="auto">
            <a:xfrm>
              <a:off x="2016" y="2016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1" name="Line 5"/>
            <p:cNvSpPr>
              <a:spLocks noChangeShapeType="1"/>
            </p:cNvSpPr>
            <p:nvPr/>
          </p:nvSpPr>
          <p:spPr bwMode="auto">
            <a:xfrm>
              <a:off x="1824" y="235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62" name="Line 6"/>
            <p:cNvSpPr>
              <a:spLocks noChangeShapeType="1"/>
            </p:cNvSpPr>
            <p:nvPr/>
          </p:nvSpPr>
          <p:spPr bwMode="auto">
            <a:xfrm>
              <a:off x="1824" y="259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63" name="Line 7"/>
            <p:cNvSpPr>
              <a:spLocks noChangeShapeType="1"/>
            </p:cNvSpPr>
            <p:nvPr/>
          </p:nvSpPr>
          <p:spPr bwMode="auto">
            <a:xfrm>
              <a:off x="5104" y="273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64" name="Line 8"/>
            <p:cNvSpPr>
              <a:spLocks noChangeShapeType="1"/>
            </p:cNvSpPr>
            <p:nvPr/>
          </p:nvSpPr>
          <p:spPr bwMode="auto">
            <a:xfrm>
              <a:off x="1824" y="211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65" name="Line 9"/>
            <p:cNvSpPr>
              <a:spLocks noChangeShapeType="1"/>
            </p:cNvSpPr>
            <p:nvPr/>
          </p:nvSpPr>
          <p:spPr bwMode="auto">
            <a:xfrm>
              <a:off x="2928" y="2256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66" name="Line 10"/>
            <p:cNvSpPr>
              <a:spLocks noChangeShapeType="1"/>
            </p:cNvSpPr>
            <p:nvPr/>
          </p:nvSpPr>
          <p:spPr bwMode="auto">
            <a:xfrm>
              <a:off x="2944" y="2640"/>
              <a:ext cx="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67" name="Line 11"/>
            <p:cNvSpPr>
              <a:spLocks noChangeShapeType="1"/>
            </p:cNvSpPr>
            <p:nvPr/>
          </p:nvSpPr>
          <p:spPr bwMode="auto">
            <a:xfrm>
              <a:off x="3904" y="3360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68" name="Line 12"/>
            <p:cNvSpPr>
              <a:spLocks noChangeShapeType="1"/>
            </p:cNvSpPr>
            <p:nvPr/>
          </p:nvSpPr>
          <p:spPr bwMode="auto">
            <a:xfrm>
              <a:off x="3808" y="2496"/>
              <a:ext cx="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69" name="Line 13"/>
            <p:cNvSpPr>
              <a:spLocks noChangeShapeType="1"/>
            </p:cNvSpPr>
            <p:nvPr/>
          </p:nvSpPr>
          <p:spPr bwMode="auto">
            <a:xfrm flipH="1">
              <a:off x="3904" y="2208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70" name="Text Box 14"/>
            <p:cNvSpPr txBox="1">
              <a:spLocks noChangeArrowheads="1"/>
            </p:cNvSpPr>
            <p:nvPr/>
          </p:nvSpPr>
          <p:spPr bwMode="auto">
            <a:xfrm>
              <a:off x="1968" y="2736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710671" name="Text Box 15"/>
            <p:cNvSpPr txBox="1">
              <a:spLocks noChangeArrowheads="1"/>
            </p:cNvSpPr>
            <p:nvPr/>
          </p:nvSpPr>
          <p:spPr bwMode="auto">
            <a:xfrm>
              <a:off x="1968" y="2016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1</a:t>
              </a:r>
            </a:p>
          </p:txBody>
        </p:sp>
        <p:sp>
          <p:nvSpPr>
            <p:cNvPr id="710672" name="Text Box 16"/>
            <p:cNvSpPr txBox="1">
              <a:spLocks noChangeArrowheads="1"/>
            </p:cNvSpPr>
            <p:nvPr/>
          </p:nvSpPr>
          <p:spPr bwMode="auto">
            <a:xfrm>
              <a:off x="1968" y="2256"/>
              <a:ext cx="65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Addr 2</a:t>
              </a:r>
            </a:p>
          </p:txBody>
        </p:sp>
        <p:sp>
          <p:nvSpPr>
            <p:cNvPr id="710673" name="Text Box 17"/>
            <p:cNvSpPr txBox="1">
              <a:spLocks noChangeArrowheads="1"/>
            </p:cNvSpPr>
            <p:nvPr/>
          </p:nvSpPr>
          <p:spPr bwMode="auto">
            <a:xfrm>
              <a:off x="1968" y="2496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Addr</a:t>
              </a:r>
            </a:p>
          </p:txBody>
        </p:sp>
        <p:sp>
          <p:nvSpPr>
            <p:cNvPr id="710674" name="Text Box 18"/>
            <p:cNvSpPr txBox="1">
              <a:spLocks noChangeArrowheads="1"/>
            </p:cNvSpPr>
            <p:nvPr/>
          </p:nvSpPr>
          <p:spPr bwMode="auto">
            <a:xfrm>
              <a:off x="2172" y="2160"/>
              <a:ext cx="499" cy="4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Register</a:t>
              </a:r>
            </a:p>
            <a:p>
              <a:pPr algn="ctr"/>
              <a:endParaRPr lang="en-US" sz="1200" b="1">
                <a:solidFill>
                  <a:schemeClr val="tx1"/>
                </a:solidFill>
              </a:endParaRP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710675" name="Text Box 19"/>
            <p:cNvSpPr txBox="1">
              <a:spLocks noChangeArrowheads="1"/>
            </p:cNvSpPr>
            <p:nvPr/>
          </p:nvSpPr>
          <p:spPr bwMode="auto">
            <a:xfrm>
              <a:off x="2544" y="2112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1</a:t>
              </a:r>
            </a:p>
          </p:txBody>
        </p:sp>
        <p:sp>
          <p:nvSpPr>
            <p:cNvPr id="710676" name="Text Box 20"/>
            <p:cNvSpPr txBox="1">
              <a:spLocks noChangeArrowheads="1"/>
            </p:cNvSpPr>
            <p:nvPr/>
          </p:nvSpPr>
          <p:spPr bwMode="auto">
            <a:xfrm>
              <a:off x="2560" y="2544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pPr algn="r"/>
              <a:r>
                <a:rPr lang="en-US" sz="1200">
                  <a:solidFill>
                    <a:schemeClr val="tx1"/>
                  </a:solidFill>
                </a:rPr>
                <a:t> Data 2</a:t>
              </a:r>
            </a:p>
          </p:txBody>
        </p:sp>
        <p:sp>
          <p:nvSpPr>
            <p:cNvPr id="710677" name="Freeform 21"/>
            <p:cNvSpPr>
              <a:spLocks/>
            </p:cNvSpPr>
            <p:nvPr/>
          </p:nvSpPr>
          <p:spPr bwMode="auto">
            <a:xfrm>
              <a:off x="3456" y="2064"/>
              <a:ext cx="336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27"/>
                </a:cxn>
                <a:cxn ang="0">
                  <a:pos x="111" y="553"/>
                </a:cxn>
                <a:cxn ang="0">
                  <a:pos x="0" y="671"/>
                </a:cxn>
                <a:cxn ang="0">
                  <a:pos x="0" y="1098"/>
                </a:cxn>
                <a:cxn ang="0">
                  <a:pos x="387" y="790"/>
                </a:cxn>
                <a:cxn ang="0">
                  <a:pos x="387" y="308"/>
                </a:cxn>
                <a:cxn ang="0">
                  <a:pos x="0" y="0"/>
                </a:cxn>
              </a:cxnLst>
              <a:rect l="0" t="0" r="r" b="b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78" name="Rectangle 22"/>
            <p:cNvSpPr>
              <a:spLocks noChangeArrowheads="1"/>
            </p:cNvSpPr>
            <p:nvPr/>
          </p:nvSpPr>
          <p:spPr bwMode="auto">
            <a:xfrm>
              <a:off x="3520" y="2448"/>
              <a:ext cx="31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ALU</a:t>
              </a:r>
            </a:p>
          </p:txBody>
        </p:sp>
        <p:sp>
          <p:nvSpPr>
            <p:cNvPr id="710679" name="Rectangle 23"/>
            <p:cNvSpPr>
              <a:spLocks noChangeArrowheads="1"/>
            </p:cNvSpPr>
            <p:nvPr/>
          </p:nvSpPr>
          <p:spPr bwMode="auto">
            <a:xfrm>
              <a:off x="3552" y="1776"/>
              <a:ext cx="480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ovf</a:t>
              </a:r>
            </a:p>
          </p:txBody>
        </p:sp>
        <p:sp>
          <p:nvSpPr>
            <p:cNvPr id="710680" name="Rectangle 24"/>
            <p:cNvSpPr>
              <a:spLocks noChangeArrowheads="1"/>
            </p:cNvSpPr>
            <p:nvPr/>
          </p:nvSpPr>
          <p:spPr bwMode="auto">
            <a:xfrm>
              <a:off x="3648" y="1920"/>
              <a:ext cx="3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>
                  <a:solidFill>
                    <a:srgbClr val="000000"/>
                  </a:solidFill>
                </a:rPr>
                <a:t>zero</a:t>
              </a:r>
            </a:p>
          </p:txBody>
        </p:sp>
        <p:sp>
          <p:nvSpPr>
            <p:cNvPr id="710681" name="Rectangle 25"/>
            <p:cNvSpPr>
              <a:spLocks noChangeArrowheads="1"/>
            </p:cNvSpPr>
            <p:nvPr/>
          </p:nvSpPr>
          <p:spPr bwMode="auto">
            <a:xfrm>
              <a:off x="3504" y="1632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ALU control</a:t>
              </a:r>
            </a:p>
          </p:txBody>
        </p:sp>
        <p:sp>
          <p:nvSpPr>
            <p:cNvPr id="710682" name="Line 26"/>
            <p:cNvSpPr>
              <a:spLocks noChangeShapeType="1"/>
            </p:cNvSpPr>
            <p:nvPr/>
          </p:nvSpPr>
          <p:spPr bwMode="auto">
            <a:xfrm>
              <a:off x="3552" y="1824"/>
              <a:ext cx="0" cy="288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83" name="Line 27"/>
            <p:cNvSpPr>
              <a:spLocks noChangeShapeType="1"/>
            </p:cNvSpPr>
            <p:nvPr/>
          </p:nvSpPr>
          <p:spPr bwMode="auto">
            <a:xfrm>
              <a:off x="2448" y="1824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84" name="Rectangle 28"/>
            <p:cNvSpPr>
              <a:spLocks noChangeArrowheads="1"/>
            </p:cNvSpPr>
            <p:nvPr/>
          </p:nvSpPr>
          <p:spPr bwMode="auto">
            <a:xfrm>
              <a:off x="2240" y="1632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RegWrite</a:t>
              </a:r>
            </a:p>
          </p:txBody>
        </p:sp>
        <p:sp>
          <p:nvSpPr>
            <p:cNvPr id="710685" name="Line 29"/>
            <p:cNvSpPr>
              <a:spLocks noChangeShapeType="1"/>
            </p:cNvSpPr>
            <p:nvPr/>
          </p:nvSpPr>
          <p:spPr bwMode="auto">
            <a:xfrm flipV="1">
              <a:off x="3648" y="1920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86" name="Line 30"/>
            <p:cNvSpPr>
              <a:spLocks noChangeShapeType="1"/>
            </p:cNvSpPr>
            <p:nvPr/>
          </p:nvSpPr>
          <p:spPr bwMode="auto">
            <a:xfrm flipV="1">
              <a:off x="3744" y="206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87" name="Line 31"/>
            <p:cNvSpPr>
              <a:spLocks noChangeShapeType="1"/>
            </p:cNvSpPr>
            <p:nvPr/>
          </p:nvSpPr>
          <p:spPr bwMode="auto">
            <a:xfrm>
              <a:off x="5488" y="2592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88" name="Rectangle 32"/>
            <p:cNvSpPr>
              <a:spLocks noChangeArrowheads="1"/>
            </p:cNvSpPr>
            <p:nvPr/>
          </p:nvSpPr>
          <p:spPr bwMode="auto">
            <a:xfrm>
              <a:off x="4144" y="2016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89" name="Line 33"/>
            <p:cNvSpPr>
              <a:spLocks noChangeShapeType="1"/>
            </p:cNvSpPr>
            <p:nvPr/>
          </p:nvSpPr>
          <p:spPr bwMode="auto">
            <a:xfrm>
              <a:off x="5056" y="249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90" name="Line 34"/>
            <p:cNvSpPr>
              <a:spLocks noChangeShapeType="1"/>
            </p:cNvSpPr>
            <p:nvPr/>
          </p:nvSpPr>
          <p:spPr bwMode="auto">
            <a:xfrm>
              <a:off x="3904" y="220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91" name="Line 35"/>
            <p:cNvSpPr>
              <a:spLocks noChangeShapeType="1"/>
            </p:cNvSpPr>
            <p:nvPr/>
          </p:nvSpPr>
          <p:spPr bwMode="auto">
            <a:xfrm>
              <a:off x="4000" y="273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92" name="Line 36"/>
            <p:cNvSpPr>
              <a:spLocks noChangeShapeType="1"/>
            </p:cNvSpPr>
            <p:nvPr/>
          </p:nvSpPr>
          <p:spPr bwMode="auto">
            <a:xfrm>
              <a:off x="4000" y="273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93" name="Text Box 37"/>
            <p:cNvSpPr txBox="1">
              <a:spLocks noChangeArrowheads="1"/>
            </p:cNvSpPr>
            <p:nvPr/>
          </p:nvSpPr>
          <p:spPr bwMode="auto">
            <a:xfrm>
              <a:off x="4096" y="2304"/>
              <a:ext cx="48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Data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710694" name="Text Box 38"/>
            <p:cNvSpPr txBox="1">
              <a:spLocks noChangeArrowheads="1"/>
            </p:cNvSpPr>
            <p:nvPr/>
          </p:nvSpPr>
          <p:spPr bwMode="auto">
            <a:xfrm>
              <a:off x="4096" y="2112"/>
              <a:ext cx="467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Address</a:t>
              </a:r>
            </a:p>
          </p:txBody>
        </p:sp>
        <p:sp>
          <p:nvSpPr>
            <p:cNvPr id="710695" name="Text Box 39"/>
            <p:cNvSpPr txBox="1">
              <a:spLocks noChangeArrowheads="1"/>
            </p:cNvSpPr>
            <p:nvPr/>
          </p:nvSpPr>
          <p:spPr bwMode="auto">
            <a:xfrm>
              <a:off x="4096" y="2640"/>
              <a:ext cx="5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Write Data</a:t>
              </a:r>
            </a:p>
          </p:txBody>
        </p:sp>
        <p:sp>
          <p:nvSpPr>
            <p:cNvPr id="710696" name="Text Box 40"/>
            <p:cNvSpPr txBox="1">
              <a:spLocks noChangeArrowheads="1"/>
            </p:cNvSpPr>
            <p:nvPr/>
          </p:nvSpPr>
          <p:spPr bwMode="auto">
            <a:xfrm>
              <a:off x="4528" y="2400"/>
              <a:ext cx="57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 Data</a:t>
              </a:r>
            </a:p>
          </p:txBody>
        </p:sp>
        <p:sp>
          <p:nvSpPr>
            <p:cNvPr id="710697" name="Line 41"/>
            <p:cNvSpPr>
              <a:spLocks noChangeShapeType="1"/>
            </p:cNvSpPr>
            <p:nvPr/>
          </p:nvSpPr>
          <p:spPr bwMode="auto">
            <a:xfrm>
              <a:off x="4576" y="1824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698" name="Rectangle 42"/>
            <p:cNvSpPr>
              <a:spLocks noChangeArrowheads="1"/>
            </p:cNvSpPr>
            <p:nvPr/>
          </p:nvSpPr>
          <p:spPr bwMode="auto">
            <a:xfrm>
              <a:off x="4320" y="1632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400"/>
                <a:t>MemWrite</a:t>
              </a:r>
            </a:p>
          </p:txBody>
        </p:sp>
        <p:sp>
          <p:nvSpPr>
            <p:cNvPr id="710699" name="Rectangle 43"/>
            <p:cNvSpPr>
              <a:spLocks noChangeArrowheads="1"/>
            </p:cNvSpPr>
            <p:nvPr/>
          </p:nvSpPr>
          <p:spPr bwMode="auto">
            <a:xfrm>
              <a:off x="4336" y="3120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400"/>
                <a:t>MemRead</a:t>
              </a:r>
            </a:p>
          </p:txBody>
        </p:sp>
        <p:sp>
          <p:nvSpPr>
            <p:cNvPr id="710700" name="Line 44"/>
            <p:cNvSpPr>
              <a:spLocks noChangeShapeType="1"/>
            </p:cNvSpPr>
            <p:nvPr/>
          </p:nvSpPr>
          <p:spPr bwMode="auto">
            <a:xfrm>
              <a:off x="4576" y="2928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01" name="Line 45"/>
            <p:cNvSpPr>
              <a:spLocks noChangeShapeType="1"/>
            </p:cNvSpPr>
            <p:nvPr/>
          </p:nvSpPr>
          <p:spPr bwMode="auto">
            <a:xfrm>
              <a:off x="1744" y="3792"/>
              <a:ext cx="37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02" name="Line 46"/>
            <p:cNvSpPr>
              <a:spLocks noChangeShapeType="1"/>
            </p:cNvSpPr>
            <p:nvPr/>
          </p:nvSpPr>
          <p:spPr bwMode="auto">
            <a:xfrm>
              <a:off x="2992" y="3024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03" name="Line 47"/>
            <p:cNvSpPr>
              <a:spLocks noChangeShapeType="1"/>
            </p:cNvSpPr>
            <p:nvPr/>
          </p:nvSpPr>
          <p:spPr bwMode="auto">
            <a:xfrm>
              <a:off x="2848" y="33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04" name="Oval 48"/>
            <p:cNvSpPr>
              <a:spLocks noChangeArrowheads="1"/>
            </p:cNvSpPr>
            <p:nvPr/>
          </p:nvSpPr>
          <p:spPr bwMode="auto">
            <a:xfrm>
              <a:off x="2464" y="3120"/>
              <a:ext cx="384" cy="57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705" name="Rectangle 49"/>
            <p:cNvSpPr>
              <a:spLocks noChangeArrowheads="1"/>
            </p:cNvSpPr>
            <p:nvPr/>
          </p:nvSpPr>
          <p:spPr bwMode="auto">
            <a:xfrm>
              <a:off x="2496" y="3216"/>
              <a:ext cx="336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algn="ctr"/>
              <a:r>
                <a:rPr lang="en-US" sz="1200" b="1">
                  <a:solidFill>
                    <a:srgbClr val="000000"/>
                  </a:solidFill>
                </a:rPr>
                <a:t>Sign</a:t>
              </a:r>
            </a:p>
            <a:p>
              <a:pPr algn="ctr"/>
              <a:r>
                <a:rPr lang="en-US" sz="1200" b="1">
                  <a:solidFill>
                    <a:srgbClr val="000000"/>
                  </a:solidFill>
                </a:rPr>
                <a:t>Extend</a:t>
              </a:r>
            </a:p>
          </p:txBody>
        </p:sp>
        <p:sp>
          <p:nvSpPr>
            <p:cNvPr id="710706" name="Line 50"/>
            <p:cNvSpPr>
              <a:spLocks noChangeShapeType="1"/>
            </p:cNvSpPr>
            <p:nvPr/>
          </p:nvSpPr>
          <p:spPr bwMode="auto">
            <a:xfrm>
              <a:off x="1840" y="3360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07" name="Line 51"/>
            <p:cNvSpPr>
              <a:spLocks noChangeShapeType="1"/>
            </p:cNvSpPr>
            <p:nvPr/>
          </p:nvSpPr>
          <p:spPr bwMode="auto">
            <a:xfrm>
              <a:off x="2256" y="3312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08" name="Line 52"/>
            <p:cNvSpPr>
              <a:spLocks noChangeShapeType="1"/>
            </p:cNvSpPr>
            <p:nvPr/>
          </p:nvSpPr>
          <p:spPr bwMode="auto">
            <a:xfrm>
              <a:off x="2896" y="3312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09" name="Text Box 53"/>
            <p:cNvSpPr txBox="1">
              <a:spLocks noChangeArrowheads="1"/>
            </p:cNvSpPr>
            <p:nvPr/>
          </p:nvSpPr>
          <p:spPr bwMode="auto">
            <a:xfrm>
              <a:off x="2256" y="3360"/>
              <a:ext cx="2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710710" name="Text Box 54"/>
            <p:cNvSpPr txBox="1">
              <a:spLocks noChangeArrowheads="1"/>
            </p:cNvSpPr>
            <p:nvPr/>
          </p:nvSpPr>
          <p:spPr bwMode="auto">
            <a:xfrm>
              <a:off x="2896" y="3360"/>
              <a:ext cx="2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32</a:t>
              </a:r>
            </a:p>
          </p:txBody>
        </p:sp>
        <p:sp>
          <p:nvSpPr>
            <p:cNvPr id="710711" name="Line 55"/>
            <p:cNvSpPr>
              <a:spLocks noChangeShapeType="1"/>
            </p:cNvSpPr>
            <p:nvPr/>
          </p:nvSpPr>
          <p:spPr bwMode="auto">
            <a:xfrm>
              <a:off x="2992" y="264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12" name="Line 56"/>
            <p:cNvSpPr>
              <a:spLocks noChangeShapeType="1"/>
            </p:cNvSpPr>
            <p:nvPr/>
          </p:nvSpPr>
          <p:spPr bwMode="auto">
            <a:xfrm>
              <a:off x="5104" y="2736"/>
              <a:ext cx="0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13" name="Line 57"/>
            <p:cNvSpPr>
              <a:spLocks noChangeShapeType="1"/>
            </p:cNvSpPr>
            <p:nvPr/>
          </p:nvSpPr>
          <p:spPr bwMode="auto">
            <a:xfrm>
              <a:off x="3072" y="2880"/>
              <a:ext cx="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14" name="Line 58"/>
            <p:cNvSpPr>
              <a:spLocks noChangeShapeType="1"/>
            </p:cNvSpPr>
            <p:nvPr/>
          </p:nvSpPr>
          <p:spPr bwMode="auto">
            <a:xfrm>
              <a:off x="1744" y="283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15" name="AutoShape 59"/>
            <p:cNvSpPr>
              <a:spLocks noChangeArrowheads="1"/>
            </p:cNvSpPr>
            <p:nvPr/>
          </p:nvSpPr>
          <p:spPr bwMode="auto">
            <a:xfrm rot="-5400000">
              <a:off x="5096" y="2552"/>
              <a:ext cx="432" cy="128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716" name="Line 60"/>
            <p:cNvSpPr>
              <a:spLocks noChangeShapeType="1"/>
            </p:cNvSpPr>
            <p:nvPr/>
          </p:nvSpPr>
          <p:spPr bwMode="auto">
            <a:xfrm>
              <a:off x="5392" y="25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17" name="AutoShape 61"/>
            <p:cNvSpPr>
              <a:spLocks noChangeArrowheads="1"/>
            </p:cNvSpPr>
            <p:nvPr/>
          </p:nvSpPr>
          <p:spPr bwMode="auto">
            <a:xfrm rot="-5400000">
              <a:off x="3032" y="2696"/>
              <a:ext cx="432" cy="128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718" name="Line 62"/>
            <p:cNvSpPr>
              <a:spLocks noChangeShapeType="1"/>
            </p:cNvSpPr>
            <p:nvPr/>
          </p:nvSpPr>
          <p:spPr bwMode="auto">
            <a:xfrm>
              <a:off x="3328" y="273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19" name="Line 63"/>
            <p:cNvSpPr>
              <a:spLocks noChangeShapeType="1"/>
            </p:cNvSpPr>
            <p:nvPr/>
          </p:nvSpPr>
          <p:spPr bwMode="auto">
            <a:xfrm>
              <a:off x="3232" y="1824"/>
              <a:ext cx="0" cy="72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20" name="Line 64"/>
            <p:cNvSpPr>
              <a:spLocks noChangeShapeType="1"/>
            </p:cNvSpPr>
            <p:nvPr/>
          </p:nvSpPr>
          <p:spPr bwMode="auto">
            <a:xfrm>
              <a:off x="5296" y="1824"/>
              <a:ext cx="0" cy="576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21" name="Rectangle 65"/>
            <p:cNvSpPr>
              <a:spLocks noChangeArrowheads="1"/>
            </p:cNvSpPr>
            <p:nvPr/>
          </p:nvSpPr>
          <p:spPr bwMode="auto">
            <a:xfrm>
              <a:off x="4992" y="1632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400"/>
                <a:t>MemtoReg</a:t>
              </a:r>
            </a:p>
          </p:txBody>
        </p:sp>
        <p:sp>
          <p:nvSpPr>
            <p:cNvPr id="710722" name="Rectangle 66"/>
            <p:cNvSpPr>
              <a:spLocks noChangeArrowheads="1"/>
            </p:cNvSpPr>
            <p:nvPr/>
          </p:nvSpPr>
          <p:spPr bwMode="auto">
            <a:xfrm>
              <a:off x="3024" y="1632"/>
              <a:ext cx="432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ALUSrc</a:t>
              </a:r>
            </a:p>
          </p:txBody>
        </p:sp>
      </p:grpSp>
      <p:grpSp>
        <p:nvGrpSpPr>
          <p:cNvPr id="3" name="Group 67"/>
          <p:cNvGrpSpPr>
            <a:grpSpLocks/>
          </p:cNvGrpSpPr>
          <p:nvPr/>
        </p:nvGrpSpPr>
        <p:grpSpPr bwMode="auto">
          <a:xfrm>
            <a:off x="355600" y="1143000"/>
            <a:ext cx="2565400" cy="4876800"/>
            <a:chOff x="224" y="720"/>
            <a:chExt cx="1616" cy="3072"/>
          </a:xfrm>
        </p:grpSpPr>
        <p:grpSp>
          <p:nvGrpSpPr>
            <p:cNvPr id="4" name="Group 68"/>
            <p:cNvGrpSpPr>
              <a:grpSpLocks/>
            </p:cNvGrpSpPr>
            <p:nvPr/>
          </p:nvGrpSpPr>
          <p:grpSpPr bwMode="auto">
            <a:xfrm>
              <a:off x="1200" y="816"/>
              <a:ext cx="240" cy="624"/>
              <a:chOff x="1392" y="2880"/>
              <a:chExt cx="288" cy="480"/>
            </a:xfrm>
          </p:grpSpPr>
          <p:sp>
            <p:nvSpPr>
              <p:cNvPr id="710725" name="Line 69"/>
              <p:cNvSpPr>
                <a:spLocks noChangeShapeType="1"/>
              </p:cNvSpPr>
              <p:nvPr/>
            </p:nvSpPr>
            <p:spPr bwMode="auto">
              <a:xfrm>
                <a:off x="1392" y="3072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726" name="Line 70"/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727" name="Line 71"/>
              <p:cNvSpPr>
                <a:spLocks noChangeShapeType="1"/>
              </p:cNvSpPr>
              <p:nvPr/>
            </p:nvSpPr>
            <p:spPr bwMode="auto">
              <a:xfrm flipV="1">
                <a:off x="1392" y="2880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728" name="Line 72"/>
              <p:cNvSpPr>
                <a:spLocks noChangeShapeType="1"/>
              </p:cNvSpPr>
              <p:nvPr/>
            </p:nvSpPr>
            <p:spPr bwMode="auto">
              <a:xfrm flipV="1">
                <a:off x="1392" y="316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729" name="Line 73"/>
              <p:cNvSpPr>
                <a:spLocks noChangeShapeType="1"/>
              </p:cNvSpPr>
              <p:nvPr/>
            </p:nvSpPr>
            <p:spPr bwMode="auto">
              <a:xfrm flipV="1">
                <a:off x="1392" y="3216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730" name="Line 74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731" name="Line 75"/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0732" name="Rectangle 76"/>
            <p:cNvSpPr>
              <a:spLocks noChangeArrowheads="1"/>
            </p:cNvSpPr>
            <p:nvPr/>
          </p:nvSpPr>
          <p:spPr bwMode="auto">
            <a:xfrm>
              <a:off x="752" y="2016"/>
              <a:ext cx="912" cy="9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733" name="Rectangle 77"/>
            <p:cNvSpPr>
              <a:spLocks noChangeArrowheads="1"/>
            </p:cNvSpPr>
            <p:nvPr/>
          </p:nvSpPr>
          <p:spPr bwMode="auto">
            <a:xfrm>
              <a:off x="416" y="2256"/>
              <a:ext cx="144" cy="5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734" name="Line 78"/>
            <p:cNvSpPr>
              <a:spLocks noChangeShapeType="1"/>
            </p:cNvSpPr>
            <p:nvPr/>
          </p:nvSpPr>
          <p:spPr bwMode="auto">
            <a:xfrm>
              <a:off x="560" y="249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35" name="Line 79"/>
            <p:cNvSpPr>
              <a:spLocks noChangeShapeType="1"/>
            </p:cNvSpPr>
            <p:nvPr/>
          </p:nvSpPr>
          <p:spPr bwMode="auto">
            <a:xfrm>
              <a:off x="624" y="912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36" name="Line 80"/>
            <p:cNvSpPr>
              <a:spLocks noChangeShapeType="1"/>
            </p:cNvSpPr>
            <p:nvPr/>
          </p:nvSpPr>
          <p:spPr bwMode="auto">
            <a:xfrm>
              <a:off x="960" y="134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37" name="Line 81"/>
            <p:cNvSpPr>
              <a:spLocks noChangeShapeType="1"/>
            </p:cNvSpPr>
            <p:nvPr/>
          </p:nvSpPr>
          <p:spPr bwMode="auto">
            <a:xfrm>
              <a:off x="1440" y="110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38" name="Text Box 82"/>
            <p:cNvSpPr txBox="1">
              <a:spLocks noChangeArrowheads="1"/>
            </p:cNvSpPr>
            <p:nvPr/>
          </p:nvSpPr>
          <p:spPr bwMode="auto">
            <a:xfrm>
              <a:off x="704" y="2352"/>
              <a:ext cx="467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Read</a:t>
              </a:r>
            </a:p>
            <a:p>
              <a:r>
                <a:rPr lang="en-US" sz="1200">
                  <a:solidFill>
                    <a:schemeClr val="tx1"/>
                  </a:solidFill>
                </a:rPr>
                <a:t>Address</a:t>
              </a:r>
            </a:p>
          </p:txBody>
        </p:sp>
        <p:sp>
          <p:nvSpPr>
            <p:cNvPr id="710739" name="Text Box 83"/>
            <p:cNvSpPr txBox="1">
              <a:spLocks noChangeArrowheads="1"/>
            </p:cNvSpPr>
            <p:nvPr/>
          </p:nvSpPr>
          <p:spPr bwMode="auto">
            <a:xfrm>
              <a:off x="1184" y="2400"/>
              <a:ext cx="55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Instruction</a:t>
              </a:r>
            </a:p>
          </p:txBody>
        </p:sp>
        <p:sp>
          <p:nvSpPr>
            <p:cNvPr id="710740" name="Text Box 84"/>
            <p:cNvSpPr txBox="1">
              <a:spLocks noChangeArrowheads="1"/>
            </p:cNvSpPr>
            <p:nvPr/>
          </p:nvSpPr>
          <p:spPr bwMode="auto">
            <a:xfrm>
              <a:off x="896" y="2064"/>
              <a:ext cx="61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Instruction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710741" name="Text Box 85"/>
            <p:cNvSpPr txBox="1">
              <a:spLocks noChangeArrowheads="1"/>
            </p:cNvSpPr>
            <p:nvPr/>
          </p:nvSpPr>
          <p:spPr bwMode="auto">
            <a:xfrm>
              <a:off x="1200" y="1056"/>
              <a:ext cx="30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Add</a:t>
              </a:r>
            </a:p>
          </p:txBody>
        </p:sp>
        <p:sp>
          <p:nvSpPr>
            <p:cNvPr id="710742" name="Text Box 86"/>
            <p:cNvSpPr txBox="1">
              <a:spLocks noChangeArrowheads="1"/>
            </p:cNvSpPr>
            <p:nvPr/>
          </p:nvSpPr>
          <p:spPr bwMode="auto">
            <a:xfrm>
              <a:off x="368" y="2400"/>
              <a:ext cx="24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PC</a:t>
              </a:r>
            </a:p>
          </p:txBody>
        </p:sp>
        <p:sp>
          <p:nvSpPr>
            <p:cNvPr id="710743" name="Line 87"/>
            <p:cNvSpPr>
              <a:spLocks noChangeShapeType="1"/>
            </p:cNvSpPr>
            <p:nvPr/>
          </p:nvSpPr>
          <p:spPr bwMode="auto">
            <a:xfrm>
              <a:off x="224" y="249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44" name="Text Box 88"/>
            <p:cNvSpPr txBox="1">
              <a:spLocks noChangeArrowheads="1"/>
            </p:cNvSpPr>
            <p:nvPr/>
          </p:nvSpPr>
          <p:spPr bwMode="auto">
            <a:xfrm>
              <a:off x="816" y="1248"/>
              <a:ext cx="16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10745" name="Line 89"/>
            <p:cNvSpPr>
              <a:spLocks noChangeShapeType="1"/>
            </p:cNvSpPr>
            <p:nvPr/>
          </p:nvSpPr>
          <p:spPr bwMode="auto">
            <a:xfrm>
              <a:off x="1664" y="2496"/>
              <a:ext cx="1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46" name="Line 90"/>
            <p:cNvSpPr>
              <a:spLocks noChangeShapeType="1"/>
            </p:cNvSpPr>
            <p:nvPr/>
          </p:nvSpPr>
          <p:spPr bwMode="auto">
            <a:xfrm>
              <a:off x="1840" y="2112"/>
              <a:ext cx="0" cy="12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47" name="Line 91"/>
            <p:cNvSpPr>
              <a:spLocks noChangeShapeType="1"/>
            </p:cNvSpPr>
            <p:nvPr/>
          </p:nvSpPr>
          <p:spPr bwMode="auto">
            <a:xfrm>
              <a:off x="1744" y="2832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48" name="Line 92"/>
            <p:cNvSpPr>
              <a:spLocks noChangeShapeType="1"/>
            </p:cNvSpPr>
            <p:nvPr/>
          </p:nvSpPr>
          <p:spPr bwMode="auto">
            <a:xfrm>
              <a:off x="624" y="912"/>
              <a:ext cx="0" cy="15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49" name="Line 93"/>
            <p:cNvSpPr>
              <a:spLocks noChangeShapeType="1"/>
            </p:cNvSpPr>
            <p:nvPr/>
          </p:nvSpPr>
          <p:spPr bwMode="auto">
            <a:xfrm>
              <a:off x="240" y="720"/>
              <a:ext cx="0" cy="17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94"/>
          <p:cNvGrpSpPr>
            <a:grpSpLocks/>
          </p:cNvGrpSpPr>
          <p:nvPr/>
        </p:nvGrpSpPr>
        <p:grpSpPr bwMode="auto">
          <a:xfrm>
            <a:off x="381000" y="1143000"/>
            <a:ext cx="6705600" cy="4191000"/>
            <a:chOff x="240" y="720"/>
            <a:chExt cx="4224" cy="2640"/>
          </a:xfrm>
        </p:grpSpPr>
        <p:sp>
          <p:nvSpPr>
            <p:cNvPr id="710751" name="Line 95"/>
            <p:cNvSpPr>
              <a:spLocks noChangeShapeType="1"/>
            </p:cNvSpPr>
            <p:nvPr/>
          </p:nvSpPr>
          <p:spPr bwMode="auto">
            <a:xfrm>
              <a:off x="240" y="720"/>
              <a:ext cx="40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52" name="Line 96"/>
            <p:cNvSpPr>
              <a:spLocks noChangeShapeType="1"/>
            </p:cNvSpPr>
            <p:nvPr/>
          </p:nvSpPr>
          <p:spPr bwMode="auto">
            <a:xfrm>
              <a:off x="3072" y="1440"/>
              <a:ext cx="0" cy="19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53" name="Oval 97"/>
            <p:cNvSpPr>
              <a:spLocks noChangeArrowheads="1"/>
            </p:cNvSpPr>
            <p:nvPr/>
          </p:nvSpPr>
          <p:spPr bwMode="auto">
            <a:xfrm>
              <a:off x="3216" y="1248"/>
              <a:ext cx="288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754" name="Rectangle 98"/>
            <p:cNvSpPr>
              <a:spLocks noChangeArrowheads="1"/>
            </p:cNvSpPr>
            <p:nvPr/>
          </p:nvSpPr>
          <p:spPr bwMode="auto">
            <a:xfrm>
              <a:off x="3216" y="1296"/>
              <a:ext cx="288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algn="ctr"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Shift</a:t>
              </a:r>
            </a:p>
            <a:p>
              <a:pPr algn="ctr" defTabSz="904875">
                <a:lnSpc>
                  <a:spcPts val="1600"/>
                </a:lnSpc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200" b="1">
                  <a:solidFill>
                    <a:srgbClr val="000000"/>
                  </a:solidFill>
                </a:rPr>
                <a:t>left 2</a:t>
              </a:r>
            </a:p>
          </p:txBody>
        </p:sp>
        <p:sp>
          <p:nvSpPr>
            <p:cNvPr id="710755" name="Line 99"/>
            <p:cNvSpPr>
              <a:spLocks noChangeShapeType="1"/>
            </p:cNvSpPr>
            <p:nvPr/>
          </p:nvSpPr>
          <p:spPr bwMode="auto">
            <a:xfrm>
              <a:off x="3072" y="144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56" name="Line 100"/>
            <p:cNvSpPr>
              <a:spLocks noChangeShapeType="1"/>
            </p:cNvSpPr>
            <p:nvPr/>
          </p:nvSpPr>
          <p:spPr bwMode="auto">
            <a:xfrm>
              <a:off x="1440" y="1104"/>
              <a:ext cx="22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101"/>
            <p:cNvGrpSpPr>
              <a:grpSpLocks/>
            </p:cNvGrpSpPr>
            <p:nvPr/>
          </p:nvGrpSpPr>
          <p:grpSpPr bwMode="auto">
            <a:xfrm>
              <a:off x="3648" y="1008"/>
              <a:ext cx="240" cy="576"/>
              <a:chOff x="1392" y="2880"/>
              <a:chExt cx="288" cy="480"/>
            </a:xfrm>
          </p:grpSpPr>
          <p:sp>
            <p:nvSpPr>
              <p:cNvPr id="710758" name="Line 102"/>
              <p:cNvSpPr>
                <a:spLocks noChangeShapeType="1"/>
              </p:cNvSpPr>
              <p:nvPr/>
            </p:nvSpPr>
            <p:spPr bwMode="auto">
              <a:xfrm>
                <a:off x="1392" y="3072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759" name="Line 103"/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760" name="Line 104"/>
              <p:cNvSpPr>
                <a:spLocks noChangeShapeType="1"/>
              </p:cNvSpPr>
              <p:nvPr/>
            </p:nvSpPr>
            <p:spPr bwMode="auto">
              <a:xfrm flipV="1">
                <a:off x="1392" y="2880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761" name="Line 105"/>
              <p:cNvSpPr>
                <a:spLocks noChangeShapeType="1"/>
              </p:cNvSpPr>
              <p:nvPr/>
            </p:nvSpPr>
            <p:spPr bwMode="auto">
              <a:xfrm flipV="1">
                <a:off x="1392" y="316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762" name="Line 106"/>
              <p:cNvSpPr>
                <a:spLocks noChangeShapeType="1"/>
              </p:cNvSpPr>
              <p:nvPr/>
            </p:nvSpPr>
            <p:spPr bwMode="auto">
              <a:xfrm flipV="1">
                <a:off x="1392" y="3216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763" name="Line 107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764" name="Line 108"/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0765" name="Text Box 109"/>
            <p:cNvSpPr txBox="1">
              <a:spLocks noChangeArrowheads="1"/>
            </p:cNvSpPr>
            <p:nvPr/>
          </p:nvSpPr>
          <p:spPr bwMode="auto">
            <a:xfrm>
              <a:off x="3648" y="1200"/>
              <a:ext cx="30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Add</a:t>
              </a:r>
            </a:p>
          </p:txBody>
        </p:sp>
        <p:sp>
          <p:nvSpPr>
            <p:cNvPr id="710766" name="Line 110"/>
            <p:cNvSpPr>
              <a:spLocks noChangeShapeType="1"/>
            </p:cNvSpPr>
            <p:nvPr/>
          </p:nvSpPr>
          <p:spPr bwMode="auto">
            <a:xfrm>
              <a:off x="3504" y="144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67" name="Line 111"/>
            <p:cNvSpPr>
              <a:spLocks noChangeShapeType="1"/>
            </p:cNvSpPr>
            <p:nvPr/>
          </p:nvSpPr>
          <p:spPr bwMode="auto">
            <a:xfrm>
              <a:off x="3888" y="129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68" name="AutoShape 112"/>
            <p:cNvSpPr>
              <a:spLocks noChangeArrowheads="1"/>
            </p:cNvSpPr>
            <p:nvPr/>
          </p:nvSpPr>
          <p:spPr bwMode="auto">
            <a:xfrm rot="-5400000">
              <a:off x="3840" y="1056"/>
              <a:ext cx="528" cy="144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769" name="Line 113"/>
            <p:cNvSpPr>
              <a:spLocks noChangeShapeType="1"/>
            </p:cNvSpPr>
            <p:nvPr/>
          </p:nvSpPr>
          <p:spPr bwMode="auto">
            <a:xfrm>
              <a:off x="3072" y="960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70" name="Line 114"/>
            <p:cNvSpPr>
              <a:spLocks noChangeShapeType="1"/>
            </p:cNvSpPr>
            <p:nvPr/>
          </p:nvSpPr>
          <p:spPr bwMode="auto">
            <a:xfrm>
              <a:off x="3072" y="9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71" name="Line 115"/>
            <p:cNvSpPr>
              <a:spLocks noChangeShapeType="1"/>
            </p:cNvSpPr>
            <p:nvPr/>
          </p:nvSpPr>
          <p:spPr bwMode="auto">
            <a:xfrm>
              <a:off x="4176" y="1152"/>
              <a:ext cx="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72" name="Line 116"/>
            <p:cNvSpPr>
              <a:spLocks noChangeShapeType="1"/>
            </p:cNvSpPr>
            <p:nvPr/>
          </p:nvSpPr>
          <p:spPr bwMode="auto">
            <a:xfrm>
              <a:off x="4272" y="720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73" name="Line 117"/>
            <p:cNvSpPr>
              <a:spLocks noChangeShapeType="1"/>
            </p:cNvSpPr>
            <p:nvPr/>
          </p:nvSpPr>
          <p:spPr bwMode="auto">
            <a:xfrm>
              <a:off x="4128" y="1296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0774" name="Rectangle 118"/>
            <p:cNvSpPr>
              <a:spLocks noChangeArrowheads="1"/>
            </p:cNvSpPr>
            <p:nvPr/>
          </p:nvSpPr>
          <p:spPr bwMode="auto">
            <a:xfrm>
              <a:off x="4032" y="1440"/>
              <a:ext cx="432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sz="1400"/>
                <a:t>PCSrc</a:t>
              </a:r>
            </a:p>
          </p:txBody>
        </p:sp>
      </p:grpSp>
      <p:sp>
        <p:nvSpPr>
          <p:cNvPr id="710775" name="Line 119"/>
          <p:cNvSpPr>
            <a:spLocks noChangeShapeType="1"/>
          </p:cNvSpPr>
          <p:nvPr/>
        </p:nvSpPr>
        <p:spPr bwMode="auto">
          <a:xfrm>
            <a:off x="4876800" y="4572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0776" name="Line 120"/>
          <p:cNvSpPr>
            <a:spLocks noChangeShapeType="1"/>
          </p:cNvSpPr>
          <p:nvPr/>
        </p:nvSpPr>
        <p:spPr bwMode="auto">
          <a:xfrm>
            <a:off x="381000" y="1143000"/>
            <a:ext cx="2209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56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ChangeArrowheads="1"/>
          </p:cNvSpPr>
          <p:nvPr/>
        </p:nvSpPr>
        <p:spPr bwMode="auto">
          <a:xfrm>
            <a:off x="225425" y="312738"/>
            <a:ext cx="437197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2800"/>
              </a:lnSpc>
              <a:tabLst>
                <a:tab pos="904875" algn="l"/>
                <a:tab pos="1809750" algn="l"/>
                <a:tab pos="2716213" algn="l"/>
                <a:tab pos="3621088" algn="l"/>
                <a:tab pos="4525963" algn="l"/>
                <a:tab pos="5430838" algn="l"/>
                <a:tab pos="6337300" algn="l"/>
              </a:tabLst>
            </a:pPr>
            <a:r>
              <a:rPr lang="en-US" sz="2400" b="1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762000"/>
            <a:ext cx="8001000" cy="3962400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/>
              <a:t>We wait for everything to settle down</a:t>
            </a:r>
          </a:p>
          <a:p>
            <a:pPr marL="742950" lvl="1" indent="-285750"/>
            <a:r>
              <a:rPr lang="en-US"/>
              <a:t>ALU might not produce “right answer” right away</a:t>
            </a:r>
          </a:p>
          <a:p>
            <a:pPr marL="742950" lvl="1" indent="-285750"/>
            <a:r>
              <a:rPr lang="en-US"/>
              <a:t>Memory and RegFile reads are combinational (as are ALU, adders, muxes, shifter, signextender)</a:t>
            </a:r>
          </a:p>
          <a:p>
            <a:pPr marL="742950" lvl="1" indent="-285750"/>
            <a:r>
              <a:rPr lang="en-US"/>
              <a:t>Use write signals along with the clock edge to determine when to write to the sequential elements (to the PC, to the Register File and to the Data Memory)</a:t>
            </a:r>
          </a:p>
          <a:p>
            <a:pPr marL="742950" lvl="1" indent="-285750"/>
            <a:endParaRPr lang="en-US"/>
          </a:p>
          <a:p>
            <a:pPr marL="342900" indent="-342900"/>
            <a:r>
              <a:rPr lang="en-US"/>
              <a:t>The clock cycle time is determined by the logic delay through the longest path</a:t>
            </a:r>
          </a:p>
        </p:txBody>
      </p:sp>
      <p:sp>
        <p:nvSpPr>
          <p:cNvPr id="68506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/>
              <a:t>Our Simple Control Structure</a:t>
            </a:r>
          </a:p>
        </p:txBody>
      </p:sp>
      <p:sp>
        <p:nvSpPr>
          <p:cNvPr id="685061" name="Rectangle 5"/>
          <p:cNvSpPr>
            <a:spLocks noChangeArrowheads="1"/>
          </p:cNvSpPr>
          <p:nvPr/>
        </p:nvSpPr>
        <p:spPr bwMode="auto">
          <a:xfrm>
            <a:off x="1219200" y="5105400"/>
            <a:ext cx="6553200" cy="882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sz="2600"/>
              <a:t>We are ignoring some details like register setup and hold times</a:t>
            </a:r>
          </a:p>
        </p:txBody>
      </p:sp>
    </p:spTree>
    <p:extLst>
      <p:ext uri="{BB962C8B-B14F-4D97-AF65-F5344CB8AC3E}">
        <p14:creationId xmlns:p14="http://schemas.microsoft.com/office/powerpoint/2010/main" val="1943655798"/>
      </p:ext>
    </p:extLst>
  </p:cSld>
  <p:clrMapOvr>
    <a:masterClrMapping/>
  </p:clrMapOvr>
  <p:transition advTm="200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 altLang="zh-CN">
                <a:ea typeface="宋体" pitchFamily="2" charset="-122"/>
              </a:rPr>
              <a:t>Adding the Control</a:t>
            </a:r>
          </a:p>
        </p:txBody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762000"/>
            <a:ext cx="8229600" cy="1905000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altLang="zh-CN">
                <a:ea typeface="宋体" pitchFamily="2" charset="-122"/>
              </a:rPr>
              <a:t>Selecting the operations to perform (ALU, Register File and Memory read/write)</a:t>
            </a:r>
          </a:p>
          <a:p>
            <a:pPr marL="342900" indent="-342900"/>
            <a:r>
              <a:rPr lang="en-US" altLang="zh-CN">
                <a:ea typeface="宋体" pitchFamily="2" charset="-122"/>
              </a:rPr>
              <a:t>Controlling the flow of data (multiplexor inputs)</a:t>
            </a:r>
          </a:p>
          <a:p>
            <a:pPr marL="342900" indent="-342900"/>
            <a:r>
              <a:rPr lang="en-US" altLang="zh-CN">
                <a:ea typeface="宋体" pitchFamily="2" charset="-122"/>
              </a:rPr>
              <a:t>Information comes from the 32 bits of the instruction</a:t>
            </a:r>
            <a:endParaRPr lang="en-US" altLang="zh-CN" b="1">
              <a:ea typeface="宋体" pitchFamily="2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0" y="3505200"/>
            <a:ext cx="5903913" cy="779463"/>
            <a:chOff x="699" y="1392"/>
            <a:chExt cx="3719" cy="491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832" y="1584"/>
              <a:ext cx="1520" cy="272"/>
              <a:chOff x="2552" y="1160"/>
              <a:chExt cx="1520" cy="272"/>
            </a:xfrm>
          </p:grpSpPr>
          <p:sp>
            <p:nvSpPr>
              <p:cNvPr id="707590" name="Line 6"/>
              <p:cNvSpPr>
                <a:spLocks noChangeShapeType="1"/>
              </p:cNvSpPr>
              <p:nvPr/>
            </p:nvSpPr>
            <p:spPr bwMode="auto">
              <a:xfrm>
                <a:off x="283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1" name="Line 7"/>
              <p:cNvSpPr>
                <a:spLocks noChangeShapeType="1"/>
              </p:cNvSpPr>
              <p:nvPr/>
            </p:nvSpPr>
            <p:spPr bwMode="auto">
              <a:xfrm>
                <a:off x="273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2" name="Line 8"/>
              <p:cNvSpPr>
                <a:spLocks noChangeShapeType="1"/>
              </p:cNvSpPr>
              <p:nvPr/>
            </p:nvSpPr>
            <p:spPr bwMode="auto">
              <a:xfrm>
                <a:off x="292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3" name="Line 9"/>
              <p:cNvSpPr>
                <a:spLocks noChangeShapeType="1"/>
              </p:cNvSpPr>
              <p:nvPr/>
            </p:nvSpPr>
            <p:spPr bwMode="auto">
              <a:xfrm>
                <a:off x="3024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4" name="Line 10"/>
              <p:cNvSpPr>
                <a:spLocks noChangeShapeType="1"/>
              </p:cNvSpPr>
              <p:nvPr/>
            </p:nvSpPr>
            <p:spPr bwMode="auto">
              <a:xfrm>
                <a:off x="331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5" name="Line 11"/>
              <p:cNvSpPr>
                <a:spLocks noChangeShapeType="1"/>
              </p:cNvSpPr>
              <p:nvPr/>
            </p:nvSpPr>
            <p:spPr bwMode="auto">
              <a:xfrm>
                <a:off x="321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6" name="Line 12"/>
              <p:cNvSpPr>
                <a:spLocks noChangeShapeType="1"/>
              </p:cNvSpPr>
              <p:nvPr/>
            </p:nvSpPr>
            <p:spPr bwMode="auto">
              <a:xfrm>
                <a:off x="340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7" name="Line 13"/>
              <p:cNvSpPr>
                <a:spLocks noChangeShapeType="1"/>
              </p:cNvSpPr>
              <p:nvPr/>
            </p:nvSpPr>
            <p:spPr bwMode="auto">
              <a:xfrm>
                <a:off x="3504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8" name="Line 14"/>
              <p:cNvSpPr>
                <a:spLocks noChangeShapeType="1"/>
              </p:cNvSpPr>
              <p:nvPr/>
            </p:nvSpPr>
            <p:spPr bwMode="auto">
              <a:xfrm>
                <a:off x="379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9" name="Line 15"/>
              <p:cNvSpPr>
                <a:spLocks noChangeShapeType="1"/>
              </p:cNvSpPr>
              <p:nvPr/>
            </p:nvSpPr>
            <p:spPr bwMode="auto">
              <a:xfrm>
                <a:off x="369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00" name="Line 16"/>
              <p:cNvSpPr>
                <a:spLocks noChangeShapeType="1"/>
              </p:cNvSpPr>
              <p:nvPr/>
            </p:nvSpPr>
            <p:spPr bwMode="auto">
              <a:xfrm>
                <a:off x="388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01" name="Line 17"/>
              <p:cNvSpPr>
                <a:spLocks noChangeShapeType="1"/>
              </p:cNvSpPr>
              <p:nvPr/>
            </p:nvSpPr>
            <p:spPr bwMode="auto">
              <a:xfrm>
                <a:off x="3984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02" name="Rectangle 18"/>
              <p:cNvSpPr>
                <a:spLocks noChangeArrowheads="1"/>
              </p:cNvSpPr>
              <p:nvPr/>
            </p:nvSpPr>
            <p:spPr bwMode="auto">
              <a:xfrm>
                <a:off x="2552" y="1160"/>
                <a:ext cx="1520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03" name="Line 19"/>
              <p:cNvSpPr>
                <a:spLocks noChangeShapeType="1"/>
              </p:cNvSpPr>
              <p:nvPr/>
            </p:nvSpPr>
            <p:spPr bwMode="auto">
              <a:xfrm>
                <a:off x="264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04" name="Line 20"/>
              <p:cNvSpPr>
                <a:spLocks noChangeShapeType="1"/>
              </p:cNvSpPr>
              <p:nvPr/>
            </p:nvSpPr>
            <p:spPr bwMode="auto">
              <a:xfrm>
                <a:off x="312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05" name="Line 21"/>
              <p:cNvSpPr>
                <a:spLocks noChangeShapeType="1"/>
              </p:cNvSpPr>
              <p:nvPr/>
            </p:nvSpPr>
            <p:spPr bwMode="auto">
              <a:xfrm>
                <a:off x="360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07606" name="Rectangle 22"/>
            <p:cNvSpPr>
              <a:spLocks noChangeArrowheads="1"/>
            </p:cNvSpPr>
            <p:nvPr/>
          </p:nvSpPr>
          <p:spPr bwMode="auto">
            <a:xfrm>
              <a:off x="1296" y="1584"/>
              <a:ext cx="560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07" name="Line 23"/>
            <p:cNvSpPr>
              <a:spLocks noChangeShapeType="1"/>
            </p:cNvSpPr>
            <p:nvPr/>
          </p:nvSpPr>
          <p:spPr bwMode="auto">
            <a:xfrm>
              <a:off x="1672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08" name="Line 24"/>
            <p:cNvSpPr>
              <a:spLocks noChangeShapeType="1"/>
            </p:cNvSpPr>
            <p:nvPr/>
          </p:nvSpPr>
          <p:spPr bwMode="auto">
            <a:xfrm>
              <a:off x="1576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09" name="Line 25"/>
            <p:cNvSpPr>
              <a:spLocks noChangeShapeType="1"/>
            </p:cNvSpPr>
            <p:nvPr/>
          </p:nvSpPr>
          <p:spPr bwMode="auto">
            <a:xfrm>
              <a:off x="1768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10" name="Line 26"/>
            <p:cNvSpPr>
              <a:spLocks noChangeShapeType="1"/>
            </p:cNvSpPr>
            <p:nvPr/>
          </p:nvSpPr>
          <p:spPr bwMode="auto">
            <a:xfrm>
              <a:off x="1480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11" name="Line 27"/>
            <p:cNvSpPr>
              <a:spLocks noChangeShapeType="1"/>
            </p:cNvSpPr>
            <p:nvPr/>
          </p:nvSpPr>
          <p:spPr bwMode="auto">
            <a:xfrm>
              <a:off x="1384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1872" y="1584"/>
              <a:ext cx="464" cy="272"/>
              <a:chOff x="1592" y="1160"/>
              <a:chExt cx="464" cy="272"/>
            </a:xfrm>
          </p:grpSpPr>
          <p:sp>
            <p:nvSpPr>
              <p:cNvPr id="707613" name="Rectangle 29"/>
              <p:cNvSpPr>
                <a:spLocks noChangeArrowheads="1"/>
              </p:cNvSpPr>
              <p:nvPr/>
            </p:nvSpPr>
            <p:spPr bwMode="auto">
              <a:xfrm>
                <a:off x="1592" y="1160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14" name="Line 30"/>
              <p:cNvSpPr>
                <a:spLocks noChangeShapeType="1"/>
              </p:cNvSpPr>
              <p:nvPr/>
            </p:nvSpPr>
            <p:spPr bwMode="auto">
              <a:xfrm>
                <a:off x="177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15" name="Line 31"/>
              <p:cNvSpPr>
                <a:spLocks noChangeShapeType="1"/>
              </p:cNvSpPr>
              <p:nvPr/>
            </p:nvSpPr>
            <p:spPr bwMode="auto">
              <a:xfrm>
                <a:off x="168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16" name="Line 32"/>
              <p:cNvSpPr>
                <a:spLocks noChangeShapeType="1"/>
              </p:cNvSpPr>
              <p:nvPr/>
            </p:nvSpPr>
            <p:spPr bwMode="auto">
              <a:xfrm>
                <a:off x="187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17" name="Line 33"/>
              <p:cNvSpPr>
                <a:spLocks noChangeShapeType="1"/>
              </p:cNvSpPr>
              <p:nvPr/>
            </p:nvSpPr>
            <p:spPr bwMode="auto">
              <a:xfrm>
                <a:off x="196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34"/>
            <p:cNvGrpSpPr>
              <a:grpSpLocks/>
            </p:cNvGrpSpPr>
            <p:nvPr/>
          </p:nvGrpSpPr>
          <p:grpSpPr bwMode="auto">
            <a:xfrm>
              <a:off x="2352" y="1584"/>
              <a:ext cx="464" cy="272"/>
              <a:chOff x="2072" y="1160"/>
              <a:chExt cx="464" cy="272"/>
            </a:xfrm>
          </p:grpSpPr>
          <p:sp>
            <p:nvSpPr>
              <p:cNvPr id="707619" name="Rectangle 35"/>
              <p:cNvSpPr>
                <a:spLocks noChangeArrowheads="1"/>
              </p:cNvSpPr>
              <p:nvPr/>
            </p:nvSpPr>
            <p:spPr bwMode="auto">
              <a:xfrm>
                <a:off x="2072" y="1160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20" name="Line 36"/>
              <p:cNvSpPr>
                <a:spLocks noChangeShapeType="1"/>
              </p:cNvSpPr>
              <p:nvPr/>
            </p:nvSpPr>
            <p:spPr bwMode="auto">
              <a:xfrm>
                <a:off x="225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21" name="Line 37"/>
              <p:cNvSpPr>
                <a:spLocks noChangeShapeType="1"/>
              </p:cNvSpPr>
              <p:nvPr/>
            </p:nvSpPr>
            <p:spPr bwMode="auto">
              <a:xfrm>
                <a:off x="216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22" name="Line 38"/>
              <p:cNvSpPr>
                <a:spLocks noChangeShapeType="1"/>
              </p:cNvSpPr>
              <p:nvPr/>
            </p:nvSpPr>
            <p:spPr bwMode="auto">
              <a:xfrm>
                <a:off x="235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23" name="Line 39"/>
              <p:cNvSpPr>
                <a:spLocks noChangeShapeType="1"/>
              </p:cNvSpPr>
              <p:nvPr/>
            </p:nvSpPr>
            <p:spPr bwMode="auto">
              <a:xfrm>
                <a:off x="244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07624" name="Rectangle 40"/>
            <p:cNvSpPr>
              <a:spLocks noChangeArrowheads="1"/>
            </p:cNvSpPr>
            <p:nvPr/>
          </p:nvSpPr>
          <p:spPr bwMode="auto">
            <a:xfrm>
              <a:off x="699" y="1606"/>
              <a:ext cx="58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I-Type: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25" name="Rectangle 41"/>
            <p:cNvSpPr>
              <a:spLocks noChangeArrowheads="1"/>
            </p:cNvSpPr>
            <p:nvPr/>
          </p:nvSpPr>
          <p:spPr bwMode="auto">
            <a:xfrm>
              <a:off x="1323" y="1654"/>
              <a:ext cx="29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op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26" name="Rectangle 42"/>
            <p:cNvSpPr>
              <a:spLocks noChangeArrowheads="1"/>
            </p:cNvSpPr>
            <p:nvPr/>
          </p:nvSpPr>
          <p:spPr bwMode="auto">
            <a:xfrm>
              <a:off x="1899" y="1654"/>
              <a:ext cx="2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rs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27" name="Rectangle 43"/>
            <p:cNvSpPr>
              <a:spLocks noChangeArrowheads="1"/>
            </p:cNvSpPr>
            <p:nvPr/>
          </p:nvSpPr>
          <p:spPr bwMode="auto">
            <a:xfrm>
              <a:off x="2379" y="1654"/>
              <a:ext cx="21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rt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28" name="Rectangle 44"/>
            <p:cNvSpPr>
              <a:spLocks noChangeArrowheads="1"/>
            </p:cNvSpPr>
            <p:nvPr/>
          </p:nvSpPr>
          <p:spPr bwMode="auto">
            <a:xfrm>
              <a:off x="3024" y="1632"/>
              <a:ext cx="109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address offset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29" name="Rectangle 45"/>
            <p:cNvSpPr>
              <a:spLocks noChangeArrowheads="1"/>
            </p:cNvSpPr>
            <p:nvPr/>
          </p:nvSpPr>
          <p:spPr bwMode="auto">
            <a:xfrm>
              <a:off x="1200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31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30" name="Rectangle 46"/>
            <p:cNvSpPr>
              <a:spLocks noChangeArrowheads="1"/>
            </p:cNvSpPr>
            <p:nvPr/>
          </p:nvSpPr>
          <p:spPr bwMode="auto">
            <a:xfrm>
              <a:off x="1776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25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31" name="Rectangle 47"/>
            <p:cNvSpPr>
              <a:spLocks noChangeArrowheads="1"/>
            </p:cNvSpPr>
            <p:nvPr/>
          </p:nvSpPr>
          <p:spPr bwMode="auto">
            <a:xfrm>
              <a:off x="2256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20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32" name="Rectangle 48"/>
            <p:cNvSpPr>
              <a:spLocks noChangeArrowheads="1"/>
            </p:cNvSpPr>
            <p:nvPr/>
          </p:nvSpPr>
          <p:spPr bwMode="auto">
            <a:xfrm>
              <a:off x="2736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15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33" name="Rectangle 49"/>
            <p:cNvSpPr>
              <a:spLocks noChangeArrowheads="1"/>
            </p:cNvSpPr>
            <p:nvPr/>
          </p:nvSpPr>
          <p:spPr bwMode="auto">
            <a:xfrm>
              <a:off x="4224" y="139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0</a:t>
              </a:r>
              <a:endParaRPr lang="en-US" altLang="zh-CN">
                <a:ea typeface="宋体" pitchFamily="2" charset="-122"/>
              </a:endParaRPr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3048000" y="2514600"/>
            <a:ext cx="5870575" cy="820738"/>
            <a:chOff x="720" y="672"/>
            <a:chExt cx="3698" cy="517"/>
          </a:xfrm>
        </p:grpSpPr>
        <p:sp>
          <p:nvSpPr>
            <p:cNvPr id="707635" name="Rectangle 51"/>
            <p:cNvSpPr>
              <a:spLocks noChangeArrowheads="1"/>
            </p:cNvSpPr>
            <p:nvPr/>
          </p:nvSpPr>
          <p:spPr bwMode="auto">
            <a:xfrm>
              <a:off x="720" y="912"/>
              <a:ext cx="61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R-type:</a:t>
              </a: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7" name="Group 52"/>
            <p:cNvGrpSpPr>
              <a:grpSpLocks/>
            </p:cNvGrpSpPr>
            <p:nvPr/>
          </p:nvGrpSpPr>
          <p:grpSpPr bwMode="auto">
            <a:xfrm>
              <a:off x="1317" y="890"/>
              <a:ext cx="560" cy="272"/>
              <a:chOff x="1016" y="728"/>
              <a:chExt cx="560" cy="272"/>
            </a:xfrm>
          </p:grpSpPr>
          <p:sp>
            <p:nvSpPr>
              <p:cNvPr id="707637" name="Rectangle 53"/>
              <p:cNvSpPr>
                <a:spLocks noChangeArrowheads="1"/>
              </p:cNvSpPr>
              <p:nvPr/>
            </p:nvSpPr>
            <p:spPr bwMode="auto">
              <a:xfrm>
                <a:off x="1016" y="728"/>
                <a:ext cx="560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38" name="Line 54"/>
              <p:cNvSpPr>
                <a:spLocks noChangeShapeType="1"/>
              </p:cNvSpPr>
              <p:nvPr/>
            </p:nvSpPr>
            <p:spPr bwMode="auto">
              <a:xfrm>
                <a:off x="1392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39" name="Line 55"/>
              <p:cNvSpPr>
                <a:spLocks noChangeShapeType="1"/>
              </p:cNvSpPr>
              <p:nvPr/>
            </p:nvSpPr>
            <p:spPr bwMode="auto">
              <a:xfrm>
                <a:off x="1296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0" name="Line 56"/>
              <p:cNvSpPr>
                <a:spLocks noChangeShapeType="1"/>
              </p:cNvSpPr>
              <p:nvPr/>
            </p:nvSpPr>
            <p:spPr bwMode="auto">
              <a:xfrm>
                <a:off x="1488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1" name="Line 57"/>
              <p:cNvSpPr>
                <a:spLocks noChangeShapeType="1"/>
              </p:cNvSpPr>
              <p:nvPr/>
            </p:nvSpPr>
            <p:spPr bwMode="auto">
              <a:xfrm>
                <a:off x="1200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2" name="Line 58"/>
              <p:cNvSpPr>
                <a:spLocks noChangeShapeType="1"/>
              </p:cNvSpPr>
              <p:nvPr/>
            </p:nvSpPr>
            <p:spPr bwMode="auto">
              <a:xfrm>
                <a:off x="1104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59"/>
            <p:cNvGrpSpPr>
              <a:grpSpLocks/>
            </p:cNvGrpSpPr>
            <p:nvPr/>
          </p:nvGrpSpPr>
          <p:grpSpPr bwMode="auto">
            <a:xfrm>
              <a:off x="1893" y="890"/>
              <a:ext cx="464" cy="272"/>
              <a:chOff x="1592" y="728"/>
              <a:chExt cx="464" cy="272"/>
            </a:xfrm>
          </p:grpSpPr>
          <p:sp>
            <p:nvSpPr>
              <p:cNvPr id="707644" name="Rectangle 60"/>
              <p:cNvSpPr>
                <a:spLocks noChangeArrowheads="1"/>
              </p:cNvSpPr>
              <p:nvPr/>
            </p:nvSpPr>
            <p:spPr bwMode="auto">
              <a:xfrm>
                <a:off x="1592" y="728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5" name="Line 61"/>
              <p:cNvSpPr>
                <a:spLocks noChangeShapeType="1"/>
              </p:cNvSpPr>
              <p:nvPr/>
            </p:nvSpPr>
            <p:spPr bwMode="auto">
              <a:xfrm>
                <a:off x="1776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6" name="Line 62"/>
              <p:cNvSpPr>
                <a:spLocks noChangeShapeType="1"/>
              </p:cNvSpPr>
              <p:nvPr/>
            </p:nvSpPr>
            <p:spPr bwMode="auto">
              <a:xfrm>
                <a:off x="1680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7" name="Line 63"/>
              <p:cNvSpPr>
                <a:spLocks noChangeShapeType="1"/>
              </p:cNvSpPr>
              <p:nvPr/>
            </p:nvSpPr>
            <p:spPr bwMode="auto">
              <a:xfrm>
                <a:off x="1872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8" name="Line 64"/>
              <p:cNvSpPr>
                <a:spLocks noChangeShapeType="1"/>
              </p:cNvSpPr>
              <p:nvPr/>
            </p:nvSpPr>
            <p:spPr bwMode="auto">
              <a:xfrm>
                <a:off x="1968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65"/>
            <p:cNvGrpSpPr>
              <a:grpSpLocks/>
            </p:cNvGrpSpPr>
            <p:nvPr/>
          </p:nvGrpSpPr>
          <p:grpSpPr bwMode="auto">
            <a:xfrm>
              <a:off x="2373" y="890"/>
              <a:ext cx="464" cy="272"/>
              <a:chOff x="2072" y="728"/>
              <a:chExt cx="464" cy="272"/>
            </a:xfrm>
          </p:grpSpPr>
          <p:sp>
            <p:nvSpPr>
              <p:cNvPr id="707650" name="Rectangle 66"/>
              <p:cNvSpPr>
                <a:spLocks noChangeArrowheads="1"/>
              </p:cNvSpPr>
              <p:nvPr/>
            </p:nvSpPr>
            <p:spPr bwMode="auto">
              <a:xfrm>
                <a:off x="2072" y="728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1" name="Line 67"/>
              <p:cNvSpPr>
                <a:spLocks noChangeShapeType="1"/>
              </p:cNvSpPr>
              <p:nvPr/>
            </p:nvSpPr>
            <p:spPr bwMode="auto">
              <a:xfrm>
                <a:off x="2256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2" name="Line 68"/>
              <p:cNvSpPr>
                <a:spLocks noChangeShapeType="1"/>
              </p:cNvSpPr>
              <p:nvPr/>
            </p:nvSpPr>
            <p:spPr bwMode="auto">
              <a:xfrm>
                <a:off x="2160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3" name="Line 69"/>
              <p:cNvSpPr>
                <a:spLocks noChangeShapeType="1"/>
              </p:cNvSpPr>
              <p:nvPr/>
            </p:nvSpPr>
            <p:spPr bwMode="auto">
              <a:xfrm>
                <a:off x="2352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4" name="Line 70"/>
              <p:cNvSpPr>
                <a:spLocks noChangeShapeType="1"/>
              </p:cNvSpPr>
              <p:nvPr/>
            </p:nvSpPr>
            <p:spPr bwMode="auto">
              <a:xfrm>
                <a:off x="2448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71"/>
            <p:cNvGrpSpPr>
              <a:grpSpLocks/>
            </p:cNvGrpSpPr>
            <p:nvPr/>
          </p:nvGrpSpPr>
          <p:grpSpPr bwMode="auto">
            <a:xfrm>
              <a:off x="2853" y="890"/>
              <a:ext cx="464" cy="272"/>
              <a:chOff x="2552" y="728"/>
              <a:chExt cx="464" cy="272"/>
            </a:xfrm>
          </p:grpSpPr>
          <p:sp>
            <p:nvSpPr>
              <p:cNvPr id="707656" name="Rectangle 72"/>
              <p:cNvSpPr>
                <a:spLocks noChangeArrowheads="1"/>
              </p:cNvSpPr>
              <p:nvPr/>
            </p:nvSpPr>
            <p:spPr bwMode="auto">
              <a:xfrm>
                <a:off x="2552" y="728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7" name="Line 73"/>
              <p:cNvSpPr>
                <a:spLocks noChangeShapeType="1"/>
              </p:cNvSpPr>
              <p:nvPr/>
            </p:nvSpPr>
            <p:spPr bwMode="auto">
              <a:xfrm>
                <a:off x="2736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8" name="Line 74"/>
              <p:cNvSpPr>
                <a:spLocks noChangeShapeType="1"/>
              </p:cNvSpPr>
              <p:nvPr/>
            </p:nvSpPr>
            <p:spPr bwMode="auto">
              <a:xfrm>
                <a:off x="2640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9" name="Line 75"/>
              <p:cNvSpPr>
                <a:spLocks noChangeShapeType="1"/>
              </p:cNvSpPr>
              <p:nvPr/>
            </p:nvSpPr>
            <p:spPr bwMode="auto">
              <a:xfrm>
                <a:off x="2832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60" name="Line 76"/>
              <p:cNvSpPr>
                <a:spLocks noChangeShapeType="1"/>
              </p:cNvSpPr>
              <p:nvPr/>
            </p:nvSpPr>
            <p:spPr bwMode="auto">
              <a:xfrm>
                <a:off x="2928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07661" name="Rectangle 77"/>
            <p:cNvSpPr>
              <a:spLocks noChangeArrowheads="1"/>
            </p:cNvSpPr>
            <p:nvPr/>
          </p:nvSpPr>
          <p:spPr bwMode="auto">
            <a:xfrm>
              <a:off x="3333" y="890"/>
              <a:ext cx="464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2" name="Rectangle 78"/>
            <p:cNvSpPr>
              <a:spLocks noChangeArrowheads="1"/>
            </p:cNvSpPr>
            <p:nvPr/>
          </p:nvSpPr>
          <p:spPr bwMode="auto">
            <a:xfrm>
              <a:off x="3813" y="890"/>
              <a:ext cx="560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3" name="Line 79"/>
            <p:cNvSpPr>
              <a:spLocks noChangeShapeType="1"/>
            </p:cNvSpPr>
            <p:nvPr/>
          </p:nvSpPr>
          <p:spPr bwMode="auto">
            <a:xfrm>
              <a:off x="4189" y="890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4" name="Line 80"/>
            <p:cNvSpPr>
              <a:spLocks noChangeShapeType="1"/>
            </p:cNvSpPr>
            <p:nvPr/>
          </p:nvSpPr>
          <p:spPr bwMode="auto">
            <a:xfrm>
              <a:off x="4093" y="890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5" name="Line 81"/>
            <p:cNvSpPr>
              <a:spLocks noChangeShapeType="1"/>
            </p:cNvSpPr>
            <p:nvPr/>
          </p:nvSpPr>
          <p:spPr bwMode="auto">
            <a:xfrm>
              <a:off x="3408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6" name="Line 82"/>
            <p:cNvSpPr>
              <a:spLocks noChangeShapeType="1"/>
            </p:cNvSpPr>
            <p:nvPr/>
          </p:nvSpPr>
          <p:spPr bwMode="auto">
            <a:xfrm>
              <a:off x="3997" y="890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7" name="Line 83"/>
            <p:cNvSpPr>
              <a:spLocks noChangeShapeType="1"/>
            </p:cNvSpPr>
            <p:nvPr/>
          </p:nvSpPr>
          <p:spPr bwMode="auto">
            <a:xfrm>
              <a:off x="3901" y="890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8" name="Rectangle 84"/>
            <p:cNvSpPr>
              <a:spLocks noChangeArrowheads="1"/>
            </p:cNvSpPr>
            <p:nvPr/>
          </p:nvSpPr>
          <p:spPr bwMode="auto">
            <a:xfrm>
              <a:off x="1248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31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69" name="Rectangle 85"/>
            <p:cNvSpPr>
              <a:spLocks noChangeArrowheads="1"/>
            </p:cNvSpPr>
            <p:nvPr/>
          </p:nvSpPr>
          <p:spPr bwMode="auto">
            <a:xfrm>
              <a:off x="1824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25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0" name="Rectangle 86"/>
            <p:cNvSpPr>
              <a:spLocks noChangeArrowheads="1"/>
            </p:cNvSpPr>
            <p:nvPr/>
          </p:nvSpPr>
          <p:spPr bwMode="auto">
            <a:xfrm>
              <a:off x="2304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20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1" name="Rectangle 87"/>
            <p:cNvSpPr>
              <a:spLocks noChangeArrowheads="1"/>
            </p:cNvSpPr>
            <p:nvPr/>
          </p:nvSpPr>
          <p:spPr bwMode="auto">
            <a:xfrm>
              <a:off x="2784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15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2" name="Rectangle 88"/>
            <p:cNvSpPr>
              <a:spLocks noChangeArrowheads="1"/>
            </p:cNvSpPr>
            <p:nvPr/>
          </p:nvSpPr>
          <p:spPr bwMode="auto">
            <a:xfrm>
              <a:off x="3744" y="67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5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3" name="Rectangle 89"/>
            <p:cNvSpPr>
              <a:spLocks noChangeArrowheads="1"/>
            </p:cNvSpPr>
            <p:nvPr/>
          </p:nvSpPr>
          <p:spPr bwMode="auto">
            <a:xfrm>
              <a:off x="4224" y="67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0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4" name="Rectangle 90"/>
            <p:cNvSpPr>
              <a:spLocks noChangeArrowheads="1"/>
            </p:cNvSpPr>
            <p:nvPr/>
          </p:nvSpPr>
          <p:spPr bwMode="auto">
            <a:xfrm>
              <a:off x="1344" y="960"/>
              <a:ext cx="29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op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5" name="Rectangle 91"/>
            <p:cNvSpPr>
              <a:spLocks noChangeArrowheads="1"/>
            </p:cNvSpPr>
            <p:nvPr/>
          </p:nvSpPr>
          <p:spPr bwMode="auto">
            <a:xfrm>
              <a:off x="1920" y="960"/>
              <a:ext cx="2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rs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6" name="Rectangle 92"/>
            <p:cNvSpPr>
              <a:spLocks noChangeArrowheads="1"/>
            </p:cNvSpPr>
            <p:nvPr/>
          </p:nvSpPr>
          <p:spPr bwMode="auto">
            <a:xfrm>
              <a:off x="2400" y="960"/>
              <a:ext cx="21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rt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7" name="Rectangle 93"/>
            <p:cNvSpPr>
              <a:spLocks noChangeArrowheads="1"/>
            </p:cNvSpPr>
            <p:nvPr/>
          </p:nvSpPr>
          <p:spPr bwMode="auto">
            <a:xfrm>
              <a:off x="2832" y="960"/>
              <a:ext cx="2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rd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8" name="Rectangle 94"/>
            <p:cNvSpPr>
              <a:spLocks noChangeArrowheads="1"/>
            </p:cNvSpPr>
            <p:nvPr/>
          </p:nvSpPr>
          <p:spPr bwMode="auto">
            <a:xfrm>
              <a:off x="3840" y="960"/>
              <a:ext cx="46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funct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9" name="Rectangle 95"/>
            <p:cNvSpPr>
              <a:spLocks noChangeArrowheads="1"/>
            </p:cNvSpPr>
            <p:nvPr/>
          </p:nvSpPr>
          <p:spPr bwMode="auto">
            <a:xfrm>
              <a:off x="3312" y="960"/>
              <a:ext cx="53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shamt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80" name="Line 96"/>
            <p:cNvSpPr>
              <a:spLocks noChangeShapeType="1"/>
            </p:cNvSpPr>
            <p:nvPr/>
          </p:nvSpPr>
          <p:spPr bwMode="auto">
            <a:xfrm>
              <a:off x="3504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81" name="Line 97"/>
            <p:cNvSpPr>
              <a:spLocks noChangeShapeType="1"/>
            </p:cNvSpPr>
            <p:nvPr/>
          </p:nvSpPr>
          <p:spPr bwMode="auto">
            <a:xfrm>
              <a:off x="3600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82" name="Line 98"/>
            <p:cNvSpPr>
              <a:spLocks noChangeShapeType="1"/>
            </p:cNvSpPr>
            <p:nvPr/>
          </p:nvSpPr>
          <p:spPr bwMode="auto">
            <a:xfrm>
              <a:off x="3696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83" name="Line 99"/>
            <p:cNvSpPr>
              <a:spLocks noChangeShapeType="1"/>
            </p:cNvSpPr>
            <p:nvPr/>
          </p:nvSpPr>
          <p:spPr bwMode="auto">
            <a:xfrm>
              <a:off x="4272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84" name="Rectangle 100"/>
            <p:cNvSpPr>
              <a:spLocks noChangeArrowheads="1"/>
            </p:cNvSpPr>
            <p:nvPr/>
          </p:nvSpPr>
          <p:spPr bwMode="auto">
            <a:xfrm>
              <a:off x="3264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10</a:t>
              </a:r>
              <a:endParaRPr lang="en-US" altLang="zh-CN">
                <a:ea typeface="宋体" pitchFamily="2" charset="-122"/>
              </a:endParaRPr>
            </a:p>
          </p:txBody>
        </p:sp>
      </p:grpSp>
      <p:sp>
        <p:nvSpPr>
          <p:cNvPr id="707685" name="Rectangle 101"/>
          <p:cNvSpPr>
            <a:spLocks noChangeArrowheads="1"/>
          </p:cNvSpPr>
          <p:nvPr/>
        </p:nvSpPr>
        <p:spPr bwMode="auto">
          <a:xfrm>
            <a:off x="609600" y="2895600"/>
            <a:ext cx="7772400" cy="34559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600">
                <a:solidFill>
                  <a:schemeClr val="tx1"/>
                </a:solidFill>
                <a:ea typeface="宋体" pitchFamily="2" charset="-122"/>
              </a:rPr>
              <a:t>Observations</a:t>
            </a:r>
          </a:p>
          <a:p>
            <a:pPr marL="741363" lvl="1" indent="-246063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op field always                                                                                   in bits 31-26</a:t>
            </a:r>
          </a:p>
          <a:p>
            <a:pPr marL="741363" lvl="1" indent="-246063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addr of two                                                                                registers to be                                                                                read are </a:t>
            </a:r>
            <a:r>
              <a:rPr lang="en-US" altLang="zh-CN" sz="2000">
                <a:ea typeface="宋体" pitchFamily="2" charset="-122"/>
              </a:rPr>
              <a:t>always</a:t>
            </a: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 specified by the                                                                                  rs and rt fields (bits 25-21 and 20-16)</a:t>
            </a:r>
          </a:p>
          <a:p>
            <a:pPr marL="741363" lvl="1" indent="-246063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base register for lw and sw always in rs (bits 25-21) </a:t>
            </a:r>
          </a:p>
          <a:p>
            <a:pPr marL="741363" lvl="1" indent="-246063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addr. of register to be written is in one of </a:t>
            </a:r>
            <a:r>
              <a:rPr lang="en-US" altLang="zh-CN" sz="2000">
                <a:ea typeface="宋体" pitchFamily="2" charset="-122"/>
              </a:rPr>
              <a:t>two</a:t>
            </a: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 places – in rt (bits 20-16) for lw; in rd (bits 15-11) for R-type instructions</a:t>
            </a:r>
          </a:p>
          <a:p>
            <a:pPr marL="741363" lvl="1" indent="-246063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offset for beq, lw, and sw always in bits 15-0</a:t>
            </a:r>
          </a:p>
        </p:txBody>
      </p:sp>
    </p:spTree>
    <p:extLst>
      <p:ext uri="{BB962C8B-B14F-4D97-AF65-F5344CB8AC3E}">
        <p14:creationId xmlns:p14="http://schemas.microsoft.com/office/powerpoint/2010/main" val="1246744654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685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(Almost) Complete Single Cycle Datapath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78000" y="1295400"/>
            <a:ext cx="381000" cy="990600"/>
            <a:chOff x="1392" y="2880"/>
            <a:chExt cx="288" cy="480"/>
          </a:xfrm>
        </p:grpSpPr>
        <p:sp>
          <p:nvSpPr>
            <p:cNvPr id="709636" name="Line 4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637" name="Line 5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638" name="Line 6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639" name="Line 7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640" name="Line 8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641" name="Line 9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642" name="Line 10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9643" name="Rectangle 11"/>
          <p:cNvSpPr>
            <a:spLocks noChangeArrowheads="1"/>
          </p:cNvSpPr>
          <p:nvPr/>
        </p:nvSpPr>
        <p:spPr bwMode="auto">
          <a:xfrm>
            <a:off x="1066800" y="3200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9644" name="Rectangle 12"/>
          <p:cNvSpPr>
            <a:spLocks noChangeArrowheads="1"/>
          </p:cNvSpPr>
          <p:nvPr/>
        </p:nvSpPr>
        <p:spPr bwMode="auto">
          <a:xfrm>
            <a:off x="533400" y="3581400"/>
            <a:ext cx="2286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9645" name="Line 13"/>
          <p:cNvSpPr>
            <a:spLocks noChangeShapeType="1"/>
          </p:cNvSpPr>
          <p:nvPr/>
        </p:nvSpPr>
        <p:spPr bwMode="auto">
          <a:xfrm>
            <a:off x="762000" y="3962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46" name="Line 14"/>
          <p:cNvSpPr>
            <a:spLocks noChangeShapeType="1"/>
          </p:cNvSpPr>
          <p:nvPr/>
        </p:nvSpPr>
        <p:spPr bwMode="auto">
          <a:xfrm>
            <a:off x="863600" y="1447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47" name="Line 15"/>
          <p:cNvSpPr>
            <a:spLocks noChangeShapeType="1"/>
          </p:cNvSpPr>
          <p:nvPr/>
        </p:nvSpPr>
        <p:spPr bwMode="auto">
          <a:xfrm>
            <a:off x="1397000" y="2133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48" name="Text Box 16"/>
          <p:cNvSpPr txBox="1">
            <a:spLocks noChangeArrowheads="1"/>
          </p:cNvSpPr>
          <p:nvPr/>
        </p:nvSpPr>
        <p:spPr bwMode="auto">
          <a:xfrm>
            <a:off x="990600" y="3733800"/>
            <a:ext cx="7413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09649" name="Text Box 17"/>
          <p:cNvSpPr txBox="1">
            <a:spLocks noChangeArrowheads="1"/>
          </p:cNvSpPr>
          <p:nvPr/>
        </p:nvSpPr>
        <p:spPr bwMode="auto">
          <a:xfrm>
            <a:off x="1752600" y="3810000"/>
            <a:ext cx="8699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Instr[31-0]</a:t>
            </a:r>
          </a:p>
        </p:txBody>
      </p:sp>
      <p:sp>
        <p:nvSpPr>
          <p:cNvPr id="709650" name="Text Box 18"/>
          <p:cNvSpPr txBox="1">
            <a:spLocks noChangeArrowheads="1"/>
          </p:cNvSpPr>
          <p:nvPr/>
        </p:nvSpPr>
        <p:spPr bwMode="auto">
          <a:xfrm>
            <a:off x="1295400" y="3276600"/>
            <a:ext cx="973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Instruction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09651" name="Text Box 19"/>
          <p:cNvSpPr txBox="1">
            <a:spLocks noChangeArrowheads="1"/>
          </p:cNvSpPr>
          <p:nvPr/>
        </p:nvSpPr>
        <p:spPr bwMode="auto">
          <a:xfrm>
            <a:off x="1778000" y="16764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09652" name="Text Box 20"/>
          <p:cNvSpPr txBox="1">
            <a:spLocks noChangeArrowheads="1"/>
          </p:cNvSpPr>
          <p:nvPr/>
        </p:nvSpPr>
        <p:spPr bwMode="auto">
          <a:xfrm>
            <a:off x="457200" y="3810000"/>
            <a:ext cx="395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PC</a:t>
            </a:r>
          </a:p>
        </p:txBody>
      </p:sp>
      <p:sp>
        <p:nvSpPr>
          <p:cNvPr id="709653" name="Line 21"/>
          <p:cNvSpPr>
            <a:spLocks noChangeShapeType="1"/>
          </p:cNvSpPr>
          <p:nvPr/>
        </p:nvSpPr>
        <p:spPr bwMode="auto">
          <a:xfrm>
            <a:off x="228600" y="1143000"/>
            <a:ext cx="685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54" name="Line 22"/>
          <p:cNvSpPr>
            <a:spLocks noChangeShapeType="1"/>
          </p:cNvSpPr>
          <p:nvPr/>
        </p:nvSpPr>
        <p:spPr bwMode="auto">
          <a:xfrm>
            <a:off x="228600" y="3962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55" name="Text Box 23"/>
          <p:cNvSpPr txBox="1">
            <a:spLocks noChangeArrowheads="1"/>
          </p:cNvSpPr>
          <p:nvPr/>
        </p:nvSpPr>
        <p:spPr bwMode="auto">
          <a:xfrm>
            <a:off x="1168400" y="19812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09656" name="Rectangle 24"/>
          <p:cNvSpPr>
            <a:spLocks noChangeArrowheads="1"/>
          </p:cNvSpPr>
          <p:nvPr/>
        </p:nvSpPr>
        <p:spPr bwMode="auto">
          <a:xfrm>
            <a:off x="3519488" y="3200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9657" name="Line 25"/>
          <p:cNvSpPr>
            <a:spLocks noChangeShapeType="1"/>
          </p:cNvSpPr>
          <p:nvPr/>
        </p:nvSpPr>
        <p:spPr bwMode="auto">
          <a:xfrm>
            <a:off x="2514600" y="39624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58" name="Line 26"/>
          <p:cNvSpPr>
            <a:spLocks noChangeShapeType="1"/>
          </p:cNvSpPr>
          <p:nvPr/>
        </p:nvSpPr>
        <p:spPr bwMode="auto">
          <a:xfrm>
            <a:off x="2667000" y="3733800"/>
            <a:ext cx="852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59" name="Line 27"/>
          <p:cNvSpPr>
            <a:spLocks noChangeShapeType="1"/>
          </p:cNvSpPr>
          <p:nvPr/>
        </p:nvSpPr>
        <p:spPr bwMode="auto">
          <a:xfrm>
            <a:off x="2667000" y="4267200"/>
            <a:ext cx="471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60" name="Line 28"/>
          <p:cNvSpPr>
            <a:spLocks noChangeShapeType="1"/>
          </p:cNvSpPr>
          <p:nvPr/>
        </p:nvSpPr>
        <p:spPr bwMode="auto">
          <a:xfrm>
            <a:off x="8396288" y="4343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61" name="Line 29"/>
          <p:cNvSpPr>
            <a:spLocks noChangeShapeType="1"/>
          </p:cNvSpPr>
          <p:nvPr/>
        </p:nvSpPr>
        <p:spPr bwMode="auto">
          <a:xfrm>
            <a:off x="2667000" y="3352800"/>
            <a:ext cx="852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62" name="Line 30"/>
          <p:cNvSpPr>
            <a:spLocks noChangeShapeType="1"/>
          </p:cNvSpPr>
          <p:nvPr/>
        </p:nvSpPr>
        <p:spPr bwMode="auto">
          <a:xfrm>
            <a:off x="4967288" y="3581400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63" name="Line 31"/>
          <p:cNvSpPr>
            <a:spLocks noChangeShapeType="1"/>
          </p:cNvSpPr>
          <p:nvPr/>
        </p:nvSpPr>
        <p:spPr bwMode="auto">
          <a:xfrm>
            <a:off x="6516688" y="5334000"/>
            <a:ext cx="190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64" name="Line 32"/>
          <p:cNvSpPr>
            <a:spLocks noChangeShapeType="1"/>
          </p:cNvSpPr>
          <p:nvPr/>
        </p:nvSpPr>
        <p:spPr bwMode="auto">
          <a:xfrm>
            <a:off x="6324600" y="39624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65" name="Line 33"/>
          <p:cNvSpPr>
            <a:spLocks noChangeShapeType="1"/>
          </p:cNvSpPr>
          <p:nvPr/>
        </p:nvSpPr>
        <p:spPr bwMode="auto">
          <a:xfrm flipH="1">
            <a:off x="6516688" y="3505200"/>
            <a:ext cx="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66" name="Text Box 34"/>
          <p:cNvSpPr txBox="1">
            <a:spLocks noChangeArrowheads="1"/>
          </p:cNvSpPr>
          <p:nvPr/>
        </p:nvSpPr>
        <p:spPr bwMode="auto">
          <a:xfrm>
            <a:off x="3443288" y="4343400"/>
            <a:ext cx="903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09667" name="Text Box 35"/>
          <p:cNvSpPr txBox="1">
            <a:spLocks noChangeArrowheads="1"/>
          </p:cNvSpPr>
          <p:nvPr/>
        </p:nvSpPr>
        <p:spPr bwMode="auto">
          <a:xfrm>
            <a:off x="3443288" y="3200400"/>
            <a:ext cx="103663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1</a:t>
            </a:r>
          </a:p>
        </p:txBody>
      </p:sp>
      <p:sp>
        <p:nvSpPr>
          <p:cNvPr id="709668" name="Text Box 36"/>
          <p:cNvSpPr txBox="1">
            <a:spLocks noChangeArrowheads="1"/>
          </p:cNvSpPr>
          <p:nvPr/>
        </p:nvSpPr>
        <p:spPr bwMode="auto">
          <a:xfrm>
            <a:off x="3443288" y="3581400"/>
            <a:ext cx="103663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2</a:t>
            </a:r>
          </a:p>
        </p:txBody>
      </p:sp>
      <p:sp>
        <p:nvSpPr>
          <p:cNvPr id="709669" name="Text Box 37"/>
          <p:cNvSpPr txBox="1">
            <a:spLocks noChangeArrowheads="1"/>
          </p:cNvSpPr>
          <p:nvPr/>
        </p:nvSpPr>
        <p:spPr bwMode="auto">
          <a:xfrm>
            <a:off x="3443288" y="3962400"/>
            <a:ext cx="903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Addr</a:t>
            </a:r>
          </a:p>
        </p:txBody>
      </p:sp>
      <p:sp>
        <p:nvSpPr>
          <p:cNvPr id="709670" name="Freeform 38"/>
          <p:cNvSpPr>
            <a:spLocks/>
          </p:cNvSpPr>
          <p:nvPr/>
        </p:nvSpPr>
        <p:spPr bwMode="auto">
          <a:xfrm>
            <a:off x="5805488" y="32766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71" name="Rectangle 39"/>
          <p:cNvSpPr>
            <a:spLocks noChangeArrowheads="1"/>
          </p:cNvSpPr>
          <p:nvPr/>
        </p:nvSpPr>
        <p:spPr bwMode="auto">
          <a:xfrm>
            <a:off x="5943600" y="38862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ALU</a:t>
            </a:r>
          </a:p>
        </p:txBody>
      </p:sp>
      <p:sp>
        <p:nvSpPr>
          <p:cNvPr id="709672" name="Rectangle 40"/>
          <p:cNvSpPr>
            <a:spLocks noChangeArrowheads="1"/>
          </p:cNvSpPr>
          <p:nvPr/>
        </p:nvSpPr>
        <p:spPr bwMode="auto">
          <a:xfrm>
            <a:off x="5867400" y="2971800"/>
            <a:ext cx="7620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ovf</a:t>
            </a:r>
          </a:p>
        </p:txBody>
      </p:sp>
      <p:sp>
        <p:nvSpPr>
          <p:cNvPr id="709673" name="Rectangle 41"/>
          <p:cNvSpPr>
            <a:spLocks noChangeArrowheads="1"/>
          </p:cNvSpPr>
          <p:nvPr/>
        </p:nvSpPr>
        <p:spPr bwMode="auto">
          <a:xfrm>
            <a:off x="6096000" y="3048000"/>
            <a:ext cx="5334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zero</a:t>
            </a:r>
          </a:p>
        </p:txBody>
      </p:sp>
      <p:sp>
        <p:nvSpPr>
          <p:cNvPr id="709674" name="Line 42"/>
          <p:cNvSpPr>
            <a:spLocks noChangeShapeType="1"/>
          </p:cNvSpPr>
          <p:nvPr/>
        </p:nvSpPr>
        <p:spPr bwMode="auto">
          <a:xfrm>
            <a:off x="6110288" y="4343400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75" name="Line 43"/>
          <p:cNvSpPr>
            <a:spLocks noChangeShapeType="1"/>
          </p:cNvSpPr>
          <p:nvPr/>
        </p:nvSpPr>
        <p:spPr bwMode="auto">
          <a:xfrm flipV="1">
            <a:off x="6019800" y="32004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76" name="Line 44"/>
          <p:cNvSpPr>
            <a:spLocks noChangeShapeType="1"/>
          </p:cNvSpPr>
          <p:nvPr/>
        </p:nvSpPr>
        <p:spPr bwMode="auto">
          <a:xfrm flipV="1">
            <a:off x="6262688" y="32766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77" name="Line 45"/>
          <p:cNvSpPr>
            <a:spLocks noChangeShapeType="1"/>
          </p:cNvSpPr>
          <p:nvPr/>
        </p:nvSpPr>
        <p:spPr bwMode="auto">
          <a:xfrm>
            <a:off x="9005888" y="4114800"/>
            <a:ext cx="0" cy="2057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78" name="Rectangle 46"/>
          <p:cNvSpPr>
            <a:spLocks noChangeArrowheads="1"/>
          </p:cNvSpPr>
          <p:nvPr/>
        </p:nvSpPr>
        <p:spPr bwMode="auto">
          <a:xfrm>
            <a:off x="6872288" y="3200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9679" name="Line 47"/>
          <p:cNvSpPr>
            <a:spLocks noChangeShapeType="1"/>
          </p:cNvSpPr>
          <p:nvPr/>
        </p:nvSpPr>
        <p:spPr bwMode="auto">
          <a:xfrm>
            <a:off x="8320088" y="3962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80" name="Line 48"/>
          <p:cNvSpPr>
            <a:spLocks noChangeShapeType="1"/>
          </p:cNvSpPr>
          <p:nvPr/>
        </p:nvSpPr>
        <p:spPr bwMode="auto">
          <a:xfrm>
            <a:off x="6516688" y="35052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81" name="Line 49"/>
          <p:cNvSpPr>
            <a:spLocks noChangeShapeType="1"/>
          </p:cNvSpPr>
          <p:nvPr/>
        </p:nvSpPr>
        <p:spPr bwMode="auto">
          <a:xfrm>
            <a:off x="6643688" y="4343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82" name="Text Box 50"/>
          <p:cNvSpPr txBox="1">
            <a:spLocks noChangeArrowheads="1"/>
          </p:cNvSpPr>
          <p:nvPr/>
        </p:nvSpPr>
        <p:spPr bwMode="auto">
          <a:xfrm>
            <a:off x="6796088" y="3657600"/>
            <a:ext cx="76676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Data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09683" name="Text Box 51"/>
          <p:cNvSpPr txBox="1">
            <a:spLocks noChangeArrowheads="1"/>
          </p:cNvSpPr>
          <p:nvPr/>
        </p:nvSpPr>
        <p:spPr bwMode="auto">
          <a:xfrm>
            <a:off x="6796088" y="3352800"/>
            <a:ext cx="741362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09684" name="Text Box 52"/>
          <p:cNvSpPr txBox="1">
            <a:spLocks noChangeArrowheads="1"/>
          </p:cNvSpPr>
          <p:nvPr/>
        </p:nvSpPr>
        <p:spPr bwMode="auto">
          <a:xfrm>
            <a:off x="6796088" y="4191000"/>
            <a:ext cx="903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09685" name="Text Box 53"/>
          <p:cNvSpPr txBox="1">
            <a:spLocks noChangeArrowheads="1"/>
          </p:cNvSpPr>
          <p:nvPr/>
        </p:nvSpPr>
        <p:spPr bwMode="auto">
          <a:xfrm>
            <a:off x="7481888" y="3810000"/>
            <a:ext cx="90963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709686" name="Line 54"/>
          <p:cNvSpPr>
            <a:spLocks noChangeShapeType="1"/>
          </p:cNvSpPr>
          <p:nvPr/>
        </p:nvSpPr>
        <p:spPr bwMode="auto">
          <a:xfrm>
            <a:off x="7558088" y="28956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87" name="Rectangle 55"/>
          <p:cNvSpPr>
            <a:spLocks noChangeArrowheads="1"/>
          </p:cNvSpPr>
          <p:nvPr/>
        </p:nvSpPr>
        <p:spPr bwMode="auto">
          <a:xfrm>
            <a:off x="7151688" y="2590800"/>
            <a:ext cx="925512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MemWrite</a:t>
            </a:r>
          </a:p>
        </p:txBody>
      </p:sp>
      <p:sp>
        <p:nvSpPr>
          <p:cNvPr id="709688" name="Rectangle 56"/>
          <p:cNvSpPr>
            <a:spLocks noChangeArrowheads="1"/>
          </p:cNvSpPr>
          <p:nvPr/>
        </p:nvSpPr>
        <p:spPr bwMode="auto">
          <a:xfrm>
            <a:off x="7177088" y="4953000"/>
            <a:ext cx="925512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MemRead</a:t>
            </a:r>
          </a:p>
        </p:txBody>
      </p:sp>
      <p:sp>
        <p:nvSpPr>
          <p:cNvPr id="709689" name="Line 57"/>
          <p:cNvSpPr>
            <a:spLocks noChangeShapeType="1"/>
          </p:cNvSpPr>
          <p:nvPr/>
        </p:nvSpPr>
        <p:spPr bwMode="auto">
          <a:xfrm>
            <a:off x="7558088" y="46482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90" name="Line 58"/>
          <p:cNvSpPr>
            <a:spLocks noChangeShapeType="1"/>
          </p:cNvSpPr>
          <p:nvPr/>
        </p:nvSpPr>
        <p:spPr bwMode="auto">
          <a:xfrm>
            <a:off x="3290888" y="6172200"/>
            <a:ext cx="574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91" name="Line 59"/>
          <p:cNvSpPr>
            <a:spLocks noChangeShapeType="1"/>
          </p:cNvSpPr>
          <p:nvPr/>
        </p:nvSpPr>
        <p:spPr bwMode="auto">
          <a:xfrm>
            <a:off x="5029200" y="48006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92" name="Line 60"/>
          <p:cNvSpPr>
            <a:spLocks noChangeShapeType="1"/>
          </p:cNvSpPr>
          <p:nvPr/>
        </p:nvSpPr>
        <p:spPr bwMode="auto">
          <a:xfrm>
            <a:off x="2652713" y="5181600"/>
            <a:ext cx="15636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93" name="Line 61"/>
          <p:cNvSpPr>
            <a:spLocks noChangeShapeType="1"/>
          </p:cNvSpPr>
          <p:nvPr/>
        </p:nvSpPr>
        <p:spPr bwMode="auto">
          <a:xfrm>
            <a:off x="8396288" y="4343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94" name="Line 62"/>
          <p:cNvSpPr>
            <a:spLocks noChangeShapeType="1"/>
          </p:cNvSpPr>
          <p:nvPr/>
        </p:nvSpPr>
        <p:spPr bwMode="auto">
          <a:xfrm>
            <a:off x="2667000" y="3352800"/>
            <a:ext cx="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95" name="AutoShape 63"/>
          <p:cNvSpPr>
            <a:spLocks noChangeArrowheads="1"/>
          </p:cNvSpPr>
          <p:nvPr/>
        </p:nvSpPr>
        <p:spPr bwMode="auto">
          <a:xfrm rot="-5400000">
            <a:off x="8389144" y="4045744"/>
            <a:ext cx="685800" cy="214312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9696" name="Line 64"/>
          <p:cNvSpPr>
            <a:spLocks noChangeShapeType="1"/>
          </p:cNvSpPr>
          <p:nvPr/>
        </p:nvSpPr>
        <p:spPr bwMode="auto">
          <a:xfrm>
            <a:off x="8853488" y="4114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97" name="AutoShape 65"/>
          <p:cNvSpPr>
            <a:spLocks noChangeArrowheads="1"/>
          </p:cNvSpPr>
          <p:nvPr/>
        </p:nvSpPr>
        <p:spPr bwMode="auto">
          <a:xfrm rot="-5400000">
            <a:off x="5125244" y="4287044"/>
            <a:ext cx="685800" cy="188912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9698" name="Line 66"/>
          <p:cNvSpPr>
            <a:spLocks noChangeShapeType="1"/>
          </p:cNvSpPr>
          <p:nvPr/>
        </p:nvSpPr>
        <p:spPr bwMode="auto">
          <a:xfrm>
            <a:off x="5562600" y="4343400"/>
            <a:ext cx="268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699" name="Line 67"/>
          <p:cNvSpPr>
            <a:spLocks noChangeShapeType="1"/>
          </p:cNvSpPr>
          <p:nvPr/>
        </p:nvSpPr>
        <p:spPr bwMode="auto">
          <a:xfrm>
            <a:off x="3290888" y="4495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3767138" y="2590800"/>
            <a:ext cx="1682750" cy="3048000"/>
            <a:chOff x="2373" y="1632"/>
            <a:chExt cx="1060" cy="1920"/>
          </a:xfrm>
        </p:grpSpPr>
        <p:sp>
          <p:nvSpPr>
            <p:cNvPr id="709701" name="Line 69"/>
            <p:cNvSpPr>
              <a:spLocks noChangeShapeType="1"/>
            </p:cNvSpPr>
            <p:nvPr/>
          </p:nvSpPr>
          <p:spPr bwMode="auto">
            <a:xfrm>
              <a:off x="3145" y="2640"/>
              <a:ext cx="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02" name="Text Box 70"/>
            <p:cNvSpPr txBox="1">
              <a:spLocks noChangeArrowheads="1"/>
            </p:cNvSpPr>
            <p:nvPr/>
          </p:nvSpPr>
          <p:spPr bwMode="auto">
            <a:xfrm>
              <a:off x="2373" y="2160"/>
              <a:ext cx="499" cy="4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b="1">
                  <a:solidFill>
                    <a:schemeClr val="tx1"/>
                  </a:solidFill>
                  <a:ea typeface="宋体" pitchFamily="2" charset="-122"/>
                </a:rPr>
                <a:t>Register</a:t>
              </a:r>
            </a:p>
            <a:p>
              <a:pPr algn="ctr"/>
              <a:endParaRPr lang="en-US" altLang="zh-CN" sz="1200" b="1">
                <a:solidFill>
                  <a:schemeClr val="tx1"/>
                </a:solidFill>
                <a:ea typeface="宋体" pitchFamily="2" charset="-122"/>
              </a:endParaRPr>
            </a:p>
            <a:p>
              <a:pPr algn="ctr"/>
              <a:r>
                <a:rPr lang="en-US" altLang="zh-CN" sz="1200" b="1">
                  <a:solidFill>
                    <a:schemeClr val="tx1"/>
                  </a:solidFill>
                  <a:ea typeface="宋体" pitchFamily="2" charset="-122"/>
                </a:rPr>
                <a:t>File</a:t>
              </a:r>
            </a:p>
          </p:txBody>
        </p:sp>
        <p:sp>
          <p:nvSpPr>
            <p:cNvPr id="709703" name="Text Box 71"/>
            <p:cNvSpPr txBox="1">
              <a:spLocks noChangeArrowheads="1"/>
            </p:cNvSpPr>
            <p:nvPr/>
          </p:nvSpPr>
          <p:spPr bwMode="auto">
            <a:xfrm>
              <a:off x="2745" y="2112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tx1"/>
                  </a:solidFill>
                  <a:ea typeface="宋体" pitchFamily="2" charset="-122"/>
                </a:rPr>
                <a:t>Read</a:t>
              </a:r>
            </a:p>
            <a:p>
              <a:pPr algn="r"/>
              <a:r>
                <a:rPr lang="en-US" altLang="zh-CN" sz="1200">
                  <a:solidFill>
                    <a:schemeClr val="tx1"/>
                  </a:solidFill>
                  <a:ea typeface="宋体" pitchFamily="2" charset="-122"/>
                </a:rPr>
                <a:t> Data 1</a:t>
              </a:r>
            </a:p>
          </p:txBody>
        </p:sp>
        <p:sp>
          <p:nvSpPr>
            <p:cNvPr id="709704" name="Text Box 72"/>
            <p:cNvSpPr txBox="1">
              <a:spLocks noChangeArrowheads="1"/>
            </p:cNvSpPr>
            <p:nvPr/>
          </p:nvSpPr>
          <p:spPr bwMode="auto">
            <a:xfrm>
              <a:off x="2761" y="2544"/>
              <a:ext cx="42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tx1"/>
                  </a:solidFill>
                  <a:ea typeface="宋体" pitchFamily="2" charset="-122"/>
                </a:rPr>
                <a:t>Read</a:t>
              </a:r>
            </a:p>
            <a:p>
              <a:pPr algn="r"/>
              <a:r>
                <a:rPr lang="en-US" altLang="zh-CN" sz="1200">
                  <a:solidFill>
                    <a:schemeClr val="tx1"/>
                  </a:solidFill>
                  <a:ea typeface="宋体" pitchFamily="2" charset="-122"/>
                </a:rPr>
                <a:t> Data 2</a:t>
              </a:r>
            </a:p>
          </p:txBody>
        </p:sp>
        <p:sp>
          <p:nvSpPr>
            <p:cNvPr id="709705" name="Line 73"/>
            <p:cNvSpPr>
              <a:spLocks noChangeShapeType="1"/>
            </p:cNvSpPr>
            <p:nvPr/>
          </p:nvSpPr>
          <p:spPr bwMode="auto">
            <a:xfrm>
              <a:off x="2649" y="1824"/>
              <a:ext cx="0" cy="19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06" name="Rectangle 74"/>
            <p:cNvSpPr>
              <a:spLocks noChangeArrowheads="1"/>
            </p:cNvSpPr>
            <p:nvPr/>
          </p:nvSpPr>
          <p:spPr bwMode="auto">
            <a:xfrm>
              <a:off x="2441" y="1632"/>
              <a:ext cx="583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altLang="zh-CN" sz="1400">
                  <a:ea typeface="宋体" pitchFamily="2" charset="-122"/>
                </a:rPr>
                <a:t>RegWrite</a:t>
              </a:r>
            </a:p>
          </p:txBody>
        </p:sp>
        <p:sp>
          <p:nvSpPr>
            <p:cNvPr id="709707" name="Line 75"/>
            <p:cNvSpPr>
              <a:spLocks noChangeShapeType="1"/>
            </p:cNvSpPr>
            <p:nvPr/>
          </p:nvSpPr>
          <p:spPr bwMode="auto">
            <a:xfrm>
              <a:off x="3040" y="326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08" name="Oval 76"/>
            <p:cNvSpPr>
              <a:spLocks noChangeArrowheads="1"/>
            </p:cNvSpPr>
            <p:nvPr/>
          </p:nvSpPr>
          <p:spPr bwMode="auto">
            <a:xfrm>
              <a:off x="2656" y="3024"/>
              <a:ext cx="384" cy="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709" name="Rectangle 77"/>
            <p:cNvSpPr>
              <a:spLocks noChangeArrowheads="1"/>
            </p:cNvSpPr>
            <p:nvPr/>
          </p:nvSpPr>
          <p:spPr bwMode="auto">
            <a:xfrm>
              <a:off x="2688" y="3120"/>
              <a:ext cx="336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algn="ctr"/>
              <a:r>
                <a:rPr lang="en-US" altLang="zh-CN" sz="1200" b="1">
                  <a:solidFill>
                    <a:srgbClr val="000000"/>
                  </a:solidFill>
                  <a:ea typeface="宋体" pitchFamily="2" charset="-122"/>
                </a:rPr>
                <a:t>Sign</a:t>
              </a:r>
            </a:p>
            <a:p>
              <a:pPr algn="ctr"/>
              <a:r>
                <a:rPr lang="en-US" altLang="zh-CN" sz="1200" b="1">
                  <a:solidFill>
                    <a:srgbClr val="000000"/>
                  </a:solidFill>
                  <a:ea typeface="宋体" pitchFamily="2" charset="-122"/>
                </a:rPr>
                <a:t>Extend</a:t>
              </a:r>
            </a:p>
          </p:txBody>
        </p:sp>
        <p:sp>
          <p:nvSpPr>
            <p:cNvPr id="709710" name="Line 78"/>
            <p:cNvSpPr>
              <a:spLocks noChangeShapeType="1"/>
            </p:cNvSpPr>
            <p:nvPr/>
          </p:nvSpPr>
          <p:spPr bwMode="auto">
            <a:xfrm>
              <a:off x="2448" y="3216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11" name="Line 79"/>
            <p:cNvSpPr>
              <a:spLocks noChangeShapeType="1"/>
            </p:cNvSpPr>
            <p:nvPr/>
          </p:nvSpPr>
          <p:spPr bwMode="auto">
            <a:xfrm>
              <a:off x="3088" y="3216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12" name="Text Box 80"/>
            <p:cNvSpPr txBox="1">
              <a:spLocks noChangeArrowheads="1"/>
            </p:cNvSpPr>
            <p:nvPr/>
          </p:nvSpPr>
          <p:spPr bwMode="auto">
            <a:xfrm>
              <a:off x="2448" y="3264"/>
              <a:ext cx="2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200">
                  <a:solidFill>
                    <a:schemeClr val="tx1"/>
                  </a:solidFill>
                  <a:ea typeface="宋体" pitchFamily="2" charset="-122"/>
                </a:rPr>
                <a:t>16</a:t>
              </a:r>
            </a:p>
          </p:txBody>
        </p:sp>
        <p:sp>
          <p:nvSpPr>
            <p:cNvPr id="709713" name="Text Box 81"/>
            <p:cNvSpPr txBox="1">
              <a:spLocks noChangeArrowheads="1"/>
            </p:cNvSpPr>
            <p:nvPr/>
          </p:nvSpPr>
          <p:spPr bwMode="auto">
            <a:xfrm>
              <a:off x="3088" y="3264"/>
              <a:ext cx="2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200">
                  <a:solidFill>
                    <a:schemeClr val="tx1"/>
                  </a:solidFill>
                  <a:ea typeface="宋体" pitchFamily="2" charset="-122"/>
                </a:rPr>
                <a:t>32</a:t>
              </a:r>
            </a:p>
          </p:txBody>
        </p:sp>
        <p:sp>
          <p:nvSpPr>
            <p:cNvPr id="709714" name="Line 82"/>
            <p:cNvSpPr>
              <a:spLocks noChangeShapeType="1"/>
            </p:cNvSpPr>
            <p:nvPr/>
          </p:nvSpPr>
          <p:spPr bwMode="auto">
            <a:xfrm>
              <a:off x="3193" y="264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15" name="Line 83"/>
            <p:cNvSpPr>
              <a:spLocks noChangeShapeType="1"/>
            </p:cNvSpPr>
            <p:nvPr/>
          </p:nvSpPr>
          <p:spPr bwMode="auto">
            <a:xfrm>
              <a:off x="3273" y="2880"/>
              <a:ext cx="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16" name="Line 84"/>
            <p:cNvSpPr>
              <a:spLocks noChangeShapeType="1"/>
            </p:cNvSpPr>
            <p:nvPr/>
          </p:nvSpPr>
          <p:spPr bwMode="auto">
            <a:xfrm>
              <a:off x="3433" y="1824"/>
              <a:ext cx="0" cy="72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9717" name="Line 85"/>
          <p:cNvSpPr>
            <a:spLocks noChangeShapeType="1"/>
          </p:cNvSpPr>
          <p:nvPr/>
        </p:nvSpPr>
        <p:spPr bwMode="auto">
          <a:xfrm>
            <a:off x="8701088" y="2895600"/>
            <a:ext cx="0" cy="914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18" name="Rectangle 86"/>
          <p:cNvSpPr>
            <a:spLocks noChangeArrowheads="1"/>
          </p:cNvSpPr>
          <p:nvPr/>
        </p:nvSpPr>
        <p:spPr bwMode="auto">
          <a:xfrm>
            <a:off x="8077200" y="25908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MemtoReg</a:t>
            </a:r>
          </a:p>
        </p:txBody>
      </p:sp>
      <p:sp>
        <p:nvSpPr>
          <p:cNvPr id="709719" name="Rectangle 87"/>
          <p:cNvSpPr>
            <a:spLocks noChangeArrowheads="1"/>
          </p:cNvSpPr>
          <p:nvPr/>
        </p:nvSpPr>
        <p:spPr bwMode="auto">
          <a:xfrm>
            <a:off x="5119688" y="25908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ea typeface="宋体" pitchFamily="2" charset="-122"/>
              </a:rPr>
              <a:t>ALUSrc</a:t>
            </a:r>
          </a:p>
        </p:txBody>
      </p:sp>
      <p:sp>
        <p:nvSpPr>
          <p:cNvPr id="709720" name="Oval 88"/>
          <p:cNvSpPr>
            <a:spLocks noChangeArrowheads="1"/>
          </p:cNvSpPr>
          <p:nvPr/>
        </p:nvSpPr>
        <p:spPr bwMode="auto">
          <a:xfrm>
            <a:off x="5424488" y="1981200"/>
            <a:ext cx="4572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9721" name="Rectangle 89"/>
          <p:cNvSpPr>
            <a:spLocks noChangeArrowheads="1"/>
          </p:cNvSpPr>
          <p:nvPr/>
        </p:nvSpPr>
        <p:spPr bwMode="auto">
          <a:xfrm>
            <a:off x="5424488" y="2057400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Shift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left 2</a:t>
            </a:r>
          </a:p>
        </p:txBody>
      </p:sp>
      <p:sp>
        <p:nvSpPr>
          <p:cNvPr id="709722" name="Line 90"/>
          <p:cNvSpPr>
            <a:spLocks noChangeShapeType="1"/>
          </p:cNvSpPr>
          <p:nvPr/>
        </p:nvSpPr>
        <p:spPr bwMode="auto">
          <a:xfrm>
            <a:off x="5195888" y="2286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23" name="Line 91"/>
          <p:cNvSpPr>
            <a:spLocks noChangeShapeType="1"/>
          </p:cNvSpPr>
          <p:nvPr/>
        </p:nvSpPr>
        <p:spPr bwMode="auto">
          <a:xfrm>
            <a:off x="2133600" y="1752600"/>
            <a:ext cx="397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" name="Group 92"/>
          <p:cNvGrpSpPr>
            <a:grpSpLocks/>
          </p:cNvGrpSpPr>
          <p:nvPr/>
        </p:nvGrpSpPr>
        <p:grpSpPr bwMode="auto">
          <a:xfrm>
            <a:off x="6110288" y="1600200"/>
            <a:ext cx="381000" cy="914400"/>
            <a:chOff x="1392" y="2880"/>
            <a:chExt cx="288" cy="480"/>
          </a:xfrm>
        </p:grpSpPr>
        <p:sp>
          <p:nvSpPr>
            <p:cNvPr id="709725" name="Line 93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26" name="Line 94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27" name="Line 95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28" name="Line 96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29" name="Line 97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30" name="Line 98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31" name="Line 99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9732" name="Text Box 100"/>
          <p:cNvSpPr txBox="1">
            <a:spLocks noChangeArrowheads="1"/>
          </p:cNvSpPr>
          <p:nvPr/>
        </p:nvSpPr>
        <p:spPr bwMode="auto">
          <a:xfrm>
            <a:off x="6110288" y="1905000"/>
            <a:ext cx="481012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09733" name="Line 101"/>
          <p:cNvSpPr>
            <a:spLocks noChangeShapeType="1"/>
          </p:cNvSpPr>
          <p:nvPr/>
        </p:nvSpPr>
        <p:spPr bwMode="auto">
          <a:xfrm>
            <a:off x="5881688" y="2286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34" name="Line 102"/>
          <p:cNvSpPr>
            <a:spLocks noChangeShapeType="1"/>
          </p:cNvSpPr>
          <p:nvPr/>
        </p:nvSpPr>
        <p:spPr bwMode="auto">
          <a:xfrm>
            <a:off x="6491288" y="2057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35" name="Line 103"/>
          <p:cNvSpPr>
            <a:spLocks noChangeShapeType="1"/>
          </p:cNvSpPr>
          <p:nvPr/>
        </p:nvSpPr>
        <p:spPr bwMode="auto">
          <a:xfrm>
            <a:off x="863600" y="1447800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36" name="Line 104"/>
          <p:cNvSpPr>
            <a:spLocks noChangeShapeType="1"/>
          </p:cNvSpPr>
          <p:nvPr/>
        </p:nvSpPr>
        <p:spPr bwMode="auto">
          <a:xfrm>
            <a:off x="254000" y="1143000"/>
            <a:ext cx="0" cy="281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37" name="AutoShape 105"/>
          <p:cNvSpPr>
            <a:spLocks noChangeArrowheads="1"/>
          </p:cNvSpPr>
          <p:nvPr/>
        </p:nvSpPr>
        <p:spPr bwMode="auto">
          <a:xfrm rot="-5400000">
            <a:off x="6415088" y="1676400"/>
            <a:ext cx="8382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9738" name="Line 106"/>
          <p:cNvSpPr>
            <a:spLocks noChangeShapeType="1"/>
          </p:cNvSpPr>
          <p:nvPr/>
        </p:nvSpPr>
        <p:spPr bwMode="auto">
          <a:xfrm>
            <a:off x="5195888" y="1524000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39" name="Line 107"/>
          <p:cNvSpPr>
            <a:spLocks noChangeShapeType="1"/>
          </p:cNvSpPr>
          <p:nvPr/>
        </p:nvSpPr>
        <p:spPr bwMode="auto">
          <a:xfrm>
            <a:off x="5195888" y="1524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40" name="Line 108"/>
          <p:cNvSpPr>
            <a:spLocks noChangeShapeType="1"/>
          </p:cNvSpPr>
          <p:nvPr/>
        </p:nvSpPr>
        <p:spPr bwMode="auto">
          <a:xfrm>
            <a:off x="6948488" y="18288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41" name="Line 109"/>
          <p:cNvSpPr>
            <a:spLocks noChangeShapeType="1"/>
          </p:cNvSpPr>
          <p:nvPr/>
        </p:nvSpPr>
        <p:spPr bwMode="auto">
          <a:xfrm>
            <a:off x="7100888" y="11430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42" name="Line 110"/>
          <p:cNvSpPr>
            <a:spLocks noChangeShapeType="1"/>
          </p:cNvSpPr>
          <p:nvPr/>
        </p:nvSpPr>
        <p:spPr bwMode="auto">
          <a:xfrm>
            <a:off x="6872288" y="20574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43" name="Rectangle 111"/>
          <p:cNvSpPr>
            <a:spLocks noChangeArrowheads="1"/>
          </p:cNvSpPr>
          <p:nvPr/>
        </p:nvSpPr>
        <p:spPr bwMode="auto">
          <a:xfrm>
            <a:off x="6694488" y="22860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ea typeface="宋体" pitchFamily="2" charset="-122"/>
              </a:rPr>
              <a:t>PCSrc</a:t>
            </a:r>
          </a:p>
        </p:txBody>
      </p:sp>
      <p:sp>
        <p:nvSpPr>
          <p:cNvPr id="709744" name="Line 112"/>
          <p:cNvSpPr>
            <a:spLocks noChangeShapeType="1"/>
          </p:cNvSpPr>
          <p:nvPr/>
        </p:nvSpPr>
        <p:spPr bwMode="auto">
          <a:xfrm>
            <a:off x="6643688" y="4343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45" name="Rectangle 113"/>
          <p:cNvSpPr>
            <a:spLocks noChangeArrowheads="1"/>
          </p:cNvSpPr>
          <p:nvPr/>
        </p:nvSpPr>
        <p:spPr bwMode="auto">
          <a:xfrm>
            <a:off x="8624888" y="3810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09746" name="Rectangle 114"/>
          <p:cNvSpPr>
            <a:spLocks noChangeArrowheads="1"/>
          </p:cNvSpPr>
          <p:nvPr/>
        </p:nvSpPr>
        <p:spPr bwMode="auto">
          <a:xfrm>
            <a:off x="5410200" y="4038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09747" name="Line 115"/>
          <p:cNvSpPr>
            <a:spLocks noChangeShapeType="1"/>
          </p:cNvSpPr>
          <p:nvPr/>
        </p:nvSpPr>
        <p:spPr bwMode="auto">
          <a:xfrm>
            <a:off x="3276600" y="4495800"/>
            <a:ext cx="25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9748" name="Line 116"/>
          <p:cNvSpPr>
            <a:spLocks noChangeShapeType="1"/>
          </p:cNvSpPr>
          <p:nvPr/>
        </p:nvSpPr>
        <p:spPr bwMode="auto">
          <a:xfrm>
            <a:off x="3352800" y="41148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5" name="Group 117"/>
          <p:cNvGrpSpPr>
            <a:grpSpLocks/>
          </p:cNvGrpSpPr>
          <p:nvPr/>
        </p:nvGrpSpPr>
        <p:grpSpPr bwMode="auto">
          <a:xfrm>
            <a:off x="2909888" y="2590800"/>
            <a:ext cx="685800" cy="1851025"/>
            <a:chOff x="1833" y="1632"/>
            <a:chExt cx="432" cy="1166"/>
          </a:xfrm>
        </p:grpSpPr>
        <p:sp>
          <p:nvSpPr>
            <p:cNvPr id="709750" name="Rectangle 118"/>
            <p:cNvSpPr>
              <a:spLocks noChangeArrowheads="1"/>
            </p:cNvSpPr>
            <p:nvPr/>
          </p:nvSpPr>
          <p:spPr bwMode="auto">
            <a:xfrm>
              <a:off x="1833" y="1632"/>
              <a:ext cx="432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altLang="zh-CN" sz="1400">
                  <a:ea typeface="宋体" pitchFamily="2" charset="-122"/>
                </a:rPr>
                <a:t>RegDst</a:t>
              </a:r>
            </a:p>
          </p:txBody>
        </p:sp>
        <p:grpSp>
          <p:nvGrpSpPr>
            <p:cNvPr id="6" name="Group 119"/>
            <p:cNvGrpSpPr>
              <a:grpSpLocks/>
            </p:cNvGrpSpPr>
            <p:nvPr/>
          </p:nvGrpSpPr>
          <p:grpSpPr bwMode="auto">
            <a:xfrm>
              <a:off x="1872" y="1872"/>
              <a:ext cx="249" cy="926"/>
              <a:chOff x="1872" y="1872"/>
              <a:chExt cx="249" cy="926"/>
            </a:xfrm>
          </p:grpSpPr>
          <p:sp>
            <p:nvSpPr>
              <p:cNvPr id="709752" name="AutoShape 120"/>
              <p:cNvSpPr>
                <a:spLocks noChangeArrowheads="1"/>
              </p:cNvSpPr>
              <p:nvPr/>
            </p:nvSpPr>
            <p:spPr bwMode="auto">
              <a:xfrm rot="-5400000">
                <a:off x="1857" y="2520"/>
                <a:ext cx="384" cy="144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9753" name="Line 121"/>
              <p:cNvSpPr>
                <a:spLocks noChangeShapeType="1"/>
              </p:cNvSpPr>
              <p:nvPr/>
            </p:nvSpPr>
            <p:spPr bwMode="auto">
              <a:xfrm>
                <a:off x="1872" y="2352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9754" name="Line 122"/>
              <p:cNvSpPr>
                <a:spLocks noChangeShapeType="1"/>
              </p:cNvSpPr>
              <p:nvPr/>
            </p:nvSpPr>
            <p:spPr bwMode="auto">
              <a:xfrm>
                <a:off x="1872" y="2496"/>
                <a:ext cx="10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9755" name="Line 123"/>
              <p:cNvSpPr>
                <a:spLocks noChangeShapeType="1"/>
              </p:cNvSpPr>
              <p:nvPr/>
            </p:nvSpPr>
            <p:spPr bwMode="auto">
              <a:xfrm>
                <a:off x="2025" y="1872"/>
                <a:ext cx="0" cy="576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9756" name="Rectangle 124"/>
              <p:cNvSpPr>
                <a:spLocks noChangeArrowheads="1"/>
              </p:cNvSpPr>
              <p:nvPr/>
            </p:nvSpPr>
            <p:spPr bwMode="auto">
              <a:xfrm>
                <a:off x="1977" y="2400"/>
                <a:ext cx="96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19050" tIns="26988" rIns="19050" bIns="26988"/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>
                    <a:ea typeface="宋体" pitchFamily="2" charset="-122"/>
                  </a:rPr>
                  <a:t>0</a:t>
                </a:r>
              </a:p>
            </p:txBody>
          </p:sp>
          <p:sp>
            <p:nvSpPr>
              <p:cNvPr id="709757" name="Rectangle 125"/>
              <p:cNvSpPr>
                <a:spLocks noChangeArrowheads="1"/>
              </p:cNvSpPr>
              <p:nvPr/>
            </p:nvSpPr>
            <p:spPr bwMode="auto">
              <a:xfrm>
                <a:off x="1977" y="2592"/>
                <a:ext cx="96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19050" tIns="26988" rIns="19050" bIns="26988"/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>
                    <a:ea typeface="宋体" pitchFamily="2" charset="-122"/>
                  </a:rPr>
                  <a:t>1</a:t>
                </a:r>
              </a:p>
            </p:txBody>
          </p:sp>
        </p:grpSp>
      </p:grpSp>
      <p:sp>
        <p:nvSpPr>
          <p:cNvPr id="709758" name="Rectangle 126"/>
          <p:cNvSpPr>
            <a:spLocks noChangeArrowheads="1"/>
          </p:cNvSpPr>
          <p:nvPr/>
        </p:nvSpPr>
        <p:spPr bwMode="auto">
          <a:xfrm>
            <a:off x="5410200" y="4419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09759" name="Rectangle 127"/>
          <p:cNvSpPr>
            <a:spLocks noChangeArrowheads="1"/>
          </p:cNvSpPr>
          <p:nvPr/>
        </p:nvSpPr>
        <p:spPr bwMode="auto">
          <a:xfrm>
            <a:off x="8624888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09760" name="Rectangle 128"/>
          <p:cNvSpPr>
            <a:spLocks noChangeArrowheads="1"/>
          </p:cNvSpPr>
          <p:nvPr/>
        </p:nvSpPr>
        <p:spPr bwMode="auto">
          <a:xfrm>
            <a:off x="6719888" y="1905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09761" name="Rectangle 129"/>
          <p:cNvSpPr>
            <a:spLocks noChangeArrowheads="1"/>
          </p:cNvSpPr>
          <p:nvPr/>
        </p:nvSpPr>
        <p:spPr bwMode="auto">
          <a:xfrm>
            <a:off x="6719888" y="1447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grpSp>
        <p:nvGrpSpPr>
          <p:cNvPr id="7" name="Group 130"/>
          <p:cNvGrpSpPr>
            <a:grpSpLocks/>
          </p:cNvGrpSpPr>
          <p:nvPr/>
        </p:nvGrpSpPr>
        <p:grpSpPr bwMode="auto">
          <a:xfrm>
            <a:off x="3657600" y="4876800"/>
            <a:ext cx="2909888" cy="1317625"/>
            <a:chOff x="2304" y="3072"/>
            <a:chExt cx="1833" cy="830"/>
          </a:xfrm>
        </p:grpSpPr>
        <p:sp>
          <p:nvSpPr>
            <p:cNvPr id="709763" name="Oval 131"/>
            <p:cNvSpPr>
              <a:spLocks noChangeArrowheads="1"/>
            </p:cNvSpPr>
            <p:nvPr/>
          </p:nvSpPr>
          <p:spPr bwMode="auto">
            <a:xfrm>
              <a:off x="3657" y="3072"/>
              <a:ext cx="384" cy="48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764" name="Rectangle 132"/>
            <p:cNvSpPr>
              <a:spLocks noChangeArrowheads="1"/>
            </p:cNvSpPr>
            <p:nvPr/>
          </p:nvSpPr>
          <p:spPr bwMode="auto">
            <a:xfrm>
              <a:off x="3705" y="3168"/>
              <a:ext cx="336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algn="ctr"/>
              <a:r>
                <a:rPr lang="en-US" altLang="zh-CN" sz="1200" b="1">
                  <a:ea typeface="宋体" pitchFamily="2" charset="-122"/>
                </a:rPr>
                <a:t>ALU</a:t>
              </a:r>
            </a:p>
            <a:p>
              <a:pPr algn="ctr"/>
              <a:r>
                <a:rPr lang="en-US" altLang="zh-CN" sz="1200" b="1">
                  <a:ea typeface="宋体" pitchFamily="2" charset="-122"/>
                </a:rPr>
                <a:t>control</a:t>
              </a:r>
            </a:p>
          </p:txBody>
        </p:sp>
        <p:sp>
          <p:nvSpPr>
            <p:cNvPr id="709765" name="Line 133"/>
            <p:cNvSpPr>
              <a:spLocks noChangeShapeType="1"/>
            </p:cNvSpPr>
            <p:nvPr/>
          </p:nvSpPr>
          <p:spPr bwMode="auto">
            <a:xfrm>
              <a:off x="2304" y="3264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66" name="Line 134"/>
            <p:cNvSpPr>
              <a:spLocks noChangeShapeType="1"/>
            </p:cNvSpPr>
            <p:nvPr/>
          </p:nvSpPr>
          <p:spPr bwMode="auto">
            <a:xfrm>
              <a:off x="2304" y="3696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67" name="Line 135"/>
            <p:cNvSpPr>
              <a:spLocks noChangeShapeType="1"/>
            </p:cNvSpPr>
            <p:nvPr/>
          </p:nvSpPr>
          <p:spPr bwMode="auto">
            <a:xfrm>
              <a:off x="3504" y="3216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68" name="Line 136"/>
            <p:cNvSpPr>
              <a:spLocks noChangeShapeType="1"/>
            </p:cNvSpPr>
            <p:nvPr/>
          </p:nvSpPr>
          <p:spPr bwMode="auto">
            <a:xfrm>
              <a:off x="3504" y="32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69" name="Rectangle 137"/>
            <p:cNvSpPr>
              <a:spLocks noChangeArrowheads="1"/>
            </p:cNvSpPr>
            <p:nvPr/>
          </p:nvSpPr>
          <p:spPr bwMode="auto">
            <a:xfrm>
              <a:off x="3705" y="3696"/>
              <a:ext cx="432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altLang="zh-CN" sz="1400">
                  <a:ea typeface="宋体" pitchFamily="2" charset="-122"/>
                </a:rPr>
                <a:t>ALUOp</a:t>
              </a:r>
            </a:p>
          </p:txBody>
        </p:sp>
        <p:sp>
          <p:nvSpPr>
            <p:cNvPr id="709770" name="Line 138"/>
            <p:cNvSpPr>
              <a:spLocks noChangeShapeType="1"/>
            </p:cNvSpPr>
            <p:nvPr/>
          </p:nvSpPr>
          <p:spPr bwMode="auto">
            <a:xfrm>
              <a:off x="3849" y="3552"/>
              <a:ext cx="0" cy="192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9771" name="Rectangle 139"/>
            <p:cNvSpPr>
              <a:spLocks noChangeArrowheads="1"/>
            </p:cNvSpPr>
            <p:nvPr/>
          </p:nvSpPr>
          <p:spPr bwMode="auto">
            <a:xfrm>
              <a:off x="2976" y="3552"/>
              <a:ext cx="480" cy="2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438" algn="l"/>
                  <a:tab pos="904875" algn="l"/>
                  <a:tab pos="1357313" algn="l"/>
                </a:tabLst>
              </a:pPr>
              <a:r>
                <a:rPr lang="en-US" altLang="zh-CN" sz="1200">
                  <a:solidFill>
                    <a:schemeClr val="tx1"/>
                  </a:solidFill>
                  <a:ea typeface="宋体" pitchFamily="2" charset="-122"/>
                </a:rPr>
                <a:t>Instr[5-0]</a:t>
              </a:r>
            </a:p>
          </p:txBody>
        </p:sp>
      </p:grpSp>
      <p:sp>
        <p:nvSpPr>
          <p:cNvPr id="709772" name="Rectangle 140"/>
          <p:cNvSpPr>
            <a:spLocks noChangeArrowheads="1"/>
          </p:cNvSpPr>
          <p:nvPr/>
        </p:nvSpPr>
        <p:spPr bwMode="auto">
          <a:xfrm>
            <a:off x="2667000" y="4953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Instr[15-0]</a:t>
            </a:r>
          </a:p>
        </p:txBody>
      </p:sp>
      <p:sp>
        <p:nvSpPr>
          <p:cNvPr id="709773" name="Rectangle 141"/>
          <p:cNvSpPr>
            <a:spLocks noChangeArrowheads="1"/>
          </p:cNvSpPr>
          <p:nvPr/>
        </p:nvSpPr>
        <p:spPr bwMode="auto">
          <a:xfrm>
            <a:off x="2667000" y="3124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Instr[25-21]</a:t>
            </a:r>
          </a:p>
        </p:txBody>
      </p:sp>
      <p:sp>
        <p:nvSpPr>
          <p:cNvPr id="709774" name="Rectangle 142"/>
          <p:cNvSpPr>
            <a:spLocks noChangeArrowheads="1"/>
          </p:cNvSpPr>
          <p:nvPr/>
        </p:nvSpPr>
        <p:spPr bwMode="auto">
          <a:xfrm>
            <a:off x="2667000" y="3505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Instr[20-16]</a:t>
            </a:r>
          </a:p>
        </p:txBody>
      </p:sp>
      <p:sp>
        <p:nvSpPr>
          <p:cNvPr id="709775" name="Text Box 143"/>
          <p:cNvSpPr txBox="1">
            <a:spLocks noChangeArrowheads="1"/>
          </p:cNvSpPr>
          <p:nvPr/>
        </p:nvSpPr>
        <p:spPr bwMode="auto">
          <a:xfrm>
            <a:off x="2590800" y="4191000"/>
            <a:ext cx="701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  -11]</a:t>
            </a:r>
          </a:p>
        </p:txBody>
      </p:sp>
      <p:sp>
        <p:nvSpPr>
          <p:cNvPr id="709776" name="Line 144"/>
          <p:cNvSpPr>
            <a:spLocks noChangeShapeType="1"/>
          </p:cNvSpPr>
          <p:nvPr/>
        </p:nvSpPr>
        <p:spPr bwMode="auto">
          <a:xfrm>
            <a:off x="5181600" y="2286000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ALU Control, Con’t</a:t>
            </a:r>
          </a:p>
        </p:txBody>
      </p:sp>
      <p:sp>
        <p:nvSpPr>
          <p:cNvPr id="711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762000"/>
            <a:ext cx="8382000" cy="11445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Controlling the ALU uses of multiple decoding levels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main control unit generates the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ALUOp bits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ALU control unit generates </a:t>
            </a:r>
            <a:r>
              <a:rPr lang="en-US" altLang="zh-CN">
                <a:solidFill>
                  <a:srgbClr val="009900"/>
                </a:solidFill>
                <a:ea typeface="宋体" pitchFamily="2" charset="-122"/>
              </a:rPr>
              <a:t>ALUcontrol bits</a:t>
            </a:r>
          </a:p>
        </p:txBody>
      </p:sp>
      <p:graphicFrame>
        <p:nvGraphicFramePr>
          <p:cNvPr id="711792" name="Group 112"/>
          <p:cNvGraphicFramePr>
            <a:graphicFrameLocks noGrp="1"/>
          </p:cNvGraphicFramePr>
          <p:nvPr/>
        </p:nvGraphicFramePr>
        <p:xfrm>
          <a:off x="1295400" y="1981200"/>
          <a:ext cx="6400800" cy="4509516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219200"/>
                <a:gridCol w="1752600"/>
              </a:tblGrid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Instr 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funct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ALUcontrol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xxxxxx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xxxxxx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beq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xxxxxx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subt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subtract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slt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slt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7703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ALU Control, Con’t</a:t>
            </a:r>
          </a:p>
        </p:txBody>
      </p:sp>
      <p:sp>
        <p:nvSpPr>
          <p:cNvPr id="773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762000"/>
            <a:ext cx="8382000" cy="11445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Controlling the ALU uses of multiple decoding levels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main control unit generates the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ALUOp bits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ALU control unit generates </a:t>
            </a:r>
            <a:r>
              <a:rPr lang="en-US" altLang="zh-CN">
                <a:solidFill>
                  <a:srgbClr val="009900"/>
                </a:solidFill>
                <a:ea typeface="宋体" pitchFamily="2" charset="-122"/>
              </a:rPr>
              <a:t>ALUcontrol bits</a:t>
            </a:r>
          </a:p>
        </p:txBody>
      </p:sp>
      <p:graphicFrame>
        <p:nvGraphicFramePr>
          <p:cNvPr id="773124" name="Group 4"/>
          <p:cNvGraphicFramePr>
            <a:graphicFrameLocks noGrp="1"/>
          </p:cNvGraphicFramePr>
          <p:nvPr/>
        </p:nvGraphicFramePr>
        <p:xfrm>
          <a:off x="1295400" y="1981200"/>
          <a:ext cx="6400800" cy="4509516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219200"/>
                <a:gridCol w="1752600"/>
              </a:tblGrid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Instr 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funct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ALUcontrol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xxxxxx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xxxxxx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beq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xxxxxx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subt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subtract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slt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slt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73198" name="Group 78"/>
          <p:cNvGraphicFramePr>
            <a:graphicFrameLocks noGrp="1"/>
          </p:cNvGraphicFramePr>
          <p:nvPr>
            <p:ph sz="half" idx="2"/>
          </p:nvPr>
        </p:nvGraphicFramePr>
        <p:xfrm>
          <a:off x="4724400" y="2362200"/>
          <a:ext cx="2971800" cy="1240600"/>
        </p:xfrm>
        <a:graphic>
          <a:graphicData uri="http://schemas.openxmlformats.org/drawingml/2006/table">
            <a:tbl>
              <a:tblPr/>
              <a:tblGrid>
                <a:gridCol w="1219200"/>
                <a:gridCol w="1752600"/>
              </a:tblGrid>
              <a:tr h="344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subtract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9496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77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ALU Control Truth Table</a:t>
            </a:r>
          </a:p>
        </p:txBody>
      </p:sp>
      <p:graphicFrame>
        <p:nvGraphicFramePr>
          <p:cNvPr id="716004" name="Group 228"/>
          <p:cNvGraphicFramePr>
            <a:graphicFrameLocks noGrp="1"/>
          </p:cNvGraphicFramePr>
          <p:nvPr/>
        </p:nvGraphicFramePr>
        <p:xfrm>
          <a:off x="609600" y="879475"/>
          <a:ext cx="7924800" cy="424434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762000"/>
                <a:gridCol w="762000"/>
                <a:gridCol w="914400"/>
                <a:gridCol w="914400"/>
                <a:gridCol w="914400"/>
                <a:gridCol w="914400"/>
              </a:tblGrid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 Op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 Op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 control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control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 control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 control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1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15889" name="Rectangle 113"/>
          <p:cNvSpPr>
            <a:spLocks noGrp="1" noChangeArrowheads="1"/>
          </p:cNvSpPr>
          <p:nvPr>
            <p:ph type="body" idx="1"/>
          </p:nvPr>
        </p:nvSpPr>
        <p:spPr>
          <a:xfrm>
            <a:off x="533400" y="5697538"/>
            <a:ext cx="8077200" cy="398462"/>
          </a:xfrm>
          <a:noFill/>
          <a:ln/>
        </p:spPr>
        <p:txBody>
          <a:bodyPr/>
          <a:lstStyle/>
          <a:p>
            <a:r>
              <a:rPr lang="en-US" altLang="zh-CN" sz="2400">
                <a:ea typeface="宋体" pitchFamily="2" charset="-122"/>
              </a:rPr>
              <a:t>Four, 6-input truth tables</a:t>
            </a:r>
          </a:p>
        </p:txBody>
      </p:sp>
    </p:spTree>
    <p:extLst>
      <p:ext uri="{BB962C8B-B14F-4D97-AF65-F5344CB8AC3E}">
        <p14:creationId xmlns:p14="http://schemas.microsoft.com/office/powerpoint/2010/main" val="3135436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ALU Control Truth Table</a:t>
            </a:r>
          </a:p>
        </p:txBody>
      </p:sp>
      <p:graphicFrame>
        <p:nvGraphicFramePr>
          <p:cNvPr id="775171" name="Group 3"/>
          <p:cNvGraphicFramePr>
            <a:graphicFrameLocks noGrp="1"/>
          </p:cNvGraphicFramePr>
          <p:nvPr/>
        </p:nvGraphicFramePr>
        <p:xfrm>
          <a:off x="609600" y="879475"/>
          <a:ext cx="7924800" cy="424434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762000"/>
                <a:gridCol w="762000"/>
                <a:gridCol w="914400"/>
                <a:gridCol w="914400"/>
                <a:gridCol w="914400"/>
                <a:gridCol w="914400"/>
              </a:tblGrid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 Op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 Op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 control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control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 control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 control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1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75316" name="Rectangle 148"/>
          <p:cNvSpPr>
            <a:spLocks noGrp="1" noChangeArrowheads="1"/>
          </p:cNvSpPr>
          <p:nvPr>
            <p:ph type="body" idx="1"/>
          </p:nvPr>
        </p:nvSpPr>
        <p:spPr>
          <a:xfrm>
            <a:off x="533400" y="5791200"/>
            <a:ext cx="8077200" cy="398463"/>
          </a:xfrm>
          <a:noFill/>
          <a:ln/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sz="2400">
                <a:ea typeface="宋体" pitchFamily="2" charset="-122"/>
              </a:rPr>
              <a:t>Four, 6-input truth tables</a:t>
            </a:r>
          </a:p>
        </p:txBody>
      </p:sp>
      <p:sp>
        <p:nvSpPr>
          <p:cNvPr id="775317" name="Oval 149"/>
          <p:cNvSpPr>
            <a:spLocks noChangeArrowheads="1"/>
          </p:cNvSpPr>
          <p:nvPr/>
        </p:nvSpPr>
        <p:spPr bwMode="auto">
          <a:xfrm>
            <a:off x="4876800" y="838200"/>
            <a:ext cx="3657600" cy="6096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5318" name="Rectangle 150"/>
          <p:cNvSpPr>
            <a:spLocks noChangeArrowheads="1"/>
          </p:cNvSpPr>
          <p:nvPr/>
        </p:nvSpPr>
        <p:spPr bwMode="auto">
          <a:xfrm>
            <a:off x="5334000" y="381000"/>
            <a:ext cx="28194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2000">
                <a:solidFill>
                  <a:schemeClr val="accent2"/>
                </a:solidFill>
                <a:ea typeface="宋体" pitchFamily="2" charset="-122"/>
              </a:rPr>
              <a:t>Our ALU m control input</a:t>
            </a:r>
          </a:p>
        </p:txBody>
      </p:sp>
      <p:sp>
        <p:nvSpPr>
          <p:cNvPr id="775319" name="Oval 151"/>
          <p:cNvSpPr>
            <a:spLocks noChangeArrowheads="1"/>
          </p:cNvSpPr>
          <p:nvPr/>
        </p:nvSpPr>
        <p:spPr bwMode="auto">
          <a:xfrm>
            <a:off x="5029200" y="1447800"/>
            <a:ext cx="609600" cy="36576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5320" name="Oval 152"/>
          <p:cNvSpPr>
            <a:spLocks noChangeArrowheads="1"/>
          </p:cNvSpPr>
          <p:nvPr/>
        </p:nvSpPr>
        <p:spPr bwMode="auto">
          <a:xfrm>
            <a:off x="5867400" y="1447800"/>
            <a:ext cx="2667000" cy="37338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5321" name="Rectangle 153"/>
          <p:cNvSpPr>
            <a:spLocks noChangeArrowheads="1"/>
          </p:cNvSpPr>
          <p:nvPr/>
        </p:nvSpPr>
        <p:spPr bwMode="auto">
          <a:xfrm>
            <a:off x="5029200" y="5334000"/>
            <a:ext cx="11430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2000">
                <a:solidFill>
                  <a:schemeClr val="accent2"/>
                </a:solidFill>
                <a:ea typeface="宋体" pitchFamily="2" charset="-122"/>
              </a:rPr>
              <a:t>Add/subt</a:t>
            </a:r>
          </a:p>
        </p:txBody>
      </p:sp>
      <p:sp>
        <p:nvSpPr>
          <p:cNvPr id="775322" name="Rectangle 154"/>
          <p:cNvSpPr>
            <a:spLocks noChangeArrowheads="1"/>
          </p:cNvSpPr>
          <p:nvPr/>
        </p:nvSpPr>
        <p:spPr bwMode="auto">
          <a:xfrm>
            <a:off x="7162800" y="5334000"/>
            <a:ext cx="1371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2000">
                <a:solidFill>
                  <a:schemeClr val="accent2"/>
                </a:solidFill>
                <a:ea typeface="宋体" pitchFamily="2" charset="-122"/>
              </a:rPr>
              <a:t>Mux control</a:t>
            </a:r>
          </a:p>
        </p:txBody>
      </p:sp>
    </p:spTree>
    <p:extLst>
      <p:ext uri="{BB962C8B-B14F-4D97-AF65-F5344CB8AC3E}">
        <p14:creationId xmlns:p14="http://schemas.microsoft.com/office/powerpoint/2010/main" val="1627734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317" grpId="0" animBg="1"/>
      <p:bldP spid="775318" grpId="0"/>
      <p:bldP spid="775319" grpId="0" animBg="1"/>
      <p:bldP spid="775320" grpId="0" animBg="1"/>
      <p:bldP spid="775321" grpId="0"/>
      <p:bldP spid="7753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 altLang="zh-CN">
                <a:ea typeface="宋体" pitchFamily="2" charset="-122"/>
              </a:rPr>
              <a:t>ALU Control Logic</a:t>
            </a:r>
          </a:p>
        </p:txBody>
      </p:sp>
      <p:sp>
        <p:nvSpPr>
          <p:cNvPr id="77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762000"/>
            <a:ext cx="8229600" cy="42862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From the truth table can design the ALU Control logic</a:t>
            </a:r>
          </a:p>
        </p:txBody>
      </p:sp>
      <p:sp>
        <p:nvSpPr>
          <p:cNvPr id="779268" name="AutoShape 4"/>
          <p:cNvSpPr>
            <a:spLocks noChangeArrowheads="1"/>
          </p:cNvSpPr>
          <p:nvPr/>
        </p:nvSpPr>
        <p:spPr bwMode="auto">
          <a:xfrm flipH="1">
            <a:off x="6858000" y="4343400"/>
            <a:ext cx="533400" cy="457200"/>
          </a:xfrm>
          <a:prstGeom prst="moon">
            <a:avLst>
              <a:gd name="adj" fmla="val 82736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271" name="Line 7"/>
          <p:cNvSpPr>
            <a:spLocks noChangeShapeType="1"/>
          </p:cNvSpPr>
          <p:nvPr/>
        </p:nvSpPr>
        <p:spPr bwMode="auto">
          <a:xfrm>
            <a:off x="1981200" y="16764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273" name="Line 9"/>
          <p:cNvSpPr>
            <a:spLocks noChangeShapeType="1"/>
          </p:cNvSpPr>
          <p:nvPr/>
        </p:nvSpPr>
        <p:spPr bwMode="auto">
          <a:xfrm>
            <a:off x="1447800" y="2362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275" name="Line 11"/>
          <p:cNvSpPr>
            <a:spLocks noChangeShapeType="1"/>
          </p:cNvSpPr>
          <p:nvPr/>
        </p:nvSpPr>
        <p:spPr bwMode="auto">
          <a:xfrm>
            <a:off x="2743200" y="25908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279" name="Line 15"/>
          <p:cNvSpPr>
            <a:spLocks noChangeShapeType="1"/>
          </p:cNvSpPr>
          <p:nvPr/>
        </p:nvSpPr>
        <p:spPr bwMode="auto">
          <a:xfrm>
            <a:off x="2286000" y="2362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281" name="Line 17"/>
          <p:cNvSpPr>
            <a:spLocks noChangeShapeType="1"/>
          </p:cNvSpPr>
          <p:nvPr/>
        </p:nvSpPr>
        <p:spPr bwMode="auto">
          <a:xfrm>
            <a:off x="2133600" y="19050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284" name="Oval 20"/>
          <p:cNvSpPr>
            <a:spLocks noChangeArrowheads="1"/>
          </p:cNvSpPr>
          <p:nvPr/>
        </p:nvSpPr>
        <p:spPr bwMode="auto">
          <a:xfrm>
            <a:off x="3124200" y="29718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285" name="Line 21"/>
          <p:cNvSpPr>
            <a:spLocks noChangeShapeType="1"/>
          </p:cNvSpPr>
          <p:nvPr/>
        </p:nvSpPr>
        <p:spPr bwMode="auto">
          <a:xfrm>
            <a:off x="3429000" y="2362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287" name="Line 23"/>
          <p:cNvSpPr>
            <a:spLocks noChangeShapeType="1"/>
          </p:cNvSpPr>
          <p:nvPr/>
        </p:nvSpPr>
        <p:spPr bwMode="auto">
          <a:xfrm>
            <a:off x="3200400" y="1676400"/>
            <a:ext cx="0" cy="127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292" name="Line 28"/>
          <p:cNvSpPr>
            <a:spLocks noChangeShapeType="1"/>
          </p:cNvSpPr>
          <p:nvPr/>
        </p:nvSpPr>
        <p:spPr bwMode="auto">
          <a:xfrm>
            <a:off x="4267200" y="2362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295" name="AutoShape 31"/>
          <p:cNvSpPr>
            <a:spLocks noChangeArrowheads="1"/>
          </p:cNvSpPr>
          <p:nvPr/>
        </p:nvSpPr>
        <p:spPr bwMode="auto">
          <a:xfrm rot="5400000">
            <a:off x="5589587" y="3074988"/>
            <a:ext cx="479425" cy="533400"/>
          </a:xfrm>
          <a:prstGeom prst="flowChartDelay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296" name="Oval 32"/>
          <p:cNvSpPr>
            <a:spLocks noChangeArrowheads="1"/>
          </p:cNvSpPr>
          <p:nvPr/>
        </p:nvSpPr>
        <p:spPr bwMode="auto">
          <a:xfrm>
            <a:off x="1905000" y="29718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297" name="Line 33"/>
          <p:cNvSpPr>
            <a:spLocks noChangeShapeType="1"/>
          </p:cNvSpPr>
          <p:nvPr/>
        </p:nvSpPr>
        <p:spPr bwMode="auto">
          <a:xfrm>
            <a:off x="4876800" y="21336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01" name="Oval 37"/>
          <p:cNvSpPr>
            <a:spLocks noChangeArrowheads="1"/>
          </p:cNvSpPr>
          <p:nvPr/>
        </p:nvSpPr>
        <p:spPr bwMode="auto">
          <a:xfrm>
            <a:off x="1371600" y="35814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302" name="Line 38"/>
          <p:cNvSpPr>
            <a:spLocks noChangeShapeType="1"/>
          </p:cNvSpPr>
          <p:nvPr/>
        </p:nvSpPr>
        <p:spPr bwMode="auto">
          <a:xfrm>
            <a:off x="5943600" y="2362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05" name="Line 41"/>
          <p:cNvSpPr>
            <a:spLocks noChangeShapeType="1"/>
          </p:cNvSpPr>
          <p:nvPr/>
        </p:nvSpPr>
        <p:spPr bwMode="auto">
          <a:xfrm>
            <a:off x="5105400" y="2362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07" name="Line 43"/>
          <p:cNvSpPr>
            <a:spLocks noChangeShapeType="1"/>
          </p:cNvSpPr>
          <p:nvPr/>
        </p:nvSpPr>
        <p:spPr bwMode="auto">
          <a:xfrm>
            <a:off x="4038600" y="19050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11" name="Line 47"/>
          <p:cNvSpPr>
            <a:spLocks noChangeShapeType="1"/>
          </p:cNvSpPr>
          <p:nvPr/>
        </p:nvSpPr>
        <p:spPr bwMode="auto">
          <a:xfrm>
            <a:off x="5715000" y="1447800"/>
            <a:ext cx="0" cy="1654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13" name="Line 49"/>
          <p:cNvSpPr>
            <a:spLocks noChangeShapeType="1"/>
          </p:cNvSpPr>
          <p:nvPr/>
        </p:nvSpPr>
        <p:spPr bwMode="auto">
          <a:xfrm>
            <a:off x="1219200" y="1676400"/>
            <a:ext cx="198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14" name="Line 50"/>
          <p:cNvSpPr>
            <a:spLocks noChangeShapeType="1"/>
          </p:cNvSpPr>
          <p:nvPr/>
        </p:nvSpPr>
        <p:spPr bwMode="auto">
          <a:xfrm>
            <a:off x="1219200" y="1905000"/>
            <a:ext cx="281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15" name="Line 51"/>
          <p:cNvSpPr>
            <a:spLocks noChangeShapeType="1"/>
          </p:cNvSpPr>
          <p:nvPr/>
        </p:nvSpPr>
        <p:spPr bwMode="auto">
          <a:xfrm>
            <a:off x="1219200" y="1447800"/>
            <a:ext cx="449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16" name="Line 52"/>
          <p:cNvSpPr>
            <a:spLocks noChangeShapeType="1"/>
          </p:cNvSpPr>
          <p:nvPr/>
        </p:nvSpPr>
        <p:spPr bwMode="auto">
          <a:xfrm>
            <a:off x="1219200" y="21336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19" name="Rectangle 55"/>
          <p:cNvSpPr>
            <a:spLocks noChangeArrowheads="1"/>
          </p:cNvSpPr>
          <p:nvPr/>
        </p:nvSpPr>
        <p:spPr bwMode="auto">
          <a:xfrm>
            <a:off x="381000" y="1143000"/>
            <a:ext cx="762000" cy="1676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r" defTabSz="904875">
              <a:lnSpc>
                <a:spcPts val="7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endParaRPr lang="en-US" altLang="zh-CN" sz="1400">
              <a:solidFill>
                <a:schemeClr val="tx1"/>
              </a:solidFill>
              <a:ea typeface="宋体" pitchFamily="2" charset="-122"/>
            </a:endParaRPr>
          </a:p>
          <a:p>
            <a:pPr algn="r" defTabSz="904875">
              <a:lnSpc>
                <a:spcPts val="7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Instr[3]</a:t>
            </a:r>
          </a:p>
          <a:p>
            <a:pPr algn="r" defTabSz="904875">
              <a:lnSpc>
                <a:spcPts val="7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Instr[2]</a:t>
            </a:r>
          </a:p>
          <a:p>
            <a:pPr algn="r" defTabSz="904875">
              <a:lnSpc>
                <a:spcPts val="7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Instr[1]</a:t>
            </a:r>
          </a:p>
          <a:p>
            <a:pPr algn="r" defTabSz="904875">
              <a:lnSpc>
                <a:spcPts val="7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Instr[0]</a:t>
            </a:r>
          </a:p>
          <a:p>
            <a:pPr algn="r" defTabSz="904875">
              <a:lnSpc>
                <a:spcPts val="7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ALUOp</a:t>
            </a:r>
            <a:r>
              <a:rPr lang="en-US" altLang="zh-CN" sz="1400" baseline="-25000">
                <a:solidFill>
                  <a:schemeClr val="tx1"/>
                </a:solidFill>
                <a:ea typeface="宋体" pitchFamily="2" charset="-122"/>
              </a:rPr>
              <a:t>1</a:t>
            </a:r>
          </a:p>
          <a:p>
            <a:pPr algn="r" defTabSz="904875">
              <a:lnSpc>
                <a:spcPts val="7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ALUOp</a:t>
            </a:r>
            <a:r>
              <a:rPr lang="en-US" altLang="zh-CN" sz="1400" baseline="-25000">
                <a:solidFill>
                  <a:schemeClr val="tx1"/>
                </a:solidFill>
                <a:ea typeface="宋体" pitchFamily="2" charset="-122"/>
              </a:rPr>
              <a:t>0</a:t>
            </a:r>
          </a:p>
        </p:txBody>
      </p:sp>
      <p:sp>
        <p:nvSpPr>
          <p:cNvPr id="779324" name="Line 60"/>
          <p:cNvSpPr>
            <a:spLocks noChangeShapeType="1"/>
          </p:cNvSpPr>
          <p:nvPr/>
        </p:nvSpPr>
        <p:spPr bwMode="auto">
          <a:xfrm>
            <a:off x="2209800" y="3581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25" name="Line 61"/>
          <p:cNvSpPr>
            <a:spLocks noChangeShapeType="1"/>
          </p:cNvSpPr>
          <p:nvPr/>
        </p:nvSpPr>
        <p:spPr bwMode="auto">
          <a:xfrm>
            <a:off x="3352800" y="35814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26" name="Line 62"/>
          <p:cNvSpPr>
            <a:spLocks noChangeShapeType="1"/>
          </p:cNvSpPr>
          <p:nvPr/>
        </p:nvSpPr>
        <p:spPr bwMode="auto">
          <a:xfrm>
            <a:off x="4191000" y="35814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29" name="Rectangle 65"/>
          <p:cNvSpPr>
            <a:spLocks noChangeArrowheads="1"/>
          </p:cNvSpPr>
          <p:nvPr/>
        </p:nvSpPr>
        <p:spPr bwMode="auto">
          <a:xfrm>
            <a:off x="7848600" y="3787775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9900"/>
                </a:solidFill>
                <a:ea typeface="宋体" pitchFamily="2" charset="-122"/>
              </a:rPr>
              <a:t>ALUcontrol</a:t>
            </a:r>
            <a:r>
              <a:rPr lang="en-US" altLang="zh-CN" sz="1400" baseline="-25000">
                <a:solidFill>
                  <a:srgbClr val="009900"/>
                </a:solidFill>
                <a:ea typeface="宋体" pitchFamily="2" charset="-122"/>
              </a:rPr>
              <a:t>3</a:t>
            </a:r>
          </a:p>
        </p:txBody>
      </p:sp>
      <p:sp>
        <p:nvSpPr>
          <p:cNvPr id="779330" name="Rectangle 66"/>
          <p:cNvSpPr>
            <a:spLocks noChangeArrowheads="1"/>
          </p:cNvSpPr>
          <p:nvPr/>
        </p:nvSpPr>
        <p:spPr bwMode="auto">
          <a:xfrm>
            <a:off x="7848600" y="44196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solidFill>
                  <a:srgbClr val="009900"/>
                </a:solidFill>
                <a:ea typeface="宋体" pitchFamily="2" charset="-122"/>
              </a:rPr>
              <a:t>ALUcontrol</a:t>
            </a:r>
            <a:r>
              <a:rPr lang="en-US" altLang="zh-CN" sz="1400" baseline="-25000">
                <a:solidFill>
                  <a:srgbClr val="009900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779331" name="Rectangle 67"/>
          <p:cNvSpPr>
            <a:spLocks noChangeArrowheads="1"/>
          </p:cNvSpPr>
          <p:nvPr/>
        </p:nvSpPr>
        <p:spPr bwMode="auto">
          <a:xfrm>
            <a:off x="7848600" y="5051425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solidFill>
                  <a:srgbClr val="009900"/>
                </a:solidFill>
                <a:ea typeface="宋体" pitchFamily="2" charset="-122"/>
              </a:rPr>
              <a:t>ALUcontrol</a:t>
            </a:r>
            <a:r>
              <a:rPr lang="en-US" altLang="zh-CN" sz="1400" baseline="-25000">
                <a:solidFill>
                  <a:srgbClr val="009900"/>
                </a:solidFill>
                <a:ea typeface="宋体" pitchFamily="2" charset="-122"/>
              </a:rPr>
              <a:t>1</a:t>
            </a:r>
          </a:p>
        </p:txBody>
      </p:sp>
      <p:sp>
        <p:nvSpPr>
          <p:cNvPr id="779332" name="Rectangle 68"/>
          <p:cNvSpPr>
            <a:spLocks noChangeArrowheads="1"/>
          </p:cNvSpPr>
          <p:nvPr/>
        </p:nvSpPr>
        <p:spPr bwMode="auto">
          <a:xfrm>
            <a:off x="7848600" y="5737225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solidFill>
                  <a:srgbClr val="009900"/>
                </a:solidFill>
                <a:ea typeface="宋体" pitchFamily="2" charset="-122"/>
              </a:rPr>
              <a:t>ALUcontrol</a:t>
            </a:r>
            <a:r>
              <a:rPr lang="en-US" altLang="zh-CN" sz="1400" baseline="-25000">
                <a:solidFill>
                  <a:srgbClr val="009900"/>
                </a:solidFill>
                <a:ea typeface="宋体" pitchFamily="2" charset="-122"/>
              </a:rPr>
              <a:t>0</a:t>
            </a:r>
          </a:p>
        </p:txBody>
      </p:sp>
      <p:sp>
        <p:nvSpPr>
          <p:cNvPr id="779338" name="Line 74"/>
          <p:cNvSpPr>
            <a:spLocks noChangeShapeType="1"/>
          </p:cNvSpPr>
          <p:nvPr/>
        </p:nvSpPr>
        <p:spPr bwMode="auto">
          <a:xfrm>
            <a:off x="1447800" y="4648200"/>
            <a:ext cx="548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39" name="Line 75"/>
          <p:cNvSpPr>
            <a:spLocks noChangeShapeType="1"/>
          </p:cNvSpPr>
          <p:nvPr/>
        </p:nvSpPr>
        <p:spPr bwMode="auto">
          <a:xfrm>
            <a:off x="3352800" y="449580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42" name="Line 78"/>
          <p:cNvSpPr>
            <a:spLocks noChangeShapeType="1"/>
          </p:cNvSpPr>
          <p:nvPr/>
        </p:nvSpPr>
        <p:spPr bwMode="auto">
          <a:xfrm>
            <a:off x="5867400" y="57912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44" name="AutoShape 80"/>
          <p:cNvSpPr>
            <a:spLocks noChangeArrowheads="1"/>
          </p:cNvSpPr>
          <p:nvPr/>
        </p:nvSpPr>
        <p:spPr bwMode="auto">
          <a:xfrm flipH="1">
            <a:off x="6858000" y="5661025"/>
            <a:ext cx="533400" cy="457200"/>
          </a:xfrm>
          <a:prstGeom prst="moon">
            <a:avLst>
              <a:gd name="adj" fmla="val 82736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359" name="Line 95"/>
          <p:cNvSpPr>
            <a:spLocks noChangeShapeType="1"/>
          </p:cNvSpPr>
          <p:nvPr/>
        </p:nvSpPr>
        <p:spPr bwMode="auto">
          <a:xfrm>
            <a:off x="4191000" y="51054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60" name="AutoShape 96"/>
          <p:cNvSpPr>
            <a:spLocks noChangeArrowheads="1"/>
          </p:cNvSpPr>
          <p:nvPr/>
        </p:nvSpPr>
        <p:spPr bwMode="auto">
          <a:xfrm flipH="1">
            <a:off x="6858000" y="4975225"/>
            <a:ext cx="533400" cy="511175"/>
          </a:xfrm>
          <a:prstGeom prst="moon">
            <a:avLst>
              <a:gd name="adj" fmla="val 82736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365" name="AutoShape 101"/>
          <p:cNvSpPr>
            <a:spLocks noChangeArrowheads="1"/>
          </p:cNvSpPr>
          <p:nvPr/>
        </p:nvSpPr>
        <p:spPr bwMode="auto">
          <a:xfrm flipH="1">
            <a:off x="6858000" y="3733800"/>
            <a:ext cx="533400" cy="457200"/>
          </a:xfrm>
          <a:prstGeom prst="moon">
            <a:avLst>
              <a:gd name="adj" fmla="val 82736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366" name="Line 102"/>
          <p:cNvSpPr>
            <a:spLocks noChangeShapeType="1"/>
          </p:cNvSpPr>
          <p:nvPr/>
        </p:nvSpPr>
        <p:spPr bwMode="auto">
          <a:xfrm>
            <a:off x="2209800" y="4038600"/>
            <a:ext cx="472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67" name="Line 103"/>
          <p:cNvSpPr>
            <a:spLocks noChangeShapeType="1"/>
          </p:cNvSpPr>
          <p:nvPr/>
        </p:nvSpPr>
        <p:spPr bwMode="auto">
          <a:xfrm>
            <a:off x="2743200" y="3886200"/>
            <a:ext cx="419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68" name="Line 104"/>
          <p:cNvSpPr>
            <a:spLocks noChangeShapeType="1"/>
          </p:cNvSpPr>
          <p:nvPr/>
        </p:nvSpPr>
        <p:spPr bwMode="auto">
          <a:xfrm>
            <a:off x="7391400" y="39624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71" name="Line 107"/>
          <p:cNvSpPr>
            <a:spLocks noChangeShapeType="1"/>
          </p:cNvSpPr>
          <p:nvPr/>
        </p:nvSpPr>
        <p:spPr bwMode="auto">
          <a:xfrm>
            <a:off x="7391400" y="4572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72" name="Line 108"/>
          <p:cNvSpPr>
            <a:spLocks noChangeShapeType="1"/>
          </p:cNvSpPr>
          <p:nvPr/>
        </p:nvSpPr>
        <p:spPr bwMode="auto">
          <a:xfrm>
            <a:off x="7391400" y="51816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73" name="Line 109"/>
          <p:cNvSpPr>
            <a:spLocks noChangeShapeType="1"/>
          </p:cNvSpPr>
          <p:nvPr/>
        </p:nvSpPr>
        <p:spPr bwMode="auto">
          <a:xfrm>
            <a:off x="7391400" y="58674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74" name="AutoShape 110"/>
          <p:cNvSpPr>
            <a:spLocks noChangeArrowheads="1"/>
          </p:cNvSpPr>
          <p:nvPr/>
        </p:nvSpPr>
        <p:spPr bwMode="auto">
          <a:xfrm rot="5400000">
            <a:off x="4751387" y="3097213"/>
            <a:ext cx="479425" cy="533400"/>
          </a:xfrm>
          <a:prstGeom prst="flowChartDelay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375" name="AutoShape 111"/>
          <p:cNvSpPr>
            <a:spLocks noChangeArrowheads="1"/>
          </p:cNvSpPr>
          <p:nvPr/>
        </p:nvSpPr>
        <p:spPr bwMode="auto">
          <a:xfrm rot="5400000">
            <a:off x="3913187" y="3097213"/>
            <a:ext cx="479425" cy="533400"/>
          </a:xfrm>
          <a:prstGeom prst="flowChartDelay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376" name="AutoShape 112"/>
          <p:cNvSpPr>
            <a:spLocks noChangeArrowheads="1"/>
          </p:cNvSpPr>
          <p:nvPr/>
        </p:nvSpPr>
        <p:spPr bwMode="auto">
          <a:xfrm rot="5400000">
            <a:off x="3074987" y="3097213"/>
            <a:ext cx="479425" cy="533400"/>
          </a:xfrm>
          <a:prstGeom prst="flowChartDelay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377" name="AutoShape 113"/>
          <p:cNvSpPr>
            <a:spLocks noChangeArrowheads="1"/>
          </p:cNvSpPr>
          <p:nvPr/>
        </p:nvSpPr>
        <p:spPr bwMode="auto">
          <a:xfrm rot="5400000">
            <a:off x="1931987" y="3097213"/>
            <a:ext cx="479425" cy="533400"/>
          </a:xfrm>
          <a:prstGeom prst="flowChartDelay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378" name="AutoShape 114"/>
          <p:cNvSpPr>
            <a:spLocks noChangeArrowheads="1"/>
          </p:cNvSpPr>
          <p:nvPr/>
        </p:nvSpPr>
        <p:spPr bwMode="auto">
          <a:xfrm flipH="1" flipV="1">
            <a:off x="1219200" y="3124200"/>
            <a:ext cx="457200" cy="457200"/>
          </a:xfrm>
          <a:prstGeom prst="triangle">
            <a:avLst>
              <a:gd name="adj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9379" name="Line 115"/>
          <p:cNvSpPr>
            <a:spLocks noChangeShapeType="1"/>
          </p:cNvSpPr>
          <p:nvPr/>
        </p:nvSpPr>
        <p:spPr bwMode="auto">
          <a:xfrm>
            <a:off x="1447800" y="37338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80" name="Line 116"/>
          <p:cNvSpPr>
            <a:spLocks noChangeShapeType="1"/>
          </p:cNvSpPr>
          <p:nvPr/>
        </p:nvSpPr>
        <p:spPr bwMode="auto">
          <a:xfrm>
            <a:off x="1219200" y="2362200"/>
            <a:ext cx="472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81" name="Line 117"/>
          <p:cNvSpPr>
            <a:spLocks noChangeShapeType="1"/>
          </p:cNvSpPr>
          <p:nvPr/>
        </p:nvSpPr>
        <p:spPr bwMode="auto">
          <a:xfrm>
            <a:off x="3352800" y="525780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82" name="Line 118"/>
          <p:cNvSpPr>
            <a:spLocks noChangeShapeType="1"/>
          </p:cNvSpPr>
          <p:nvPr/>
        </p:nvSpPr>
        <p:spPr bwMode="auto">
          <a:xfrm>
            <a:off x="1447800" y="5410200"/>
            <a:ext cx="548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83" name="Line 119"/>
          <p:cNvSpPr>
            <a:spLocks noChangeShapeType="1"/>
          </p:cNvSpPr>
          <p:nvPr/>
        </p:nvSpPr>
        <p:spPr bwMode="auto">
          <a:xfrm>
            <a:off x="1219200" y="2590800"/>
            <a:ext cx="152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84" name="Line 120"/>
          <p:cNvSpPr>
            <a:spLocks noChangeShapeType="1"/>
          </p:cNvSpPr>
          <p:nvPr/>
        </p:nvSpPr>
        <p:spPr bwMode="auto">
          <a:xfrm>
            <a:off x="5029200" y="5943600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85" name="Line 121"/>
          <p:cNvSpPr>
            <a:spLocks noChangeShapeType="1"/>
          </p:cNvSpPr>
          <p:nvPr/>
        </p:nvSpPr>
        <p:spPr bwMode="auto">
          <a:xfrm>
            <a:off x="5029200" y="3581400"/>
            <a:ext cx="0" cy="2362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9386" name="Line 122"/>
          <p:cNvSpPr>
            <a:spLocks noChangeShapeType="1"/>
          </p:cNvSpPr>
          <p:nvPr/>
        </p:nvSpPr>
        <p:spPr bwMode="auto">
          <a:xfrm>
            <a:off x="5867400" y="3581400"/>
            <a:ext cx="0" cy="2209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007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4222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(Almost) Complete </a:t>
            </a:r>
            <a:r>
              <a:rPr lang="en-US" altLang="zh-CN" dirty="0" err="1">
                <a:ea typeface="宋体" pitchFamily="2" charset="-122"/>
              </a:rPr>
              <a:t>Datapath</a:t>
            </a:r>
            <a:r>
              <a:rPr lang="en-US" altLang="zh-CN" dirty="0">
                <a:ea typeface="宋体" pitchFamily="2" charset="-122"/>
              </a:rPr>
              <a:t> with Control Unit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52600" y="914400"/>
            <a:ext cx="381000" cy="990600"/>
            <a:chOff x="1392" y="2880"/>
            <a:chExt cx="288" cy="480"/>
          </a:xfrm>
        </p:grpSpPr>
        <p:sp>
          <p:nvSpPr>
            <p:cNvPr id="720900" name="Line 4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0901" name="Line 5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0902" name="Line 6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0903" name="Line 7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0904" name="Line 8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0905" name="Line 9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0906" name="Line 10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0907" name="Rectangle 11"/>
          <p:cNvSpPr>
            <a:spLocks noChangeArrowheads="1"/>
          </p:cNvSpPr>
          <p:nvPr/>
        </p:nvSpPr>
        <p:spPr bwMode="auto">
          <a:xfrm>
            <a:off x="1052513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908" name="Rectangle 12"/>
          <p:cNvSpPr>
            <a:spLocks noChangeArrowheads="1"/>
          </p:cNvSpPr>
          <p:nvPr/>
        </p:nvSpPr>
        <p:spPr bwMode="auto">
          <a:xfrm>
            <a:off x="519113" y="3962400"/>
            <a:ext cx="2286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909" name="Line 13"/>
          <p:cNvSpPr>
            <a:spLocks noChangeShapeType="1"/>
          </p:cNvSpPr>
          <p:nvPr/>
        </p:nvSpPr>
        <p:spPr bwMode="auto">
          <a:xfrm>
            <a:off x="747713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10" name="Line 14"/>
          <p:cNvSpPr>
            <a:spLocks noChangeShapeType="1"/>
          </p:cNvSpPr>
          <p:nvPr/>
        </p:nvSpPr>
        <p:spPr bwMode="auto">
          <a:xfrm>
            <a:off x="838200" y="1066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11" name="Line 15"/>
          <p:cNvSpPr>
            <a:spLocks noChangeShapeType="1"/>
          </p:cNvSpPr>
          <p:nvPr/>
        </p:nvSpPr>
        <p:spPr bwMode="auto">
          <a:xfrm>
            <a:off x="1371600" y="175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12" name="Text Box 16"/>
          <p:cNvSpPr txBox="1">
            <a:spLocks noChangeArrowheads="1"/>
          </p:cNvSpPr>
          <p:nvPr/>
        </p:nvSpPr>
        <p:spPr bwMode="auto">
          <a:xfrm>
            <a:off x="976313" y="4114800"/>
            <a:ext cx="74136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20913" name="Text Box 17"/>
          <p:cNvSpPr txBox="1">
            <a:spLocks noChangeArrowheads="1"/>
          </p:cNvSpPr>
          <p:nvPr/>
        </p:nvSpPr>
        <p:spPr bwMode="auto">
          <a:xfrm>
            <a:off x="1738313" y="4191000"/>
            <a:ext cx="8699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Instr[31-0]</a:t>
            </a:r>
          </a:p>
        </p:txBody>
      </p:sp>
      <p:sp>
        <p:nvSpPr>
          <p:cNvPr id="720914" name="Text Box 18"/>
          <p:cNvSpPr txBox="1">
            <a:spLocks noChangeArrowheads="1"/>
          </p:cNvSpPr>
          <p:nvPr/>
        </p:nvSpPr>
        <p:spPr bwMode="auto">
          <a:xfrm>
            <a:off x="1281113" y="3657600"/>
            <a:ext cx="9731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Instruction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20915" name="Text Box 19"/>
          <p:cNvSpPr txBox="1">
            <a:spLocks noChangeArrowheads="1"/>
          </p:cNvSpPr>
          <p:nvPr/>
        </p:nvSpPr>
        <p:spPr bwMode="auto">
          <a:xfrm>
            <a:off x="1752600" y="12954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20916" name="Text Box 20"/>
          <p:cNvSpPr txBox="1">
            <a:spLocks noChangeArrowheads="1"/>
          </p:cNvSpPr>
          <p:nvPr/>
        </p:nvSpPr>
        <p:spPr bwMode="auto">
          <a:xfrm>
            <a:off x="442913" y="4191000"/>
            <a:ext cx="395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PC</a:t>
            </a:r>
          </a:p>
        </p:txBody>
      </p:sp>
      <p:sp>
        <p:nvSpPr>
          <p:cNvPr id="720917" name="Line 21"/>
          <p:cNvSpPr>
            <a:spLocks noChangeShapeType="1"/>
          </p:cNvSpPr>
          <p:nvPr/>
        </p:nvSpPr>
        <p:spPr bwMode="auto">
          <a:xfrm>
            <a:off x="228600" y="838200"/>
            <a:ext cx="685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18" name="Line 22"/>
          <p:cNvSpPr>
            <a:spLocks noChangeShapeType="1"/>
          </p:cNvSpPr>
          <p:nvPr/>
        </p:nvSpPr>
        <p:spPr bwMode="auto">
          <a:xfrm>
            <a:off x="214313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19" name="Text Box 23"/>
          <p:cNvSpPr txBox="1">
            <a:spLocks noChangeArrowheads="1"/>
          </p:cNvSpPr>
          <p:nvPr/>
        </p:nvSpPr>
        <p:spPr bwMode="auto">
          <a:xfrm>
            <a:off x="1143000" y="16002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20920" name="Rectangle 24"/>
          <p:cNvSpPr>
            <a:spLocks noChangeArrowheads="1"/>
          </p:cNvSpPr>
          <p:nvPr/>
        </p:nvSpPr>
        <p:spPr bwMode="auto">
          <a:xfrm>
            <a:off x="3505200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921" name="Line 25"/>
          <p:cNvSpPr>
            <a:spLocks noChangeShapeType="1"/>
          </p:cNvSpPr>
          <p:nvPr/>
        </p:nvSpPr>
        <p:spPr bwMode="auto">
          <a:xfrm>
            <a:off x="2500313" y="43434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22" name="Line 26"/>
          <p:cNvSpPr>
            <a:spLocks noChangeShapeType="1"/>
          </p:cNvSpPr>
          <p:nvPr/>
        </p:nvSpPr>
        <p:spPr bwMode="auto">
          <a:xfrm>
            <a:off x="2652713" y="4114800"/>
            <a:ext cx="852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23" name="Line 27"/>
          <p:cNvSpPr>
            <a:spLocks noChangeShapeType="1"/>
          </p:cNvSpPr>
          <p:nvPr/>
        </p:nvSpPr>
        <p:spPr bwMode="auto">
          <a:xfrm>
            <a:off x="2652713" y="4648200"/>
            <a:ext cx="471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24" name="Line 28"/>
          <p:cNvSpPr>
            <a:spLocks noChangeShapeType="1"/>
          </p:cNvSpPr>
          <p:nvPr/>
        </p:nvSpPr>
        <p:spPr bwMode="auto">
          <a:xfrm>
            <a:off x="8382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25" name="Line 29"/>
          <p:cNvSpPr>
            <a:spLocks noChangeShapeType="1"/>
          </p:cNvSpPr>
          <p:nvPr/>
        </p:nvSpPr>
        <p:spPr bwMode="auto">
          <a:xfrm>
            <a:off x="2652713" y="3733800"/>
            <a:ext cx="852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26" name="Line 30"/>
          <p:cNvSpPr>
            <a:spLocks noChangeShapeType="1"/>
          </p:cNvSpPr>
          <p:nvPr/>
        </p:nvSpPr>
        <p:spPr bwMode="auto">
          <a:xfrm>
            <a:off x="4953000" y="3962400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27" name="Line 31"/>
          <p:cNvSpPr>
            <a:spLocks noChangeShapeType="1"/>
          </p:cNvSpPr>
          <p:nvPr/>
        </p:nvSpPr>
        <p:spPr bwMode="auto">
          <a:xfrm>
            <a:off x="5105400" y="4572000"/>
            <a:ext cx="279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28" name="Line 32"/>
          <p:cNvSpPr>
            <a:spLocks noChangeShapeType="1"/>
          </p:cNvSpPr>
          <p:nvPr/>
        </p:nvSpPr>
        <p:spPr bwMode="auto">
          <a:xfrm>
            <a:off x="6477000" y="5715000"/>
            <a:ext cx="193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29" name="Line 33"/>
          <p:cNvSpPr>
            <a:spLocks noChangeShapeType="1"/>
          </p:cNvSpPr>
          <p:nvPr/>
        </p:nvSpPr>
        <p:spPr bwMode="auto">
          <a:xfrm>
            <a:off x="6324600" y="43434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30" name="Text Box 34"/>
          <p:cNvSpPr txBox="1">
            <a:spLocks noChangeArrowheads="1"/>
          </p:cNvSpPr>
          <p:nvPr/>
        </p:nvSpPr>
        <p:spPr bwMode="auto">
          <a:xfrm>
            <a:off x="3429000" y="4724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20931" name="Text Box 35"/>
          <p:cNvSpPr txBox="1">
            <a:spLocks noChangeArrowheads="1"/>
          </p:cNvSpPr>
          <p:nvPr/>
        </p:nvSpPr>
        <p:spPr bwMode="auto">
          <a:xfrm>
            <a:off x="3429000" y="3581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1</a:t>
            </a:r>
          </a:p>
        </p:txBody>
      </p:sp>
      <p:sp>
        <p:nvSpPr>
          <p:cNvPr id="720932" name="Text Box 36"/>
          <p:cNvSpPr txBox="1">
            <a:spLocks noChangeArrowheads="1"/>
          </p:cNvSpPr>
          <p:nvPr/>
        </p:nvSpPr>
        <p:spPr bwMode="auto">
          <a:xfrm>
            <a:off x="3429000" y="3962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2</a:t>
            </a:r>
          </a:p>
        </p:txBody>
      </p:sp>
      <p:sp>
        <p:nvSpPr>
          <p:cNvPr id="720933" name="Text Box 37"/>
          <p:cNvSpPr txBox="1">
            <a:spLocks noChangeArrowheads="1"/>
          </p:cNvSpPr>
          <p:nvPr/>
        </p:nvSpPr>
        <p:spPr bwMode="auto">
          <a:xfrm>
            <a:off x="3429000" y="4343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Addr</a:t>
            </a:r>
          </a:p>
        </p:txBody>
      </p:sp>
      <p:sp>
        <p:nvSpPr>
          <p:cNvPr id="720934" name="Text Box 38"/>
          <p:cNvSpPr txBox="1">
            <a:spLocks noChangeArrowheads="1"/>
          </p:cNvSpPr>
          <p:nvPr/>
        </p:nvSpPr>
        <p:spPr bwMode="auto">
          <a:xfrm>
            <a:off x="3752850" y="38100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Register</a:t>
            </a:r>
          </a:p>
          <a:p>
            <a:pPr algn="ctr"/>
            <a:endParaRPr lang="en-US" altLang="zh-CN" sz="1200" b="1">
              <a:solidFill>
                <a:schemeClr val="tx1"/>
              </a:solidFill>
              <a:ea typeface="宋体" pitchFamily="2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File</a:t>
            </a:r>
          </a:p>
        </p:txBody>
      </p:sp>
      <p:sp>
        <p:nvSpPr>
          <p:cNvPr id="720935" name="Text Box 39"/>
          <p:cNvSpPr txBox="1">
            <a:spLocks noChangeArrowheads="1"/>
          </p:cNvSpPr>
          <p:nvPr/>
        </p:nvSpPr>
        <p:spPr bwMode="auto">
          <a:xfrm>
            <a:off x="4343400" y="37338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1</a:t>
            </a:r>
          </a:p>
        </p:txBody>
      </p:sp>
      <p:sp>
        <p:nvSpPr>
          <p:cNvPr id="720936" name="Text Box 40"/>
          <p:cNvSpPr txBox="1">
            <a:spLocks noChangeArrowheads="1"/>
          </p:cNvSpPr>
          <p:nvPr/>
        </p:nvSpPr>
        <p:spPr bwMode="auto">
          <a:xfrm>
            <a:off x="4368800" y="44196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2</a:t>
            </a:r>
          </a:p>
        </p:txBody>
      </p:sp>
      <p:sp>
        <p:nvSpPr>
          <p:cNvPr id="720937" name="Freeform 41"/>
          <p:cNvSpPr>
            <a:spLocks/>
          </p:cNvSpPr>
          <p:nvPr/>
        </p:nvSpPr>
        <p:spPr bwMode="auto">
          <a:xfrm>
            <a:off x="5791200" y="36576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38" name="Rectangle 42"/>
          <p:cNvSpPr>
            <a:spLocks noChangeArrowheads="1"/>
          </p:cNvSpPr>
          <p:nvPr/>
        </p:nvSpPr>
        <p:spPr bwMode="auto">
          <a:xfrm>
            <a:off x="5892800" y="42672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ALU</a:t>
            </a:r>
          </a:p>
        </p:txBody>
      </p:sp>
      <p:sp>
        <p:nvSpPr>
          <p:cNvPr id="720939" name="Rectangle 43"/>
          <p:cNvSpPr>
            <a:spLocks noChangeArrowheads="1"/>
          </p:cNvSpPr>
          <p:nvPr/>
        </p:nvSpPr>
        <p:spPr bwMode="auto">
          <a:xfrm>
            <a:off x="5791200" y="3276600"/>
            <a:ext cx="4572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ovf</a:t>
            </a:r>
          </a:p>
        </p:txBody>
      </p:sp>
      <p:sp>
        <p:nvSpPr>
          <p:cNvPr id="720940" name="Rectangle 44"/>
          <p:cNvSpPr>
            <a:spLocks noChangeArrowheads="1"/>
          </p:cNvSpPr>
          <p:nvPr/>
        </p:nvSpPr>
        <p:spPr bwMode="auto">
          <a:xfrm>
            <a:off x="5943600" y="3886200"/>
            <a:ext cx="5334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zero</a:t>
            </a:r>
          </a:p>
        </p:txBody>
      </p:sp>
      <p:sp>
        <p:nvSpPr>
          <p:cNvPr id="720941" name="Line 45"/>
          <p:cNvSpPr>
            <a:spLocks noChangeShapeType="1"/>
          </p:cNvSpPr>
          <p:nvPr/>
        </p:nvSpPr>
        <p:spPr bwMode="auto">
          <a:xfrm>
            <a:off x="6096000" y="4724400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42" name="Line 46"/>
          <p:cNvSpPr>
            <a:spLocks noChangeShapeType="1"/>
          </p:cNvSpPr>
          <p:nvPr/>
        </p:nvSpPr>
        <p:spPr bwMode="auto">
          <a:xfrm>
            <a:off x="4191000" y="2971800"/>
            <a:ext cx="0" cy="609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43" name="Rectangle 47"/>
          <p:cNvSpPr>
            <a:spLocks noChangeArrowheads="1"/>
          </p:cNvSpPr>
          <p:nvPr/>
        </p:nvSpPr>
        <p:spPr bwMode="auto">
          <a:xfrm>
            <a:off x="4191000" y="29718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RegWrite</a:t>
            </a:r>
          </a:p>
        </p:txBody>
      </p:sp>
      <p:sp>
        <p:nvSpPr>
          <p:cNvPr id="720944" name="Line 48"/>
          <p:cNvSpPr>
            <a:spLocks noChangeShapeType="1"/>
          </p:cNvSpPr>
          <p:nvPr/>
        </p:nvSpPr>
        <p:spPr bwMode="auto">
          <a:xfrm flipV="1">
            <a:off x="5943600" y="35052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45" name="Line 49"/>
          <p:cNvSpPr>
            <a:spLocks noChangeShapeType="1"/>
          </p:cNvSpPr>
          <p:nvPr/>
        </p:nvSpPr>
        <p:spPr bwMode="auto">
          <a:xfrm flipV="1">
            <a:off x="6248400" y="22098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46" name="Line 50"/>
          <p:cNvSpPr>
            <a:spLocks noChangeShapeType="1"/>
          </p:cNvSpPr>
          <p:nvPr/>
        </p:nvSpPr>
        <p:spPr bwMode="auto">
          <a:xfrm>
            <a:off x="8991600" y="4495800"/>
            <a:ext cx="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47" name="Rectangle 51"/>
          <p:cNvSpPr>
            <a:spLocks noChangeArrowheads="1"/>
          </p:cNvSpPr>
          <p:nvPr/>
        </p:nvSpPr>
        <p:spPr bwMode="auto">
          <a:xfrm>
            <a:off x="6858000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948" name="Line 52"/>
          <p:cNvSpPr>
            <a:spLocks noChangeShapeType="1"/>
          </p:cNvSpPr>
          <p:nvPr/>
        </p:nvSpPr>
        <p:spPr bwMode="auto">
          <a:xfrm>
            <a:off x="8305800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49" name="Line 53"/>
          <p:cNvSpPr>
            <a:spLocks noChangeShapeType="1"/>
          </p:cNvSpPr>
          <p:nvPr/>
        </p:nvSpPr>
        <p:spPr bwMode="auto">
          <a:xfrm>
            <a:off x="6477000" y="3886200"/>
            <a:ext cx="40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50" name="Line 54"/>
          <p:cNvSpPr>
            <a:spLocks noChangeShapeType="1"/>
          </p:cNvSpPr>
          <p:nvPr/>
        </p:nvSpPr>
        <p:spPr bwMode="auto">
          <a:xfrm>
            <a:off x="6629400" y="4724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51" name="Text Box 55"/>
          <p:cNvSpPr txBox="1">
            <a:spLocks noChangeArrowheads="1"/>
          </p:cNvSpPr>
          <p:nvPr/>
        </p:nvSpPr>
        <p:spPr bwMode="auto">
          <a:xfrm>
            <a:off x="6781800" y="4038600"/>
            <a:ext cx="766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Data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20952" name="Text Box 56"/>
          <p:cNvSpPr txBox="1">
            <a:spLocks noChangeArrowheads="1"/>
          </p:cNvSpPr>
          <p:nvPr/>
        </p:nvSpPr>
        <p:spPr bwMode="auto">
          <a:xfrm>
            <a:off x="6781800" y="3733800"/>
            <a:ext cx="7413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20953" name="Text Box 57"/>
          <p:cNvSpPr txBox="1">
            <a:spLocks noChangeArrowheads="1"/>
          </p:cNvSpPr>
          <p:nvPr/>
        </p:nvSpPr>
        <p:spPr bwMode="auto">
          <a:xfrm>
            <a:off x="6781800" y="45720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20954" name="Text Box 58"/>
          <p:cNvSpPr txBox="1">
            <a:spLocks noChangeArrowheads="1"/>
          </p:cNvSpPr>
          <p:nvPr/>
        </p:nvSpPr>
        <p:spPr bwMode="auto">
          <a:xfrm>
            <a:off x="7467600" y="4191000"/>
            <a:ext cx="909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720955" name="Line 59"/>
          <p:cNvSpPr>
            <a:spLocks noChangeShapeType="1"/>
          </p:cNvSpPr>
          <p:nvPr/>
        </p:nvSpPr>
        <p:spPr bwMode="auto">
          <a:xfrm>
            <a:off x="7543800" y="2667000"/>
            <a:ext cx="0" cy="914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56" name="Rectangle 60"/>
          <p:cNvSpPr>
            <a:spLocks noChangeArrowheads="1"/>
          </p:cNvSpPr>
          <p:nvPr/>
        </p:nvSpPr>
        <p:spPr bwMode="auto">
          <a:xfrm>
            <a:off x="6553200" y="24384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MemWrite</a:t>
            </a:r>
          </a:p>
        </p:txBody>
      </p:sp>
      <p:sp>
        <p:nvSpPr>
          <p:cNvPr id="720957" name="Rectangle 61"/>
          <p:cNvSpPr>
            <a:spLocks noChangeArrowheads="1"/>
          </p:cNvSpPr>
          <p:nvPr/>
        </p:nvSpPr>
        <p:spPr bwMode="auto">
          <a:xfrm>
            <a:off x="7848600" y="21336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MemRead</a:t>
            </a:r>
          </a:p>
        </p:txBody>
      </p:sp>
      <p:sp>
        <p:nvSpPr>
          <p:cNvPr id="720958" name="Line 62"/>
          <p:cNvSpPr>
            <a:spLocks noChangeShapeType="1"/>
          </p:cNvSpPr>
          <p:nvPr/>
        </p:nvSpPr>
        <p:spPr bwMode="auto">
          <a:xfrm>
            <a:off x="7543800" y="50292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59" name="Line 63"/>
          <p:cNvSpPr>
            <a:spLocks noChangeShapeType="1"/>
          </p:cNvSpPr>
          <p:nvPr/>
        </p:nvSpPr>
        <p:spPr bwMode="auto">
          <a:xfrm>
            <a:off x="3276600" y="6477000"/>
            <a:ext cx="571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60" name="Line 64"/>
          <p:cNvSpPr>
            <a:spLocks noChangeShapeType="1"/>
          </p:cNvSpPr>
          <p:nvPr/>
        </p:nvSpPr>
        <p:spPr bwMode="auto">
          <a:xfrm>
            <a:off x="5054600" y="51816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61" name="Line 65"/>
          <p:cNvSpPr>
            <a:spLocks noChangeShapeType="1"/>
          </p:cNvSpPr>
          <p:nvPr/>
        </p:nvSpPr>
        <p:spPr bwMode="auto">
          <a:xfrm>
            <a:off x="4811713" y="556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62" name="Oval 66"/>
          <p:cNvSpPr>
            <a:spLocks noChangeArrowheads="1"/>
          </p:cNvSpPr>
          <p:nvPr/>
        </p:nvSpPr>
        <p:spPr bwMode="auto">
          <a:xfrm>
            <a:off x="4202113" y="5181600"/>
            <a:ext cx="6096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963" name="Rectangle 67"/>
          <p:cNvSpPr>
            <a:spLocks noChangeArrowheads="1"/>
          </p:cNvSpPr>
          <p:nvPr/>
        </p:nvSpPr>
        <p:spPr bwMode="auto">
          <a:xfrm>
            <a:off x="4252913" y="5334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Sign</a:t>
            </a:r>
          </a:p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Extend</a:t>
            </a:r>
          </a:p>
        </p:txBody>
      </p:sp>
      <p:sp>
        <p:nvSpPr>
          <p:cNvPr id="720964" name="Line 68"/>
          <p:cNvSpPr>
            <a:spLocks noChangeShapeType="1"/>
          </p:cNvSpPr>
          <p:nvPr/>
        </p:nvSpPr>
        <p:spPr bwMode="auto">
          <a:xfrm>
            <a:off x="2638425" y="5562600"/>
            <a:ext cx="1563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65" name="Line 69"/>
          <p:cNvSpPr>
            <a:spLocks noChangeShapeType="1"/>
          </p:cNvSpPr>
          <p:nvPr/>
        </p:nvSpPr>
        <p:spPr bwMode="auto">
          <a:xfrm>
            <a:off x="3871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66" name="Line 70"/>
          <p:cNvSpPr>
            <a:spLocks noChangeShapeType="1"/>
          </p:cNvSpPr>
          <p:nvPr/>
        </p:nvSpPr>
        <p:spPr bwMode="auto">
          <a:xfrm>
            <a:off x="4887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67" name="Text Box 71"/>
          <p:cNvSpPr txBox="1">
            <a:spLocks noChangeArrowheads="1"/>
          </p:cNvSpPr>
          <p:nvPr/>
        </p:nvSpPr>
        <p:spPr bwMode="auto">
          <a:xfrm>
            <a:off x="3871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16</a:t>
            </a:r>
          </a:p>
        </p:txBody>
      </p:sp>
      <p:sp>
        <p:nvSpPr>
          <p:cNvPr id="720968" name="Text Box 72"/>
          <p:cNvSpPr txBox="1">
            <a:spLocks noChangeArrowheads="1"/>
          </p:cNvSpPr>
          <p:nvPr/>
        </p:nvSpPr>
        <p:spPr bwMode="auto">
          <a:xfrm>
            <a:off x="4887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32</a:t>
            </a:r>
          </a:p>
        </p:txBody>
      </p:sp>
      <p:sp>
        <p:nvSpPr>
          <p:cNvPr id="720969" name="Line 73"/>
          <p:cNvSpPr>
            <a:spLocks noChangeShapeType="1"/>
          </p:cNvSpPr>
          <p:nvPr/>
        </p:nvSpPr>
        <p:spPr bwMode="auto">
          <a:xfrm>
            <a:off x="5054600" y="4572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70" name="Line 74"/>
          <p:cNvSpPr>
            <a:spLocks noChangeShapeType="1"/>
          </p:cNvSpPr>
          <p:nvPr/>
        </p:nvSpPr>
        <p:spPr bwMode="auto">
          <a:xfrm>
            <a:off x="8382000" y="4724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71" name="Line 75"/>
          <p:cNvSpPr>
            <a:spLocks noChangeShapeType="1"/>
          </p:cNvSpPr>
          <p:nvPr/>
        </p:nvSpPr>
        <p:spPr bwMode="auto">
          <a:xfrm>
            <a:off x="5181600" y="49530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72" name="Line 76"/>
          <p:cNvSpPr>
            <a:spLocks noChangeShapeType="1"/>
          </p:cNvSpPr>
          <p:nvPr/>
        </p:nvSpPr>
        <p:spPr bwMode="auto">
          <a:xfrm>
            <a:off x="3276600" y="4876800"/>
            <a:ext cx="25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73" name="AutoShape 77"/>
          <p:cNvSpPr>
            <a:spLocks noChangeArrowheads="1"/>
          </p:cNvSpPr>
          <p:nvPr/>
        </p:nvSpPr>
        <p:spPr bwMode="auto">
          <a:xfrm rot="-5400000">
            <a:off x="8382000" y="4419600"/>
            <a:ext cx="6858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974" name="Line 78"/>
          <p:cNvSpPr>
            <a:spLocks noChangeShapeType="1"/>
          </p:cNvSpPr>
          <p:nvPr/>
        </p:nvSpPr>
        <p:spPr bwMode="auto">
          <a:xfrm>
            <a:off x="8839200" y="4495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75" name="AutoShape 79"/>
          <p:cNvSpPr>
            <a:spLocks noChangeArrowheads="1"/>
          </p:cNvSpPr>
          <p:nvPr/>
        </p:nvSpPr>
        <p:spPr bwMode="auto">
          <a:xfrm rot="-5400000">
            <a:off x="5092700" y="46101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976" name="Line 80"/>
          <p:cNvSpPr>
            <a:spLocks noChangeShapeType="1"/>
          </p:cNvSpPr>
          <p:nvPr/>
        </p:nvSpPr>
        <p:spPr bwMode="auto">
          <a:xfrm>
            <a:off x="5588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77" name="Line 81"/>
          <p:cNvSpPr>
            <a:spLocks noChangeShapeType="1"/>
          </p:cNvSpPr>
          <p:nvPr/>
        </p:nvSpPr>
        <p:spPr bwMode="auto">
          <a:xfrm>
            <a:off x="3276600" y="48768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78" name="Line 82"/>
          <p:cNvSpPr>
            <a:spLocks noChangeShapeType="1"/>
          </p:cNvSpPr>
          <p:nvPr/>
        </p:nvSpPr>
        <p:spPr bwMode="auto">
          <a:xfrm>
            <a:off x="8686800" y="25146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79" name="Rectangle 83"/>
          <p:cNvSpPr>
            <a:spLocks noChangeArrowheads="1"/>
          </p:cNvSpPr>
          <p:nvPr/>
        </p:nvSpPr>
        <p:spPr bwMode="auto">
          <a:xfrm>
            <a:off x="7162800" y="22860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MemtoReg</a:t>
            </a:r>
          </a:p>
        </p:txBody>
      </p:sp>
      <p:sp>
        <p:nvSpPr>
          <p:cNvPr id="720980" name="Rectangle 84"/>
          <p:cNvSpPr>
            <a:spLocks noChangeArrowheads="1"/>
          </p:cNvSpPr>
          <p:nvPr/>
        </p:nvSpPr>
        <p:spPr bwMode="auto">
          <a:xfrm>
            <a:off x="4343400" y="25908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ALUSrc</a:t>
            </a:r>
          </a:p>
        </p:txBody>
      </p:sp>
      <p:sp>
        <p:nvSpPr>
          <p:cNvPr id="720981" name="Oval 85"/>
          <p:cNvSpPr>
            <a:spLocks noChangeArrowheads="1"/>
          </p:cNvSpPr>
          <p:nvPr/>
        </p:nvSpPr>
        <p:spPr bwMode="auto">
          <a:xfrm>
            <a:off x="5410200" y="1600200"/>
            <a:ext cx="4572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982" name="Rectangle 86"/>
          <p:cNvSpPr>
            <a:spLocks noChangeArrowheads="1"/>
          </p:cNvSpPr>
          <p:nvPr/>
        </p:nvSpPr>
        <p:spPr bwMode="auto">
          <a:xfrm>
            <a:off x="5410200" y="1600200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Shift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left 2</a:t>
            </a:r>
          </a:p>
        </p:txBody>
      </p:sp>
      <p:sp>
        <p:nvSpPr>
          <p:cNvPr id="720983" name="Line 87"/>
          <p:cNvSpPr>
            <a:spLocks noChangeShapeType="1"/>
          </p:cNvSpPr>
          <p:nvPr/>
        </p:nvSpPr>
        <p:spPr bwMode="auto">
          <a:xfrm>
            <a:off x="5181600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84" name="Line 88"/>
          <p:cNvSpPr>
            <a:spLocks noChangeShapeType="1"/>
          </p:cNvSpPr>
          <p:nvPr/>
        </p:nvSpPr>
        <p:spPr bwMode="auto">
          <a:xfrm>
            <a:off x="5181600" y="1447800"/>
            <a:ext cx="928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6096000" y="1143000"/>
            <a:ext cx="381000" cy="914400"/>
            <a:chOff x="1392" y="2880"/>
            <a:chExt cx="288" cy="480"/>
          </a:xfrm>
        </p:grpSpPr>
        <p:sp>
          <p:nvSpPr>
            <p:cNvPr id="720986" name="Line 90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0987" name="Line 91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0988" name="Line 92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0989" name="Line 93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0990" name="Line 94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0991" name="Line 95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0992" name="Line 96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0993" name="Text Box 97"/>
          <p:cNvSpPr txBox="1">
            <a:spLocks noChangeArrowheads="1"/>
          </p:cNvSpPr>
          <p:nvPr/>
        </p:nvSpPr>
        <p:spPr bwMode="auto">
          <a:xfrm>
            <a:off x="6096000" y="14478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20994" name="Line 98"/>
          <p:cNvSpPr>
            <a:spLocks noChangeShapeType="1"/>
          </p:cNvSpPr>
          <p:nvPr/>
        </p:nvSpPr>
        <p:spPr bwMode="auto">
          <a:xfrm>
            <a:off x="5853113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95" name="Line 99"/>
          <p:cNvSpPr>
            <a:spLocks noChangeShapeType="1"/>
          </p:cNvSpPr>
          <p:nvPr/>
        </p:nvSpPr>
        <p:spPr bwMode="auto">
          <a:xfrm>
            <a:off x="6477000" y="1600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96" name="Line 100"/>
          <p:cNvSpPr>
            <a:spLocks noChangeShapeType="1"/>
          </p:cNvSpPr>
          <p:nvPr/>
        </p:nvSpPr>
        <p:spPr bwMode="auto">
          <a:xfrm>
            <a:off x="838200" y="1066800"/>
            <a:ext cx="0" cy="3276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97" name="AutoShape 101"/>
          <p:cNvSpPr>
            <a:spLocks noChangeArrowheads="1"/>
          </p:cNvSpPr>
          <p:nvPr/>
        </p:nvSpPr>
        <p:spPr bwMode="auto">
          <a:xfrm rot="-5400000">
            <a:off x="6400800" y="1219200"/>
            <a:ext cx="8382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998" name="Line 102"/>
          <p:cNvSpPr>
            <a:spLocks noChangeShapeType="1"/>
          </p:cNvSpPr>
          <p:nvPr/>
        </p:nvSpPr>
        <p:spPr bwMode="auto">
          <a:xfrm>
            <a:off x="5181600" y="1066800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999" name="Line 103"/>
          <p:cNvSpPr>
            <a:spLocks noChangeShapeType="1"/>
          </p:cNvSpPr>
          <p:nvPr/>
        </p:nvSpPr>
        <p:spPr bwMode="auto">
          <a:xfrm>
            <a:off x="5181600" y="1066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00" name="Line 104"/>
          <p:cNvSpPr>
            <a:spLocks noChangeShapeType="1"/>
          </p:cNvSpPr>
          <p:nvPr/>
        </p:nvSpPr>
        <p:spPr bwMode="auto">
          <a:xfrm>
            <a:off x="6934200" y="13716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01" name="Line 105"/>
          <p:cNvSpPr>
            <a:spLocks noChangeShapeType="1"/>
          </p:cNvSpPr>
          <p:nvPr/>
        </p:nvSpPr>
        <p:spPr bwMode="auto">
          <a:xfrm>
            <a:off x="6858000" y="1600200"/>
            <a:ext cx="0" cy="533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02" name="Rectangle 106"/>
          <p:cNvSpPr>
            <a:spLocks noChangeArrowheads="1"/>
          </p:cNvSpPr>
          <p:nvPr/>
        </p:nvSpPr>
        <p:spPr bwMode="auto">
          <a:xfrm>
            <a:off x="6858000" y="17526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PCSrc</a:t>
            </a:r>
          </a:p>
        </p:txBody>
      </p:sp>
      <p:sp>
        <p:nvSpPr>
          <p:cNvPr id="721003" name="Line 107"/>
          <p:cNvSpPr>
            <a:spLocks noChangeShapeType="1"/>
          </p:cNvSpPr>
          <p:nvPr/>
        </p:nvSpPr>
        <p:spPr bwMode="auto">
          <a:xfrm>
            <a:off x="66294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04" name="AutoShape 108"/>
          <p:cNvSpPr>
            <a:spLocks noChangeArrowheads="1"/>
          </p:cNvSpPr>
          <p:nvPr/>
        </p:nvSpPr>
        <p:spPr bwMode="auto">
          <a:xfrm rot="-5400000">
            <a:off x="2933700" y="4381500"/>
            <a:ext cx="6096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1005" name="Line 109"/>
          <p:cNvSpPr>
            <a:spLocks noChangeShapeType="1"/>
          </p:cNvSpPr>
          <p:nvPr/>
        </p:nvSpPr>
        <p:spPr bwMode="auto">
          <a:xfrm>
            <a:off x="3352800" y="44958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06" name="Line 110"/>
          <p:cNvSpPr>
            <a:spLocks noChangeShapeType="1"/>
          </p:cNvSpPr>
          <p:nvPr/>
        </p:nvSpPr>
        <p:spPr bwMode="auto">
          <a:xfrm>
            <a:off x="2957513" y="4114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07" name="Line 111"/>
          <p:cNvSpPr>
            <a:spLocks noChangeShapeType="1"/>
          </p:cNvSpPr>
          <p:nvPr/>
        </p:nvSpPr>
        <p:spPr bwMode="auto">
          <a:xfrm>
            <a:off x="2957513" y="4343400"/>
            <a:ext cx="1666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08" name="Line 112"/>
          <p:cNvSpPr>
            <a:spLocks noChangeShapeType="1"/>
          </p:cNvSpPr>
          <p:nvPr/>
        </p:nvSpPr>
        <p:spPr bwMode="auto">
          <a:xfrm>
            <a:off x="3200400" y="2971800"/>
            <a:ext cx="0" cy="1295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09" name="Rectangle 113"/>
          <p:cNvSpPr>
            <a:spLocks noChangeArrowheads="1"/>
          </p:cNvSpPr>
          <p:nvPr/>
        </p:nvSpPr>
        <p:spPr bwMode="auto">
          <a:xfrm>
            <a:off x="2667000" y="3124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RegDst</a:t>
            </a:r>
          </a:p>
        </p:txBody>
      </p:sp>
      <p:sp>
        <p:nvSpPr>
          <p:cNvPr id="721010" name="Oval 114"/>
          <p:cNvSpPr>
            <a:spLocks noChangeArrowheads="1"/>
          </p:cNvSpPr>
          <p:nvPr/>
        </p:nvSpPr>
        <p:spPr bwMode="auto">
          <a:xfrm>
            <a:off x="5791200" y="5257800"/>
            <a:ext cx="609600" cy="7620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1011" name="Rectangle 115"/>
          <p:cNvSpPr>
            <a:spLocks noChangeArrowheads="1"/>
          </p:cNvSpPr>
          <p:nvPr/>
        </p:nvSpPr>
        <p:spPr bwMode="auto">
          <a:xfrm>
            <a:off x="5867400" y="54102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ALU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</p:txBody>
      </p:sp>
      <p:sp>
        <p:nvSpPr>
          <p:cNvPr id="721012" name="Line 116"/>
          <p:cNvSpPr>
            <a:spLocks noChangeShapeType="1"/>
          </p:cNvSpPr>
          <p:nvPr/>
        </p:nvSpPr>
        <p:spPr bwMode="auto">
          <a:xfrm>
            <a:off x="3657600" y="6172200"/>
            <a:ext cx="1905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13" name="Line 117"/>
          <p:cNvSpPr>
            <a:spLocks noChangeShapeType="1"/>
          </p:cNvSpPr>
          <p:nvPr/>
        </p:nvSpPr>
        <p:spPr bwMode="auto">
          <a:xfrm>
            <a:off x="5548313" y="54864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14" name="Rectangle 118"/>
          <p:cNvSpPr>
            <a:spLocks noChangeArrowheads="1"/>
          </p:cNvSpPr>
          <p:nvPr/>
        </p:nvSpPr>
        <p:spPr bwMode="auto">
          <a:xfrm>
            <a:off x="86106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1015" name="Rectangle 119"/>
          <p:cNvSpPr>
            <a:spLocks noChangeArrowheads="1"/>
          </p:cNvSpPr>
          <p:nvPr/>
        </p:nvSpPr>
        <p:spPr bwMode="auto">
          <a:xfrm>
            <a:off x="5410200" y="480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1016" name="Rectangle 120"/>
          <p:cNvSpPr>
            <a:spLocks noChangeArrowheads="1"/>
          </p:cNvSpPr>
          <p:nvPr/>
        </p:nvSpPr>
        <p:spPr bwMode="auto">
          <a:xfrm>
            <a:off x="3124200" y="4495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1017" name="Rectangle 121"/>
          <p:cNvSpPr>
            <a:spLocks noChangeArrowheads="1"/>
          </p:cNvSpPr>
          <p:nvPr/>
        </p:nvSpPr>
        <p:spPr bwMode="auto">
          <a:xfrm>
            <a:off x="31242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1018" name="Rectangle 122"/>
          <p:cNvSpPr>
            <a:spLocks noChangeArrowheads="1"/>
          </p:cNvSpPr>
          <p:nvPr/>
        </p:nvSpPr>
        <p:spPr bwMode="auto">
          <a:xfrm>
            <a:off x="5410200" y="4419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1019" name="Rectangle 123"/>
          <p:cNvSpPr>
            <a:spLocks noChangeArrowheads="1"/>
          </p:cNvSpPr>
          <p:nvPr/>
        </p:nvSpPr>
        <p:spPr bwMode="auto">
          <a:xfrm>
            <a:off x="8610600" y="4572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1020" name="Rectangle 124"/>
          <p:cNvSpPr>
            <a:spLocks noChangeArrowheads="1"/>
          </p:cNvSpPr>
          <p:nvPr/>
        </p:nvSpPr>
        <p:spPr bwMode="auto">
          <a:xfrm>
            <a:off x="6705600" y="99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1021" name="Rectangle 125"/>
          <p:cNvSpPr>
            <a:spLocks noChangeArrowheads="1"/>
          </p:cNvSpPr>
          <p:nvPr/>
        </p:nvSpPr>
        <p:spPr bwMode="auto">
          <a:xfrm>
            <a:off x="6705600" y="1447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1022" name="Rectangle 126"/>
          <p:cNvSpPr>
            <a:spLocks noChangeArrowheads="1"/>
          </p:cNvSpPr>
          <p:nvPr/>
        </p:nvSpPr>
        <p:spPr bwMode="auto">
          <a:xfrm>
            <a:off x="2514600" y="19050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ALUOp</a:t>
            </a:r>
          </a:p>
        </p:txBody>
      </p:sp>
      <p:sp>
        <p:nvSpPr>
          <p:cNvPr id="721023" name="Line 127"/>
          <p:cNvSpPr>
            <a:spLocks noChangeShapeType="1"/>
          </p:cNvSpPr>
          <p:nvPr/>
        </p:nvSpPr>
        <p:spPr bwMode="auto">
          <a:xfrm>
            <a:off x="6096000" y="6019800"/>
            <a:ext cx="0" cy="3048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24" name="Rectangle 128"/>
          <p:cNvSpPr>
            <a:spLocks noChangeArrowheads="1"/>
          </p:cNvSpPr>
          <p:nvPr/>
        </p:nvSpPr>
        <p:spPr bwMode="auto">
          <a:xfrm>
            <a:off x="4724400" y="5867400"/>
            <a:ext cx="7620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Instr[5-0]</a:t>
            </a:r>
          </a:p>
        </p:txBody>
      </p:sp>
      <p:sp>
        <p:nvSpPr>
          <p:cNvPr id="721025" name="Rectangle 129"/>
          <p:cNvSpPr>
            <a:spLocks noChangeArrowheads="1"/>
          </p:cNvSpPr>
          <p:nvPr/>
        </p:nvSpPr>
        <p:spPr bwMode="auto">
          <a:xfrm>
            <a:off x="2667000" y="5334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Instr[15-0]</a:t>
            </a:r>
          </a:p>
        </p:txBody>
      </p:sp>
      <p:sp>
        <p:nvSpPr>
          <p:cNvPr id="721026" name="Rectangle 130"/>
          <p:cNvSpPr>
            <a:spLocks noChangeArrowheads="1"/>
          </p:cNvSpPr>
          <p:nvPr/>
        </p:nvSpPr>
        <p:spPr bwMode="auto">
          <a:xfrm>
            <a:off x="2652713" y="3505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Instr[25-21]</a:t>
            </a:r>
          </a:p>
        </p:txBody>
      </p:sp>
      <p:sp>
        <p:nvSpPr>
          <p:cNvPr id="721027" name="Rectangle 131"/>
          <p:cNvSpPr>
            <a:spLocks noChangeArrowheads="1"/>
          </p:cNvSpPr>
          <p:nvPr/>
        </p:nvSpPr>
        <p:spPr bwMode="auto">
          <a:xfrm>
            <a:off x="2652713" y="3886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Instr[20-16]</a:t>
            </a:r>
          </a:p>
        </p:txBody>
      </p:sp>
      <p:sp>
        <p:nvSpPr>
          <p:cNvPr id="721028" name="Text Box 132"/>
          <p:cNvSpPr txBox="1">
            <a:spLocks noChangeArrowheads="1"/>
          </p:cNvSpPr>
          <p:nvPr/>
        </p:nvSpPr>
        <p:spPr bwMode="auto">
          <a:xfrm>
            <a:off x="2576513" y="4648200"/>
            <a:ext cx="701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  -11]</a:t>
            </a:r>
          </a:p>
        </p:txBody>
      </p:sp>
      <p:sp>
        <p:nvSpPr>
          <p:cNvPr id="721029" name="Line 133"/>
          <p:cNvSpPr>
            <a:spLocks noChangeShapeType="1"/>
          </p:cNvSpPr>
          <p:nvPr/>
        </p:nvSpPr>
        <p:spPr bwMode="auto">
          <a:xfrm>
            <a:off x="228600" y="838200"/>
            <a:ext cx="0" cy="3505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30" name="Line 134"/>
          <p:cNvSpPr>
            <a:spLocks noChangeShapeType="1"/>
          </p:cNvSpPr>
          <p:nvPr/>
        </p:nvSpPr>
        <p:spPr bwMode="auto">
          <a:xfrm>
            <a:off x="7086600" y="8382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31" name="Line 135"/>
          <p:cNvSpPr>
            <a:spLocks noChangeShapeType="1"/>
          </p:cNvSpPr>
          <p:nvPr/>
        </p:nvSpPr>
        <p:spPr bwMode="auto">
          <a:xfrm>
            <a:off x="5181600" y="4953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32" name="Oval 136"/>
          <p:cNvSpPr>
            <a:spLocks noChangeArrowheads="1"/>
          </p:cNvSpPr>
          <p:nvPr/>
        </p:nvSpPr>
        <p:spPr bwMode="auto">
          <a:xfrm>
            <a:off x="2971800" y="1828800"/>
            <a:ext cx="762000" cy="12192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1033" name="Rectangle 137"/>
          <p:cNvSpPr>
            <a:spLocks noChangeArrowheads="1"/>
          </p:cNvSpPr>
          <p:nvPr/>
        </p:nvSpPr>
        <p:spPr bwMode="auto">
          <a:xfrm>
            <a:off x="3124200" y="2286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Unit</a:t>
            </a:r>
          </a:p>
        </p:txBody>
      </p:sp>
      <p:sp>
        <p:nvSpPr>
          <p:cNvPr id="721034" name="Line 138"/>
          <p:cNvSpPr>
            <a:spLocks noChangeShapeType="1"/>
          </p:cNvSpPr>
          <p:nvPr/>
        </p:nvSpPr>
        <p:spPr bwMode="auto">
          <a:xfrm>
            <a:off x="2667000" y="2514600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35" name="Line 139"/>
          <p:cNvSpPr>
            <a:spLocks noChangeShapeType="1"/>
          </p:cNvSpPr>
          <p:nvPr/>
        </p:nvSpPr>
        <p:spPr bwMode="auto">
          <a:xfrm>
            <a:off x="2667000" y="2514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36" name="Rectangle 140"/>
          <p:cNvSpPr>
            <a:spLocks noChangeArrowheads="1"/>
          </p:cNvSpPr>
          <p:nvPr/>
        </p:nvSpPr>
        <p:spPr bwMode="auto">
          <a:xfrm>
            <a:off x="2209800" y="2286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Instr[31-26]</a:t>
            </a:r>
          </a:p>
        </p:txBody>
      </p:sp>
      <p:sp>
        <p:nvSpPr>
          <p:cNvPr id="721037" name="AutoShape 141"/>
          <p:cNvSpPr>
            <a:spLocks noChangeArrowheads="1"/>
          </p:cNvSpPr>
          <p:nvPr/>
        </p:nvSpPr>
        <p:spPr bwMode="auto">
          <a:xfrm>
            <a:off x="6400800" y="1981200"/>
            <a:ext cx="304800" cy="304800"/>
          </a:xfrm>
          <a:prstGeom prst="flowChartDelay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1038" name="Line 142"/>
          <p:cNvSpPr>
            <a:spLocks noChangeShapeType="1"/>
          </p:cNvSpPr>
          <p:nvPr/>
        </p:nvSpPr>
        <p:spPr bwMode="auto">
          <a:xfrm>
            <a:off x="6705600" y="21336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39" name="Line 143"/>
          <p:cNvSpPr>
            <a:spLocks noChangeShapeType="1"/>
          </p:cNvSpPr>
          <p:nvPr/>
        </p:nvSpPr>
        <p:spPr bwMode="auto">
          <a:xfrm>
            <a:off x="6248400" y="22098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40" name="Line 144"/>
          <p:cNvSpPr>
            <a:spLocks noChangeShapeType="1"/>
          </p:cNvSpPr>
          <p:nvPr/>
        </p:nvSpPr>
        <p:spPr bwMode="auto">
          <a:xfrm>
            <a:off x="3733800" y="2209800"/>
            <a:ext cx="2438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41" name="Rectangle 145"/>
          <p:cNvSpPr>
            <a:spLocks noChangeArrowheads="1"/>
          </p:cNvSpPr>
          <p:nvPr/>
        </p:nvSpPr>
        <p:spPr bwMode="auto">
          <a:xfrm>
            <a:off x="3810000" y="1981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Branch</a:t>
            </a:r>
          </a:p>
        </p:txBody>
      </p:sp>
      <p:sp>
        <p:nvSpPr>
          <p:cNvPr id="721042" name="Line 146"/>
          <p:cNvSpPr>
            <a:spLocks noChangeShapeType="1"/>
          </p:cNvSpPr>
          <p:nvPr/>
        </p:nvSpPr>
        <p:spPr bwMode="auto">
          <a:xfrm>
            <a:off x="3733800" y="2362200"/>
            <a:ext cx="518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43" name="Line 147"/>
          <p:cNvSpPr>
            <a:spLocks noChangeShapeType="1"/>
          </p:cNvSpPr>
          <p:nvPr/>
        </p:nvSpPr>
        <p:spPr bwMode="auto">
          <a:xfrm>
            <a:off x="7543800" y="5334000"/>
            <a:ext cx="137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44" name="Line 148"/>
          <p:cNvSpPr>
            <a:spLocks noChangeShapeType="1"/>
          </p:cNvSpPr>
          <p:nvPr/>
        </p:nvSpPr>
        <p:spPr bwMode="auto">
          <a:xfrm>
            <a:off x="8915400" y="2362200"/>
            <a:ext cx="0" cy="2971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45" name="Line 149"/>
          <p:cNvSpPr>
            <a:spLocks noChangeShapeType="1"/>
          </p:cNvSpPr>
          <p:nvPr/>
        </p:nvSpPr>
        <p:spPr bwMode="auto">
          <a:xfrm>
            <a:off x="3733800" y="2514600"/>
            <a:ext cx="4953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46" name="Line 150"/>
          <p:cNvSpPr>
            <a:spLocks noChangeShapeType="1"/>
          </p:cNvSpPr>
          <p:nvPr/>
        </p:nvSpPr>
        <p:spPr bwMode="auto">
          <a:xfrm>
            <a:off x="3733800" y="2667000"/>
            <a:ext cx="3810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47" name="Line 151"/>
          <p:cNvSpPr>
            <a:spLocks noChangeShapeType="1"/>
          </p:cNvSpPr>
          <p:nvPr/>
        </p:nvSpPr>
        <p:spPr bwMode="auto">
          <a:xfrm>
            <a:off x="3581400" y="2971800"/>
            <a:ext cx="609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48" name="Line 152"/>
          <p:cNvSpPr>
            <a:spLocks noChangeShapeType="1"/>
          </p:cNvSpPr>
          <p:nvPr/>
        </p:nvSpPr>
        <p:spPr bwMode="auto">
          <a:xfrm>
            <a:off x="3657600" y="2819400"/>
            <a:ext cx="18288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49" name="Line 153"/>
          <p:cNvSpPr>
            <a:spLocks noChangeShapeType="1"/>
          </p:cNvSpPr>
          <p:nvPr/>
        </p:nvSpPr>
        <p:spPr bwMode="auto">
          <a:xfrm>
            <a:off x="5486400" y="2819400"/>
            <a:ext cx="0" cy="1676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50" name="Line 154"/>
          <p:cNvSpPr>
            <a:spLocks noChangeShapeType="1"/>
          </p:cNvSpPr>
          <p:nvPr/>
        </p:nvSpPr>
        <p:spPr bwMode="auto">
          <a:xfrm>
            <a:off x="2590800" y="6324600"/>
            <a:ext cx="3505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51" name="Line 155"/>
          <p:cNvSpPr>
            <a:spLocks noChangeShapeType="1"/>
          </p:cNvSpPr>
          <p:nvPr/>
        </p:nvSpPr>
        <p:spPr bwMode="auto">
          <a:xfrm>
            <a:off x="2590800" y="2133600"/>
            <a:ext cx="0" cy="419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52" name="Line 156"/>
          <p:cNvSpPr>
            <a:spLocks noChangeShapeType="1"/>
          </p:cNvSpPr>
          <p:nvPr/>
        </p:nvSpPr>
        <p:spPr bwMode="auto">
          <a:xfrm>
            <a:off x="2590800" y="213360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53" name="Line 157"/>
          <p:cNvSpPr>
            <a:spLocks noChangeShapeType="1"/>
          </p:cNvSpPr>
          <p:nvPr/>
        </p:nvSpPr>
        <p:spPr bwMode="auto">
          <a:xfrm>
            <a:off x="3657600" y="5562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54" name="Line 158"/>
          <p:cNvSpPr>
            <a:spLocks noChangeShapeType="1"/>
          </p:cNvSpPr>
          <p:nvPr/>
        </p:nvSpPr>
        <p:spPr bwMode="auto">
          <a:xfrm>
            <a:off x="5562600" y="5486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55" name="Line 159"/>
          <p:cNvSpPr>
            <a:spLocks noChangeShapeType="1"/>
          </p:cNvSpPr>
          <p:nvPr/>
        </p:nvSpPr>
        <p:spPr bwMode="auto">
          <a:xfrm>
            <a:off x="6172200" y="2057400"/>
            <a:ext cx="228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56" name="Line 160"/>
          <p:cNvSpPr>
            <a:spLocks noChangeShapeType="1"/>
          </p:cNvSpPr>
          <p:nvPr/>
        </p:nvSpPr>
        <p:spPr bwMode="auto">
          <a:xfrm flipV="1">
            <a:off x="6172200" y="2057400"/>
            <a:ext cx="0" cy="152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57" name="Line 161"/>
          <p:cNvSpPr>
            <a:spLocks noChangeShapeType="1"/>
          </p:cNvSpPr>
          <p:nvPr/>
        </p:nvSpPr>
        <p:spPr bwMode="auto">
          <a:xfrm>
            <a:off x="2133600" y="1447800"/>
            <a:ext cx="304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58" name="Line 162"/>
          <p:cNvSpPr>
            <a:spLocks noChangeShapeType="1"/>
          </p:cNvSpPr>
          <p:nvPr/>
        </p:nvSpPr>
        <p:spPr bwMode="auto">
          <a:xfrm>
            <a:off x="4953000" y="4572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59" name="Line 163"/>
          <p:cNvSpPr>
            <a:spLocks noChangeShapeType="1"/>
          </p:cNvSpPr>
          <p:nvPr/>
        </p:nvSpPr>
        <p:spPr bwMode="auto">
          <a:xfrm>
            <a:off x="6477000" y="38862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60" name="Line 164"/>
          <p:cNvSpPr>
            <a:spLocks noChangeShapeType="1"/>
          </p:cNvSpPr>
          <p:nvPr/>
        </p:nvSpPr>
        <p:spPr bwMode="auto">
          <a:xfrm>
            <a:off x="6477000" y="43434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1061" name="Line 165"/>
          <p:cNvSpPr>
            <a:spLocks noChangeShapeType="1"/>
          </p:cNvSpPr>
          <p:nvPr/>
        </p:nvSpPr>
        <p:spPr bwMode="auto">
          <a:xfrm>
            <a:off x="5181600" y="1905000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0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Main Control Unit</a:t>
            </a:r>
          </a:p>
        </p:txBody>
      </p:sp>
      <p:graphicFrame>
        <p:nvGraphicFramePr>
          <p:cNvPr id="723024" name="Group 80"/>
          <p:cNvGraphicFramePr>
            <a:graphicFrameLocks noGrp="1"/>
          </p:cNvGraphicFramePr>
          <p:nvPr/>
        </p:nvGraphicFramePr>
        <p:xfrm>
          <a:off x="609600" y="990600"/>
          <a:ext cx="7924800" cy="3764280"/>
        </p:xfrm>
        <a:graphic>
          <a:graphicData uri="http://schemas.openxmlformats.org/drawingml/2006/table">
            <a:tbl>
              <a:tblPr/>
              <a:tblGrid>
                <a:gridCol w="914400"/>
                <a:gridCol w="838200"/>
                <a:gridCol w="838200"/>
                <a:gridCol w="914400"/>
                <a:gridCol w="762000"/>
                <a:gridCol w="838200"/>
                <a:gridCol w="838200"/>
                <a:gridCol w="838200"/>
                <a:gridCol w="11430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Instr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RegDst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ALUSrc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MemReg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RegWr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MemRd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MemWr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Branch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ALUOp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R-type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lw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sw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beq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3017" name="Rectangle 73"/>
          <p:cNvSpPr>
            <a:spLocks noChangeArrowheads="1"/>
          </p:cNvSpPr>
          <p:nvPr/>
        </p:nvSpPr>
        <p:spPr bwMode="auto">
          <a:xfrm>
            <a:off x="381000" y="5029200"/>
            <a:ext cx="8305800" cy="1447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5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600">
                <a:solidFill>
                  <a:schemeClr val="tx1"/>
                </a:solidFill>
                <a:ea typeface="宋体" pitchFamily="2" charset="-122"/>
              </a:rPr>
              <a:t>Completely determined by the instruction opcode field</a:t>
            </a:r>
          </a:p>
          <a:p>
            <a:pPr marL="741363" lvl="1" indent="-246063">
              <a:lnSpc>
                <a:spcPct val="95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200">
                <a:solidFill>
                  <a:schemeClr val="tx1"/>
                </a:solidFill>
                <a:ea typeface="宋体" pitchFamily="2" charset="-122"/>
              </a:rPr>
              <a:t>Note that a multiplexor whose control input is 0 has a definite action, even if it is not used in performing the operation</a:t>
            </a:r>
          </a:p>
        </p:txBody>
      </p:sp>
    </p:spTree>
    <p:extLst>
      <p:ext uri="{BB962C8B-B14F-4D97-AF65-F5344CB8AC3E}">
        <p14:creationId xmlns:p14="http://schemas.microsoft.com/office/powerpoint/2010/main" val="1082856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 altLang="zh-CN">
                <a:ea typeface="宋体" pitchFamily="2" charset="-122"/>
              </a:rPr>
              <a:t>Adding the Control</a:t>
            </a:r>
          </a:p>
        </p:txBody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762000"/>
            <a:ext cx="8229600" cy="1905000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altLang="zh-CN">
                <a:ea typeface="宋体" pitchFamily="2" charset="-122"/>
              </a:rPr>
              <a:t>Selecting the operations to perform (ALU, Register File and Memory read/write)</a:t>
            </a:r>
          </a:p>
          <a:p>
            <a:pPr marL="342900" indent="-342900"/>
            <a:r>
              <a:rPr lang="en-US" altLang="zh-CN">
                <a:ea typeface="宋体" pitchFamily="2" charset="-122"/>
              </a:rPr>
              <a:t>Controlling the flow of data (multiplexor inputs)</a:t>
            </a:r>
          </a:p>
          <a:p>
            <a:pPr marL="342900" indent="-342900"/>
            <a:r>
              <a:rPr lang="en-US" altLang="zh-CN">
                <a:ea typeface="宋体" pitchFamily="2" charset="-122"/>
              </a:rPr>
              <a:t>Information comes from the 32 bits of the instruction</a:t>
            </a:r>
            <a:endParaRPr lang="en-US" altLang="zh-CN" b="1">
              <a:ea typeface="宋体" pitchFamily="2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0" y="3505200"/>
            <a:ext cx="5903913" cy="779463"/>
            <a:chOff x="699" y="1392"/>
            <a:chExt cx="3719" cy="491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832" y="1584"/>
              <a:ext cx="1520" cy="272"/>
              <a:chOff x="2552" y="1160"/>
              <a:chExt cx="1520" cy="272"/>
            </a:xfrm>
          </p:grpSpPr>
          <p:sp>
            <p:nvSpPr>
              <p:cNvPr id="707590" name="Line 6"/>
              <p:cNvSpPr>
                <a:spLocks noChangeShapeType="1"/>
              </p:cNvSpPr>
              <p:nvPr/>
            </p:nvSpPr>
            <p:spPr bwMode="auto">
              <a:xfrm>
                <a:off x="283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1" name="Line 7"/>
              <p:cNvSpPr>
                <a:spLocks noChangeShapeType="1"/>
              </p:cNvSpPr>
              <p:nvPr/>
            </p:nvSpPr>
            <p:spPr bwMode="auto">
              <a:xfrm>
                <a:off x="273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2" name="Line 8"/>
              <p:cNvSpPr>
                <a:spLocks noChangeShapeType="1"/>
              </p:cNvSpPr>
              <p:nvPr/>
            </p:nvSpPr>
            <p:spPr bwMode="auto">
              <a:xfrm>
                <a:off x="292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3" name="Line 9"/>
              <p:cNvSpPr>
                <a:spLocks noChangeShapeType="1"/>
              </p:cNvSpPr>
              <p:nvPr/>
            </p:nvSpPr>
            <p:spPr bwMode="auto">
              <a:xfrm>
                <a:off x="3024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4" name="Line 10"/>
              <p:cNvSpPr>
                <a:spLocks noChangeShapeType="1"/>
              </p:cNvSpPr>
              <p:nvPr/>
            </p:nvSpPr>
            <p:spPr bwMode="auto">
              <a:xfrm>
                <a:off x="331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5" name="Line 11"/>
              <p:cNvSpPr>
                <a:spLocks noChangeShapeType="1"/>
              </p:cNvSpPr>
              <p:nvPr/>
            </p:nvSpPr>
            <p:spPr bwMode="auto">
              <a:xfrm>
                <a:off x="321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6" name="Line 12"/>
              <p:cNvSpPr>
                <a:spLocks noChangeShapeType="1"/>
              </p:cNvSpPr>
              <p:nvPr/>
            </p:nvSpPr>
            <p:spPr bwMode="auto">
              <a:xfrm>
                <a:off x="340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7" name="Line 13"/>
              <p:cNvSpPr>
                <a:spLocks noChangeShapeType="1"/>
              </p:cNvSpPr>
              <p:nvPr/>
            </p:nvSpPr>
            <p:spPr bwMode="auto">
              <a:xfrm>
                <a:off x="3504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8" name="Line 14"/>
              <p:cNvSpPr>
                <a:spLocks noChangeShapeType="1"/>
              </p:cNvSpPr>
              <p:nvPr/>
            </p:nvSpPr>
            <p:spPr bwMode="auto">
              <a:xfrm>
                <a:off x="379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599" name="Line 15"/>
              <p:cNvSpPr>
                <a:spLocks noChangeShapeType="1"/>
              </p:cNvSpPr>
              <p:nvPr/>
            </p:nvSpPr>
            <p:spPr bwMode="auto">
              <a:xfrm>
                <a:off x="369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00" name="Line 16"/>
              <p:cNvSpPr>
                <a:spLocks noChangeShapeType="1"/>
              </p:cNvSpPr>
              <p:nvPr/>
            </p:nvSpPr>
            <p:spPr bwMode="auto">
              <a:xfrm>
                <a:off x="388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01" name="Line 17"/>
              <p:cNvSpPr>
                <a:spLocks noChangeShapeType="1"/>
              </p:cNvSpPr>
              <p:nvPr/>
            </p:nvSpPr>
            <p:spPr bwMode="auto">
              <a:xfrm>
                <a:off x="3984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02" name="Rectangle 18"/>
              <p:cNvSpPr>
                <a:spLocks noChangeArrowheads="1"/>
              </p:cNvSpPr>
              <p:nvPr/>
            </p:nvSpPr>
            <p:spPr bwMode="auto">
              <a:xfrm>
                <a:off x="2552" y="1160"/>
                <a:ext cx="1520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03" name="Line 19"/>
              <p:cNvSpPr>
                <a:spLocks noChangeShapeType="1"/>
              </p:cNvSpPr>
              <p:nvPr/>
            </p:nvSpPr>
            <p:spPr bwMode="auto">
              <a:xfrm>
                <a:off x="264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04" name="Line 20"/>
              <p:cNvSpPr>
                <a:spLocks noChangeShapeType="1"/>
              </p:cNvSpPr>
              <p:nvPr/>
            </p:nvSpPr>
            <p:spPr bwMode="auto">
              <a:xfrm>
                <a:off x="312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05" name="Line 21"/>
              <p:cNvSpPr>
                <a:spLocks noChangeShapeType="1"/>
              </p:cNvSpPr>
              <p:nvPr/>
            </p:nvSpPr>
            <p:spPr bwMode="auto">
              <a:xfrm>
                <a:off x="360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07606" name="Rectangle 22"/>
            <p:cNvSpPr>
              <a:spLocks noChangeArrowheads="1"/>
            </p:cNvSpPr>
            <p:nvPr/>
          </p:nvSpPr>
          <p:spPr bwMode="auto">
            <a:xfrm>
              <a:off x="1296" y="1584"/>
              <a:ext cx="560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07" name="Line 23"/>
            <p:cNvSpPr>
              <a:spLocks noChangeShapeType="1"/>
            </p:cNvSpPr>
            <p:nvPr/>
          </p:nvSpPr>
          <p:spPr bwMode="auto">
            <a:xfrm>
              <a:off x="1672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08" name="Line 24"/>
            <p:cNvSpPr>
              <a:spLocks noChangeShapeType="1"/>
            </p:cNvSpPr>
            <p:nvPr/>
          </p:nvSpPr>
          <p:spPr bwMode="auto">
            <a:xfrm>
              <a:off x="1576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09" name="Line 25"/>
            <p:cNvSpPr>
              <a:spLocks noChangeShapeType="1"/>
            </p:cNvSpPr>
            <p:nvPr/>
          </p:nvSpPr>
          <p:spPr bwMode="auto">
            <a:xfrm>
              <a:off x="1768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10" name="Line 26"/>
            <p:cNvSpPr>
              <a:spLocks noChangeShapeType="1"/>
            </p:cNvSpPr>
            <p:nvPr/>
          </p:nvSpPr>
          <p:spPr bwMode="auto">
            <a:xfrm>
              <a:off x="1480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11" name="Line 27"/>
            <p:cNvSpPr>
              <a:spLocks noChangeShapeType="1"/>
            </p:cNvSpPr>
            <p:nvPr/>
          </p:nvSpPr>
          <p:spPr bwMode="auto">
            <a:xfrm>
              <a:off x="1384" y="1584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1872" y="1584"/>
              <a:ext cx="464" cy="272"/>
              <a:chOff x="1592" y="1160"/>
              <a:chExt cx="464" cy="272"/>
            </a:xfrm>
          </p:grpSpPr>
          <p:sp>
            <p:nvSpPr>
              <p:cNvPr id="707613" name="Rectangle 29"/>
              <p:cNvSpPr>
                <a:spLocks noChangeArrowheads="1"/>
              </p:cNvSpPr>
              <p:nvPr/>
            </p:nvSpPr>
            <p:spPr bwMode="auto">
              <a:xfrm>
                <a:off x="1592" y="1160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14" name="Line 30"/>
              <p:cNvSpPr>
                <a:spLocks noChangeShapeType="1"/>
              </p:cNvSpPr>
              <p:nvPr/>
            </p:nvSpPr>
            <p:spPr bwMode="auto">
              <a:xfrm>
                <a:off x="177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15" name="Line 31"/>
              <p:cNvSpPr>
                <a:spLocks noChangeShapeType="1"/>
              </p:cNvSpPr>
              <p:nvPr/>
            </p:nvSpPr>
            <p:spPr bwMode="auto">
              <a:xfrm>
                <a:off x="168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16" name="Line 32"/>
              <p:cNvSpPr>
                <a:spLocks noChangeShapeType="1"/>
              </p:cNvSpPr>
              <p:nvPr/>
            </p:nvSpPr>
            <p:spPr bwMode="auto">
              <a:xfrm>
                <a:off x="187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17" name="Line 33"/>
              <p:cNvSpPr>
                <a:spLocks noChangeShapeType="1"/>
              </p:cNvSpPr>
              <p:nvPr/>
            </p:nvSpPr>
            <p:spPr bwMode="auto">
              <a:xfrm>
                <a:off x="196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34"/>
            <p:cNvGrpSpPr>
              <a:grpSpLocks/>
            </p:cNvGrpSpPr>
            <p:nvPr/>
          </p:nvGrpSpPr>
          <p:grpSpPr bwMode="auto">
            <a:xfrm>
              <a:off x="2352" y="1584"/>
              <a:ext cx="464" cy="272"/>
              <a:chOff x="2072" y="1160"/>
              <a:chExt cx="464" cy="272"/>
            </a:xfrm>
          </p:grpSpPr>
          <p:sp>
            <p:nvSpPr>
              <p:cNvPr id="707619" name="Rectangle 35"/>
              <p:cNvSpPr>
                <a:spLocks noChangeArrowheads="1"/>
              </p:cNvSpPr>
              <p:nvPr/>
            </p:nvSpPr>
            <p:spPr bwMode="auto">
              <a:xfrm>
                <a:off x="2072" y="1160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20" name="Line 36"/>
              <p:cNvSpPr>
                <a:spLocks noChangeShapeType="1"/>
              </p:cNvSpPr>
              <p:nvPr/>
            </p:nvSpPr>
            <p:spPr bwMode="auto">
              <a:xfrm>
                <a:off x="2256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21" name="Line 37"/>
              <p:cNvSpPr>
                <a:spLocks noChangeShapeType="1"/>
              </p:cNvSpPr>
              <p:nvPr/>
            </p:nvSpPr>
            <p:spPr bwMode="auto">
              <a:xfrm>
                <a:off x="2160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22" name="Line 38"/>
              <p:cNvSpPr>
                <a:spLocks noChangeShapeType="1"/>
              </p:cNvSpPr>
              <p:nvPr/>
            </p:nvSpPr>
            <p:spPr bwMode="auto">
              <a:xfrm>
                <a:off x="2352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23" name="Line 39"/>
              <p:cNvSpPr>
                <a:spLocks noChangeShapeType="1"/>
              </p:cNvSpPr>
              <p:nvPr/>
            </p:nvSpPr>
            <p:spPr bwMode="auto">
              <a:xfrm>
                <a:off x="2448" y="1160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07624" name="Rectangle 40"/>
            <p:cNvSpPr>
              <a:spLocks noChangeArrowheads="1"/>
            </p:cNvSpPr>
            <p:nvPr/>
          </p:nvSpPr>
          <p:spPr bwMode="auto">
            <a:xfrm>
              <a:off x="699" y="1606"/>
              <a:ext cx="58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I-Type: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25" name="Rectangle 41"/>
            <p:cNvSpPr>
              <a:spLocks noChangeArrowheads="1"/>
            </p:cNvSpPr>
            <p:nvPr/>
          </p:nvSpPr>
          <p:spPr bwMode="auto">
            <a:xfrm>
              <a:off x="1323" y="1654"/>
              <a:ext cx="29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op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26" name="Rectangle 42"/>
            <p:cNvSpPr>
              <a:spLocks noChangeArrowheads="1"/>
            </p:cNvSpPr>
            <p:nvPr/>
          </p:nvSpPr>
          <p:spPr bwMode="auto">
            <a:xfrm>
              <a:off x="1899" y="1654"/>
              <a:ext cx="2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rs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27" name="Rectangle 43"/>
            <p:cNvSpPr>
              <a:spLocks noChangeArrowheads="1"/>
            </p:cNvSpPr>
            <p:nvPr/>
          </p:nvSpPr>
          <p:spPr bwMode="auto">
            <a:xfrm>
              <a:off x="2379" y="1654"/>
              <a:ext cx="21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rt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28" name="Rectangle 44"/>
            <p:cNvSpPr>
              <a:spLocks noChangeArrowheads="1"/>
            </p:cNvSpPr>
            <p:nvPr/>
          </p:nvSpPr>
          <p:spPr bwMode="auto">
            <a:xfrm>
              <a:off x="3024" y="1632"/>
              <a:ext cx="109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address offset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29" name="Rectangle 45"/>
            <p:cNvSpPr>
              <a:spLocks noChangeArrowheads="1"/>
            </p:cNvSpPr>
            <p:nvPr/>
          </p:nvSpPr>
          <p:spPr bwMode="auto">
            <a:xfrm>
              <a:off x="1200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31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30" name="Rectangle 46"/>
            <p:cNvSpPr>
              <a:spLocks noChangeArrowheads="1"/>
            </p:cNvSpPr>
            <p:nvPr/>
          </p:nvSpPr>
          <p:spPr bwMode="auto">
            <a:xfrm>
              <a:off x="1776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25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31" name="Rectangle 47"/>
            <p:cNvSpPr>
              <a:spLocks noChangeArrowheads="1"/>
            </p:cNvSpPr>
            <p:nvPr/>
          </p:nvSpPr>
          <p:spPr bwMode="auto">
            <a:xfrm>
              <a:off x="2256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20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32" name="Rectangle 48"/>
            <p:cNvSpPr>
              <a:spLocks noChangeArrowheads="1"/>
            </p:cNvSpPr>
            <p:nvPr/>
          </p:nvSpPr>
          <p:spPr bwMode="auto">
            <a:xfrm>
              <a:off x="2736" y="139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15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33" name="Rectangle 49"/>
            <p:cNvSpPr>
              <a:spLocks noChangeArrowheads="1"/>
            </p:cNvSpPr>
            <p:nvPr/>
          </p:nvSpPr>
          <p:spPr bwMode="auto">
            <a:xfrm>
              <a:off x="4224" y="139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0</a:t>
              </a:r>
              <a:endParaRPr lang="en-US" altLang="zh-CN">
                <a:ea typeface="宋体" pitchFamily="2" charset="-122"/>
              </a:endParaRPr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3048000" y="2514600"/>
            <a:ext cx="5870575" cy="820738"/>
            <a:chOff x="720" y="672"/>
            <a:chExt cx="3698" cy="517"/>
          </a:xfrm>
        </p:grpSpPr>
        <p:sp>
          <p:nvSpPr>
            <p:cNvPr id="707635" name="Rectangle 51"/>
            <p:cNvSpPr>
              <a:spLocks noChangeArrowheads="1"/>
            </p:cNvSpPr>
            <p:nvPr/>
          </p:nvSpPr>
          <p:spPr bwMode="auto">
            <a:xfrm>
              <a:off x="720" y="912"/>
              <a:ext cx="61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R-type:</a:t>
              </a: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7" name="Group 52"/>
            <p:cNvGrpSpPr>
              <a:grpSpLocks/>
            </p:cNvGrpSpPr>
            <p:nvPr/>
          </p:nvGrpSpPr>
          <p:grpSpPr bwMode="auto">
            <a:xfrm>
              <a:off x="1317" y="890"/>
              <a:ext cx="560" cy="272"/>
              <a:chOff x="1016" y="728"/>
              <a:chExt cx="560" cy="272"/>
            </a:xfrm>
          </p:grpSpPr>
          <p:sp>
            <p:nvSpPr>
              <p:cNvPr id="707637" name="Rectangle 53"/>
              <p:cNvSpPr>
                <a:spLocks noChangeArrowheads="1"/>
              </p:cNvSpPr>
              <p:nvPr/>
            </p:nvSpPr>
            <p:spPr bwMode="auto">
              <a:xfrm>
                <a:off x="1016" y="728"/>
                <a:ext cx="560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38" name="Line 54"/>
              <p:cNvSpPr>
                <a:spLocks noChangeShapeType="1"/>
              </p:cNvSpPr>
              <p:nvPr/>
            </p:nvSpPr>
            <p:spPr bwMode="auto">
              <a:xfrm>
                <a:off x="1392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39" name="Line 55"/>
              <p:cNvSpPr>
                <a:spLocks noChangeShapeType="1"/>
              </p:cNvSpPr>
              <p:nvPr/>
            </p:nvSpPr>
            <p:spPr bwMode="auto">
              <a:xfrm>
                <a:off x="1296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0" name="Line 56"/>
              <p:cNvSpPr>
                <a:spLocks noChangeShapeType="1"/>
              </p:cNvSpPr>
              <p:nvPr/>
            </p:nvSpPr>
            <p:spPr bwMode="auto">
              <a:xfrm>
                <a:off x="1488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1" name="Line 57"/>
              <p:cNvSpPr>
                <a:spLocks noChangeShapeType="1"/>
              </p:cNvSpPr>
              <p:nvPr/>
            </p:nvSpPr>
            <p:spPr bwMode="auto">
              <a:xfrm>
                <a:off x="1200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2" name="Line 58"/>
              <p:cNvSpPr>
                <a:spLocks noChangeShapeType="1"/>
              </p:cNvSpPr>
              <p:nvPr/>
            </p:nvSpPr>
            <p:spPr bwMode="auto">
              <a:xfrm>
                <a:off x="1104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59"/>
            <p:cNvGrpSpPr>
              <a:grpSpLocks/>
            </p:cNvGrpSpPr>
            <p:nvPr/>
          </p:nvGrpSpPr>
          <p:grpSpPr bwMode="auto">
            <a:xfrm>
              <a:off x="1893" y="890"/>
              <a:ext cx="464" cy="272"/>
              <a:chOff x="1592" y="728"/>
              <a:chExt cx="464" cy="272"/>
            </a:xfrm>
          </p:grpSpPr>
          <p:sp>
            <p:nvSpPr>
              <p:cNvPr id="707644" name="Rectangle 60"/>
              <p:cNvSpPr>
                <a:spLocks noChangeArrowheads="1"/>
              </p:cNvSpPr>
              <p:nvPr/>
            </p:nvSpPr>
            <p:spPr bwMode="auto">
              <a:xfrm>
                <a:off x="1592" y="728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5" name="Line 61"/>
              <p:cNvSpPr>
                <a:spLocks noChangeShapeType="1"/>
              </p:cNvSpPr>
              <p:nvPr/>
            </p:nvSpPr>
            <p:spPr bwMode="auto">
              <a:xfrm>
                <a:off x="1776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6" name="Line 62"/>
              <p:cNvSpPr>
                <a:spLocks noChangeShapeType="1"/>
              </p:cNvSpPr>
              <p:nvPr/>
            </p:nvSpPr>
            <p:spPr bwMode="auto">
              <a:xfrm>
                <a:off x="1680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7" name="Line 63"/>
              <p:cNvSpPr>
                <a:spLocks noChangeShapeType="1"/>
              </p:cNvSpPr>
              <p:nvPr/>
            </p:nvSpPr>
            <p:spPr bwMode="auto">
              <a:xfrm>
                <a:off x="1872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48" name="Line 64"/>
              <p:cNvSpPr>
                <a:spLocks noChangeShapeType="1"/>
              </p:cNvSpPr>
              <p:nvPr/>
            </p:nvSpPr>
            <p:spPr bwMode="auto">
              <a:xfrm>
                <a:off x="1968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65"/>
            <p:cNvGrpSpPr>
              <a:grpSpLocks/>
            </p:cNvGrpSpPr>
            <p:nvPr/>
          </p:nvGrpSpPr>
          <p:grpSpPr bwMode="auto">
            <a:xfrm>
              <a:off x="2373" y="890"/>
              <a:ext cx="464" cy="272"/>
              <a:chOff x="2072" y="728"/>
              <a:chExt cx="464" cy="272"/>
            </a:xfrm>
          </p:grpSpPr>
          <p:sp>
            <p:nvSpPr>
              <p:cNvPr id="707650" name="Rectangle 66"/>
              <p:cNvSpPr>
                <a:spLocks noChangeArrowheads="1"/>
              </p:cNvSpPr>
              <p:nvPr/>
            </p:nvSpPr>
            <p:spPr bwMode="auto">
              <a:xfrm>
                <a:off x="2072" y="728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1" name="Line 67"/>
              <p:cNvSpPr>
                <a:spLocks noChangeShapeType="1"/>
              </p:cNvSpPr>
              <p:nvPr/>
            </p:nvSpPr>
            <p:spPr bwMode="auto">
              <a:xfrm>
                <a:off x="2256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2" name="Line 68"/>
              <p:cNvSpPr>
                <a:spLocks noChangeShapeType="1"/>
              </p:cNvSpPr>
              <p:nvPr/>
            </p:nvSpPr>
            <p:spPr bwMode="auto">
              <a:xfrm>
                <a:off x="2160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3" name="Line 69"/>
              <p:cNvSpPr>
                <a:spLocks noChangeShapeType="1"/>
              </p:cNvSpPr>
              <p:nvPr/>
            </p:nvSpPr>
            <p:spPr bwMode="auto">
              <a:xfrm>
                <a:off x="2352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4" name="Line 70"/>
              <p:cNvSpPr>
                <a:spLocks noChangeShapeType="1"/>
              </p:cNvSpPr>
              <p:nvPr/>
            </p:nvSpPr>
            <p:spPr bwMode="auto">
              <a:xfrm>
                <a:off x="2448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71"/>
            <p:cNvGrpSpPr>
              <a:grpSpLocks/>
            </p:cNvGrpSpPr>
            <p:nvPr/>
          </p:nvGrpSpPr>
          <p:grpSpPr bwMode="auto">
            <a:xfrm>
              <a:off x="2853" y="890"/>
              <a:ext cx="464" cy="272"/>
              <a:chOff x="2552" y="728"/>
              <a:chExt cx="464" cy="272"/>
            </a:xfrm>
          </p:grpSpPr>
          <p:sp>
            <p:nvSpPr>
              <p:cNvPr id="707656" name="Rectangle 72"/>
              <p:cNvSpPr>
                <a:spLocks noChangeArrowheads="1"/>
              </p:cNvSpPr>
              <p:nvPr/>
            </p:nvSpPr>
            <p:spPr bwMode="auto">
              <a:xfrm>
                <a:off x="2552" y="728"/>
                <a:ext cx="464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7" name="Line 73"/>
              <p:cNvSpPr>
                <a:spLocks noChangeShapeType="1"/>
              </p:cNvSpPr>
              <p:nvPr/>
            </p:nvSpPr>
            <p:spPr bwMode="auto">
              <a:xfrm>
                <a:off x="2736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8" name="Line 74"/>
              <p:cNvSpPr>
                <a:spLocks noChangeShapeType="1"/>
              </p:cNvSpPr>
              <p:nvPr/>
            </p:nvSpPr>
            <p:spPr bwMode="auto">
              <a:xfrm>
                <a:off x="2640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59" name="Line 75"/>
              <p:cNvSpPr>
                <a:spLocks noChangeShapeType="1"/>
              </p:cNvSpPr>
              <p:nvPr/>
            </p:nvSpPr>
            <p:spPr bwMode="auto">
              <a:xfrm>
                <a:off x="2832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660" name="Line 76"/>
              <p:cNvSpPr>
                <a:spLocks noChangeShapeType="1"/>
              </p:cNvSpPr>
              <p:nvPr/>
            </p:nvSpPr>
            <p:spPr bwMode="auto">
              <a:xfrm>
                <a:off x="2928" y="728"/>
                <a:ext cx="0" cy="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07661" name="Rectangle 77"/>
            <p:cNvSpPr>
              <a:spLocks noChangeArrowheads="1"/>
            </p:cNvSpPr>
            <p:nvPr/>
          </p:nvSpPr>
          <p:spPr bwMode="auto">
            <a:xfrm>
              <a:off x="3333" y="890"/>
              <a:ext cx="464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2" name="Rectangle 78"/>
            <p:cNvSpPr>
              <a:spLocks noChangeArrowheads="1"/>
            </p:cNvSpPr>
            <p:nvPr/>
          </p:nvSpPr>
          <p:spPr bwMode="auto">
            <a:xfrm>
              <a:off x="3813" y="890"/>
              <a:ext cx="560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3" name="Line 79"/>
            <p:cNvSpPr>
              <a:spLocks noChangeShapeType="1"/>
            </p:cNvSpPr>
            <p:nvPr/>
          </p:nvSpPr>
          <p:spPr bwMode="auto">
            <a:xfrm>
              <a:off x="4189" y="890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4" name="Line 80"/>
            <p:cNvSpPr>
              <a:spLocks noChangeShapeType="1"/>
            </p:cNvSpPr>
            <p:nvPr/>
          </p:nvSpPr>
          <p:spPr bwMode="auto">
            <a:xfrm>
              <a:off x="4093" y="890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5" name="Line 81"/>
            <p:cNvSpPr>
              <a:spLocks noChangeShapeType="1"/>
            </p:cNvSpPr>
            <p:nvPr/>
          </p:nvSpPr>
          <p:spPr bwMode="auto">
            <a:xfrm>
              <a:off x="3408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6" name="Line 82"/>
            <p:cNvSpPr>
              <a:spLocks noChangeShapeType="1"/>
            </p:cNvSpPr>
            <p:nvPr/>
          </p:nvSpPr>
          <p:spPr bwMode="auto">
            <a:xfrm>
              <a:off x="3997" y="890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7" name="Line 83"/>
            <p:cNvSpPr>
              <a:spLocks noChangeShapeType="1"/>
            </p:cNvSpPr>
            <p:nvPr/>
          </p:nvSpPr>
          <p:spPr bwMode="auto">
            <a:xfrm>
              <a:off x="3901" y="890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68" name="Rectangle 84"/>
            <p:cNvSpPr>
              <a:spLocks noChangeArrowheads="1"/>
            </p:cNvSpPr>
            <p:nvPr/>
          </p:nvSpPr>
          <p:spPr bwMode="auto">
            <a:xfrm>
              <a:off x="1248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31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69" name="Rectangle 85"/>
            <p:cNvSpPr>
              <a:spLocks noChangeArrowheads="1"/>
            </p:cNvSpPr>
            <p:nvPr/>
          </p:nvSpPr>
          <p:spPr bwMode="auto">
            <a:xfrm>
              <a:off x="1824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25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0" name="Rectangle 86"/>
            <p:cNvSpPr>
              <a:spLocks noChangeArrowheads="1"/>
            </p:cNvSpPr>
            <p:nvPr/>
          </p:nvSpPr>
          <p:spPr bwMode="auto">
            <a:xfrm>
              <a:off x="2304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20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1" name="Rectangle 87"/>
            <p:cNvSpPr>
              <a:spLocks noChangeArrowheads="1"/>
            </p:cNvSpPr>
            <p:nvPr/>
          </p:nvSpPr>
          <p:spPr bwMode="auto">
            <a:xfrm>
              <a:off x="2784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15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2" name="Rectangle 88"/>
            <p:cNvSpPr>
              <a:spLocks noChangeArrowheads="1"/>
            </p:cNvSpPr>
            <p:nvPr/>
          </p:nvSpPr>
          <p:spPr bwMode="auto">
            <a:xfrm>
              <a:off x="3744" y="67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5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3" name="Rectangle 89"/>
            <p:cNvSpPr>
              <a:spLocks noChangeArrowheads="1"/>
            </p:cNvSpPr>
            <p:nvPr/>
          </p:nvSpPr>
          <p:spPr bwMode="auto">
            <a:xfrm>
              <a:off x="4224" y="67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0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4" name="Rectangle 90"/>
            <p:cNvSpPr>
              <a:spLocks noChangeArrowheads="1"/>
            </p:cNvSpPr>
            <p:nvPr/>
          </p:nvSpPr>
          <p:spPr bwMode="auto">
            <a:xfrm>
              <a:off x="1344" y="960"/>
              <a:ext cx="29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op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5" name="Rectangle 91"/>
            <p:cNvSpPr>
              <a:spLocks noChangeArrowheads="1"/>
            </p:cNvSpPr>
            <p:nvPr/>
          </p:nvSpPr>
          <p:spPr bwMode="auto">
            <a:xfrm>
              <a:off x="1920" y="960"/>
              <a:ext cx="2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rs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6" name="Rectangle 92"/>
            <p:cNvSpPr>
              <a:spLocks noChangeArrowheads="1"/>
            </p:cNvSpPr>
            <p:nvPr/>
          </p:nvSpPr>
          <p:spPr bwMode="auto">
            <a:xfrm>
              <a:off x="2400" y="960"/>
              <a:ext cx="21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rt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7" name="Rectangle 93"/>
            <p:cNvSpPr>
              <a:spLocks noChangeArrowheads="1"/>
            </p:cNvSpPr>
            <p:nvPr/>
          </p:nvSpPr>
          <p:spPr bwMode="auto">
            <a:xfrm>
              <a:off x="2832" y="960"/>
              <a:ext cx="2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rd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8" name="Rectangle 94"/>
            <p:cNvSpPr>
              <a:spLocks noChangeArrowheads="1"/>
            </p:cNvSpPr>
            <p:nvPr/>
          </p:nvSpPr>
          <p:spPr bwMode="auto">
            <a:xfrm>
              <a:off x="3840" y="960"/>
              <a:ext cx="46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funct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79" name="Rectangle 95"/>
            <p:cNvSpPr>
              <a:spLocks noChangeArrowheads="1"/>
            </p:cNvSpPr>
            <p:nvPr/>
          </p:nvSpPr>
          <p:spPr bwMode="auto">
            <a:xfrm>
              <a:off x="3312" y="960"/>
              <a:ext cx="53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1">
                  <a:ea typeface="宋体" pitchFamily="2" charset="-122"/>
                </a:rPr>
                <a:t>shamt</a:t>
              </a: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707680" name="Line 96"/>
            <p:cNvSpPr>
              <a:spLocks noChangeShapeType="1"/>
            </p:cNvSpPr>
            <p:nvPr/>
          </p:nvSpPr>
          <p:spPr bwMode="auto">
            <a:xfrm>
              <a:off x="3504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81" name="Line 97"/>
            <p:cNvSpPr>
              <a:spLocks noChangeShapeType="1"/>
            </p:cNvSpPr>
            <p:nvPr/>
          </p:nvSpPr>
          <p:spPr bwMode="auto">
            <a:xfrm>
              <a:off x="3600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82" name="Line 98"/>
            <p:cNvSpPr>
              <a:spLocks noChangeShapeType="1"/>
            </p:cNvSpPr>
            <p:nvPr/>
          </p:nvSpPr>
          <p:spPr bwMode="auto">
            <a:xfrm>
              <a:off x="3696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83" name="Line 99"/>
            <p:cNvSpPr>
              <a:spLocks noChangeShapeType="1"/>
            </p:cNvSpPr>
            <p:nvPr/>
          </p:nvSpPr>
          <p:spPr bwMode="auto">
            <a:xfrm>
              <a:off x="4272" y="912"/>
              <a:ext cx="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84" name="Rectangle 100"/>
            <p:cNvSpPr>
              <a:spLocks noChangeArrowheads="1"/>
            </p:cNvSpPr>
            <p:nvPr/>
          </p:nvSpPr>
          <p:spPr bwMode="auto">
            <a:xfrm>
              <a:off x="3264" y="672"/>
              <a:ext cx="27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10</a:t>
              </a:r>
              <a:endParaRPr lang="en-US" altLang="zh-CN">
                <a:ea typeface="宋体" pitchFamily="2" charset="-122"/>
              </a:endParaRPr>
            </a:p>
          </p:txBody>
        </p:sp>
      </p:grpSp>
      <p:sp>
        <p:nvSpPr>
          <p:cNvPr id="707685" name="Rectangle 101"/>
          <p:cNvSpPr>
            <a:spLocks noChangeArrowheads="1"/>
          </p:cNvSpPr>
          <p:nvPr/>
        </p:nvSpPr>
        <p:spPr bwMode="auto">
          <a:xfrm>
            <a:off x="609600" y="2895600"/>
            <a:ext cx="7772400" cy="34559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600">
                <a:solidFill>
                  <a:schemeClr val="tx1"/>
                </a:solidFill>
                <a:ea typeface="宋体" pitchFamily="2" charset="-122"/>
              </a:rPr>
              <a:t>Observations</a:t>
            </a:r>
          </a:p>
          <a:p>
            <a:pPr marL="741363" lvl="1" indent="-246063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op field always                                                                                   in bits 31-26</a:t>
            </a:r>
          </a:p>
          <a:p>
            <a:pPr marL="741363" lvl="1" indent="-246063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addr of two                                                                                registers to be                                                                                read are </a:t>
            </a:r>
            <a:r>
              <a:rPr lang="en-US" altLang="zh-CN" sz="2000">
                <a:ea typeface="宋体" pitchFamily="2" charset="-122"/>
              </a:rPr>
              <a:t>always</a:t>
            </a: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 specified by the                                                                                  rs and rt fields (bits 25-21 and 20-16)</a:t>
            </a:r>
          </a:p>
          <a:p>
            <a:pPr marL="741363" lvl="1" indent="-246063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base register for lw and sw always in rs (bits 25-21) </a:t>
            </a:r>
          </a:p>
          <a:p>
            <a:pPr marL="741363" lvl="1" indent="-246063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addr. of register to be written is in one of </a:t>
            </a:r>
            <a:r>
              <a:rPr lang="en-US" altLang="zh-CN" sz="2000">
                <a:ea typeface="宋体" pitchFamily="2" charset="-122"/>
              </a:rPr>
              <a:t>two</a:t>
            </a: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 places – in rt (bits 20-16) for lw; in rd (bits 15-11) for R-type instructions</a:t>
            </a:r>
          </a:p>
          <a:p>
            <a:pPr marL="741363" lvl="1" indent="-246063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offset for beq, lw, and sw always in bits 15-0</a:t>
            </a:r>
          </a:p>
        </p:txBody>
      </p:sp>
    </p:spTree>
    <p:extLst>
      <p:ext uri="{BB962C8B-B14F-4D97-AF65-F5344CB8AC3E}">
        <p14:creationId xmlns:p14="http://schemas.microsoft.com/office/powerpoint/2010/main" val="1234455112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685" grpId="0" build="p" bldLvl="2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R-type Instruction Data/Control Flow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52600" y="914400"/>
            <a:ext cx="381000" cy="990600"/>
            <a:chOff x="1392" y="2880"/>
            <a:chExt cx="288" cy="480"/>
          </a:xfrm>
        </p:grpSpPr>
        <p:sp>
          <p:nvSpPr>
            <p:cNvPr id="724996" name="Line 4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4997" name="Line 5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4998" name="Line 6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4999" name="Line 7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000" name="Line 8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001" name="Line 9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002" name="Line 10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5003" name="Rectangle 11"/>
          <p:cNvSpPr>
            <a:spLocks noChangeArrowheads="1"/>
          </p:cNvSpPr>
          <p:nvPr/>
        </p:nvSpPr>
        <p:spPr bwMode="auto">
          <a:xfrm>
            <a:off x="1052513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004" name="Rectangle 12"/>
          <p:cNvSpPr>
            <a:spLocks noChangeArrowheads="1"/>
          </p:cNvSpPr>
          <p:nvPr/>
        </p:nvSpPr>
        <p:spPr bwMode="auto">
          <a:xfrm>
            <a:off x="519113" y="3962400"/>
            <a:ext cx="2286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005" name="Line 13"/>
          <p:cNvSpPr>
            <a:spLocks noChangeShapeType="1"/>
          </p:cNvSpPr>
          <p:nvPr/>
        </p:nvSpPr>
        <p:spPr bwMode="auto">
          <a:xfrm>
            <a:off x="747713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06" name="Line 14"/>
          <p:cNvSpPr>
            <a:spLocks noChangeShapeType="1"/>
          </p:cNvSpPr>
          <p:nvPr/>
        </p:nvSpPr>
        <p:spPr bwMode="auto">
          <a:xfrm>
            <a:off x="838200" y="1066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07" name="Line 15"/>
          <p:cNvSpPr>
            <a:spLocks noChangeShapeType="1"/>
          </p:cNvSpPr>
          <p:nvPr/>
        </p:nvSpPr>
        <p:spPr bwMode="auto">
          <a:xfrm>
            <a:off x="1371600" y="175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08" name="Text Box 16"/>
          <p:cNvSpPr txBox="1">
            <a:spLocks noChangeArrowheads="1"/>
          </p:cNvSpPr>
          <p:nvPr/>
        </p:nvSpPr>
        <p:spPr bwMode="auto">
          <a:xfrm>
            <a:off x="976313" y="4114800"/>
            <a:ext cx="74136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25009" name="Text Box 17"/>
          <p:cNvSpPr txBox="1">
            <a:spLocks noChangeArrowheads="1"/>
          </p:cNvSpPr>
          <p:nvPr/>
        </p:nvSpPr>
        <p:spPr bwMode="auto">
          <a:xfrm>
            <a:off x="1738313" y="4191000"/>
            <a:ext cx="8699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Instr[31-0]</a:t>
            </a:r>
          </a:p>
        </p:txBody>
      </p:sp>
      <p:sp>
        <p:nvSpPr>
          <p:cNvPr id="725010" name="Text Box 18"/>
          <p:cNvSpPr txBox="1">
            <a:spLocks noChangeArrowheads="1"/>
          </p:cNvSpPr>
          <p:nvPr/>
        </p:nvSpPr>
        <p:spPr bwMode="auto">
          <a:xfrm>
            <a:off x="1281113" y="3657600"/>
            <a:ext cx="9731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Instruction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25011" name="Text Box 19"/>
          <p:cNvSpPr txBox="1">
            <a:spLocks noChangeArrowheads="1"/>
          </p:cNvSpPr>
          <p:nvPr/>
        </p:nvSpPr>
        <p:spPr bwMode="auto">
          <a:xfrm>
            <a:off x="1752600" y="12954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25012" name="Text Box 20"/>
          <p:cNvSpPr txBox="1">
            <a:spLocks noChangeArrowheads="1"/>
          </p:cNvSpPr>
          <p:nvPr/>
        </p:nvSpPr>
        <p:spPr bwMode="auto">
          <a:xfrm>
            <a:off x="442913" y="4191000"/>
            <a:ext cx="395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PC</a:t>
            </a:r>
          </a:p>
        </p:txBody>
      </p:sp>
      <p:sp>
        <p:nvSpPr>
          <p:cNvPr id="725013" name="Line 21"/>
          <p:cNvSpPr>
            <a:spLocks noChangeShapeType="1"/>
          </p:cNvSpPr>
          <p:nvPr/>
        </p:nvSpPr>
        <p:spPr bwMode="auto">
          <a:xfrm>
            <a:off x="228600" y="838200"/>
            <a:ext cx="685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14" name="Line 22"/>
          <p:cNvSpPr>
            <a:spLocks noChangeShapeType="1"/>
          </p:cNvSpPr>
          <p:nvPr/>
        </p:nvSpPr>
        <p:spPr bwMode="auto">
          <a:xfrm>
            <a:off x="214313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15" name="Text Box 23"/>
          <p:cNvSpPr txBox="1">
            <a:spLocks noChangeArrowheads="1"/>
          </p:cNvSpPr>
          <p:nvPr/>
        </p:nvSpPr>
        <p:spPr bwMode="auto">
          <a:xfrm>
            <a:off x="1143000" y="16002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25016" name="Rectangle 24"/>
          <p:cNvSpPr>
            <a:spLocks noChangeArrowheads="1"/>
          </p:cNvSpPr>
          <p:nvPr/>
        </p:nvSpPr>
        <p:spPr bwMode="auto">
          <a:xfrm>
            <a:off x="3505200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017" name="Line 25"/>
          <p:cNvSpPr>
            <a:spLocks noChangeShapeType="1"/>
          </p:cNvSpPr>
          <p:nvPr/>
        </p:nvSpPr>
        <p:spPr bwMode="auto">
          <a:xfrm>
            <a:off x="2500313" y="43434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18" name="Line 26"/>
          <p:cNvSpPr>
            <a:spLocks noChangeShapeType="1"/>
          </p:cNvSpPr>
          <p:nvPr/>
        </p:nvSpPr>
        <p:spPr bwMode="auto">
          <a:xfrm>
            <a:off x="2652713" y="4114800"/>
            <a:ext cx="852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19" name="Line 27"/>
          <p:cNvSpPr>
            <a:spLocks noChangeShapeType="1"/>
          </p:cNvSpPr>
          <p:nvPr/>
        </p:nvSpPr>
        <p:spPr bwMode="auto">
          <a:xfrm>
            <a:off x="2652713" y="4648200"/>
            <a:ext cx="471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20" name="Line 28"/>
          <p:cNvSpPr>
            <a:spLocks noChangeShapeType="1"/>
          </p:cNvSpPr>
          <p:nvPr/>
        </p:nvSpPr>
        <p:spPr bwMode="auto">
          <a:xfrm>
            <a:off x="8382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21" name="Line 29"/>
          <p:cNvSpPr>
            <a:spLocks noChangeShapeType="1"/>
          </p:cNvSpPr>
          <p:nvPr/>
        </p:nvSpPr>
        <p:spPr bwMode="auto">
          <a:xfrm>
            <a:off x="2652713" y="3733800"/>
            <a:ext cx="852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22" name="Line 30"/>
          <p:cNvSpPr>
            <a:spLocks noChangeShapeType="1"/>
          </p:cNvSpPr>
          <p:nvPr/>
        </p:nvSpPr>
        <p:spPr bwMode="auto">
          <a:xfrm>
            <a:off x="4953000" y="3962400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23" name="Line 31"/>
          <p:cNvSpPr>
            <a:spLocks noChangeShapeType="1"/>
          </p:cNvSpPr>
          <p:nvPr/>
        </p:nvSpPr>
        <p:spPr bwMode="auto">
          <a:xfrm>
            <a:off x="5105400" y="4572000"/>
            <a:ext cx="279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24" name="Line 32"/>
          <p:cNvSpPr>
            <a:spLocks noChangeShapeType="1"/>
          </p:cNvSpPr>
          <p:nvPr/>
        </p:nvSpPr>
        <p:spPr bwMode="auto">
          <a:xfrm>
            <a:off x="6477000" y="5715000"/>
            <a:ext cx="193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25" name="Line 33"/>
          <p:cNvSpPr>
            <a:spLocks noChangeShapeType="1"/>
          </p:cNvSpPr>
          <p:nvPr/>
        </p:nvSpPr>
        <p:spPr bwMode="auto">
          <a:xfrm>
            <a:off x="6324600" y="43434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26" name="Text Box 34"/>
          <p:cNvSpPr txBox="1">
            <a:spLocks noChangeArrowheads="1"/>
          </p:cNvSpPr>
          <p:nvPr/>
        </p:nvSpPr>
        <p:spPr bwMode="auto">
          <a:xfrm>
            <a:off x="3429000" y="4724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25027" name="Text Box 35"/>
          <p:cNvSpPr txBox="1">
            <a:spLocks noChangeArrowheads="1"/>
          </p:cNvSpPr>
          <p:nvPr/>
        </p:nvSpPr>
        <p:spPr bwMode="auto">
          <a:xfrm>
            <a:off x="3429000" y="3581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1</a:t>
            </a:r>
          </a:p>
        </p:txBody>
      </p:sp>
      <p:sp>
        <p:nvSpPr>
          <p:cNvPr id="725028" name="Text Box 36"/>
          <p:cNvSpPr txBox="1">
            <a:spLocks noChangeArrowheads="1"/>
          </p:cNvSpPr>
          <p:nvPr/>
        </p:nvSpPr>
        <p:spPr bwMode="auto">
          <a:xfrm>
            <a:off x="3429000" y="3962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2</a:t>
            </a:r>
          </a:p>
        </p:txBody>
      </p:sp>
      <p:sp>
        <p:nvSpPr>
          <p:cNvPr id="725029" name="Text Box 37"/>
          <p:cNvSpPr txBox="1">
            <a:spLocks noChangeArrowheads="1"/>
          </p:cNvSpPr>
          <p:nvPr/>
        </p:nvSpPr>
        <p:spPr bwMode="auto">
          <a:xfrm>
            <a:off x="3429000" y="4343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Addr</a:t>
            </a:r>
          </a:p>
        </p:txBody>
      </p:sp>
      <p:sp>
        <p:nvSpPr>
          <p:cNvPr id="725030" name="Text Box 38"/>
          <p:cNvSpPr txBox="1">
            <a:spLocks noChangeArrowheads="1"/>
          </p:cNvSpPr>
          <p:nvPr/>
        </p:nvSpPr>
        <p:spPr bwMode="auto">
          <a:xfrm>
            <a:off x="3752850" y="38100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Register</a:t>
            </a:r>
          </a:p>
          <a:p>
            <a:pPr algn="ctr"/>
            <a:endParaRPr lang="en-US" altLang="zh-CN" sz="1200" b="1">
              <a:solidFill>
                <a:schemeClr val="tx1"/>
              </a:solidFill>
              <a:ea typeface="宋体" pitchFamily="2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File</a:t>
            </a:r>
          </a:p>
        </p:txBody>
      </p:sp>
      <p:sp>
        <p:nvSpPr>
          <p:cNvPr id="725031" name="Text Box 39"/>
          <p:cNvSpPr txBox="1">
            <a:spLocks noChangeArrowheads="1"/>
          </p:cNvSpPr>
          <p:nvPr/>
        </p:nvSpPr>
        <p:spPr bwMode="auto">
          <a:xfrm>
            <a:off x="4343400" y="37338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1</a:t>
            </a:r>
          </a:p>
        </p:txBody>
      </p:sp>
      <p:sp>
        <p:nvSpPr>
          <p:cNvPr id="725032" name="Text Box 40"/>
          <p:cNvSpPr txBox="1">
            <a:spLocks noChangeArrowheads="1"/>
          </p:cNvSpPr>
          <p:nvPr/>
        </p:nvSpPr>
        <p:spPr bwMode="auto">
          <a:xfrm>
            <a:off x="4368800" y="44196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2</a:t>
            </a:r>
          </a:p>
        </p:txBody>
      </p:sp>
      <p:sp>
        <p:nvSpPr>
          <p:cNvPr id="725033" name="Freeform 41"/>
          <p:cNvSpPr>
            <a:spLocks/>
          </p:cNvSpPr>
          <p:nvPr/>
        </p:nvSpPr>
        <p:spPr bwMode="auto">
          <a:xfrm>
            <a:off x="5791200" y="36576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34" name="Rectangle 42"/>
          <p:cNvSpPr>
            <a:spLocks noChangeArrowheads="1"/>
          </p:cNvSpPr>
          <p:nvPr/>
        </p:nvSpPr>
        <p:spPr bwMode="auto">
          <a:xfrm>
            <a:off x="5892800" y="42672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ALU</a:t>
            </a:r>
          </a:p>
        </p:txBody>
      </p:sp>
      <p:sp>
        <p:nvSpPr>
          <p:cNvPr id="725035" name="Rectangle 43"/>
          <p:cNvSpPr>
            <a:spLocks noChangeArrowheads="1"/>
          </p:cNvSpPr>
          <p:nvPr/>
        </p:nvSpPr>
        <p:spPr bwMode="auto">
          <a:xfrm>
            <a:off x="5791200" y="3276600"/>
            <a:ext cx="7620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ovf</a:t>
            </a:r>
          </a:p>
        </p:txBody>
      </p:sp>
      <p:sp>
        <p:nvSpPr>
          <p:cNvPr id="725036" name="Line 44"/>
          <p:cNvSpPr>
            <a:spLocks noChangeShapeType="1"/>
          </p:cNvSpPr>
          <p:nvPr/>
        </p:nvSpPr>
        <p:spPr bwMode="auto">
          <a:xfrm>
            <a:off x="6096000" y="4724400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37" name="Line 45"/>
          <p:cNvSpPr>
            <a:spLocks noChangeShapeType="1"/>
          </p:cNvSpPr>
          <p:nvPr/>
        </p:nvSpPr>
        <p:spPr bwMode="auto">
          <a:xfrm>
            <a:off x="4191000" y="2971800"/>
            <a:ext cx="0" cy="609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38" name="Rectangle 46"/>
          <p:cNvSpPr>
            <a:spLocks noChangeArrowheads="1"/>
          </p:cNvSpPr>
          <p:nvPr/>
        </p:nvSpPr>
        <p:spPr bwMode="auto">
          <a:xfrm>
            <a:off x="4191000" y="29718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RegWrite</a:t>
            </a:r>
          </a:p>
        </p:txBody>
      </p:sp>
      <p:sp>
        <p:nvSpPr>
          <p:cNvPr id="725039" name="Line 47"/>
          <p:cNvSpPr>
            <a:spLocks noChangeShapeType="1"/>
          </p:cNvSpPr>
          <p:nvPr/>
        </p:nvSpPr>
        <p:spPr bwMode="auto">
          <a:xfrm flipV="1">
            <a:off x="5943600" y="35052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40" name="Line 48"/>
          <p:cNvSpPr>
            <a:spLocks noChangeShapeType="1"/>
          </p:cNvSpPr>
          <p:nvPr/>
        </p:nvSpPr>
        <p:spPr bwMode="auto">
          <a:xfrm flipV="1">
            <a:off x="6248400" y="22098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41" name="Line 49"/>
          <p:cNvSpPr>
            <a:spLocks noChangeShapeType="1"/>
          </p:cNvSpPr>
          <p:nvPr/>
        </p:nvSpPr>
        <p:spPr bwMode="auto">
          <a:xfrm>
            <a:off x="8991600" y="4495800"/>
            <a:ext cx="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42" name="Rectangle 50"/>
          <p:cNvSpPr>
            <a:spLocks noChangeArrowheads="1"/>
          </p:cNvSpPr>
          <p:nvPr/>
        </p:nvSpPr>
        <p:spPr bwMode="auto">
          <a:xfrm>
            <a:off x="6858000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043" name="Line 51"/>
          <p:cNvSpPr>
            <a:spLocks noChangeShapeType="1"/>
          </p:cNvSpPr>
          <p:nvPr/>
        </p:nvSpPr>
        <p:spPr bwMode="auto">
          <a:xfrm>
            <a:off x="8305800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44" name="Line 52"/>
          <p:cNvSpPr>
            <a:spLocks noChangeShapeType="1"/>
          </p:cNvSpPr>
          <p:nvPr/>
        </p:nvSpPr>
        <p:spPr bwMode="auto">
          <a:xfrm>
            <a:off x="6477000" y="3886200"/>
            <a:ext cx="40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45" name="Line 53"/>
          <p:cNvSpPr>
            <a:spLocks noChangeShapeType="1"/>
          </p:cNvSpPr>
          <p:nvPr/>
        </p:nvSpPr>
        <p:spPr bwMode="auto">
          <a:xfrm>
            <a:off x="6629400" y="4724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46" name="Text Box 54"/>
          <p:cNvSpPr txBox="1">
            <a:spLocks noChangeArrowheads="1"/>
          </p:cNvSpPr>
          <p:nvPr/>
        </p:nvSpPr>
        <p:spPr bwMode="auto">
          <a:xfrm>
            <a:off x="6781800" y="4038600"/>
            <a:ext cx="766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Data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25047" name="Text Box 55"/>
          <p:cNvSpPr txBox="1">
            <a:spLocks noChangeArrowheads="1"/>
          </p:cNvSpPr>
          <p:nvPr/>
        </p:nvSpPr>
        <p:spPr bwMode="auto">
          <a:xfrm>
            <a:off x="6781800" y="3733800"/>
            <a:ext cx="7413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25048" name="Text Box 56"/>
          <p:cNvSpPr txBox="1">
            <a:spLocks noChangeArrowheads="1"/>
          </p:cNvSpPr>
          <p:nvPr/>
        </p:nvSpPr>
        <p:spPr bwMode="auto">
          <a:xfrm>
            <a:off x="6781800" y="45720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25049" name="Text Box 57"/>
          <p:cNvSpPr txBox="1">
            <a:spLocks noChangeArrowheads="1"/>
          </p:cNvSpPr>
          <p:nvPr/>
        </p:nvSpPr>
        <p:spPr bwMode="auto">
          <a:xfrm>
            <a:off x="7467600" y="4191000"/>
            <a:ext cx="909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725050" name="Line 58"/>
          <p:cNvSpPr>
            <a:spLocks noChangeShapeType="1"/>
          </p:cNvSpPr>
          <p:nvPr/>
        </p:nvSpPr>
        <p:spPr bwMode="auto">
          <a:xfrm>
            <a:off x="7543800" y="2667000"/>
            <a:ext cx="0" cy="914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51" name="Rectangle 59"/>
          <p:cNvSpPr>
            <a:spLocks noChangeArrowheads="1"/>
          </p:cNvSpPr>
          <p:nvPr/>
        </p:nvSpPr>
        <p:spPr bwMode="auto">
          <a:xfrm>
            <a:off x="6553200" y="24384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MemWrite</a:t>
            </a:r>
          </a:p>
        </p:txBody>
      </p:sp>
      <p:sp>
        <p:nvSpPr>
          <p:cNvPr id="725052" name="Rectangle 60"/>
          <p:cNvSpPr>
            <a:spLocks noChangeArrowheads="1"/>
          </p:cNvSpPr>
          <p:nvPr/>
        </p:nvSpPr>
        <p:spPr bwMode="auto">
          <a:xfrm>
            <a:off x="7848600" y="21336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MemRead</a:t>
            </a:r>
          </a:p>
        </p:txBody>
      </p:sp>
      <p:sp>
        <p:nvSpPr>
          <p:cNvPr id="725053" name="Line 61"/>
          <p:cNvSpPr>
            <a:spLocks noChangeShapeType="1"/>
          </p:cNvSpPr>
          <p:nvPr/>
        </p:nvSpPr>
        <p:spPr bwMode="auto">
          <a:xfrm>
            <a:off x="7543800" y="50292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54" name="Line 62"/>
          <p:cNvSpPr>
            <a:spLocks noChangeShapeType="1"/>
          </p:cNvSpPr>
          <p:nvPr/>
        </p:nvSpPr>
        <p:spPr bwMode="auto">
          <a:xfrm>
            <a:off x="3276600" y="6477000"/>
            <a:ext cx="571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55" name="Line 63"/>
          <p:cNvSpPr>
            <a:spLocks noChangeShapeType="1"/>
          </p:cNvSpPr>
          <p:nvPr/>
        </p:nvSpPr>
        <p:spPr bwMode="auto">
          <a:xfrm>
            <a:off x="5054600" y="51816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56" name="Line 64"/>
          <p:cNvSpPr>
            <a:spLocks noChangeShapeType="1"/>
          </p:cNvSpPr>
          <p:nvPr/>
        </p:nvSpPr>
        <p:spPr bwMode="auto">
          <a:xfrm>
            <a:off x="4811713" y="556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57" name="Oval 65"/>
          <p:cNvSpPr>
            <a:spLocks noChangeArrowheads="1"/>
          </p:cNvSpPr>
          <p:nvPr/>
        </p:nvSpPr>
        <p:spPr bwMode="auto">
          <a:xfrm>
            <a:off x="4202113" y="5181600"/>
            <a:ext cx="6096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058" name="Rectangle 66"/>
          <p:cNvSpPr>
            <a:spLocks noChangeArrowheads="1"/>
          </p:cNvSpPr>
          <p:nvPr/>
        </p:nvSpPr>
        <p:spPr bwMode="auto">
          <a:xfrm>
            <a:off x="4252913" y="5334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Sign</a:t>
            </a:r>
          </a:p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Extend</a:t>
            </a:r>
          </a:p>
        </p:txBody>
      </p:sp>
      <p:sp>
        <p:nvSpPr>
          <p:cNvPr id="725059" name="Line 67"/>
          <p:cNvSpPr>
            <a:spLocks noChangeShapeType="1"/>
          </p:cNvSpPr>
          <p:nvPr/>
        </p:nvSpPr>
        <p:spPr bwMode="auto">
          <a:xfrm>
            <a:off x="2638425" y="5562600"/>
            <a:ext cx="1563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60" name="Line 68"/>
          <p:cNvSpPr>
            <a:spLocks noChangeShapeType="1"/>
          </p:cNvSpPr>
          <p:nvPr/>
        </p:nvSpPr>
        <p:spPr bwMode="auto">
          <a:xfrm>
            <a:off x="3871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61" name="Line 69"/>
          <p:cNvSpPr>
            <a:spLocks noChangeShapeType="1"/>
          </p:cNvSpPr>
          <p:nvPr/>
        </p:nvSpPr>
        <p:spPr bwMode="auto">
          <a:xfrm>
            <a:off x="4887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62" name="Text Box 70"/>
          <p:cNvSpPr txBox="1">
            <a:spLocks noChangeArrowheads="1"/>
          </p:cNvSpPr>
          <p:nvPr/>
        </p:nvSpPr>
        <p:spPr bwMode="auto">
          <a:xfrm>
            <a:off x="3871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16</a:t>
            </a:r>
          </a:p>
        </p:txBody>
      </p:sp>
      <p:sp>
        <p:nvSpPr>
          <p:cNvPr id="725063" name="Text Box 71"/>
          <p:cNvSpPr txBox="1">
            <a:spLocks noChangeArrowheads="1"/>
          </p:cNvSpPr>
          <p:nvPr/>
        </p:nvSpPr>
        <p:spPr bwMode="auto">
          <a:xfrm>
            <a:off x="4887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32</a:t>
            </a:r>
          </a:p>
        </p:txBody>
      </p:sp>
      <p:sp>
        <p:nvSpPr>
          <p:cNvPr id="725064" name="Line 72"/>
          <p:cNvSpPr>
            <a:spLocks noChangeShapeType="1"/>
          </p:cNvSpPr>
          <p:nvPr/>
        </p:nvSpPr>
        <p:spPr bwMode="auto">
          <a:xfrm>
            <a:off x="5054600" y="4572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65" name="Line 73"/>
          <p:cNvSpPr>
            <a:spLocks noChangeShapeType="1"/>
          </p:cNvSpPr>
          <p:nvPr/>
        </p:nvSpPr>
        <p:spPr bwMode="auto">
          <a:xfrm>
            <a:off x="8382000" y="4724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66" name="Line 74"/>
          <p:cNvSpPr>
            <a:spLocks noChangeShapeType="1"/>
          </p:cNvSpPr>
          <p:nvPr/>
        </p:nvSpPr>
        <p:spPr bwMode="auto">
          <a:xfrm>
            <a:off x="5181600" y="49530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67" name="Line 75"/>
          <p:cNvSpPr>
            <a:spLocks noChangeShapeType="1"/>
          </p:cNvSpPr>
          <p:nvPr/>
        </p:nvSpPr>
        <p:spPr bwMode="auto">
          <a:xfrm>
            <a:off x="3276600" y="4876800"/>
            <a:ext cx="25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68" name="AutoShape 76"/>
          <p:cNvSpPr>
            <a:spLocks noChangeArrowheads="1"/>
          </p:cNvSpPr>
          <p:nvPr/>
        </p:nvSpPr>
        <p:spPr bwMode="auto">
          <a:xfrm rot="-5400000">
            <a:off x="8382000" y="4419600"/>
            <a:ext cx="6858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069" name="Line 77"/>
          <p:cNvSpPr>
            <a:spLocks noChangeShapeType="1"/>
          </p:cNvSpPr>
          <p:nvPr/>
        </p:nvSpPr>
        <p:spPr bwMode="auto">
          <a:xfrm>
            <a:off x="8839200" y="4495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70" name="AutoShape 78"/>
          <p:cNvSpPr>
            <a:spLocks noChangeArrowheads="1"/>
          </p:cNvSpPr>
          <p:nvPr/>
        </p:nvSpPr>
        <p:spPr bwMode="auto">
          <a:xfrm rot="-5400000">
            <a:off x="5092700" y="46101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071" name="Line 79"/>
          <p:cNvSpPr>
            <a:spLocks noChangeShapeType="1"/>
          </p:cNvSpPr>
          <p:nvPr/>
        </p:nvSpPr>
        <p:spPr bwMode="auto">
          <a:xfrm>
            <a:off x="5588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72" name="Line 80"/>
          <p:cNvSpPr>
            <a:spLocks noChangeShapeType="1"/>
          </p:cNvSpPr>
          <p:nvPr/>
        </p:nvSpPr>
        <p:spPr bwMode="auto">
          <a:xfrm>
            <a:off x="3276600" y="48768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73" name="Line 81"/>
          <p:cNvSpPr>
            <a:spLocks noChangeShapeType="1"/>
          </p:cNvSpPr>
          <p:nvPr/>
        </p:nvSpPr>
        <p:spPr bwMode="auto">
          <a:xfrm>
            <a:off x="8686800" y="25146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74" name="Rectangle 82"/>
          <p:cNvSpPr>
            <a:spLocks noChangeArrowheads="1"/>
          </p:cNvSpPr>
          <p:nvPr/>
        </p:nvSpPr>
        <p:spPr bwMode="auto">
          <a:xfrm>
            <a:off x="7162800" y="22860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MemtoReg</a:t>
            </a:r>
          </a:p>
        </p:txBody>
      </p:sp>
      <p:sp>
        <p:nvSpPr>
          <p:cNvPr id="725075" name="Rectangle 83"/>
          <p:cNvSpPr>
            <a:spLocks noChangeArrowheads="1"/>
          </p:cNvSpPr>
          <p:nvPr/>
        </p:nvSpPr>
        <p:spPr bwMode="auto">
          <a:xfrm>
            <a:off x="4343400" y="25908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ALUSrc</a:t>
            </a:r>
          </a:p>
        </p:txBody>
      </p:sp>
      <p:sp>
        <p:nvSpPr>
          <p:cNvPr id="725076" name="Oval 84"/>
          <p:cNvSpPr>
            <a:spLocks noChangeArrowheads="1"/>
          </p:cNvSpPr>
          <p:nvPr/>
        </p:nvSpPr>
        <p:spPr bwMode="auto">
          <a:xfrm>
            <a:off x="5410200" y="1600200"/>
            <a:ext cx="4572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077" name="Rectangle 85"/>
          <p:cNvSpPr>
            <a:spLocks noChangeArrowheads="1"/>
          </p:cNvSpPr>
          <p:nvPr/>
        </p:nvSpPr>
        <p:spPr bwMode="auto">
          <a:xfrm>
            <a:off x="5410200" y="1600200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Shift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left 2</a:t>
            </a:r>
          </a:p>
        </p:txBody>
      </p:sp>
      <p:sp>
        <p:nvSpPr>
          <p:cNvPr id="725078" name="Line 86"/>
          <p:cNvSpPr>
            <a:spLocks noChangeShapeType="1"/>
          </p:cNvSpPr>
          <p:nvPr/>
        </p:nvSpPr>
        <p:spPr bwMode="auto">
          <a:xfrm>
            <a:off x="5181600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79" name="Line 87"/>
          <p:cNvSpPr>
            <a:spLocks noChangeShapeType="1"/>
          </p:cNvSpPr>
          <p:nvPr/>
        </p:nvSpPr>
        <p:spPr bwMode="auto">
          <a:xfrm>
            <a:off x="5181600" y="1447800"/>
            <a:ext cx="928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" name="Group 88"/>
          <p:cNvGrpSpPr>
            <a:grpSpLocks/>
          </p:cNvGrpSpPr>
          <p:nvPr/>
        </p:nvGrpSpPr>
        <p:grpSpPr bwMode="auto">
          <a:xfrm>
            <a:off x="6096000" y="1143000"/>
            <a:ext cx="381000" cy="914400"/>
            <a:chOff x="1392" y="2880"/>
            <a:chExt cx="288" cy="480"/>
          </a:xfrm>
        </p:grpSpPr>
        <p:sp>
          <p:nvSpPr>
            <p:cNvPr id="725081" name="Line 89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082" name="Line 90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083" name="Line 91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084" name="Line 92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085" name="Line 93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086" name="Line 94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087" name="Line 95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5088" name="Text Box 96"/>
          <p:cNvSpPr txBox="1">
            <a:spLocks noChangeArrowheads="1"/>
          </p:cNvSpPr>
          <p:nvPr/>
        </p:nvSpPr>
        <p:spPr bwMode="auto">
          <a:xfrm>
            <a:off x="6096000" y="14478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25089" name="Line 97"/>
          <p:cNvSpPr>
            <a:spLocks noChangeShapeType="1"/>
          </p:cNvSpPr>
          <p:nvPr/>
        </p:nvSpPr>
        <p:spPr bwMode="auto">
          <a:xfrm>
            <a:off x="5853113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90" name="Line 98"/>
          <p:cNvSpPr>
            <a:spLocks noChangeShapeType="1"/>
          </p:cNvSpPr>
          <p:nvPr/>
        </p:nvSpPr>
        <p:spPr bwMode="auto">
          <a:xfrm>
            <a:off x="6477000" y="1600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91" name="Line 99"/>
          <p:cNvSpPr>
            <a:spLocks noChangeShapeType="1"/>
          </p:cNvSpPr>
          <p:nvPr/>
        </p:nvSpPr>
        <p:spPr bwMode="auto">
          <a:xfrm>
            <a:off x="838200" y="1066800"/>
            <a:ext cx="0" cy="3276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92" name="AutoShape 100"/>
          <p:cNvSpPr>
            <a:spLocks noChangeArrowheads="1"/>
          </p:cNvSpPr>
          <p:nvPr/>
        </p:nvSpPr>
        <p:spPr bwMode="auto">
          <a:xfrm rot="-5400000">
            <a:off x="6400800" y="1219200"/>
            <a:ext cx="8382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093" name="Line 101"/>
          <p:cNvSpPr>
            <a:spLocks noChangeShapeType="1"/>
          </p:cNvSpPr>
          <p:nvPr/>
        </p:nvSpPr>
        <p:spPr bwMode="auto">
          <a:xfrm>
            <a:off x="5181600" y="1066800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94" name="Line 102"/>
          <p:cNvSpPr>
            <a:spLocks noChangeShapeType="1"/>
          </p:cNvSpPr>
          <p:nvPr/>
        </p:nvSpPr>
        <p:spPr bwMode="auto">
          <a:xfrm>
            <a:off x="5181600" y="1066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95" name="Line 103"/>
          <p:cNvSpPr>
            <a:spLocks noChangeShapeType="1"/>
          </p:cNvSpPr>
          <p:nvPr/>
        </p:nvSpPr>
        <p:spPr bwMode="auto">
          <a:xfrm>
            <a:off x="6934200" y="13716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96" name="Line 104"/>
          <p:cNvSpPr>
            <a:spLocks noChangeShapeType="1"/>
          </p:cNvSpPr>
          <p:nvPr/>
        </p:nvSpPr>
        <p:spPr bwMode="auto">
          <a:xfrm>
            <a:off x="6858000" y="1600200"/>
            <a:ext cx="0" cy="533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97" name="Rectangle 105"/>
          <p:cNvSpPr>
            <a:spLocks noChangeArrowheads="1"/>
          </p:cNvSpPr>
          <p:nvPr/>
        </p:nvSpPr>
        <p:spPr bwMode="auto">
          <a:xfrm>
            <a:off x="6858000" y="17526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PCSrc</a:t>
            </a:r>
          </a:p>
        </p:txBody>
      </p:sp>
      <p:sp>
        <p:nvSpPr>
          <p:cNvPr id="725098" name="Line 106"/>
          <p:cNvSpPr>
            <a:spLocks noChangeShapeType="1"/>
          </p:cNvSpPr>
          <p:nvPr/>
        </p:nvSpPr>
        <p:spPr bwMode="auto">
          <a:xfrm>
            <a:off x="66294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099" name="AutoShape 107"/>
          <p:cNvSpPr>
            <a:spLocks noChangeArrowheads="1"/>
          </p:cNvSpPr>
          <p:nvPr/>
        </p:nvSpPr>
        <p:spPr bwMode="auto">
          <a:xfrm rot="-5400000">
            <a:off x="2933700" y="4381500"/>
            <a:ext cx="6096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100" name="Line 108"/>
          <p:cNvSpPr>
            <a:spLocks noChangeShapeType="1"/>
          </p:cNvSpPr>
          <p:nvPr/>
        </p:nvSpPr>
        <p:spPr bwMode="auto">
          <a:xfrm>
            <a:off x="3352800" y="44958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01" name="Line 109"/>
          <p:cNvSpPr>
            <a:spLocks noChangeShapeType="1"/>
          </p:cNvSpPr>
          <p:nvPr/>
        </p:nvSpPr>
        <p:spPr bwMode="auto">
          <a:xfrm>
            <a:off x="2957513" y="4114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02" name="Line 110"/>
          <p:cNvSpPr>
            <a:spLocks noChangeShapeType="1"/>
          </p:cNvSpPr>
          <p:nvPr/>
        </p:nvSpPr>
        <p:spPr bwMode="auto">
          <a:xfrm>
            <a:off x="2957513" y="4343400"/>
            <a:ext cx="1666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03" name="Line 111"/>
          <p:cNvSpPr>
            <a:spLocks noChangeShapeType="1"/>
          </p:cNvSpPr>
          <p:nvPr/>
        </p:nvSpPr>
        <p:spPr bwMode="auto">
          <a:xfrm>
            <a:off x="3200400" y="2971800"/>
            <a:ext cx="0" cy="1295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04" name="Rectangle 112"/>
          <p:cNvSpPr>
            <a:spLocks noChangeArrowheads="1"/>
          </p:cNvSpPr>
          <p:nvPr/>
        </p:nvSpPr>
        <p:spPr bwMode="auto">
          <a:xfrm>
            <a:off x="2667000" y="3124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RegDst</a:t>
            </a:r>
          </a:p>
        </p:txBody>
      </p:sp>
      <p:sp>
        <p:nvSpPr>
          <p:cNvPr id="725105" name="Oval 113"/>
          <p:cNvSpPr>
            <a:spLocks noChangeArrowheads="1"/>
          </p:cNvSpPr>
          <p:nvPr/>
        </p:nvSpPr>
        <p:spPr bwMode="auto">
          <a:xfrm>
            <a:off x="5791200" y="5257800"/>
            <a:ext cx="609600" cy="7620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106" name="Rectangle 114"/>
          <p:cNvSpPr>
            <a:spLocks noChangeArrowheads="1"/>
          </p:cNvSpPr>
          <p:nvPr/>
        </p:nvSpPr>
        <p:spPr bwMode="auto">
          <a:xfrm>
            <a:off x="5867400" y="54102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ALU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</p:txBody>
      </p:sp>
      <p:sp>
        <p:nvSpPr>
          <p:cNvPr id="725107" name="Line 115"/>
          <p:cNvSpPr>
            <a:spLocks noChangeShapeType="1"/>
          </p:cNvSpPr>
          <p:nvPr/>
        </p:nvSpPr>
        <p:spPr bwMode="auto">
          <a:xfrm>
            <a:off x="3657600" y="6172200"/>
            <a:ext cx="1905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08" name="Line 116"/>
          <p:cNvSpPr>
            <a:spLocks noChangeShapeType="1"/>
          </p:cNvSpPr>
          <p:nvPr/>
        </p:nvSpPr>
        <p:spPr bwMode="auto">
          <a:xfrm>
            <a:off x="5548313" y="54864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09" name="Rectangle 117"/>
          <p:cNvSpPr>
            <a:spLocks noChangeArrowheads="1"/>
          </p:cNvSpPr>
          <p:nvPr/>
        </p:nvSpPr>
        <p:spPr bwMode="auto">
          <a:xfrm>
            <a:off x="86106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5110" name="Rectangle 118"/>
          <p:cNvSpPr>
            <a:spLocks noChangeArrowheads="1"/>
          </p:cNvSpPr>
          <p:nvPr/>
        </p:nvSpPr>
        <p:spPr bwMode="auto">
          <a:xfrm>
            <a:off x="5410200" y="480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5111" name="Rectangle 119"/>
          <p:cNvSpPr>
            <a:spLocks noChangeArrowheads="1"/>
          </p:cNvSpPr>
          <p:nvPr/>
        </p:nvSpPr>
        <p:spPr bwMode="auto">
          <a:xfrm>
            <a:off x="3124200" y="4495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5112" name="Rectangle 120"/>
          <p:cNvSpPr>
            <a:spLocks noChangeArrowheads="1"/>
          </p:cNvSpPr>
          <p:nvPr/>
        </p:nvSpPr>
        <p:spPr bwMode="auto">
          <a:xfrm>
            <a:off x="31242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5113" name="Rectangle 121"/>
          <p:cNvSpPr>
            <a:spLocks noChangeArrowheads="1"/>
          </p:cNvSpPr>
          <p:nvPr/>
        </p:nvSpPr>
        <p:spPr bwMode="auto">
          <a:xfrm>
            <a:off x="5410200" y="4419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5114" name="Rectangle 122"/>
          <p:cNvSpPr>
            <a:spLocks noChangeArrowheads="1"/>
          </p:cNvSpPr>
          <p:nvPr/>
        </p:nvSpPr>
        <p:spPr bwMode="auto">
          <a:xfrm>
            <a:off x="8610600" y="4572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5115" name="Rectangle 123"/>
          <p:cNvSpPr>
            <a:spLocks noChangeArrowheads="1"/>
          </p:cNvSpPr>
          <p:nvPr/>
        </p:nvSpPr>
        <p:spPr bwMode="auto">
          <a:xfrm>
            <a:off x="6705600" y="99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5116" name="Rectangle 124"/>
          <p:cNvSpPr>
            <a:spLocks noChangeArrowheads="1"/>
          </p:cNvSpPr>
          <p:nvPr/>
        </p:nvSpPr>
        <p:spPr bwMode="auto">
          <a:xfrm>
            <a:off x="6705600" y="1447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5117" name="Rectangle 125"/>
          <p:cNvSpPr>
            <a:spLocks noChangeArrowheads="1"/>
          </p:cNvSpPr>
          <p:nvPr/>
        </p:nvSpPr>
        <p:spPr bwMode="auto">
          <a:xfrm>
            <a:off x="2514600" y="19050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ALUOp</a:t>
            </a:r>
          </a:p>
        </p:txBody>
      </p:sp>
      <p:sp>
        <p:nvSpPr>
          <p:cNvPr id="725118" name="Line 126"/>
          <p:cNvSpPr>
            <a:spLocks noChangeShapeType="1"/>
          </p:cNvSpPr>
          <p:nvPr/>
        </p:nvSpPr>
        <p:spPr bwMode="auto">
          <a:xfrm>
            <a:off x="6096000" y="6019800"/>
            <a:ext cx="0" cy="3048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19" name="Rectangle 127"/>
          <p:cNvSpPr>
            <a:spLocks noChangeArrowheads="1"/>
          </p:cNvSpPr>
          <p:nvPr/>
        </p:nvSpPr>
        <p:spPr bwMode="auto">
          <a:xfrm>
            <a:off x="4724400" y="5867400"/>
            <a:ext cx="7620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Instr[5-0]</a:t>
            </a:r>
          </a:p>
        </p:txBody>
      </p:sp>
      <p:sp>
        <p:nvSpPr>
          <p:cNvPr id="725120" name="Rectangle 128"/>
          <p:cNvSpPr>
            <a:spLocks noChangeArrowheads="1"/>
          </p:cNvSpPr>
          <p:nvPr/>
        </p:nvSpPr>
        <p:spPr bwMode="auto">
          <a:xfrm>
            <a:off x="2667000" y="5334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Instr[15-0]</a:t>
            </a:r>
          </a:p>
        </p:txBody>
      </p:sp>
      <p:sp>
        <p:nvSpPr>
          <p:cNvPr id="725121" name="Rectangle 129"/>
          <p:cNvSpPr>
            <a:spLocks noChangeArrowheads="1"/>
          </p:cNvSpPr>
          <p:nvPr/>
        </p:nvSpPr>
        <p:spPr bwMode="auto">
          <a:xfrm>
            <a:off x="2652713" y="3505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Instr[25-21]</a:t>
            </a:r>
          </a:p>
        </p:txBody>
      </p:sp>
      <p:sp>
        <p:nvSpPr>
          <p:cNvPr id="725122" name="Rectangle 130"/>
          <p:cNvSpPr>
            <a:spLocks noChangeArrowheads="1"/>
          </p:cNvSpPr>
          <p:nvPr/>
        </p:nvSpPr>
        <p:spPr bwMode="auto">
          <a:xfrm>
            <a:off x="2652713" y="3886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Instr[20-16]</a:t>
            </a:r>
          </a:p>
        </p:txBody>
      </p:sp>
      <p:sp>
        <p:nvSpPr>
          <p:cNvPr id="725123" name="Text Box 131"/>
          <p:cNvSpPr txBox="1">
            <a:spLocks noChangeArrowheads="1"/>
          </p:cNvSpPr>
          <p:nvPr/>
        </p:nvSpPr>
        <p:spPr bwMode="auto">
          <a:xfrm>
            <a:off x="2576513" y="4648200"/>
            <a:ext cx="701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  -11]</a:t>
            </a:r>
          </a:p>
        </p:txBody>
      </p:sp>
      <p:sp>
        <p:nvSpPr>
          <p:cNvPr id="725124" name="Line 132"/>
          <p:cNvSpPr>
            <a:spLocks noChangeShapeType="1"/>
          </p:cNvSpPr>
          <p:nvPr/>
        </p:nvSpPr>
        <p:spPr bwMode="auto">
          <a:xfrm>
            <a:off x="228600" y="838200"/>
            <a:ext cx="0" cy="3505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25" name="Line 133"/>
          <p:cNvSpPr>
            <a:spLocks noChangeShapeType="1"/>
          </p:cNvSpPr>
          <p:nvPr/>
        </p:nvSpPr>
        <p:spPr bwMode="auto">
          <a:xfrm>
            <a:off x="7086600" y="8382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26" name="Line 134"/>
          <p:cNvSpPr>
            <a:spLocks noChangeShapeType="1"/>
          </p:cNvSpPr>
          <p:nvPr/>
        </p:nvSpPr>
        <p:spPr bwMode="auto">
          <a:xfrm>
            <a:off x="5181600" y="4953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27" name="Oval 135"/>
          <p:cNvSpPr>
            <a:spLocks noChangeArrowheads="1"/>
          </p:cNvSpPr>
          <p:nvPr/>
        </p:nvSpPr>
        <p:spPr bwMode="auto">
          <a:xfrm>
            <a:off x="2971800" y="1828800"/>
            <a:ext cx="762000" cy="12192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128" name="Rectangle 136"/>
          <p:cNvSpPr>
            <a:spLocks noChangeArrowheads="1"/>
          </p:cNvSpPr>
          <p:nvPr/>
        </p:nvSpPr>
        <p:spPr bwMode="auto">
          <a:xfrm>
            <a:off x="3124200" y="2286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Unit</a:t>
            </a:r>
          </a:p>
        </p:txBody>
      </p:sp>
      <p:sp>
        <p:nvSpPr>
          <p:cNvPr id="725129" name="Line 137"/>
          <p:cNvSpPr>
            <a:spLocks noChangeShapeType="1"/>
          </p:cNvSpPr>
          <p:nvPr/>
        </p:nvSpPr>
        <p:spPr bwMode="auto">
          <a:xfrm>
            <a:off x="2667000" y="2514600"/>
            <a:ext cx="0" cy="213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30" name="Line 138"/>
          <p:cNvSpPr>
            <a:spLocks noChangeShapeType="1"/>
          </p:cNvSpPr>
          <p:nvPr/>
        </p:nvSpPr>
        <p:spPr bwMode="auto">
          <a:xfrm>
            <a:off x="2667000" y="2514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31" name="Rectangle 139"/>
          <p:cNvSpPr>
            <a:spLocks noChangeArrowheads="1"/>
          </p:cNvSpPr>
          <p:nvPr/>
        </p:nvSpPr>
        <p:spPr bwMode="auto">
          <a:xfrm>
            <a:off x="2209800" y="2286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Instr[31-26]</a:t>
            </a:r>
          </a:p>
        </p:txBody>
      </p:sp>
      <p:sp>
        <p:nvSpPr>
          <p:cNvPr id="725132" name="AutoShape 140"/>
          <p:cNvSpPr>
            <a:spLocks noChangeArrowheads="1"/>
          </p:cNvSpPr>
          <p:nvPr/>
        </p:nvSpPr>
        <p:spPr bwMode="auto">
          <a:xfrm>
            <a:off x="6400800" y="1981200"/>
            <a:ext cx="304800" cy="304800"/>
          </a:xfrm>
          <a:prstGeom prst="flowChartDelay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5133" name="Line 141"/>
          <p:cNvSpPr>
            <a:spLocks noChangeShapeType="1"/>
          </p:cNvSpPr>
          <p:nvPr/>
        </p:nvSpPr>
        <p:spPr bwMode="auto">
          <a:xfrm>
            <a:off x="6705600" y="21336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34" name="Line 142"/>
          <p:cNvSpPr>
            <a:spLocks noChangeShapeType="1"/>
          </p:cNvSpPr>
          <p:nvPr/>
        </p:nvSpPr>
        <p:spPr bwMode="auto">
          <a:xfrm>
            <a:off x="6248400" y="22098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35" name="Line 143"/>
          <p:cNvSpPr>
            <a:spLocks noChangeShapeType="1"/>
          </p:cNvSpPr>
          <p:nvPr/>
        </p:nvSpPr>
        <p:spPr bwMode="auto">
          <a:xfrm>
            <a:off x="3733800" y="2209800"/>
            <a:ext cx="2438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36" name="Rectangle 144"/>
          <p:cNvSpPr>
            <a:spLocks noChangeArrowheads="1"/>
          </p:cNvSpPr>
          <p:nvPr/>
        </p:nvSpPr>
        <p:spPr bwMode="auto">
          <a:xfrm>
            <a:off x="3810000" y="1981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Branch</a:t>
            </a:r>
          </a:p>
        </p:txBody>
      </p:sp>
      <p:sp>
        <p:nvSpPr>
          <p:cNvPr id="725137" name="Line 145"/>
          <p:cNvSpPr>
            <a:spLocks noChangeShapeType="1"/>
          </p:cNvSpPr>
          <p:nvPr/>
        </p:nvSpPr>
        <p:spPr bwMode="auto">
          <a:xfrm>
            <a:off x="3733800" y="2362200"/>
            <a:ext cx="518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38" name="Line 146"/>
          <p:cNvSpPr>
            <a:spLocks noChangeShapeType="1"/>
          </p:cNvSpPr>
          <p:nvPr/>
        </p:nvSpPr>
        <p:spPr bwMode="auto">
          <a:xfrm>
            <a:off x="7543800" y="5334000"/>
            <a:ext cx="137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39" name="Line 147"/>
          <p:cNvSpPr>
            <a:spLocks noChangeShapeType="1"/>
          </p:cNvSpPr>
          <p:nvPr/>
        </p:nvSpPr>
        <p:spPr bwMode="auto">
          <a:xfrm>
            <a:off x="8915400" y="2362200"/>
            <a:ext cx="0" cy="2971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40" name="Line 148"/>
          <p:cNvSpPr>
            <a:spLocks noChangeShapeType="1"/>
          </p:cNvSpPr>
          <p:nvPr/>
        </p:nvSpPr>
        <p:spPr bwMode="auto">
          <a:xfrm>
            <a:off x="3733800" y="2514600"/>
            <a:ext cx="4953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41" name="Line 149"/>
          <p:cNvSpPr>
            <a:spLocks noChangeShapeType="1"/>
          </p:cNvSpPr>
          <p:nvPr/>
        </p:nvSpPr>
        <p:spPr bwMode="auto">
          <a:xfrm>
            <a:off x="3733800" y="2667000"/>
            <a:ext cx="3810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42" name="Line 150"/>
          <p:cNvSpPr>
            <a:spLocks noChangeShapeType="1"/>
          </p:cNvSpPr>
          <p:nvPr/>
        </p:nvSpPr>
        <p:spPr bwMode="auto">
          <a:xfrm>
            <a:off x="3581400" y="2971800"/>
            <a:ext cx="609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43" name="Line 151"/>
          <p:cNvSpPr>
            <a:spLocks noChangeShapeType="1"/>
          </p:cNvSpPr>
          <p:nvPr/>
        </p:nvSpPr>
        <p:spPr bwMode="auto">
          <a:xfrm>
            <a:off x="3657600" y="2819400"/>
            <a:ext cx="18288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44" name="Line 152"/>
          <p:cNvSpPr>
            <a:spLocks noChangeShapeType="1"/>
          </p:cNvSpPr>
          <p:nvPr/>
        </p:nvSpPr>
        <p:spPr bwMode="auto">
          <a:xfrm>
            <a:off x="5486400" y="2819400"/>
            <a:ext cx="0" cy="1676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45" name="Line 153"/>
          <p:cNvSpPr>
            <a:spLocks noChangeShapeType="1"/>
          </p:cNvSpPr>
          <p:nvPr/>
        </p:nvSpPr>
        <p:spPr bwMode="auto">
          <a:xfrm>
            <a:off x="2590800" y="6324600"/>
            <a:ext cx="3505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46" name="Line 154"/>
          <p:cNvSpPr>
            <a:spLocks noChangeShapeType="1"/>
          </p:cNvSpPr>
          <p:nvPr/>
        </p:nvSpPr>
        <p:spPr bwMode="auto">
          <a:xfrm>
            <a:off x="2590800" y="2133600"/>
            <a:ext cx="0" cy="419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47" name="Line 155"/>
          <p:cNvSpPr>
            <a:spLocks noChangeShapeType="1"/>
          </p:cNvSpPr>
          <p:nvPr/>
        </p:nvSpPr>
        <p:spPr bwMode="auto">
          <a:xfrm>
            <a:off x="2590800" y="213360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48" name="Line 156"/>
          <p:cNvSpPr>
            <a:spLocks noChangeShapeType="1"/>
          </p:cNvSpPr>
          <p:nvPr/>
        </p:nvSpPr>
        <p:spPr bwMode="auto">
          <a:xfrm>
            <a:off x="3657600" y="5562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49" name="Line 157"/>
          <p:cNvSpPr>
            <a:spLocks noChangeShapeType="1"/>
          </p:cNvSpPr>
          <p:nvPr/>
        </p:nvSpPr>
        <p:spPr bwMode="auto">
          <a:xfrm>
            <a:off x="5562600" y="5486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50" name="Line 158"/>
          <p:cNvSpPr>
            <a:spLocks noChangeShapeType="1"/>
          </p:cNvSpPr>
          <p:nvPr/>
        </p:nvSpPr>
        <p:spPr bwMode="auto">
          <a:xfrm>
            <a:off x="6172200" y="2057400"/>
            <a:ext cx="228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51" name="Line 159"/>
          <p:cNvSpPr>
            <a:spLocks noChangeShapeType="1"/>
          </p:cNvSpPr>
          <p:nvPr/>
        </p:nvSpPr>
        <p:spPr bwMode="auto">
          <a:xfrm flipV="1">
            <a:off x="6172200" y="2057400"/>
            <a:ext cx="0" cy="152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52" name="Line 160"/>
          <p:cNvSpPr>
            <a:spLocks noChangeShapeType="1"/>
          </p:cNvSpPr>
          <p:nvPr/>
        </p:nvSpPr>
        <p:spPr bwMode="auto">
          <a:xfrm>
            <a:off x="2133600" y="1447800"/>
            <a:ext cx="304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53" name="Line 161"/>
          <p:cNvSpPr>
            <a:spLocks noChangeShapeType="1"/>
          </p:cNvSpPr>
          <p:nvPr/>
        </p:nvSpPr>
        <p:spPr bwMode="auto">
          <a:xfrm>
            <a:off x="4953000" y="4572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54" name="Line 162"/>
          <p:cNvSpPr>
            <a:spLocks noChangeShapeType="1"/>
          </p:cNvSpPr>
          <p:nvPr/>
        </p:nvSpPr>
        <p:spPr bwMode="auto">
          <a:xfrm>
            <a:off x="6477000" y="38862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55" name="Line 163"/>
          <p:cNvSpPr>
            <a:spLocks noChangeShapeType="1"/>
          </p:cNvSpPr>
          <p:nvPr/>
        </p:nvSpPr>
        <p:spPr bwMode="auto">
          <a:xfrm>
            <a:off x="6477000" y="43434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56" name="Line 164"/>
          <p:cNvSpPr>
            <a:spLocks noChangeShapeType="1"/>
          </p:cNvSpPr>
          <p:nvPr/>
        </p:nvSpPr>
        <p:spPr bwMode="auto">
          <a:xfrm>
            <a:off x="5181600" y="1905000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57" name="Line 165"/>
          <p:cNvSpPr>
            <a:spLocks noChangeShapeType="1"/>
          </p:cNvSpPr>
          <p:nvPr/>
        </p:nvSpPr>
        <p:spPr bwMode="auto">
          <a:xfrm>
            <a:off x="2667000" y="46482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5158" name="Rectangle 166"/>
          <p:cNvSpPr>
            <a:spLocks noChangeArrowheads="1"/>
          </p:cNvSpPr>
          <p:nvPr/>
        </p:nvSpPr>
        <p:spPr bwMode="auto">
          <a:xfrm>
            <a:off x="5943600" y="3886200"/>
            <a:ext cx="5334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zero</a:t>
            </a:r>
          </a:p>
        </p:txBody>
      </p:sp>
    </p:spTree>
    <p:extLst>
      <p:ext uri="{BB962C8B-B14F-4D97-AF65-F5344CB8AC3E}">
        <p14:creationId xmlns:p14="http://schemas.microsoft.com/office/powerpoint/2010/main" val="21356822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R-type Instruction Data/Control Flow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52600" y="914400"/>
            <a:ext cx="381000" cy="990600"/>
            <a:chOff x="1392" y="2880"/>
            <a:chExt cx="288" cy="480"/>
          </a:xfrm>
        </p:grpSpPr>
        <p:sp>
          <p:nvSpPr>
            <p:cNvPr id="727044" name="Line 4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045" name="Line 5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046" name="Line 6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047" name="Line 7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048" name="Line 8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049" name="Line 9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050" name="Line 10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7051" name="Rectangle 11"/>
          <p:cNvSpPr>
            <a:spLocks noChangeArrowheads="1"/>
          </p:cNvSpPr>
          <p:nvPr/>
        </p:nvSpPr>
        <p:spPr bwMode="auto">
          <a:xfrm>
            <a:off x="1052513" y="3581400"/>
            <a:ext cx="1447800" cy="14478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052" name="Rectangle 12"/>
          <p:cNvSpPr>
            <a:spLocks noChangeArrowheads="1"/>
          </p:cNvSpPr>
          <p:nvPr/>
        </p:nvSpPr>
        <p:spPr bwMode="auto">
          <a:xfrm>
            <a:off x="519113" y="3962400"/>
            <a:ext cx="228600" cy="8382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053" name="Line 13"/>
          <p:cNvSpPr>
            <a:spLocks noChangeShapeType="1"/>
          </p:cNvSpPr>
          <p:nvPr/>
        </p:nvSpPr>
        <p:spPr bwMode="auto">
          <a:xfrm>
            <a:off x="747713" y="4343400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54" name="Line 14"/>
          <p:cNvSpPr>
            <a:spLocks noChangeShapeType="1"/>
          </p:cNvSpPr>
          <p:nvPr/>
        </p:nvSpPr>
        <p:spPr bwMode="auto">
          <a:xfrm>
            <a:off x="838200" y="1066800"/>
            <a:ext cx="914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55" name="Line 15"/>
          <p:cNvSpPr>
            <a:spLocks noChangeShapeType="1"/>
          </p:cNvSpPr>
          <p:nvPr/>
        </p:nvSpPr>
        <p:spPr bwMode="auto">
          <a:xfrm>
            <a:off x="1371600" y="1752600"/>
            <a:ext cx="38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56" name="Text Box 16"/>
          <p:cNvSpPr txBox="1">
            <a:spLocks noChangeArrowheads="1"/>
          </p:cNvSpPr>
          <p:nvPr/>
        </p:nvSpPr>
        <p:spPr bwMode="auto">
          <a:xfrm>
            <a:off x="976313" y="4114800"/>
            <a:ext cx="74136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27057" name="Text Box 17"/>
          <p:cNvSpPr txBox="1">
            <a:spLocks noChangeArrowheads="1"/>
          </p:cNvSpPr>
          <p:nvPr/>
        </p:nvSpPr>
        <p:spPr bwMode="auto">
          <a:xfrm>
            <a:off x="1738313" y="4191000"/>
            <a:ext cx="8699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Instr[31-0]</a:t>
            </a:r>
          </a:p>
        </p:txBody>
      </p:sp>
      <p:sp>
        <p:nvSpPr>
          <p:cNvPr id="727058" name="Text Box 18"/>
          <p:cNvSpPr txBox="1">
            <a:spLocks noChangeArrowheads="1"/>
          </p:cNvSpPr>
          <p:nvPr/>
        </p:nvSpPr>
        <p:spPr bwMode="auto">
          <a:xfrm>
            <a:off x="1281113" y="3657600"/>
            <a:ext cx="9731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Instruction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27059" name="Text Box 19"/>
          <p:cNvSpPr txBox="1">
            <a:spLocks noChangeArrowheads="1"/>
          </p:cNvSpPr>
          <p:nvPr/>
        </p:nvSpPr>
        <p:spPr bwMode="auto">
          <a:xfrm>
            <a:off x="1752600" y="12954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27060" name="Text Box 20"/>
          <p:cNvSpPr txBox="1">
            <a:spLocks noChangeArrowheads="1"/>
          </p:cNvSpPr>
          <p:nvPr/>
        </p:nvSpPr>
        <p:spPr bwMode="auto">
          <a:xfrm>
            <a:off x="442913" y="4191000"/>
            <a:ext cx="395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PC</a:t>
            </a:r>
          </a:p>
        </p:txBody>
      </p:sp>
      <p:sp>
        <p:nvSpPr>
          <p:cNvPr id="727061" name="Line 21"/>
          <p:cNvSpPr>
            <a:spLocks noChangeShapeType="1"/>
          </p:cNvSpPr>
          <p:nvPr/>
        </p:nvSpPr>
        <p:spPr bwMode="auto">
          <a:xfrm>
            <a:off x="228600" y="838200"/>
            <a:ext cx="6858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62" name="Line 22"/>
          <p:cNvSpPr>
            <a:spLocks noChangeShapeType="1"/>
          </p:cNvSpPr>
          <p:nvPr/>
        </p:nvSpPr>
        <p:spPr bwMode="auto">
          <a:xfrm>
            <a:off x="214313" y="4343400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63" name="Text Box 23"/>
          <p:cNvSpPr txBox="1">
            <a:spLocks noChangeArrowheads="1"/>
          </p:cNvSpPr>
          <p:nvPr/>
        </p:nvSpPr>
        <p:spPr bwMode="auto">
          <a:xfrm>
            <a:off x="1143000" y="16002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27064" name="Rectangle 24"/>
          <p:cNvSpPr>
            <a:spLocks noChangeArrowheads="1"/>
          </p:cNvSpPr>
          <p:nvPr/>
        </p:nvSpPr>
        <p:spPr bwMode="auto">
          <a:xfrm>
            <a:off x="3505200" y="3581400"/>
            <a:ext cx="1447800" cy="14478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065" name="Line 25"/>
          <p:cNvSpPr>
            <a:spLocks noChangeShapeType="1"/>
          </p:cNvSpPr>
          <p:nvPr/>
        </p:nvSpPr>
        <p:spPr bwMode="auto">
          <a:xfrm>
            <a:off x="2500313" y="43434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66" name="Line 26"/>
          <p:cNvSpPr>
            <a:spLocks noChangeShapeType="1"/>
          </p:cNvSpPr>
          <p:nvPr/>
        </p:nvSpPr>
        <p:spPr bwMode="auto">
          <a:xfrm>
            <a:off x="2652713" y="4114800"/>
            <a:ext cx="8524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67" name="Line 27"/>
          <p:cNvSpPr>
            <a:spLocks noChangeShapeType="1"/>
          </p:cNvSpPr>
          <p:nvPr/>
        </p:nvSpPr>
        <p:spPr bwMode="auto">
          <a:xfrm>
            <a:off x="2652713" y="4648200"/>
            <a:ext cx="4714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68" name="Line 28"/>
          <p:cNvSpPr>
            <a:spLocks noChangeShapeType="1"/>
          </p:cNvSpPr>
          <p:nvPr/>
        </p:nvSpPr>
        <p:spPr bwMode="auto">
          <a:xfrm>
            <a:off x="8382000" y="4724400"/>
            <a:ext cx="228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69" name="Line 29"/>
          <p:cNvSpPr>
            <a:spLocks noChangeShapeType="1"/>
          </p:cNvSpPr>
          <p:nvPr/>
        </p:nvSpPr>
        <p:spPr bwMode="auto">
          <a:xfrm>
            <a:off x="2652713" y="3733800"/>
            <a:ext cx="8524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70" name="Line 30"/>
          <p:cNvSpPr>
            <a:spLocks noChangeShapeType="1"/>
          </p:cNvSpPr>
          <p:nvPr/>
        </p:nvSpPr>
        <p:spPr bwMode="auto">
          <a:xfrm>
            <a:off x="4953000" y="3962400"/>
            <a:ext cx="863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71" name="Line 31"/>
          <p:cNvSpPr>
            <a:spLocks noChangeShapeType="1"/>
          </p:cNvSpPr>
          <p:nvPr/>
        </p:nvSpPr>
        <p:spPr bwMode="auto">
          <a:xfrm>
            <a:off x="5105400" y="4572000"/>
            <a:ext cx="279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72" name="Line 32"/>
          <p:cNvSpPr>
            <a:spLocks noChangeShapeType="1"/>
          </p:cNvSpPr>
          <p:nvPr/>
        </p:nvSpPr>
        <p:spPr bwMode="auto">
          <a:xfrm>
            <a:off x="6477000" y="5715000"/>
            <a:ext cx="1930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73" name="Line 33"/>
          <p:cNvSpPr>
            <a:spLocks noChangeShapeType="1"/>
          </p:cNvSpPr>
          <p:nvPr/>
        </p:nvSpPr>
        <p:spPr bwMode="auto">
          <a:xfrm>
            <a:off x="6324600" y="4343400"/>
            <a:ext cx="177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74" name="Text Box 34"/>
          <p:cNvSpPr txBox="1">
            <a:spLocks noChangeArrowheads="1"/>
          </p:cNvSpPr>
          <p:nvPr/>
        </p:nvSpPr>
        <p:spPr bwMode="auto">
          <a:xfrm>
            <a:off x="3429000" y="4724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27075" name="Text Box 35"/>
          <p:cNvSpPr txBox="1">
            <a:spLocks noChangeArrowheads="1"/>
          </p:cNvSpPr>
          <p:nvPr/>
        </p:nvSpPr>
        <p:spPr bwMode="auto">
          <a:xfrm>
            <a:off x="3429000" y="3581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1</a:t>
            </a:r>
          </a:p>
        </p:txBody>
      </p:sp>
      <p:sp>
        <p:nvSpPr>
          <p:cNvPr id="727076" name="Text Box 36"/>
          <p:cNvSpPr txBox="1">
            <a:spLocks noChangeArrowheads="1"/>
          </p:cNvSpPr>
          <p:nvPr/>
        </p:nvSpPr>
        <p:spPr bwMode="auto">
          <a:xfrm>
            <a:off x="3429000" y="3962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2</a:t>
            </a:r>
          </a:p>
        </p:txBody>
      </p:sp>
      <p:sp>
        <p:nvSpPr>
          <p:cNvPr id="727077" name="Text Box 37"/>
          <p:cNvSpPr txBox="1">
            <a:spLocks noChangeArrowheads="1"/>
          </p:cNvSpPr>
          <p:nvPr/>
        </p:nvSpPr>
        <p:spPr bwMode="auto">
          <a:xfrm>
            <a:off x="3429000" y="4343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Addr</a:t>
            </a:r>
          </a:p>
        </p:txBody>
      </p:sp>
      <p:sp>
        <p:nvSpPr>
          <p:cNvPr id="727078" name="Text Box 38"/>
          <p:cNvSpPr txBox="1">
            <a:spLocks noChangeArrowheads="1"/>
          </p:cNvSpPr>
          <p:nvPr/>
        </p:nvSpPr>
        <p:spPr bwMode="auto">
          <a:xfrm>
            <a:off x="3752850" y="38100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Register</a:t>
            </a:r>
          </a:p>
          <a:p>
            <a:pPr algn="ctr"/>
            <a:endParaRPr lang="en-US" altLang="zh-CN" sz="1200" b="1">
              <a:solidFill>
                <a:schemeClr val="tx1"/>
              </a:solidFill>
              <a:ea typeface="宋体" pitchFamily="2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File</a:t>
            </a:r>
          </a:p>
        </p:txBody>
      </p:sp>
      <p:sp>
        <p:nvSpPr>
          <p:cNvPr id="727079" name="Text Box 39"/>
          <p:cNvSpPr txBox="1">
            <a:spLocks noChangeArrowheads="1"/>
          </p:cNvSpPr>
          <p:nvPr/>
        </p:nvSpPr>
        <p:spPr bwMode="auto">
          <a:xfrm>
            <a:off x="4343400" y="37338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1</a:t>
            </a:r>
          </a:p>
        </p:txBody>
      </p:sp>
      <p:sp>
        <p:nvSpPr>
          <p:cNvPr id="727080" name="Text Box 40"/>
          <p:cNvSpPr txBox="1">
            <a:spLocks noChangeArrowheads="1"/>
          </p:cNvSpPr>
          <p:nvPr/>
        </p:nvSpPr>
        <p:spPr bwMode="auto">
          <a:xfrm>
            <a:off x="4368800" y="44196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2</a:t>
            </a:r>
          </a:p>
        </p:txBody>
      </p:sp>
      <p:sp>
        <p:nvSpPr>
          <p:cNvPr id="727081" name="Freeform 41"/>
          <p:cNvSpPr>
            <a:spLocks/>
          </p:cNvSpPr>
          <p:nvPr/>
        </p:nvSpPr>
        <p:spPr bwMode="auto">
          <a:xfrm>
            <a:off x="5791200" y="36576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82" name="Rectangle 42"/>
          <p:cNvSpPr>
            <a:spLocks noChangeArrowheads="1"/>
          </p:cNvSpPr>
          <p:nvPr/>
        </p:nvSpPr>
        <p:spPr bwMode="auto">
          <a:xfrm>
            <a:off x="5892800" y="42672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ALU</a:t>
            </a:r>
          </a:p>
        </p:txBody>
      </p:sp>
      <p:sp>
        <p:nvSpPr>
          <p:cNvPr id="727083" name="Rectangle 43"/>
          <p:cNvSpPr>
            <a:spLocks noChangeArrowheads="1"/>
          </p:cNvSpPr>
          <p:nvPr/>
        </p:nvSpPr>
        <p:spPr bwMode="auto">
          <a:xfrm>
            <a:off x="5791200" y="3276600"/>
            <a:ext cx="7620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ovf</a:t>
            </a:r>
          </a:p>
        </p:txBody>
      </p:sp>
      <p:sp>
        <p:nvSpPr>
          <p:cNvPr id="727084" name="Rectangle 44"/>
          <p:cNvSpPr>
            <a:spLocks noChangeArrowheads="1"/>
          </p:cNvSpPr>
          <p:nvPr/>
        </p:nvSpPr>
        <p:spPr bwMode="auto">
          <a:xfrm>
            <a:off x="5943600" y="3886200"/>
            <a:ext cx="5334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zero</a:t>
            </a:r>
          </a:p>
        </p:txBody>
      </p:sp>
      <p:sp>
        <p:nvSpPr>
          <p:cNvPr id="727085" name="Line 45"/>
          <p:cNvSpPr>
            <a:spLocks noChangeShapeType="1"/>
          </p:cNvSpPr>
          <p:nvPr/>
        </p:nvSpPr>
        <p:spPr bwMode="auto">
          <a:xfrm>
            <a:off x="6096000" y="4724400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86" name="Line 46"/>
          <p:cNvSpPr>
            <a:spLocks noChangeShapeType="1"/>
          </p:cNvSpPr>
          <p:nvPr/>
        </p:nvSpPr>
        <p:spPr bwMode="auto">
          <a:xfrm>
            <a:off x="4191000" y="2971800"/>
            <a:ext cx="0" cy="609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87" name="Rectangle 47"/>
          <p:cNvSpPr>
            <a:spLocks noChangeArrowheads="1"/>
          </p:cNvSpPr>
          <p:nvPr/>
        </p:nvSpPr>
        <p:spPr bwMode="auto">
          <a:xfrm>
            <a:off x="4191000" y="29718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RegWrite</a:t>
            </a:r>
          </a:p>
        </p:txBody>
      </p:sp>
      <p:sp>
        <p:nvSpPr>
          <p:cNvPr id="727088" name="Line 48"/>
          <p:cNvSpPr>
            <a:spLocks noChangeShapeType="1"/>
          </p:cNvSpPr>
          <p:nvPr/>
        </p:nvSpPr>
        <p:spPr bwMode="auto">
          <a:xfrm flipV="1">
            <a:off x="5943600" y="35052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89" name="Line 49"/>
          <p:cNvSpPr>
            <a:spLocks noChangeShapeType="1"/>
          </p:cNvSpPr>
          <p:nvPr/>
        </p:nvSpPr>
        <p:spPr bwMode="auto">
          <a:xfrm flipV="1">
            <a:off x="6248400" y="22098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90" name="Line 50"/>
          <p:cNvSpPr>
            <a:spLocks noChangeShapeType="1"/>
          </p:cNvSpPr>
          <p:nvPr/>
        </p:nvSpPr>
        <p:spPr bwMode="auto">
          <a:xfrm>
            <a:off x="8991600" y="4495800"/>
            <a:ext cx="0" cy="1981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91" name="Rectangle 51"/>
          <p:cNvSpPr>
            <a:spLocks noChangeArrowheads="1"/>
          </p:cNvSpPr>
          <p:nvPr/>
        </p:nvSpPr>
        <p:spPr bwMode="auto">
          <a:xfrm>
            <a:off x="6858000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092" name="Line 52"/>
          <p:cNvSpPr>
            <a:spLocks noChangeShapeType="1"/>
          </p:cNvSpPr>
          <p:nvPr/>
        </p:nvSpPr>
        <p:spPr bwMode="auto">
          <a:xfrm>
            <a:off x="8305800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93" name="Line 53"/>
          <p:cNvSpPr>
            <a:spLocks noChangeShapeType="1"/>
          </p:cNvSpPr>
          <p:nvPr/>
        </p:nvSpPr>
        <p:spPr bwMode="auto">
          <a:xfrm>
            <a:off x="6477000" y="3886200"/>
            <a:ext cx="40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94" name="Line 54"/>
          <p:cNvSpPr>
            <a:spLocks noChangeShapeType="1"/>
          </p:cNvSpPr>
          <p:nvPr/>
        </p:nvSpPr>
        <p:spPr bwMode="auto">
          <a:xfrm>
            <a:off x="6629400" y="4724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095" name="Text Box 55"/>
          <p:cNvSpPr txBox="1">
            <a:spLocks noChangeArrowheads="1"/>
          </p:cNvSpPr>
          <p:nvPr/>
        </p:nvSpPr>
        <p:spPr bwMode="auto">
          <a:xfrm>
            <a:off x="6781800" y="4038600"/>
            <a:ext cx="766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Data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27096" name="Text Box 56"/>
          <p:cNvSpPr txBox="1">
            <a:spLocks noChangeArrowheads="1"/>
          </p:cNvSpPr>
          <p:nvPr/>
        </p:nvSpPr>
        <p:spPr bwMode="auto">
          <a:xfrm>
            <a:off x="6781800" y="3733800"/>
            <a:ext cx="7413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27097" name="Text Box 57"/>
          <p:cNvSpPr txBox="1">
            <a:spLocks noChangeArrowheads="1"/>
          </p:cNvSpPr>
          <p:nvPr/>
        </p:nvSpPr>
        <p:spPr bwMode="auto">
          <a:xfrm>
            <a:off x="6781800" y="45720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27098" name="Text Box 58"/>
          <p:cNvSpPr txBox="1">
            <a:spLocks noChangeArrowheads="1"/>
          </p:cNvSpPr>
          <p:nvPr/>
        </p:nvSpPr>
        <p:spPr bwMode="auto">
          <a:xfrm>
            <a:off x="7467600" y="4191000"/>
            <a:ext cx="909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727099" name="Line 59"/>
          <p:cNvSpPr>
            <a:spLocks noChangeShapeType="1"/>
          </p:cNvSpPr>
          <p:nvPr/>
        </p:nvSpPr>
        <p:spPr bwMode="auto">
          <a:xfrm>
            <a:off x="7543800" y="2667000"/>
            <a:ext cx="0" cy="914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00" name="Rectangle 60"/>
          <p:cNvSpPr>
            <a:spLocks noChangeArrowheads="1"/>
          </p:cNvSpPr>
          <p:nvPr/>
        </p:nvSpPr>
        <p:spPr bwMode="auto">
          <a:xfrm>
            <a:off x="6553200" y="24384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MemWrite</a:t>
            </a:r>
          </a:p>
        </p:txBody>
      </p:sp>
      <p:sp>
        <p:nvSpPr>
          <p:cNvPr id="727101" name="Rectangle 61"/>
          <p:cNvSpPr>
            <a:spLocks noChangeArrowheads="1"/>
          </p:cNvSpPr>
          <p:nvPr/>
        </p:nvSpPr>
        <p:spPr bwMode="auto">
          <a:xfrm>
            <a:off x="7848600" y="21336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MemRead</a:t>
            </a:r>
          </a:p>
        </p:txBody>
      </p:sp>
      <p:sp>
        <p:nvSpPr>
          <p:cNvPr id="727102" name="Line 62"/>
          <p:cNvSpPr>
            <a:spLocks noChangeShapeType="1"/>
          </p:cNvSpPr>
          <p:nvPr/>
        </p:nvSpPr>
        <p:spPr bwMode="auto">
          <a:xfrm>
            <a:off x="7543800" y="50292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03" name="Line 63"/>
          <p:cNvSpPr>
            <a:spLocks noChangeShapeType="1"/>
          </p:cNvSpPr>
          <p:nvPr/>
        </p:nvSpPr>
        <p:spPr bwMode="auto">
          <a:xfrm>
            <a:off x="3276600" y="6477000"/>
            <a:ext cx="5715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04" name="Line 64"/>
          <p:cNvSpPr>
            <a:spLocks noChangeShapeType="1"/>
          </p:cNvSpPr>
          <p:nvPr/>
        </p:nvSpPr>
        <p:spPr bwMode="auto">
          <a:xfrm>
            <a:off x="5054600" y="51816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05" name="Line 65"/>
          <p:cNvSpPr>
            <a:spLocks noChangeShapeType="1"/>
          </p:cNvSpPr>
          <p:nvPr/>
        </p:nvSpPr>
        <p:spPr bwMode="auto">
          <a:xfrm>
            <a:off x="4811713" y="556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06" name="Oval 66"/>
          <p:cNvSpPr>
            <a:spLocks noChangeArrowheads="1"/>
          </p:cNvSpPr>
          <p:nvPr/>
        </p:nvSpPr>
        <p:spPr bwMode="auto">
          <a:xfrm>
            <a:off x="4202113" y="5181600"/>
            <a:ext cx="6096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07" name="Rectangle 67"/>
          <p:cNvSpPr>
            <a:spLocks noChangeArrowheads="1"/>
          </p:cNvSpPr>
          <p:nvPr/>
        </p:nvSpPr>
        <p:spPr bwMode="auto">
          <a:xfrm>
            <a:off x="4252913" y="5334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Sign</a:t>
            </a:r>
          </a:p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Extend</a:t>
            </a:r>
          </a:p>
        </p:txBody>
      </p:sp>
      <p:sp>
        <p:nvSpPr>
          <p:cNvPr id="727108" name="Line 68"/>
          <p:cNvSpPr>
            <a:spLocks noChangeShapeType="1"/>
          </p:cNvSpPr>
          <p:nvPr/>
        </p:nvSpPr>
        <p:spPr bwMode="auto">
          <a:xfrm>
            <a:off x="2638425" y="5562600"/>
            <a:ext cx="10191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09" name="Line 69"/>
          <p:cNvSpPr>
            <a:spLocks noChangeShapeType="1"/>
          </p:cNvSpPr>
          <p:nvPr/>
        </p:nvSpPr>
        <p:spPr bwMode="auto">
          <a:xfrm>
            <a:off x="3871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10" name="Line 70"/>
          <p:cNvSpPr>
            <a:spLocks noChangeShapeType="1"/>
          </p:cNvSpPr>
          <p:nvPr/>
        </p:nvSpPr>
        <p:spPr bwMode="auto">
          <a:xfrm>
            <a:off x="4887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11" name="Text Box 71"/>
          <p:cNvSpPr txBox="1">
            <a:spLocks noChangeArrowheads="1"/>
          </p:cNvSpPr>
          <p:nvPr/>
        </p:nvSpPr>
        <p:spPr bwMode="auto">
          <a:xfrm>
            <a:off x="3871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16</a:t>
            </a:r>
          </a:p>
        </p:txBody>
      </p:sp>
      <p:sp>
        <p:nvSpPr>
          <p:cNvPr id="727112" name="Text Box 72"/>
          <p:cNvSpPr txBox="1">
            <a:spLocks noChangeArrowheads="1"/>
          </p:cNvSpPr>
          <p:nvPr/>
        </p:nvSpPr>
        <p:spPr bwMode="auto">
          <a:xfrm>
            <a:off x="4887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32</a:t>
            </a:r>
          </a:p>
        </p:txBody>
      </p:sp>
      <p:sp>
        <p:nvSpPr>
          <p:cNvPr id="727113" name="Line 73"/>
          <p:cNvSpPr>
            <a:spLocks noChangeShapeType="1"/>
          </p:cNvSpPr>
          <p:nvPr/>
        </p:nvSpPr>
        <p:spPr bwMode="auto">
          <a:xfrm>
            <a:off x="5054600" y="4572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14" name="Line 74"/>
          <p:cNvSpPr>
            <a:spLocks noChangeShapeType="1"/>
          </p:cNvSpPr>
          <p:nvPr/>
        </p:nvSpPr>
        <p:spPr bwMode="auto">
          <a:xfrm>
            <a:off x="8382000" y="4724400"/>
            <a:ext cx="0" cy="990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15" name="Line 75"/>
          <p:cNvSpPr>
            <a:spLocks noChangeShapeType="1"/>
          </p:cNvSpPr>
          <p:nvPr/>
        </p:nvSpPr>
        <p:spPr bwMode="auto">
          <a:xfrm>
            <a:off x="5181600" y="49530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16" name="Line 76"/>
          <p:cNvSpPr>
            <a:spLocks noChangeShapeType="1"/>
          </p:cNvSpPr>
          <p:nvPr/>
        </p:nvSpPr>
        <p:spPr bwMode="auto">
          <a:xfrm>
            <a:off x="3276600" y="4876800"/>
            <a:ext cx="254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17" name="AutoShape 77"/>
          <p:cNvSpPr>
            <a:spLocks noChangeArrowheads="1"/>
          </p:cNvSpPr>
          <p:nvPr/>
        </p:nvSpPr>
        <p:spPr bwMode="auto">
          <a:xfrm rot="-5400000">
            <a:off x="8382000" y="4419600"/>
            <a:ext cx="6858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18" name="Line 78"/>
          <p:cNvSpPr>
            <a:spLocks noChangeShapeType="1"/>
          </p:cNvSpPr>
          <p:nvPr/>
        </p:nvSpPr>
        <p:spPr bwMode="auto">
          <a:xfrm>
            <a:off x="8839200" y="44958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19" name="AutoShape 79"/>
          <p:cNvSpPr>
            <a:spLocks noChangeArrowheads="1"/>
          </p:cNvSpPr>
          <p:nvPr/>
        </p:nvSpPr>
        <p:spPr bwMode="auto">
          <a:xfrm rot="-5400000">
            <a:off x="5092700" y="46101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20" name="Line 80"/>
          <p:cNvSpPr>
            <a:spLocks noChangeShapeType="1"/>
          </p:cNvSpPr>
          <p:nvPr/>
        </p:nvSpPr>
        <p:spPr bwMode="auto">
          <a:xfrm>
            <a:off x="5588000" y="4724400"/>
            <a:ext cx="228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21" name="Line 81"/>
          <p:cNvSpPr>
            <a:spLocks noChangeShapeType="1"/>
          </p:cNvSpPr>
          <p:nvPr/>
        </p:nvSpPr>
        <p:spPr bwMode="auto">
          <a:xfrm>
            <a:off x="3276600" y="4876800"/>
            <a:ext cx="0" cy="1600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22" name="Line 82"/>
          <p:cNvSpPr>
            <a:spLocks noChangeShapeType="1"/>
          </p:cNvSpPr>
          <p:nvPr/>
        </p:nvSpPr>
        <p:spPr bwMode="auto">
          <a:xfrm>
            <a:off x="8686800" y="25146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23" name="Rectangle 83"/>
          <p:cNvSpPr>
            <a:spLocks noChangeArrowheads="1"/>
          </p:cNvSpPr>
          <p:nvPr/>
        </p:nvSpPr>
        <p:spPr bwMode="auto">
          <a:xfrm>
            <a:off x="7162800" y="22860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MemtoReg</a:t>
            </a:r>
          </a:p>
        </p:txBody>
      </p:sp>
      <p:sp>
        <p:nvSpPr>
          <p:cNvPr id="727124" name="Rectangle 84"/>
          <p:cNvSpPr>
            <a:spLocks noChangeArrowheads="1"/>
          </p:cNvSpPr>
          <p:nvPr/>
        </p:nvSpPr>
        <p:spPr bwMode="auto">
          <a:xfrm>
            <a:off x="4343400" y="25908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ALUSrc</a:t>
            </a:r>
          </a:p>
        </p:txBody>
      </p:sp>
      <p:sp>
        <p:nvSpPr>
          <p:cNvPr id="727125" name="Oval 85"/>
          <p:cNvSpPr>
            <a:spLocks noChangeArrowheads="1"/>
          </p:cNvSpPr>
          <p:nvPr/>
        </p:nvSpPr>
        <p:spPr bwMode="auto">
          <a:xfrm>
            <a:off x="5410200" y="1600200"/>
            <a:ext cx="4572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26" name="Rectangle 86"/>
          <p:cNvSpPr>
            <a:spLocks noChangeArrowheads="1"/>
          </p:cNvSpPr>
          <p:nvPr/>
        </p:nvSpPr>
        <p:spPr bwMode="auto">
          <a:xfrm>
            <a:off x="5410200" y="1600200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Shift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left 2</a:t>
            </a:r>
          </a:p>
        </p:txBody>
      </p:sp>
      <p:sp>
        <p:nvSpPr>
          <p:cNvPr id="727127" name="Line 87"/>
          <p:cNvSpPr>
            <a:spLocks noChangeShapeType="1"/>
          </p:cNvSpPr>
          <p:nvPr/>
        </p:nvSpPr>
        <p:spPr bwMode="auto">
          <a:xfrm>
            <a:off x="5181600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28" name="Line 88"/>
          <p:cNvSpPr>
            <a:spLocks noChangeShapeType="1"/>
          </p:cNvSpPr>
          <p:nvPr/>
        </p:nvSpPr>
        <p:spPr bwMode="auto">
          <a:xfrm>
            <a:off x="5181600" y="1447800"/>
            <a:ext cx="928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6096000" y="1143000"/>
            <a:ext cx="381000" cy="914400"/>
            <a:chOff x="1392" y="2880"/>
            <a:chExt cx="288" cy="480"/>
          </a:xfrm>
        </p:grpSpPr>
        <p:sp>
          <p:nvSpPr>
            <p:cNvPr id="727130" name="Line 90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131" name="Line 91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132" name="Line 92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133" name="Line 93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134" name="Line 94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135" name="Line 95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136" name="Line 96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7137" name="Text Box 97"/>
          <p:cNvSpPr txBox="1">
            <a:spLocks noChangeArrowheads="1"/>
          </p:cNvSpPr>
          <p:nvPr/>
        </p:nvSpPr>
        <p:spPr bwMode="auto">
          <a:xfrm>
            <a:off x="6096000" y="14478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27138" name="Line 98"/>
          <p:cNvSpPr>
            <a:spLocks noChangeShapeType="1"/>
          </p:cNvSpPr>
          <p:nvPr/>
        </p:nvSpPr>
        <p:spPr bwMode="auto">
          <a:xfrm>
            <a:off x="5853113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39" name="Line 99"/>
          <p:cNvSpPr>
            <a:spLocks noChangeShapeType="1"/>
          </p:cNvSpPr>
          <p:nvPr/>
        </p:nvSpPr>
        <p:spPr bwMode="auto">
          <a:xfrm>
            <a:off x="6477000" y="1600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40" name="Line 100"/>
          <p:cNvSpPr>
            <a:spLocks noChangeShapeType="1"/>
          </p:cNvSpPr>
          <p:nvPr/>
        </p:nvSpPr>
        <p:spPr bwMode="auto">
          <a:xfrm>
            <a:off x="838200" y="1066800"/>
            <a:ext cx="0" cy="3276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41" name="AutoShape 101"/>
          <p:cNvSpPr>
            <a:spLocks noChangeArrowheads="1"/>
          </p:cNvSpPr>
          <p:nvPr/>
        </p:nvSpPr>
        <p:spPr bwMode="auto">
          <a:xfrm rot="-5400000">
            <a:off x="6400800" y="1219200"/>
            <a:ext cx="8382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42" name="Line 102"/>
          <p:cNvSpPr>
            <a:spLocks noChangeShapeType="1"/>
          </p:cNvSpPr>
          <p:nvPr/>
        </p:nvSpPr>
        <p:spPr bwMode="auto">
          <a:xfrm>
            <a:off x="5181600" y="1066800"/>
            <a:ext cx="1524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43" name="Line 103"/>
          <p:cNvSpPr>
            <a:spLocks noChangeShapeType="1"/>
          </p:cNvSpPr>
          <p:nvPr/>
        </p:nvSpPr>
        <p:spPr bwMode="auto">
          <a:xfrm>
            <a:off x="5181600" y="1066800"/>
            <a:ext cx="0" cy="381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44" name="Line 104"/>
          <p:cNvSpPr>
            <a:spLocks noChangeShapeType="1"/>
          </p:cNvSpPr>
          <p:nvPr/>
        </p:nvSpPr>
        <p:spPr bwMode="auto">
          <a:xfrm>
            <a:off x="6934200" y="1371600"/>
            <a:ext cx="177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45" name="Line 105"/>
          <p:cNvSpPr>
            <a:spLocks noChangeShapeType="1"/>
          </p:cNvSpPr>
          <p:nvPr/>
        </p:nvSpPr>
        <p:spPr bwMode="auto">
          <a:xfrm>
            <a:off x="6858000" y="1600200"/>
            <a:ext cx="0" cy="533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46" name="Rectangle 106"/>
          <p:cNvSpPr>
            <a:spLocks noChangeArrowheads="1"/>
          </p:cNvSpPr>
          <p:nvPr/>
        </p:nvSpPr>
        <p:spPr bwMode="auto">
          <a:xfrm>
            <a:off x="6858000" y="17526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PCSrc</a:t>
            </a:r>
          </a:p>
        </p:txBody>
      </p:sp>
      <p:sp>
        <p:nvSpPr>
          <p:cNvPr id="727147" name="Line 107"/>
          <p:cNvSpPr>
            <a:spLocks noChangeShapeType="1"/>
          </p:cNvSpPr>
          <p:nvPr/>
        </p:nvSpPr>
        <p:spPr bwMode="auto">
          <a:xfrm>
            <a:off x="66294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48" name="AutoShape 108"/>
          <p:cNvSpPr>
            <a:spLocks noChangeArrowheads="1"/>
          </p:cNvSpPr>
          <p:nvPr/>
        </p:nvSpPr>
        <p:spPr bwMode="auto">
          <a:xfrm rot="-5400000">
            <a:off x="2933700" y="4381500"/>
            <a:ext cx="6096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49" name="Line 109"/>
          <p:cNvSpPr>
            <a:spLocks noChangeShapeType="1"/>
          </p:cNvSpPr>
          <p:nvPr/>
        </p:nvSpPr>
        <p:spPr bwMode="auto">
          <a:xfrm>
            <a:off x="3352800" y="4495800"/>
            <a:ext cx="1524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50" name="Line 110"/>
          <p:cNvSpPr>
            <a:spLocks noChangeShapeType="1"/>
          </p:cNvSpPr>
          <p:nvPr/>
        </p:nvSpPr>
        <p:spPr bwMode="auto">
          <a:xfrm>
            <a:off x="2957513" y="4114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51" name="Line 111"/>
          <p:cNvSpPr>
            <a:spLocks noChangeShapeType="1"/>
          </p:cNvSpPr>
          <p:nvPr/>
        </p:nvSpPr>
        <p:spPr bwMode="auto">
          <a:xfrm>
            <a:off x="2957513" y="4343400"/>
            <a:ext cx="1666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52" name="Line 112"/>
          <p:cNvSpPr>
            <a:spLocks noChangeShapeType="1"/>
          </p:cNvSpPr>
          <p:nvPr/>
        </p:nvSpPr>
        <p:spPr bwMode="auto">
          <a:xfrm>
            <a:off x="3200400" y="2971800"/>
            <a:ext cx="0" cy="1295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53" name="Rectangle 113"/>
          <p:cNvSpPr>
            <a:spLocks noChangeArrowheads="1"/>
          </p:cNvSpPr>
          <p:nvPr/>
        </p:nvSpPr>
        <p:spPr bwMode="auto">
          <a:xfrm>
            <a:off x="2667000" y="3124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RegDst</a:t>
            </a:r>
          </a:p>
        </p:txBody>
      </p:sp>
      <p:sp>
        <p:nvSpPr>
          <p:cNvPr id="727154" name="Oval 114"/>
          <p:cNvSpPr>
            <a:spLocks noChangeArrowheads="1"/>
          </p:cNvSpPr>
          <p:nvPr/>
        </p:nvSpPr>
        <p:spPr bwMode="auto">
          <a:xfrm>
            <a:off x="5791200" y="5257800"/>
            <a:ext cx="609600" cy="7620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55" name="Rectangle 115"/>
          <p:cNvSpPr>
            <a:spLocks noChangeArrowheads="1"/>
          </p:cNvSpPr>
          <p:nvPr/>
        </p:nvSpPr>
        <p:spPr bwMode="auto">
          <a:xfrm>
            <a:off x="5867400" y="54102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ALU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</p:txBody>
      </p:sp>
      <p:sp>
        <p:nvSpPr>
          <p:cNvPr id="727156" name="Line 116"/>
          <p:cNvSpPr>
            <a:spLocks noChangeShapeType="1"/>
          </p:cNvSpPr>
          <p:nvPr/>
        </p:nvSpPr>
        <p:spPr bwMode="auto">
          <a:xfrm>
            <a:off x="3657600" y="6172200"/>
            <a:ext cx="19050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57" name="Line 117"/>
          <p:cNvSpPr>
            <a:spLocks noChangeShapeType="1"/>
          </p:cNvSpPr>
          <p:nvPr/>
        </p:nvSpPr>
        <p:spPr bwMode="auto">
          <a:xfrm>
            <a:off x="5548313" y="5486400"/>
            <a:ext cx="228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58" name="Rectangle 118"/>
          <p:cNvSpPr>
            <a:spLocks noChangeArrowheads="1"/>
          </p:cNvSpPr>
          <p:nvPr/>
        </p:nvSpPr>
        <p:spPr bwMode="auto">
          <a:xfrm>
            <a:off x="86106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7159" name="Rectangle 119"/>
          <p:cNvSpPr>
            <a:spLocks noChangeArrowheads="1"/>
          </p:cNvSpPr>
          <p:nvPr/>
        </p:nvSpPr>
        <p:spPr bwMode="auto">
          <a:xfrm>
            <a:off x="5410200" y="480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7160" name="Rectangle 120"/>
          <p:cNvSpPr>
            <a:spLocks noChangeArrowheads="1"/>
          </p:cNvSpPr>
          <p:nvPr/>
        </p:nvSpPr>
        <p:spPr bwMode="auto">
          <a:xfrm>
            <a:off x="3124200" y="4495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7161" name="Rectangle 121"/>
          <p:cNvSpPr>
            <a:spLocks noChangeArrowheads="1"/>
          </p:cNvSpPr>
          <p:nvPr/>
        </p:nvSpPr>
        <p:spPr bwMode="auto">
          <a:xfrm>
            <a:off x="31242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7162" name="Rectangle 122"/>
          <p:cNvSpPr>
            <a:spLocks noChangeArrowheads="1"/>
          </p:cNvSpPr>
          <p:nvPr/>
        </p:nvSpPr>
        <p:spPr bwMode="auto">
          <a:xfrm>
            <a:off x="5410200" y="4419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7163" name="Rectangle 123"/>
          <p:cNvSpPr>
            <a:spLocks noChangeArrowheads="1"/>
          </p:cNvSpPr>
          <p:nvPr/>
        </p:nvSpPr>
        <p:spPr bwMode="auto">
          <a:xfrm>
            <a:off x="8610600" y="4572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7164" name="Rectangle 124"/>
          <p:cNvSpPr>
            <a:spLocks noChangeArrowheads="1"/>
          </p:cNvSpPr>
          <p:nvPr/>
        </p:nvSpPr>
        <p:spPr bwMode="auto">
          <a:xfrm>
            <a:off x="6705600" y="99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7165" name="Rectangle 125"/>
          <p:cNvSpPr>
            <a:spLocks noChangeArrowheads="1"/>
          </p:cNvSpPr>
          <p:nvPr/>
        </p:nvSpPr>
        <p:spPr bwMode="auto">
          <a:xfrm>
            <a:off x="6705600" y="1447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7166" name="Rectangle 126"/>
          <p:cNvSpPr>
            <a:spLocks noChangeArrowheads="1"/>
          </p:cNvSpPr>
          <p:nvPr/>
        </p:nvSpPr>
        <p:spPr bwMode="auto">
          <a:xfrm>
            <a:off x="2514600" y="19050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ALUOp</a:t>
            </a:r>
          </a:p>
        </p:txBody>
      </p:sp>
      <p:sp>
        <p:nvSpPr>
          <p:cNvPr id="727167" name="Line 127"/>
          <p:cNvSpPr>
            <a:spLocks noChangeShapeType="1"/>
          </p:cNvSpPr>
          <p:nvPr/>
        </p:nvSpPr>
        <p:spPr bwMode="auto">
          <a:xfrm>
            <a:off x="6096000" y="6019800"/>
            <a:ext cx="0" cy="3048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68" name="Rectangle 128"/>
          <p:cNvSpPr>
            <a:spLocks noChangeArrowheads="1"/>
          </p:cNvSpPr>
          <p:nvPr/>
        </p:nvSpPr>
        <p:spPr bwMode="auto">
          <a:xfrm>
            <a:off x="4724400" y="5867400"/>
            <a:ext cx="7620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Instr[5-0]</a:t>
            </a:r>
          </a:p>
        </p:txBody>
      </p:sp>
      <p:sp>
        <p:nvSpPr>
          <p:cNvPr id="727169" name="Rectangle 129"/>
          <p:cNvSpPr>
            <a:spLocks noChangeArrowheads="1"/>
          </p:cNvSpPr>
          <p:nvPr/>
        </p:nvSpPr>
        <p:spPr bwMode="auto">
          <a:xfrm>
            <a:off x="2667000" y="5334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Instr[15-0]</a:t>
            </a:r>
          </a:p>
        </p:txBody>
      </p:sp>
      <p:sp>
        <p:nvSpPr>
          <p:cNvPr id="727170" name="Rectangle 130"/>
          <p:cNvSpPr>
            <a:spLocks noChangeArrowheads="1"/>
          </p:cNvSpPr>
          <p:nvPr/>
        </p:nvSpPr>
        <p:spPr bwMode="auto">
          <a:xfrm>
            <a:off x="2667000" y="3505200"/>
            <a:ext cx="776288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Instr[25-21]</a:t>
            </a:r>
          </a:p>
        </p:txBody>
      </p:sp>
      <p:sp>
        <p:nvSpPr>
          <p:cNvPr id="727171" name="Rectangle 131"/>
          <p:cNvSpPr>
            <a:spLocks noChangeArrowheads="1"/>
          </p:cNvSpPr>
          <p:nvPr/>
        </p:nvSpPr>
        <p:spPr bwMode="auto">
          <a:xfrm>
            <a:off x="2652713" y="3886200"/>
            <a:ext cx="852487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Instr[20-16]</a:t>
            </a:r>
          </a:p>
        </p:txBody>
      </p:sp>
      <p:sp>
        <p:nvSpPr>
          <p:cNvPr id="727172" name="Text Box 132"/>
          <p:cNvSpPr txBox="1">
            <a:spLocks noChangeArrowheads="1"/>
          </p:cNvSpPr>
          <p:nvPr/>
        </p:nvSpPr>
        <p:spPr bwMode="auto">
          <a:xfrm>
            <a:off x="2576513" y="4648200"/>
            <a:ext cx="701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  -11]</a:t>
            </a:r>
          </a:p>
        </p:txBody>
      </p:sp>
      <p:sp>
        <p:nvSpPr>
          <p:cNvPr id="727173" name="Line 133"/>
          <p:cNvSpPr>
            <a:spLocks noChangeShapeType="1"/>
          </p:cNvSpPr>
          <p:nvPr/>
        </p:nvSpPr>
        <p:spPr bwMode="auto">
          <a:xfrm>
            <a:off x="228600" y="838200"/>
            <a:ext cx="0" cy="3505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74" name="Line 134"/>
          <p:cNvSpPr>
            <a:spLocks noChangeShapeType="1"/>
          </p:cNvSpPr>
          <p:nvPr/>
        </p:nvSpPr>
        <p:spPr bwMode="auto">
          <a:xfrm>
            <a:off x="7086600" y="838200"/>
            <a:ext cx="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75" name="Line 135"/>
          <p:cNvSpPr>
            <a:spLocks noChangeShapeType="1"/>
          </p:cNvSpPr>
          <p:nvPr/>
        </p:nvSpPr>
        <p:spPr bwMode="auto">
          <a:xfrm>
            <a:off x="5181600" y="4953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76" name="Oval 136"/>
          <p:cNvSpPr>
            <a:spLocks noChangeArrowheads="1"/>
          </p:cNvSpPr>
          <p:nvPr/>
        </p:nvSpPr>
        <p:spPr bwMode="auto">
          <a:xfrm>
            <a:off x="2971800" y="1828800"/>
            <a:ext cx="762000" cy="12192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77" name="Rectangle 137"/>
          <p:cNvSpPr>
            <a:spLocks noChangeArrowheads="1"/>
          </p:cNvSpPr>
          <p:nvPr/>
        </p:nvSpPr>
        <p:spPr bwMode="auto">
          <a:xfrm>
            <a:off x="3124200" y="2286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Unit</a:t>
            </a:r>
          </a:p>
        </p:txBody>
      </p:sp>
      <p:sp>
        <p:nvSpPr>
          <p:cNvPr id="727178" name="Line 138"/>
          <p:cNvSpPr>
            <a:spLocks noChangeShapeType="1"/>
          </p:cNvSpPr>
          <p:nvPr/>
        </p:nvSpPr>
        <p:spPr bwMode="auto">
          <a:xfrm>
            <a:off x="2667000" y="2514600"/>
            <a:ext cx="0" cy="2133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79" name="Line 139"/>
          <p:cNvSpPr>
            <a:spLocks noChangeShapeType="1"/>
          </p:cNvSpPr>
          <p:nvPr/>
        </p:nvSpPr>
        <p:spPr bwMode="auto">
          <a:xfrm>
            <a:off x="2667000" y="2514600"/>
            <a:ext cx="3048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80" name="Rectangle 140"/>
          <p:cNvSpPr>
            <a:spLocks noChangeArrowheads="1"/>
          </p:cNvSpPr>
          <p:nvPr/>
        </p:nvSpPr>
        <p:spPr bwMode="auto">
          <a:xfrm>
            <a:off x="2209800" y="2286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Instr[31-26]</a:t>
            </a:r>
          </a:p>
        </p:txBody>
      </p:sp>
      <p:sp>
        <p:nvSpPr>
          <p:cNvPr id="727181" name="AutoShape 141"/>
          <p:cNvSpPr>
            <a:spLocks noChangeArrowheads="1"/>
          </p:cNvSpPr>
          <p:nvPr/>
        </p:nvSpPr>
        <p:spPr bwMode="auto">
          <a:xfrm>
            <a:off x="6400800" y="1981200"/>
            <a:ext cx="304800" cy="304800"/>
          </a:xfrm>
          <a:prstGeom prst="flowChartDelay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82" name="Line 142"/>
          <p:cNvSpPr>
            <a:spLocks noChangeShapeType="1"/>
          </p:cNvSpPr>
          <p:nvPr/>
        </p:nvSpPr>
        <p:spPr bwMode="auto">
          <a:xfrm>
            <a:off x="6705600" y="21336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83" name="Line 143"/>
          <p:cNvSpPr>
            <a:spLocks noChangeShapeType="1"/>
          </p:cNvSpPr>
          <p:nvPr/>
        </p:nvSpPr>
        <p:spPr bwMode="auto">
          <a:xfrm>
            <a:off x="6248400" y="22098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84" name="Line 144"/>
          <p:cNvSpPr>
            <a:spLocks noChangeShapeType="1"/>
          </p:cNvSpPr>
          <p:nvPr/>
        </p:nvSpPr>
        <p:spPr bwMode="auto">
          <a:xfrm>
            <a:off x="3733800" y="2209800"/>
            <a:ext cx="2438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85" name="Rectangle 145"/>
          <p:cNvSpPr>
            <a:spLocks noChangeArrowheads="1"/>
          </p:cNvSpPr>
          <p:nvPr/>
        </p:nvSpPr>
        <p:spPr bwMode="auto">
          <a:xfrm>
            <a:off x="3810000" y="1981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Branch</a:t>
            </a:r>
          </a:p>
        </p:txBody>
      </p:sp>
      <p:sp>
        <p:nvSpPr>
          <p:cNvPr id="727186" name="Line 146"/>
          <p:cNvSpPr>
            <a:spLocks noChangeShapeType="1"/>
          </p:cNvSpPr>
          <p:nvPr/>
        </p:nvSpPr>
        <p:spPr bwMode="auto">
          <a:xfrm>
            <a:off x="3733800" y="2362200"/>
            <a:ext cx="518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87" name="Line 147"/>
          <p:cNvSpPr>
            <a:spLocks noChangeShapeType="1"/>
          </p:cNvSpPr>
          <p:nvPr/>
        </p:nvSpPr>
        <p:spPr bwMode="auto">
          <a:xfrm>
            <a:off x="7543800" y="5334000"/>
            <a:ext cx="137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88" name="Line 148"/>
          <p:cNvSpPr>
            <a:spLocks noChangeShapeType="1"/>
          </p:cNvSpPr>
          <p:nvPr/>
        </p:nvSpPr>
        <p:spPr bwMode="auto">
          <a:xfrm>
            <a:off x="8915400" y="2362200"/>
            <a:ext cx="0" cy="2971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89" name="Line 149"/>
          <p:cNvSpPr>
            <a:spLocks noChangeShapeType="1"/>
          </p:cNvSpPr>
          <p:nvPr/>
        </p:nvSpPr>
        <p:spPr bwMode="auto">
          <a:xfrm>
            <a:off x="3733800" y="2514600"/>
            <a:ext cx="4953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90" name="Line 150"/>
          <p:cNvSpPr>
            <a:spLocks noChangeShapeType="1"/>
          </p:cNvSpPr>
          <p:nvPr/>
        </p:nvSpPr>
        <p:spPr bwMode="auto">
          <a:xfrm>
            <a:off x="3733800" y="2667000"/>
            <a:ext cx="3810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91" name="Line 151"/>
          <p:cNvSpPr>
            <a:spLocks noChangeShapeType="1"/>
          </p:cNvSpPr>
          <p:nvPr/>
        </p:nvSpPr>
        <p:spPr bwMode="auto">
          <a:xfrm>
            <a:off x="3581400" y="2971800"/>
            <a:ext cx="609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92" name="Line 152"/>
          <p:cNvSpPr>
            <a:spLocks noChangeShapeType="1"/>
          </p:cNvSpPr>
          <p:nvPr/>
        </p:nvSpPr>
        <p:spPr bwMode="auto">
          <a:xfrm>
            <a:off x="3657600" y="2819400"/>
            <a:ext cx="18288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93" name="Line 153"/>
          <p:cNvSpPr>
            <a:spLocks noChangeShapeType="1"/>
          </p:cNvSpPr>
          <p:nvPr/>
        </p:nvSpPr>
        <p:spPr bwMode="auto">
          <a:xfrm>
            <a:off x="5486400" y="2819400"/>
            <a:ext cx="0" cy="1676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94" name="Line 154"/>
          <p:cNvSpPr>
            <a:spLocks noChangeShapeType="1"/>
          </p:cNvSpPr>
          <p:nvPr/>
        </p:nvSpPr>
        <p:spPr bwMode="auto">
          <a:xfrm>
            <a:off x="2590800" y="6324600"/>
            <a:ext cx="3505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95" name="Line 155"/>
          <p:cNvSpPr>
            <a:spLocks noChangeShapeType="1"/>
          </p:cNvSpPr>
          <p:nvPr/>
        </p:nvSpPr>
        <p:spPr bwMode="auto">
          <a:xfrm>
            <a:off x="2590800" y="2133600"/>
            <a:ext cx="0" cy="419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96" name="Line 156"/>
          <p:cNvSpPr>
            <a:spLocks noChangeShapeType="1"/>
          </p:cNvSpPr>
          <p:nvPr/>
        </p:nvSpPr>
        <p:spPr bwMode="auto">
          <a:xfrm>
            <a:off x="2590800" y="213360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97" name="Line 157"/>
          <p:cNvSpPr>
            <a:spLocks noChangeShapeType="1"/>
          </p:cNvSpPr>
          <p:nvPr/>
        </p:nvSpPr>
        <p:spPr bwMode="auto">
          <a:xfrm>
            <a:off x="3657600" y="5562600"/>
            <a:ext cx="0" cy="6096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98" name="Line 158"/>
          <p:cNvSpPr>
            <a:spLocks noChangeShapeType="1"/>
          </p:cNvSpPr>
          <p:nvPr/>
        </p:nvSpPr>
        <p:spPr bwMode="auto">
          <a:xfrm>
            <a:off x="5562600" y="5486400"/>
            <a:ext cx="0" cy="6858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199" name="Line 159"/>
          <p:cNvSpPr>
            <a:spLocks noChangeShapeType="1"/>
          </p:cNvSpPr>
          <p:nvPr/>
        </p:nvSpPr>
        <p:spPr bwMode="auto">
          <a:xfrm>
            <a:off x="6172200" y="2057400"/>
            <a:ext cx="228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200" name="Line 160"/>
          <p:cNvSpPr>
            <a:spLocks noChangeShapeType="1"/>
          </p:cNvSpPr>
          <p:nvPr/>
        </p:nvSpPr>
        <p:spPr bwMode="auto">
          <a:xfrm flipV="1">
            <a:off x="6172200" y="2057400"/>
            <a:ext cx="0" cy="152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201" name="Line 161"/>
          <p:cNvSpPr>
            <a:spLocks noChangeShapeType="1"/>
          </p:cNvSpPr>
          <p:nvPr/>
        </p:nvSpPr>
        <p:spPr bwMode="auto">
          <a:xfrm>
            <a:off x="2133600" y="1447800"/>
            <a:ext cx="3048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202" name="Line 162"/>
          <p:cNvSpPr>
            <a:spLocks noChangeShapeType="1"/>
          </p:cNvSpPr>
          <p:nvPr/>
        </p:nvSpPr>
        <p:spPr bwMode="auto">
          <a:xfrm>
            <a:off x="4953000" y="45720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203" name="Line 163"/>
          <p:cNvSpPr>
            <a:spLocks noChangeShapeType="1"/>
          </p:cNvSpPr>
          <p:nvPr/>
        </p:nvSpPr>
        <p:spPr bwMode="auto">
          <a:xfrm>
            <a:off x="6477000" y="38862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204" name="Line 164"/>
          <p:cNvSpPr>
            <a:spLocks noChangeShapeType="1"/>
          </p:cNvSpPr>
          <p:nvPr/>
        </p:nvSpPr>
        <p:spPr bwMode="auto">
          <a:xfrm>
            <a:off x="6477000" y="4343400"/>
            <a:ext cx="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205" name="Line 165"/>
          <p:cNvSpPr>
            <a:spLocks noChangeShapeType="1"/>
          </p:cNvSpPr>
          <p:nvPr/>
        </p:nvSpPr>
        <p:spPr bwMode="auto">
          <a:xfrm>
            <a:off x="5181600" y="1905000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206" name="Line 166"/>
          <p:cNvSpPr>
            <a:spLocks noChangeShapeType="1"/>
          </p:cNvSpPr>
          <p:nvPr/>
        </p:nvSpPr>
        <p:spPr bwMode="auto">
          <a:xfrm>
            <a:off x="2667000" y="4648200"/>
            <a:ext cx="0" cy="914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207" name="Oval 167"/>
          <p:cNvSpPr>
            <a:spLocks noChangeArrowheads="1"/>
          </p:cNvSpPr>
          <p:nvPr/>
        </p:nvSpPr>
        <p:spPr bwMode="auto">
          <a:xfrm>
            <a:off x="8534400" y="44958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208" name="Oval 168"/>
          <p:cNvSpPr>
            <a:spLocks noChangeArrowheads="1"/>
          </p:cNvSpPr>
          <p:nvPr/>
        </p:nvSpPr>
        <p:spPr bwMode="auto">
          <a:xfrm>
            <a:off x="5334000" y="43434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209" name="Oval 169"/>
          <p:cNvSpPr>
            <a:spLocks noChangeArrowheads="1"/>
          </p:cNvSpPr>
          <p:nvPr/>
        </p:nvSpPr>
        <p:spPr bwMode="auto">
          <a:xfrm>
            <a:off x="3048000" y="44196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210" name="Oval 170"/>
          <p:cNvSpPr>
            <a:spLocks noChangeArrowheads="1"/>
          </p:cNvSpPr>
          <p:nvPr/>
        </p:nvSpPr>
        <p:spPr bwMode="auto">
          <a:xfrm>
            <a:off x="4038600" y="33528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211" name="Oval 171"/>
          <p:cNvSpPr>
            <a:spLocks noChangeArrowheads="1"/>
          </p:cNvSpPr>
          <p:nvPr/>
        </p:nvSpPr>
        <p:spPr bwMode="auto">
          <a:xfrm>
            <a:off x="6629400" y="9144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212" name="Line 172"/>
          <p:cNvSpPr>
            <a:spLocks noChangeShapeType="1"/>
          </p:cNvSpPr>
          <p:nvPr/>
        </p:nvSpPr>
        <p:spPr bwMode="auto">
          <a:xfrm>
            <a:off x="3657600" y="55626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7213" name="Oval 173"/>
          <p:cNvSpPr>
            <a:spLocks noChangeArrowheads="1"/>
          </p:cNvSpPr>
          <p:nvPr/>
        </p:nvSpPr>
        <p:spPr bwMode="auto">
          <a:xfrm>
            <a:off x="5943600" y="57912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214" name="Oval 174"/>
          <p:cNvSpPr>
            <a:spLocks noChangeArrowheads="1"/>
          </p:cNvSpPr>
          <p:nvPr/>
        </p:nvSpPr>
        <p:spPr bwMode="auto">
          <a:xfrm>
            <a:off x="7391400" y="33528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215" name="Oval 175"/>
          <p:cNvSpPr>
            <a:spLocks noChangeArrowheads="1"/>
          </p:cNvSpPr>
          <p:nvPr/>
        </p:nvSpPr>
        <p:spPr bwMode="auto">
          <a:xfrm>
            <a:off x="7391400" y="48768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216" name="Oval 176"/>
          <p:cNvSpPr>
            <a:spLocks noChangeArrowheads="1"/>
          </p:cNvSpPr>
          <p:nvPr/>
        </p:nvSpPr>
        <p:spPr bwMode="auto">
          <a:xfrm>
            <a:off x="3962400" y="19050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623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207" grpId="0" animBg="1"/>
      <p:bldP spid="727208" grpId="0" animBg="1"/>
      <p:bldP spid="727209" grpId="0" animBg="1"/>
      <p:bldP spid="727210" grpId="0" animBg="1"/>
      <p:bldP spid="727211" grpId="0" animBg="1"/>
      <p:bldP spid="727213" grpId="0" animBg="1"/>
      <p:bldP spid="727214" grpId="0" animBg="1"/>
      <p:bldP spid="727215" grpId="0" animBg="1"/>
      <p:bldP spid="7272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Store Word Instruction Data/Control Flow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52600" y="914400"/>
            <a:ext cx="381000" cy="990600"/>
            <a:chOff x="1392" y="2880"/>
            <a:chExt cx="288" cy="480"/>
          </a:xfrm>
        </p:grpSpPr>
        <p:sp>
          <p:nvSpPr>
            <p:cNvPr id="729092" name="Line 4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9093" name="Line 5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9094" name="Line 6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9095" name="Line 7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9096" name="Line 8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9097" name="Line 9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9098" name="Line 10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099" name="Rectangle 11"/>
          <p:cNvSpPr>
            <a:spLocks noChangeArrowheads="1"/>
          </p:cNvSpPr>
          <p:nvPr/>
        </p:nvSpPr>
        <p:spPr bwMode="auto">
          <a:xfrm>
            <a:off x="1052513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100" name="Rectangle 12"/>
          <p:cNvSpPr>
            <a:spLocks noChangeArrowheads="1"/>
          </p:cNvSpPr>
          <p:nvPr/>
        </p:nvSpPr>
        <p:spPr bwMode="auto">
          <a:xfrm>
            <a:off x="519113" y="3962400"/>
            <a:ext cx="2286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101" name="Line 13"/>
          <p:cNvSpPr>
            <a:spLocks noChangeShapeType="1"/>
          </p:cNvSpPr>
          <p:nvPr/>
        </p:nvSpPr>
        <p:spPr bwMode="auto">
          <a:xfrm>
            <a:off x="747713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02" name="Line 14"/>
          <p:cNvSpPr>
            <a:spLocks noChangeShapeType="1"/>
          </p:cNvSpPr>
          <p:nvPr/>
        </p:nvSpPr>
        <p:spPr bwMode="auto">
          <a:xfrm>
            <a:off x="838200" y="1066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03" name="Line 15"/>
          <p:cNvSpPr>
            <a:spLocks noChangeShapeType="1"/>
          </p:cNvSpPr>
          <p:nvPr/>
        </p:nvSpPr>
        <p:spPr bwMode="auto">
          <a:xfrm>
            <a:off x="1371600" y="175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04" name="Text Box 16"/>
          <p:cNvSpPr txBox="1">
            <a:spLocks noChangeArrowheads="1"/>
          </p:cNvSpPr>
          <p:nvPr/>
        </p:nvSpPr>
        <p:spPr bwMode="auto">
          <a:xfrm>
            <a:off x="976313" y="4114800"/>
            <a:ext cx="74136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29105" name="Text Box 17"/>
          <p:cNvSpPr txBox="1">
            <a:spLocks noChangeArrowheads="1"/>
          </p:cNvSpPr>
          <p:nvPr/>
        </p:nvSpPr>
        <p:spPr bwMode="auto">
          <a:xfrm>
            <a:off x="1738313" y="4191000"/>
            <a:ext cx="8699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Instr[31-0]</a:t>
            </a:r>
          </a:p>
        </p:txBody>
      </p:sp>
      <p:sp>
        <p:nvSpPr>
          <p:cNvPr id="729106" name="Text Box 18"/>
          <p:cNvSpPr txBox="1">
            <a:spLocks noChangeArrowheads="1"/>
          </p:cNvSpPr>
          <p:nvPr/>
        </p:nvSpPr>
        <p:spPr bwMode="auto">
          <a:xfrm>
            <a:off x="1281113" y="3657600"/>
            <a:ext cx="9731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Instruction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29107" name="Text Box 19"/>
          <p:cNvSpPr txBox="1">
            <a:spLocks noChangeArrowheads="1"/>
          </p:cNvSpPr>
          <p:nvPr/>
        </p:nvSpPr>
        <p:spPr bwMode="auto">
          <a:xfrm>
            <a:off x="1752600" y="12954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29108" name="Text Box 20"/>
          <p:cNvSpPr txBox="1">
            <a:spLocks noChangeArrowheads="1"/>
          </p:cNvSpPr>
          <p:nvPr/>
        </p:nvSpPr>
        <p:spPr bwMode="auto">
          <a:xfrm>
            <a:off x="442913" y="4191000"/>
            <a:ext cx="395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PC</a:t>
            </a:r>
          </a:p>
        </p:txBody>
      </p:sp>
      <p:sp>
        <p:nvSpPr>
          <p:cNvPr id="729109" name="Line 21"/>
          <p:cNvSpPr>
            <a:spLocks noChangeShapeType="1"/>
          </p:cNvSpPr>
          <p:nvPr/>
        </p:nvSpPr>
        <p:spPr bwMode="auto">
          <a:xfrm>
            <a:off x="228600" y="838200"/>
            <a:ext cx="685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10" name="Line 22"/>
          <p:cNvSpPr>
            <a:spLocks noChangeShapeType="1"/>
          </p:cNvSpPr>
          <p:nvPr/>
        </p:nvSpPr>
        <p:spPr bwMode="auto">
          <a:xfrm>
            <a:off x="214313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11" name="Text Box 23"/>
          <p:cNvSpPr txBox="1">
            <a:spLocks noChangeArrowheads="1"/>
          </p:cNvSpPr>
          <p:nvPr/>
        </p:nvSpPr>
        <p:spPr bwMode="auto">
          <a:xfrm>
            <a:off x="1143000" y="16002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29112" name="Rectangle 24"/>
          <p:cNvSpPr>
            <a:spLocks noChangeArrowheads="1"/>
          </p:cNvSpPr>
          <p:nvPr/>
        </p:nvSpPr>
        <p:spPr bwMode="auto">
          <a:xfrm>
            <a:off x="3505200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113" name="Line 25"/>
          <p:cNvSpPr>
            <a:spLocks noChangeShapeType="1"/>
          </p:cNvSpPr>
          <p:nvPr/>
        </p:nvSpPr>
        <p:spPr bwMode="auto">
          <a:xfrm>
            <a:off x="2500313" y="43434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14" name="Line 26"/>
          <p:cNvSpPr>
            <a:spLocks noChangeShapeType="1"/>
          </p:cNvSpPr>
          <p:nvPr/>
        </p:nvSpPr>
        <p:spPr bwMode="auto">
          <a:xfrm>
            <a:off x="2652713" y="4114800"/>
            <a:ext cx="852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15" name="Line 27"/>
          <p:cNvSpPr>
            <a:spLocks noChangeShapeType="1"/>
          </p:cNvSpPr>
          <p:nvPr/>
        </p:nvSpPr>
        <p:spPr bwMode="auto">
          <a:xfrm>
            <a:off x="2652713" y="4648200"/>
            <a:ext cx="471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16" name="Line 28"/>
          <p:cNvSpPr>
            <a:spLocks noChangeShapeType="1"/>
          </p:cNvSpPr>
          <p:nvPr/>
        </p:nvSpPr>
        <p:spPr bwMode="auto">
          <a:xfrm>
            <a:off x="8382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17" name="Line 29"/>
          <p:cNvSpPr>
            <a:spLocks noChangeShapeType="1"/>
          </p:cNvSpPr>
          <p:nvPr/>
        </p:nvSpPr>
        <p:spPr bwMode="auto">
          <a:xfrm>
            <a:off x="2652713" y="3733800"/>
            <a:ext cx="852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18" name="Line 30"/>
          <p:cNvSpPr>
            <a:spLocks noChangeShapeType="1"/>
          </p:cNvSpPr>
          <p:nvPr/>
        </p:nvSpPr>
        <p:spPr bwMode="auto">
          <a:xfrm>
            <a:off x="4953000" y="3962400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19" name="Line 31"/>
          <p:cNvSpPr>
            <a:spLocks noChangeShapeType="1"/>
          </p:cNvSpPr>
          <p:nvPr/>
        </p:nvSpPr>
        <p:spPr bwMode="auto">
          <a:xfrm>
            <a:off x="5105400" y="4572000"/>
            <a:ext cx="279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20" name="Line 32"/>
          <p:cNvSpPr>
            <a:spLocks noChangeShapeType="1"/>
          </p:cNvSpPr>
          <p:nvPr/>
        </p:nvSpPr>
        <p:spPr bwMode="auto">
          <a:xfrm>
            <a:off x="6477000" y="5715000"/>
            <a:ext cx="193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21" name="Line 33"/>
          <p:cNvSpPr>
            <a:spLocks noChangeShapeType="1"/>
          </p:cNvSpPr>
          <p:nvPr/>
        </p:nvSpPr>
        <p:spPr bwMode="auto">
          <a:xfrm>
            <a:off x="6324600" y="43434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22" name="Text Box 34"/>
          <p:cNvSpPr txBox="1">
            <a:spLocks noChangeArrowheads="1"/>
          </p:cNvSpPr>
          <p:nvPr/>
        </p:nvSpPr>
        <p:spPr bwMode="auto">
          <a:xfrm>
            <a:off x="3429000" y="4724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29123" name="Text Box 35"/>
          <p:cNvSpPr txBox="1">
            <a:spLocks noChangeArrowheads="1"/>
          </p:cNvSpPr>
          <p:nvPr/>
        </p:nvSpPr>
        <p:spPr bwMode="auto">
          <a:xfrm>
            <a:off x="3429000" y="3581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1</a:t>
            </a:r>
          </a:p>
        </p:txBody>
      </p:sp>
      <p:sp>
        <p:nvSpPr>
          <p:cNvPr id="729124" name="Text Box 36"/>
          <p:cNvSpPr txBox="1">
            <a:spLocks noChangeArrowheads="1"/>
          </p:cNvSpPr>
          <p:nvPr/>
        </p:nvSpPr>
        <p:spPr bwMode="auto">
          <a:xfrm>
            <a:off x="3429000" y="3962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2</a:t>
            </a:r>
          </a:p>
        </p:txBody>
      </p:sp>
      <p:sp>
        <p:nvSpPr>
          <p:cNvPr id="729125" name="Text Box 37"/>
          <p:cNvSpPr txBox="1">
            <a:spLocks noChangeArrowheads="1"/>
          </p:cNvSpPr>
          <p:nvPr/>
        </p:nvSpPr>
        <p:spPr bwMode="auto">
          <a:xfrm>
            <a:off x="3429000" y="4343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Addr</a:t>
            </a:r>
          </a:p>
        </p:txBody>
      </p:sp>
      <p:sp>
        <p:nvSpPr>
          <p:cNvPr id="729126" name="Text Box 38"/>
          <p:cNvSpPr txBox="1">
            <a:spLocks noChangeArrowheads="1"/>
          </p:cNvSpPr>
          <p:nvPr/>
        </p:nvSpPr>
        <p:spPr bwMode="auto">
          <a:xfrm>
            <a:off x="3752850" y="38100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Register</a:t>
            </a:r>
          </a:p>
          <a:p>
            <a:pPr algn="ctr"/>
            <a:endParaRPr lang="en-US" altLang="zh-CN" sz="1200" b="1">
              <a:solidFill>
                <a:schemeClr val="tx1"/>
              </a:solidFill>
              <a:ea typeface="宋体" pitchFamily="2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File</a:t>
            </a:r>
          </a:p>
        </p:txBody>
      </p:sp>
      <p:sp>
        <p:nvSpPr>
          <p:cNvPr id="729127" name="Text Box 39"/>
          <p:cNvSpPr txBox="1">
            <a:spLocks noChangeArrowheads="1"/>
          </p:cNvSpPr>
          <p:nvPr/>
        </p:nvSpPr>
        <p:spPr bwMode="auto">
          <a:xfrm>
            <a:off x="4343400" y="37338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1</a:t>
            </a:r>
          </a:p>
        </p:txBody>
      </p:sp>
      <p:sp>
        <p:nvSpPr>
          <p:cNvPr id="729128" name="Text Box 40"/>
          <p:cNvSpPr txBox="1">
            <a:spLocks noChangeArrowheads="1"/>
          </p:cNvSpPr>
          <p:nvPr/>
        </p:nvSpPr>
        <p:spPr bwMode="auto">
          <a:xfrm>
            <a:off x="4368800" y="44196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2</a:t>
            </a:r>
          </a:p>
        </p:txBody>
      </p:sp>
      <p:sp>
        <p:nvSpPr>
          <p:cNvPr id="729129" name="Freeform 41"/>
          <p:cNvSpPr>
            <a:spLocks/>
          </p:cNvSpPr>
          <p:nvPr/>
        </p:nvSpPr>
        <p:spPr bwMode="auto">
          <a:xfrm>
            <a:off x="5791200" y="36576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30" name="Rectangle 42"/>
          <p:cNvSpPr>
            <a:spLocks noChangeArrowheads="1"/>
          </p:cNvSpPr>
          <p:nvPr/>
        </p:nvSpPr>
        <p:spPr bwMode="auto">
          <a:xfrm>
            <a:off x="5892800" y="42672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ALU</a:t>
            </a:r>
          </a:p>
        </p:txBody>
      </p:sp>
      <p:sp>
        <p:nvSpPr>
          <p:cNvPr id="729131" name="Rectangle 43"/>
          <p:cNvSpPr>
            <a:spLocks noChangeArrowheads="1"/>
          </p:cNvSpPr>
          <p:nvPr/>
        </p:nvSpPr>
        <p:spPr bwMode="auto">
          <a:xfrm>
            <a:off x="5791200" y="3276600"/>
            <a:ext cx="7620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ovf</a:t>
            </a:r>
          </a:p>
        </p:txBody>
      </p:sp>
      <p:sp>
        <p:nvSpPr>
          <p:cNvPr id="729132" name="Rectangle 44"/>
          <p:cNvSpPr>
            <a:spLocks noChangeArrowheads="1"/>
          </p:cNvSpPr>
          <p:nvPr/>
        </p:nvSpPr>
        <p:spPr bwMode="auto">
          <a:xfrm>
            <a:off x="5943600" y="3886200"/>
            <a:ext cx="5334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zero</a:t>
            </a:r>
          </a:p>
        </p:txBody>
      </p:sp>
      <p:sp>
        <p:nvSpPr>
          <p:cNvPr id="729133" name="Line 45"/>
          <p:cNvSpPr>
            <a:spLocks noChangeShapeType="1"/>
          </p:cNvSpPr>
          <p:nvPr/>
        </p:nvSpPr>
        <p:spPr bwMode="auto">
          <a:xfrm>
            <a:off x="6096000" y="4724400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34" name="Line 46"/>
          <p:cNvSpPr>
            <a:spLocks noChangeShapeType="1"/>
          </p:cNvSpPr>
          <p:nvPr/>
        </p:nvSpPr>
        <p:spPr bwMode="auto">
          <a:xfrm>
            <a:off x="4191000" y="2971800"/>
            <a:ext cx="0" cy="609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35" name="Rectangle 47"/>
          <p:cNvSpPr>
            <a:spLocks noChangeArrowheads="1"/>
          </p:cNvSpPr>
          <p:nvPr/>
        </p:nvSpPr>
        <p:spPr bwMode="auto">
          <a:xfrm>
            <a:off x="4191000" y="29718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RegWrite</a:t>
            </a:r>
          </a:p>
        </p:txBody>
      </p:sp>
      <p:sp>
        <p:nvSpPr>
          <p:cNvPr id="729136" name="Line 48"/>
          <p:cNvSpPr>
            <a:spLocks noChangeShapeType="1"/>
          </p:cNvSpPr>
          <p:nvPr/>
        </p:nvSpPr>
        <p:spPr bwMode="auto">
          <a:xfrm flipV="1">
            <a:off x="5943600" y="35052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37" name="Line 49"/>
          <p:cNvSpPr>
            <a:spLocks noChangeShapeType="1"/>
          </p:cNvSpPr>
          <p:nvPr/>
        </p:nvSpPr>
        <p:spPr bwMode="auto">
          <a:xfrm flipV="1">
            <a:off x="6248400" y="22098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38" name="Line 50"/>
          <p:cNvSpPr>
            <a:spLocks noChangeShapeType="1"/>
          </p:cNvSpPr>
          <p:nvPr/>
        </p:nvSpPr>
        <p:spPr bwMode="auto">
          <a:xfrm>
            <a:off x="8991600" y="4495800"/>
            <a:ext cx="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39" name="Rectangle 51"/>
          <p:cNvSpPr>
            <a:spLocks noChangeArrowheads="1"/>
          </p:cNvSpPr>
          <p:nvPr/>
        </p:nvSpPr>
        <p:spPr bwMode="auto">
          <a:xfrm>
            <a:off x="6858000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140" name="Line 52"/>
          <p:cNvSpPr>
            <a:spLocks noChangeShapeType="1"/>
          </p:cNvSpPr>
          <p:nvPr/>
        </p:nvSpPr>
        <p:spPr bwMode="auto">
          <a:xfrm>
            <a:off x="8305800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41" name="Line 53"/>
          <p:cNvSpPr>
            <a:spLocks noChangeShapeType="1"/>
          </p:cNvSpPr>
          <p:nvPr/>
        </p:nvSpPr>
        <p:spPr bwMode="auto">
          <a:xfrm>
            <a:off x="6477000" y="3886200"/>
            <a:ext cx="40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42" name="Line 54"/>
          <p:cNvSpPr>
            <a:spLocks noChangeShapeType="1"/>
          </p:cNvSpPr>
          <p:nvPr/>
        </p:nvSpPr>
        <p:spPr bwMode="auto">
          <a:xfrm>
            <a:off x="6629400" y="4724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43" name="Text Box 55"/>
          <p:cNvSpPr txBox="1">
            <a:spLocks noChangeArrowheads="1"/>
          </p:cNvSpPr>
          <p:nvPr/>
        </p:nvSpPr>
        <p:spPr bwMode="auto">
          <a:xfrm>
            <a:off x="6781800" y="4038600"/>
            <a:ext cx="766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Data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29144" name="Text Box 56"/>
          <p:cNvSpPr txBox="1">
            <a:spLocks noChangeArrowheads="1"/>
          </p:cNvSpPr>
          <p:nvPr/>
        </p:nvSpPr>
        <p:spPr bwMode="auto">
          <a:xfrm>
            <a:off x="6781800" y="3733800"/>
            <a:ext cx="7413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29145" name="Text Box 57"/>
          <p:cNvSpPr txBox="1">
            <a:spLocks noChangeArrowheads="1"/>
          </p:cNvSpPr>
          <p:nvPr/>
        </p:nvSpPr>
        <p:spPr bwMode="auto">
          <a:xfrm>
            <a:off x="6781800" y="45720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29146" name="Text Box 58"/>
          <p:cNvSpPr txBox="1">
            <a:spLocks noChangeArrowheads="1"/>
          </p:cNvSpPr>
          <p:nvPr/>
        </p:nvSpPr>
        <p:spPr bwMode="auto">
          <a:xfrm>
            <a:off x="7467600" y="4191000"/>
            <a:ext cx="909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729147" name="Line 59"/>
          <p:cNvSpPr>
            <a:spLocks noChangeShapeType="1"/>
          </p:cNvSpPr>
          <p:nvPr/>
        </p:nvSpPr>
        <p:spPr bwMode="auto">
          <a:xfrm>
            <a:off x="7543800" y="2667000"/>
            <a:ext cx="0" cy="914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48" name="Rectangle 60"/>
          <p:cNvSpPr>
            <a:spLocks noChangeArrowheads="1"/>
          </p:cNvSpPr>
          <p:nvPr/>
        </p:nvSpPr>
        <p:spPr bwMode="auto">
          <a:xfrm>
            <a:off x="6553200" y="24384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MemWrite</a:t>
            </a:r>
          </a:p>
        </p:txBody>
      </p:sp>
      <p:sp>
        <p:nvSpPr>
          <p:cNvPr id="729149" name="Rectangle 61"/>
          <p:cNvSpPr>
            <a:spLocks noChangeArrowheads="1"/>
          </p:cNvSpPr>
          <p:nvPr/>
        </p:nvSpPr>
        <p:spPr bwMode="auto">
          <a:xfrm>
            <a:off x="7848600" y="21336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MemRead</a:t>
            </a:r>
          </a:p>
        </p:txBody>
      </p:sp>
      <p:sp>
        <p:nvSpPr>
          <p:cNvPr id="729150" name="Line 62"/>
          <p:cNvSpPr>
            <a:spLocks noChangeShapeType="1"/>
          </p:cNvSpPr>
          <p:nvPr/>
        </p:nvSpPr>
        <p:spPr bwMode="auto">
          <a:xfrm>
            <a:off x="7543800" y="50292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51" name="Line 63"/>
          <p:cNvSpPr>
            <a:spLocks noChangeShapeType="1"/>
          </p:cNvSpPr>
          <p:nvPr/>
        </p:nvSpPr>
        <p:spPr bwMode="auto">
          <a:xfrm>
            <a:off x="3276600" y="6477000"/>
            <a:ext cx="571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52" name="Line 64"/>
          <p:cNvSpPr>
            <a:spLocks noChangeShapeType="1"/>
          </p:cNvSpPr>
          <p:nvPr/>
        </p:nvSpPr>
        <p:spPr bwMode="auto">
          <a:xfrm>
            <a:off x="5054600" y="51816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53" name="Line 65"/>
          <p:cNvSpPr>
            <a:spLocks noChangeShapeType="1"/>
          </p:cNvSpPr>
          <p:nvPr/>
        </p:nvSpPr>
        <p:spPr bwMode="auto">
          <a:xfrm>
            <a:off x="4811713" y="556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54" name="Oval 66"/>
          <p:cNvSpPr>
            <a:spLocks noChangeArrowheads="1"/>
          </p:cNvSpPr>
          <p:nvPr/>
        </p:nvSpPr>
        <p:spPr bwMode="auto">
          <a:xfrm>
            <a:off x="4202113" y="5181600"/>
            <a:ext cx="6096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155" name="Rectangle 67"/>
          <p:cNvSpPr>
            <a:spLocks noChangeArrowheads="1"/>
          </p:cNvSpPr>
          <p:nvPr/>
        </p:nvSpPr>
        <p:spPr bwMode="auto">
          <a:xfrm>
            <a:off x="4252913" y="5334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Sign</a:t>
            </a:r>
          </a:p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Extend</a:t>
            </a:r>
          </a:p>
        </p:txBody>
      </p:sp>
      <p:sp>
        <p:nvSpPr>
          <p:cNvPr id="729156" name="Line 68"/>
          <p:cNvSpPr>
            <a:spLocks noChangeShapeType="1"/>
          </p:cNvSpPr>
          <p:nvPr/>
        </p:nvSpPr>
        <p:spPr bwMode="auto">
          <a:xfrm>
            <a:off x="2638425" y="5562600"/>
            <a:ext cx="1563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57" name="Line 69"/>
          <p:cNvSpPr>
            <a:spLocks noChangeShapeType="1"/>
          </p:cNvSpPr>
          <p:nvPr/>
        </p:nvSpPr>
        <p:spPr bwMode="auto">
          <a:xfrm>
            <a:off x="3871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58" name="Line 70"/>
          <p:cNvSpPr>
            <a:spLocks noChangeShapeType="1"/>
          </p:cNvSpPr>
          <p:nvPr/>
        </p:nvSpPr>
        <p:spPr bwMode="auto">
          <a:xfrm>
            <a:off x="4887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59" name="Text Box 71"/>
          <p:cNvSpPr txBox="1">
            <a:spLocks noChangeArrowheads="1"/>
          </p:cNvSpPr>
          <p:nvPr/>
        </p:nvSpPr>
        <p:spPr bwMode="auto">
          <a:xfrm>
            <a:off x="3871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16</a:t>
            </a:r>
          </a:p>
        </p:txBody>
      </p:sp>
      <p:sp>
        <p:nvSpPr>
          <p:cNvPr id="729160" name="Text Box 72"/>
          <p:cNvSpPr txBox="1">
            <a:spLocks noChangeArrowheads="1"/>
          </p:cNvSpPr>
          <p:nvPr/>
        </p:nvSpPr>
        <p:spPr bwMode="auto">
          <a:xfrm>
            <a:off x="4887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32</a:t>
            </a:r>
          </a:p>
        </p:txBody>
      </p:sp>
      <p:sp>
        <p:nvSpPr>
          <p:cNvPr id="729161" name="Line 73"/>
          <p:cNvSpPr>
            <a:spLocks noChangeShapeType="1"/>
          </p:cNvSpPr>
          <p:nvPr/>
        </p:nvSpPr>
        <p:spPr bwMode="auto">
          <a:xfrm>
            <a:off x="5054600" y="4572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62" name="Line 74"/>
          <p:cNvSpPr>
            <a:spLocks noChangeShapeType="1"/>
          </p:cNvSpPr>
          <p:nvPr/>
        </p:nvSpPr>
        <p:spPr bwMode="auto">
          <a:xfrm>
            <a:off x="8382000" y="4724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63" name="Line 75"/>
          <p:cNvSpPr>
            <a:spLocks noChangeShapeType="1"/>
          </p:cNvSpPr>
          <p:nvPr/>
        </p:nvSpPr>
        <p:spPr bwMode="auto">
          <a:xfrm>
            <a:off x="5181600" y="49530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64" name="Line 76"/>
          <p:cNvSpPr>
            <a:spLocks noChangeShapeType="1"/>
          </p:cNvSpPr>
          <p:nvPr/>
        </p:nvSpPr>
        <p:spPr bwMode="auto">
          <a:xfrm>
            <a:off x="3276600" y="4876800"/>
            <a:ext cx="25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65" name="AutoShape 77"/>
          <p:cNvSpPr>
            <a:spLocks noChangeArrowheads="1"/>
          </p:cNvSpPr>
          <p:nvPr/>
        </p:nvSpPr>
        <p:spPr bwMode="auto">
          <a:xfrm rot="-5400000">
            <a:off x="8382000" y="4419600"/>
            <a:ext cx="6858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166" name="Line 78"/>
          <p:cNvSpPr>
            <a:spLocks noChangeShapeType="1"/>
          </p:cNvSpPr>
          <p:nvPr/>
        </p:nvSpPr>
        <p:spPr bwMode="auto">
          <a:xfrm>
            <a:off x="8839200" y="4495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67" name="AutoShape 79"/>
          <p:cNvSpPr>
            <a:spLocks noChangeArrowheads="1"/>
          </p:cNvSpPr>
          <p:nvPr/>
        </p:nvSpPr>
        <p:spPr bwMode="auto">
          <a:xfrm rot="-5400000">
            <a:off x="5092700" y="46101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168" name="Line 80"/>
          <p:cNvSpPr>
            <a:spLocks noChangeShapeType="1"/>
          </p:cNvSpPr>
          <p:nvPr/>
        </p:nvSpPr>
        <p:spPr bwMode="auto">
          <a:xfrm>
            <a:off x="5588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69" name="Line 81"/>
          <p:cNvSpPr>
            <a:spLocks noChangeShapeType="1"/>
          </p:cNvSpPr>
          <p:nvPr/>
        </p:nvSpPr>
        <p:spPr bwMode="auto">
          <a:xfrm>
            <a:off x="3276600" y="48768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70" name="Line 82"/>
          <p:cNvSpPr>
            <a:spLocks noChangeShapeType="1"/>
          </p:cNvSpPr>
          <p:nvPr/>
        </p:nvSpPr>
        <p:spPr bwMode="auto">
          <a:xfrm>
            <a:off x="8686800" y="25146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71" name="Rectangle 83"/>
          <p:cNvSpPr>
            <a:spLocks noChangeArrowheads="1"/>
          </p:cNvSpPr>
          <p:nvPr/>
        </p:nvSpPr>
        <p:spPr bwMode="auto">
          <a:xfrm>
            <a:off x="7162800" y="22860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MemtoReg</a:t>
            </a:r>
          </a:p>
        </p:txBody>
      </p:sp>
      <p:sp>
        <p:nvSpPr>
          <p:cNvPr id="729172" name="Rectangle 84"/>
          <p:cNvSpPr>
            <a:spLocks noChangeArrowheads="1"/>
          </p:cNvSpPr>
          <p:nvPr/>
        </p:nvSpPr>
        <p:spPr bwMode="auto">
          <a:xfrm>
            <a:off x="4343400" y="25908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ALUSrc</a:t>
            </a:r>
          </a:p>
        </p:txBody>
      </p:sp>
      <p:sp>
        <p:nvSpPr>
          <p:cNvPr id="729173" name="Oval 85"/>
          <p:cNvSpPr>
            <a:spLocks noChangeArrowheads="1"/>
          </p:cNvSpPr>
          <p:nvPr/>
        </p:nvSpPr>
        <p:spPr bwMode="auto">
          <a:xfrm>
            <a:off x="5410200" y="1600200"/>
            <a:ext cx="4572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174" name="Rectangle 86"/>
          <p:cNvSpPr>
            <a:spLocks noChangeArrowheads="1"/>
          </p:cNvSpPr>
          <p:nvPr/>
        </p:nvSpPr>
        <p:spPr bwMode="auto">
          <a:xfrm>
            <a:off x="5410200" y="1600200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Shift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left 2</a:t>
            </a:r>
          </a:p>
        </p:txBody>
      </p:sp>
      <p:sp>
        <p:nvSpPr>
          <p:cNvPr id="729175" name="Line 87"/>
          <p:cNvSpPr>
            <a:spLocks noChangeShapeType="1"/>
          </p:cNvSpPr>
          <p:nvPr/>
        </p:nvSpPr>
        <p:spPr bwMode="auto">
          <a:xfrm>
            <a:off x="5181600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76" name="Line 88"/>
          <p:cNvSpPr>
            <a:spLocks noChangeShapeType="1"/>
          </p:cNvSpPr>
          <p:nvPr/>
        </p:nvSpPr>
        <p:spPr bwMode="auto">
          <a:xfrm>
            <a:off x="5181600" y="1447800"/>
            <a:ext cx="928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6096000" y="1143000"/>
            <a:ext cx="381000" cy="914400"/>
            <a:chOff x="1392" y="2880"/>
            <a:chExt cx="288" cy="480"/>
          </a:xfrm>
        </p:grpSpPr>
        <p:sp>
          <p:nvSpPr>
            <p:cNvPr id="729178" name="Line 90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9179" name="Line 91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9180" name="Line 92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9181" name="Line 93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9182" name="Line 94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9183" name="Line 95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9184" name="Line 96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185" name="Text Box 97"/>
          <p:cNvSpPr txBox="1">
            <a:spLocks noChangeArrowheads="1"/>
          </p:cNvSpPr>
          <p:nvPr/>
        </p:nvSpPr>
        <p:spPr bwMode="auto">
          <a:xfrm>
            <a:off x="6096000" y="14478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29186" name="Line 98"/>
          <p:cNvSpPr>
            <a:spLocks noChangeShapeType="1"/>
          </p:cNvSpPr>
          <p:nvPr/>
        </p:nvSpPr>
        <p:spPr bwMode="auto">
          <a:xfrm>
            <a:off x="5853113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87" name="Line 99"/>
          <p:cNvSpPr>
            <a:spLocks noChangeShapeType="1"/>
          </p:cNvSpPr>
          <p:nvPr/>
        </p:nvSpPr>
        <p:spPr bwMode="auto">
          <a:xfrm>
            <a:off x="6477000" y="1600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88" name="Line 100"/>
          <p:cNvSpPr>
            <a:spLocks noChangeShapeType="1"/>
          </p:cNvSpPr>
          <p:nvPr/>
        </p:nvSpPr>
        <p:spPr bwMode="auto">
          <a:xfrm>
            <a:off x="838200" y="1066800"/>
            <a:ext cx="0" cy="3276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89" name="AutoShape 101"/>
          <p:cNvSpPr>
            <a:spLocks noChangeArrowheads="1"/>
          </p:cNvSpPr>
          <p:nvPr/>
        </p:nvSpPr>
        <p:spPr bwMode="auto">
          <a:xfrm rot="-5400000">
            <a:off x="6400800" y="1219200"/>
            <a:ext cx="8382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190" name="Line 102"/>
          <p:cNvSpPr>
            <a:spLocks noChangeShapeType="1"/>
          </p:cNvSpPr>
          <p:nvPr/>
        </p:nvSpPr>
        <p:spPr bwMode="auto">
          <a:xfrm>
            <a:off x="5181600" y="1066800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91" name="Line 103"/>
          <p:cNvSpPr>
            <a:spLocks noChangeShapeType="1"/>
          </p:cNvSpPr>
          <p:nvPr/>
        </p:nvSpPr>
        <p:spPr bwMode="auto">
          <a:xfrm>
            <a:off x="5181600" y="1066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92" name="Line 104"/>
          <p:cNvSpPr>
            <a:spLocks noChangeShapeType="1"/>
          </p:cNvSpPr>
          <p:nvPr/>
        </p:nvSpPr>
        <p:spPr bwMode="auto">
          <a:xfrm>
            <a:off x="6934200" y="13716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93" name="Line 105"/>
          <p:cNvSpPr>
            <a:spLocks noChangeShapeType="1"/>
          </p:cNvSpPr>
          <p:nvPr/>
        </p:nvSpPr>
        <p:spPr bwMode="auto">
          <a:xfrm>
            <a:off x="6858000" y="1600200"/>
            <a:ext cx="0" cy="533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94" name="Rectangle 106"/>
          <p:cNvSpPr>
            <a:spLocks noChangeArrowheads="1"/>
          </p:cNvSpPr>
          <p:nvPr/>
        </p:nvSpPr>
        <p:spPr bwMode="auto">
          <a:xfrm>
            <a:off x="6858000" y="17526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PCSrc</a:t>
            </a:r>
          </a:p>
        </p:txBody>
      </p:sp>
      <p:sp>
        <p:nvSpPr>
          <p:cNvPr id="729195" name="Line 107"/>
          <p:cNvSpPr>
            <a:spLocks noChangeShapeType="1"/>
          </p:cNvSpPr>
          <p:nvPr/>
        </p:nvSpPr>
        <p:spPr bwMode="auto">
          <a:xfrm>
            <a:off x="66294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96" name="AutoShape 108"/>
          <p:cNvSpPr>
            <a:spLocks noChangeArrowheads="1"/>
          </p:cNvSpPr>
          <p:nvPr/>
        </p:nvSpPr>
        <p:spPr bwMode="auto">
          <a:xfrm rot="-5400000">
            <a:off x="2933700" y="4381500"/>
            <a:ext cx="6096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197" name="Line 109"/>
          <p:cNvSpPr>
            <a:spLocks noChangeShapeType="1"/>
          </p:cNvSpPr>
          <p:nvPr/>
        </p:nvSpPr>
        <p:spPr bwMode="auto">
          <a:xfrm>
            <a:off x="3352800" y="44958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98" name="Line 110"/>
          <p:cNvSpPr>
            <a:spLocks noChangeShapeType="1"/>
          </p:cNvSpPr>
          <p:nvPr/>
        </p:nvSpPr>
        <p:spPr bwMode="auto">
          <a:xfrm>
            <a:off x="2957513" y="4114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199" name="Line 111"/>
          <p:cNvSpPr>
            <a:spLocks noChangeShapeType="1"/>
          </p:cNvSpPr>
          <p:nvPr/>
        </p:nvSpPr>
        <p:spPr bwMode="auto">
          <a:xfrm>
            <a:off x="2957513" y="4343400"/>
            <a:ext cx="1666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00" name="Line 112"/>
          <p:cNvSpPr>
            <a:spLocks noChangeShapeType="1"/>
          </p:cNvSpPr>
          <p:nvPr/>
        </p:nvSpPr>
        <p:spPr bwMode="auto">
          <a:xfrm>
            <a:off x="3200400" y="2971800"/>
            <a:ext cx="0" cy="1295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01" name="Rectangle 113"/>
          <p:cNvSpPr>
            <a:spLocks noChangeArrowheads="1"/>
          </p:cNvSpPr>
          <p:nvPr/>
        </p:nvSpPr>
        <p:spPr bwMode="auto">
          <a:xfrm>
            <a:off x="2667000" y="3124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RegDst</a:t>
            </a:r>
          </a:p>
        </p:txBody>
      </p:sp>
      <p:sp>
        <p:nvSpPr>
          <p:cNvPr id="729202" name="Oval 114"/>
          <p:cNvSpPr>
            <a:spLocks noChangeArrowheads="1"/>
          </p:cNvSpPr>
          <p:nvPr/>
        </p:nvSpPr>
        <p:spPr bwMode="auto">
          <a:xfrm>
            <a:off x="5791200" y="5257800"/>
            <a:ext cx="609600" cy="7620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203" name="Rectangle 115"/>
          <p:cNvSpPr>
            <a:spLocks noChangeArrowheads="1"/>
          </p:cNvSpPr>
          <p:nvPr/>
        </p:nvSpPr>
        <p:spPr bwMode="auto">
          <a:xfrm>
            <a:off x="5867400" y="54102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ALU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</p:txBody>
      </p:sp>
      <p:sp>
        <p:nvSpPr>
          <p:cNvPr id="729204" name="Line 116"/>
          <p:cNvSpPr>
            <a:spLocks noChangeShapeType="1"/>
          </p:cNvSpPr>
          <p:nvPr/>
        </p:nvSpPr>
        <p:spPr bwMode="auto">
          <a:xfrm>
            <a:off x="3657600" y="6172200"/>
            <a:ext cx="1905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05" name="Line 117"/>
          <p:cNvSpPr>
            <a:spLocks noChangeShapeType="1"/>
          </p:cNvSpPr>
          <p:nvPr/>
        </p:nvSpPr>
        <p:spPr bwMode="auto">
          <a:xfrm>
            <a:off x="5548313" y="54864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06" name="Rectangle 118"/>
          <p:cNvSpPr>
            <a:spLocks noChangeArrowheads="1"/>
          </p:cNvSpPr>
          <p:nvPr/>
        </p:nvSpPr>
        <p:spPr bwMode="auto">
          <a:xfrm>
            <a:off x="86106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9207" name="Rectangle 119"/>
          <p:cNvSpPr>
            <a:spLocks noChangeArrowheads="1"/>
          </p:cNvSpPr>
          <p:nvPr/>
        </p:nvSpPr>
        <p:spPr bwMode="auto">
          <a:xfrm>
            <a:off x="5410200" y="480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9208" name="Rectangle 120"/>
          <p:cNvSpPr>
            <a:spLocks noChangeArrowheads="1"/>
          </p:cNvSpPr>
          <p:nvPr/>
        </p:nvSpPr>
        <p:spPr bwMode="auto">
          <a:xfrm>
            <a:off x="3124200" y="4495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9209" name="Rectangle 121"/>
          <p:cNvSpPr>
            <a:spLocks noChangeArrowheads="1"/>
          </p:cNvSpPr>
          <p:nvPr/>
        </p:nvSpPr>
        <p:spPr bwMode="auto">
          <a:xfrm>
            <a:off x="31242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9210" name="Rectangle 122"/>
          <p:cNvSpPr>
            <a:spLocks noChangeArrowheads="1"/>
          </p:cNvSpPr>
          <p:nvPr/>
        </p:nvSpPr>
        <p:spPr bwMode="auto">
          <a:xfrm>
            <a:off x="5410200" y="4419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9211" name="Rectangle 123"/>
          <p:cNvSpPr>
            <a:spLocks noChangeArrowheads="1"/>
          </p:cNvSpPr>
          <p:nvPr/>
        </p:nvSpPr>
        <p:spPr bwMode="auto">
          <a:xfrm>
            <a:off x="8610600" y="4572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9212" name="Rectangle 124"/>
          <p:cNvSpPr>
            <a:spLocks noChangeArrowheads="1"/>
          </p:cNvSpPr>
          <p:nvPr/>
        </p:nvSpPr>
        <p:spPr bwMode="auto">
          <a:xfrm>
            <a:off x="6705600" y="99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29213" name="Rectangle 125"/>
          <p:cNvSpPr>
            <a:spLocks noChangeArrowheads="1"/>
          </p:cNvSpPr>
          <p:nvPr/>
        </p:nvSpPr>
        <p:spPr bwMode="auto">
          <a:xfrm>
            <a:off x="6705600" y="1447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29214" name="Rectangle 126"/>
          <p:cNvSpPr>
            <a:spLocks noChangeArrowheads="1"/>
          </p:cNvSpPr>
          <p:nvPr/>
        </p:nvSpPr>
        <p:spPr bwMode="auto">
          <a:xfrm>
            <a:off x="2514600" y="19050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ALUOp</a:t>
            </a:r>
          </a:p>
        </p:txBody>
      </p:sp>
      <p:sp>
        <p:nvSpPr>
          <p:cNvPr id="729215" name="Line 127"/>
          <p:cNvSpPr>
            <a:spLocks noChangeShapeType="1"/>
          </p:cNvSpPr>
          <p:nvPr/>
        </p:nvSpPr>
        <p:spPr bwMode="auto">
          <a:xfrm>
            <a:off x="6096000" y="6019800"/>
            <a:ext cx="0" cy="3048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16" name="Rectangle 128"/>
          <p:cNvSpPr>
            <a:spLocks noChangeArrowheads="1"/>
          </p:cNvSpPr>
          <p:nvPr/>
        </p:nvSpPr>
        <p:spPr bwMode="auto">
          <a:xfrm>
            <a:off x="4724400" y="5867400"/>
            <a:ext cx="7620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Instr[5-0]</a:t>
            </a:r>
          </a:p>
        </p:txBody>
      </p:sp>
      <p:sp>
        <p:nvSpPr>
          <p:cNvPr id="729217" name="Rectangle 129"/>
          <p:cNvSpPr>
            <a:spLocks noChangeArrowheads="1"/>
          </p:cNvSpPr>
          <p:nvPr/>
        </p:nvSpPr>
        <p:spPr bwMode="auto">
          <a:xfrm>
            <a:off x="2667000" y="5334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Instr[15-0]</a:t>
            </a:r>
          </a:p>
        </p:txBody>
      </p:sp>
      <p:sp>
        <p:nvSpPr>
          <p:cNvPr id="729218" name="Rectangle 130"/>
          <p:cNvSpPr>
            <a:spLocks noChangeArrowheads="1"/>
          </p:cNvSpPr>
          <p:nvPr/>
        </p:nvSpPr>
        <p:spPr bwMode="auto">
          <a:xfrm>
            <a:off x="2652713" y="3505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Instr[25-21]</a:t>
            </a:r>
          </a:p>
        </p:txBody>
      </p:sp>
      <p:sp>
        <p:nvSpPr>
          <p:cNvPr id="729219" name="Rectangle 131"/>
          <p:cNvSpPr>
            <a:spLocks noChangeArrowheads="1"/>
          </p:cNvSpPr>
          <p:nvPr/>
        </p:nvSpPr>
        <p:spPr bwMode="auto">
          <a:xfrm>
            <a:off x="2652713" y="3886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Instr[20-16]</a:t>
            </a:r>
          </a:p>
        </p:txBody>
      </p:sp>
      <p:sp>
        <p:nvSpPr>
          <p:cNvPr id="729220" name="Text Box 132"/>
          <p:cNvSpPr txBox="1">
            <a:spLocks noChangeArrowheads="1"/>
          </p:cNvSpPr>
          <p:nvPr/>
        </p:nvSpPr>
        <p:spPr bwMode="auto">
          <a:xfrm>
            <a:off x="2576513" y="4648200"/>
            <a:ext cx="701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  -11]</a:t>
            </a:r>
          </a:p>
        </p:txBody>
      </p:sp>
      <p:sp>
        <p:nvSpPr>
          <p:cNvPr id="729221" name="Line 133"/>
          <p:cNvSpPr>
            <a:spLocks noChangeShapeType="1"/>
          </p:cNvSpPr>
          <p:nvPr/>
        </p:nvSpPr>
        <p:spPr bwMode="auto">
          <a:xfrm>
            <a:off x="228600" y="838200"/>
            <a:ext cx="0" cy="3505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22" name="Line 134"/>
          <p:cNvSpPr>
            <a:spLocks noChangeShapeType="1"/>
          </p:cNvSpPr>
          <p:nvPr/>
        </p:nvSpPr>
        <p:spPr bwMode="auto">
          <a:xfrm>
            <a:off x="7086600" y="8382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23" name="Line 135"/>
          <p:cNvSpPr>
            <a:spLocks noChangeShapeType="1"/>
          </p:cNvSpPr>
          <p:nvPr/>
        </p:nvSpPr>
        <p:spPr bwMode="auto">
          <a:xfrm>
            <a:off x="5181600" y="4953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24" name="Oval 136"/>
          <p:cNvSpPr>
            <a:spLocks noChangeArrowheads="1"/>
          </p:cNvSpPr>
          <p:nvPr/>
        </p:nvSpPr>
        <p:spPr bwMode="auto">
          <a:xfrm>
            <a:off x="2971800" y="1828800"/>
            <a:ext cx="762000" cy="12192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225" name="Rectangle 137"/>
          <p:cNvSpPr>
            <a:spLocks noChangeArrowheads="1"/>
          </p:cNvSpPr>
          <p:nvPr/>
        </p:nvSpPr>
        <p:spPr bwMode="auto">
          <a:xfrm>
            <a:off x="3124200" y="2286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Unit</a:t>
            </a:r>
          </a:p>
        </p:txBody>
      </p:sp>
      <p:sp>
        <p:nvSpPr>
          <p:cNvPr id="729226" name="Line 138"/>
          <p:cNvSpPr>
            <a:spLocks noChangeShapeType="1"/>
          </p:cNvSpPr>
          <p:nvPr/>
        </p:nvSpPr>
        <p:spPr bwMode="auto">
          <a:xfrm>
            <a:off x="2667000" y="2514600"/>
            <a:ext cx="0" cy="213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27" name="Line 139"/>
          <p:cNvSpPr>
            <a:spLocks noChangeShapeType="1"/>
          </p:cNvSpPr>
          <p:nvPr/>
        </p:nvSpPr>
        <p:spPr bwMode="auto">
          <a:xfrm>
            <a:off x="2667000" y="2514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28" name="Rectangle 140"/>
          <p:cNvSpPr>
            <a:spLocks noChangeArrowheads="1"/>
          </p:cNvSpPr>
          <p:nvPr/>
        </p:nvSpPr>
        <p:spPr bwMode="auto">
          <a:xfrm>
            <a:off x="2209800" y="2286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Instr[31-26]</a:t>
            </a:r>
          </a:p>
        </p:txBody>
      </p:sp>
      <p:sp>
        <p:nvSpPr>
          <p:cNvPr id="729229" name="AutoShape 141"/>
          <p:cNvSpPr>
            <a:spLocks noChangeArrowheads="1"/>
          </p:cNvSpPr>
          <p:nvPr/>
        </p:nvSpPr>
        <p:spPr bwMode="auto">
          <a:xfrm>
            <a:off x="6400800" y="1981200"/>
            <a:ext cx="304800" cy="304800"/>
          </a:xfrm>
          <a:prstGeom prst="flowChartDelay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9230" name="Line 142"/>
          <p:cNvSpPr>
            <a:spLocks noChangeShapeType="1"/>
          </p:cNvSpPr>
          <p:nvPr/>
        </p:nvSpPr>
        <p:spPr bwMode="auto">
          <a:xfrm>
            <a:off x="6705600" y="21336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31" name="Line 143"/>
          <p:cNvSpPr>
            <a:spLocks noChangeShapeType="1"/>
          </p:cNvSpPr>
          <p:nvPr/>
        </p:nvSpPr>
        <p:spPr bwMode="auto">
          <a:xfrm>
            <a:off x="6248400" y="22098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32" name="Line 144"/>
          <p:cNvSpPr>
            <a:spLocks noChangeShapeType="1"/>
          </p:cNvSpPr>
          <p:nvPr/>
        </p:nvSpPr>
        <p:spPr bwMode="auto">
          <a:xfrm>
            <a:off x="3733800" y="2209800"/>
            <a:ext cx="2438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33" name="Rectangle 145"/>
          <p:cNvSpPr>
            <a:spLocks noChangeArrowheads="1"/>
          </p:cNvSpPr>
          <p:nvPr/>
        </p:nvSpPr>
        <p:spPr bwMode="auto">
          <a:xfrm>
            <a:off x="3810000" y="1981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Branch</a:t>
            </a:r>
          </a:p>
        </p:txBody>
      </p:sp>
      <p:sp>
        <p:nvSpPr>
          <p:cNvPr id="729234" name="Line 146"/>
          <p:cNvSpPr>
            <a:spLocks noChangeShapeType="1"/>
          </p:cNvSpPr>
          <p:nvPr/>
        </p:nvSpPr>
        <p:spPr bwMode="auto">
          <a:xfrm>
            <a:off x="3733800" y="2362200"/>
            <a:ext cx="518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35" name="Line 147"/>
          <p:cNvSpPr>
            <a:spLocks noChangeShapeType="1"/>
          </p:cNvSpPr>
          <p:nvPr/>
        </p:nvSpPr>
        <p:spPr bwMode="auto">
          <a:xfrm>
            <a:off x="7543800" y="5334000"/>
            <a:ext cx="137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36" name="Line 148"/>
          <p:cNvSpPr>
            <a:spLocks noChangeShapeType="1"/>
          </p:cNvSpPr>
          <p:nvPr/>
        </p:nvSpPr>
        <p:spPr bwMode="auto">
          <a:xfrm>
            <a:off x="8915400" y="2362200"/>
            <a:ext cx="0" cy="2971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37" name="Line 149"/>
          <p:cNvSpPr>
            <a:spLocks noChangeShapeType="1"/>
          </p:cNvSpPr>
          <p:nvPr/>
        </p:nvSpPr>
        <p:spPr bwMode="auto">
          <a:xfrm>
            <a:off x="3733800" y="2514600"/>
            <a:ext cx="4953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38" name="Line 150"/>
          <p:cNvSpPr>
            <a:spLocks noChangeShapeType="1"/>
          </p:cNvSpPr>
          <p:nvPr/>
        </p:nvSpPr>
        <p:spPr bwMode="auto">
          <a:xfrm>
            <a:off x="3733800" y="2667000"/>
            <a:ext cx="3810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39" name="Line 151"/>
          <p:cNvSpPr>
            <a:spLocks noChangeShapeType="1"/>
          </p:cNvSpPr>
          <p:nvPr/>
        </p:nvSpPr>
        <p:spPr bwMode="auto">
          <a:xfrm>
            <a:off x="3581400" y="2971800"/>
            <a:ext cx="609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40" name="Line 152"/>
          <p:cNvSpPr>
            <a:spLocks noChangeShapeType="1"/>
          </p:cNvSpPr>
          <p:nvPr/>
        </p:nvSpPr>
        <p:spPr bwMode="auto">
          <a:xfrm>
            <a:off x="3657600" y="2819400"/>
            <a:ext cx="18288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41" name="Line 153"/>
          <p:cNvSpPr>
            <a:spLocks noChangeShapeType="1"/>
          </p:cNvSpPr>
          <p:nvPr/>
        </p:nvSpPr>
        <p:spPr bwMode="auto">
          <a:xfrm>
            <a:off x="5486400" y="2819400"/>
            <a:ext cx="0" cy="1676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42" name="Line 154"/>
          <p:cNvSpPr>
            <a:spLocks noChangeShapeType="1"/>
          </p:cNvSpPr>
          <p:nvPr/>
        </p:nvSpPr>
        <p:spPr bwMode="auto">
          <a:xfrm>
            <a:off x="2590800" y="6324600"/>
            <a:ext cx="3505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43" name="Line 155"/>
          <p:cNvSpPr>
            <a:spLocks noChangeShapeType="1"/>
          </p:cNvSpPr>
          <p:nvPr/>
        </p:nvSpPr>
        <p:spPr bwMode="auto">
          <a:xfrm>
            <a:off x="2590800" y="2133600"/>
            <a:ext cx="0" cy="419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44" name="Line 156"/>
          <p:cNvSpPr>
            <a:spLocks noChangeShapeType="1"/>
          </p:cNvSpPr>
          <p:nvPr/>
        </p:nvSpPr>
        <p:spPr bwMode="auto">
          <a:xfrm>
            <a:off x="2590800" y="213360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45" name="Line 157"/>
          <p:cNvSpPr>
            <a:spLocks noChangeShapeType="1"/>
          </p:cNvSpPr>
          <p:nvPr/>
        </p:nvSpPr>
        <p:spPr bwMode="auto">
          <a:xfrm>
            <a:off x="3657600" y="5562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46" name="Line 158"/>
          <p:cNvSpPr>
            <a:spLocks noChangeShapeType="1"/>
          </p:cNvSpPr>
          <p:nvPr/>
        </p:nvSpPr>
        <p:spPr bwMode="auto">
          <a:xfrm>
            <a:off x="5562600" y="5486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47" name="Line 159"/>
          <p:cNvSpPr>
            <a:spLocks noChangeShapeType="1"/>
          </p:cNvSpPr>
          <p:nvPr/>
        </p:nvSpPr>
        <p:spPr bwMode="auto">
          <a:xfrm>
            <a:off x="6172200" y="2057400"/>
            <a:ext cx="228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48" name="Line 160"/>
          <p:cNvSpPr>
            <a:spLocks noChangeShapeType="1"/>
          </p:cNvSpPr>
          <p:nvPr/>
        </p:nvSpPr>
        <p:spPr bwMode="auto">
          <a:xfrm flipV="1">
            <a:off x="6172200" y="2057400"/>
            <a:ext cx="0" cy="152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49" name="Line 161"/>
          <p:cNvSpPr>
            <a:spLocks noChangeShapeType="1"/>
          </p:cNvSpPr>
          <p:nvPr/>
        </p:nvSpPr>
        <p:spPr bwMode="auto">
          <a:xfrm>
            <a:off x="2133600" y="1447800"/>
            <a:ext cx="304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50" name="Line 162"/>
          <p:cNvSpPr>
            <a:spLocks noChangeShapeType="1"/>
          </p:cNvSpPr>
          <p:nvPr/>
        </p:nvSpPr>
        <p:spPr bwMode="auto">
          <a:xfrm>
            <a:off x="4953000" y="4572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51" name="Line 163"/>
          <p:cNvSpPr>
            <a:spLocks noChangeShapeType="1"/>
          </p:cNvSpPr>
          <p:nvPr/>
        </p:nvSpPr>
        <p:spPr bwMode="auto">
          <a:xfrm>
            <a:off x="6477000" y="38862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52" name="Line 164"/>
          <p:cNvSpPr>
            <a:spLocks noChangeShapeType="1"/>
          </p:cNvSpPr>
          <p:nvPr/>
        </p:nvSpPr>
        <p:spPr bwMode="auto">
          <a:xfrm>
            <a:off x="6477000" y="43434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53" name="Line 165"/>
          <p:cNvSpPr>
            <a:spLocks noChangeShapeType="1"/>
          </p:cNvSpPr>
          <p:nvPr/>
        </p:nvSpPr>
        <p:spPr bwMode="auto">
          <a:xfrm>
            <a:off x="5181600" y="1905000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9254" name="Line 166"/>
          <p:cNvSpPr>
            <a:spLocks noChangeShapeType="1"/>
          </p:cNvSpPr>
          <p:nvPr/>
        </p:nvSpPr>
        <p:spPr bwMode="auto">
          <a:xfrm>
            <a:off x="2667000" y="46482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344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Store Word Instruction Data/Control Flow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52600" y="914400"/>
            <a:ext cx="381000" cy="990600"/>
            <a:chOff x="1392" y="2880"/>
            <a:chExt cx="288" cy="480"/>
          </a:xfrm>
        </p:grpSpPr>
        <p:sp>
          <p:nvSpPr>
            <p:cNvPr id="731140" name="Line 4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1141" name="Line 5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1142" name="Line 6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1143" name="Line 7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1144" name="Line 8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1145" name="Line 9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1146" name="Line 10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1147" name="Rectangle 11"/>
          <p:cNvSpPr>
            <a:spLocks noChangeArrowheads="1"/>
          </p:cNvSpPr>
          <p:nvPr/>
        </p:nvSpPr>
        <p:spPr bwMode="auto">
          <a:xfrm>
            <a:off x="1052513" y="3581400"/>
            <a:ext cx="1447800" cy="14478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148" name="Rectangle 12"/>
          <p:cNvSpPr>
            <a:spLocks noChangeArrowheads="1"/>
          </p:cNvSpPr>
          <p:nvPr/>
        </p:nvSpPr>
        <p:spPr bwMode="auto">
          <a:xfrm>
            <a:off x="519113" y="3962400"/>
            <a:ext cx="228600" cy="8382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149" name="Line 13"/>
          <p:cNvSpPr>
            <a:spLocks noChangeShapeType="1"/>
          </p:cNvSpPr>
          <p:nvPr/>
        </p:nvSpPr>
        <p:spPr bwMode="auto">
          <a:xfrm>
            <a:off x="747713" y="4343400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50" name="Line 14"/>
          <p:cNvSpPr>
            <a:spLocks noChangeShapeType="1"/>
          </p:cNvSpPr>
          <p:nvPr/>
        </p:nvSpPr>
        <p:spPr bwMode="auto">
          <a:xfrm>
            <a:off x="838200" y="1066800"/>
            <a:ext cx="914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51" name="Line 15"/>
          <p:cNvSpPr>
            <a:spLocks noChangeShapeType="1"/>
          </p:cNvSpPr>
          <p:nvPr/>
        </p:nvSpPr>
        <p:spPr bwMode="auto">
          <a:xfrm>
            <a:off x="1371600" y="1752600"/>
            <a:ext cx="38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52" name="Text Box 16"/>
          <p:cNvSpPr txBox="1">
            <a:spLocks noChangeArrowheads="1"/>
          </p:cNvSpPr>
          <p:nvPr/>
        </p:nvSpPr>
        <p:spPr bwMode="auto">
          <a:xfrm>
            <a:off x="976313" y="4114800"/>
            <a:ext cx="74136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31153" name="Text Box 17"/>
          <p:cNvSpPr txBox="1">
            <a:spLocks noChangeArrowheads="1"/>
          </p:cNvSpPr>
          <p:nvPr/>
        </p:nvSpPr>
        <p:spPr bwMode="auto">
          <a:xfrm>
            <a:off x="1738313" y="4191000"/>
            <a:ext cx="8699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Instr[31-0]</a:t>
            </a:r>
          </a:p>
        </p:txBody>
      </p:sp>
      <p:sp>
        <p:nvSpPr>
          <p:cNvPr id="731154" name="Text Box 18"/>
          <p:cNvSpPr txBox="1">
            <a:spLocks noChangeArrowheads="1"/>
          </p:cNvSpPr>
          <p:nvPr/>
        </p:nvSpPr>
        <p:spPr bwMode="auto">
          <a:xfrm>
            <a:off x="1281113" y="3657600"/>
            <a:ext cx="9731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Instruction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31155" name="Text Box 19"/>
          <p:cNvSpPr txBox="1">
            <a:spLocks noChangeArrowheads="1"/>
          </p:cNvSpPr>
          <p:nvPr/>
        </p:nvSpPr>
        <p:spPr bwMode="auto">
          <a:xfrm>
            <a:off x="1752600" y="12954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31156" name="Text Box 20"/>
          <p:cNvSpPr txBox="1">
            <a:spLocks noChangeArrowheads="1"/>
          </p:cNvSpPr>
          <p:nvPr/>
        </p:nvSpPr>
        <p:spPr bwMode="auto">
          <a:xfrm>
            <a:off x="442913" y="4191000"/>
            <a:ext cx="395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PC</a:t>
            </a:r>
          </a:p>
        </p:txBody>
      </p:sp>
      <p:sp>
        <p:nvSpPr>
          <p:cNvPr id="731157" name="Line 21"/>
          <p:cNvSpPr>
            <a:spLocks noChangeShapeType="1"/>
          </p:cNvSpPr>
          <p:nvPr/>
        </p:nvSpPr>
        <p:spPr bwMode="auto">
          <a:xfrm>
            <a:off x="228600" y="838200"/>
            <a:ext cx="6858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58" name="Line 22"/>
          <p:cNvSpPr>
            <a:spLocks noChangeShapeType="1"/>
          </p:cNvSpPr>
          <p:nvPr/>
        </p:nvSpPr>
        <p:spPr bwMode="auto">
          <a:xfrm>
            <a:off x="214313" y="4343400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59" name="Text Box 23"/>
          <p:cNvSpPr txBox="1">
            <a:spLocks noChangeArrowheads="1"/>
          </p:cNvSpPr>
          <p:nvPr/>
        </p:nvSpPr>
        <p:spPr bwMode="auto">
          <a:xfrm>
            <a:off x="1143000" y="16002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31160" name="Rectangle 24"/>
          <p:cNvSpPr>
            <a:spLocks noChangeArrowheads="1"/>
          </p:cNvSpPr>
          <p:nvPr/>
        </p:nvSpPr>
        <p:spPr bwMode="auto">
          <a:xfrm>
            <a:off x="3505200" y="3581400"/>
            <a:ext cx="1447800" cy="14478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161" name="Line 25"/>
          <p:cNvSpPr>
            <a:spLocks noChangeShapeType="1"/>
          </p:cNvSpPr>
          <p:nvPr/>
        </p:nvSpPr>
        <p:spPr bwMode="auto">
          <a:xfrm>
            <a:off x="2500313" y="43434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62" name="Line 26"/>
          <p:cNvSpPr>
            <a:spLocks noChangeShapeType="1"/>
          </p:cNvSpPr>
          <p:nvPr/>
        </p:nvSpPr>
        <p:spPr bwMode="auto">
          <a:xfrm>
            <a:off x="2652713" y="4114800"/>
            <a:ext cx="8524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63" name="Line 27"/>
          <p:cNvSpPr>
            <a:spLocks noChangeShapeType="1"/>
          </p:cNvSpPr>
          <p:nvPr/>
        </p:nvSpPr>
        <p:spPr bwMode="auto">
          <a:xfrm>
            <a:off x="2652713" y="4648200"/>
            <a:ext cx="471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64" name="Line 28"/>
          <p:cNvSpPr>
            <a:spLocks noChangeShapeType="1"/>
          </p:cNvSpPr>
          <p:nvPr/>
        </p:nvSpPr>
        <p:spPr bwMode="auto">
          <a:xfrm>
            <a:off x="8382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65" name="Line 29"/>
          <p:cNvSpPr>
            <a:spLocks noChangeShapeType="1"/>
          </p:cNvSpPr>
          <p:nvPr/>
        </p:nvSpPr>
        <p:spPr bwMode="auto">
          <a:xfrm>
            <a:off x="2652713" y="3733800"/>
            <a:ext cx="8524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66" name="Line 30"/>
          <p:cNvSpPr>
            <a:spLocks noChangeShapeType="1"/>
          </p:cNvSpPr>
          <p:nvPr/>
        </p:nvSpPr>
        <p:spPr bwMode="auto">
          <a:xfrm>
            <a:off x="4953000" y="3962400"/>
            <a:ext cx="863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67" name="Line 31"/>
          <p:cNvSpPr>
            <a:spLocks noChangeShapeType="1"/>
          </p:cNvSpPr>
          <p:nvPr/>
        </p:nvSpPr>
        <p:spPr bwMode="auto">
          <a:xfrm>
            <a:off x="5105400" y="4572000"/>
            <a:ext cx="279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68" name="Line 32"/>
          <p:cNvSpPr>
            <a:spLocks noChangeShapeType="1"/>
          </p:cNvSpPr>
          <p:nvPr/>
        </p:nvSpPr>
        <p:spPr bwMode="auto">
          <a:xfrm>
            <a:off x="6477000" y="5715000"/>
            <a:ext cx="193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69" name="Line 33"/>
          <p:cNvSpPr>
            <a:spLocks noChangeShapeType="1"/>
          </p:cNvSpPr>
          <p:nvPr/>
        </p:nvSpPr>
        <p:spPr bwMode="auto">
          <a:xfrm>
            <a:off x="6324600" y="4343400"/>
            <a:ext cx="177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70" name="Text Box 34"/>
          <p:cNvSpPr txBox="1">
            <a:spLocks noChangeArrowheads="1"/>
          </p:cNvSpPr>
          <p:nvPr/>
        </p:nvSpPr>
        <p:spPr bwMode="auto">
          <a:xfrm>
            <a:off x="3429000" y="4724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31171" name="Text Box 35"/>
          <p:cNvSpPr txBox="1">
            <a:spLocks noChangeArrowheads="1"/>
          </p:cNvSpPr>
          <p:nvPr/>
        </p:nvSpPr>
        <p:spPr bwMode="auto">
          <a:xfrm>
            <a:off x="3429000" y="3581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1</a:t>
            </a:r>
          </a:p>
        </p:txBody>
      </p:sp>
      <p:sp>
        <p:nvSpPr>
          <p:cNvPr id="731172" name="Text Box 36"/>
          <p:cNvSpPr txBox="1">
            <a:spLocks noChangeArrowheads="1"/>
          </p:cNvSpPr>
          <p:nvPr/>
        </p:nvSpPr>
        <p:spPr bwMode="auto">
          <a:xfrm>
            <a:off x="3429000" y="3962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2</a:t>
            </a:r>
          </a:p>
        </p:txBody>
      </p:sp>
      <p:sp>
        <p:nvSpPr>
          <p:cNvPr id="731173" name="Text Box 37"/>
          <p:cNvSpPr txBox="1">
            <a:spLocks noChangeArrowheads="1"/>
          </p:cNvSpPr>
          <p:nvPr/>
        </p:nvSpPr>
        <p:spPr bwMode="auto">
          <a:xfrm>
            <a:off x="3429000" y="4343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Addr</a:t>
            </a:r>
          </a:p>
        </p:txBody>
      </p:sp>
      <p:sp>
        <p:nvSpPr>
          <p:cNvPr id="731174" name="Text Box 38"/>
          <p:cNvSpPr txBox="1">
            <a:spLocks noChangeArrowheads="1"/>
          </p:cNvSpPr>
          <p:nvPr/>
        </p:nvSpPr>
        <p:spPr bwMode="auto">
          <a:xfrm>
            <a:off x="3752850" y="38100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Register</a:t>
            </a:r>
          </a:p>
          <a:p>
            <a:pPr algn="ctr"/>
            <a:endParaRPr lang="en-US" altLang="zh-CN" sz="1200" b="1">
              <a:solidFill>
                <a:schemeClr val="tx1"/>
              </a:solidFill>
              <a:ea typeface="宋体" pitchFamily="2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File</a:t>
            </a:r>
          </a:p>
        </p:txBody>
      </p:sp>
      <p:sp>
        <p:nvSpPr>
          <p:cNvPr id="731175" name="Text Box 39"/>
          <p:cNvSpPr txBox="1">
            <a:spLocks noChangeArrowheads="1"/>
          </p:cNvSpPr>
          <p:nvPr/>
        </p:nvSpPr>
        <p:spPr bwMode="auto">
          <a:xfrm>
            <a:off x="4343400" y="37338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1</a:t>
            </a:r>
          </a:p>
        </p:txBody>
      </p:sp>
      <p:sp>
        <p:nvSpPr>
          <p:cNvPr id="731176" name="Text Box 40"/>
          <p:cNvSpPr txBox="1">
            <a:spLocks noChangeArrowheads="1"/>
          </p:cNvSpPr>
          <p:nvPr/>
        </p:nvSpPr>
        <p:spPr bwMode="auto">
          <a:xfrm>
            <a:off x="4368800" y="44196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2</a:t>
            </a:r>
          </a:p>
        </p:txBody>
      </p:sp>
      <p:sp>
        <p:nvSpPr>
          <p:cNvPr id="731177" name="Freeform 41"/>
          <p:cNvSpPr>
            <a:spLocks/>
          </p:cNvSpPr>
          <p:nvPr/>
        </p:nvSpPr>
        <p:spPr bwMode="auto">
          <a:xfrm>
            <a:off x="5791200" y="36576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78" name="Rectangle 42"/>
          <p:cNvSpPr>
            <a:spLocks noChangeArrowheads="1"/>
          </p:cNvSpPr>
          <p:nvPr/>
        </p:nvSpPr>
        <p:spPr bwMode="auto">
          <a:xfrm>
            <a:off x="5892800" y="42672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ALU</a:t>
            </a:r>
          </a:p>
        </p:txBody>
      </p:sp>
      <p:sp>
        <p:nvSpPr>
          <p:cNvPr id="731179" name="Rectangle 43"/>
          <p:cNvSpPr>
            <a:spLocks noChangeArrowheads="1"/>
          </p:cNvSpPr>
          <p:nvPr/>
        </p:nvSpPr>
        <p:spPr bwMode="auto">
          <a:xfrm>
            <a:off x="5791200" y="3276600"/>
            <a:ext cx="7620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ovf</a:t>
            </a:r>
          </a:p>
        </p:txBody>
      </p:sp>
      <p:sp>
        <p:nvSpPr>
          <p:cNvPr id="731180" name="Rectangle 44"/>
          <p:cNvSpPr>
            <a:spLocks noChangeArrowheads="1"/>
          </p:cNvSpPr>
          <p:nvPr/>
        </p:nvSpPr>
        <p:spPr bwMode="auto">
          <a:xfrm>
            <a:off x="5943600" y="3886200"/>
            <a:ext cx="5334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zero</a:t>
            </a:r>
          </a:p>
        </p:txBody>
      </p:sp>
      <p:sp>
        <p:nvSpPr>
          <p:cNvPr id="731181" name="Line 45"/>
          <p:cNvSpPr>
            <a:spLocks noChangeShapeType="1"/>
          </p:cNvSpPr>
          <p:nvPr/>
        </p:nvSpPr>
        <p:spPr bwMode="auto">
          <a:xfrm>
            <a:off x="6096000" y="4724400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82" name="Line 46"/>
          <p:cNvSpPr>
            <a:spLocks noChangeShapeType="1"/>
          </p:cNvSpPr>
          <p:nvPr/>
        </p:nvSpPr>
        <p:spPr bwMode="auto">
          <a:xfrm>
            <a:off x="4191000" y="2971800"/>
            <a:ext cx="0" cy="609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83" name="Rectangle 47"/>
          <p:cNvSpPr>
            <a:spLocks noChangeArrowheads="1"/>
          </p:cNvSpPr>
          <p:nvPr/>
        </p:nvSpPr>
        <p:spPr bwMode="auto">
          <a:xfrm>
            <a:off x="4191000" y="29718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RegWrite</a:t>
            </a:r>
          </a:p>
        </p:txBody>
      </p:sp>
      <p:sp>
        <p:nvSpPr>
          <p:cNvPr id="731184" name="Line 48"/>
          <p:cNvSpPr>
            <a:spLocks noChangeShapeType="1"/>
          </p:cNvSpPr>
          <p:nvPr/>
        </p:nvSpPr>
        <p:spPr bwMode="auto">
          <a:xfrm flipV="1">
            <a:off x="5943600" y="35052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85" name="Line 49"/>
          <p:cNvSpPr>
            <a:spLocks noChangeShapeType="1"/>
          </p:cNvSpPr>
          <p:nvPr/>
        </p:nvSpPr>
        <p:spPr bwMode="auto">
          <a:xfrm flipV="1">
            <a:off x="6248400" y="22098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86" name="Line 50"/>
          <p:cNvSpPr>
            <a:spLocks noChangeShapeType="1"/>
          </p:cNvSpPr>
          <p:nvPr/>
        </p:nvSpPr>
        <p:spPr bwMode="auto">
          <a:xfrm>
            <a:off x="8991600" y="4495800"/>
            <a:ext cx="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87" name="Rectangle 51"/>
          <p:cNvSpPr>
            <a:spLocks noChangeArrowheads="1"/>
          </p:cNvSpPr>
          <p:nvPr/>
        </p:nvSpPr>
        <p:spPr bwMode="auto">
          <a:xfrm>
            <a:off x="6858000" y="3581400"/>
            <a:ext cx="1447800" cy="14478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188" name="Line 52"/>
          <p:cNvSpPr>
            <a:spLocks noChangeShapeType="1"/>
          </p:cNvSpPr>
          <p:nvPr/>
        </p:nvSpPr>
        <p:spPr bwMode="auto">
          <a:xfrm>
            <a:off x="8305800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89" name="Line 53"/>
          <p:cNvSpPr>
            <a:spLocks noChangeShapeType="1"/>
          </p:cNvSpPr>
          <p:nvPr/>
        </p:nvSpPr>
        <p:spPr bwMode="auto">
          <a:xfrm>
            <a:off x="6477000" y="3886200"/>
            <a:ext cx="406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90" name="Line 54"/>
          <p:cNvSpPr>
            <a:spLocks noChangeShapeType="1"/>
          </p:cNvSpPr>
          <p:nvPr/>
        </p:nvSpPr>
        <p:spPr bwMode="auto">
          <a:xfrm>
            <a:off x="6629400" y="4724400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91" name="Text Box 55"/>
          <p:cNvSpPr txBox="1">
            <a:spLocks noChangeArrowheads="1"/>
          </p:cNvSpPr>
          <p:nvPr/>
        </p:nvSpPr>
        <p:spPr bwMode="auto">
          <a:xfrm>
            <a:off x="6781800" y="4038600"/>
            <a:ext cx="766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Data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31192" name="Text Box 56"/>
          <p:cNvSpPr txBox="1">
            <a:spLocks noChangeArrowheads="1"/>
          </p:cNvSpPr>
          <p:nvPr/>
        </p:nvSpPr>
        <p:spPr bwMode="auto">
          <a:xfrm>
            <a:off x="6781800" y="3733800"/>
            <a:ext cx="7413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31193" name="Text Box 57"/>
          <p:cNvSpPr txBox="1">
            <a:spLocks noChangeArrowheads="1"/>
          </p:cNvSpPr>
          <p:nvPr/>
        </p:nvSpPr>
        <p:spPr bwMode="auto">
          <a:xfrm>
            <a:off x="6781800" y="45720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31194" name="Text Box 58"/>
          <p:cNvSpPr txBox="1">
            <a:spLocks noChangeArrowheads="1"/>
          </p:cNvSpPr>
          <p:nvPr/>
        </p:nvSpPr>
        <p:spPr bwMode="auto">
          <a:xfrm>
            <a:off x="7467600" y="4191000"/>
            <a:ext cx="909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731195" name="Line 59"/>
          <p:cNvSpPr>
            <a:spLocks noChangeShapeType="1"/>
          </p:cNvSpPr>
          <p:nvPr/>
        </p:nvSpPr>
        <p:spPr bwMode="auto">
          <a:xfrm>
            <a:off x="7543800" y="2667000"/>
            <a:ext cx="0" cy="914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96" name="Rectangle 60"/>
          <p:cNvSpPr>
            <a:spLocks noChangeArrowheads="1"/>
          </p:cNvSpPr>
          <p:nvPr/>
        </p:nvSpPr>
        <p:spPr bwMode="auto">
          <a:xfrm>
            <a:off x="6553200" y="24384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MemWrite</a:t>
            </a:r>
          </a:p>
        </p:txBody>
      </p:sp>
      <p:sp>
        <p:nvSpPr>
          <p:cNvPr id="731197" name="Rectangle 61"/>
          <p:cNvSpPr>
            <a:spLocks noChangeArrowheads="1"/>
          </p:cNvSpPr>
          <p:nvPr/>
        </p:nvSpPr>
        <p:spPr bwMode="auto">
          <a:xfrm>
            <a:off x="7848600" y="21336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MemRead</a:t>
            </a:r>
          </a:p>
        </p:txBody>
      </p:sp>
      <p:sp>
        <p:nvSpPr>
          <p:cNvPr id="731198" name="Line 62"/>
          <p:cNvSpPr>
            <a:spLocks noChangeShapeType="1"/>
          </p:cNvSpPr>
          <p:nvPr/>
        </p:nvSpPr>
        <p:spPr bwMode="auto">
          <a:xfrm>
            <a:off x="7543800" y="50292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199" name="Line 63"/>
          <p:cNvSpPr>
            <a:spLocks noChangeShapeType="1"/>
          </p:cNvSpPr>
          <p:nvPr/>
        </p:nvSpPr>
        <p:spPr bwMode="auto">
          <a:xfrm>
            <a:off x="3276600" y="6477000"/>
            <a:ext cx="571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00" name="Line 64"/>
          <p:cNvSpPr>
            <a:spLocks noChangeShapeType="1"/>
          </p:cNvSpPr>
          <p:nvPr/>
        </p:nvSpPr>
        <p:spPr bwMode="auto">
          <a:xfrm>
            <a:off x="5054600" y="5181600"/>
            <a:ext cx="16002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01" name="Line 65"/>
          <p:cNvSpPr>
            <a:spLocks noChangeShapeType="1"/>
          </p:cNvSpPr>
          <p:nvPr/>
        </p:nvSpPr>
        <p:spPr bwMode="auto">
          <a:xfrm>
            <a:off x="4811713" y="5562600"/>
            <a:ext cx="38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02" name="Oval 66"/>
          <p:cNvSpPr>
            <a:spLocks noChangeArrowheads="1"/>
          </p:cNvSpPr>
          <p:nvPr/>
        </p:nvSpPr>
        <p:spPr bwMode="auto">
          <a:xfrm>
            <a:off x="4202113" y="5181600"/>
            <a:ext cx="609600" cy="838200"/>
          </a:xfrm>
          <a:prstGeom prst="ellips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203" name="Rectangle 67"/>
          <p:cNvSpPr>
            <a:spLocks noChangeArrowheads="1"/>
          </p:cNvSpPr>
          <p:nvPr/>
        </p:nvSpPr>
        <p:spPr bwMode="auto">
          <a:xfrm>
            <a:off x="4252913" y="5334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Sign</a:t>
            </a:r>
          </a:p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Extend</a:t>
            </a:r>
          </a:p>
        </p:txBody>
      </p:sp>
      <p:sp>
        <p:nvSpPr>
          <p:cNvPr id="731204" name="Line 68"/>
          <p:cNvSpPr>
            <a:spLocks noChangeShapeType="1"/>
          </p:cNvSpPr>
          <p:nvPr/>
        </p:nvSpPr>
        <p:spPr bwMode="auto">
          <a:xfrm>
            <a:off x="2638425" y="5562600"/>
            <a:ext cx="156368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05" name="Line 69"/>
          <p:cNvSpPr>
            <a:spLocks noChangeShapeType="1"/>
          </p:cNvSpPr>
          <p:nvPr/>
        </p:nvSpPr>
        <p:spPr bwMode="auto">
          <a:xfrm>
            <a:off x="3871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06" name="Line 70"/>
          <p:cNvSpPr>
            <a:spLocks noChangeShapeType="1"/>
          </p:cNvSpPr>
          <p:nvPr/>
        </p:nvSpPr>
        <p:spPr bwMode="auto">
          <a:xfrm>
            <a:off x="4887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07" name="Text Box 71"/>
          <p:cNvSpPr txBox="1">
            <a:spLocks noChangeArrowheads="1"/>
          </p:cNvSpPr>
          <p:nvPr/>
        </p:nvSpPr>
        <p:spPr bwMode="auto">
          <a:xfrm>
            <a:off x="3871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16</a:t>
            </a:r>
          </a:p>
        </p:txBody>
      </p:sp>
      <p:sp>
        <p:nvSpPr>
          <p:cNvPr id="731208" name="Text Box 72"/>
          <p:cNvSpPr txBox="1">
            <a:spLocks noChangeArrowheads="1"/>
          </p:cNvSpPr>
          <p:nvPr/>
        </p:nvSpPr>
        <p:spPr bwMode="auto">
          <a:xfrm>
            <a:off x="4887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32</a:t>
            </a:r>
          </a:p>
        </p:txBody>
      </p:sp>
      <p:sp>
        <p:nvSpPr>
          <p:cNvPr id="731209" name="Line 73"/>
          <p:cNvSpPr>
            <a:spLocks noChangeShapeType="1"/>
          </p:cNvSpPr>
          <p:nvPr/>
        </p:nvSpPr>
        <p:spPr bwMode="auto">
          <a:xfrm>
            <a:off x="5054600" y="4572000"/>
            <a:ext cx="0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10" name="Line 74"/>
          <p:cNvSpPr>
            <a:spLocks noChangeShapeType="1"/>
          </p:cNvSpPr>
          <p:nvPr/>
        </p:nvSpPr>
        <p:spPr bwMode="auto">
          <a:xfrm>
            <a:off x="8382000" y="4724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11" name="Line 75"/>
          <p:cNvSpPr>
            <a:spLocks noChangeShapeType="1"/>
          </p:cNvSpPr>
          <p:nvPr/>
        </p:nvSpPr>
        <p:spPr bwMode="auto">
          <a:xfrm>
            <a:off x="5181600" y="4953000"/>
            <a:ext cx="177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12" name="Line 76"/>
          <p:cNvSpPr>
            <a:spLocks noChangeShapeType="1"/>
          </p:cNvSpPr>
          <p:nvPr/>
        </p:nvSpPr>
        <p:spPr bwMode="auto">
          <a:xfrm>
            <a:off x="3276600" y="4876800"/>
            <a:ext cx="25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13" name="AutoShape 77"/>
          <p:cNvSpPr>
            <a:spLocks noChangeArrowheads="1"/>
          </p:cNvSpPr>
          <p:nvPr/>
        </p:nvSpPr>
        <p:spPr bwMode="auto">
          <a:xfrm rot="-5400000">
            <a:off x="8382000" y="4419600"/>
            <a:ext cx="6858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214" name="Line 78"/>
          <p:cNvSpPr>
            <a:spLocks noChangeShapeType="1"/>
          </p:cNvSpPr>
          <p:nvPr/>
        </p:nvSpPr>
        <p:spPr bwMode="auto">
          <a:xfrm>
            <a:off x="8839200" y="4495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15" name="AutoShape 79"/>
          <p:cNvSpPr>
            <a:spLocks noChangeArrowheads="1"/>
          </p:cNvSpPr>
          <p:nvPr/>
        </p:nvSpPr>
        <p:spPr bwMode="auto">
          <a:xfrm rot="-5400000">
            <a:off x="5092700" y="46101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216" name="Line 80"/>
          <p:cNvSpPr>
            <a:spLocks noChangeShapeType="1"/>
          </p:cNvSpPr>
          <p:nvPr/>
        </p:nvSpPr>
        <p:spPr bwMode="auto">
          <a:xfrm>
            <a:off x="5588000" y="4724400"/>
            <a:ext cx="228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17" name="Line 81"/>
          <p:cNvSpPr>
            <a:spLocks noChangeShapeType="1"/>
          </p:cNvSpPr>
          <p:nvPr/>
        </p:nvSpPr>
        <p:spPr bwMode="auto">
          <a:xfrm>
            <a:off x="3276600" y="48768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18" name="Line 82"/>
          <p:cNvSpPr>
            <a:spLocks noChangeShapeType="1"/>
          </p:cNvSpPr>
          <p:nvPr/>
        </p:nvSpPr>
        <p:spPr bwMode="auto">
          <a:xfrm>
            <a:off x="8686800" y="25146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19" name="Rectangle 83"/>
          <p:cNvSpPr>
            <a:spLocks noChangeArrowheads="1"/>
          </p:cNvSpPr>
          <p:nvPr/>
        </p:nvSpPr>
        <p:spPr bwMode="auto">
          <a:xfrm>
            <a:off x="7162800" y="22860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MemtoReg</a:t>
            </a:r>
          </a:p>
        </p:txBody>
      </p:sp>
      <p:sp>
        <p:nvSpPr>
          <p:cNvPr id="731220" name="Rectangle 84"/>
          <p:cNvSpPr>
            <a:spLocks noChangeArrowheads="1"/>
          </p:cNvSpPr>
          <p:nvPr/>
        </p:nvSpPr>
        <p:spPr bwMode="auto">
          <a:xfrm>
            <a:off x="4343400" y="25908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ALUSrc</a:t>
            </a:r>
          </a:p>
        </p:txBody>
      </p:sp>
      <p:sp>
        <p:nvSpPr>
          <p:cNvPr id="731221" name="Oval 85"/>
          <p:cNvSpPr>
            <a:spLocks noChangeArrowheads="1"/>
          </p:cNvSpPr>
          <p:nvPr/>
        </p:nvSpPr>
        <p:spPr bwMode="auto">
          <a:xfrm>
            <a:off x="5410200" y="1600200"/>
            <a:ext cx="4572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222" name="Rectangle 86"/>
          <p:cNvSpPr>
            <a:spLocks noChangeArrowheads="1"/>
          </p:cNvSpPr>
          <p:nvPr/>
        </p:nvSpPr>
        <p:spPr bwMode="auto">
          <a:xfrm>
            <a:off x="5410200" y="1600200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Shift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left 2</a:t>
            </a:r>
          </a:p>
        </p:txBody>
      </p:sp>
      <p:sp>
        <p:nvSpPr>
          <p:cNvPr id="731223" name="Line 87"/>
          <p:cNvSpPr>
            <a:spLocks noChangeShapeType="1"/>
          </p:cNvSpPr>
          <p:nvPr/>
        </p:nvSpPr>
        <p:spPr bwMode="auto">
          <a:xfrm>
            <a:off x="5181600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24" name="Line 88"/>
          <p:cNvSpPr>
            <a:spLocks noChangeShapeType="1"/>
          </p:cNvSpPr>
          <p:nvPr/>
        </p:nvSpPr>
        <p:spPr bwMode="auto">
          <a:xfrm>
            <a:off x="5181600" y="1447800"/>
            <a:ext cx="928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6096000" y="1143000"/>
            <a:ext cx="381000" cy="914400"/>
            <a:chOff x="1392" y="2880"/>
            <a:chExt cx="288" cy="480"/>
          </a:xfrm>
        </p:grpSpPr>
        <p:sp>
          <p:nvSpPr>
            <p:cNvPr id="731226" name="Line 90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1227" name="Line 91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1228" name="Line 92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1229" name="Line 93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1230" name="Line 94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1231" name="Line 95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1232" name="Line 96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1233" name="Text Box 97"/>
          <p:cNvSpPr txBox="1">
            <a:spLocks noChangeArrowheads="1"/>
          </p:cNvSpPr>
          <p:nvPr/>
        </p:nvSpPr>
        <p:spPr bwMode="auto">
          <a:xfrm>
            <a:off x="6096000" y="14478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31234" name="Line 98"/>
          <p:cNvSpPr>
            <a:spLocks noChangeShapeType="1"/>
          </p:cNvSpPr>
          <p:nvPr/>
        </p:nvSpPr>
        <p:spPr bwMode="auto">
          <a:xfrm>
            <a:off x="5853113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35" name="Line 99"/>
          <p:cNvSpPr>
            <a:spLocks noChangeShapeType="1"/>
          </p:cNvSpPr>
          <p:nvPr/>
        </p:nvSpPr>
        <p:spPr bwMode="auto">
          <a:xfrm>
            <a:off x="6477000" y="1600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36" name="Line 100"/>
          <p:cNvSpPr>
            <a:spLocks noChangeShapeType="1"/>
          </p:cNvSpPr>
          <p:nvPr/>
        </p:nvSpPr>
        <p:spPr bwMode="auto">
          <a:xfrm>
            <a:off x="838200" y="1066800"/>
            <a:ext cx="0" cy="3276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37" name="AutoShape 101"/>
          <p:cNvSpPr>
            <a:spLocks noChangeArrowheads="1"/>
          </p:cNvSpPr>
          <p:nvPr/>
        </p:nvSpPr>
        <p:spPr bwMode="auto">
          <a:xfrm rot="-5400000">
            <a:off x="6400800" y="1219200"/>
            <a:ext cx="8382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238" name="Line 102"/>
          <p:cNvSpPr>
            <a:spLocks noChangeShapeType="1"/>
          </p:cNvSpPr>
          <p:nvPr/>
        </p:nvSpPr>
        <p:spPr bwMode="auto">
          <a:xfrm>
            <a:off x="5181600" y="1066800"/>
            <a:ext cx="1524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39" name="Line 103"/>
          <p:cNvSpPr>
            <a:spLocks noChangeShapeType="1"/>
          </p:cNvSpPr>
          <p:nvPr/>
        </p:nvSpPr>
        <p:spPr bwMode="auto">
          <a:xfrm>
            <a:off x="5181600" y="1066800"/>
            <a:ext cx="0" cy="381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40" name="Line 104"/>
          <p:cNvSpPr>
            <a:spLocks noChangeShapeType="1"/>
          </p:cNvSpPr>
          <p:nvPr/>
        </p:nvSpPr>
        <p:spPr bwMode="auto">
          <a:xfrm>
            <a:off x="6934200" y="1371600"/>
            <a:ext cx="177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41" name="Line 105"/>
          <p:cNvSpPr>
            <a:spLocks noChangeShapeType="1"/>
          </p:cNvSpPr>
          <p:nvPr/>
        </p:nvSpPr>
        <p:spPr bwMode="auto">
          <a:xfrm>
            <a:off x="6858000" y="1600200"/>
            <a:ext cx="0" cy="533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42" name="Rectangle 106"/>
          <p:cNvSpPr>
            <a:spLocks noChangeArrowheads="1"/>
          </p:cNvSpPr>
          <p:nvPr/>
        </p:nvSpPr>
        <p:spPr bwMode="auto">
          <a:xfrm>
            <a:off x="6858000" y="17526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PCSrc</a:t>
            </a:r>
          </a:p>
        </p:txBody>
      </p:sp>
      <p:sp>
        <p:nvSpPr>
          <p:cNvPr id="731243" name="Line 107"/>
          <p:cNvSpPr>
            <a:spLocks noChangeShapeType="1"/>
          </p:cNvSpPr>
          <p:nvPr/>
        </p:nvSpPr>
        <p:spPr bwMode="auto">
          <a:xfrm>
            <a:off x="6629400" y="4724400"/>
            <a:ext cx="228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44" name="AutoShape 108"/>
          <p:cNvSpPr>
            <a:spLocks noChangeArrowheads="1"/>
          </p:cNvSpPr>
          <p:nvPr/>
        </p:nvSpPr>
        <p:spPr bwMode="auto">
          <a:xfrm rot="-5400000">
            <a:off x="2933700" y="4381500"/>
            <a:ext cx="6096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245" name="Line 109"/>
          <p:cNvSpPr>
            <a:spLocks noChangeShapeType="1"/>
          </p:cNvSpPr>
          <p:nvPr/>
        </p:nvSpPr>
        <p:spPr bwMode="auto">
          <a:xfrm>
            <a:off x="3352800" y="44958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46" name="Line 110"/>
          <p:cNvSpPr>
            <a:spLocks noChangeShapeType="1"/>
          </p:cNvSpPr>
          <p:nvPr/>
        </p:nvSpPr>
        <p:spPr bwMode="auto">
          <a:xfrm>
            <a:off x="2957513" y="4114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47" name="Line 111"/>
          <p:cNvSpPr>
            <a:spLocks noChangeShapeType="1"/>
          </p:cNvSpPr>
          <p:nvPr/>
        </p:nvSpPr>
        <p:spPr bwMode="auto">
          <a:xfrm>
            <a:off x="2957513" y="4343400"/>
            <a:ext cx="1666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48" name="Line 112"/>
          <p:cNvSpPr>
            <a:spLocks noChangeShapeType="1"/>
          </p:cNvSpPr>
          <p:nvPr/>
        </p:nvSpPr>
        <p:spPr bwMode="auto">
          <a:xfrm>
            <a:off x="3200400" y="2971800"/>
            <a:ext cx="0" cy="1295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49" name="Rectangle 113"/>
          <p:cNvSpPr>
            <a:spLocks noChangeArrowheads="1"/>
          </p:cNvSpPr>
          <p:nvPr/>
        </p:nvSpPr>
        <p:spPr bwMode="auto">
          <a:xfrm>
            <a:off x="2667000" y="3124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RegDst</a:t>
            </a:r>
          </a:p>
        </p:txBody>
      </p:sp>
      <p:sp>
        <p:nvSpPr>
          <p:cNvPr id="731250" name="Oval 114"/>
          <p:cNvSpPr>
            <a:spLocks noChangeArrowheads="1"/>
          </p:cNvSpPr>
          <p:nvPr/>
        </p:nvSpPr>
        <p:spPr bwMode="auto">
          <a:xfrm>
            <a:off x="5791200" y="5257800"/>
            <a:ext cx="609600" cy="7620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251" name="Rectangle 115"/>
          <p:cNvSpPr>
            <a:spLocks noChangeArrowheads="1"/>
          </p:cNvSpPr>
          <p:nvPr/>
        </p:nvSpPr>
        <p:spPr bwMode="auto">
          <a:xfrm>
            <a:off x="5867400" y="54102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ALU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</p:txBody>
      </p:sp>
      <p:sp>
        <p:nvSpPr>
          <p:cNvPr id="731252" name="Line 116"/>
          <p:cNvSpPr>
            <a:spLocks noChangeShapeType="1"/>
          </p:cNvSpPr>
          <p:nvPr/>
        </p:nvSpPr>
        <p:spPr bwMode="auto">
          <a:xfrm>
            <a:off x="3657600" y="6172200"/>
            <a:ext cx="1905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53" name="Line 117"/>
          <p:cNvSpPr>
            <a:spLocks noChangeShapeType="1"/>
          </p:cNvSpPr>
          <p:nvPr/>
        </p:nvSpPr>
        <p:spPr bwMode="auto">
          <a:xfrm>
            <a:off x="5548313" y="54864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54" name="Rectangle 118"/>
          <p:cNvSpPr>
            <a:spLocks noChangeArrowheads="1"/>
          </p:cNvSpPr>
          <p:nvPr/>
        </p:nvSpPr>
        <p:spPr bwMode="auto">
          <a:xfrm>
            <a:off x="86106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1255" name="Rectangle 119"/>
          <p:cNvSpPr>
            <a:spLocks noChangeArrowheads="1"/>
          </p:cNvSpPr>
          <p:nvPr/>
        </p:nvSpPr>
        <p:spPr bwMode="auto">
          <a:xfrm>
            <a:off x="5410200" y="480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1256" name="Rectangle 120"/>
          <p:cNvSpPr>
            <a:spLocks noChangeArrowheads="1"/>
          </p:cNvSpPr>
          <p:nvPr/>
        </p:nvSpPr>
        <p:spPr bwMode="auto">
          <a:xfrm>
            <a:off x="3124200" y="4495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1257" name="Rectangle 121"/>
          <p:cNvSpPr>
            <a:spLocks noChangeArrowheads="1"/>
          </p:cNvSpPr>
          <p:nvPr/>
        </p:nvSpPr>
        <p:spPr bwMode="auto">
          <a:xfrm>
            <a:off x="31242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1258" name="Rectangle 122"/>
          <p:cNvSpPr>
            <a:spLocks noChangeArrowheads="1"/>
          </p:cNvSpPr>
          <p:nvPr/>
        </p:nvSpPr>
        <p:spPr bwMode="auto">
          <a:xfrm>
            <a:off x="5410200" y="4419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1259" name="Rectangle 123"/>
          <p:cNvSpPr>
            <a:spLocks noChangeArrowheads="1"/>
          </p:cNvSpPr>
          <p:nvPr/>
        </p:nvSpPr>
        <p:spPr bwMode="auto">
          <a:xfrm>
            <a:off x="8610600" y="4572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1260" name="Rectangle 124"/>
          <p:cNvSpPr>
            <a:spLocks noChangeArrowheads="1"/>
          </p:cNvSpPr>
          <p:nvPr/>
        </p:nvSpPr>
        <p:spPr bwMode="auto">
          <a:xfrm>
            <a:off x="6705600" y="99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1261" name="Rectangle 125"/>
          <p:cNvSpPr>
            <a:spLocks noChangeArrowheads="1"/>
          </p:cNvSpPr>
          <p:nvPr/>
        </p:nvSpPr>
        <p:spPr bwMode="auto">
          <a:xfrm>
            <a:off x="6705600" y="1447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1262" name="Rectangle 126"/>
          <p:cNvSpPr>
            <a:spLocks noChangeArrowheads="1"/>
          </p:cNvSpPr>
          <p:nvPr/>
        </p:nvSpPr>
        <p:spPr bwMode="auto">
          <a:xfrm>
            <a:off x="2514600" y="19050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ALUOp</a:t>
            </a:r>
          </a:p>
        </p:txBody>
      </p:sp>
      <p:sp>
        <p:nvSpPr>
          <p:cNvPr id="731263" name="Line 127"/>
          <p:cNvSpPr>
            <a:spLocks noChangeShapeType="1"/>
          </p:cNvSpPr>
          <p:nvPr/>
        </p:nvSpPr>
        <p:spPr bwMode="auto">
          <a:xfrm>
            <a:off x="6096000" y="6019800"/>
            <a:ext cx="0" cy="3048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64" name="Rectangle 128"/>
          <p:cNvSpPr>
            <a:spLocks noChangeArrowheads="1"/>
          </p:cNvSpPr>
          <p:nvPr/>
        </p:nvSpPr>
        <p:spPr bwMode="auto">
          <a:xfrm>
            <a:off x="4724400" y="5867400"/>
            <a:ext cx="7620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Instr[5-0]</a:t>
            </a:r>
          </a:p>
        </p:txBody>
      </p:sp>
      <p:sp>
        <p:nvSpPr>
          <p:cNvPr id="731265" name="Rectangle 129"/>
          <p:cNvSpPr>
            <a:spLocks noChangeArrowheads="1"/>
          </p:cNvSpPr>
          <p:nvPr/>
        </p:nvSpPr>
        <p:spPr bwMode="auto">
          <a:xfrm>
            <a:off x="2667000" y="5334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Instr[15-0]</a:t>
            </a:r>
          </a:p>
        </p:txBody>
      </p:sp>
      <p:sp>
        <p:nvSpPr>
          <p:cNvPr id="731266" name="Rectangle 130"/>
          <p:cNvSpPr>
            <a:spLocks noChangeArrowheads="1"/>
          </p:cNvSpPr>
          <p:nvPr/>
        </p:nvSpPr>
        <p:spPr bwMode="auto">
          <a:xfrm>
            <a:off x="2667000" y="3505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Instr[25-21]</a:t>
            </a:r>
          </a:p>
        </p:txBody>
      </p:sp>
      <p:sp>
        <p:nvSpPr>
          <p:cNvPr id="731267" name="Rectangle 131"/>
          <p:cNvSpPr>
            <a:spLocks noChangeArrowheads="1"/>
          </p:cNvSpPr>
          <p:nvPr/>
        </p:nvSpPr>
        <p:spPr bwMode="auto">
          <a:xfrm>
            <a:off x="2667000" y="3886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Instr[20-16]</a:t>
            </a:r>
          </a:p>
        </p:txBody>
      </p:sp>
      <p:sp>
        <p:nvSpPr>
          <p:cNvPr id="731268" name="Text Box 132"/>
          <p:cNvSpPr txBox="1">
            <a:spLocks noChangeArrowheads="1"/>
          </p:cNvSpPr>
          <p:nvPr/>
        </p:nvSpPr>
        <p:spPr bwMode="auto">
          <a:xfrm>
            <a:off x="2576513" y="4648200"/>
            <a:ext cx="701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  -11]</a:t>
            </a:r>
          </a:p>
        </p:txBody>
      </p:sp>
      <p:sp>
        <p:nvSpPr>
          <p:cNvPr id="731269" name="Line 133"/>
          <p:cNvSpPr>
            <a:spLocks noChangeShapeType="1"/>
          </p:cNvSpPr>
          <p:nvPr/>
        </p:nvSpPr>
        <p:spPr bwMode="auto">
          <a:xfrm>
            <a:off x="228600" y="838200"/>
            <a:ext cx="0" cy="3505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70" name="Line 134"/>
          <p:cNvSpPr>
            <a:spLocks noChangeShapeType="1"/>
          </p:cNvSpPr>
          <p:nvPr/>
        </p:nvSpPr>
        <p:spPr bwMode="auto">
          <a:xfrm>
            <a:off x="7086600" y="838200"/>
            <a:ext cx="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71" name="Line 135"/>
          <p:cNvSpPr>
            <a:spLocks noChangeShapeType="1"/>
          </p:cNvSpPr>
          <p:nvPr/>
        </p:nvSpPr>
        <p:spPr bwMode="auto">
          <a:xfrm>
            <a:off x="5181600" y="4953000"/>
            <a:ext cx="0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72" name="Oval 136"/>
          <p:cNvSpPr>
            <a:spLocks noChangeArrowheads="1"/>
          </p:cNvSpPr>
          <p:nvPr/>
        </p:nvSpPr>
        <p:spPr bwMode="auto">
          <a:xfrm>
            <a:off x="2971800" y="1828800"/>
            <a:ext cx="762000" cy="12192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273" name="Rectangle 137"/>
          <p:cNvSpPr>
            <a:spLocks noChangeArrowheads="1"/>
          </p:cNvSpPr>
          <p:nvPr/>
        </p:nvSpPr>
        <p:spPr bwMode="auto">
          <a:xfrm>
            <a:off x="3124200" y="2286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Unit</a:t>
            </a:r>
          </a:p>
        </p:txBody>
      </p:sp>
      <p:sp>
        <p:nvSpPr>
          <p:cNvPr id="731274" name="Line 138"/>
          <p:cNvSpPr>
            <a:spLocks noChangeShapeType="1"/>
          </p:cNvSpPr>
          <p:nvPr/>
        </p:nvSpPr>
        <p:spPr bwMode="auto">
          <a:xfrm>
            <a:off x="2667000" y="2514600"/>
            <a:ext cx="0" cy="2133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75" name="Line 139"/>
          <p:cNvSpPr>
            <a:spLocks noChangeShapeType="1"/>
          </p:cNvSpPr>
          <p:nvPr/>
        </p:nvSpPr>
        <p:spPr bwMode="auto">
          <a:xfrm>
            <a:off x="2667000" y="2514600"/>
            <a:ext cx="3048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76" name="Rectangle 140"/>
          <p:cNvSpPr>
            <a:spLocks noChangeArrowheads="1"/>
          </p:cNvSpPr>
          <p:nvPr/>
        </p:nvSpPr>
        <p:spPr bwMode="auto">
          <a:xfrm>
            <a:off x="2209800" y="2286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Instr[31-26]</a:t>
            </a:r>
          </a:p>
        </p:txBody>
      </p:sp>
      <p:sp>
        <p:nvSpPr>
          <p:cNvPr id="731277" name="AutoShape 141"/>
          <p:cNvSpPr>
            <a:spLocks noChangeArrowheads="1"/>
          </p:cNvSpPr>
          <p:nvPr/>
        </p:nvSpPr>
        <p:spPr bwMode="auto">
          <a:xfrm>
            <a:off x="6400800" y="1981200"/>
            <a:ext cx="304800" cy="304800"/>
          </a:xfrm>
          <a:prstGeom prst="flowChartDelay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278" name="Line 142"/>
          <p:cNvSpPr>
            <a:spLocks noChangeShapeType="1"/>
          </p:cNvSpPr>
          <p:nvPr/>
        </p:nvSpPr>
        <p:spPr bwMode="auto">
          <a:xfrm>
            <a:off x="6705600" y="21336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79" name="Line 143"/>
          <p:cNvSpPr>
            <a:spLocks noChangeShapeType="1"/>
          </p:cNvSpPr>
          <p:nvPr/>
        </p:nvSpPr>
        <p:spPr bwMode="auto">
          <a:xfrm>
            <a:off x="6248400" y="22098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80" name="Line 144"/>
          <p:cNvSpPr>
            <a:spLocks noChangeShapeType="1"/>
          </p:cNvSpPr>
          <p:nvPr/>
        </p:nvSpPr>
        <p:spPr bwMode="auto">
          <a:xfrm>
            <a:off x="3733800" y="2209800"/>
            <a:ext cx="2438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81" name="Rectangle 145"/>
          <p:cNvSpPr>
            <a:spLocks noChangeArrowheads="1"/>
          </p:cNvSpPr>
          <p:nvPr/>
        </p:nvSpPr>
        <p:spPr bwMode="auto">
          <a:xfrm>
            <a:off x="3810000" y="1981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Branch</a:t>
            </a:r>
          </a:p>
        </p:txBody>
      </p:sp>
      <p:sp>
        <p:nvSpPr>
          <p:cNvPr id="731282" name="Line 146"/>
          <p:cNvSpPr>
            <a:spLocks noChangeShapeType="1"/>
          </p:cNvSpPr>
          <p:nvPr/>
        </p:nvSpPr>
        <p:spPr bwMode="auto">
          <a:xfrm>
            <a:off x="3733800" y="2362200"/>
            <a:ext cx="518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83" name="Line 147"/>
          <p:cNvSpPr>
            <a:spLocks noChangeShapeType="1"/>
          </p:cNvSpPr>
          <p:nvPr/>
        </p:nvSpPr>
        <p:spPr bwMode="auto">
          <a:xfrm>
            <a:off x="7543800" y="5334000"/>
            <a:ext cx="137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84" name="Line 148"/>
          <p:cNvSpPr>
            <a:spLocks noChangeShapeType="1"/>
          </p:cNvSpPr>
          <p:nvPr/>
        </p:nvSpPr>
        <p:spPr bwMode="auto">
          <a:xfrm>
            <a:off x="8915400" y="2362200"/>
            <a:ext cx="0" cy="2971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85" name="Line 149"/>
          <p:cNvSpPr>
            <a:spLocks noChangeShapeType="1"/>
          </p:cNvSpPr>
          <p:nvPr/>
        </p:nvSpPr>
        <p:spPr bwMode="auto">
          <a:xfrm>
            <a:off x="3733800" y="2514600"/>
            <a:ext cx="4953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86" name="Line 150"/>
          <p:cNvSpPr>
            <a:spLocks noChangeShapeType="1"/>
          </p:cNvSpPr>
          <p:nvPr/>
        </p:nvSpPr>
        <p:spPr bwMode="auto">
          <a:xfrm>
            <a:off x="3733800" y="2667000"/>
            <a:ext cx="3810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87" name="Line 151"/>
          <p:cNvSpPr>
            <a:spLocks noChangeShapeType="1"/>
          </p:cNvSpPr>
          <p:nvPr/>
        </p:nvSpPr>
        <p:spPr bwMode="auto">
          <a:xfrm>
            <a:off x="3581400" y="2971800"/>
            <a:ext cx="609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88" name="Line 152"/>
          <p:cNvSpPr>
            <a:spLocks noChangeShapeType="1"/>
          </p:cNvSpPr>
          <p:nvPr/>
        </p:nvSpPr>
        <p:spPr bwMode="auto">
          <a:xfrm>
            <a:off x="3657600" y="2819400"/>
            <a:ext cx="18288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89" name="Line 153"/>
          <p:cNvSpPr>
            <a:spLocks noChangeShapeType="1"/>
          </p:cNvSpPr>
          <p:nvPr/>
        </p:nvSpPr>
        <p:spPr bwMode="auto">
          <a:xfrm>
            <a:off x="5486400" y="2819400"/>
            <a:ext cx="0" cy="1676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90" name="Line 154"/>
          <p:cNvSpPr>
            <a:spLocks noChangeShapeType="1"/>
          </p:cNvSpPr>
          <p:nvPr/>
        </p:nvSpPr>
        <p:spPr bwMode="auto">
          <a:xfrm>
            <a:off x="2590800" y="6324600"/>
            <a:ext cx="3505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91" name="Line 155"/>
          <p:cNvSpPr>
            <a:spLocks noChangeShapeType="1"/>
          </p:cNvSpPr>
          <p:nvPr/>
        </p:nvSpPr>
        <p:spPr bwMode="auto">
          <a:xfrm>
            <a:off x="2590800" y="2133600"/>
            <a:ext cx="0" cy="419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92" name="Line 156"/>
          <p:cNvSpPr>
            <a:spLocks noChangeShapeType="1"/>
          </p:cNvSpPr>
          <p:nvPr/>
        </p:nvSpPr>
        <p:spPr bwMode="auto">
          <a:xfrm>
            <a:off x="2590800" y="213360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93" name="Line 157"/>
          <p:cNvSpPr>
            <a:spLocks noChangeShapeType="1"/>
          </p:cNvSpPr>
          <p:nvPr/>
        </p:nvSpPr>
        <p:spPr bwMode="auto">
          <a:xfrm>
            <a:off x="3657600" y="5562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94" name="Line 158"/>
          <p:cNvSpPr>
            <a:spLocks noChangeShapeType="1"/>
          </p:cNvSpPr>
          <p:nvPr/>
        </p:nvSpPr>
        <p:spPr bwMode="auto">
          <a:xfrm>
            <a:off x="5562600" y="5486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95" name="Line 159"/>
          <p:cNvSpPr>
            <a:spLocks noChangeShapeType="1"/>
          </p:cNvSpPr>
          <p:nvPr/>
        </p:nvSpPr>
        <p:spPr bwMode="auto">
          <a:xfrm>
            <a:off x="6172200" y="2057400"/>
            <a:ext cx="228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96" name="Line 160"/>
          <p:cNvSpPr>
            <a:spLocks noChangeShapeType="1"/>
          </p:cNvSpPr>
          <p:nvPr/>
        </p:nvSpPr>
        <p:spPr bwMode="auto">
          <a:xfrm flipV="1">
            <a:off x="6172200" y="2057400"/>
            <a:ext cx="0" cy="152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97" name="Line 161"/>
          <p:cNvSpPr>
            <a:spLocks noChangeShapeType="1"/>
          </p:cNvSpPr>
          <p:nvPr/>
        </p:nvSpPr>
        <p:spPr bwMode="auto">
          <a:xfrm>
            <a:off x="2133600" y="1447800"/>
            <a:ext cx="3048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98" name="Line 162"/>
          <p:cNvSpPr>
            <a:spLocks noChangeShapeType="1"/>
          </p:cNvSpPr>
          <p:nvPr/>
        </p:nvSpPr>
        <p:spPr bwMode="auto">
          <a:xfrm>
            <a:off x="4953000" y="45720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299" name="Line 163"/>
          <p:cNvSpPr>
            <a:spLocks noChangeShapeType="1"/>
          </p:cNvSpPr>
          <p:nvPr/>
        </p:nvSpPr>
        <p:spPr bwMode="auto">
          <a:xfrm>
            <a:off x="6477000" y="3886200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300" name="Line 164"/>
          <p:cNvSpPr>
            <a:spLocks noChangeShapeType="1"/>
          </p:cNvSpPr>
          <p:nvPr/>
        </p:nvSpPr>
        <p:spPr bwMode="auto">
          <a:xfrm>
            <a:off x="6477000" y="43434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301" name="Line 165"/>
          <p:cNvSpPr>
            <a:spLocks noChangeShapeType="1"/>
          </p:cNvSpPr>
          <p:nvPr/>
        </p:nvSpPr>
        <p:spPr bwMode="auto">
          <a:xfrm>
            <a:off x="5181600" y="1905000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302" name="Line 166"/>
          <p:cNvSpPr>
            <a:spLocks noChangeShapeType="1"/>
          </p:cNvSpPr>
          <p:nvPr/>
        </p:nvSpPr>
        <p:spPr bwMode="auto">
          <a:xfrm>
            <a:off x="2667000" y="4648200"/>
            <a:ext cx="0" cy="914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1303" name="Oval 167"/>
          <p:cNvSpPr>
            <a:spLocks noChangeArrowheads="1"/>
          </p:cNvSpPr>
          <p:nvPr/>
        </p:nvSpPr>
        <p:spPr bwMode="auto">
          <a:xfrm>
            <a:off x="7391400" y="34290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304" name="Oval 168"/>
          <p:cNvSpPr>
            <a:spLocks noChangeArrowheads="1"/>
          </p:cNvSpPr>
          <p:nvPr/>
        </p:nvSpPr>
        <p:spPr bwMode="auto">
          <a:xfrm>
            <a:off x="5943600" y="58674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305" name="Oval 169"/>
          <p:cNvSpPr>
            <a:spLocks noChangeArrowheads="1"/>
          </p:cNvSpPr>
          <p:nvPr/>
        </p:nvSpPr>
        <p:spPr bwMode="auto">
          <a:xfrm>
            <a:off x="5334000" y="47244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306" name="Oval 170"/>
          <p:cNvSpPr>
            <a:spLocks noChangeArrowheads="1"/>
          </p:cNvSpPr>
          <p:nvPr/>
        </p:nvSpPr>
        <p:spPr bwMode="auto">
          <a:xfrm>
            <a:off x="6629400" y="9144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307" name="Oval 171"/>
          <p:cNvSpPr>
            <a:spLocks noChangeArrowheads="1"/>
          </p:cNvSpPr>
          <p:nvPr/>
        </p:nvSpPr>
        <p:spPr bwMode="auto">
          <a:xfrm>
            <a:off x="4038600" y="32766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308" name="Oval 172"/>
          <p:cNvSpPr>
            <a:spLocks noChangeArrowheads="1"/>
          </p:cNvSpPr>
          <p:nvPr/>
        </p:nvSpPr>
        <p:spPr bwMode="auto">
          <a:xfrm>
            <a:off x="7391400" y="48768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1309" name="Oval 173"/>
          <p:cNvSpPr>
            <a:spLocks noChangeArrowheads="1"/>
          </p:cNvSpPr>
          <p:nvPr/>
        </p:nvSpPr>
        <p:spPr bwMode="auto">
          <a:xfrm>
            <a:off x="3962400" y="19050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93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303" grpId="0" animBg="1"/>
      <p:bldP spid="731304" grpId="0" animBg="1"/>
      <p:bldP spid="731305" grpId="0" animBg="1"/>
      <p:bldP spid="731306" grpId="0" animBg="1"/>
      <p:bldP spid="731307" grpId="0" animBg="1"/>
      <p:bldP spid="731308" grpId="0" animBg="1"/>
      <p:bldP spid="73130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Load Word Instruction Data/Control Flow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52600" y="914400"/>
            <a:ext cx="381000" cy="990600"/>
            <a:chOff x="1392" y="2880"/>
            <a:chExt cx="288" cy="480"/>
          </a:xfrm>
        </p:grpSpPr>
        <p:sp>
          <p:nvSpPr>
            <p:cNvPr id="733188" name="Line 4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189" name="Line 5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190" name="Line 6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191" name="Line 7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192" name="Line 8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193" name="Line 9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194" name="Line 10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3195" name="Rectangle 11"/>
          <p:cNvSpPr>
            <a:spLocks noChangeArrowheads="1"/>
          </p:cNvSpPr>
          <p:nvPr/>
        </p:nvSpPr>
        <p:spPr bwMode="auto">
          <a:xfrm>
            <a:off x="1052513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196" name="Rectangle 12"/>
          <p:cNvSpPr>
            <a:spLocks noChangeArrowheads="1"/>
          </p:cNvSpPr>
          <p:nvPr/>
        </p:nvSpPr>
        <p:spPr bwMode="auto">
          <a:xfrm>
            <a:off x="519113" y="3962400"/>
            <a:ext cx="2286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197" name="Line 13"/>
          <p:cNvSpPr>
            <a:spLocks noChangeShapeType="1"/>
          </p:cNvSpPr>
          <p:nvPr/>
        </p:nvSpPr>
        <p:spPr bwMode="auto">
          <a:xfrm>
            <a:off x="747713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198" name="Line 14"/>
          <p:cNvSpPr>
            <a:spLocks noChangeShapeType="1"/>
          </p:cNvSpPr>
          <p:nvPr/>
        </p:nvSpPr>
        <p:spPr bwMode="auto">
          <a:xfrm>
            <a:off x="838200" y="1066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199" name="Line 15"/>
          <p:cNvSpPr>
            <a:spLocks noChangeShapeType="1"/>
          </p:cNvSpPr>
          <p:nvPr/>
        </p:nvSpPr>
        <p:spPr bwMode="auto">
          <a:xfrm>
            <a:off x="1371600" y="175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00" name="Text Box 16"/>
          <p:cNvSpPr txBox="1">
            <a:spLocks noChangeArrowheads="1"/>
          </p:cNvSpPr>
          <p:nvPr/>
        </p:nvSpPr>
        <p:spPr bwMode="auto">
          <a:xfrm>
            <a:off x="976313" y="4114800"/>
            <a:ext cx="74136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33201" name="Text Box 17"/>
          <p:cNvSpPr txBox="1">
            <a:spLocks noChangeArrowheads="1"/>
          </p:cNvSpPr>
          <p:nvPr/>
        </p:nvSpPr>
        <p:spPr bwMode="auto">
          <a:xfrm>
            <a:off x="1738313" y="4191000"/>
            <a:ext cx="8699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Instr[31-0]</a:t>
            </a:r>
          </a:p>
        </p:txBody>
      </p:sp>
      <p:sp>
        <p:nvSpPr>
          <p:cNvPr id="733202" name="Text Box 18"/>
          <p:cNvSpPr txBox="1">
            <a:spLocks noChangeArrowheads="1"/>
          </p:cNvSpPr>
          <p:nvPr/>
        </p:nvSpPr>
        <p:spPr bwMode="auto">
          <a:xfrm>
            <a:off x="1281113" y="3657600"/>
            <a:ext cx="9731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Instruction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33203" name="Text Box 19"/>
          <p:cNvSpPr txBox="1">
            <a:spLocks noChangeArrowheads="1"/>
          </p:cNvSpPr>
          <p:nvPr/>
        </p:nvSpPr>
        <p:spPr bwMode="auto">
          <a:xfrm>
            <a:off x="1752600" y="12954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33204" name="Text Box 20"/>
          <p:cNvSpPr txBox="1">
            <a:spLocks noChangeArrowheads="1"/>
          </p:cNvSpPr>
          <p:nvPr/>
        </p:nvSpPr>
        <p:spPr bwMode="auto">
          <a:xfrm>
            <a:off x="442913" y="4191000"/>
            <a:ext cx="395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PC</a:t>
            </a:r>
          </a:p>
        </p:txBody>
      </p:sp>
      <p:sp>
        <p:nvSpPr>
          <p:cNvPr id="733205" name="Line 21"/>
          <p:cNvSpPr>
            <a:spLocks noChangeShapeType="1"/>
          </p:cNvSpPr>
          <p:nvPr/>
        </p:nvSpPr>
        <p:spPr bwMode="auto">
          <a:xfrm>
            <a:off x="228600" y="838200"/>
            <a:ext cx="685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06" name="Line 22"/>
          <p:cNvSpPr>
            <a:spLocks noChangeShapeType="1"/>
          </p:cNvSpPr>
          <p:nvPr/>
        </p:nvSpPr>
        <p:spPr bwMode="auto">
          <a:xfrm>
            <a:off x="214313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07" name="Text Box 23"/>
          <p:cNvSpPr txBox="1">
            <a:spLocks noChangeArrowheads="1"/>
          </p:cNvSpPr>
          <p:nvPr/>
        </p:nvSpPr>
        <p:spPr bwMode="auto">
          <a:xfrm>
            <a:off x="1143000" y="16002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33208" name="Rectangle 24"/>
          <p:cNvSpPr>
            <a:spLocks noChangeArrowheads="1"/>
          </p:cNvSpPr>
          <p:nvPr/>
        </p:nvSpPr>
        <p:spPr bwMode="auto">
          <a:xfrm>
            <a:off x="3505200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209" name="Line 25"/>
          <p:cNvSpPr>
            <a:spLocks noChangeShapeType="1"/>
          </p:cNvSpPr>
          <p:nvPr/>
        </p:nvSpPr>
        <p:spPr bwMode="auto">
          <a:xfrm>
            <a:off x="2500313" y="43434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10" name="Line 26"/>
          <p:cNvSpPr>
            <a:spLocks noChangeShapeType="1"/>
          </p:cNvSpPr>
          <p:nvPr/>
        </p:nvSpPr>
        <p:spPr bwMode="auto">
          <a:xfrm>
            <a:off x="2652713" y="4114800"/>
            <a:ext cx="852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11" name="Line 27"/>
          <p:cNvSpPr>
            <a:spLocks noChangeShapeType="1"/>
          </p:cNvSpPr>
          <p:nvPr/>
        </p:nvSpPr>
        <p:spPr bwMode="auto">
          <a:xfrm>
            <a:off x="2652713" y="4648200"/>
            <a:ext cx="471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12" name="Line 28"/>
          <p:cNvSpPr>
            <a:spLocks noChangeShapeType="1"/>
          </p:cNvSpPr>
          <p:nvPr/>
        </p:nvSpPr>
        <p:spPr bwMode="auto">
          <a:xfrm>
            <a:off x="8382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13" name="Line 29"/>
          <p:cNvSpPr>
            <a:spLocks noChangeShapeType="1"/>
          </p:cNvSpPr>
          <p:nvPr/>
        </p:nvSpPr>
        <p:spPr bwMode="auto">
          <a:xfrm>
            <a:off x="2652713" y="3733800"/>
            <a:ext cx="852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14" name="Line 30"/>
          <p:cNvSpPr>
            <a:spLocks noChangeShapeType="1"/>
          </p:cNvSpPr>
          <p:nvPr/>
        </p:nvSpPr>
        <p:spPr bwMode="auto">
          <a:xfrm>
            <a:off x="4953000" y="3962400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15" name="Line 31"/>
          <p:cNvSpPr>
            <a:spLocks noChangeShapeType="1"/>
          </p:cNvSpPr>
          <p:nvPr/>
        </p:nvSpPr>
        <p:spPr bwMode="auto">
          <a:xfrm>
            <a:off x="5105400" y="4572000"/>
            <a:ext cx="279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16" name="Line 32"/>
          <p:cNvSpPr>
            <a:spLocks noChangeShapeType="1"/>
          </p:cNvSpPr>
          <p:nvPr/>
        </p:nvSpPr>
        <p:spPr bwMode="auto">
          <a:xfrm>
            <a:off x="6477000" y="5715000"/>
            <a:ext cx="193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17" name="Line 33"/>
          <p:cNvSpPr>
            <a:spLocks noChangeShapeType="1"/>
          </p:cNvSpPr>
          <p:nvPr/>
        </p:nvSpPr>
        <p:spPr bwMode="auto">
          <a:xfrm>
            <a:off x="6324600" y="43434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18" name="Text Box 34"/>
          <p:cNvSpPr txBox="1">
            <a:spLocks noChangeArrowheads="1"/>
          </p:cNvSpPr>
          <p:nvPr/>
        </p:nvSpPr>
        <p:spPr bwMode="auto">
          <a:xfrm>
            <a:off x="3429000" y="4724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33219" name="Text Box 35"/>
          <p:cNvSpPr txBox="1">
            <a:spLocks noChangeArrowheads="1"/>
          </p:cNvSpPr>
          <p:nvPr/>
        </p:nvSpPr>
        <p:spPr bwMode="auto">
          <a:xfrm>
            <a:off x="3429000" y="3581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1</a:t>
            </a:r>
          </a:p>
        </p:txBody>
      </p:sp>
      <p:sp>
        <p:nvSpPr>
          <p:cNvPr id="733220" name="Text Box 36"/>
          <p:cNvSpPr txBox="1">
            <a:spLocks noChangeArrowheads="1"/>
          </p:cNvSpPr>
          <p:nvPr/>
        </p:nvSpPr>
        <p:spPr bwMode="auto">
          <a:xfrm>
            <a:off x="3429000" y="3962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2</a:t>
            </a:r>
          </a:p>
        </p:txBody>
      </p:sp>
      <p:sp>
        <p:nvSpPr>
          <p:cNvPr id="733221" name="Text Box 37"/>
          <p:cNvSpPr txBox="1">
            <a:spLocks noChangeArrowheads="1"/>
          </p:cNvSpPr>
          <p:nvPr/>
        </p:nvSpPr>
        <p:spPr bwMode="auto">
          <a:xfrm>
            <a:off x="3429000" y="4343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Addr</a:t>
            </a:r>
          </a:p>
        </p:txBody>
      </p:sp>
      <p:sp>
        <p:nvSpPr>
          <p:cNvPr id="733222" name="Text Box 38"/>
          <p:cNvSpPr txBox="1">
            <a:spLocks noChangeArrowheads="1"/>
          </p:cNvSpPr>
          <p:nvPr/>
        </p:nvSpPr>
        <p:spPr bwMode="auto">
          <a:xfrm>
            <a:off x="3752850" y="38100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Register</a:t>
            </a:r>
          </a:p>
          <a:p>
            <a:pPr algn="ctr"/>
            <a:endParaRPr lang="en-US" altLang="zh-CN" sz="1200" b="1">
              <a:solidFill>
                <a:schemeClr val="tx1"/>
              </a:solidFill>
              <a:ea typeface="宋体" pitchFamily="2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File</a:t>
            </a:r>
          </a:p>
        </p:txBody>
      </p:sp>
      <p:sp>
        <p:nvSpPr>
          <p:cNvPr id="733223" name="Text Box 39"/>
          <p:cNvSpPr txBox="1">
            <a:spLocks noChangeArrowheads="1"/>
          </p:cNvSpPr>
          <p:nvPr/>
        </p:nvSpPr>
        <p:spPr bwMode="auto">
          <a:xfrm>
            <a:off x="4343400" y="37338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1</a:t>
            </a:r>
          </a:p>
        </p:txBody>
      </p:sp>
      <p:sp>
        <p:nvSpPr>
          <p:cNvPr id="733224" name="Text Box 40"/>
          <p:cNvSpPr txBox="1">
            <a:spLocks noChangeArrowheads="1"/>
          </p:cNvSpPr>
          <p:nvPr/>
        </p:nvSpPr>
        <p:spPr bwMode="auto">
          <a:xfrm>
            <a:off x="4368800" y="44196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2</a:t>
            </a:r>
          </a:p>
        </p:txBody>
      </p:sp>
      <p:sp>
        <p:nvSpPr>
          <p:cNvPr id="733225" name="Freeform 41"/>
          <p:cNvSpPr>
            <a:spLocks/>
          </p:cNvSpPr>
          <p:nvPr/>
        </p:nvSpPr>
        <p:spPr bwMode="auto">
          <a:xfrm>
            <a:off x="5791200" y="36576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26" name="Rectangle 42"/>
          <p:cNvSpPr>
            <a:spLocks noChangeArrowheads="1"/>
          </p:cNvSpPr>
          <p:nvPr/>
        </p:nvSpPr>
        <p:spPr bwMode="auto">
          <a:xfrm>
            <a:off x="5892800" y="42672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ALU</a:t>
            </a:r>
          </a:p>
        </p:txBody>
      </p:sp>
      <p:sp>
        <p:nvSpPr>
          <p:cNvPr id="733227" name="Rectangle 43"/>
          <p:cNvSpPr>
            <a:spLocks noChangeArrowheads="1"/>
          </p:cNvSpPr>
          <p:nvPr/>
        </p:nvSpPr>
        <p:spPr bwMode="auto">
          <a:xfrm>
            <a:off x="5791200" y="3276600"/>
            <a:ext cx="7620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ovf</a:t>
            </a:r>
          </a:p>
        </p:txBody>
      </p:sp>
      <p:sp>
        <p:nvSpPr>
          <p:cNvPr id="733228" name="Rectangle 44"/>
          <p:cNvSpPr>
            <a:spLocks noChangeArrowheads="1"/>
          </p:cNvSpPr>
          <p:nvPr/>
        </p:nvSpPr>
        <p:spPr bwMode="auto">
          <a:xfrm>
            <a:off x="5943600" y="3886200"/>
            <a:ext cx="5334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zero</a:t>
            </a:r>
          </a:p>
        </p:txBody>
      </p:sp>
      <p:sp>
        <p:nvSpPr>
          <p:cNvPr id="733229" name="Line 45"/>
          <p:cNvSpPr>
            <a:spLocks noChangeShapeType="1"/>
          </p:cNvSpPr>
          <p:nvPr/>
        </p:nvSpPr>
        <p:spPr bwMode="auto">
          <a:xfrm>
            <a:off x="6096000" y="4724400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30" name="Line 46"/>
          <p:cNvSpPr>
            <a:spLocks noChangeShapeType="1"/>
          </p:cNvSpPr>
          <p:nvPr/>
        </p:nvSpPr>
        <p:spPr bwMode="auto">
          <a:xfrm>
            <a:off x="4191000" y="2971800"/>
            <a:ext cx="0" cy="609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31" name="Rectangle 47"/>
          <p:cNvSpPr>
            <a:spLocks noChangeArrowheads="1"/>
          </p:cNvSpPr>
          <p:nvPr/>
        </p:nvSpPr>
        <p:spPr bwMode="auto">
          <a:xfrm>
            <a:off x="4191000" y="29718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RegWrite</a:t>
            </a:r>
          </a:p>
        </p:txBody>
      </p:sp>
      <p:sp>
        <p:nvSpPr>
          <p:cNvPr id="733232" name="Line 48"/>
          <p:cNvSpPr>
            <a:spLocks noChangeShapeType="1"/>
          </p:cNvSpPr>
          <p:nvPr/>
        </p:nvSpPr>
        <p:spPr bwMode="auto">
          <a:xfrm flipV="1">
            <a:off x="5943600" y="35052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33" name="Line 49"/>
          <p:cNvSpPr>
            <a:spLocks noChangeShapeType="1"/>
          </p:cNvSpPr>
          <p:nvPr/>
        </p:nvSpPr>
        <p:spPr bwMode="auto">
          <a:xfrm flipV="1">
            <a:off x="6248400" y="22098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34" name="Line 50"/>
          <p:cNvSpPr>
            <a:spLocks noChangeShapeType="1"/>
          </p:cNvSpPr>
          <p:nvPr/>
        </p:nvSpPr>
        <p:spPr bwMode="auto">
          <a:xfrm>
            <a:off x="8991600" y="4495800"/>
            <a:ext cx="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35" name="Rectangle 51"/>
          <p:cNvSpPr>
            <a:spLocks noChangeArrowheads="1"/>
          </p:cNvSpPr>
          <p:nvPr/>
        </p:nvSpPr>
        <p:spPr bwMode="auto">
          <a:xfrm>
            <a:off x="6858000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236" name="Line 52"/>
          <p:cNvSpPr>
            <a:spLocks noChangeShapeType="1"/>
          </p:cNvSpPr>
          <p:nvPr/>
        </p:nvSpPr>
        <p:spPr bwMode="auto">
          <a:xfrm>
            <a:off x="8305800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37" name="Line 53"/>
          <p:cNvSpPr>
            <a:spLocks noChangeShapeType="1"/>
          </p:cNvSpPr>
          <p:nvPr/>
        </p:nvSpPr>
        <p:spPr bwMode="auto">
          <a:xfrm>
            <a:off x="6477000" y="3886200"/>
            <a:ext cx="40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38" name="Line 54"/>
          <p:cNvSpPr>
            <a:spLocks noChangeShapeType="1"/>
          </p:cNvSpPr>
          <p:nvPr/>
        </p:nvSpPr>
        <p:spPr bwMode="auto">
          <a:xfrm>
            <a:off x="6629400" y="4724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39" name="Text Box 55"/>
          <p:cNvSpPr txBox="1">
            <a:spLocks noChangeArrowheads="1"/>
          </p:cNvSpPr>
          <p:nvPr/>
        </p:nvSpPr>
        <p:spPr bwMode="auto">
          <a:xfrm>
            <a:off x="6781800" y="4038600"/>
            <a:ext cx="766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Data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33240" name="Text Box 56"/>
          <p:cNvSpPr txBox="1">
            <a:spLocks noChangeArrowheads="1"/>
          </p:cNvSpPr>
          <p:nvPr/>
        </p:nvSpPr>
        <p:spPr bwMode="auto">
          <a:xfrm>
            <a:off x="6781800" y="3733800"/>
            <a:ext cx="7413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33241" name="Text Box 57"/>
          <p:cNvSpPr txBox="1">
            <a:spLocks noChangeArrowheads="1"/>
          </p:cNvSpPr>
          <p:nvPr/>
        </p:nvSpPr>
        <p:spPr bwMode="auto">
          <a:xfrm>
            <a:off x="6781800" y="45720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33242" name="Text Box 58"/>
          <p:cNvSpPr txBox="1">
            <a:spLocks noChangeArrowheads="1"/>
          </p:cNvSpPr>
          <p:nvPr/>
        </p:nvSpPr>
        <p:spPr bwMode="auto">
          <a:xfrm>
            <a:off x="7467600" y="4191000"/>
            <a:ext cx="909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733243" name="Line 59"/>
          <p:cNvSpPr>
            <a:spLocks noChangeShapeType="1"/>
          </p:cNvSpPr>
          <p:nvPr/>
        </p:nvSpPr>
        <p:spPr bwMode="auto">
          <a:xfrm>
            <a:off x="7543800" y="2667000"/>
            <a:ext cx="0" cy="914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44" name="Rectangle 60"/>
          <p:cNvSpPr>
            <a:spLocks noChangeArrowheads="1"/>
          </p:cNvSpPr>
          <p:nvPr/>
        </p:nvSpPr>
        <p:spPr bwMode="auto">
          <a:xfrm>
            <a:off x="6553200" y="24384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MemWrite</a:t>
            </a:r>
          </a:p>
        </p:txBody>
      </p:sp>
      <p:sp>
        <p:nvSpPr>
          <p:cNvPr id="733245" name="Rectangle 61"/>
          <p:cNvSpPr>
            <a:spLocks noChangeArrowheads="1"/>
          </p:cNvSpPr>
          <p:nvPr/>
        </p:nvSpPr>
        <p:spPr bwMode="auto">
          <a:xfrm>
            <a:off x="7848600" y="21336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MemRead</a:t>
            </a:r>
          </a:p>
        </p:txBody>
      </p:sp>
      <p:sp>
        <p:nvSpPr>
          <p:cNvPr id="733246" name="Line 62"/>
          <p:cNvSpPr>
            <a:spLocks noChangeShapeType="1"/>
          </p:cNvSpPr>
          <p:nvPr/>
        </p:nvSpPr>
        <p:spPr bwMode="auto">
          <a:xfrm>
            <a:off x="7543800" y="50292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47" name="Line 63"/>
          <p:cNvSpPr>
            <a:spLocks noChangeShapeType="1"/>
          </p:cNvSpPr>
          <p:nvPr/>
        </p:nvSpPr>
        <p:spPr bwMode="auto">
          <a:xfrm>
            <a:off x="3276600" y="6477000"/>
            <a:ext cx="571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48" name="Line 64"/>
          <p:cNvSpPr>
            <a:spLocks noChangeShapeType="1"/>
          </p:cNvSpPr>
          <p:nvPr/>
        </p:nvSpPr>
        <p:spPr bwMode="auto">
          <a:xfrm>
            <a:off x="5054600" y="51816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49" name="Line 65"/>
          <p:cNvSpPr>
            <a:spLocks noChangeShapeType="1"/>
          </p:cNvSpPr>
          <p:nvPr/>
        </p:nvSpPr>
        <p:spPr bwMode="auto">
          <a:xfrm>
            <a:off x="4811713" y="556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50" name="Oval 66"/>
          <p:cNvSpPr>
            <a:spLocks noChangeArrowheads="1"/>
          </p:cNvSpPr>
          <p:nvPr/>
        </p:nvSpPr>
        <p:spPr bwMode="auto">
          <a:xfrm>
            <a:off x="4202113" y="5181600"/>
            <a:ext cx="6096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251" name="Rectangle 67"/>
          <p:cNvSpPr>
            <a:spLocks noChangeArrowheads="1"/>
          </p:cNvSpPr>
          <p:nvPr/>
        </p:nvSpPr>
        <p:spPr bwMode="auto">
          <a:xfrm>
            <a:off x="4252913" y="5334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Sign</a:t>
            </a:r>
          </a:p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Extend</a:t>
            </a:r>
          </a:p>
        </p:txBody>
      </p:sp>
      <p:sp>
        <p:nvSpPr>
          <p:cNvPr id="733252" name="Line 68"/>
          <p:cNvSpPr>
            <a:spLocks noChangeShapeType="1"/>
          </p:cNvSpPr>
          <p:nvPr/>
        </p:nvSpPr>
        <p:spPr bwMode="auto">
          <a:xfrm>
            <a:off x="2638425" y="5562600"/>
            <a:ext cx="1563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53" name="Line 69"/>
          <p:cNvSpPr>
            <a:spLocks noChangeShapeType="1"/>
          </p:cNvSpPr>
          <p:nvPr/>
        </p:nvSpPr>
        <p:spPr bwMode="auto">
          <a:xfrm>
            <a:off x="3871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54" name="Line 70"/>
          <p:cNvSpPr>
            <a:spLocks noChangeShapeType="1"/>
          </p:cNvSpPr>
          <p:nvPr/>
        </p:nvSpPr>
        <p:spPr bwMode="auto">
          <a:xfrm>
            <a:off x="4887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55" name="Text Box 71"/>
          <p:cNvSpPr txBox="1">
            <a:spLocks noChangeArrowheads="1"/>
          </p:cNvSpPr>
          <p:nvPr/>
        </p:nvSpPr>
        <p:spPr bwMode="auto">
          <a:xfrm>
            <a:off x="3871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16</a:t>
            </a:r>
          </a:p>
        </p:txBody>
      </p:sp>
      <p:sp>
        <p:nvSpPr>
          <p:cNvPr id="733256" name="Text Box 72"/>
          <p:cNvSpPr txBox="1">
            <a:spLocks noChangeArrowheads="1"/>
          </p:cNvSpPr>
          <p:nvPr/>
        </p:nvSpPr>
        <p:spPr bwMode="auto">
          <a:xfrm>
            <a:off x="4887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32</a:t>
            </a:r>
          </a:p>
        </p:txBody>
      </p:sp>
      <p:sp>
        <p:nvSpPr>
          <p:cNvPr id="733257" name="Line 73"/>
          <p:cNvSpPr>
            <a:spLocks noChangeShapeType="1"/>
          </p:cNvSpPr>
          <p:nvPr/>
        </p:nvSpPr>
        <p:spPr bwMode="auto">
          <a:xfrm>
            <a:off x="5054600" y="4572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58" name="Line 74"/>
          <p:cNvSpPr>
            <a:spLocks noChangeShapeType="1"/>
          </p:cNvSpPr>
          <p:nvPr/>
        </p:nvSpPr>
        <p:spPr bwMode="auto">
          <a:xfrm>
            <a:off x="8382000" y="4724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59" name="Line 75"/>
          <p:cNvSpPr>
            <a:spLocks noChangeShapeType="1"/>
          </p:cNvSpPr>
          <p:nvPr/>
        </p:nvSpPr>
        <p:spPr bwMode="auto">
          <a:xfrm>
            <a:off x="5181600" y="49530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60" name="Line 76"/>
          <p:cNvSpPr>
            <a:spLocks noChangeShapeType="1"/>
          </p:cNvSpPr>
          <p:nvPr/>
        </p:nvSpPr>
        <p:spPr bwMode="auto">
          <a:xfrm>
            <a:off x="3276600" y="4876800"/>
            <a:ext cx="25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61" name="AutoShape 77"/>
          <p:cNvSpPr>
            <a:spLocks noChangeArrowheads="1"/>
          </p:cNvSpPr>
          <p:nvPr/>
        </p:nvSpPr>
        <p:spPr bwMode="auto">
          <a:xfrm rot="-5400000">
            <a:off x="8382000" y="4419600"/>
            <a:ext cx="6858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262" name="Line 78"/>
          <p:cNvSpPr>
            <a:spLocks noChangeShapeType="1"/>
          </p:cNvSpPr>
          <p:nvPr/>
        </p:nvSpPr>
        <p:spPr bwMode="auto">
          <a:xfrm>
            <a:off x="8839200" y="4495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63" name="AutoShape 79"/>
          <p:cNvSpPr>
            <a:spLocks noChangeArrowheads="1"/>
          </p:cNvSpPr>
          <p:nvPr/>
        </p:nvSpPr>
        <p:spPr bwMode="auto">
          <a:xfrm rot="-5400000">
            <a:off x="5092700" y="46101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264" name="Line 80"/>
          <p:cNvSpPr>
            <a:spLocks noChangeShapeType="1"/>
          </p:cNvSpPr>
          <p:nvPr/>
        </p:nvSpPr>
        <p:spPr bwMode="auto">
          <a:xfrm>
            <a:off x="5588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65" name="Line 81"/>
          <p:cNvSpPr>
            <a:spLocks noChangeShapeType="1"/>
          </p:cNvSpPr>
          <p:nvPr/>
        </p:nvSpPr>
        <p:spPr bwMode="auto">
          <a:xfrm>
            <a:off x="3276600" y="48768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66" name="Line 82"/>
          <p:cNvSpPr>
            <a:spLocks noChangeShapeType="1"/>
          </p:cNvSpPr>
          <p:nvPr/>
        </p:nvSpPr>
        <p:spPr bwMode="auto">
          <a:xfrm>
            <a:off x="8686800" y="25146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67" name="Rectangle 83"/>
          <p:cNvSpPr>
            <a:spLocks noChangeArrowheads="1"/>
          </p:cNvSpPr>
          <p:nvPr/>
        </p:nvSpPr>
        <p:spPr bwMode="auto">
          <a:xfrm>
            <a:off x="7162800" y="22860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MemtoReg</a:t>
            </a:r>
          </a:p>
        </p:txBody>
      </p:sp>
      <p:sp>
        <p:nvSpPr>
          <p:cNvPr id="733268" name="Rectangle 84"/>
          <p:cNvSpPr>
            <a:spLocks noChangeArrowheads="1"/>
          </p:cNvSpPr>
          <p:nvPr/>
        </p:nvSpPr>
        <p:spPr bwMode="auto">
          <a:xfrm>
            <a:off x="4343400" y="25908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ALUSrc</a:t>
            </a:r>
          </a:p>
        </p:txBody>
      </p:sp>
      <p:sp>
        <p:nvSpPr>
          <p:cNvPr id="733269" name="Oval 85"/>
          <p:cNvSpPr>
            <a:spLocks noChangeArrowheads="1"/>
          </p:cNvSpPr>
          <p:nvPr/>
        </p:nvSpPr>
        <p:spPr bwMode="auto">
          <a:xfrm>
            <a:off x="5410200" y="1600200"/>
            <a:ext cx="4572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270" name="Rectangle 86"/>
          <p:cNvSpPr>
            <a:spLocks noChangeArrowheads="1"/>
          </p:cNvSpPr>
          <p:nvPr/>
        </p:nvSpPr>
        <p:spPr bwMode="auto">
          <a:xfrm>
            <a:off x="5410200" y="1600200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Shift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left 2</a:t>
            </a:r>
          </a:p>
        </p:txBody>
      </p:sp>
      <p:sp>
        <p:nvSpPr>
          <p:cNvPr id="733271" name="Line 87"/>
          <p:cNvSpPr>
            <a:spLocks noChangeShapeType="1"/>
          </p:cNvSpPr>
          <p:nvPr/>
        </p:nvSpPr>
        <p:spPr bwMode="auto">
          <a:xfrm>
            <a:off x="5181600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72" name="Line 88"/>
          <p:cNvSpPr>
            <a:spLocks noChangeShapeType="1"/>
          </p:cNvSpPr>
          <p:nvPr/>
        </p:nvSpPr>
        <p:spPr bwMode="auto">
          <a:xfrm>
            <a:off x="5181600" y="1447800"/>
            <a:ext cx="928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6096000" y="1143000"/>
            <a:ext cx="381000" cy="914400"/>
            <a:chOff x="1392" y="2880"/>
            <a:chExt cx="288" cy="480"/>
          </a:xfrm>
        </p:grpSpPr>
        <p:sp>
          <p:nvSpPr>
            <p:cNvPr id="733274" name="Line 90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275" name="Line 91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276" name="Line 92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277" name="Line 93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278" name="Line 94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279" name="Line 95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280" name="Line 96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3281" name="Text Box 97"/>
          <p:cNvSpPr txBox="1">
            <a:spLocks noChangeArrowheads="1"/>
          </p:cNvSpPr>
          <p:nvPr/>
        </p:nvSpPr>
        <p:spPr bwMode="auto">
          <a:xfrm>
            <a:off x="6096000" y="14478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33282" name="Line 98"/>
          <p:cNvSpPr>
            <a:spLocks noChangeShapeType="1"/>
          </p:cNvSpPr>
          <p:nvPr/>
        </p:nvSpPr>
        <p:spPr bwMode="auto">
          <a:xfrm>
            <a:off x="5853113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83" name="Line 99"/>
          <p:cNvSpPr>
            <a:spLocks noChangeShapeType="1"/>
          </p:cNvSpPr>
          <p:nvPr/>
        </p:nvSpPr>
        <p:spPr bwMode="auto">
          <a:xfrm>
            <a:off x="6477000" y="1600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84" name="Line 100"/>
          <p:cNvSpPr>
            <a:spLocks noChangeShapeType="1"/>
          </p:cNvSpPr>
          <p:nvPr/>
        </p:nvSpPr>
        <p:spPr bwMode="auto">
          <a:xfrm>
            <a:off x="838200" y="1066800"/>
            <a:ext cx="0" cy="3276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85" name="AutoShape 101"/>
          <p:cNvSpPr>
            <a:spLocks noChangeArrowheads="1"/>
          </p:cNvSpPr>
          <p:nvPr/>
        </p:nvSpPr>
        <p:spPr bwMode="auto">
          <a:xfrm rot="-5400000">
            <a:off x="6400800" y="1219200"/>
            <a:ext cx="8382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286" name="Line 102"/>
          <p:cNvSpPr>
            <a:spLocks noChangeShapeType="1"/>
          </p:cNvSpPr>
          <p:nvPr/>
        </p:nvSpPr>
        <p:spPr bwMode="auto">
          <a:xfrm>
            <a:off x="5181600" y="1066800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87" name="Line 103"/>
          <p:cNvSpPr>
            <a:spLocks noChangeShapeType="1"/>
          </p:cNvSpPr>
          <p:nvPr/>
        </p:nvSpPr>
        <p:spPr bwMode="auto">
          <a:xfrm>
            <a:off x="5181600" y="1066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88" name="Line 104"/>
          <p:cNvSpPr>
            <a:spLocks noChangeShapeType="1"/>
          </p:cNvSpPr>
          <p:nvPr/>
        </p:nvSpPr>
        <p:spPr bwMode="auto">
          <a:xfrm>
            <a:off x="6934200" y="13716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89" name="Line 105"/>
          <p:cNvSpPr>
            <a:spLocks noChangeShapeType="1"/>
          </p:cNvSpPr>
          <p:nvPr/>
        </p:nvSpPr>
        <p:spPr bwMode="auto">
          <a:xfrm>
            <a:off x="6858000" y="1600200"/>
            <a:ext cx="0" cy="533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90" name="Rectangle 106"/>
          <p:cNvSpPr>
            <a:spLocks noChangeArrowheads="1"/>
          </p:cNvSpPr>
          <p:nvPr/>
        </p:nvSpPr>
        <p:spPr bwMode="auto">
          <a:xfrm>
            <a:off x="6858000" y="17526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PCSrc</a:t>
            </a:r>
          </a:p>
        </p:txBody>
      </p:sp>
      <p:sp>
        <p:nvSpPr>
          <p:cNvPr id="733291" name="Line 107"/>
          <p:cNvSpPr>
            <a:spLocks noChangeShapeType="1"/>
          </p:cNvSpPr>
          <p:nvPr/>
        </p:nvSpPr>
        <p:spPr bwMode="auto">
          <a:xfrm>
            <a:off x="66294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92" name="AutoShape 108"/>
          <p:cNvSpPr>
            <a:spLocks noChangeArrowheads="1"/>
          </p:cNvSpPr>
          <p:nvPr/>
        </p:nvSpPr>
        <p:spPr bwMode="auto">
          <a:xfrm rot="-5400000">
            <a:off x="2933700" y="4381500"/>
            <a:ext cx="6096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293" name="Line 109"/>
          <p:cNvSpPr>
            <a:spLocks noChangeShapeType="1"/>
          </p:cNvSpPr>
          <p:nvPr/>
        </p:nvSpPr>
        <p:spPr bwMode="auto">
          <a:xfrm>
            <a:off x="3352800" y="44958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94" name="Line 110"/>
          <p:cNvSpPr>
            <a:spLocks noChangeShapeType="1"/>
          </p:cNvSpPr>
          <p:nvPr/>
        </p:nvSpPr>
        <p:spPr bwMode="auto">
          <a:xfrm>
            <a:off x="2957513" y="4114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95" name="Line 111"/>
          <p:cNvSpPr>
            <a:spLocks noChangeShapeType="1"/>
          </p:cNvSpPr>
          <p:nvPr/>
        </p:nvSpPr>
        <p:spPr bwMode="auto">
          <a:xfrm>
            <a:off x="2957513" y="4343400"/>
            <a:ext cx="1666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96" name="Line 112"/>
          <p:cNvSpPr>
            <a:spLocks noChangeShapeType="1"/>
          </p:cNvSpPr>
          <p:nvPr/>
        </p:nvSpPr>
        <p:spPr bwMode="auto">
          <a:xfrm>
            <a:off x="3200400" y="2971800"/>
            <a:ext cx="0" cy="1295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297" name="Rectangle 113"/>
          <p:cNvSpPr>
            <a:spLocks noChangeArrowheads="1"/>
          </p:cNvSpPr>
          <p:nvPr/>
        </p:nvSpPr>
        <p:spPr bwMode="auto">
          <a:xfrm>
            <a:off x="2667000" y="3124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RegDst</a:t>
            </a:r>
          </a:p>
        </p:txBody>
      </p:sp>
      <p:sp>
        <p:nvSpPr>
          <p:cNvPr id="733298" name="Oval 114"/>
          <p:cNvSpPr>
            <a:spLocks noChangeArrowheads="1"/>
          </p:cNvSpPr>
          <p:nvPr/>
        </p:nvSpPr>
        <p:spPr bwMode="auto">
          <a:xfrm>
            <a:off x="5791200" y="5257800"/>
            <a:ext cx="609600" cy="7620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299" name="Rectangle 115"/>
          <p:cNvSpPr>
            <a:spLocks noChangeArrowheads="1"/>
          </p:cNvSpPr>
          <p:nvPr/>
        </p:nvSpPr>
        <p:spPr bwMode="auto">
          <a:xfrm>
            <a:off x="5867400" y="54102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ALU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</p:txBody>
      </p:sp>
      <p:sp>
        <p:nvSpPr>
          <p:cNvPr id="733300" name="Line 116"/>
          <p:cNvSpPr>
            <a:spLocks noChangeShapeType="1"/>
          </p:cNvSpPr>
          <p:nvPr/>
        </p:nvSpPr>
        <p:spPr bwMode="auto">
          <a:xfrm>
            <a:off x="3657600" y="6172200"/>
            <a:ext cx="1905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01" name="Line 117"/>
          <p:cNvSpPr>
            <a:spLocks noChangeShapeType="1"/>
          </p:cNvSpPr>
          <p:nvPr/>
        </p:nvSpPr>
        <p:spPr bwMode="auto">
          <a:xfrm>
            <a:off x="5548313" y="54864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02" name="Rectangle 118"/>
          <p:cNvSpPr>
            <a:spLocks noChangeArrowheads="1"/>
          </p:cNvSpPr>
          <p:nvPr/>
        </p:nvSpPr>
        <p:spPr bwMode="auto">
          <a:xfrm>
            <a:off x="86106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3303" name="Rectangle 119"/>
          <p:cNvSpPr>
            <a:spLocks noChangeArrowheads="1"/>
          </p:cNvSpPr>
          <p:nvPr/>
        </p:nvSpPr>
        <p:spPr bwMode="auto">
          <a:xfrm>
            <a:off x="5410200" y="480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3304" name="Rectangle 120"/>
          <p:cNvSpPr>
            <a:spLocks noChangeArrowheads="1"/>
          </p:cNvSpPr>
          <p:nvPr/>
        </p:nvSpPr>
        <p:spPr bwMode="auto">
          <a:xfrm>
            <a:off x="3124200" y="4495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3305" name="Rectangle 121"/>
          <p:cNvSpPr>
            <a:spLocks noChangeArrowheads="1"/>
          </p:cNvSpPr>
          <p:nvPr/>
        </p:nvSpPr>
        <p:spPr bwMode="auto">
          <a:xfrm>
            <a:off x="31242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3306" name="Rectangle 122"/>
          <p:cNvSpPr>
            <a:spLocks noChangeArrowheads="1"/>
          </p:cNvSpPr>
          <p:nvPr/>
        </p:nvSpPr>
        <p:spPr bwMode="auto">
          <a:xfrm>
            <a:off x="5410200" y="4419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3307" name="Rectangle 123"/>
          <p:cNvSpPr>
            <a:spLocks noChangeArrowheads="1"/>
          </p:cNvSpPr>
          <p:nvPr/>
        </p:nvSpPr>
        <p:spPr bwMode="auto">
          <a:xfrm>
            <a:off x="8610600" y="4572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3308" name="Rectangle 124"/>
          <p:cNvSpPr>
            <a:spLocks noChangeArrowheads="1"/>
          </p:cNvSpPr>
          <p:nvPr/>
        </p:nvSpPr>
        <p:spPr bwMode="auto">
          <a:xfrm>
            <a:off x="6705600" y="99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3309" name="Rectangle 125"/>
          <p:cNvSpPr>
            <a:spLocks noChangeArrowheads="1"/>
          </p:cNvSpPr>
          <p:nvPr/>
        </p:nvSpPr>
        <p:spPr bwMode="auto">
          <a:xfrm>
            <a:off x="6705600" y="1447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3310" name="Rectangle 126"/>
          <p:cNvSpPr>
            <a:spLocks noChangeArrowheads="1"/>
          </p:cNvSpPr>
          <p:nvPr/>
        </p:nvSpPr>
        <p:spPr bwMode="auto">
          <a:xfrm>
            <a:off x="2514600" y="19050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ALUOp</a:t>
            </a:r>
          </a:p>
        </p:txBody>
      </p:sp>
      <p:sp>
        <p:nvSpPr>
          <p:cNvPr id="733311" name="Line 127"/>
          <p:cNvSpPr>
            <a:spLocks noChangeShapeType="1"/>
          </p:cNvSpPr>
          <p:nvPr/>
        </p:nvSpPr>
        <p:spPr bwMode="auto">
          <a:xfrm>
            <a:off x="6096000" y="6019800"/>
            <a:ext cx="0" cy="3048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12" name="Rectangle 128"/>
          <p:cNvSpPr>
            <a:spLocks noChangeArrowheads="1"/>
          </p:cNvSpPr>
          <p:nvPr/>
        </p:nvSpPr>
        <p:spPr bwMode="auto">
          <a:xfrm>
            <a:off x="4724400" y="5867400"/>
            <a:ext cx="7620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Instr[5-0]</a:t>
            </a:r>
          </a:p>
        </p:txBody>
      </p:sp>
      <p:sp>
        <p:nvSpPr>
          <p:cNvPr id="733313" name="Rectangle 129"/>
          <p:cNvSpPr>
            <a:spLocks noChangeArrowheads="1"/>
          </p:cNvSpPr>
          <p:nvPr/>
        </p:nvSpPr>
        <p:spPr bwMode="auto">
          <a:xfrm>
            <a:off x="2667000" y="5334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Instr[15-0]</a:t>
            </a:r>
          </a:p>
        </p:txBody>
      </p:sp>
      <p:sp>
        <p:nvSpPr>
          <p:cNvPr id="733314" name="Rectangle 130"/>
          <p:cNvSpPr>
            <a:spLocks noChangeArrowheads="1"/>
          </p:cNvSpPr>
          <p:nvPr/>
        </p:nvSpPr>
        <p:spPr bwMode="auto">
          <a:xfrm>
            <a:off x="2652713" y="3505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Instr[25-21]</a:t>
            </a:r>
          </a:p>
        </p:txBody>
      </p:sp>
      <p:sp>
        <p:nvSpPr>
          <p:cNvPr id="733315" name="Rectangle 131"/>
          <p:cNvSpPr>
            <a:spLocks noChangeArrowheads="1"/>
          </p:cNvSpPr>
          <p:nvPr/>
        </p:nvSpPr>
        <p:spPr bwMode="auto">
          <a:xfrm>
            <a:off x="2652713" y="3886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Instr[20-16]</a:t>
            </a:r>
          </a:p>
        </p:txBody>
      </p:sp>
      <p:sp>
        <p:nvSpPr>
          <p:cNvPr id="733316" name="Text Box 132"/>
          <p:cNvSpPr txBox="1">
            <a:spLocks noChangeArrowheads="1"/>
          </p:cNvSpPr>
          <p:nvPr/>
        </p:nvSpPr>
        <p:spPr bwMode="auto">
          <a:xfrm>
            <a:off x="2576513" y="4648200"/>
            <a:ext cx="701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  -11]</a:t>
            </a:r>
          </a:p>
        </p:txBody>
      </p:sp>
      <p:sp>
        <p:nvSpPr>
          <p:cNvPr id="733317" name="Line 133"/>
          <p:cNvSpPr>
            <a:spLocks noChangeShapeType="1"/>
          </p:cNvSpPr>
          <p:nvPr/>
        </p:nvSpPr>
        <p:spPr bwMode="auto">
          <a:xfrm>
            <a:off x="228600" y="838200"/>
            <a:ext cx="0" cy="3505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18" name="Line 134"/>
          <p:cNvSpPr>
            <a:spLocks noChangeShapeType="1"/>
          </p:cNvSpPr>
          <p:nvPr/>
        </p:nvSpPr>
        <p:spPr bwMode="auto">
          <a:xfrm>
            <a:off x="7086600" y="8382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19" name="Line 135"/>
          <p:cNvSpPr>
            <a:spLocks noChangeShapeType="1"/>
          </p:cNvSpPr>
          <p:nvPr/>
        </p:nvSpPr>
        <p:spPr bwMode="auto">
          <a:xfrm>
            <a:off x="5181600" y="4953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20" name="Oval 136"/>
          <p:cNvSpPr>
            <a:spLocks noChangeArrowheads="1"/>
          </p:cNvSpPr>
          <p:nvPr/>
        </p:nvSpPr>
        <p:spPr bwMode="auto">
          <a:xfrm>
            <a:off x="2971800" y="1828800"/>
            <a:ext cx="762000" cy="12192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321" name="Rectangle 137"/>
          <p:cNvSpPr>
            <a:spLocks noChangeArrowheads="1"/>
          </p:cNvSpPr>
          <p:nvPr/>
        </p:nvSpPr>
        <p:spPr bwMode="auto">
          <a:xfrm>
            <a:off x="3124200" y="2286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Unit</a:t>
            </a:r>
          </a:p>
        </p:txBody>
      </p:sp>
      <p:sp>
        <p:nvSpPr>
          <p:cNvPr id="733322" name="Line 138"/>
          <p:cNvSpPr>
            <a:spLocks noChangeShapeType="1"/>
          </p:cNvSpPr>
          <p:nvPr/>
        </p:nvSpPr>
        <p:spPr bwMode="auto">
          <a:xfrm>
            <a:off x="2667000" y="2514600"/>
            <a:ext cx="0" cy="213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23" name="Line 139"/>
          <p:cNvSpPr>
            <a:spLocks noChangeShapeType="1"/>
          </p:cNvSpPr>
          <p:nvPr/>
        </p:nvSpPr>
        <p:spPr bwMode="auto">
          <a:xfrm>
            <a:off x="2667000" y="2514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24" name="Rectangle 140"/>
          <p:cNvSpPr>
            <a:spLocks noChangeArrowheads="1"/>
          </p:cNvSpPr>
          <p:nvPr/>
        </p:nvSpPr>
        <p:spPr bwMode="auto">
          <a:xfrm>
            <a:off x="2209800" y="2286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Instr[31-26]</a:t>
            </a:r>
          </a:p>
        </p:txBody>
      </p:sp>
      <p:sp>
        <p:nvSpPr>
          <p:cNvPr id="733325" name="AutoShape 141"/>
          <p:cNvSpPr>
            <a:spLocks noChangeArrowheads="1"/>
          </p:cNvSpPr>
          <p:nvPr/>
        </p:nvSpPr>
        <p:spPr bwMode="auto">
          <a:xfrm>
            <a:off x="6400800" y="1981200"/>
            <a:ext cx="304800" cy="304800"/>
          </a:xfrm>
          <a:prstGeom prst="flowChartDelay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3326" name="Line 142"/>
          <p:cNvSpPr>
            <a:spLocks noChangeShapeType="1"/>
          </p:cNvSpPr>
          <p:nvPr/>
        </p:nvSpPr>
        <p:spPr bwMode="auto">
          <a:xfrm>
            <a:off x="6705600" y="21336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27" name="Line 143"/>
          <p:cNvSpPr>
            <a:spLocks noChangeShapeType="1"/>
          </p:cNvSpPr>
          <p:nvPr/>
        </p:nvSpPr>
        <p:spPr bwMode="auto">
          <a:xfrm>
            <a:off x="6248400" y="22098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28" name="Line 144"/>
          <p:cNvSpPr>
            <a:spLocks noChangeShapeType="1"/>
          </p:cNvSpPr>
          <p:nvPr/>
        </p:nvSpPr>
        <p:spPr bwMode="auto">
          <a:xfrm>
            <a:off x="3733800" y="2209800"/>
            <a:ext cx="2438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29" name="Rectangle 145"/>
          <p:cNvSpPr>
            <a:spLocks noChangeArrowheads="1"/>
          </p:cNvSpPr>
          <p:nvPr/>
        </p:nvSpPr>
        <p:spPr bwMode="auto">
          <a:xfrm>
            <a:off x="3810000" y="1981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Branch</a:t>
            </a:r>
          </a:p>
        </p:txBody>
      </p:sp>
      <p:sp>
        <p:nvSpPr>
          <p:cNvPr id="733330" name="Line 146"/>
          <p:cNvSpPr>
            <a:spLocks noChangeShapeType="1"/>
          </p:cNvSpPr>
          <p:nvPr/>
        </p:nvSpPr>
        <p:spPr bwMode="auto">
          <a:xfrm>
            <a:off x="3733800" y="2362200"/>
            <a:ext cx="518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31" name="Line 147"/>
          <p:cNvSpPr>
            <a:spLocks noChangeShapeType="1"/>
          </p:cNvSpPr>
          <p:nvPr/>
        </p:nvSpPr>
        <p:spPr bwMode="auto">
          <a:xfrm>
            <a:off x="7543800" y="5334000"/>
            <a:ext cx="137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32" name="Line 148"/>
          <p:cNvSpPr>
            <a:spLocks noChangeShapeType="1"/>
          </p:cNvSpPr>
          <p:nvPr/>
        </p:nvSpPr>
        <p:spPr bwMode="auto">
          <a:xfrm>
            <a:off x="8915400" y="2362200"/>
            <a:ext cx="0" cy="2971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33" name="Line 149"/>
          <p:cNvSpPr>
            <a:spLocks noChangeShapeType="1"/>
          </p:cNvSpPr>
          <p:nvPr/>
        </p:nvSpPr>
        <p:spPr bwMode="auto">
          <a:xfrm>
            <a:off x="3733800" y="2514600"/>
            <a:ext cx="4953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34" name="Line 150"/>
          <p:cNvSpPr>
            <a:spLocks noChangeShapeType="1"/>
          </p:cNvSpPr>
          <p:nvPr/>
        </p:nvSpPr>
        <p:spPr bwMode="auto">
          <a:xfrm>
            <a:off x="3733800" y="2667000"/>
            <a:ext cx="3810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35" name="Line 151"/>
          <p:cNvSpPr>
            <a:spLocks noChangeShapeType="1"/>
          </p:cNvSpPr>
          <p:nvPr/>
        </p:nvSpPr>
        <p:spPr bwMode="auto">
          <a:xfrm>
            <a:off x="3581400" y="2971800"/>
            <a:ext cx="609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36" name="Line 152"/>
          <p:cNvSpPr>
            <a:spLocks noChangeShapeType="1"/>
          </p:cNvSpPr>
          <p:nvPr/>
        </p:nvSpPr>
        <p:spPr bwMode="auto">
          <a:xfrm>
            <a:off x="3657600" y="2819400"/>
            <a:ext cx="18288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37" name="Line 153"/>
          <p:cNvSpPr>
            <a:spLocks noChangeShapeType="1"/>
          </p:cNvSpPr>
          <p:nvPr/>
        </p:nvSpPr>
        <p:spPr bwMode="auto">
          <a:xfrm>
            <a:off x="5486400" y="2819400"/>
            <a:ext cx="0" cy="1676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38" name="Line 154"/>
          <p:cNvSpPr>
            <a:spLocks noChangeShapeType="1"/>
          </p:cNvSpPr>
          <p:nvPr/>
        </p:nvSpPr>
        <p:spPr bwMode="auto">
          <a:xfrm>
            <a:off x="2590800" y="6324600"/>
            <a:ext cx="3505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39" name="Line 155"/>
          <p:cNvSpPr>
            <a:spLocks noChangeShapeType="1"/>
          </p:cNvSpPr>
          <p:nvPr/>
        </p:nvSpPr>
        <p:spPr bwMode="auto">
          <a:xfrm>
            <a:off x="2590800" y="2133600"/>
            <a:ext cx="0" cy="419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40" name="Line 156"/>
          <p:cNvSpPr>
            <a:spLocks noChangeShapeType="1"/>
          </p:cNvSpPr>
          <p:nvPr/>
        </p:nvSpPr>
        <p:spPr bwMode="auto">
          <a:xfrm>
            <a:off x="2590800" y="213360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41" name="Line 157"/>
          <p:cNvSpPr>
            <a:spLocks noChangeShapeType="1"/>
          </p:cNvSpPr>
          <p:nvPr/>
        </p:nvSpPr>
        <p:spPr bwMode="auto">
          <a:xfrm>
            <a:off x="3657600" y="5562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42" name="Line 158"/>
          <p:cNvSpPr>
            <a:spLocks noChangeShapeType="1"/>
          </p:cNvSpPr>
          <p:nvPr/>
        </p:nvSpPr>
        <p:spPr bwMode="auto">
          <a:xfrm>
            <a:off x="5562600" y="5486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43" name="Line 159"/>
          <p:cNvSpPr>
            <a:spLocks noChangeShapeType="1"/>
          </p:cNvSpPr>
          <p:nvPr/>
        </p:nvSpPr>
        <p:spPr bwMode="auto">
          <a:xfrm>
            <a:off x="6172200" y="2057400"/>
            <a:ext cx="228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44" name="Line 160"/>
          <p:cNvSpPr>
            <a:spLocks noChangeShapeType="1"/>
          </p:cNvSpPr>
          <p:nvPr/>
        </p:nvSpPr>
        <p:spPr bwMode="auto">
          <a:xfrm flipV="1">
            <a:off x="6172200" y="2057400"/>
            <a:ext cx="0" cy="152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45" name="Line 161"/>
          <p:cNvSpPr>
            <a:spLocks noChangeShapeType="1"/>
          </p:cNvSpPr>
          <p:nvPr/>
        </p:nvSpPr>
        <p:spPr bwMode="auto">
          <a:xfrm>
            <a:off x="2133600" y="1447800"/>
            <a:ext cx="304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46" name="Line 162"/>
          <p:cNvSpPr>
            <a:spLocks noChangeShapeType="1"/>
          </p:cNvSpPr>
          <p:nvPr/>
        </p:nvSpPr>
        <p:spPr bwMode="auto">
          <a:xfrm>
            <a:off x="4953000" y="4572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47" name="Line 163"/>
          <p:cNvSpPr>
            <a:spLocks noChangeShapeType="1"/>
          </p:cNvSpPr>
          <p:nvPr/>
        </p:nvSpPr>
        <p:spPr bwMode="auto">
          <a:xfrm>
            <a:off x="6477000" y="38862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48" name="Line 164"/>
          <p:cNvSpPr>
            <a:spLocks noChangeShapeType="1"/>
          </p:cNvSpPr>
          <p:nvPr/>
        </p:nvSpPr>
        <p:spPr bwMode="auto">
          <a:xfrm>
            <a:off x="6477000" y="43434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49" name="Line 165"/>
          <p:cNvSpPr>
            <a:spLocks noChangeShapeType="1"/>
          </p:cNvSpPr>
          <p:nvPr/>
        </p:nvSpPr>
        <p:spPr bwMode="auto">
          <a:xfrm>
            <a:off x="5181600" y="1905000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3350" name="Line 166"/>
          <p:cNvSpPr>
            <a:spLocks noChangeShapeType="1"/>
          </p:cNvSpPr>
          <p:nvPr/>
        </p:nvSpPr>
        <p:spPr bwMode="auto">
          <a:xfrm>
            <a:off x="2667000" y="46482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437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Load Word Instruction Data/Control Flow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52600" y="914400"/>
            <a:ext cx="381000" cy="990600"/>
            <a:chOff x="1392" y="2880"/>
            <a:chExt cx="288" cy="480"/>
          </a:xfrm>
        </p:grpSpPr>
        <p:sp>
          <p:nvSpPr>
            <p:cNvPr id="735236" name="Line 4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237" name="Line 5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238" name="Line 6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239" name="Line 7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240" name="Line 8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241" name="Line 9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242" name="Line 10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5243" name="Rectangle 11"/>
          <p:cNvSpPr>
            <a:spLocks noChangeArrowheads="1"/>
          </p:cNvSpPr>
          <p:nvPr/>
        </p:nvSpPr>
        <p:spPr bwMode="auto">
          <a:xfrm>
            <a:off x="1052513" y="3581400"/>
            <a:ext cx="1447800" cy="14478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244" name="Rectangle 12"/>
          <p:cNvSpPr>
            <a:spLocks noChangeArrowheads="1"/>
          </p:cNvSpPr>
          <p:nvPr/>
        </p:nvSpPr>
        <p:spPr bwMode="auto">
          <a:xfrm>
            <a:off x="519113" y="3962400"/>
            <a:ext cx="228600" cy="8382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245" name="Line 13"/>
          <p:cNvSpPr>
            <a:spLocks noChangeShapeType="1"/>
          </p:cNvSpPr>
          <p:nvPr/>
        </p:nvSpPr>
        <p:spPr bwMode="auto">
          <a:xfrm>
            <a:off x="747713" y="4343400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46" name="Line 14"/>
          <p:cNvSpPr>
            <a:spLocks noChangeShapeType="1"/>
          </p:cNvSpPr>
          <p:nvPr/>
        </p:nvSpPr>
        <p:spPr bwMode="auto">
          <a:xfrm>
            <a:off x="838200" y="1066800"/>
            <a:ext cx="914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47" name="Line 15"/>
          <p:cNvSpPr>
            <a:spLocks noChangeShapeType="1"/>
          </p:cNvSpPr>
          <p:nvPr/>
        </p:nvSpPr>
        <p:spPr bwMode="auto">
          <a:xfrm>
            <a:off x="1371600" y="1752600"/>
            <a:ext cx="38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48" name="Text Box 16"/>
          <p:cNvSpPr txBox="1">
            <a:spLocks noChangeArrowheads="1"/>
          </p:cNvSpPr>
          <p:nvPr/>
        </p:nvSpPr>
        <p:spPr bwMode="auto">
          <a:xfrm>
            <a:off x="976313" y="4114800"/>
            <a:ext cx="74136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35249" name="Text Box 17"/>
          <p:cNvSpPr txBox="1">
            <a:spLocks noChangeArrowheads="1"/>
          </p:cNvSpPr>
          <p:nvPr/>
        </p:nvSpPr>
        <p:spPr bwMode="auto">
          <a:xfrm>
            <a:off x="1738313" y="4191000"/>
            <a:ext cx="8699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Instr[31-0]</a:t>
            </a:r>
          </a:p>
        </p:txBody>
      </p:sp>
      <p:sp>
        <p:nvSpPr>
          <p:cNvPr id="735250" name="Text Box 18"/>
          <p:cNvSpPr txBox="1">
            <a:spLocks noChangeArrowheads="1"/>
          </p:cNvSpPr>
          <p:nvPr/>
        </p:nvSpPr>
        <p:spPr bwMode="auto">
          <a:xfrm>
            <a:off x="1281113" y="3657600"/>
            <a:ext cx="9731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Instruction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35251" name="Text Box 19"/>
          <p:cNvSpPr txBox="1">
            <a:spLocks noChangeArrowheads="1"/>
          </p:cNvSpPr>
          <p:nvPr/>
        </p:nvSpPr>
        <p:spPr bwMode="auto">
          <a:xfrm>
            <a:off x="1752600" y="12954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35252" name="Text Box 20"/>
          <p:cNvSpPr txBox="1">
            <a:spLocks noChangeArrowheads="1"/>
          </p:cNvSpPr>
          <p:nvPr/>
        </p:nvSpPr>
        <p:spPr bwMode="auto">
          <a:xfrm>
            <a:off x="442913" y="4191000"/>
            <a:ext cx="395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PC</a:t>
            </a:r>
          </a:p>
        </p:txBody>
      </p:sp>
      <p:sp>
        <p:nvSpPr>
          <p:cNvPr id="735253" name="Line 21"/>
          <p:cNvSpPr>
            <a:spLocks noChangeShapeType="1"/>
          </p:cNvSpPr>
          <p:nvPr/>
        </p:nvSpPr>
        <p:spPr bwMode="auto">
          <a:xfrm>
            <a:off x="228600" y="838200"/>
            <a:ext cx="6858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54" name="Line 22"/>
          <p:cNvSpPr>
            <a:spLocks noChangeShapeType="1"/>
          </p:cNvSpPr>
          <p:nvPr/>
        </p:nvSpPr>
        <p:spPr bwMode="auto">
          <a:xfrm>
            <a:off x="214313" y="4343400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55" name="Text Box 23"/>
          <p:cNvSpPr txBox="1">
            <a:spLocks noChangeArrowheads="1"/>
          </p:cNvSpPr>
          <p:nvPr/>
        </p:nvSpPr>
        <p:spPr bwMode="auto">
          <a:xfrm>
            <a:off x="1143000" y="16002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35256" name="Rectangle 24"/>
          <p:cNvSpPr>
            <a:spLocks noChangeArrowheads="1"/>
          </p:cNvSpPr>
          <p:nvPr/>
        </p:nvSpPr>
        <p:spPr bwMode="auto">
          <a:xfrm>
            <a:off x="3505200" y="3581400"/>
            <a:ext cx="1447800" cy="14478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257" name="Line 25"/>
          <p:cNvSpPr>
            <a:spLocks noChangeShapeType="1"/>
          </p:cNvSpPr>
          <p:nvPr/>
        </p:nvSpPr>
        <p:spPr bwMode="auto">
          <a:xfrm>
            <a:off x="2500313" y="43434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58" name="Line 26"/>
          <p:cNvSpPr>
            <a:spLocks noChangeShapeType="1"/>
          </p:cNvSpPr>
          <p:nvPr/>
        </p:nvSpPr>
        <p:spPr bwMode="auto">
          <a:xfrm>
            <a:off x="2971800" y="41148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59" name="Line 27"/>
          <p:cNvSpPr>
            <a:spLocks noChangeShapeType="1"/>
          </p:cNvSpPr>
          <p:nvPr/>
        </p:nvSpPr>
        <p:spPr bwMode="auto">
          <a:xfrm>
            <a:off x="2652713" y="4648200"/>
            <a:ext cx="471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60" name="Line 28"/>
          <p:cNvSpPr>
            <a:spLocks noChangeShapeType="1"/>
          </p:cNvSpPr>
          <p:nvPr/>
        </p:nvSpPr>
        <p:spPr bwMode="auto">
          <a:xfrm>
            <a:off x="8382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61" name="Line 29"/>
          <p:cNvSpPr>
            <a:spLocks noChangeShapeType="1"/>
          </p:cNvSpPr>
          <p:nvPr/>
        </p:nvSpPr>
        <p:spPr bwMode="auto">
          <a:xfrm>
            <a:off x="2652713" y="3733800"/>
            <a:ext cx="8524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62" name="Line 30"/>
          <p:cNvSpPr>
            <a:spLocks noChangeShapeType="1"/>
          </p:cNvSpPr>
          <p:nvPr/>
        </p:nvSpPr>
        <p:spPr bwMode="auto">
          <a:xfrm>
            <a:off x="4953000" y="3962400"/>
            <a:ext cx="863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63" name="Line 31"/>
          <p:cNvSpPr>
            <a:spLocks noChangeShapeType="1"/>
          </p:cNvSpPr>
          <p:nvPr/>
        </p:nvSpPr>
        <p:spPr bwMode="auto">
          <a:xfrm>
            <a:off x="5105400" y="4572000"/>
            <a:ext cx="279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64" name="Line 32"/>
          <p:cNvSpPr>
            <a:spLocks noChangeShapeType="1"/>
          </p:cNvSpPr>
          <p:nvPr/>
        </p:nvSpPr>
        <p:spPr bwMode="auto">
          <a:xfrm>
            <a:off x="6477000" y="5715000"/>
            <a:ext cx="193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65" name="Line 33"/>
          <p:cNvSpPr>
            <a:spLocks noChangeShapeType="1"/>
          </p:cNvSpPr>
          <p:nvPr/>
        </p:nvSpPr>
        <p:spPr bwMode="auto">
          <a:xfrm>
            <a:off x="6324600" y="4343400"/>
            <a:ext cx="177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66" name="Text Box 34"/>
          <p:cNvSpPr txBox="1">
            <a:spLocks noChangeArrowheads="1"/>
          </p:cNvSpPr>
          <p:nvPr/>
        </p:nvSpPr>
        <p:spPr bwMode="auto">
          <a:xfrm>
            <a:off x="3429000" y="4724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35267" name="Text Box 35"/>
          <p:cNvSpPr txBox="1">
            <a:spLocks noChangeArrowheads="1"/>
          </p:cNvSpPr>
          <p:nvPr/>
        </p:nvSpPr>
        <p:spPr bwMode="auto">
          <a:xfrm>
            <a:off x="3429000" y="3581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1</a:t>
            </a:r>
          </a:p>
        </p:txBody>
      </p:sp>
      <p:sp>
        <p:nvSpPr>
          <p:cNvPr id="735268" name="Text Box 36"/>
          <p:cNvSpPr txBox="1">
            <a:spLocks noChangeArrowheads="1"/>
          </p:cNvSpPr>
          <p:nvPr/>
        </p:nvSpPr>
        <p:spPr bwMode="auto">
          <a:xfrm>
            <a:off x="3429000" y="3962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2</a:t>
            </a:r>
          </a:p>
        </p:txBody>
      </p:sp>
      <p:sp>
        <p:nvSpPr>
          <p:cNvPr id="735269" name="Text Box 37"/>
          <p:cNvSpPr txBox="1">
            <a:spLocks noChangeArrowheads="1"/>
          </p:cNvSpPr>
          <p:nvPr/>
        </p:nvSpPr>
        <p:spPr bwMode="auto">
          <a:xfrm>
            <a:off x="3429000" y="4343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Addr</a:t>
            </a:r>
          </a:p>
        </p:txBody>
      </p:sp>
      <p:sp>
        <p:nvSpPr>
          <p:cNvPr id="735270" name="Text Box 38"/>
          <p:cNvSpPr txBox="1">
            <a:spLocks noChangeArrowheads="1"/>
          </p:cNvSpPr>
          <p:nvPr/>
        </p:nvSpPr>
        <p:spPr bwMode="auto">
          <a:xfrm>
            <a:off x="3752850" y="38100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Register</a:t>
            </a:r>
          </a:p>
          <a:p>
            <a:pPr algn="ctr"/>
            <a:endParaRPr lang="en-US" altLang="zh-CN" sz="1200" b="1">
              <a:solidFill>
                <a:schemeClr val="tx1"/>
              </a:solidFill>
              <a:ea typeface="宋体" pitchFamily="2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File</a:t>
            </a:r>
          </a:p>
        </p:txBody>
      </p:sp>
      <p:sp>
        <p:nvSpPr>
          <p:cNvPr id="735271" name="Text Box 39"/>
          <p:cNvSpPr txBox="1">
            <a:spLocks noChangeArrowheads="1"/>
          </p:cNvSpPr>
          <p:nvPr/>
        </p:nvSpPr>
        <p:spPr bwMode="auto">
          <a:xfrm>
            <a:off x="4343400" y="37338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1</a:t>
            </a:r>
          </a:p>
        </p:txBody>
      </p:sp>
      <p:sp>
        <p:nvSpPr>
          <p:cNvPr id="735272" name="Text Box 40"/>
          <p:cNvSpPr txBox="1">
            <a:spLocks noChangeArrowheads="1"/>
          </p:cNvSpPr>
          <p:nvPr/>
        </p:nvSpPr>
        <p:spPr bwMode="auto">
          <a:xfrm>
            <a:off x="4368800" y="44196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2</a:t>
            </a:r>
          </a:p>
        </p:txBody>
      </p:sp>
      <p:sp>
        <p:nvSpPr>
          <p:cNvPr id="735273" name="Freeform 41"/>
          <p:cNvSpPr>
            <a:spLocks/>
          </p:cNvSpPr>
          <p:nvPr/>
        </p:nvSpPr>
        <p:spPr bwMode="auto">
          <a:xfrm>
            <a:off x="5791200" y="36576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74" name="Rectangle 42"/>
          <p:cNvSpPr>
            <a:spLocks noChangeArrowheads="1"/>
          </p:cNvSpPr>
          <p:nvPr/>
        </p:nvSpPr>
        <p:spPr bwMode="auto">
          <a:xfrm>
            <a:off x="5892800" y="42672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ALU</a:t>
            </a:r>
          </a:p>
        </p:txBody>
      </p:sp>
      <p:sp>
        <p:nvSpPr>
          <p:cNvPr id="735275" name="Rectangle 43"/>
          <p:cNvSpPr>
            <a:spLocks noChangeArrowheads="1"/>
          </p:cNvSpPr>
          <p:nvPr/>
        </p:nvSpPr>
        <p:spPr bwMode="auto">
          <a:xfrm>
            <a:off x="5791200" y="3276600"/>
            <a:ext cx="7620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ovf</a:t>
            </a:r>
          </a:p>
        </p:txBody>
      </p:sp>
      <p:sp>
        <p:nvSpPr>
          <p:cNvPr id="735276" name="Rectangle 44"/>
          <p:cNvSpPr>
            <a:spLocks noChangeArrowheads="1"/>
          </p:cNvSpPr>
          <p:nvPr/>
        </p:nvSpPr>
        <p:spPr bwMode="auto">
          <a:xfrm>
            <a:off x="5943600" y="3886200"/>
            <a:ext cx="5334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zero</a:t>
            </a:r>
          </a:p>
        </p:txBody>
      </p:sp>
      <p:sp>
        <p:nvSpPr>
          <p:cNvPr id="735277" name="Line 45"/>
          <p:cNvSpPr>
            <a:spLocks noChangeShapeType="1"/>
          </p:cNvSpPr>
          <p:nvPr/>
        </p:nvSpPr>
        <p:spPr bwMode="auto">
          <a:xfrm>
            <a:off x="6096000" y="4724400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78" name="Line 46"/>
          <p:cNvSpPr>
            <a:spLocks noChangeShapeType="1"/>
          </p:cNvSpPr>
          <p:nvPr/>
        </p:nvSpPr>
        <p:spPr bwMode="auto">
          <a:xfrm>
            <a:off x="4191000" y="2971800"/>
            <a:ext cx="0" cy="609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79" name="Rectangle 47"/>
          <p:cNvSpPr>
            <a:spLocks noChangeArrowheads="1"/>
          </p:cNvSpPr>
          <p:nvPr/>
        </p:nvSpPr>
        <p:spPr bwMode="auto">
          <a:xfrm>
            <a:off x="4191000" y="29718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RegWrite</a:t>
            </a:r>
          </a:p>
        </p:txBody>
      </p:sp>
      <p:sp>
        <p:nvSpPr>
          <p:cNvPr id="735280" name="Line 48"/>
          <p:cNvSpPr>
            <a:spLocks noChangeShapeType="1"/>
          </p:cNvSpPr>
          <p:nvPr/>
        </p:nvSpPr>
        <p:spPr bwMode="auto">
          <a:xfrm flipV="1">
            <a:off x="5943600" y="35052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81" name="Line 49"/>
          <p:cNvSpPr>
            <a:spLocks noChangeShapeType="1"/>
          </p:cNvSpPr>
          <p:nvPr/>
        </p:nvSpPr>
        <p:spPr bwMode="auto">
          <a:xfrm flipV="1">
            <a:off x="6248400" y="22098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82" name="Line 50"/>
          <p:cNvSpPr>
            <a:spLocks noChangeShapeType="1"/>
          </p:cNvSpPr>
          <p:nvPr/>
        </p:nvSpPr>
        <p:spPr bwMode="auto">
          <a:xfrm>
            <a:off x="8991600" y="4495800"/>
            <a:ext cx="0" cy="1981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83" name="Rectangle 51"/>
          <p:cNvSpPr>
            <a:spLocks noChangeArrowheads="1"/>
          </p:cNvSpPr>
          <p:nvPr/>
        </p:nvSpPr>
        <p:spPr bwMode="auto">
          <a:xfrm>
            <a:off x="6858000" y="3581400"/>
            <a:ext cx="1447800" cy="14478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284" name="Line 52"/>
          <p:cNvSpPr>
            <a:spLocks noChangeShapeType="1"/>
          </p:cNvSpPr>
          <p:nvPr/>
        </p:nvSpPr>
        <p:spPr bwMode="auto">
          <a:xfrm>
            <a:off x="8305800" y="4343400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85" name="Line 53"/>
          <p:cNvSpPr>
            <a:spLocks noChangeShapeType="1"/>
          </p:cNvSpPr>
          <p:nvPr/>
        </p:nvSpPr>
        <p:spPr bwMode="auto">
          <a:xfrm>
            <a:off x="6477000" y="3886200"/>
            <a:ext cx="406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86" name="Line 54"/>
          <p:cNvSpPr>
            <a:spLocks noChangeShapeType="1"/>
          </p:cNvSpPr>
          <p:nvPr/>
        </p:nvSpPr>
        <p:spPr bwMode="auto">
          <a:xfrm>
            <a:off x="6629400" y="4724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87" name="Text Box 55"/>
          <p:cNvSpPr txBox="1">
            <a:spLocks noChangeArrowheads="1"/>
          </p:cNvSpPr>
          <p:nvPr/>
        </p:nvSpPr>
        <p:spPr bwMode="auto">
          <a:xfrm>
            <a:off x="6781800" y="4038600"/>
            <a:ext cx="766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Data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35288" name="Text Box 56"/>
          <p:cNvSpPr txBox="1">
            <a:spLocks noChangeArrowheads="1"/>
          </p:cNvSpPr>
          <p:nvPr/>
        </p:nvSpPr>
        <p:spPr bwMode="auto">
          <a:xfrm>
            <a:off x="6781800" y="3733800"/>
            <a:ext cx="7413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35289" name="Text Box 57"/>
          <p:cNvSpPr txBox="1">
            <a:spLocks noChangeArrowheads="1"/>
          </p:cNvSpPr>
          <p:nvPr/>
        </p:nvSpPr>
        <p:spPr bwMode="auto">
          <a:xfrm>
            <a:off x="6781800" y="45720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35290" name="Text Box 58"/>
          <p:cNvSpPr txBox="1">
            <a:spLocks noChangeArrowheads="1"/>
          </p:cNvSpPr>
          <p:nvPr/>
        </p:nvSpPr>
        <p:spPr bwMode="auto">
          <a:xfrm>
            <a:off x="7467600" y="4191000"/>
            <a:ext cx="909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735291" name="Line 59"/>
          <p:cNvSpPr>
            <a:spLocks noChangeShapeType="1"/>
          </p:cNvSpPr>
          <p:nvPr/>
        </p:nvSpPr>
        <p:spPr bwMode="auto">
          <a:xfrm>
            <a:off x="7543800" y="2667000"/>
            <a:ext cx="0" cy="914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92" name="Rectangle 60"/>
          <p:cNvSpPr>
            <a:spLocks noChangeArrowheads="1"/>
          </p:cNvSpPr>
          <p:nvPr/>
        </p:nvSpPr>
        <p:spPr bwMode="auto">
          <a:xfrm>
            <a:off x="6553200" y="24384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MemWrite</a:t>
            </a:r>
          </a:p>
        </p:txBody>
      </p:sp>
      <p:sp>
        <p:nvSpPr>
          <p:cNvPr id="735293" name="Rectangle 61"/>
          <p:cNvSpPr>
            <a:spLocks noChangeArrowheads="1"/>
          </p:cNvSpPr>
          <p:nvPr/>
        </p:nvSpPr>
        <p:spPr bwMode="auto">
          <a:xfrm>
            <a:off x="7848600" y="21336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MemRead</a:t>
            </a:r>
          </a:p>
        </p:txBody>
      </p:sp>
      <p:sp>
        <p:nvSpPr>
          <p:cNvPr id="735294" name="Line 62"/>
          <p:cNvSpPr>
            <a:spLocks noChangeShapeType="1"/>
          </p:cNvSpPr>
          <p:nvPr/>
        </p:nvSpPr>
        <p:spPr bwMode="auto">
          <a:xfrm>
            <a:off x="7543800" y="50292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95" name="Line 63"/>
          <p:cNvSpPr>
            <a:spLocks noChangeShapeType="1"/>
          </p:cNvSpPr>
          <p:nvPr/>
        </p:nvSpPr>
        <p:spPr bwMode="auto">
          <a:xfrm>
            <a:off x="3276600" y="6477000"/>
            <a:ext cx="5715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96" name="Line 64"/>
          <p:cNvSpPr>
            <a:spLocks noChangeShapeType="1"/>
          </p:cNvSpPr>
          <p:nvPr/>
        </p:nvSpPr>
        <p:spPr bwMode="auto">
          <a:xfrm>
            <a:off x="5054600" y="51816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97" name="Line 65"/>
          <p:cNvSpPr>
            <a:spLocks noChangeShapeType="1"/>
          </p:cNvSpPr>
          <p:nvPr/>
        </p:nvSpPr>
        <p:spPr bwMode="auto">
          <a:xfrm>
            <a:off x="4811713" y="5562600"/>
            <a:ext cx="38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298" name="Oval 66"/>
          <p:cNvSpPr>
            <a:spLocks noChangeArrowheads="1"/>
          </p:cNvSpPr>
          <p:nvPr/>
        </p:nvSpPr>
        <p:spPr bwMode="auto">
          <a:xfrm>
            <a:off x="4202113" y="5181600"/>
            <a:ext cx="609600" cy="838200"/>
          </a:xfrm>
          <a:prstGeom prst="ellips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299" name="Rectangle 67"/>
          <p:cNvSpPr>
            <a:spLocks noChangeArrowheads="1"/>
          </p:cNvSpPr>
          <p:nvPr/>
        </p:nvSpPr>
        <p:spPr bwMode="auto">
          <a:xfrm>
            <a:off x="4252913" y="5334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Sign</a:t>
            </a:r>
          </a:p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Extend</a:t>
            </a:r>
          </a:p>
        </p:txBody>
      </p:sp>
      <p:sp>
        <p:nvSpPr>
          <p:cNvPr id="735300" name="Line 68"/>
          <p:cNvSpPr>
            <a:spLocks noChangeShapeType="1"/>
          </p:cNvSpPr>
          <p:nvPr/>
        </p:nvSpPr>
        <p:spPr bwMode="auto">
          <a:xfrm>
            <a:off x="2638425" y="5562600"/>
            <a:ext cx="156368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01" name="Line 69"/>
          <p:cNvSpPr>
            <a:spLocks noChangeShapeType="1"/>
          </p:cNvSpPr>
          <p:nvPr/>
        </p:nvSpPr>
        <p:spPr bwMode="auto">
          <a:xfrm>
            <a:off x="3871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02" name="Line 70"/>
          <p:cNvSpPr>
            <a:spLocks noChangeShapeType="1"/>
          </p:cNvSpPr>
          <p:nvPr/>
        </p:nvSpPr>
        <p:spPr bwMode="auto">
          <a:xfrm>
            <a:off x="4887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03" name="Text Box 71"/>
          <p:cNvSpPr txBox="1">
            <a:spLocks noChangeArrowheads="1"/>
          </p:cNvSpPr>
          <p:nvPr/>
        </p:nvSpPr>
        <p:spPr bwMode="auto">
          <a:xfrm>
            <a:off x="3871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16</a:t>
            </a:r>
          </a:p>
        </p:txBody>
      </p:sp>
      <p:sp>
        <p:nvSpPr>
          <p:cNvPr id="735304" name="Text Box 72"/>
          <p:cNvSpPr txBox="1">
            <a:spLocks noChangeArrowheads="1"/>
          </p:cNvSpPr>
          <p:nvPr/>
        </p:nvSpPr>
        <p:spPr bwMode="auto">
          <a:xfrm>
            <a:off x="4887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32</a:t>
            </a:r>
          </a:p>
        </p:txBody>
      </p:sp>
      <p:sp>
        <p:nvSpPr>
          <p:cNvPr id="735305" name="Line 73"/>
          <p:cNvSpPr>
            <a:spLocks noChangeShapeType="1"/>
          </p:cNvSpPr>
          <p:nvPr/>
        </p:nvSpPr>
        <p:spPr bwMode="auto">
          <a:xfrm>
            <a:off x="5054600" y="4572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06" name="Line 74"/>
          <p:cNvSpPr>
            <a:spLocks noChangeShapeType="1"/>
          </p:cNvSpPr>
          <p:nvPr/>
        </p:nvSpPr>
        <p:spPr bwMode="auto">
          <a:xfrm>
            <a:off x="8382000" y="4724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07" name="Line 75"/>
          <p:cNvSpPr>
            <a:spLocks noChangeShapeType="1"/>
          </p:cNvSpPr>
          <p:nvPr/>
        </p:nvSpPr>
        <p:spPr bwMode="auto">
          <a:xfrm>
            <a:off x="5181600" y="4953000"/>
            <a:ext cx="177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08" name="Line 76"/>
          <p:cNvSpPr>
            <a:spLocks noChangeShapeType="1"/>
          </p:cNvSpPr>
          <p:nvPr/>
        </p:nvSpPr>
        <p:spPr bwMode="auto">
          <a:xfrm>
            <a:off x="3276600" y="4876800"/>
            <a:ext cx="254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09" name="AutoShape 77"/>
          <p:cNvSpPr>
            <a:spLocks noChangeArrowheads="1"/>
          </p:cNvSpPr>
          <p:nvPr/>
        </p:nvSpPr>
        <p:spPr bwMode="auto">
          <a:xfrm rot="-5400000">
            <a:off x="8382000" y="4419600"/>
            <a:ext cx="6858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310" name="Line 78"/>
          <p:cNvSpPr>
            <a:spLocks noChangeShapeType="1"/>
          </p:cNvSpPr>
          <p:nvPr/>
        </p:nvSpPr>
        <p:spPr bwMode="auto">
          <a:xfrm>
            <a:off x="8839200" y="44958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11" name="AutoShape 79"/>
          <p:cNvSpPr>
            <a:spLocks noChangeArrowheads="1"/>
          </p:cNvSpPr>
          <p:nvPr/>
        </p:nvSpPr>
        <p:spPr bwMode="auto">
          <a:xfrm rot="-5400000">
            <a:off x="5092700" y="46101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312" name="Line 80"/>
          <p:cNvSpPr>
            <a:spLocks noChangeShapeType="1"/>
          </p:cNvSpPr>
          <p:nvPr/>
        </p:nvSpPr>
        <p:spPr bwMode="auto">
          <a:xfrm>
            <a:off x="5588000" y="4724400"/>
            <a:ext cx="228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13" name="Line 81"/>
          <p:cNvSpPr>
            <a:spLocks noChangeShapeType="1"/>
          </p:cNvSpPr>
          <p:nvPr/>
        </p:nvSpPr>
        <p:spPr bwMode="auto">
          <a:xfrm>
            <a:off x="3276600" y="4876800"/>
            <a:ext cx="0" cy="1600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14" name="Line 82"/>
          <p:cNvSpPr>
            <a:spLocks noChangeShapeType="1"/>
          </p:cNvSpPr>
          <p:nvPr/>
        </p:nvSpPr>
        <p:spPr bwMode="auto">
          <a:xfrm>
            <a:off x="8686800" y="25146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15" name="Rectangle 83"/>
          <p:cNvSpPr>
            <a:spLocks noChangeArrowheads="1"/>
          </p:cNvSpPr>
          <p:nvPr/>
        </p:nvSpPr>
        <p:spPr bwMode="auto">
          <a:xfrm>
            <a:off x="7162800" y="22860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MemtoReg</a:t>
            </a:r>
          </a:p>
        </p:txBody>
      </p:sp>
      <p:sp>
        <p:nvSpPr>
          <p:cNvPr id="735316" name="Rectangle 84"/>
          <p:cNvSpPr>
            <a:spLocks noChangeArrowheads="1"/>
          </p:cNvSpPr>
          <p:nvPr/>
        </p:nvSpPr>
        <p:spPr bwMode="auto">
          <a:xfrm>
            <a:off x="4343400" y="25908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ALUSrc</a:t>
            </a:r>
          </a:p>
        </p:txBody>
      </p:sp>
      <p:sp>
        <p:nvSpPr>
          <p:cNvPr id="735317" name="Oval 85"/>
          <p:cNvSpPr>
            <a:spLocks noChangeArrowheads="1"/>
          </p:cNvSpPr>
          <p:nvPr/>
        </p:nvSpPr>
        <p:spPr bwMode="auto">
          <a:xfrm>
            <a:off x="5410200" y="1600200"/>
            <a:ext cx="4572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318" name="Rectangle 86"/>
          <p:cNvSpPr>
            <a:spLocks noChangeArrowheads="1"/>
          </p:cNvSpPr>
          <p:nvPr/>
        </p:nvSpPr>
        <p:spPr bwMode="auto">
          <a:xfrm>
            <a:off x="5410200" y="1600200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Shift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left 2</a:t>
            </a:r>
          </a:p>
        </p:txBody>
      </p:sp>
      <p:sp>
        <p:nvSpPr>
          <p:cNvPr id="735319" name="Line 87"/>
          <p:cNvSpPr>
            <a:spLocks noChangeShapeType="1"/>
          </p:cNvSpPr>
          <p:nvPr/>
        </p:nvSpPr>
        <p:spPr bwMode="auto">
          <a:xfrm>
            <a:off x="5181600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20" name="Line 88"/>
          <p:cNvSpPr>
            <a:spLocks noChangeShapeType="1"/>
          </p:cNvSpPr>
          <p:nvPr/>
        </p:nvSpPr>
        <p:spPr bwMode="auto">
          <a:xfrm>
            <a:off x="5181600" y="1447800"/>
            <a:ext cx="928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6096000" y="1143000"/>
            <a:ext cx="381000" cy="914400"/>
            <a:chOff x="1392" y="2880"/>
            <a:chExt cx="288" cy="480"/>
          </a:xfrm>
        </p:grpSpPr>
        <p:sp>
          <p:nvSpPr>
            <p:cNvPr id="735322" name="Line 90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323" name="Line 91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324" name="Line 92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325" name="Line 93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326" name="Line 94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327" name="Line 95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328" name="Line 96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5329" name="Text Box 97"/>
          <p:cNvSpPr txBox="1">
            <a:spLocks noChangeArrowheads="1"/>
          </p:cNvSpPr>
          <p:nvPr/>
        </p:nvSpPr>
        <p:spPr bwMode="auto">
          <a:xfrm>
            <a:off x="6096000" y="14478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35330" name="Line 98"/>
          <p:cNvSpPr>
            <a:spLocks noChangeShapeType="1"/>
          </p:cNvSpPr>
          <p:nvPr/>
        </p:nvSpPr>
        <p:spPr bwMode="auto">
          <a:xfrm>
            <a:off x="5853113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31" name="Line 99"/>
          <p:cNvSpPr>
            <a:spLocks noChangeShapeType="1"/>
          </p:cNvSpPr>
          <p:nvPr/>
        </p:nvSpPr>
        <p:spPr bwMode="auto">
          <a:xfrm>
            <a:off x="6477000" y="1600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32" name="Line 100"/>
          <p:cNvSpPr>
            <a:spLocks noChangeShapeType="1"/>
          </p:cNvSpPr>
          <p:nvPr/>
        </p:nvSpPr>
        <p:spPr bwMode="auto">
          <a:xfrm>
            <a:off x="838200" y="1066800"/>
            <a:ext cx="0" cy="3276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33" name="AutoShape 101"/>
          <p:cNvSpPr>
            <a:spLocks noChangeArrowheads="1"/>
          </p:cNvSpPr>
          <p:nvPr/>
        </p:nvSpPr>
        <p:spPr bwMode="auto">
          <a:xfrm rot="-5400000">
            <a:off x="6400800" y="1219200"/>
            <a:ext cx="8382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334" name="Line 102"/>
          <p:cNvSpPr>
            <a:spLocks noChangeShapeType="1"/>
          </p:cNvSpPr>
          <p:nvPr/>
        </p:nvSpPr>
        <p:spPr bwMode="auto">
          <a:xfrm>
            <a:off x="5181600" y="1066800"/>
            <a:ext cx="1524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35" name="Line 103"/>
          <p:cNvSpPr>
            <a:spLocks noChangeShapeType="1"/>
          </p:cNvSpPr>
          <p:nvPr/>
        </p:nvSpPr>
        <p:spPr bwMode="auto">
          <a:xfrm>
            <a:off x="5181600" y="1066800"/>
            <a:ext cx="0" cy="381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36" name="Line 104"/>
          <p:cNvSpPr>
            <a:spLocks noChangeShapeType="1"/>
          </p:cNvSpPr>
          <p:nvPr/>
        </p:nvSpPr>
        <p:spPr bwMode="auto">
          <a:xfrm>
            <a:off x="6934200" y="1371600"/>
            <a:ext cx="177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37" name="Line 105"/>
          <p:cNvSpPr>
            <a:spLocks noChangeShapeType="1"/>
          </p:cNvSpPr>
          <p:nvPr/>
        </p:nvSpPr>
        <p:spPr bwMode="auto">
          <a:xfrm>
            <a:off x="6858000" y="1600200"/>
            <a:ext cx="0" cy="533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38" name="Rectangle 106"/>
          <p:cNvSpPr>
            <a:spLocks noChangeArrowheads="1"/>
          </p:cNvSpPr>
          <p:nvPr/>
        </p:nvSpPr>
        <p:spPr bwMode="auto">
          <a:xfrm>
            <a:off x="6858000" y="17526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PCSrc</a:t>
            </a:r>
          </a:p>
        </p:txBody>
      </p:sp>
      <p:sp>
        <p:nvSpPr>
          <p:cNvPr id="735339" name="Line 107"/>
          <p:cNvSpPr>
            <a:spLocks noChangeShapeType="1"/>
          </p:cNvSpPr>
          <p:nvPr/>
        </p:nvSpPr>
        <p:spPr bwMode="auto">
          <a:xfrm>
            <a:off x="66294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40" name="AutoShape 108"/>
          <p:cNvSpPr>
            <a:spLocks noChangeArrowheads="1"/>
          </p:cNvSpPr>
          <p:nvPr/>
        </p:nvSpPr>
        <p:spPr bwMode="auto">
          <a:xfrm rot="-5400000">
            <a:off x="2933700" y="4381500"/>
            <a:ext cx="6096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341" name="Line 109"/>
          <p:cNvSpPr>
            <a:spLocks noChangeShapeType="1"/>
          </p:cNvSpPr>
          <p:nvPr/>
        </p:nvSpPr>
        <p:spPr bwMode="auto">
          <a:xfrm>
            <a:off x="3352800" y="4495800"/>
            <a:ext cx="1524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42" name="Line 110"/>
          <p:cNvSpPr>
            <a:spLocks noChangeShapeType="1"/>
          </p:cNvSpPr>
          <p:nvPr/>
        </p:nvSpPr>
        <p:spPr bwMode="auto">
          <a:xfrm>
            <a:off x="2957513" y="411480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43" name="Line 111"/>
          <p:cNvSpPr>
            <a:spLocks noChangeShapeType="1"/>
          </p:cNvSpPr>
          <p:nvPr/>
        </p:nvSpPr>
        <p:spPr bwMode="auto">
          <a:xfrm>
            <a:off x="2957513" y="4343400"/>
            <a:ext cx="1666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44" name="Line 112"/>
          <p:cNvSpPr>
            <a:spLocks noChangeShapeType="1"/>
          </p:cNvSpPr>
          <p:nvPr/>
        </p:nvSpPr>
        <p:spPr bwMode="auto">
          <a:xfrm>
            <a:off x="3200400" y="2971800"/>
            <a:ext cx="0" cy="1295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45" name="Rectangle 113"/>
          <p:cNvSpPr>
            <a:spLocks noChangeArrowheads="1"/>
          </p:cNvSpPr>
          <p:nvPr/>
        </p:nvSpPr>
        <p:spPr bwMode="auto">
          <a:xfrm>
            <a:off x="2667000" y="3124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RegDst</a:t>
            </a:r>
          </a:p>
        </p:txBody>
      </p:sp>
      <p:sp>
        <p:nvSpPr>
          <p:cNvPr id="735346" name="Oval 114"/>
          <p:cNvSpPr>
            <a:spLocks noChangeArrowheads="1"/>
          </p:cNvSpPr>
          <p:nvPr/>
        </p:nvSpPr>
        <p:spPr bwMode="auto">
          <a:xfrm>
            <a:off x="5791200" y="5257800"/>
            <a:ext cx="609600" cy="7620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347" name="Rectangle 115"/>
          <p:cNvSpPr>
            <a:spLocks noChangeArrowheads="1"/>
          </p:cNvSpPr>
          <p:nvPr/>
        </p:nvSpPr>
        <p:spPr bwMode="auto">
          <a:xfrm>
            <a:off x="5867400" y="54102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ALU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</p:txBody>
      </p:sp>
      <p:sp>
        <p:nvSpPr>
          <p:cNvPr id="735348" name="Line 116"/>
          <p:cNvSpPr>
            <a:spLocks noChangeShapeType="1"/>
          </p:cNvSpPr>
          <p:nvPr/>
        </p:nvSpPr>
        <p:spPr bwMode="auto">
          <a:xfrm>
            <a:off x="3657600" y="6172200"/>
            <a:ext cx="1905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49" name="Line 117"/>
          <p:cNvSpPr>
            <a:spLocks noChangeShapeType="1"/>
          </p:cNvSpPr>
          <p:nvPr/>
        </p:nvSpPr>
        <p:spPr bwMode="auto">
          <a:xfrm>
            <a:off x="5548313" y="54864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50" name="Rectangle 118"/>
          <p:cNvSpPr>
            <a:spLocks noChangeArrowheads="1"/>
          </p:cNvSpPr>
          <p:nvPr/>
        </p:nvSpPr>
        <p:spPr bwMode="auto">
          <a:xfrm>
            <a:off x="86106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5351" name="Rectangle 119"/>
          <p:cNvSpPr>
            <a:spLocks noChangeArrowheads="1"/>
          </p:cNvSpPr>
          <p:nvPr/>
        </p:nvSpPr>
        <p:spPr bwMode="auto">
          <a:xfrm>
            <a:off x="5410200" y="480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5352" name="Rectangle 120"/>
          <p:cNvSpPr>
            <a:spLocks noChangeArrowheads="1"/>
          </p:cNvSpPr>
          <p:nvPr/>
        </p:nvSpPr>
        <p:spPr bwMode="auto">
          <a:xfrm>
            <a:off x="3124200" y="4495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5353" name="Rectangle 121"/>
          <p:cNvSpPr>
            <a:spLocks noChangeArrowheads="1"/>
          </p:cNvSpPr>
          <p:nvPr/>
        </p:nvSpPr>
        <p:spPr bwMode="auto">
          <a:xfrm>
            <a:off x="31242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5354" name="Rectangle 122"/>
          <p:cNvSpPr>
            <a:spLocks noChangeArrowheads="1"/>
          </p:cNvSpPr>
          <p:nvPr/>
        </p:nvSpPr>
        <p:spPr bwMode="auto">
          <a:xfrm>
            <a:off x="5410200" y="4419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5355" name="Rectangle 123"/>
          <p:cNvSpPr>
            <a:spLocks noChangeArrowheads="1"/>
          </p:cNvSpPr>
          <p:nvPr/>
        </p:nvSpPr>
        <p:spPr bwMode="auto">
          <a:xfrm>
            <a:off x="8610600" y="4572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5356" name="Rectangle 124"/>
          <p:cNvSpPr>
            <a:spLocks noChangeArrowheads="1"/>
          </p:cNvSpPr>
          <p:nvPr/>
        </p:nvSpPr>
        <p:spPr bwMode="auto">
          <a:xfrm>
            <a:off x="6705600" y="99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5357" name="Rectangle 125"/>
          <p:cNvSpPr>
            <a:spLocks noChangeArrowheads="1"/>
          </p:cNvSpPr>
          <p:nvPr/>
        </p:nvSpPr>
        <p:spPr bwMode="auto">
          <a:xfrm>
            <a:off x="6705600" y="1447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5358" name="Rectangle 126"/>
          <p:cNvSpPr>
            <a:spLocks noChangeArrowheads="1"/>
          </p:cNvSpPr>
          <p:nvPr/>
        </p:nvSpPr>
        <p:spPr bwMode="auto">
          <a:xfrm>
            <a:off x="2514600" y="19050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ALUOp</a:t>
            </a:r>
          </a:p>
        </p:txBody>
      </p:sp>
      <p:sp>
        <p:nvSpPr>
          <p:cNvPr id="735359" name="Line 127"/>
          <p:cNvSpPr>
            <a:spLocks noChangeShapeType="1"/>
          </p:cNvSpPr>
          <p:nvPr/>
        </p:nvSpPr>
        <p:spPr bwMode="auto">
          <a:xfrm>
            <a:off x="6096000" y="6019800"/>
            <a:ext cx="0" cy="3048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60" name="Rectangle 128"/>
          <p:cNvSpPr>
            <a:spLocks noChangeArrowheads="1"/>
          </p:cNvSpPr>
          <p:nvPr/>
        </p:nvSpPr>
        <p:spPr bwMode="auto">
          <a:xfrm>
            <a:off x="4724400" y="5867400"/>
            <a:ext cx="7620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Instr[5-0]</a:t>
            </a:r>
          </a:p>
        </p:txBody>
      </p:sp>
      <p:sp>
        <p:nvSpPr>
          <p:cNvPr id="735361" name="Rectangle 129"/>
          <p:cNvSpPr>
            <a:spLocks noChangeArrowheads="1"/>
          </p:cNvSpPr>
          <p:nvPr/>
        </p:nvSpPr>
        <p:spPr bwMode="auto">
          <a:xfrm>
            <a:off x="2667000" y="5334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Instr[15-0]</a:t>
            </a:r>
          </a:p>
        </p:txBody>
      </p:sp>
      <p:sp>
        <p:nvSpPr>
          <p:cNvPr id="735362" name="Rectangle 130"/>
          <p:cNvSpPr>
            <a:spLocks noChangeArrowheads="1"/>
          </p:cNvSpPr>
          <p:nvPr/>
        </p:nvSpPr>
        <p:spPr bwMode="auto">
          <a:xfrm>
            <a:off x="2667000" y="3505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Instr[25-21]</a:t>
            </a:r>
          </a:p>
        </p:txBody>
      </p:sp>
      <p:sp>
        <p:nvSpPr>
          <p:cNvPr id="735363" name="Rectangle 131"/>
          <p:cNvSpPr>
            <a:spLocks noChangeArrowheads="1"/>
          </p:cNvSpPr>
          <p:nvPr/>
        </p:nvSpPr>
        <p:spPr bwMode="auto">
          <a:xfrm>
            <a:off x="2667000" y="3886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Instr[20-16]</a:t>
            </a:r>
          </a:p>
        </p:txBody>
      </p:sp>
      <p:sp>
        <p:nvSpPr>
          <p:cNvPr id="735364" name="Text Box 132"/>
          <p:cNvSpPr txBox="1">
            <a:spLocks noChangeArrowheads="1"/>
          </p:cNvSpPr>
          <p:nvPr/>
        </p:nvSpPr>
        <p:spPr bwMode="auto">
          <a:xfrm>
            <a:off x="2576513" y="4648200"/>
            <a:ext cx="701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  -11]</a:t>
            </a:r>
          </a:p>
        </p:txBody>
      </p:sp>
      <p:sp>
        <p:nvSpPr>
          <p:cNvPr id="735365" name="Line 133"/>
          <p:cNvSpPr>
            <a:spLocks noChangeShapeType="1"/>
          </p:cNvSpPr>
          <p:nvPr/>
        </p:nvSpPr>
        <p:spPr bwMode="auto">
          <a:xfrm>
            <a:off x="228600" y="838200"/>
            <a:ext cx="0" cy="3505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66" name="Line 134"/>
          <p:cNvSpPr>
            <a:spLocks noChangeShapeType="1"/>
          </p:cNvSpPr>
          <p:nvPr/>
        </p:nvSpPr>
        <p:spPr bwMode="auto">
          <a:xfrm>
            <a:off x="7086600" y="838200"/>
            <a:ext cx="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67" name="Line 135"/>
          <p:cNvSpPr>
            <a:spLocks noChangeShapeType="1"/>
          </p:cNvSpPr>
          <p:nvPr/>
        </p:nvSpPr>
        <p:spPr bwMode="auto">
          <a:xfrm>
            <a:off x="5181600" y="4953000"/>
            <a:ext cx="0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68" name="Oval 136"/>
          <p:cNvSpPr>
            <a:spLocks noChangeArrowheads="1"/>
          </p:cNvSpPr>
          <p:nvPr/>
        </p:nvSpPr>
        <p:spPr bwMode="auto">
          <a:xfrm>
            <a:off x="2971800" y="1828800"/>
            <a:ext cx="762000" cy="12192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369" name="Rectangle 137"/>
          <p:cNvSpPr>
            <a:spLocks noChangeArrowheads="1"/>
          </p:cNvSpPr>
          <p:nvPr/>
        </p:nvSpPr>
        <p:spPr bwMode="auto">
          <a:xfrm>
            <a:off x="3124200" y="2286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Unit</a:t>
            </a:r>
          </a:p>
        </p:txBody>
      </p:sp>
      <p:sp>
        <p:nvSpPr>
          <p:cNvPr id="735370" name="Line 138"/>
          <p:cNvSpPr>
            <a:spLocks noChangeShapeType="1"/>
          </p:cNvSpPr>
          <p:nvPr/>
        </p:nvSpPr>
        <p:spPr bwMode="auto">
          <a:xfrm>
            <a:off x="2667000" y="2514600"/>
            <a:ext cx="0" cy="2133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71" name="Line 139"/>
          <p:cNvSpPr>
            <a:spLocks noChangeShapeType="1"/>
          </p:cNvSpPr>
          <p:nvPr/>
        </p:nvSpPr>
        <p:spPr bwMode="auto">
          <a:xfrm>
            <a:off x="2667000" y="2514600"/>
            <a:ext cx="3048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72" name="Rectangle 140"/>
          <p:cNvSpPr>
            <a:spLocks noChangeArrowheads="1"/>
          </p:cNvSpPr>
          <p:nvPr/>
        </p:nvSpPr>
        <p:spPr bwMode="auto">
          <a:xfrm>
            <a:off x="2209800" y="2286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Instr[31-26]</a:t>
            </a:r>
          </a:p>
        </p:txBody>
      </p:sp>
      <p:sp>
        <p:nvSpPr>
          <p:cNvPr id="735373" name="AutoShape 141"/>
          <p:cNvSpPr>
            <a:spLocks noChangeArrowheads="1"/>
          </p:cNvSpPr>
          <p:nvPr/>
        </p:nvSpPr>
        <p:spPr bwMode="auto">
          <a:xfrm>
            <a:off x="6400800" y="1981200"/>
            <a:ext cx="304800" cy="304800"/>
          </a:xfrm>
          <a:prstGeom prst="flowChartDelay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374" name="Line 142"/>
          <p:cNvSpPr>
            <a:spLocks noChangeShapeType="1"/>
          </p:cNvSpPr>
          <p:nvPr/>
        </p:nvSpPr>
        <p:spPr bwMode="auto">
          <a:xfrm>
            <a:off x="6705600" y="21336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75" name="Line 143"/>
          <p:cNvSpPr>
            <a:spLocks noChangeShapeType="1"/>
          </p:cNvSpPr>
          <p:nvPr/>
        </p:nvSpPr>
        <p:spPr bwMode="auto">
          <a:xfrm>
            <a:off x="6248400" y="22098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76" name="Line 144"/>
          <p:cNvSpPr>
            <a:spLocks noChangeShapeType="1"/>
          </p:cNvSpPr>
          <p:nvPr/>
        </p:nvSpPr>
        <p:spPr bwMode="auto">
          <a:xfrm>
            <a:off x="3733800" y="2209800"/>
            <a:ext cx="2438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77" name="Rectangle 145"/>
          <p:cNvSpPr>
            <a:spLocks noChangeArrowheads="1"/>
          </p:cNvSpPr>
          <p:nvPr/>
        </p:nvSpPr>
        <p:spPr bwMode="auto">
          <a:xfrm>
            <a:off x="3810000" y="1981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Branch</a:t>
            </a:r>
          </a:p>
        </p:txBody>
      </p:sp>
      <p:sp>
        <p:nvSpPr>
          <p:cNvPr id="735378" name="Line 146"/>
          <p:cNvSpPr>
            <a:spLocks noChangeShapeType="1"/>
          </p:cNvSpPr>
          <p:nvPr/>
        </p:nvSpPr>
        <p:spPr bwMode="auto">
          <a:xfrm>
            <a:off x="3733800" y="2362200"/>
            <a:ext cx="518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79" name="Line 147"/>
          <p:cNvSpPr>
            <a:spLocks noChangeShapeType="1"/>
          </p:cNvSpPr>
          <p:nvPr/>
        </p:nvSpPr>
        <p:spPr bwMode="auto">
          <a:xfrm>
            <a:off x="7543800" y="5334000"/>
            <a:ext cx="137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80" name="Line 148"/>
          <p:cNvSpPr>
            <a:spLocks noChangeShapeType="1"/>
          </p:cNvSpPr>
          <p:nvPr/>
        </p:nvSpPr>
        <p:spPr bwMode="auto">
          <a:xfrm>
            <a:off x="8915400" y="2362200"/>
            <a:ext cx="0" cy="2971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81" name="Line 149"/>
          <p:cNvSpPr>
            <a:spLocks noChangeShapeType="1"/>
          </p:cNvSpPr>
          <p:nvPr/>
        </p:nvSpPr>
        <p:spPr bwMode="auto">
          <a:xfrm>
            <a:off x="3733800" y="2514600"/>
            <a:ext cx="4953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82" name="Line 150"/>
          <p:cNvSpPr>
            <a:spLocks noChangeShapeType="1"/>
          </p:cNvSpPr>
          <p:nvPr/>
        </p:nvSpPr>
        <p:spPr bwMode="auto">
          <a:xfrm>
            <a:off x="3733800" y="2667000"/>
            <a:ext cx="3810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83" name="Line 151"/>
          <p:cNvSpPr>
            <a:spLocks noChangeShapeType="1"/>
          </p:cNvSpPr>
          <p:nvPr/>
        </p:nvSpPr>
        <p:spPr bwMode="auto">
          <a:xfrm>
            <a:off x="3581400" y="2971800"/>
            <a:ext cx="609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84" name="Line 152"/>
          <p:cNvSpPr>
            <a:spLocks noChangeShapeType="1"/>
          </p:cNvSpPr>
          <p:nvPr/>
        </p:nvSpPr>
        <p:spPr bwMode="auto">
          <a:xfrm>
            <a:off x="3657600" y="2819400"/>
            <a:ext cx="18288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85" name="Line 153"/>
          <p:cNvSpPr>
            <a:spLocks noChangeShapeType="1"/>
          </p:cNvSpPr>
          <p:nvPr/>
        </p:nvSpPr>
        <p:spPr bwMode="auto">
          <a:xfrm>
            <a:off x="5486400" y="2819400"/>
            <a:ext cx="0" cy="1676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86" name="Line 154"/>
          <p:cNvSpPr>
            <a:spLocks noChangeShapeType="1"/>
          </p:cNvSpPr>
          <p:nvPr/>
        </p:nvSpPr>
        <p:spPr bwMode="auto">
          <a:xfrm>
            <a:off x="2590800" y="6324600"/>
            <a:ext cx="3505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87" name="Line 155"/>
          <p:cNvSpPr>
            <a:spLocks noChangeShapeType="1"/>
          </p:cNvSpPr>
          <p:nvPr/>
        </p:nvSpPr>
        <p:spPr bwMode="auto">
          <a:xfrm>
            <a:off x="2590800" y="2133600"/>
            <a:ext cx="0" cy="419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88" name="Line 156"/>
          <p:cNvSpPr>
            <a:spLocks noChangeShapeType="1"/>
          </p:cNvSpPr>
          <p:nvPr/>
        </p:nvSpPr>
        <p:spPr bwMode="auto">
          <a:xfrm>
            <a:off x="2590800" y="213360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89" name="Line 157"/>
          <p:cNvSpPr>
            <a:spLocks noChangeShapeType="1"/>
          </p:cNvSpPr>
          <p:nvPr/>
        </p:nvSpPr>
        <p:spPr bwMode="auto">
          <a:xfrm>
            <a:off x="3657600" y="5562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90" name="Line 158"/>
          <p:cNvSpPr>
            <a:spLocks noChangeShapeType="1"/>
          </p:cNvSpPr>
          <p:nvPr/>
        </p:nvSpPr>
        <p:spPr bwMode="auto">
          <a:xfrm>
            <a:off x="5562600" y="5486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91" name="Line 159"/>
          <p:cNvSpPr>
            <a:spLocks noChangeShapeType="1"/>
          </p:cNvSpPr>
          <p:nvPr/>
        </p:nvSpPr>
        <p:spPr bwMode="auto">
          <a:xfrm>
            <a:off x="6172200" y="2057400"/>
            <a:ext cx="228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92" name="Line 160"/>
          <p:cNvSpPr>
            <a:spLocks noChangeShapeType="1"/>
          </p:cNvSpPr>
          <p:nvPr/>
        </p:nvSpPr>
        <p:spPr bwMode="auto">
          <a:xfrm flipV="1">
            <a:off x="6172200" y="2057400"/>
            <a:ext cx="0" cy="152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93" name="Line 161"/>
          <p:cNvSpPr>
            <a:spLocks noChangeShapeType="1"/>
          </p:cNvSpPr>
          <p:nvPr/>
        </p:nvSpPr>
        <p:spPr bwMode="auto">
          <a:xfrm>
            <a:off x="2133600" y="1447800"/>
            <a:ext cx="3048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94" name="Line 162"/>
          <p:cNvSpPr>
            <a:spLocks noChangeShapeType="1"/>
          </p:cNvSpPr>
          <p:nvPr/>
        </p:nvSpPr>
        <p:spPr bwMode="auto">
          <a:xfrm>
            <a:off x="4953000" y="4572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95" name="Line 163"/>
          <p:cNvSpPr>
            <a:spLocks noChangeShapeType="1"/>
          </p:cNvSpPr>
          <p:nvPr/>
        </p:nvSpPr>
        <p:spPr bwMode="auto">
          <a:xfrm>
            <a:off x="6477000" y="3886200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96" name="Line 164"/>
          <p:cNvSpPr>
            <a:spLocks noChangeShapeType="1"/>
          </p:cNvSpPr>
          <p:nvPr/>
        </p:nvSpPr>
        <p:spPr bwMode="auto">
          <a:xfrm>
            <a:off x="6477000" y="43434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97" name="Line 165"/>
          <p:cNvSpPr>
            <a:spLocks noChangeShapeType="1"/>
          </p:cNvSpPr>
          <p:nvPr/>
        </p:nvSpPr>
        <p:spPr bwMode="auto">
          <a:xfrm>
            <a:off x="5181600" y="1905000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98" name="Line 166"/>
          <p:cNvSpPr>
            <a:spLocks noChangeShapeType="1"/>
          </p:cNvSpPr>
          <p:nvPr/>
        </p:nvSpPr>
        <p:spPr bwMode="auto">
          <a:xfrm>
            <a:off x="2667000" y="4648200"/>
            <a:ext cx="0" cy="914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399" name="Oval 167"/>
          <p:cNvSpPr>
            <a:spLocks noChangeArrowheads="1"/>
          </p:cNvSpPr>
          <p:nvPr/>
        </p:nvSpPr>
        <p:spPr bwMode="auto">
          <a:xfrm>
            <a:off x="3048000" y="41148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400" name="Oval 168"/>
          <p:cNvSpPr>
            <a:spLocks noChangeArrowheads="1"/>
          </p:cNvSpPr>
          <p:nvPr/>
        </p:nvSpPr>
        <p:spPr bwMode="auto">
          <a:xfrm>
            <a:off x="6629400" y="9144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401" name="Oval 169"/>
          <p:cNvSpPr>
            <a:spLocks noChangeArrowheads="1"/>
          </p:cNvSpPr>
          <p:nvPr/>
        </p:nvSpPr>
        <p:spPr bwMode="auto">
          <a:xfrm>
            <a:off x="8534400" y="41148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402" name="Oval 170"/>
          <p:cNvSpPr>
            <a:spLocks noChangeArrowheads="1"/>
          </p:cNvSpPr>
          <p:nvPr/>
        </p:nvSpPr>
        <p:spPr bwMode="auto">
          <a:xfrm>
            <a:off x="5334000" y="47244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403" name="Line 171"/>
          <p:cNvSpPr>
            <a:spLocks noChangeShapeType="1"/>
          </p:cNvSpPr>
          <p:nvPr/>
        </p:nvSpPr>
        <p:spPr bwMode="auto">
          <a:xfrm>
            <a:off x="2667000" y="4114800"/>
            <a:ext cx="3048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5404" name="Oval 172"/>
          <p:cNvSpPr>
            <a:spLocks noChangeArrowheads="1"/>
          </p:cNvSpPr>
          <p:nvPr/>
        </p:nvSpPr>
        <p:spPr bwMode="auto">
          <a:xfrm>
            <a:off x="7391400" y="48768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405" name="Oval 173"/>
          <p:cNvSpPr>
            <a:spLocks noChangeArrowheads="1"/>
          </p:cNvSpPr>
          <p:nvPr/>
        </p:nvSpPr>
        <p:spPr bwMode="auto">
          <a:xfrm>
            <a:off x="4038600" y="33528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406" name="Oval 174"/>
          <p:cNvSpPr>
            <a:spLocks noChangeArrowheads="1"/>
          </p:cNvSpPr>
          <p:nvPr/>
        </p:nvSpPr>
        <p:spPr bwMode="auto">
          <a:xfrm>
            <a:off x="5943600" y="58674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407" name="Oval 175"/>
          <p:cNvSpPr>
            <a:spLocks noChangeArrowheads="1"/>
          </p:cNvSpPr>
          <p:nvPr/>
        </p:nvSpPr>
        <p:spPr bwMode="auto">
          <a:xfrm>
            <a:off x="7391400" y="32766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5408" name="Oval 176"/>
          <p:cNvSpPr>
            <a:spLocks noChangeArrowheads="1"/>
          </p:cNvSpPr>
          <p:nvPr/>
        </p:nvSpPr>
        <p:spPr bwMode="auto">
          <a:xfrm>
            <a:off x="3810000" y="19050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263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399" grpId="0" animBg="1"/>
      <p:bldP spid="735400" grpId="0" animBg="1"/>
      <p:bldP spid="735401" grpId="0" animBg="1"/>
      <p:bldP spid="735402" grpId="0" animBg="1"/>
      <p:bldP spid="735404" grpId="0" animBg="1"/>
      <p:bldP spid="735405" grpId="0" animBg="1"/>
      <p:bldP spid="735406" grpId="0" animBg="1"/>
      <p:bldP spid="735407" grpId="0" animBg="1"/>
      <p:bldP spid="73540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Branch Instruction Data/Control Flow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52600" y="914400"/>
            <a:ext cx="381000" cy="990600"/>
            <a:chOff x="1392" y="2880"/>
            <a:chExt cx="288" cy="480"/>
          </a:xfrm>
        </p:grpSpPr>
        <p:sp>
          <p:nvSpPr>
            <p:cNvPr id="737284" name="Line 4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285" name="Line 5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286" name="Line 6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287" name="Line 7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288" name="Line 8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289" name="Line 9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290" name="Line 10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7291" name="Rectangle 11"/>
          <p:cNvSpPr>
            <a:spLocks noChangeArrowheads="1"/>
          </p:cNvSpPr>
          <p:nvPr/>
        </p:nvSpPr>
        <p:spPr bwMode="auto">
          <a:xfrm>
            <a:off x="1052513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292" name="Rectangle 12"/>
          <p:cNvSpPr>
            <a:spLocks noChangeArrowheads="1"/>
          </p:cNvSpPr>
          <p:nvPr/>
        </p:nvSpPr>
        <p:spPr bwMode="auto">
          <a:xfrm>
            <a:off x="519113" y="3962400"/>
            <a:ext cx="2286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293" name="Line 13"/>
          <p:cNvSpPr>
            <a:spLocks noChangeShapeType="1"/>
          </p:cNvSpPr>
          <p:nvPr/>
        </p:nvSpPr>
        <p:spPr bwMode="auto">
          <a:xfrm>
            <a:off x="747713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294" name="Line 14"/>
          <p:cNvSpPr>
            <a:spLocks noChangeShapeType="1"/>
          </p:cNvSpPr>
          <p:nvPr/>
        </p:nvSpPr>
        <p:spPr bwMode="auto">
          <a:xfrm>
            <a:off x="838200" y="1066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295" name="Line 15"/>
          <p:cNvSpPr>
            <a:spLocks noChangeShapeType="1"/>
          </p:cNvSpPr>
          <p:nvPr/>
        </p:nvSpPr>
        <p:spPr bwMode="auto">
          <a:xfrm>
            <a:off x="1371600" y="175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296" name="Text Box 16"/>
          <p:cNvSpPr txBox="1">
            <a:spLocks noChangeArrowheads="1"/>
          </p:cNvSpPr>
          <p:nvPr/>
        </p:nvSpPr>
        <p:spPr bwMode="auto">
          <a:xfrm>
            <a:off x="976313" y="4114800"/>
            <a:ext cx="74136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37297" name="Text Box 17"/>
          <p:cNvSpPr txBox="1">
            <a:spLocks noChangeArrowheads="1"/>
          </p:cNvSpPr>
          <p:nvPr/>
        </p:nvSpPr>
        <p:spPr bwMode="auto">
          <a:xfrm>
            <a:off x="1738313" y="4191000"/>
            <a:ext cx="8699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Instr[31-0]</a:t>
            </a:r>
          </a:p>
        </p:txBody>
      </p:sp>
      <p:sp>
        <p:nvSpPr>
          <p:cNvPr id="737298" name="Text Box 18"/>
          <p:cNvSpPr txBox="1">
            <a:spLocks noChangeArrowheads="1"/>
          </p:cNvSpPr>
          <p:nvPr/>
        </p:nvSpPr>
        <p:spPr bwMode="auto">
          <a:xfrm>
            <a:off x="1281113" y="3657600"/>
            <a:ext cx="9731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Instruction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37299" name="Text Box 19"/>
          <p:cNvSpPr txBox="1">
            <a:spLocks noChangeArrowheads="1"/>
          </p:cNvSpPr>
          <p:nvPr/>
        </p:nvSpPr>
        <p:spPr bwMode="auto">
          <a:xfrm>
            <a:off x="1752600" y="12954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37300" name="Text Box 20"/>
          <p:cNvSpPr txBox="1">
            <a:spLocks noChangeArrowheads="1"/>
          </p:cNvSpPr>
          <p:nvPr/>
        </p:nvSpPr>
        <p:spPr bwMode="auto">
          <a:xfrm>
            <a:off x="442913" y="4191000"/>
            <a:ext cx="395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PC</a:t>
            </a:r>
          </a:p>
        </p:txBody>
      </p:sp>
      <p:sp>
        <p:nvSpPr>
          <p:cNvPr id="737301" name="Line 21"/>
          <p:cNvSpPr>
            <a:spLocks noChangeShapeType="1"/>
          </p:cNvSpPr>
          <p:nvPr/>
        </p:nvSpPr>
        <p:spPr bwMode="auto">
          <a:xfrm>
            <a:off x="228600" y="838200"/>
            <a:ext cx="685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02" name="Line 22"/>
          <p:cNvSpPr>
            <a:spLocks noChangeShapeType="1"/>
          </p:cNvSpPr>
          <p:nvPr/>
        </p:nvSpPr>
        <p:spPr bwMode="auto">
          <a:xfrm>
            <a:off x="214313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03" name="Text Box 23"/>
          <p:cNvSpPr txBox="1">
            <a:spLocks noChangeArrowheads="1"/>
          </p:cNvSpPr>
          <p:nvPr/>
        </p:nvSpPr>
        <p:spPr bwMode="auto">
          <a:xfrm>
            <a:off x="1143000" y="16002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37304" name="Rectangle 24"/>
          <p:cNvSpPr>
            <a:spLocks noChangeArrowheads="1"/>
          </p:cNvSpPr>
          <p:nvPr/>
        </p:nvSpPr>
        <p:spPr bwMode="auto">
          <a:xfrm>
            <a:off x="3505200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05" name="Line 25"/>
          <p:cNvSpPr>
            <a:spLocks noChangeShapeType="1"/>
          </p:cNvSpPr>
          <p:nvPr/>
        </p:nvSpPr>
        <p:spPr bwMode="auto">
          <a:xfrm>
            <a:off x="2500313" y="43434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06" name="Line 26"/>
          <p:cNvSpPr>
            <a:spLocks noChangeShapeType="1"/>
          </p:cNvSpPr>
          <p:nvPr/>
        </p:nvSpPr>
        <p:spPr bwMode="auto">
          <a:xfrm>
            <a:off x="2652713" y="4114800"/>
            <a:ext cx="852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07" name="Line 27"/>
          <p:cNvSpPr>
            <a:spLocks noChangeShapeType="1"/>
          </p:cNvSpPr>
          <p:nvPr/>
        </p:nvSpPr>
        <p:spPr bwMode="auto">
          <a:xfrm>
            <a:off x="2652713" y="4648200"/>
            <a:ext cx="471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08" name="Line 28"/>
          <p:cNvSpPr>
            <a:spLocks noChangeShapeType="1"/>
          </p:cNvSpPr>
          <p:nvPr/>
        </p:nvSpPr>
        <p:spPr bwMode="auto">
          <a:xfrm>
            <a:off x="8382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09" name="Line 29"/>
          <p:cNvSpPr>
            <a:spLocks noChangeShapeType="1"/>
          </p:cNvSpPr>
          <p:nvPr/>
        </p:nvSpPr>
        <p:spPr bwMode="auto">
          <a:xfrm>
            <a:off x="2652713" y="3733800"/>
            <a:ext cx="852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10" name="Line 30"/>
          <p:cNvSpPr>
            <a:spLocks noChangeShapeType="1"/>
          </p:cNvSpPr>
          <p:nvPr/>
        </p:nvSpPr>
        <p:spPr bwMode="auto">
          <a:xfrm>
            <a:off x="4953000" y="3962400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11" name="Line 31"/>
          <p:cNvSpPr>
            <a:spLocks noChangeShapeType="1"/>
          </p:cNvSpPr>
          <p:nvPr/>
        </p:nvSpPr>
        <p:spPr bwMode="auto">
          <a:xfrm>
            <a:off x="5105400" y="4572000"/>
            <a:ext cx="279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12" name="Line 32"/>
          <p:cNvSpPr>
            <a:spLocks noChangeShapeType="1"/>
          </p:cNvSpPr>
          <p:nvPr/>
        </p:nvSpPr>
        <p:spPr bwMode="auto">
          <a:xfrm>
            <a:off x="6477000" y="5715000"/>
            <a:ext cx="193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13" name="Line 33"/>
          <p:cNvSpPr>
            <a:spLocks noChangeShapeType="1"/>
          </p:cNvSpPr>
          <p:nvPr/>
        </p:nvSpPr>
        <p:spPr bwMode="auto">
          <a:xfrm>
            <a:off x="6324600" y="43434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14" name="Text Box 34"/>
          <p:cNvSpPr txBox="1">
            <a:spLocks noChangeArrowheads="1"/>
          </p:cNvSpPr>
          <p:nvPr/>
        </p:nvSpPr>
        <p:spPr bwMode="auto">
          <a:xfrm>
            <a:off x="3429000" y="4724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37315" name="Text Box 35"/>
          <p:cNvSpPr txBox="1">
            <a:spLocks noChangeArrowheads="1"/>
          </p:cNvSpPr>
          <p:nvPr/>
        </p:nvSpPr>
        <p:spPr bwMode="auto">
          <a:xfrm>
            <a:off x="3429000" y="3581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1</a:t>
            </a:r>
          </a:p>
        </p:txBody>
      </p:sp>
      <p:sp>
        <p:nvSpPr>
          <p:cNvPr id="737316" name="Text Box 36"/>
          <p:cNvSpPr txBox="1">
            <a:spLocks noChangeArrowheads="1"/>
          </p:cNvSpPr>
          <p:nvPr/>
        </p:nvSpPr>
        <p:spPr bwMode="auto">
          <a:xfrm>
            <a:off x="3429000" y="3962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2</a:t>
            </a:r>
          </a:p>
        </p:txBody>
      </p:sp>
      <p:sp>
        <p:nvSpPr>
          <p:cNvPr id="737317" name="Text Box 37"/>
          <p:cNvSpPr txBox="1">
            <a:spLocks noChangeArrowheads="1"/>
          </p:cNvSpPr>
          <p:nvPr/>
        </p:nvSpPr>
        <p:spPr bwMode="auto">
          <a:xfrm>
            <a:off x="3429000" y="4343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Addr</a:t>
            </a:r>
          </a:p>
        </p:txBody>
      </p:sp>
      <p:sp>
        <p:nvSpPr>
          <p:cNvPr id="737318" name="Text Box 38"/>
          <p:cNvSpPr txBox="1">
            <a:spLocks noChangeArrowheads="1"/>
          </p:cNvSpPr>
          <p:nvPr/>
        </p:nvSpPr>
        <p:spPr bwMode="auto">
          <a:xfrm>
            <a:off x="3752850" y="38100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Register</a:t>
            </a:r>
          </a:p>
          <a:p>
            <a:pPr algn="ctr"/>
            <a:endParaRPr lang="en-US" altLang="zh-CN" sz="1200" b="1">
              <a:solidFill>
                <a:schemeClr val="tx1"/>
              </a:solidFill>
              <a:ea typeface="宋体" pitchFamily="2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File</a:t>
            </a:r>
          </a:p>
        </p:txBody>
      </p:sp>
      <p:sp>
        <p:nvSpPr>
          <p:cNvPr id="737319" name="Text Box 39"/>
          <p:cNvSpPr txBox="1">
            <a:spLocks noChangeArrowheads="1"/>
          </p:cNvSpPr>
          <p:nvPr/>
        </p:nvSpPr>
        <p:spPr bwMode="auto">
          <a:xfrm>
            <a:off x="4343400" y="37338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1</a:t>
            </a:r>
          </a:p>
        </p:txBody>
      </p:sp>
      <p:sp>
        <p:nvSpPr>
          <p:cNvPr id="737320" name="Text Box 40"/>
          <p:cNvSpPr txBox="1">
            <a:spLocks noChangeArrowheads="1"/>
          </p:cNvSpPr>
          <p:nvPr/>
        </p:nvSpPr>
        <p:spPr bwMode="auto">
          <a:xfrm>
            <a:off x="4368800" y="44196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2</a:t>
            </a:r>
          </a:p>
        </p:txBody>
      </p:sp>
      <p:sp>
        <p:nvSpPr>
          <p:cNvPr id="737321" name="Freeform 41"/>
          <p:cNvSpPr>
            <a:spLocks/>
          </p:cNvSpPr>
          <p:nvPr/>
        </p:nvSpPr>
        <p:spPr bwMode="auto">
          <a:xfrm>
            <a:off x="5791200" y="36576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22" name="Rectangle 42"/>
          <p:cNvSpPr>
            <a:spLocks noChangeArrowheads="1"/>
          </p:cNvSpPr>
          <p:nvPr/>
        </p:nvSpPr>
        <p:spPr bwMode="auto">
          <a:xfrm>
            <a:off x="5892800" y="42672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ALU</a:t>
            </a:r>
          </a:p>
        </p:txBody>
      </p:sp>
      <p:sp>
        <p:nvSpPr>
          <p:cNvPr id="737323" name="Rectangle 43"/>
          <p:cNvSpPr>
            <a:spLocks noChangeArrowheads="1"/>
          </p:cNvSpPr>
          <p:nvPr/>
        </p:nvSpPr>
        <p:spPr bwMode="auto">
          <a:xfrm>
            <a:off x="5791200" y="3276600"/>
            <a:ext cx="7620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ovf</a:t>
            </a:r>
          </a:p>
        </p:txBody>
      </p:sp>
      <p:sp>
        <p:nvSpPr>
          <p:cNvPr id="737324" name="Rectangle 44"/>
          <p:cNvSpPr>
            <a:spLocks noChangeArrowheads="1"/>
          </p:cNvSpPr>
          <p:nvPr/>
        </p:nvSpPr>
        <p:spPr bwMode="auto">
          <a:xfrm>
            <a:off x="5943600" y="3886200"/>
            <a:ext cx="5334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zero</a:t>
            </a:r>
          </a:p>
        </p:txBody>
      </p:sp>
      <p:sp>
        <p:nvSpPr>
          <p:cNvPr id="737325" name="Line 45"/>
          <p:cNvSpPr>
            <a:spLocks noChangeShapeType="1"/>
          </p:cNvSpPr>
          <p:nvPr/>
        </p:nvSpPr>
        <p:spPr bwMode="auto">
          <a:xfrm>
            <a:off x="6096000" y="4724400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26" name="Line 46"/>
          <p:cNvSpPr>
            <a:spLocks noChangeShapeType="1"/>
          </p:cNvSpPr>
          <p:nvPr/>
        </p:nvSpPr>
        <p:spPr bwMode="auto">
          <a:xfrm>
            <a:off x="4191000" y="2971800"/>
            <a:ext cx="0" cy="609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27" name="Rectangle 47"/>
          <p:cNvSpPr>
            <a:spLocks noChangeArrowheads="1"/>
          </p:cNvSpPr>
          <p:nvPr/>
        </p:nvSpPr>
        <p:spPr bwMode="auto">
          <a:xfrm>
            <a:off x="4191000" y="29718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RegWrite</a:t>
            </a:r>
          </a:p>
        </p:txBody>
      </p:sp>
      <p:sp>
        <p:nvSpPr>
          <p:cNvPr id="737328" name="Line 48"/>
          <p:cNvSpPr>
            <a:spLocks noChangeShapeType="1"/>
          </p:cNvSpPr>
          <p:nvPr/>
        </p:nvSpPr>
        <p:spPr bwMode="auto">
          <a:xfrm flipV="1">
            <a:off x="5943600" y="35052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29" name="Line 49"/>
          <p:cNvSpPr>
            <a:spLocks noChangeShapeType="1"/>
          </p:cNvSpPr>
          <p:nvPr/>
        </p:nvSpPr>
        <p:spPr bwMode="auto">
          <a:xfrm flipV="1">
            <a:off x="6248400" y="22098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30" name="Line 50"/>
          <p:cNvSpPr>
            <a:spLocks noChangeShapeType="1"/>
          </p:cNvSpPr>
          <p:nvPr/>
        </p:nvSpPr>
        <p:spPr bwMode="auto">
          <a:xfrm>
            <a:off x="8991600" y="4495800"/>
            <a:ext cx="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31" name="Rectangle 51"/>
          <p:cNvSpPr>
            <a:spLocks noChangeArrowheads="1"/>
          </p:cNvSpPr>
          <p:nvPr/>
        </p:nvSpPr>
        <p:spPr bwMode="auto">
          <a:xfrm>
            <a:off x="6858000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32" name="Line 52"/>
          <p:cNvSpPr>
            <a:spLocks noChangeShapeType="1"/>
          </p:cNvSpPr>
          <p:nvPr/>
        </p:nvSpPr>
        <p:spPr bwMode="auto">
          <a:xfrm>
            <a:off x="8305800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33" name="Line 53"/>
          <p:cNvSpPr>
            <a:spLocks noChangeShapeType="1"/>
          </p:cNvSpPr>
          <p:nvPr/>
        </p:nvSpPr>
        <p:spPr bwMode="auto">
          <a:xfrm>
            <a:off x="6477000" y="3886200"/>
            <a:ext cx="40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34" name="Line 54"/>
          <p:cNvSpPr>
            <a:spLocks noChangeShapeType="1"/>
          </p:cNvSpPr>
          <p:nvPr/>
        </p:nvSpPr>
        <p:spPr bwMode="auto">
          <a:xfrm>
            <a:off x="6629400" y="4724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35" name="Text Box 55"/>
          <p:cNvSpPr txBox="1">
            <a:spLocks noChangeArrowheads="1"/>
          </p:cNvSpPr>
          <p:nvPr/>
        </p:nvSpPr>
        <p:spPr bwMode="auto">
          <a:xfrm>
            <a:off x="6781800" y="4038600"/>
            <a:ext cx="766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Data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37336" name="Text Box 56"/>
          <p:cNvSpPr txBox="1">
            <a:spLocks noChangeArrowheads="1"/>
          </p:cNvSpPr>
          <p:nvPr/>
        </p:nvSpPr>
        <p:spPr bwMode="auto">
          <a:xfrm>
            <a:off x="6781800" y="3733800"/>
            <a:ext cx="7413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37337" name="Text Box 57"/>
          <p:cNvSpPr txBox="1">
            <a:spLocks noChangeArrowheads="1"/>
          </p:cNvSpPr>
          <p:nvPr/>
        </p:nvSpPr>
        <p:spPr bwMode="auto">
          <a:xfrm>
            <a:off x="6781800" y="45720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37338" name="Text Box 58"/>
          <p:cNvSpPr txBox="1">
            <a:spLocks noChangeArrowheads="1"/>
          </p:cNvSpPr>
          <p:nvPr/>
        </p:nvSpPr>
        <p:spPr bwMode="auto">
          <a:xfrm>
            <a:off x="7467600" y="4191000"/>
            <a:ext cx="909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737339" name="Line 59"/>
          <p:cNvSpPr>
            <a:spLocks noChangeShapeType="1"/>
          </p:cNvSpPr>
          <p:nvPr/>
        </p:nvSpPr>
        <p:spPr bwMode="auto">
          <a:xfrm>
            <a:off x="7543800" y="2667000"/>
            <a:ext cx="0" cy="914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40" name="Rectangle 60"/>
          <p:cNvSpPr>
            <a:spLocks noChangeArrowheads="1"/>
          </p:cNvSpPr>
          <p:nvPr/>
        </p:nvSpPr>
        <p:spPr bwMode="auto">
          <a:xfrm>
            <a:off x="6553200" y="24384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MemWrite</a:t>
            </a:r>
          </a:p>
        </p:txBody>
      </p:sp>
      <p:sp>
        <p:nvSpPr>
          <p:cNvPr id="737341" name="Rectangle 61"/>
          <p:cNvSpPr>
            <a:spLocks noChangeArrowheads="1"/>
          </p:cNvSpPr>
          <p:nvPr/>
        </p:nvSpPr>
        <p:spPr bwMode="auto">
          <a:xfrm>
            <a:off x="7848600" y="21336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MemRead</a:t>
            </a:r>
          </a:p>
        </p:txBody>
      </p:sp>
      <p:sp>
        <p:nvSpPr>
          <p:cNvPr id="737342" name="Line 62"/>
          <p:cNvSpPr>
            <a:spLocks noChangeShapeType="1"/>
          </p:cNvSpPr>
          <p:nvPr/>
        </p:nvSpPr>
        <p:spPr bwMode="auto">
          <a:xfrm>
            <a:off x="7543800" y="50292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43" name="Line 63"/>
          <p:cNvSpPr>
            <a:spLocks noChangeShapeType="1"/>
          </p:cNvSpPr>
          <p:nvPr/>
        </p:nvSpPr>
        <p:spPr bwMode="auto">
          <a:xfrm>
            <a:off x="3276600" y="6477000"/>
            <a:ext cx="571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44" name="Line 64"/>
          <p:cNvSpPr>
            <a:spLocks noChangeShapeType="1"/>
          </p:cNvSpPr>
          <p:nvPr/>
        </p:nvSpPr>
        <p:spPr bwMode="auto">
          <a:xfrm>
            <a:off x="5054600" y="51816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45" name="Line 65"/>
          <p:cNvSpPr>
            <a:spLocks noChangeShapeType="1"/>
          </p:cNvSpPr>
          <p:nvPr/>
        </p:nvSpPr>
        <p:spPr bwMode="auto">
          <a:xfrm>
            <a:off x="4811713" y="556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46" name="Oval 66"/>
          <p:cNvSpPr>
            <a:spLocks noChangeArrowheads="1"/>
          </p:cNvSpPr>
          <p:nvPr/>
        </p:nvSpPr>
        <p:spPr bwMode="auto">
          <a:xfrm>
            <a:off x="4202113" y="5181600"/>
            <a:ext cx="6096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47" name="Rectangle 67"/>
          <p:cNvSpPr>
            <a:spLocks noChangeArrowheads="1"/>
          </p:cNvSpPr>
          <p:nvPr/>
        </p:nvSpPr>
        <p:spPr bwMode="auto">
          <a:xfrm>
            <a:off x="4252913" y="5334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Sign</a:t>
            </a:r>
          </a:p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Extend</a:t>
            </a:r>
          </a:p>
        </p:txBody>
      </p:sp>
      <p:sp>
        <p:nvSpPr>
          <p:cNvPr id="737348" name="Line 68"/>
          <p:cNvSpPr>
            <a:spLocks noChangeShapeType="1"/>
          </p:cNvSpPr>
          <p:nvPr/>
        </p:nvSpPr>
        <p:spPr bwMode="auto">
          <a:xfrm>
            <a:off x="2638425" y="5562600"/>
            <a:ext cx="1563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49" name="Line 69"/>
          <p:cNvSpPr>
            <a:spLocks noChangeShapeType="1"/>
          </p:cNvSpPr>
          <p:nvPr/>
        </p:nvSpPr>
        <p:spPr bwMode="auto">
          <a:xfrm>
            <a:off x="3871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50" name="Line 70"/>
          <p:cNvSpPr>
            <a:spLocks noChangeShapeType="1"/>
          </p:cNvSpPr>
          <p:nvPr/>
        </p:nvSpPr>
        <p:spPr bwMode="auto">
          <a:xfrm>
            <a:off x="4887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51" name="Text Box 71"/>
          <p:cNvSpPr txBox="1">
            <a:spLocks noChangeArrowheads="1"/>
          </p:cNvSpPr>
          <p:nvPr/>
        </p:nvSpPr>
        <p:spPr bwMode="auto">
          <a:xfrm>
            <a:off x="3871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16</a:t>
            </a:r>
          </a:p>
        </p:txBody>
      </p:sp>
      <p:sp>
        <p:nvSpPr>
          <p:cNvPr id="737352" name="Text Box 72"/>
          <p:cNvSpPr txBox="1">
            <a:spLocks noChangeArrowheads="1"/>
          </p:cNvSpPr>
          <p:nvPr/>
        </p:nvSpPr>
        <p:spPr bwMode="auto">
          <a:xfrm>
            <a:off x="4887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32</a:t>
            </a:r>
          </a:p>
        </p:txBody>
      </p:sp>
      <p:sp>
        <p:nvSpPr>
          <p:cNvPr id="737353" name="Line 73"/>
          <p:cNvSpPr>
            <a:spLocks noChangeShapeType="1"/>
          </p:cNvSpPr>
          <p:nvPr/>
        </p:nvSpPr>
        <p:spPr bwMode="auto">
          <a:xfrm>
            <a:off x="5054600" y="4572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54" name="Line 74"/>
          <p:cNvSpPr>
            <a:spLocks noChangeShapeType="1"/>
          </p:cNvSpPr>
          <p:nvPr/>
        </p:nvSpPr>
        <p:spPr bwMode="auto">
          <a:xfrm>
            <a:off x="8382000" y="4724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55" name="Line 75"/>
          <p:cNvSpPr>
            <a:spLocks noChangeShapeType="1"/>
          </p:cNvSpPr>
          <p:nvPr/>
        </p:nvSpPr>
        <p:spPr bwMode="auto">
          <a:xfrm>
            <a:off x="5181600" y="49530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56" name="Line 76"/>
          <p:cNvSpPr>
            <a:spLocks noChangeShapeType="1"/>
          </p:cNvSpPr>
          <p:nvPr/>
        </p:nvSpPr>
        <p:spPr bwMode="auto">
          <a:xfrm>
            <a:off x="3276600" y="4876800"/>
            <a:ext cx="25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57" name="AutoShape 77"/>
          <p:cNvSpPr>
            <a:spLocks noChangeArrowheads="1"/>
          </p:cNvSpPr>
          <p:nvPr/>
        </p:nvSpPr>
        <p:spPr bwMode="auto">
          <a:xfrm rot="-5400000">
            <a:off x="8382000" y="4419600"/>
            <a:ext cx="6858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58" name="Line 78"/>
          <p:cNvSpPr>
            <a:spLocks noChangeShapeType="1"/>
          </p:cNvSpPr>
          <p:nvPr/>
        </p:nvSpPr>
        <p:spPr bwMode="auto">
          <a:xfrm>
            <a:off x="8839200" y="4495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59" name="AutoShape 79"/>
          <p:cNvSpPr>
            <a:spLocks noChangeArrowheads="1"/>
          </p:cNvSpPr>
          <p:nvPr/>
        </p:nvSpPr>
        <p:spPr bwMode="auto">
          <a:xfrm rot="-5400000">
            <a:off x="5092700" y="46101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60" name="Line 80"/>
          <p:cNvSpPr>
            <a:spLocks noChangeShapeType="1"/>
          </p:cNvSpPr>
          <p:nvPr/>
        </p:nvSpPr>
        <p:spPr bwMode="auto">
          <a:xfrm>
            <a:off x="5588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61" name="Line 81"/>
          <p:cNvSpPr>
            <a:spLocks noChangeShapeType="1"/>
          </p:cNvSpPr>
          <p:nvPr/>
        </p:nvSpPr>
        <p:spPr bwMode="auto">
          <a:xfrm>
            <a:off x="3276600" y="48768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62" name="Line 82"/>
          <p:cNvSpPr>
            <a:spLocks noChangeShapeType="1"/>
          </p:cNvSpPr>
          <p:nvPr/>
        </p:nvSpPr>
        <p:spPr bwMode="auto">
          <a:xfrm>
            <a:off x="8686800" y="25146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63" name="Rectangle 83"/>
          <p:cNvSpPr>
            <a:spLocks noChangeArrowheads="1"/>
          </p:cNvSpPr>
          <p:nvPr/>
        </p:nvSpPr>
        <p:spPr bwMode="auto">
          <a:xfrm>
            <a:off x="7162800" y="22860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MemtoReg</a:t>
            </a:r>
          </a:p>
        </p:txBody>
      </p:sp>
      <p:sp>
        <p:nvSpPr>
          <p:cNvPr id="737364" name="Rectangle 84"/>
          <p:cNvSpPr>
            <a:spLocks noChangeArrowheads="1"/>
          </p:cNvSpPr>
          <p:nvPr/>
        </p:nvSpPr>
        <p:spPr bwMode="auto">
          <a:xfrm>
            <a:off x="4343400" y="25908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ALUSrc</a:t>
            </a:r>
          </a:p>
        </p:txBody>
      </p:sp>
      <p:sp>
        <p:nvSpPr>
          <p:cNvPr id="737365" name="Oval 85"/>
          <p:cNvSpPr>
            <a:spLocks noChangeArrowheads="1"/>
          </p:cNvSpPr>
          <p:nvPr/>
        </p:nvSpPr>
        <p:spPr bwMode="auto">
          <a:xfrm>
            <a:off x="5410200" y="1600200"/>
            <a:ext cx="4572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66" name="Rectangle 86"/>
          <p:cNvSpPr>
            <a:spLocks noChangeArrowheads="1"/>
          </p:cNvSpPr>
          <p:nvPr/>
        </p:nvSpPr>
        <p:spPr bwMode="auto">
          <a:xfrm>
            <a:off x="5410200" y="1600200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Shift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left 2</a:t>
            </a:r>
          </a:p>
        </p:txBody>
      </p:sp>
      <p:sp>
        <p:nvSpPr>
          <p:cNvPr id="737367" name="Line 87"/>
          <p:cNvSpPr>
            <a:spLocks noChangeShapeType="1"/>
          </p:cNvSpPr>
          <p:nvPr/>
        </p:nvSpPr>
        <p:spPr bwMode="auto">
          <a:xfrm>
            <a:off x="5181600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68" name="Line 88"/>
          <p:cNvSpPr>
            <a:spLocks noChangeShapeType="1"/>
          </p:cNvSpPr>
          <p:nvPr/>
        </p:nvSpPr>
        <p:spPr bwMode="auto">
          <a:xfrm>
            <a:off x="5181600" y="1447800"/>
            <a:ext cx="928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6096000" y="1143000"/>
            <a:ext cx="381000" cy="914400"/>
            <a:chOff x="1392" y="2880"/>
            <a:chExt cx="288" cy="480"/>
          </a:xfrm>
        </p:grpSpPr>
        <p:sp>
          <p:nvSpPr>
            <p:cNvPr id="737370" name="Line 90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371" name="Line 91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372" name="Line 92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373" name="Line 93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374" name="Line 94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375" name="Line 95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376" name="Line 96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7377" name="Text Box 97"/>
          <p:cNvSpPr txBox="1">
            <a:spLocks noChangeArrowheads="1"/>
          </p:cNvSpPr>
          <p:nvPr/>
        </p:nvSpPr>
        <p:spPr bwMode="auto">
          <a:xfrm>
            <a:off x="6096000" y="14478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37378" name="Line 98"/>
          <p:cNvSpPr>
            <a:spLocks noChangeShapeType="1"/>
          </p:cNvSpPr>
          <p:nvPr/>
        </p:nvSpPr>
        <p:spPr bwMode="auto">
          <a:xfrm>
            <a:off x="5853113" y="190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79" name="Line 99"/>
          <p:cNvSpPr>
            <a:spLocks noChangeShapeType="1"/>
          </p:cNvSpPr>
          <p:nvPr/>
        </p:nvSpPr>
        <p:spPr bwMode="auto">
          <a:xfrm>
            <a:off x="6477000" y="1600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80" name="Line 100"/>
          <p:cNvSpPr>
            <a:spLocks noChangeShapeType="1"/>
          </p:cNvSpPr>
          <p:nvPr/>
        </p:nvSpPr>
        <p:spPr bwMode="auto">
          <a:xfrm>
            <a:off x="838200" y="1066800"/>
            <a:ext cx="0" cy="3276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81" name="AutoShape 101"/>
          <p:cNvSpPr>
            <a:spLocks noChangeArrowheads="1"/>
          </p:cNvSpPr>
          <p:nvPr/>
        </p:nvSpPr>
        <p:spPr bwMode="auto">
          <a:xfrm rot="-5400000">
            <a:off x="6400800" y="1219200"/>
            <a:ext cx="8382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82" name="Line 102"/>
          <p:cNvSpPr>
            <a:spLocks noChangeShapeType="1"/>
          </p:cNvSpPr>
          <p:nvPr/>
        </p:nvSpPr>
        <p:spPr bwMode="auto">
          <a:xfrm>
            <a:off x="5181600" y="1066800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83" name="Line 103"/>
          <p:cNvSpPr>
            <a:spLocks noChangeShapeType="1"/>
          </p:cNvSpPr>
          <p:nvPr/>
        </p:nvSpPr>
        <p:spPr bwMode="auto">
          <a:xfrm>
            <a:off x="5181600" y="1066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84" name="Line 104"/>
          <p:cNvSpPr>
            <a:spLocks noChangeShapeType="1"/>
          </p:cNvSpPr>
          <p:nvPr/>
        </p:nvSpPr>
        <p:spPr bwMode="auto">
          <a:xfrm>
            <a:off x="6934200" y="13716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85" name="Line 105"/>
          <p:cNvSpPr>
            <a:spLocks noChangeShapeType="1"/>
          </p:cNvSpPr>
          <p:nvPr/>
        </p:nvSpPr>
        <p:spPr bwMode="auto">
          <a:xfrm>
            <a:off x="6858000" y="1600200"/>
            <a:ext cx="0" cy="533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86" name="Rectangle 106"/>
          <p:cNvSpPr>
            <a:spLocks noChangeArrowheads="1"/>
          </p:cNvSpPr>
          <p:nvPr/>
        </p:nvSpPr>
        <p:spPr bwMode="auto">
          <a:xfrm>
            <a:off x="6858000" y="17526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PCSrc</a:t>
            </a:r>
          </a:p>
        </p:txBody>
      </p:sp>
      <p:sp>
        <p:nvSpPr>
          <p:cNvPr id="737387" name="Line 107"/>
          <p:cNvSpPr>
            <a:spLocks noChangeShapeType="1"/>
          </p:cNvSpPr>
          <p:nvPr/>
        </p:nvSpPr>
        <p:spPr bwMode="auto">
          <a:xfrm>
            <a:off x="66294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88" name="AutoShape 108"/>
          <p:cNvSpPr>
            <a:spLocks noChangeArrowheads="1"/>
          </p:cNvSpPr>
          <p:nvPr/>
        </p:nvSpPr>
        <p:spPr bwMode="auto">
          <a:xfrm rot="-5400000">
            <a:off x="2933700" y="4381500"/>
            <a:ext cx="6096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89" name="Line 109"/>
          <p:cNvSpPr>
            <a:spLocks noChangeShapeType="1"/>
          </p:cNvSpPr>
          <p:nvPr/>
        </p:nvSpPr>
        <p:spPr bwMode="auto">
          <a:xfrm>
            <a:off x="3352800" y="44958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90" name="Line 110"/>
          <p:cNvSpPr>
            <a:spLocks noChangeShapeType="1"/>
          </p:cNvSpPr>
          <p:nvPr/>
        </p:nvSpPr>
        <p:spPr bwMode="auto">
          <a:xfrm>
            <a:off x="2957513" y="4114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91" name="Line 111"/>
          <p:cNvSpPr>
            <a:spLocks noChangeShapeType="1"/>
          </p:cNvSpPr>
          <p:nvPr/>
        </p:nvSpPr>
        <p:spPr bwMode="auto">
          <a:xfrm>
            <a:off x="2957513" y="4343400"/>
            <a:ext cx="1666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92" name="Line 112"/>
          <p:cNvSpPr>
            <a:spLocks noChangeShapeType="1"/>
          </p:cNvSpPr>
          <p:nvPr/>
        </p:nvSpPr>
        <p:spPr bwMode="auto">
          <a:xfrm>
            <a:off x="3200400" y="2971800"/>
            <a:ext cx="0" cy="1295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93" name="Rectangle 113"/>
          <p:cNvSpPr>
            <a:spLocks noChangeArrowheads="1"/>
          </p:cNvSpPr>
          <p:nvPr/>
        </p:nvSpPr>
        <p:spPr bwMode="auto">
          <a:xfrm>
            <a:off x="2667000" y="3124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RegDst</a:t>
            </a:r>
          </a:p>
        </p:txBody>
      </p:sp>
      <p:sp>
        <p:nvSpPr>
          <p:cNvPr id="737394" name="Oval 114"/>
          <p:cNvSpPr>
            <a:spLocks noChangeArrowheads="1"/>
          </p:cNvSpPr>
          <p:nvPr/>
        </p:nvSpPr>
        <p:spPr bwMode="auto">
          <a:xfrm>
            <a:off x="5791200" y="5257800"/>
            <a:ext cx="609600" cy="7620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95" name="Rectangle 115"/>
          <p:cNvSpPr>
            <a:spLocks noChangeArrowheads="1"/>
          </p:cNvSpPr>
          <p:nvPr/>
        </p:nvSpPr>
        <p:spPr bwMode="auto">
          <a:xfrm>
            <a:off x="5867400" y="54102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ALU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</p:txBody>
      </p:sp>
      <p:sp>
        <p:nvSpPr>
          <p:cNvPr id="737396" name="Line 116"/>
          <p:cNvSpPr>
            <a:spLocks noChangeShapeType="1"/>
          </p:cNvSpPr>
          <p:nvPr/>
        </p:nvSpPr>
        <p:spPr bwMode="auto">
          <a:xfrm>
            <a:off x="3657600" y="6172200"/>
            <a:ext cx="1905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97" name="Line 117"/>
          <p:cNvSpPr>
            <a:spLocks noChangeShapeType="1"/>
          </p:cNvSpPr>
          <p:nvPr/>
        </p:nvSpPr>
        <p:spPr bwMode="auto">
          <a:xfrm>
            <a:off x="5548313" y="54864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98" name="Rectangle 118"/>
          <p:cNvSpPr>
            <a:spLocks noChangeArrowheads="1"/>
          </p:cNvSpPr>
          <p:nvPr/>
        </p:nvSpPr>
        <p:spPr bwMode="auto">
          <a:xfrm>
            <a:off x="86106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7399" name="Rectangle 119"/>
          <p:cNvSpPr>
            <a:spLocks noChangeArrowheads="1"/>
          </p:cNvSpPr>
          <p:nvPr/>
        </p:nvSpPr>
        <p:spPr bwMode="auto">
          <a:xfrm>
            <a:off x="5410200" y="480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7400" name="Rectangle 120"/>
          <p:cNvSpPr>
            <a:spLocks noChangeArrowheads="1"/>
          </p:cNvSpPr>
          <p:nvPr/>
        </p:nvSpPr>
        <p:spPr bwMode="auto">
          <a:xfrm>
            <a:off x="3124200" y="4495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7401" name="Rectangle 121"/>
          <p:cNvSpPr>
            <a:spLocks noChangeArrowheads="1"/>
          </p:cNvSpPr>
          <p:nvPr/>
        </p:nvSpPr>
        <p:spPr bwMode="auto">
          <a:xfrm>
            <a:off x="31242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7402" name="Rectangle 122"/>
          <p:cNvSpPr>
            <a:spLocks noChangeArrowheads="1"/>
          </p:cNvSpPr>
          <p:nvPr/>
        </p:nvSpPr>
        <p:spPr bwMode="auto">
          <a:xfrm>
            <a:off x="5410200" y="4419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7403" name="Rectangle 123"/>
          <p:cNvSpPr>
            <a:spLocks noChangeArrowheads="1"/>
          </p:cNvSpPr>
          <p:nvPr/>
        </p:nvSpPr>
        <p:spPr bwMode="auto">
          <a:xfrm>
            <a:off x="8610600" y="4572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7404" name="Rectangle 124"/>
          <p:cNvSpPr>
            <a:spLocks noChangeArrowheads="1"/>
          </p:cNvSpPr>
          <p:nvPr/>
        </p:nvSpPr>
        <p:spPr bwMode="auto">
          <a:xfrm>
            <a:off x="6705600" y="99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7405" name="Rectangle 125"/>
          <p:cNvSpPr>
            <a:spLocks noChangeArrowheads="1"/>
          </p:cNvSpPr>
          <p:nvPr/>
        </p:nvSpPr>
        <p:spPr bwMode="auto">
          <a:xfrm>
            <a:off x="6705600" y="1447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7406" name="Rectangle 126"/>
          <p:cNvSpPr>
            <a:spLocks noChangeArrowheads="1"/>
          </p:cNvSpPr>
          <p:nvPr/>
        </p:nvSpPr>
        <p:spPr bwMode="auto">
          <a:xfrm>
            <a:off x="2514600" y="19050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ALUOp</a:t>
            </a:r>
          </a:p>
        </p:txBody>
      </p:sp>
      <p:sp>
        <p:nvSpPr>
          <p:cNvPr id="737407" name="Line 127"/>
          <p:cNvSpPr>
            <a:spLocks noChangeShapeType="1"/>
          </p:cNvSpPr>
          <p:nvPr/>
        </p:nvSpPr>
        <p:spPr bwMode="auto">
          <a:xfrm>
            <a:off x="6096000" y="6019800"/>
            <a:ext cx="0" cy="3048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08" name="Rectangle 128"/>
          <p:cNvSpPr>
            <a:spLocks noChangeArrowheads="1"/>
          </p:cNvSpPr>
          <p:nvPr/>
        </p:nvSpPr>
        <p:spPr bwMode="auto">
          <a:xfrm>
            <a:off x="4724400" y="5867400"/>
            <a:ext cx="7620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Instr[5-0]</a:t>
            </a:r>
          </a:p>
        </p:txBody>
      </p:sp>
      <p:sp>
        <p:nvSpPr>
          <p:cNvPr id="737409" name="Rectangle 129"/>
          <p:cNvSpPr>
            <a:spLocks noChangeArrowheads="1"/>
          </p:cNvSpPr>
          <p:nvPr/>
        </p:nvSpPr>
        <p:spPr bwMode="auto">
          <a:xfrm>
            <a:off x="2667000" y="5334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Instr[15-0]</a:t>
            </a:r>
          </a:p>
        </p:txBody>
      </p:sp>
      <p:sp>
        <p:nvSpPr>
          <p:cNvPr id="737410" name="Rectangle 130"/>
          <p:cNvSpPr>
            <a:spLocks noChangeArrowheads="1"/>
          </p:cNvSpPr>
          <p:nvPr/>
        </p:nvSpPr>
        <p:spPr bwMode="auto">
          <a:xfrm>
            <a:off x="2652713" y="3505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Instr[25-21]</a:t>
            </a:r>
          </a:p>
        </p:txBody>
      </p:sp>
      <p:sp>
        <p:nvSpPr>
          <p:cNvPr id="737411" name="Rectangle 131"/>
          <p:cNvSpPr>
            <a:spLocks noChangeArrowheads="1"/>
          </p:cNvSpPr>
          <p:nvPr/>
        </p:nvSpPr>
        <p:spPr bwMode="auto">
          <a:xfrm>
            <a:off x="2652713" y="3886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Instr[20-16]</a:t>
            </a:r>
          </a:p>
        </p:txBody>
      </p:sp>
      <p:sp>
        <p:nvSpPr>
          <p:cNvPr id="737412" name="Text Box 132"/>
          <p:cNvSpPr txBox="1">
            <a:spLocks noChangeArrowheads="1"/>
          </p:cNvSpPr>
          <p:nvPr/>
        </p:nvSpPr>
        <p:spPr bwMode="auto">
          <a:xfrm>
            <a:off x="2576513" y="4648200"/>
            <a:ext cx="701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  -11]</a:t>
            </a:r>
          </a:p>
        </p:txBody>
      </p:sp>
      <p:sp>
        <p:nvSpPr>
          <p:cNvPr id="737413" name="Line 133"/>
          <p:cNvSpPr>
            <a:spLocks noChangeShapeType="1"/>
          </p:cNvSpPr>
          <p:nvPr/>
        </p:nvSpPr>
        <p:spPr bwMode="auto">
          <a:xfrm>
            <a:off x="228600" y="838200"/>
            <a:ext cx="0" cy="3505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14" name="Line 134"/>
          <p:cNvSpPr>
            <a:spLocks noChangeShapeType="1"/>
          </p:cNvSpPr>
          <p:nvPr/>
        </p:nvSpPr>
        <p:spPr bwMode="auto">
          <a:xfrm>
            <a:off x="7086600" y="8382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15" name="Line 135"/>
          <p:cNvSpPr>
            <a:spLocks noChangeShapeType="1"/>
          </p:cNvSpPr>
          <p:nvPr/>
        </p:nvSpPr>
        <p:spPr bwMode="auto">
          <a:xfrm>
            <a:off x="5181600" y="4953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16" name="Oval 136"/>
          <p:cNvSpPr>
            <a:spLocks noChangeArrowheads="1"/>
          </p:cNvSpPr>
          <p:nvPr/>
        </p:nvSpPr>
        <p:spPr bwMode="auto">
          <a:xfrm>
            <a:off x="2971800" y="1828800"/>
            <a:ext cx="762000" cy="12192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417" name="Rectangle 137"/>
          <p:cNvSpPr>
            <a:spLocks noChangeArrowheads="1"/>
          </p:cNvSpPr>
          <p:nvPr/>
        </p:nvSpPr>
        <p:spPr bwMode="auto">
          <a:xfrm>
            <a:off x="3124200" y="2286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Unit</a:t>
            </a:r>
          </a:p>
        </p:txBody>
      </p:sp>
      <p:sp>
        <p:nvSpPr>
          <p:cNvPr id="737418" name="Line 138"/>
          <p:cNvSpPr>
            <a:spLocks noChangeShapeType="1"/>
          </p:cNvSpPr>
          <p:nvPr/>
        </p:nvSpPr>
        <p:spPr bwMode="auto">
          <a:xfrm>
            <a:off x="2667000" y="2514600"/>
            <a:ext cx="0" cy="213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19" name="Line 139"/>
          <p:cNvSpPr>
            <a:spLocks noChangeShapeType="1"/>
          </p:cNvSpPr>
          <p:nvPr/>
        </p:nvSpPr>
        <p:spPr bwMode="auto">
          <a:xfrm>
            <a:off x="2667000" y="2514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20" name="Rectangle 140"/>
          <p:cNvSpPr>
            <a:spLocks noChangeArrowheads="1"/>
          </p:cNvSpPr>
          <p:nvPr/>
        </p:nvSpPr>
        <p:spPr bwMode="auto">
          <a:xfrm>
            <a:off x="2209800" y="2286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Instr[31-26]</a:t>
            </a:r>
          </a:p>
        </p:txBody>
      </p:sp>
      <p:sp>
        <p:nvSpPr>
          <p:cNvPr id="737421" name="AutoShape 141"/>
          <p:cNvSpPr>
            <a:spLocks noChangeArrowheads="1"/>
          </p:cNvSpPr>
          <p:nvPr/>
        </p:nvSpPr>
        <p:spPr bwMode="auto">
          <a:xfrm>
            <a:off x="6400800" y="1981200"/>
            <a:ext cx="304800" cy="304800"/>
          </a:xfrm>
          <a:prstGeom prst="flowChartDelay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422" name="Line 142"/>
          <p:cNvSpPr>
            <a:spLocks noChangeShapeType="1"/>
          </p:cNvSpPr>
          <p:nvPr/>
        </p:nvSpPr>
        <p:spPr bwMode="auto">
          <a:xfrm>
            <a:off x="6705600" y="21336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23" name="Line 143"/>
          <p:cNvSpPr>
            <a:spLocks noChangeShapeType="1"/>
          </p:cNvSpPr>
          <p:nvPr/>
        </p:nvSpPr>
        <p:spPr bwMode="auto">
          <a:xfrm>
            <a:off x="6248400" y="22098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24" name="Line 144"/>
          <p:cNvSpPr>
            <a:spLocks noChangeShapeType="1"/>
          </p:cNvSpPr>
          <p:nvPr/>
        </p:nvSpPr>
        <p:spPr bwMode="auto">
          <a:xfrm>
            <a:off x="3733800" y="2209800"/>
            <a:ext cx="2438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25" name="Rectangle 145"/>
          <p:cNvSpPr>
            <a:spLocks noChangeArrowheads="1"/>
          </p:cNvSpPr>
          <p:nvPr/>
        </p:nvSpPr>
        <p:spPr bwMode="auto">
          <a:xfrm>
            <a:off x="3810000" y="1981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Branch</a:t>
            </a:r>
          </a:p>
        </p:txBody>
      </p:sp>
      <p:sp>
        <p:nvSpPr>
          <p:cNvPr id="737426" name="Line 146"/>
          <p:cNvSpPr>
            <a:spLocks noChangeShapeType="1"/>
          </p:cNvSpPr>
          <p:nvPr/>
        </p:nvSpPr>
        <p:spPr bwMode="auto">
          <a:xfrm>
            <a:off x="3733800" y="2362200"/>
            <a:ext cx="518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27" name="Line 147"/>
          <p:cNvSpPr>
            <a:spLocks noChangeShapeType="1"/>
          </p:cNvSpPr>
          <p:nvPr/>
        </p:nvSpPr>
        <p:spPr bwMode="auto">
          <a:xfrm>
            <a:off x="7543800" y="5334000"/>
            <a:ext cx="137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28" name="Line 148"/>
          <p:cNvSpPr>
            <a:spLocks noChangeShapeType="1"/>
          </p:cNvSpPr>
          <p:nvPr/>
        </p:nvSpPr>
        <p:spPr bwMode="auto">
          <a:xfrm>
            <a:off x="8915400" y="2362200"/>
            <a:ext cx="0" cy="2971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29" name="Line 149"/>
          <p:cNvSpPr>
            <a:spLocks noChangeShapeType="1"/>
          </p:cNvSpPr>
          <p:nvPr/>
        </p:nvSpPr>
        <p:spPr bwMode="auto">
          <a:xfrm>
            <a:off x="3733800" y="2514600"/>
            <a:ext cx="4953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30" name="Line 150"/>
          <p:cNvSpPr>
            <a:spLocks noChangeShapeType="1"/>
          </p:cNvSpPr>
          <p:nvPr/>
        </p:nvSpPr>
        <p:spPr bwMode="auto">
          <a:xfrm>
            <a:off x="3733800" y="2667000"/>
            <a:ext cx="3810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31" name="Line 151"/>
          <p:cNvSpPr>
            <a:spLocks noChangeShapeType="1"/>
          </p:cNvSpPr>
          <p:nvPr/>
        </p:nvSpPr>
        <p:spPr bwMode="auto">
          <a:xfrm>
            <a:off x="3581400" y="2971800"/>
            <a:ext cx="609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32" name="Line 152"/>
          <p:cNvSpPr>
            <a:spLocks noChangeShapeType="1"/>
          </p:cNvSpPr>
          <p:nvPr/>
        </p:nvSpPr>
        <p:spPr bwMode="auto">
          <a:xfrm>
            <a:off x="3657600" y="2819400"/>
            <a:ext cx="18288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33" name="Line 153"/>
          <p:cNvSpPr>
            <a:spLocks noChangeShapeType="1"/>
          </p:cNvSpPr>
          <p:nvPr/>
        </p:nvSpPr>
        <p:spPr bwMode="auto">
          <a:xfrm>
            <a:off x="5486400" y="2819400"/>
            <a:ext cx="0" cy="1676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34" name="Line 154"/>
          <p:cNvSpPr>
            <a:spLocks noChangeShapeType="1"/>
          </p:cNvSpPr>
          <p:nvPr/>
        </p:nvSpPr>
        <p:spPr bwMode="auto">
          <a:xfrm>
            <a:off x="2590800" y="6324600"/>
            <a:ext cx="3505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35" name="Line 155"/>
          <p:cNvSpPr>
            <a:spLocks noChangeShapeType="1"/>
          </p:cNvSpPr>
          <p:nvPr/>
        </p:nvSpPr>
        <p:spPr bwMode="auto">
          <a:xfrm>
            <a:off x="2590800" y="2133600"/>
            <a:ext cx="0" cy="419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36" name="Line 156"/>
          <p:cNvSpPr>
            <a:spLocks noChangeShapeType="1"/>
          </p:cNvSpPr>
          <p:nvPr/>
        </p:nvSpPr>
        <p:spPr bwMode="auto">
          <a:xfrm>
            <a:off x="2590800" y="213360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37" name="Line 157"/>
          <p:cNvSpPr>
            <a:spLocks noChangeShapeType="1"/>
          </p:cNvSpPr>
          <p:nvPr/>
        </p:nvSpPr>
        <p:spPr bwMode="auto">
          <a:xfrm>
            <a:off x="3657600" y="5562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38" name="Line 158"/>
          <p:cNvSpPr>
            <a:spLocks noChangeShapeType="1"/>
          </p:cNvSpPr>
          <p:nvPr/>
        </p:nvSpPr>
        <p:spPr bwMode="auto">
          <a:xfrm>
            <a:off x="5562600" y="5486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39" name="Line 159"/>
          <p:cNvSpPr>
            <a:spLocks noChangeShapeType="1"/>
          </p:cNvSpPr>
          <p:nvPr/>
        </p:nvSpPr>
        <p:spPr bwMode="auto">
          <a:xfrm>
            <a:off x="6172200" y="2057400"/>
            <a:ext cx="228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40" name="Line 160"/>
          <p:cNvSpPr>
            <a:spLocks noChangeShapeType="1"/>
          </p:cNvSpPr>
          <p:nvPr/>
        </p:nvSpPr>
        <p:spPr bwMode="auto">
          <a:xfrm flipV="1">
            <a:off x="6172200" y="2057400"/>
            <a:ext cx="0" cy="152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41" name="Line 161"/>
          <p:cNvSpPr>
            <a:spLocks noChangeShapeType="1"/>
          </p:cNvSpPr>
          <p:nvPr/>
        </p:nvSpPr>
        <p:spPr bwMode="auto">
          <a:xfrm>
            <a:off x="2133600" y="1447800"/>
            <a:ext cx="304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42" name="Line 162"/>
          <p:cNvSpPr>
            <a:spLocks noChangeShapeType="1"/>
          </p:cNvSpPr>
          <p:nvPr/>
        </p:nvSpPr>
        <p:spPr bwMode="auto">
          <a:xfrm>
            <a:off x="4953000" y="4572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43" name="Line 163"/>
          <p:cNvSpPr>
            <a:spLocks noChangeShapeType="1"/>
          </p:cNvSpPr>
          <p:nvPr/>
        </p:nvSpPr>
        <p:spPr bwMode="auto">
          <a:xfrm>
            <a:off x="6477000" y="38862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44" name="Line 164"/>
          <p:cNvSpPr>
            <a:spLocks noChangeShapeType="1"/>
          </p:cNvSpPr>
          <p:nvPr/>
        </p:nvSpPr>
        <p:spPr bwMode="auto">
          <a:xfrm>
            <a:off x="6477000" y="43434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45" name="Line 165"/>
          <p:cNvSpPr>
            <a:spLocks noChangeShapeType="1"/>
          </p:cNvSpPr>
          <p:nvPr/>
        </p:nvSpPr>
        <p:spPr bwMode="auto">
          <a:xfrm>
            <a:off x="5181600" y="1905000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446" name="Line 166"/>
          <p:cNvSpPr>
            <a:spLocks noChangeShapeType="1"/>
          </p:cNvSpPr>
          <p:nvPr/>
        </p:nvSpPr>
        <p:spPr bwMode="auto">
          <a:xfrm>
            <a:off x="2667000" y="46482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531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Branch Instruction Data/Control Flow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52600" y="914400"/>
            <a:ext cx="381000" cy="990600"/>
            <a:chOff x="1392" y="2880"/>
            <a:chExt cx="288" cy="480"/>
          </a:xfrm>
        </p:grpSpPr>
        <p:sp>
          <p:nvSpPr>
            <p:cNvPr id="739332" name="Line 4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333" name="Line 5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334" name="Line 6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335" name="Line 7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336" name="Line 8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337" name="Line 9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338" name="Line 10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9339" name="Rectangle 11"/>
          <p:cNvSpPr>
            <a:spLocks noChangeArrowheads="1"/>
          </p:cNvSpPr>
          <p:nvPr/>
        </p:nvSpPr>
        <p:spPr bwMode="auto">
          <a:xfrm>
            <a:off x="1052513" y="3581400"/>
            <a:ext cx="1447800" cy="14478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340" name="Rectangle 12"/>
          <p:cNvSpPr>
            <a:spLocks noChangeArrowheads="1"/>
          </p:cNvSpPr>
          <p:nvPr/>
        </p:nvSpPr>
        <p:spPr bwMode="auto">
          <a:xfrm>
            <a:off x="519113" y="3962400"/>
            <a:ext cx="228600" cy="8382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341" name="Line 13"/>
          <p:cNvSpPr>
            <a:spLocks noChangeShapeType="1"/>
          </p:cNvSpPr>
          <p:nvPr/>
        </p:nvSpPr>
        <p:spPr bwMode="auto">
          <a:xfrm>
            <a:off x="747713" y="4343400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42" name="Line 14"/>
          <p:cNvSpPr>
            <a:spLocks noChangeShapeType="1"/>
          </p:cNvSpPr>
          <p:nvPr/>
        </p:nvSpPr>
        <p:spPr bwMode="auto">
          <a:xfrm>
            <a:off x="838200" y="1066800"/>
            <a:ext cx="914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43" name="Line 15"/>
          <p:cNvSpPr>
            <a:spLocks noChangeShapeType="1"/>
          </p:cNvSpPr>
          <p:nvPr/>
        </p:nvSpPr>
        <p:spPr bwMode="auto">
          <a:xfrm>
            <a:off x="1371600" y="1752600"/>
            <a:ext cx="38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44" name="Text Box 16"/>
          <p:cNvSpPr txBox="1">
            <a:spLocks noChangeArrowheads="1"/>
          </p:cNvSpPr>
          <p:nvPr/>
        </p:nvSpPr>
        <p:spPr bwMode="auto">
          <a:xfrm>
            <a:off x="976313" y="4114800"/>
            <a:ext cx="74136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39345" name="Text Box 17"/>
          <p:cNvSpPr txBox="1">
            <a:spLocks noChangeArrowheads="1"/>
          </p:cNvSpPr>
          <p:nvPr/>
        </p:nvSpPr>
        <p:spPr bwMode="auto">
          <a:xfrm>
            <a:off x="1738313" y="4191000"/>
            <a:ext cx="8699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Instr[31-0]</a:t>
            </a:r>
          </a:p>
        </p:txBody>
      </p:sp>
      <p:sp>
        <p:nvSpPr>
          <p:cNvPr id="739346" name="Text Box 18"/>
          <p:cNvSpPr txBox="1">
            <a:spLocks noChangeArrowheads="1"/>
          </p:cNvSpPr>
          <p:nvPr/>
        </p:nvSpPr>
        <p:spPr bwMode="auto">
          <a:xfrm>
            <a:off x="1281113" y="3657600"/>
            <a:ext cx="9731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Instruction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39347" name="Text Box 19"/>
          <p:cNvSpPr txBox="1">
            <a:spLocks noChangeArrowheads="1"/>
          </p:cNvSpPr>
          <p:nvPr/>
        </p:nvSpPr>
        <p:spPr bwMode="auto">
          <a:xfrm>
            <a:off x="1752600" y="12954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39348" name="Text Box 20"/>
          <p:cNvSpPr txBox="1">
            <a:spLocks noChangeArrowheads="1"/>
          </p:cNvSpPr>
          <p:nvPr/>
        </p:nvSpPr>
        <p:spPr bwMode="auto">
          <a:xfrm>
            <a:off x="442913" y="4191000"/>
            <a:ext cx="395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PC</a:t>
            </a:r>
          </a:p>
        </p:txBody>
      </p:sp>
      <p:sp>
        <p:nvSpPr>
          <p:cNvPr id="739349" name="Line 21"/>
          <p:cNvSpPr>
            <a:spLocks noChangeShapeType="1"/>
          </p:cNvSpPr>
          <p:nvPr/>
        </p:nvSpPr>
        <p:spPr bwMode="auto">
          <a:xfrm>
            <a:off x="228600" y="838200"/>
            <a:ext cx="6858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50" name="Line 22"/>
          <p:cNvSpPr>
            <a:spLocks noChangeShapeType="1"/>
          </p:cNvSpPr>
          <p:nvPr/>
        </p:nvSpPr>
        <p:spPr bwMode="auto">
          <a:xfrm>
            <a:off x="214313" y="4343400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51" name="Text Box 23"/>
          <p:cNvSpPr txBox="1">
            <a:spLocks noChangeArrowheads="1"/>
          </p:cNvSpPr>
          <p:nvPr/>
        </p:nvSpPr>
        <p:spPr bwMode="auto">
          <a:xfrm>
            <a:off x="1143000" y="16002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39352" name="Rectangle 24"/>
          <p:cNvSpPr>
            <a:spLocks noChangeArrowheads="1"/>
          </p:cNvSpPr>
          <p:nvPr/>
        </p:nvSpPr>
        <p:spPr bwMode="auto">
          <a:xfrm>
            <a:off x="3505200" y="3581400"/>
            <a:ext cx="1447800" cy="14478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353" name="Line 25"/>
          <p:cNvSpPr>
            <a:spLocks noChangeShapeType="1"/>
          </p:cNvSpPr>
          <p:nvPr/>
        </p:nvSpPr>
        <p:spPr bwMode="auto">
          <a:xfrm>
            <a:off x="2500313" y="43434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54" name="Line 26"/>
          <p:cNvSpPr>
            <a:spLocks noChangeShapeType="1"/>
          </p:cNvSpPr>
          <p:nvPr/>
        </p:nvSpPr>
        <p:spPr bwMode="auto">
          <a:xfrm>
            <a:off x="2652713" y="4114800"/>
            <a:ext cx="8524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55" name="Line 27"/>
          <p:cNvSpPr>
            <a:spLocks noChangeShapeType="1"/>
          </p:cNvSpPr>
          <p:nvPr/>
        </p:nvSpPr>
        <p:spPr bwMode="auto">
          <a:xfrm>
            <a:off x="2652713" y="4648200"/>
            <a:ext cx="471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56" name="Line 28"/>
          <p:cNvSpPr>
            <a:spLocks noChangeShapeType="1"/>
          </p:cNvSpPr>
          <p:nvPr/>
        </p:nvSpPr>
        <p:spPr bwMode="auto">
          <a:xfrm>
            <a:off x="83820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57" name="Line 29"/>
          <p:cNvSpPr>
            <a:spLocks noChangeShapeType="1"/>
          </p:cNvSpPr>
          <p:nvPr/>
        </p:nvSpPr>
        <p:spPr bwMode="auto">
          <a:xfrm>
            <a:off x="2652713" y="3733800"/>
            <a:ext cx="8524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58" name="Line 30"/>
          <p:cNvSpPr>
            <a:spLocks noChangeShapeType="1"/>
          </p:cNvSpPr>
          <p:nvPr/>
        </p:nvSpPr>
        <p:spPr bwMode="auto">
          <a:xfrm>
            <a:off x="4953000" y="3962400"/>
            <a:ext cx="863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59" name="Line 31"/>
          <p:cNvSpPr>
            <a:spLocks noChangeShapeType="1"/>
          </p:cNvSpPr>
          <p:nvPr/>
        </p:nvSpPr>
        <p:spPr bwMode="auto">
          <a:xfrm>
            <a:off x="5105400" y="4572000"/>
            <a:ext cx="279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60" name="Line 32"/>
          <p:cNvSpPr>
            <a:spLocks noChangeShapeType="1"/>
          </p:cNvSpPr>
          <p:nvPr/>
        </p:nvSpPr>
        <p:spPr bwMode="auto">
          <a:xfrm>
            <a:off x="6477000" y="5715000"/>
            <a:ext cx="193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61" name="Line 33"/>
          <p:cNvSpPr>
            <a:spLocks noChangeShapeType="1"/>
          </p:cNvSpPr>
          <p:nvPr/>
        </p:nvSpPr>
        <p:spPr bwMode="auto">
          <a:xfrm>
            <a:off x="6324600" y="43434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62" name="Text Box 34"/>
          <p:cNvSpPr txBox="1">
            <a:spLocks noChangeArrowheads="1"/>
          </p:cNvSpPr>
          <p:nvPr/>
        </p:nvSpPr>
        <p:spPr bwMode="auto">
          <a:xfrm>
            <a:off x="3429000" y="4724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39363" name="Text Box 35"/>
          <p:cNvSpPr txBox="1">
            <a:spLocks noChangeArrowheads="1"/>
          </p:cNvSpPr>
          <p:nvPr/>
        </p:nvSpPr>
        <p:spPr bwMode="auto">
          <a:xfrm>
            <a:off x="3429000" y="3581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1</a:t>
            </a:r>
          </a:p>
        </p:txBody>
      </p:sp>
      <p:sp>
        <p:nvSpPr>
          <p:cNvPr id="739364" name="Text Box 36"/>
          <p:cNvSpPr txBox="1">
            <a:spLocks noChangeArrowheads="1"/>
          </p:cNvSpPr>
          <p:nvPr/>
        </p:nvSpPr>
        <p:spPr bwMode="auto">
          <a:xfrm>
            <a:off x="3429000" y="3962400"/>
            <a:ext cx="1036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Addr 2</a:t>
            </a:r>
          </a:p>
        </p:txBody>
      </p:sp>
      <p:sp>
        <p:nvSpPr>
          <p:cNvPr id="739365" name="Text Box 37"/>
          <p:cNvSpPr txBox="1">
            <a:spLocks noChangeArrowheads="1"/>
          </p:cNvSpPr>
          <p:nvPr/>
        </p:nvSpPr>
        <p:spPr bwMode="auto">
          <a:xfrm>
            <a:off x="3429000" y="43434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Addr</a:t>
            </a:r>
          </a:p>
        </p:txBody>
      </p:sp>
      <p:sp>
        <p:nvSpPr>
          <p:cNvPr id="739366" name="Text Box 38"/>
          <p:cNvSpPr txBox="1">
            <a:spLocks noChangeArrowheads="1"/>
          </p:cNvSpPr>
          <p:nvPr/>
        </p:nvSpPr>
        <p:spPr bwMode="auto">
          <a:xfrm>
            <a:off x="3752850" y="3810000"/>
            <a:ext cx="792163" cy="639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Register</a:t>
            </a:r>
          </a:p>
          <a:p>
            <a:pPr algn="ctr"/>
            <a:endParaRPr lang="en-US" altLang="zh-CN" sz="1200" b="1">
              <a:solidFill>
                <a:schemeClr val="tx1"/>
              </a:solidFill>
              <a:ea typeface="宋体" pitchFamily="2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File</a:t>
            </a:r>
          </a:p>
        </p:txBody>
      </p:sp>
      <p:sp>
        <p:nvSpPr>
          <p:cNvPr id="739367" name="Text Box 39"/>
          <p:cNvSpPr txBox="1">
            <a:spLocks noChangeArrowheads="1"/>
          </p:cNvSpPr>
          <p:nvPr/>
        </p:nvSpPr>
        <p:spPr bwMode="auto">
          <a:xfrm>
            <a:off x="4343400" y="37338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1</a:t>
            </a:r>
          </a:p>
        </p:txBody>
      </p:sp>
      <p:sp>
        <p:nvSpPr>
          <p:cNvPr id="739368" name="Text Box 40"/>
          <p:cNvSpPr txBox="1">
            <a:spLocks noChangeArrowheads="1"/>
          </p:cNvSpPr>
          <p:nvPr/>
        </p:nvSpPr>
        <p:spPr bwMode="auto">
          <a:xfrm>
            <a:off x="4368800" y="4419600"/>
            <a:ext cx="674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</a:t>
            </a:r>
          </a:p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 Data 2</a:t>
            </a:r>
          </a:p>
        </p:txBody>
      </p:sp>
      <p:sp>
        <p:nvSpPr>
          <p:cNvPr id="739369" name="Freeform 41"/>
          <p:cNvSpPr>
            <a:spLocks/>
          </p:cNvSpPr>
          <p:nvPr/>
        </p:nvSpPr>
        <p:spPr bwMode="auto">
          <a:xfrm>
            <a:off x="5791200" y="3657600"/>
            <a:ext cx="5334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27"/>
              </a:cxn>
              <a:cxn ang="0">
                <a:pos x="111" y="553"/>
              </a:cxn>
              <a:cxn ang="0">
                <a:pos x="0" y="671"/>
              </a:cxn>
              <a:cxn ang="0">
                <a:pos x="0" y="1098"/>
              </a:cxn>
              <a:cxn ang="0">
                <a:pos x="387" y="790"/>
              </a:cxn>
              <a:cxn ang="0">
                <a:pos x="387" y="308"/>
              </a:cxn>
              <a:cxn ang="0">
                <a:pos x="0" y="0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70" name="Rectangle 42"/>
          <p:cNvSpPr>
            <a:spLocks noChangeArrowheads="1"/>
          </p:cNvSpPr>
          <p:nvPr/>
        </p:nvSpPr>
        <p:spPr bwMode="auto">
          <a:xfrm>
            <a:off x="5892800" y="4267200"/>
            <a:ext cx="50482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ALU</a:t>
            </a:r>
          </a:p>
        </p:txBody>
      </p:sp>
      <p:sp>
        <p:nvSpPr>
          <p:cNvPr id="739371" name="Rectangle 43"/>
          <p:cNvSpPr>
            <a:spLocks noChangeArrowheads="1"/>
          </p:cNvSpPr>
          <p:nvPr/>
        </p:nvSpPr>
        <p:spPr bwMode="auto">
          <a:xfrm>
            <a:off x="5791200" y="3276600"/>
            <a:ext cx="7620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ovf</a:t>
            </a:r>
          </a:p>
        </p:txBody>
      </p:sp>
      <p:sp>
        <p:nvSpPr>
          <p:cNvPr id="739372" name="Rectangle 44"/>
          <p:cNvSpPr>
            <a:spLocks noChangeArrowheads="1"/>
          </p:cNvSpPr>
          <p:nvPr/>
        </p:nvSpPr>
        <p:spPr bwMode="auto">
          <a:xfrm>
            <a:off x="5943600" y="3886200"/>
            <a:ext cx="5334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solidFill>
                  <a:srgbClr val="000000"/>
                </a:solidFill>
                <a:ea typeface="宋体" pitchFamily="2" charset="-122"/>
              </a:rPr>
              <a:t>zero</a:t>
            </a:r>
          </a:p>
        </p:txBody>
      </p:sp>
      <p:sp>
        <p:nvSpPr>
          <p:cNvPr id="739373" name="Line 45"/>
          <p:cNvSpPr>
            <a:spLocks noChangeShapeType="1"/>
          </p:cNvSpPr>
          <p:nvPr/>
        </p:nvSpPr>
        <p:spPr bwMode="auto">
          <a:xfrm>
            <a:off x="6096000" y="4724400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74" name="Line 46"/>
          <p:cNvSpPr>
            <a:spLocks noChangeShapeType="1"/>
          </p:cNvSpPr>
          <p:nvPr/>
        </p:nvSpPr>
        <p:spPr bwMode="auto">
          <a:xfrm>
            <a:off x="4191000" y="2971800"/>
            <a:ext cx="0" cy="609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75" name="Rectangle 47"/>
          <p:cNvSpPr>
            <a:spLocks noChangeArrowheads="1"/>
          </p:cNvSpPr>
          <p:nvPr/>
        </p:nvSpPr>
        <p:spPr bwMode="auto">
          <a:xfrm>
            <a:off x="4191000" y="29718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RegWrite</a:t>
            </a:r>
          </a:p>
        </p:txBody>
      </p:sp>
      <p:sp>
        <p:nvSpPr>
          <p:cNvPr id="739376" name="Line 48"/>
          <p:cNvSpPr>
            <a:spLocks noChangeShapeType="1"/>
          </p:cNvSpPr>
          <p:nvPr/>
        </p:nvSpPr>
        <p:spPr bwMode="auto">
          <a:xfrm flipV="1">
            <a:off x="5943600" y="35052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77" name="Line 49"/>
          <p:cNvSpPr>
            <a:spLocks noChangeShapeType="1"/>
          </p:cNvSpPr>
          <p:nvPr/>
        </p:nvSpPr>
        <p:spPr bwMode="auto">
          <a:xfrm flipV="1">
            <a:off x="6248400" y="22098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78" name="Line 50"/>
          <p:cNvSpPr>
            <a:spLocks noChangeShapeType="1"/>
          </p:cNvSpPr>
          <p:nvPr/>
        </p:nvSpPr>
        <p:spPr bwMode="auto">
          <a:xfrm>
            <a:off x="8991600" y="4495800"/>
            <a:ext cx="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79" name="Rectangle 51"/>
          <p:cNvSpPr>
            <a:spLocks noChangeArrowheads="1"/>
          </p:cNvSpPr>
          <p:nvPr/>
        </p:nvSpPr>
        <p:spPr bwMode="auto">
          <a:xfrm>
            <a:off x="6858000" y="3581400"/>
            <a:ext cx="1447800" cy="1447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380" name="Line 52"/>
          <p:cNvSpPr>
            <a:spLocks noChangeShapeType="1"/>
          </p:cNvSpPr>
          <p:nvPr/>
        </p:nvSpPr>
        <p:spPr bwMode="auto">
          <a:xfrm>
            <a:off x="8305800" y="4343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81" name="Line 53"/>
          <p:cNvSpPr>
            <a:spLocks noChangeShapeType="1"/>
          </p:cNvSpPr>
          <p:nvPr/>
        </p:nvSpPr>
        <p:spPr bwMode="auto">
          <a:xfrm>
            <a:off x="6477000" y="3886200"/>
            <a:ext cx="40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82" name="Line 54"/>
          <p:cNvSpPr>
            <a:spLocks noChangeShapeType="1"/>
          </p:cNvSpPr>
          <p:nvPr/>
        </p:nvSpPr>
        <p:spPr bwMode="auto">
          <a:xfrm>
            <a:off x="6629400" y="4724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83" name="Text Box 55"/>
          <p:cNvSpPr txBox="1">
            <a:spLocks noChangeArrowheads="1"/>
          </p:cNvSpPr>
          <p:nvPr/>
        </p:nvSpPr>
        <p:spPr bwMode="auto">
          <a:xfrm>
            <a:off x="6781800" y="4038600"/>
            <a:ext cx="766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Data</a:t>
            </a:r>
          </a:p>
          <a:p>
            <a:pPr algn="ctr"/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739384" name="Text Box 56"/>
          <p:cNvSpPr txBox="1">
            <a:spLocks noChangeArrowheads="1"/>
          </p:cNvSpPr>
          <p:nvPr/>
        </p:nvSpPr>
        <p:spPr bwMode="auto">
          <a:xfrm>
            <a:off x="6781800" y="3733800"/>
            <a:ext cx="7413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Address</a:t>
            </a:r>
          </a:p>
        </p:txBody>
      </p:sp>
      <p:sp>
        <p:nvSpPr>
          <p:cNvPr id="739385" name="Text Box 57"/>
          <p:cNvSpPr txBox="1">
            <a:spLocks noChangeArrowheads="1"/>
          </p:cNvSpPr>
          <p:nvPr/>
        </p:nvSpPr>
        <p:spPr bwMode="auto">
          <a:xfrm>
            <a:off x="6781800" y="4572000"/>
            <a:ext cx="903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739386" name="Text Box 58"/>
          <p:cNvSpPr txBox="1">
            <a:spLocks noChangeArrowheads="1"/>
          </p:cNvSpPr>
          <p:nvPr/>
        </p:nvSpPr>
        <p:spPr bwMode="auto">
          <a:xfrm>
            <a:off x="7467600" y="4191000"/>
            <a:ext cx="90963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739387" name="Line 59"/>
          <p:cNvSpPr>
            <a:spLocks noChangeShapeType="1"/>
          </p:cNvSpPr>
          <p:nvPr/>
        </p:nvSpPr>
        <p:spPr bwMode="auto">
          <a:xfrm>
            <a:off x="7543800" y="2667000"/>
            <a:ext cx="0" cy="914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88" name="Rectangle 60"/>
          <p:cNvSpPr>
            <a:spLocks noChangeArrowheads="1"/>
          </p:cNvSpPr>
          <p:nvPr/>
        </p:nvSpPr>
        <p:spPr bwMode="auto">
          <a:xfrm>
            <a:off x="6553200" y="24384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MemWrite</a:t>
            </a:r>
          </a:p>
        </p:txBody>
      </p:sp>
      <p:sp>
        <p:nvSpPr>
          <p:cNvPr id="739389" name="Rectangle 61"/>
          <p:cNvSpPr>
            <a:spLocks noChangeArrowheads="1"/>
          </p:cNvSpPr>
          <p:nvPr/>
        </p:nvSpPr>
        <p:spPr bwMode="auto">
          <a:xfrm>
            <a:off x="7848600" y="21336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MemRead</a:t>
            </a:r>
          </a:p>
        </p:txBody>
      </p:sp>
      <p:sp>
        <p:nvSpPr>
          <p:cNvPr id="739390" name="Line 62"/>
          <p:cNvSpPr>
            <a:spLocks noChangeShapeType="1"/>
          </p:cNvSpPr>
          <p:nvPr/>
        </p:nvSpPr>
        <p:spPr bwMode="auto">
          <a:xfrm>
            <a:off x="7543800" y="5029200"/>
            <a:ext cx="0" cy="304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91" name="Line 63"/>
          <p:cNvSpPr>
            <a:spLocks noChangeShapeType="1"/>
          </p:cNvSpPr>
          <p:nvPr/>
        </p:nvSpPr>
        <p:spPr bwMode="auto">
          <a:xfrm>
            <a:off x="3276600" y="6477000"/>
            <a:ext cx="571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92" name="Line 64"/>
          <p:cNvSpPr>
            <a:spLocks noChangeShapeType="1"/>
          </p:cNvSpPr>
          <p:nvPr/>
        </p:nvSpPr>
        <p:spPr bwMode="auto">
          <a:xfrm>
            <a:off x="5054600" y="51816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93" name="Line 65"/>
          <p:cNvSpPr>
            <a:spLocks noChangeShapeType="1"/>
          </p:cNvSpPr>
          <p:nvPr/>
        </p:nvSpPr>
        <p:spPr bwMode="auto">
          <a:xfrm>
            <a:off x="4811713" y="5562600"/>
            <a:ext cx="38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94" name="Oval 66"/>
          <p:cNvSpPr>
            <a:spLocks noChangeArrowheads="1"/>
          </p:cNvSpPr>
          <p:nvPr/>
        </p:nvSpPr>
        <p:spPr bwMode="auto">
          <a:xfrm>
            <a:off x="4202113" y="5181600"/>
            <a:ext cx="609600" cy="838200"/>
          </a:xfrm>
          <a:prstGeom prst="ellips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395" name="Rectangle 67"/>
          <p:cNvSpPr>
            <a:spLocks noChangeArrowheads="1"/>
          </p:cNvSpPr>
          <p:nvPr/>
        </p:nvSpPr>
        <p:spPr bwMode="auto">
          <a:xfrm>
            <a:off x="4252913" y="5334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Sign</a:t>
            </a:r>
          </a:p>
          <a:p>
            <a:pPr algn="ctr"/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Extend</a:t>
            </a:r>
          </a:p>
        </p:txBody>
      </p:sp>
      <p:sp>
        <p:nvSpPr>
          <p:cNvPr id="739396" name="Line 68"/>
          <p:cNvSpPr>
            <a:spLocks noChangeShapeType="1"/>
          </p:cNvSpPr>
          <p:nvPr/>
        </p:nvSpPr>
        <p:spPr bwMode="auto">
          <a:xfrm>
            <a:off x="2638425" y="5562600"/>
            <a:ext cx="156368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97" name="Line 69"/>
          <p:cNvSpPr>
            <a:spLocks noChangeShapeType="1"/>
          </p:cNvSpPr>
          <p:nvPr/>
        </p:nvSpPr>
        <p:spPr bwMode="auto">
          <a:xfrm>
            <a:off x="3871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98" name="Line 70"/>
          <p:cNvSpPr>
            <a:spLocks noChangeShapeType="1"/>
          </p:cNvSpPr>
          <p:nvPr/>
        </p:nvSpPr>
        <p:spPr bwMode="auto">
          <a:xfrm>
            <a:off x="4887913" y="5486400"/>
            <a:ext cx="76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399" name="Text Box 71"/>
          <p:cNvSpPr txBox="1">
            <a:spLocks noChangeArrowheads="1"/>
          </p:cNvSpPr>
          <p:nvPr/>
        </p:nvSpPr>
        <p:spPr bwMode="auto">
          <a:xfrm>
            <a:off x="3871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16</a:t>
            </a:r>
          </a:p>
        </p:txBody>
      </p:sp>
      <p:sp>
        <p:nvSpPr>
          <p:cNvPr id="739400" name="Text Box 72"/>
          <p:cNvSpPr txBox="1">
            <a:spLocks noChangeArrowheads="1"/>
          </p:cNvSpPr>
          <p:nvPr/>
        </p:nvSpPr>
        <p:spPr bwMode="auto">
          <a:xfrm>
            <a:off x="4887913" y="5562600"/>
            <a:ext cx="3524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32</a:t>
            </a:r>
          </a:p>
        </p:txBody>
      </p:sp>
      <p:sp>
        <p:nvSpPr>
          <p:cNvPr id="739401" name="Line 73"/>
          <p:cNvSpPr>
            <a:spLocks noChangeShapeType="1"/>
          </p:cNvSpPr>
          <p:nvPr/>
        </p:nvSpPr>
        <p:spPr bwMode="auto">
          <a:xfrm>
            <a:off x="5054600" y="4572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02" name="Line 74"/>
          <p:cNvSpPr>
            <a:spLocks noChangeShapeType="1"/>
          </p:cNvSpPr>
          <p:nvPr/>
        </p:nvSpPr>
        <p:spPr bwMode="auto">
          <a:xfrm>
            <a:off x="8382000" y="4724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03" name="Line 75"/>
          <p:cNvSpPr>
            <a:spLocks noChangeShapeType="1"/>
          </p:cNvSpPr>
          <p:nvPr/>
        </p:nvSpPr>
        <p:spPr bwMode="auto">
          <a:xfrm>
            <a:off x="5181600" y="4953000"/>
            <a:ext cx="17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04" name="Line 76"/>
          <p:cNvSpPr>
            <a:spLocks noChangeShapeType="1"/>
          </p:cNvSpPr>
          <p:nvPr/>
        </p:nvSpPr>
        <p:spPr bwMode="auto">
          <a:xfrm>
            <a:off x="3276600" y="4876800"/>
            <a:ext cx="25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05" name="AutoShape 77"/>
          <p:cNvSpPr>
            <a:spLocks noChangeArrowheads="1"/>
          </p:cNvSpPr>
          <p:nvPr/>
        </p:nvSpPr>
        <p:spPr bwMode="auto">
          <a:xfrm rot="-5400000">
            <a:off x="8382000" y="4419600"/>
            <a:ext cx="6858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406" name="Line 78"/>
          <p:cNvSpPr>
            <a:spLocks noChangeShapeType="1"/>
          </p:cNvSpPr>
          <p:nvPr/>
        </p:nvSpPr>
        <p:spPr bwMode="auto">
          <a:xfrm>
            <a:off x="8839200" y="4495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07" name="AutoShape 79"/>
          <p:cNvSpPr>
            <a:spLocks noChangeArrowheads="1"/>
          </p:cNvSpPr>
          <p:nvPr/>
        </p:nvSpPr>
        <p:spPr bwMode="auto">
          <a:xfrm rot="-5400000">
            <a:off x="5092700" y="46101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408" name="Line 80"/>
          <p:cNvSpPr>
            <a:spLocks noChangeShapeType="1"/>
          </p:cNvSpPr>
          <p:nvPr/>
        </p:nvSpPr>
        <p:spPr bwMode="auto">
          <a:xfrm>
            <a:off x="5588000" y="4724400"/>
            <a:ext cx="228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09" name="Line 81"/>
          <p:cNvSpPr>
            <a:spLocks noChangeShapeType="1"/>
          </p:cNvSpPr>
          <p:nvPr/>
        </p:nvSpPr>
        <p:spPr bwMode="auto">
          <a:xfrm>
            <a:off x="3276600" y="48768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10" name="Line 82"/>
          <p:cNvSpPr>
            <a:spLocks noChangeShapeType="1"/>
          </p:cNvSpPr>
          <p:nvPr/>
        </p:nvSpPr>
        <p:spPr bwMode="auto">
          <a:xfrm>
            <a:off x="8686800" y="2514600"/>
            <a:ext cx="0" cy="17526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11" name="Rectangle 83"/>
          <p:cNvSpPr>
            <a:spLocks noChangeArrowheads="1"/>
          </p:cNvSpPr>
          <p:nvPr/>
        </p:nvSpPr>
        <p:spPr bwMode="auto">
          <a:xfrm>
            <a:off x="7162800" y="22860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>
                <a:ea typeface="宋体" pitchFamily="2" charset="-122"/>
              </a:rPr>
              <a:t>MemtoReg</a:t>
            </a:r>
          </a:p>
        </p:txBody>
      </p:sp>
      <p:sp>
        <p:nvSpPr>
          <p:cNvPr id="739412" name="Rectangle 84"/>
          <p:cNvSpPr>
            <a:spLocks noChangeArrowheads="1"/>
          </p:cNvSpPr>
          <p:nvPr/>
        </p:nvSpPr>
        <p:spPr bwMode="auto">
          <a:xfrm>
            <a:off x="4343400" y="25908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ALUSrc</a:t>
            </a:r>
          </a:p>
        </p:txBody>
      </p:sp>
      <p:sp>
        <p:nvSpPr>
          <p:cNvPr id="739413" name="Oval 85"/>
          <p:cNvSpPr>
            <a:spLocks noChangeArrowheads="1"/>
          </p:cNvSpPr>
          <p:nvPr/>
        </p:nvSpPr>
        <p:spPr bwMode="auto">
          <a:xfrm>
            <a:off x="5410200" y="1600200"/>
            <a:ext cx="457200" cy="533400"/>
          </a:xfrm>
          <a:prstGeom prst="ellips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414" name="Rectangle 86"/>
          <p:cNvSpPr>
            <a:spLocks noChangeArrowheads="1"/>
          </p:cNvSpPr>
          <p:nvPr/>
        </p:nvSpPr>
        <p:spPr bwMode="auto">
          <a:xfrm>
            <a:off x="5410200" y="1600200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Shift</a:t>
            </a:r>
          </a:p>
          <a:p>
            <a:pPr algn="ctr" defTabSz="904875">
              <a:lnSpc>
                <a:spcPts val="16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 b="1">
                <a:solidFill>
                  <a:srgbClr val="000000"/>
                </a:solidFill>
                <a:ea typeface="宋体" pitchFamily="2" charset="-122"/>
              </a:rPr>
              <a:t>left 2</a:t>
            </a:r>
          </a:p>
        </p:txBody>
      </p:sp>
      <p:sp>
        <p:nvSpPr>
          <p:cNvPr id="739415" name="Line 87"/>
          <p:cNvSpPr>
            <a:spLocks noChangeShapeType="1"/>
          </p:cNvSpPr>
          <p:nvPr/>
        </p:nvSpPr>
        <p:spPr bwMode="auto">
          <a:xfrm>
            <a:off x="5181600" y="1905000"/>
            <a:ext cx="228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16" name="Line 88"/>
          <p:cNvSpPr>
            <a:spLocks noChangeShapeType="1"/>
          </p:cNvSpPr>
          <p:nvPr/>
        </p:nvSpPr>
        <p:spPr bwMode="auto">
          <a:xfrm>
            <a:off x="5181600" y="1447800"/>
            <a:ext cx="92868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6096000" y="1143000"/>
            <a:ext cx="381000" cy="914400"/>
            <a:chOff x="1392" y="2880"/>
            <a:chExt cx="288" cy="480"/>
          </a:xfrm>
        </p:grpSpPr>
        <p:sp>
          <p:nvSpPr>
            <p:cNvPr id="739418" name="Line 90"/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419" name="Line 91"/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420" name="Line 92"/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421" name="Line 93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422" name="Line 94"/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423" name="Line 95"/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424" name="Line 96"/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9425" name="Text Box 97"/>
          <p:cNvSpPr txBox="1">
            <a:spLocks noChangeArrowheads="1"/>
          </p:cNvSpPr>
          <p:nvPr/>
        </p:nvSpPr>
        <p:spPr bwMode="auto">
          <a:xfrm>
            <a:off x="6096000" y="1447800"/>
            <a:ext cx="4810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ea typeface="宋体" pitchFamily="2" charset="-122"/>
              </a:rPr>
              <a:t>Add</a:t>
            </a:r>
          </a:p>
        </p:txBody>
      </p:sp>
      <p:sp>
        <p:nvSpPr>
          <p:cNvPr id="739426" name="Line 98"/>
          <p:cNvSpPr>
            <a:spLocks noChangeShapeType="1"/>
          </p:cNvSpPr>
          <p:nvPr/>
        </p:nvSpPr>
        <p:spPr bwMode="auto">
          <a:xfrm>
            <a:off x="5853113" y="1905000"/>
            <a:ext cx="228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27" name="Line 99"/>
          <p:cNvSpPr>
            <a:spLocks noChangeShapeType="1"/>
          </p:cNvSpPr>
          <p:nvPr/>
        </p:nvSpPr>
        <p:spPr bwMode="auto">
          <a:xfrm>
            <a:off x="6477000" y="1600200"/>
            <a:ext cx="228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28" name="Line 100"/>
          <p:cNvSpPr>
            <a:spLocks noChangeShapeType="1"/>
          </p:cNvSpPr>
          <p:nvPr/>
        </p:nvSpPr>
        <p:spPr bwMode="auto">
          <a:xfrm>
            <a:off x="838200" y="1066800"/>
            <a:ext cx="0" cy="3276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29" name="AutoShape 101"/>
          <p:cNvSpPr>
            <a:spLocks noChangeArrowheads="1"/>
          </p:cNvSpPr>
          <p:nvPr/>
        </p:nvSpPr>
        <p:spPr bwMode="auto">
          <a:xfrm rot="-5400000">
            <a:off x="6400800" y="1219200"/>
            <a:ext cx="8382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430" name="Line 102"/>
          <p:cNvSpPr>
            <a:spLocks noChangeShapeType="1"/>
          </p:cNvSpPr>
          <p:nvPr/>
        </p:nvSpPr>
        <p:spPr bwMode="auto">
          <a:xfrm>
            <a:off x="5181600" y="1066800"/>
            <a:ext cx="1524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31" name="Line 103"/>
          <p:cNvSpPr>
            <a:spLocks noChangeShapeType="1"/>
          </p:cNvSpPr>
          <p:nvPr/>
        </p:nvSpPr>
        <p:spPr bwMode="auto">
          <a:xfrm>
            <a:off x="5181600" y="1066800"/>
            <a:ext cx="0" cy="381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32" name="Line 104"/>
          <p:cNvSpPr>
            <a:spLocks noChangeShapeType="1"/>
          </p:cNvSpPr>
          <p:nvPr/>
        </p:nvSpPr>
        <p:spPr bwMode="auto">
          <a:xfrm>
            <a:off x="6934200" y="1371600"/>
            <a:ext cx="177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33" name="Line 105"/>
          <p:cNvSpPr>
            <a:spLocks noChangeShapeType="1"/>
          </p:cNvSpPr>
          <p:nvPr/>
        </p:nvSpPr>
        <p:spPr bwMode="auto">
          <a:xfrm>
            <a:off x="6858000" y="1600200"/>
            <a:ext cx="0" cy="533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34" name="Rectangle 106"/>
          <p:cNvSpPr>
            <a:spLocks noChangeArrowheads="1"/>
          </p:cNvSpPr>
          <p:nvPr/>
        </p:nvSpPr>
        <p:spPr bwMode="auto">
          <a:xfrm>
            <a:off x="6858000" y="17526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PCSrc</a:t>
            </a:r>
          </a:p>
        </p:txBody>
      </p:sp>
      <p:sp>
        <p:nvSpPr>
          <p:cNvPr id="739435" name="Line 107"/>
          <p:cNvSpPr>
            <a:spLocks noChangeShapeType="1"/>
          </p:cNvSpPr>
          <p:nvPr/>
        </p:nvSpPr>
        <p:spPr bwMode="auto">
          <a:xfrm>
            <a:off x="6629400" y="4724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36" name="AutoShape 108"/>
          <p:cNvSpPr>
            <a:spLocks noChangeArrowheads="1"/>
          </p:cNvSpPr>
          <p:nvPr/>
        </p:nvSpPr>
        <p:spPr bwMode="auto">
          <a:xfrm rot="-5400000">
            <a:off x="2933700" y="4381500"/>
            <a:ext cx="6096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437" name="Line 109"/>
          <p:cNvSpPr>
            <a:spLocks noChangeShapeType="1"/>
          </p:cNvSpPr>
          <p:nvPr/>
        </p:nvSpPr>
        <p:spPr bwMode="auto">
          <a:xfrm>
            <a:off x="3352800" y="44958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38" name="Line 110"/>
          <p:cNvSpPr>
            <a:spLocks noChangeShapeType="1"/>
          </p:cNvSpPr>
          <p:nvPr/>
        </p:nvSpPr>
        <p:spPr bwMode="auto">
          <a:xfrm>
            <a:off x="2957513" y="4114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39" name="Line 111"/>
          <p:cNvSpPr>
            <a:spLocks noChangeShapeType="1"/>
          </p:cNvSpPr>
          <p:nvPr/>
        </p:nvSpPr>
        <p:spPr bwMode="auto">
          <a:xfrm>
            <a:off x="2957513" y="4343400"/>
            <a:ext cx="1666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40" name="Line 112"/>
          <p:cNvSpPr>
            <a:spLocks noChangeShapeType="1"/>
          </p:cNvSpPr>
          <p:nvPr/>
        </p:nvSpPr>
        <p:spPr bwMode="auto">
          <a:xfrm>
            <a:off x="3200400" y="2971800"/>
            <a:ext cx="0" cy="1295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41" name="Rectangle 113"/>
          <p:cNvSpPr>
            <a:spLocks noChangeArrowheads="1"/>
          </p:cNvSpPr>
          <p:nvPr/>
        </p:nvSpPr>
        <p:spPr bwMode="auto">
          <a:xfrm>
            <a:off x="2667000" y="3124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RegDst</a:t>
            </a:r>
          </a:p>
        </p:txBody>
      </p:sp>
      <p:sp>
        <p:nvSpPr>
          <p:cNvPr id="739442" name="Oval 114"/>
          <p:cNvSpPr>
            <a:spLocks noChangeArrowheads="1"/>
          </p:cNvSpPr>
          <p:nvPr/>
        </p:nvSpPr>
        <p:spPr bwMode="auto">
          <a:xfrm>
            <a:off x="5791200" y="5257800"/>
            <a:ext cx="609600" cy="7620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443" name="Rectangle 115"/>
          <p:cNvSpPr>
            <a:spLocks noChangeArrowheads="1"/>
          </p:cNvSpPr>
          <p:nvPr/>
        </p:nvSpPr>
        <p:spPr bwMode="auto">
          <a:xfrm>
            <a:off x="5867400" y="54102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ALU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</p:txBody>
      </p:sp>
      <p:sp>
        <p:nvSpPr>
          <p:cNvPr id="739444" name="Line 116"/>
          <p:cNvSpPr>
            <a:spLocks noChangeShapeType="1"/>
          </p:cNvSpPr>
          <p:nvPr/>
        </p:nvSpPr>
        <p:spPr bwMode="auto">
          <a:xfrm>
            <a:off x="3657600" y="6172200"/>
            <a:ext cx="1905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45" name="Line 117"/>
          <p:cNvSpPr>
            <a:spLocks noChangeShapeType="1"/>
          </p:cNvSpPr>
          <p:nvPr/>
        </p:nvSpPr>
        <p:spPr bwMode="auto">
          <a:xfrm>
            <a:off x="5548313" y="54864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46" name="Rectangle 118"/>
          <p:cNvSpPr>
            <a:spLocks noChangeArrowheads="1"/>
          </p:cNvSpPr>
          <p:nvPr/>
        </p:nvSpPr>
        <p:spPr bwMode="auto">
          <a:xfrm>
            <a:off x="86106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9447" name="Rectangle 119"/>
          <p:cNvSpPr>
            <a:spLocks noChangeArrowheads="1"/>
          </p:cNvSpPr>
          <p:nvPr/>
        </p:nvSpPr>
        <p:spPr bwMode="auto">
          <a:xfrm>
            <a:off x="5410200" y="480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9448" name="Rectangle 120"/>
          <p:cNvSpPr>
            <a:spLocks noChangeArrowheads="1"/>
          </p:cNvSpPr>
          <p:nvPr/>
        </p:nvSpPr>
        <p:spPr bwMode="auto">
          <a:xfrm>
            <a:off x="3124200" y="4495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9449" name="Rectangle 121"/>
          <p:cNvSpPr>
            <a:spLocks noChangeArrowheads="1"/>
          </p:cNvSpPr>
          <p:nvPr/>
        </p:nvSpPr>
        <p:spPr bwMode="auto">
          <a:xfrm>
            <a:off x="3124200" y="4191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9450" name="Rectangle 122"/>
          <p:cNvSpPr>
            <a:spLocks noChangeArrowheads="1"/>
          </p:cNvSpPr>
          <p:nvPr/>
        </p:nvSpPr>
        <p:spPr bwMode="auto">
          <a:xfrm>
            <a:off x="5410200" y="4419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9451" name="Rectangle 123"/>
          <p:cNvSpPr>
            <a:spLocks noChangeArrowheads="1"/>
          </p:cNvSpPr>
          <p:nvPr/>
        </p:nvSpPr>
        <p:spPr bwMode="auto">
          <a:xfrm>
            <a:off x="8610600" y="45720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9452" name="Rectangle 124"/>
          <p:cNvSpPr>
            <a:spLocks noChangeArrowheads="1"/>
          </p:cNvSpPr>
          <p:nvPr/>
        </p:nvSpPr>
        <p:spPr bwMode="auto">
          <a:xfrm>
            <a:off x="6705600" y="9906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739453" name="Rectangle 125"/>
          <p:cNvSpPr>
            <a:spLocks noChangeArrowheads="1"/>
          </p:cNvSpPr>
          <p:nvPr/>
        </p:nvSpPr>
        <p:spPr bwMode="auto">
          <a:xfrm>
            <a:off x="6705600" y="1447800"/>
            <a:ext cx="1524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739454" name="Rectangle 126"/>
          <p:cNvSpPr>
            <a:spLocks noChangeArrowheads="1"/>
          </p:cNvSpPr>
          <p:nvPr/>
        </p:nvSpPr>
        <p:spPr bwMode="auto">
          <a:xfrm>
            <a:off x="2514600" y="19050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ALUOp</a:t>
            </a:r>
          </a:p>
        </p:txBody>
      </p:sp>
      <p:sp>
        <p:nvSpPr>
          <p:cNvPr id="739455" name="Line 127"/>
          <p:cNvSpPr>
            <a:spLocks noChangeShapeType="1"/>
          </p:cNvSpPr>
          <p:nvPr/>
        </p:nvSpPr>
        <p:spPr bwMode="auto">
          <a:xfrm>
            <a:off x="6096000" y="6019800"/>
            <a:ext cx="0" cy="3048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56" name="Rectangle 128"/>
          <p:cNvSpPr>
            <a:spLocks noChangeArrowheads="1"/>
          </p:cNvSpPr>
          <p:nvPr/>
        </p:nvSpPr>
        <p:spPr bwMode="auto">
          <a:xfrm>
            <a:off x="4724400" y="5867400"/>
            <a:ext cx="7620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Instr[5-0]</a:t>
            </a:r>
          </a:p>
        </p:txBody>
      </p:sp>
      <p:sp>
        <p:nvSpPr>
          <p:cNvPr id="739457" name="Rectangle 129"/>
          <p:cNvSpPr>
            <a:spLocks noChangeArrowheads="1"/>
          </p:cNvSpPr>
          <p:nvPr/>
        </p:nvSpPr>
        <p:spPr bwMode="auto">
          <a:xfrm>
            <a:off x="2667000" y="5334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Instr[15-0]</a:t>
            </a:r>
          </a:p>
        </p:txBody>
      </p:sp>
      <p:sp>
        <p:nvSpPr>
          <p:cNvPr id="739458" name="Rectangle 130"/>
          <p:cNvSpPr>
            <a:spLocks noChangeArrowheads="1"/>
          </p:cNvSpPr>
          <p:nvPr/>
        </p:nvSpPr>
        <p:spPr bwMode="auto">
          <a:xfrm>
            <a:off x="2667000" y="3505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Instr[25-21]</a:t>
            </a:r>
          </a:p>
        </p:txBody>
      </p:sp>
      <p:sp>
        <p:nvSpPr>
          <p:cNvPr id="739459" name="Rectangle 131"/>
          <p:cNvSpPr>
            <a:spLocks noChangeArrowheads="1"/>
          </p:cNvSpPr>
          <p:nvPr/>
        </p:nvSpPr>
        <p:spPr bwMode="auto">
          <a:xfrm>
            <a:off x="2667000" y="38862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Instr[20-16]</a:t>
            </a:r>
          </a:p>
        </p:txBody>
      </p:sp>
      <p:sp>
        <p:nvSpPr>
          <p:cNvPr id="739460" name="Text Box 132"/>
          <p:cNvSpPr txBox="1">
            <a:spLocks noChangeArrowheads="1"/>
          </p:cNvSpPr>
          <p:nvPr/>
        </p:nvSpPr>
        <p:spPr bwMode="auto">
          <a:xfrm>
            <a:off x="2576513" y="4648200"/>
            <a:ext cx="701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Instr[15  -11]</a:t>
            </a:r>
          </a:p>
        </p:txBody>
      </p:sp>
      <p:sp>
        <p:nvSpPr>
          <p:cNvPr id="739461" name="Line 133"/>
          <p:cNvSpPr>
            <a:spLocks noChangeShapeType="1"/>
          </p:cNvSpPr>
          <p:nvPr/>
        </p:nvSpPr>
        <p:spPr bwMode="auto">
          <a:xfrm>
            <a:off x="228600" y="838200"/>
            <a:ext cx="0" cy="3505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62" name="Line 134"/>
          <p:cNvSpPr>
            <a:spLocks noChangeShapeType="1"/>
          </p:cNvSpPr>
          <p:nvPr/>
        </p:nvSpPr>
        <p:spPr bwMode="auto">
          <a:xfrm>
            <a:off x="7086600" y="838200"/>
            <a:ext cx="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63" name="Line 135"/>
          <p:cNvSpPr>
            <a:spLocks noChangeShapeType="1"/>
          </p:cNvSpPr>
          <p:nvPr/>
        </p:nvSpPr>
        <p:spPr bwMode="auto">
          <a:xfrm>
            <a:off x="5181600" y="4953000"/>
            <a:ext cx="0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64" name="Oval 136"/>
          <p:cNvSpPr>
            <a:spLocks noChangeArrowheads="1"/>
          </p:cNvSpPr>
          <p:nvPr/>
        </p:nvSpPr>
        <p:spPr bwMode="auto">
          <a:xfrm>
            <a:off x="2971800" y="1828800"/>
            <a:ext cx="762000" cy="12192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465" name="Rectangle 137"/>
          <p:cNvSpPr>
            <a:spLocks noChangeArrowheads="1"/>
          </p:cNvSpPr>
          <p:nvPr/>
        </p:nvSpPr>
        <p:spPr bwMode="auto">
          <a:xfrm>
            <a:off x="3124200" y="2286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algn="ctr"/>
            <a:r>
              <a:rPr lang="en-US" altLang="zh-CN" sz="1200" b="1">
                <a:ea typeface="宋体" pitchFamily="2" charset="-122"/>
              </a:rPr>
              <a:t>Control</a:t>
            </a:r>
          </a:p>
          <a:p>
            <a:pPr algn="ctr"/>
            <a:r>
              <a:rPr lang="en-US" altLang="zh-CN" sz="1200" b="1">
                <a:ea typeface="宋体" pitchFamily="2" charset="-122"/>
              </a:rPr>
              <a:t>Unit</a:t>
            </a:r>
          </a:p>
        </p:txBody>
      </p:sp>
      <p:sp>
        <p:nvSpPr>
          <p:cNvPr id="739466" name="Line 138"/>
          <p:cNvSpPr>
            <a:spLocks noChangeShapeType="1"/>
          </p:cNvSpPr>
          <p:nvPr/>
        </p:nvSpPr>
        <p:spPr bwMode="auto">
          <a:xfrm>
            <a:off x="2667000" y="2514600"/>
            <a:ext cx="0" cy="2133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67" name="Line 139"/>
          <p:cNvSpPr>
            <a:spLocks noChangeShapeType="1"/>
          </p:cNvSpPr>
          <p:nvPr/>
        </p:nvSpPr>
        <p:spPr bwMode="auto">
          <a:xfrm>
            <a:off x="2667000" y="2514600"/>
            <a:ext cx="3048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68" name="Rectangle 140"/>
          <p:cNvSpPr>
            <a:spLocks noChangeArrowheads="1"/>
          </p:cNvSpPr>
          <p:nvPr/>
        </p:nvSpPr>
        <p:spPr bwMode="auto">
          <a:xfrm>
            <a:off x="2209800" y="2286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Instr[31-26]</a:t>
            </a:r>
          </a:p>
        </p:txBody>
      </p:sp>
      <p:sp>
        <p:nvSpPr>
          <p:cNvPr id="739469" name="AutoShape 141"/>
          <p:cNvSpPr>
            <a:spLocks noChangeArrowheads="1"/>
          </p:cNvSpPr>
          <p:nvPr/>
        </p:nvSpPr>
        <p:spPr bwMode="auto">
          <a:xfrm>
            <a:off x="6400800" y="1981200"/>
            <a:ext cx="304800" cy="304800"/>
          </a:xfrm>
          <a:prstGeom prst="flowChartDelay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470" name="Line 142"/>
          <p:cNvSpPr>
            <a:spLocks noChangeShapeType="1"/>
          </p:cNvSpPr>
          <p:nvPr/>
        </p:nvSpPr>
        <p:spPr bwMode="auto">
          <a:xfrm>
            <a:off x="6705600" y="21336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71" name="Line 143"/>
          <p:cNvSpPr>
            <a:spLocks noChangeShapeType="1"/>
          </p:cNvSpPr>
          <p:nvPr/>
        </p:nvSpPr>
        <p:spPr bwMode="auto">
          <a:xfrm>
            <a:off x="6248400" y="2209800"/>
            <a:ext cx="152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72" name="Line 144"/>
          <p:cNvSpPr>
            <a:spLocks noChangeShapeType="1"/>
          </p:cNvSpPr>
          <p:nvPr/>
        </p:nvSpPr>
        <p:spPr bwMode="auto">
          <a:xfrm>
            <a:off x="3733800" y="2209800"/>
            <a:ext cx="2438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73" name="Rectangle 145"/>
          <p:cNvSpPr>
            <a:spLocks noChangeArrowheads="1"/>
          </p:cNvSpPr>
          <p:nvPr/>
        </p:nvSpPr>
        <p:spPr bwMode="auto">
          <a:xfrm>
            <a:off x="3810000" y="1981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ea typeface="宋体" pitchFamily="2" charset="-122"/>
              </a:rPr>
              <a:t>Branch</a:t>
            </a:r>
          </a:p>
        </p:txBody>
      </p:sp>
      <p:sp>
        <p:nvSpPr>
          <p:cNvPr id="739474" name="Line 146"/>
          <p:cNvSpPr>
            <a:spLocks noChangeShapeType="1"/>
          </p:cNvSpPr>
          <p:nvPr/>
        </p:nvSpPr>
        <p:spPr bwMode="auto">
          <a:xfrm>
            <a:off x="3733800" y="2362200"/>
            <a:ext cx="518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75" name="Line 147"/>
          <p:cNvSpPr>
            <a:spLocks noChangeShapeType="1"/>
          </p:cNvSpPr>
          <p:nvPr/>
        </p:nvSpPr>
        <p:spPr bwMode="auto">
          <a:xfrm>
            <a:off x="7543800" y="5334000"/>
            <a:ext cx="1371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76" name="Line 148"/>
          <p:cNvSpPr>
            <a:spLocks noChangeShapeType="1"/>
          </p:cNvSpPr>
          <p:nvPr/>
        </p:nvSpPr>
        <p:spPr bwMode="auto">
          <a:xfrm>
            <a:off x="8915400" y="2362200"/>
            <a:ext cx="0" cy="2971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77" name="Line 149"/>
          <p:cNvSpPr>
            <a:spLocks noChangeShapeType="1"/>
          </p:cNvSpPr>
          <p:nvPr/>
        </p:nvSpPr>
        <p:spPr bwMode="auto">
          <a:xfrm>
            <a:off x="3733800" y="2514600"/>
            <a:ext cx="4953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78" name="Line 150"/>
          <p:cNvSpPr>
            <a:spLocks noChangeShapeType="1"/>
          </p:cNvSpPr>
          <p:nvPr/>
        </p:nvSpPr>
        <p:spPr bwMode="auto">
          <a:xfrm>
            <a:off x="3733800" y="2667000"/>
            <a:ext cx="3810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79" name="Line 151"/>
          <p:cNvSpPr>
            <a:spLocks noChangeShapeType="1"/>
          </p:cNvSpPr>
          <p:nvPr/>
        </p:nvSpPr>
        <p:spPr bwMode="auto">
          <a:xfrm>
            <a:off x="3581400" y="2971800"/>
            <a:ext cx="609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80" name="Line 152"/>
          <p:cNvSpPr>
            <a:spLocks noChangeShapeType="1"/>
          </p:cNvSpPr>
          <p:nvPr/>
        </p:nvSpPr>
        <p:spPr bwMode="auto">
          <a:xfrm>
            <a:off x="3657600" y="2819400"/>
            <a:ext cx="18288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81" name="Line 153"/>
          <p:cNvSpPr>
            <a:spLocks noChangeShapeType="1"/>
          </p:cNvSpPr>
          <p:nvPr/>
        </p:nvSpPr>
        <p:spPr bwMode="auto">
          <a:xfrm>
            <a:off x="5486400" y="2819400"/>
            <a:ext cx="0" cy="1676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82" name="Line 154"/>
          <p:cNvSpPr>
            <a:spLocks noChangeShapeType="1"/>
          </p:cNvSpPr>
          <p:nvPr/>
        </p:nvSpPr>
        <p:spPr bwMode="auto">
          <a:xfrm>
            <a:off x="2590800" y="6324600"/>
            <a:ext cx="3505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83" name="Line 155"/>
          <p:cNvSpPr>
            <a:spLocks noChangeShapeType="1"/>
          </p:cNvSpPr>
          <p:nvPr/>
        </p:nvSpPr>
        <p:spPr bwMode="auto">
          <a:xfrm>
            <a:off x="2590800" y="2133600"/>
            <a:ext cx="0" cy="419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84" name="Line 156"/>
          <p:cNvSpPr>
            <a:spLocks noChangeShapeType="1"/>
          </p:cNvSpPr>
          <p:nvPr/>
        </p:nvSpPr>
        <p:spPr bwMode="auto">
          <a:xfrm>
            <a:off x="2590800" y="213360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85" name="Line 157"/>
          <p:cNvSpPr>
            <a:spLocks noChangeShapeType="1"/>
          </p:cNvSpPr>
          <p:nvPr/>
        </p:nvSpPr>
        <p:spPr bwMode="auto">
          <a:xfrm>
            <a:off x="3657600" y="5562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86" name="Line 158"/>
          <p:cNvSpPr>
            <a:spLocks noChangeShapeType="1"/>
          </p:cNvSpPr>
          <p:nvPr/>
        </p:nvSpPr>
        <p:spPr bwMode="auto">
          <a:xfrm>
            <a:off x="5562600" y="5486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87" name="Line 159"/>
          <p:cNvSpPr>
            <a:spLocks noChangeShapeType="1"/>
          </p:cNvSpPr>
          <p:nvPr/>
        </p:nvSpPr>
        <p:spPr bwMode="auto">
          <a:xfrm>
            <a:off x="6172200" y="2057400"/>
            <a:ext cx="2286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88" name="Line 160"/>
          <p:cNvSpPr>
            <a:spLocks noChangeShapeType="1"/>
          </p:cNvSpPr>
          <p:nvPr/>
        </p:nvSpPr>
        <p:spPr bwMode="auto">
          <a:xfrm flipV="1">
            <a:off x="6172200" y="2057400"/>
            <a:ext cx="0" cy="152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89" name="Line 161"/>
          <p:cNvSpPr>
            <a:spLocks noChangeShapeType="1"/>
          </p:cNvSpPr>
          <p:nvPr/>
        </p:nvSpPr>
        <p:spPr bwMode="auto">
          <a:xfrm>
            <a:off x="2133600" y="1447800"/>
            <a:ext cx="3048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90" name="Line 162"/>
          <p:cNvSpPr>
            <a:spLocks noChangeShapeType="1"/>
          </p:cNvSpPr>
          <p:nvPr/>
        </p:nvSpPr>
        <p:spPr bwMode="auto">
          <a:xfrm>
            <a:off x="4953000" y="45720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91" name="Line 163"/>
          <p:cNvSpPr>
            <a:spLocks noChangeShapeType="1"/>
          </p:cNvSpPr>
          <p:nvPr/>
        </p:nvSpPr>
        <p:spPr bwMode="auto">
          <a:xfrm>
            <a:off x="6477000" y="38862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92" name="Line 164"/>
          <p:cNvSpPr>
            <a:spLocks noChangeShapeType="1"/>
          </p:cNvSpPr>
          <p:nvPr/>
        </p:nvSpPr>
        <p:spPr bwMode="auto">
          <a:xfrm>
            <a:off x="6477000" y="43434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93" name="Line 165"/>
          <p:cNvSpPr>
            <a:spLocks noChangeShapeType="1"/>
          </p:cNvSpPr>
          <p:nvPr/>
        </p:nvSpPr>
        <p:spPr bwMode="auto">
          <a:xfrm>
            <a:off x="5181600" y="1905000"/>
            <a:ext cx="0" cy="3048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94" name="Line 166"/>
          <p:cNvSpPr>
            <a:spLocks noChangeShapeType="1"/>
          </p:cNvSpPr>
          <p:nvPr/>
        </p:nvSpPr>
        <p:spPr bwMode="auto">
          <a:xfrm>
            <a:off x="2667000" y="4648200"/>
            <a:ext cx="0" cy="914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9495" name="Oval 167"/>
          <p:cNvSpPr>
            <a:spLocks noChangeArrowheads="1"/>
          </p:cNvSpPr>
          <p:nvPr/>
        </p:nvSpPr>
        <p:spPr bwMode="auto">
          <a:xfrm>
            <a:off x="6629400" y="14478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496" name="Oval 168"/>
          <p:cNvSpPr>
            <a:spLocks noChangeArrowheads="1"/>
          </p:cNvSpPr>
          <p:nvPr/>
        </p:nvSpPr>
        <p:spPr bwMode="auto">
          <a:xfrm>
            <a:off x="6629400" y="9144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497" name="Oval 169"/>
          <p:cNvSpPr>
            <a:spLocks noChangeArrowheads="1"/>
          </p:cNvSpPr>
          <p:nvPr/>
        </p:nvSpPr>
        <p:spPr bwMode="auto">
          <a:xfrm>
            <a:off x="5943600" y="57912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498" name="Oval 170"/>
          <p:cNvSpPr>
            <a:spLocks noChangeArrowheads="1"/>
          </p:cNvSpPr>
          <p:nvPr/>
        </p:nvSpPr>
        <p:spPr bwMode="auto">
          <a:xfrm>
            <a:off x="5334000" y="43434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499" name="Oval 171"/>
          <p:cNvSpPr>
            <a:spLocks noChangeArrowheads="1"/>
          </p:cNvSpPr>
          <p:nvPr/>
        </p:nvSpPr>
        <p:spPr bwMode="auto">
          <a:xfrm>
            <a:off x="5943600" y="3810000"/>
            <a:ext cx="3810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500" name="Oval 172"/>
          <p:cNvSpPr>
            <a:spLocks noChangeArrowheads="1"/>
          </p:cNvSpPr>
          <p:nvPr/>
        </p:nvSpPr>
        <p:spPr bwMode="auto">
          <a:xfrm>
            <a:off x="3962400" y="19050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501" name="Oval 173"/>
          <p:cNvSpPr>
            <a:spLocks noChangeArrowheads="1"/>
          </p:cNvSpPr>
          <p:nvPr/>
        </p:nvSpPr>
        <p:spPr bwMode="auto">
          <a:xfrm>
            <a:off x="4038600" y="32766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502" name="Oval 174"/>
          <p:cNvSpPr>
            <a:spLocks noChangeArrowheads="1"/>
          </p:cNvSpPr>
          <p:nvPr/>
        </p:nvSpPr>
        <p:spPr bwMode="auto">
          <a:xfrm>
            <a:off x="7391400" y="32766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9503" name="Oval 175"/>
          <p:cNvSpPr>
            <a:spLocks noChangeArrowheads="1"/>
          </p:cNvSpPr>
          <p:nvPr/>
        </p:nvSpPr>
        <p:spPr bwMode="auto">
          <a:xfrm>
            <a:off x="7391400" y="4876800"/>
            <a:ext cx="304800" cy="381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235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495" grpId="0" animBg="1"/>
      <p:bldP spid="739496" grpId="0" animBg="1"/>
      <p:bldP spid="739497" grpId="0" animBg="1"/>
      <p:bldP spid="739498" grpId="0" animBg="1"/>
      <p:bldP spid="739499" grpId="0" animBg="1"/>
      <p:bldP spid="739500" grpId="0" animBg="1"/>
      <p:bldP spid="739501" grpId="0" animBg="1"/>
      <p:bldP spid="739502" grpId="0" animBg="1"/>
      <p:bldP spid="73950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Main Control Unit</a:t>
            </a:r>
          </a:p>
        </p:txBody>
      </p:sp>
      <p:graphicFrame>
        <p:nvGraphicFramePr>
          <p:cNvPr id="759901" name="Group 93"/>
          <p:cNvGraphicFramePr>
            <a:graphicFrameLocks noGrp="1"/>
          </p:cNvGraphicFramePr>
          <p:nvPr>
            <p:ph idx="1"/>
          </p:nvPr>
        </p:nvGraphicFramePr>
        <p:xfrm>
          <a:off x="762000" y="1038225"/>
          <a:ext cx="7696200" cy="2929890"/>
        </p:xfrm>
        <a:graphic>
          <a:graphicData uri="http://schemas.openxmlformats.org/drawingml/2006/table">
            <a:tbl>
              <a:tblPr/>
              <a:tblGrid>
                <a:gridCol w="1066800"/>
                <a:gridCol w="762000"/>
                <a:gridCol w="838200"/>
                <a:gridCol w="914400"/>
                <a:gridCol w="765175"/>
                <a:gridCol w="835025"/>
                <a:gridCol w="838200"/>
                <a:gridCol w="762000"/>
                <a:gridCol w="914400"/>
              </a:tblGrid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Instr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RegDst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ALUSrc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MemReg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RegWr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MemRd</a:t>
                      </a:r>
                      <a:endParaRPr kumimoji="0" lang="en-US" altLang="zh-CN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MemWr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Branch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ALUOp</a:t>
                      </a:r>
                      <a:endParaRPr kumimoji="0" lang="en-US" altLang="zh-CN" sz="15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1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R-type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lw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sw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beq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9881" name="Rectangle 73"/>
          <p:cNvSpPr>
            <a:spLocks noChangeArrowheads="1"/>
          </p:cNvSpPr>
          <p:nvPr/>
        </p:nvSpPr>
        <p:spPr bwMode="auto">
          <a:xfrm>
            <a:off x="457200" y="4724400"/>
            <a:ext cx="8305800" cy="1184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 algn="just">
              <a:lnSpc>
                <a:spcPct val="95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600" dirty="0">
                <a:solidFill>
                  <a:schemeClr val="tx1"/>
                </a:solidFill>
                <a:ea typeface="宋体" pitchFamily="2" charset="-122"/>
              </a:rPr>
              <a:t>Setting of the </a:t>
            </a:r>
            <a:r>
              <a:rPr lang="en-US" altLang="zh-CN" sz="2600" dirty="0" err="1">
                <a:solidFill>
                  <a:schemeClr val="tx1"/>
                </a:solidFill>
                <a:ea typeface="宋体" pitchFamily="2" charset="-122"/>
              </a:rPr>
              <a:t>MemRd</a:t>
            </a:r>
            <a:r>
              <a:rPr lang="en-US" altLang="zh-CN" sz="2600" dirty="0">
                <a:solidFill>
                  <a:schemeClr val="tx1"/>
                </a:solidFill>
                <a:ea typeface="宋体" pitchFamily="2" charset="-122"/>
              </a:rPr>
              <a:t> signal (for R-type, </a:t>
            </a:r>
            <a:r>
              <a:rPr lang="en-US" altLang="zh-CN" sz="2600" dirty="0" err="1">
                <a:solidFill>
                  <a:schemeClr val="tx1"/>
                </a:solidFill>
                <a:ea typeface="宋体" pitchFamily="2" charset="-122"/>
              </a:rPr>
              <a:t>sw</a:t>
            </a:r>
            <a:r>
              <a:rPr lang="en-US" altLang="zh-CN" sz="2600" dirty="0">
                <a:solidFill>
                  <a:schemeClr val="tx1"/>
                </a:solidFill>
                <a:ea typeface="宋体" pitchFamily="2" charset="-122"/>
              </a:rPr>
              <a:t>, </a:t>
            </a:r>
            <a:r>
              <a:rPr lang="en-US" altLang="zh-CN" sz="2600" dirty="0" err="1">
                <a:solidFill>
                  <a:schemeClr val="tx1"/>
                </a:solidFill>
                <a:ea typeface="宋体" pitchFamily="2" charset="-122"/>
              </a:rPr>
              <a:t>beq</a:t>
            </a:r>
            <a:r>
              <a:rPr lang="en-US" altLang="zh-CN" sz="2600" dirty="0">
                <a:solidFill>
                  <a:schemeClr val="tx1"/>
                </a:solidFill>
                <a:ea typeface="宋体" pitchFamily="2" charset="-122"/>
              </a:rPr>
              <a:t>) depends on the memory design (could </a:t>
            </a:r>
            <a:r>
              <a:rPr lang="en-US" altLang="zh-CN" sz="2600" dirty="0" smtClean="0">
                <a:solidFill>
                  <a:schemeClr val="tx1"/>
                </a:solidFill>
                <a:ea typeface="宋体" pitchFamily="2" charset="-122"/>
              </a:rPr>
              <a:t>be a </a:t>
            </a:r>
            <a:r>
              <a:rPr lang="en-US" altLang="zh-CN" sz="2600" dirty="0" smtClean="0">
                <a:solidFill>
                  <a:schemeClr val="accent2"/>
                </a:solidFill>
                <a:ea typeface="宋体" pitchFamily="2" charset="-122"/>
              </a:rPr>
              <a:t>0</a:t>
            </a:r>
            <a:r>
              <a:rPr lang="en-US" altLang="zh-CN" sz="2600" dirty="0" smtClean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sz="2600" dirty="0">
                <a:solidFill>
                  <a:schemeClr val="tx1"/>
                </a:solidFill>
                <a:ea typeface="宋体" pitchFamily="2" charset="-122"/>
              </a:rPr>
              <a:t>or could be a </a:t>
            </a:r>
            <a:r>
              <a:rPr lang="en-US" altLang="zh-CN" sz="2600" dirty="0">
                <a:ea typeface="宋体" pitchFamily="2" charset="-122"/>
              </a:rPr>
              <a:t>X</a:t>
            </a:r>
            <a:r>
              <a:rPr lang="en-US" altLang="zh-CN" sz="2600" dirty="0">
                <a:solidFill>
                  <a:schemeClr val="tx1"/>
                </a:solidFill>
                <a:ea typeface="宋体" pitchFamily="2" charset="-122"/>
              </a:rPr>
              <a:t> (don’t care))</a:t>
            </a:r>
          </a:p>
        </p:txBody>
      </p:sp>
    </p:spTree>
    <p:extLst>
      <p:ext uri="{BB962C8B-B14F-4D97-AF65-F5344CB8AC3E}">
        <p14:creationId xmlns:p14="http://schemas.microsoft.com/office/powerpoint/2010/main" val="6903705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 altLang="zh-CN">
                <a:ea typeface="宋体" pitchFamily="2" charset="-122"/>
              </a:rPr>
              <a:t>Control Unit Logic</a:t>
            </a:r>
          </a:p>
        </p:txBody>
      </p:sp>
      <p:sp>
        <p:nvSpPr>
          <p:cNvPr id="74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382000" cy="42862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From the truth table can design the Main Control logic</a:t>
            </a:r>
          </a:p>
        </p:txBody>
      </p:sp>
      <p:sp>
        <p:nvSpPr>
          <p:cNvPr id="743428" name="AutoShape 4"/>
          <p:cNvSpPr>
            <a:spLocks noChangeArrowheads="1"/>
          </p:cNvSpPr>
          <p:nvPr/>
        </p:nvSpPr>
        <p:spPr bwMode="auto">
          <a:xfrm flipH="1">
            <a:off x="6248400" y="3886200"/>
            <a:ext cx="533400" cy="457200"/>
          </a:xfrm>
          <a:prstGeom prst="moon">
            <a:avLst>
              <a:gd name="adj" fmla="val 82736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29" name="AutoShape 5"/>
          <p:cNvSpPr>
            <a:spLocks noChangeArrowheads="1"/>
          </p:cNvSpPr>
          <p:nvPr/>
        </p:nvSpPr>
        <p:spPr bwMode="auto">
          <a:xfrm rot="5400000">
            <a:off x="1828800" y="2743200"/>
            <a:ext cx="609600" cy="914400"/>
          </a:xfrm>
          <a:prstGeom prst="flowChartDelay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30" name="Oval 6"/>
          <p:cNvSpPr>
            <a:spLocks noChangeArrowheads="1"/>
          </p:cNvSpPr>
          <p:nvPr/>
        </p:nvSpPr>
        <p:spPr bwMode="auto">
          <a:xfrm>
            <a:off x="16764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31" name="Line 7"/>
          <p:cNvSpPr>
            <a:spLocks noChangeShapeType="1"/>
          </p:cNvSpPr>
          <p:nvPr/>
        </p:nvSpPr>
        <p:spPr bwMode="auto">
          <a:xfrm>
            <a:off x="1752600" y="16002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32" name="Oval 8"/>
          <p:cNvSpPr>
            <a:spLocks noChangeArrowheads="1"/>
          </p:cNvSpPr>
          <p:nvPr/>
        </p:nvSpPr>
        <p:spPr bwMode="auto">
          <a:xfrm>
            <a:off x="18288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33" name="Line 9"/>
          <p:cNvSpPr>
            <a:spLocks noChangeShapeType="1"/>
          </p:cNvSpPr>
          <p:nvPr/>
        </p:nvSpPr>
        <p:spPr bwMode="auto">
          <a:xfrm>
            <a:off x="1905000" y="17526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34" name="Oval 10"/>
          <p:cNvSpPr>
            <a:spLocks noChangeArrowheads="1"/>
          </p:cNvSpPr>
          <p:nvPr/>
        </p:nvSpPr>
        <p:spPr bwMode="auto">
          <a:xfrm>
            <a:off x="19812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35" name="Line 11"/>
          <p:cNvSpPr>
            <a:spLocks noChangeShapeType="1"/>
          </p:cNvSpPr>
          <p:nvPr/>
        </p:nvSpPr>
        <p:spPr bwMode="auto">
          <a:xfrm>
            <a:off x="2057400" y="19050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36" name="Oval 12"/>
          <p:cNvSpPr>
            <a:spLocks noChangeArrowheads="1"/>
          </p:cNvSpPr>
          <p:nvPr/>
        </p:nvSpPr>
        <p:spPr bwMode="auto">
          <a:xfrm>
            <a:off x="21336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37" name="Line 13"/>
          <p:cNvSpPr>
            <a:spLocks noChangeShapeType="1"/>
          </p:cNvSpPr>
          <p:nvPr/>
        </p:nvSpPr>
        <p:spPr bwMode="auto">
          <a:xfrm>
            <a:off x="2209800" y="2057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38" name="Oval 14"/>
          <p:cNvSpPr>
            <a:spLocks noChangeArrowheads="1"/>
          </p:cNvSpPr>
          <p:nvPr/>
        </p:nvSpPr>
        <p:spPr bwMode="auto">
          <a:xfrm>
            <a:off x="22860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39" name="Line 15"/>
          <p:cNvSpPr>
            <a:spLocks noChangeShapeType="1"/>
          </p:cNvSpPr>
          <p:nvPr/>
        </p:nvSpPr>
        <p:spPr bwMode="auto">
          <a:xfrm>
            <a:off x="2362200" y="22098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40" name="Oval 16"/>
          <p:cNvSpPr>
            <a:spLocks noChangeArrowheads="1"/>
          </p:cNvSpPr>
          <p:nvPr/>
        </p:nvSpPr>
        <p:spPr bwMode="auto">
          <a:xfrm>
            <a:off x="24384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41" name="Line 17"/>
          <p:cNvSpPr>
            <a:spLocks noChangeShapeType="1"/>
          </p:cNvSpPr>
          <p:nvPr/>
        </p:nvSpPr>
        <p:spPr bwMode="auto">
          <a:xfrm>
            <a:off x="2514600" y="23622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42" name="AutoShape 18"/>
          <p:cNvSpPr>
            <a:spLocks noChangeArrowheads="1"/>
          </p:cNvSpPr>
          <p:nvPr/>
        </p:nvSpPr>
        <p:spPr bwMode="auto">
          <a:xfrm rot="5400000">
            <a:off x="2971800" y="2743200"/>
            <a:ext cx="609600" cy="914400"/>
          </a:xfrm>
          <a:prstGeom prst="flowChartDelay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43" name="Line 19"/>
          <p:cNvSpPr>
            <a:spLocks noChangeShapeType="1"/>
          </p:cNvSpPr>
          <p:nvPr/>
        </p:nvSpPr>
        <p:spPr bwMode="auto">
          <a:xfrm>
            <a:off x="2895600" y="16002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44" name="Oval 20"/>
          <p:cNvSpPr>
            <a:spLocks noChangeArrowheads="1"/>
          </p:cNvSpPr>
          <p:nvPr/>
        </p:nvSpPr>
        <p:spPr bwMode="auto">
          <a:xfrm>
            <a:off x="29718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45" name="Line 21"/>
          <p:cNvSpPr>
            <a:spLocks noChangeShapeType="1"/>
          </p:cNvSpPr>
          <p:nvPr/>
        </p:nvSpPr>
        <p:spPr bwMode="auto">
          <a:xfrm>
            <a:off x="3048000" y="17526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46" name="Oval 22"/>
          <p:cNvSpPr>
            <a:spLocks noChangeArrowheads="1"/>
          </p:cNvSpPr>
          <p:nvPr/>
        </p:nvSpPr>
        <p:spPr bwMode="auto">
          <a:xfrm>
            <a:off x="31242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47" name="Line 23"/>
          <p:cNvSpPr>
            <a:spLocks noChangeShapeType="1"/>
          </p:cNvSpPr>
          <p:nvPr/>
        </p:nvSpPr>
        <p:spPr bwMode="auto">
          <a:xfrm>
            <a:off x="3200400" y="19050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48" name="Oval 24"/>
          <p:cNvSpPr>
            <a:spLocks noChangeArrowheads="1"/>
          </p:cNvSpPr>
          <p:nvPr/>
        </p:nvSpPr>
        <p:spPr bwMode="auto">
          <a:xfrm>
            <a:off x="32766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49" name="Line 25"/>
          <p:cNvSpPr>
            <a:spLocks noChangeShapeType="1"/>
          </p:cNvSpPr>
          <p:nvPr/>
        </p:nvSpPr>
        <p:spPr bwMode="auto">
          <a:xfrm>
            <a:off x="3352800" y="2057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50" name="AutoShape 26"/>
          <p:cNvSpPr>
            <a:spLocks noChangeArrowheads="1"/>
          </p:cNvSpPr>
          <p:nvPr/>
        </p:nvSpPr>
        <p:spPr bwMode="auto">
          <a:xfrm rot="5400000">
            <a:off x="4114800" y="2743200"/>
            <a:ext cx="609600" cy="914400"/>
          </a:xfrm>
          <a:prstGeom prst="flowChartDelay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51" name="Oval 27"/>
          <p:cNvSpPr>
            <a:spLocks noChangeArrowheads="1"/>
          </p:cNvSpPr>
          <p:nvPr/>
        </p:nvSpPr>
        <p:spPr bwMode="auto">
          <a:xfrm>
            <a:off x="41148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52" name="Line 28"/>
          <p:cNvSpPr>
            <a:spLocks noChangeShapeType="1"/>
          </p:cNvSpPr>
          <p:nvPr/>
        </p:nvSpPr>
        <p:spPr bwMode="auto">
          <a:xfrm>
            <a:off x="4191000" y="17526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53" name="Oval 29"/>
          <p:cNvSpPr>
            <a:spLocks noChangeArrowheads="1"/>
          </p:cNvSpPr>
          <p:nvPr/>
        </p:nvSpPr>
        <p:spPr bwMode="auto">
          <a:xfrm>
            <a:off x="44196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54" name="Line 30"/>
          <p:cNvSpPr>
            <a:spLocks noChangeShapeType="1"/>
          </p:cNvSpPr>
          <p:nvPr/>
        </p:nvSpPr>
        <p:spPr bwMode="auto">
          <a:xfrm flipH="1">
            <a:off x="4495800" y="2057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55" name="AutoShape 31"/>
          <p:cNvSpPr>
            <a:spLocks noChangeArrowheads="1"/>
          </p:cNvSpPr>
          <p:nvPr/>
        </p:nvSpPr>
        <p:spPr bwMode="auto">
          <a:xfrm rot="5400000">
            <a:off x="5334000" y="2743200"/>
            <a:ext cx="609600" cy="914400"/>
          </a:xfrm>
          <a:prstGeom prst="flowChartDelay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56" name="Oval 32"/>
          <p:cNvSpPr>
            <a:spLocks noChangeArrowheads="1"/>
          </p:cNvSpPr>
          <p:nvPr/>
        </p:nvSpPr>
        <p:spPr bwMode="auto">
          <a:xfrm>
            <a:off x="51816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57" name="Line 33"/>
          <p:cNvSpPr>
            <a:spLocks noChangeShapeType="1"/>
          </p:cNvSpPr>
          <p:nvPr/>
        </p:nvSpPr>
        <p:spPr bwMode="auto">
          <a:xfrm>
            <a:off x="5257800" y="16002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58" name="Oval 34"/>
          <p:cNvSpPr>
            <a:spLocks noChangeArrowheads="1"/>
          </p:cNvSpPr>
          <p:nvPr/>
        </p:nvSpPr>
        <p:spPr bwMode="auto">
          <a:xfrm>
            <a:off x="53340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59" name="Line 35"/>
          <p:cNvSpPr>
            <a:spLocks noChangeShapeType="1"/>
          </p:cNvSpPr>
          <p:nvPr/>
        </p:nvSpPr>
        <p:spPr bwMode="auto">
          <a:xfrm>
            <a:off x="5410200" y="17526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60" name="Oval 36"/>
          <p:cNvSpPr>
            <a:spLocks noChangeArrowheads="1"/>
          </p:cNvSpPr>
          <p:nvPr/>
        </p:nvSpPr>
        <p:spPr bwMode="auto">
          <a:xfrm>
            <a:off x="54864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61" name="Oval 37"/>
          <p:cNvSpPr>
            <a:spLocks noChangeArrowheads="1"/>
          </p:cNvSpPr>
          <p:nvPr/>
        </p:nvSpPr>
        <p:spPr bwMode="auto">
          <a:xfrm>
            <a:off x="57912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62" name="Line 38"/>
          <p:cNvSpPr>
            <a:spLocks noChangeShapeType="1"/>
          </p:cNvSpPr>
          <p:nvPr/>
        </p:nvSpPr>
        <p:spPr bwMode="auto">
          <a:xfrm>
            <a:off x="5867400" y="22098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63" name="Oval 39"/>
          <p:cNvSpPr>
            <a:spLocks noChangeArrowheads="1"/>
          </p:cNvSpPr>
          <p:nvPr/>
        </p:nvSpPr>
        <p:spPr bwMode="auto">
          <a:xfrm>
            <a:off x="5943600" y="2743200"/>
            <a:ext cx="152400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464" name="Line 40"/>
          <p:cNvSpPr>
            <a:spLocks noChangeShapeType="1"/>
          </p:cNvSpPr>
          <p:nvPr/>
        </p:nvSpPr>
        <p:spPr bwMode="auto">
          <a:xfrm>
            <a:off x="6019800" y="23622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65" name="Line 41"/>
          <p:cNvSpPr>
            <a:spLocks noChangeShapeType="1"/>
          </p:cNvSpPr>
          <p:nvPr/>
        </p:nvSpPr>
        <p:spPr bwMode="auto">
          <a:xfrm>
            <a:off x="3505200" y="22098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66" name="Line 42"/>
          <p:cNvSpPr>
            <a:spLocks noChangeShapeType="1"/>
          </p:cNvSpPr>
          <p:nvPr/>
        </p:nvSpPr>
        <p:spPr bwMode="auto">
          <a:xfrm>
            <a:off x="3657600" y="2362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67" name="Line 43"/>
          <p:cNvSpPr>
            <a:spLocks noChangeShapeType="1"/>
          </p:cNvSpPr>
          <p:nvPr/>
        </p:nvSpPr>
        <p:spPr bwMode="auto">
          <a:xfrm>
            <a:off x="4038600" y="16002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68" name="Line 44"/>
          <p:cNvSpPr>
            <a:spLocks noChangeShapeType="1"/>
          </p:cNvSpPr>
          <p:nvPr/>
        </p:nvSpPr>
        <p:spPr bwMode="auto">
          <a:xfrm>
            <a:off x="4343400" y="19050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69" name="Line 45"/>
          <p:cNvSpPr>
            <a:spLocks noChangeShapeType="1"/>
          </p:cNvSpPr>
          <p:nvPr/>
        </p:nvSpPr>
        <p:spPr bwMode="auto">
          <a:xfrm>
            <a:off x="4648200" y="22098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70" name="Line 46"/>
          <p:cNvSpPr>
            <a:spLocks noChangeShapeType="1"/>
          </p:cNvSpPr>
          <p:nvPr/>
        </p:nvSpPr>
        <p:spPr bwMode="auto">
          <a:xfrm>
            <a:off x="4800600" y="2362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71" name="Line 47"/>
          <p:cNvSpPr>
            <a:spLocks noChangeShapeType="1"/>
          </p:cNvSpPr>
          <p:nvPr/>
        </p:nvSpPr>
        <p:spPr bwMode="auto">
          <a:xfrm>
            <a:off x="5715000" y="20574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72" name="Line 48"/>
          <p:cNvSpPr>
            <a:spLocks noChangeShapeType="1"/>
          </p:cNvSpPr>
          <p:nvPr/>
        </p:nvSpPr>
        <p:spPr bwMode="auto">
          <a:xfrm>
            <a:off x="5562600" y="19050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73" name="Line 49"/>
          <p:cNvSpPr>
            <a:spLocks noChangeShapeType="1"/>
          </p:cNvSpPr>
          <p:nvPr/>
        </p:nvSpPr>
        <p:spPr bwMode="auto">
          <a:xfrm>
            <a:off x="1219200" y="160020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74" name="Line 50"/>
          <p:cNvSpPr>
            <a:spLocks noChangeShapeType="1"/>
          </p:cNvSpPr>
          <p:nvPr/>
        </p:nvSpPr>
        <p:spPr bwMode="auto">
          <a:xfrm>
            <a:off x="1219200" y="1752600"/>
            <a:ext cx="419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75" name="Line 51"/>
          <p:cNvSpPr>
            <a:spLocks noChangeShapeType="1"/>
          </p:cNvSpPr>
          <p:nvPr/>
        </p:nvSpPr>
        <p:spPr bwMode="auto">
          <a:xfrm>
            <a:off x="1219200" y="1905000"/>
            <a:ext cx="434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76" name="Line 52"/>
          <p:cNvSpPr>
            <a:spLocks noChangeShapeType="1"/>
          </p:cNvSpPr>
          <p:nvPr/>
        </p:nvSpPr>
        <p:spPr bwMode="auto">
          <a:xfrm>
            <a:off x="1219200" y="2057400"/>
            <a:ext cx="449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77" name="Line 53"/>
          <p:cNvSpPr>
            <a:spLocks noChangeShapeType="1"/>
          </p:cNvSpPr>
          <p:nvPr/>
        </p:nvSpPr>
        <p:spPr bwMode="auto">
          <a:xfrm>
            <a:off x="1219200" y="2209800"/>
            <a:ext cx="464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78" name="Line 54"/>
          <p:cNvSpPr>
            <a:spLocks noChangeShapeType="1"/>
          </p:cNvSpPr>
          <p:nvPr/>
        </p:nvSpPr>
        <p:spPr bwMode="auto">
          <a:xfrm>
            <a:off x="1219200" y="2362200"/>
            <a:ext cx="480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79" name="Rectangle 55"/>
          <p:cNvSpPr>
            <a:spLocks noChangeArrowheads="1"/>
          </p:cNvSpPr>
          <p:nvPr/>
        </p:nvSpPr>
        <p:spPr bwMode="auto">
          <a:xfrm>
            <a:off x="533400" y="1524000"/>
            <a:ext cx="762000" cy="1447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2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Instr[31]</a:t>
            </a:r>
          </a:p>
          <a:p>
            <a:pPr defTabSz="904875">
              <a:lnSpc>
                <a:spcPts val="2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Instr[30]</a:t>
            </a:r>
          </a:p>
          <a:p>
            <a:pPr defTabSz="904875">
              <a:lnSpc>
                <a:spcPts val="2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Instr[29]</a:t>
            </a:r>
          </a:p>
          <a:p>
            <a:pPr defTabSz="904875">
              <a:lnSpc>
                <a:spcPts val="2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Instr[28]</a:t>
            </a:r>
          </a:p>
          <a:p>
            <a:pPr defTabSz="904875">
              <a:lnSpc>
                <a:spcPts val="2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Instr[27]</a:t>
            </a:r>
          </a:p>
          <a:p>
            <a:pPr defTabSz="904875">
              <a:lnSpc>
                <a:spcPts val="2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200">
                <a:solidFill>
                  <a:schemeClr val="tx1"/>
                </a:solidFill>
                <a:ea typeface="宋体" pitchFamily="2" charset="-122"/>
              </a:rPr>
              <a:t>Instr[26]</a:t>
            </a:r>
          </a:p>
        </p:txBody>
      </p:sp>
      <p:sp>
        <p:nvSpPr>
          <p:cNvPr id="743480" name="Rectangle 56"/>
          <p:cNvSpPr>
            <a:spLocks noChangeArrowheads="1"/>
          </p:cNvSpPr>
          <p:nvPr/>
        </p:nvSpPr>
        <p:spPr bwMode="auto">
          <a:xfrm>
            <a:off x="1371600" y="3429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R-type</a:t>
            </a:r>
          </a:p>
        </p:txBody>
      </p:sp>
      <p:sp>
        <p:nvSpPr>
          <p:cNvPr id="743481" name="Rectangle 57"/>
          <p:cNvSpPr>
            <a:spLocks noChangeArrowheads="1"/>
          </p:cNvSpPr>
          <p:nvPr/>
        </p:nvSpPr>
        <p:spPr bwMode="auto">
          <a:xfrm>
            <a:off x="2819400" y="3429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6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lw</a:t>
            </a:r>
          </a:p>
        </p:txBody>
      </p:sp>
      <p:sp>
        <p:nvSpPr>
          <p:cNvPr id="743482" name="Rectangle 58"/>
          <p:cNvSpPr>
            <a:spLocks noChangeArrowheads="1"/>
          </p:cNvSpPr>
          <p:nvPr/>
        </p:nvSpPr>
        <p:spPr bwMode="auto">
          <a:xfrm>
            <a:off x="4038600" y="3429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6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sw</a:t>
            </a:r>
          </a:p>
        </p:txBody>
      </p:sp>
      <p:sp>
        <p:nvSpPr>
          <p:cNvPr id="743483" name="Rectangle 59"/>
          <p:cNvSpPr>
            <a:spLocks noChangeArrowheads="1"/>
          </p:cNvSpPr>
          <p:nvPr/>
        </p:nvSpPr>
        <p:spPr bwMode="auto">
          <a:xfrm>
            <a:off x="5181600" y="3429000"/>
            <a:ext cx="8382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6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beq</a:t>
            </a:r>
          </a:p>
        </p:txBody>
      </p:sp>
      <p:sp>
        <p:nvSpPr>
          <p:cNvPr id="743484" name="Line 60"/>
          <p:cNvSpPr>
            <a:spLocks noChangeShapeType="1"/>
          </p:cNvSpPr>
          <p:nvPr/>
        </p:nvSpPr>
        <p:spPr bwMode="auto">
          <a:xfrm>
            <a:off x="2133600" y="3505200"/>
            <a:ext cx="0" cy="2438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85" name="Line 61"/>
          <p:cNvSpPr>
            <a:spLocks noChangeShapeType="1"/>
          </p:cNvSpPr>
          <p:nvPr/>
        </p:nvSpPr>
        <p:spPr bwMode="auto">
          <a:xfrm>
            <a:off x="3276600" y="35052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86" name="Line 62"/>
          <p:cNvSpPr>
            <a:spLocks noChangeShapeType="1"/>
          </p:cNvSpPr>
          <p:nvPr/>
        </p:nvSpPr>
        <p:spPr bwMode="auto">
          <a:xfrm>
            <a:off x="4419600" y="3505200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87" name="Line 63"/>
          <p:cNvSpPr>
            <a:spLocks noChangeShapeType="1"/>
          </p:cNvSpPr>
          <p:nvPr/>
        </p:nvSpPr>
        <p:spPr bwMode="auto">
          <a:xfrm>
            <a:off x="5638800" y="35052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88" name="Line 64"/>
          <p:cNvSpPr>
            <a:spLocks noChangeShapeType="1"/>
          </p:cNvSpPr>
          <p:nvPr/>
        </p:nvSpPr>
        <p:spPr bwMode="auto">
          <a:xfrm>
            <a:off x="2133600" y="3810000"/>
            <a:ext cx="556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89" name="Rectangle 65"/>
          <p:cNvSpPr>
            <a:spLocks noChangeArrowheads="1"/>
          </p:cNvSpPr>
          <p:nvPr/>
        </p:nvSpPr>
        <p:spPr bwMode="auto">
          <a:xfrm>
            <a:off x="7848600" y="35814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 defTabSz="904875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452438" algn="l"/>
                <a:tab pos="904875" algn="l"/>
                <a:tab pos="1357313" algn="l"/>
              </a:tabLst>
            </a:pPr>
            <a:r>
              <a:rPr lang="en-US" altLang="zh-CN" sz="1400">
                <a:ea typeface="宋体" pitchFamily="2" charset="-122"/>
              </a:rPr>
              <a:t>RegDst</a:t>
            </a:r>
          </a:p>
        </p:txBody>
      </p:sp>
      <p:sp>
        <p:nvSpPr>
          <p:cNvPr id="743490" name="Rectangle 66"/>
          <p:cNvSpPr>
            <a:spLocks noChangeArrowheads="1"/>
          </p:cNvSpPr>
          <p:nvPr/>
        </p:nvSpPr>
        <p:spPr bwMode="auto">
          <a:xfrm>
            <a:off x="7848600" y="39624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ALUSrc</a:t>
            </a:r>
          </a:p>
        </p:txBody>
      </p:sp>
      <p:sp>
        <p:nvSpPr>
          <p:cNvPr id="743491" name="Rectangle 67"/>
          <p:cNvSpPr>
            <a:spLocks noChangeArrowheads="1"/>
          </p:cNvSpPr>
          <p:nvPr/>
        </p:nvSpPr>
        <p:spPr bwMode="auto">
          <a:xfrm>
            <a:off x="7848600" y="42672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MemtoReg</a:t>
            </a:r>
          </a:p>
        </p:txBody>
      </p:sp>
      <p:sp>
        <p:nvSpPr>
          <p:cNvPr id="743492" name="Rectangle 68"/>
          <p:cNvSpPr>
            <a:spLocks noChangeArrowheads="1"/>
          </p:cNvSpPr>
          <p:nvPr/>
        </p:nvSpPr>
        <p:spPr bwMode="auto">
          <a:xfrm>
            <a:off x="7848600" y="45720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RegWrite</a:t>
            </a:r>
          </a:p>
        </p:txBody>
      </p:sp>
      <p:sp>
        <p:nvSpPr>
          <p:cNvPr id="743493" name="Rectangle 69"/>
          <p:cNvSpPr>
            <a:spLocks noChangeArrowheads="1"/>
          </p:cNvSpPr>
          <p:nvPr/>
        </p:nvSpPr>
        <p:spPr bwMode="auto">
          <a:xfrm>
            <a:off x="7848600" y="48768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MemRead</a:t>
            </a:r>
          </a:p>
        </p:txBody>
      </p:sp>
      <p:sp>
        <p:nvSpPr>
          <p:cNvPr id="743494" name="Rectangle 70"/>
          <p:cNvSpPr>
            <a:spLocks noChangeArrowheads="1"/>
          </p:cNvSpPr>
          <p:nvPr/>
        </p:nvSpPr>
        <p:spPr bwMode="auto">
          <a:xfrm>
            <a:off x="7848600" y="5181600"/>
            <a:ext cx="925513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MemWrite</a:t>
            </a:r>
          </a:p>
        </p:txBody>
      </p:sp>
      <p:sp>
        <p:nvSpPr>
          <p:cNvPr id="743495" name="Rectangle 71"/>
          <p:cNvSpPr>
            <a:spLocks noChangeArrowheads="1"/>
          </p:cNvSpPr>
          <p:nvPr/>
        </p:nvSpPr>
        <p:spPr bwMode="auto">
          <a:xfrm>
            <a:off x="7848600" y="54864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Branch</a:t>
            </a:r>
          </a:p>
        </p:txBody>
      </p:sp>
      <p:sp>
        <p:nvSpPr>
          <p:cNvPr id="743496" name="Rectangle 72"/>
          <p:cNvSpPr>
            <a:spLocks noChangeArrowheads="1"/>
          </p:cNvSpPr>
          <p:nvPr/>
        </p:nvSpPr>
        <p:spPr bwMode="auto">
          <a:xfrm>
            <a:off x="7848600" y="57912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ALUOp</a:t>
            </a:r>
            <a:r>
              <a:rPr lang="en-US" altLang="zh-CN" sz="1400" baseline="-25000">
                <a:ea typeface="宋体" pitchFamily="2" charset="-122"/>
              </a:rPr>
              <a:t>1</a:t>
            </a:r>
          </a:p>
        </p:txBody>
      </p:sp>
      <p:sp>
        <p:nvSpPr>
          <p:cNvPr id="743497" name="Rectangle 73"/>
          <p:cNvSpPr>
            <a:spLocks noChangeArrowheads="1"/>
          </p:cNvSpPr>
          <p:nvPr/>
        </p:nvSpPr>
        <p:spPr bwMode="auto">
          <a:xfrm>
            <a:off x="7848600" y="6096000"/>
            <a:ext cx="685800" cy="327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9050" tIns="26988" rIns="19050" bIns="2698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ea typeface="宋体" pitchFamily="2" charset="-122"/>
              </a:rPr>
              <a:t>ALUOp</a:t>
            </a:r>
            <a:r>
              <a:rPr lang="en-US" altLang="zh-CN" sz="1400" baseline="-25000">
                <a:ea typeface="宋体" pitchFamily="2" charset="-122"/>
              </a:rPr>
              <a:t>0</a:t>
            </a:r>
          </a:p>
        </p:txBody>
      </p:sp>
      <p:sp>
        <p:nvSpPr>
          <p:cNvPr id="743498" name="Line 74"/>
          <p:cNvSpPr>
            <a:spLocks noChangeShapeType="1"/>
          </p:cNvSpPr>
          <p:nvPr/>
        </p:nvSpPr>
        <p:spPr bwMode="auto">
          <a:xfrm>
            <a:off x="4419600" y="4191000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499" name="Line 75"/>
          <p:cNvSpPr>
            <a:spLocks noChangeShapeType="1"/>
          </p:cNvSpPr>
          <p:nvPr/>
        </p:nvSpPr>
        <p:spPr bwMode="auto">
          <a:xfrm>
            <a:off x="3276600" y="4038600"/>
            <a:ext cx="304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500" name="Line 76"/>
          <p:cNvSpPr>
            <a:spLocks noChangeShapeType="1"/>
          </p:cNvSpPr>
          <p:nvPr/>
        </p:nvSpPr>
        <p:spPr bwMode="auto">
          <a:xfrm>
            <a:off x="6781800" y="41148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501" name="Line 77"/>
          <p:cNvSpPr>
            <a:spLocks noChangeShapeType="1"/>
          </p:cNvSpPr>
          <p:nvPr/>
        </p:nvSpPr>
        <p:spPr bwMode="auto">
          <a:xfrm flipV="1">
            <a:off x="3276600" y="4419600"/>
            <a:ext cx="441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502" name="Line 78"/>
          <p:cNvSpPr>
            <a:spLocks noChangeShapeType="1"/>
          </p:cNvSpPr>
          <p:nvPr/>
        </p:nvSpPr>
        <p:spPr bwMode="auto">
          <a:xfrm>
            <a:off x="2133600" y="4648200"/>
            <a:ext cx="419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503" name="Line 79"/>
          <p:cNvSpPr>
            <a:spLocks noChangeShapeType="1"/>
          </p:cNvSpPr>
          <p:nvPr/>
        </p:nvSpPr>
        <p:spPr bwMode="auto">
          <a:xfrm>
            <a:off x="3276600" y="4800600"/>
            <a:ext cx="304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504" name="AutoShape 80"/>
          <p:cNvSpPr>
            <a:spLocks noChangeArrowheads="1"/>
          </p:cNvSpPr>
          <p:nvPr/>
        </p:nvSpPr>
        <p:spPr bwMode="auto">
          <a:xfrm flipH="1">
            <a:off x="6248400" y="4495800"/>
            <a:ext cx="533400" cy="457200"/>
          </a:xfrm>
          <a:prstGeom prst="moon">
            <a:avLst>
              <a:gd name="adj" fmla="val 82736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3505" name="Line 81"/>
          <p:cNvSpPr>
            <a:spLocks noChangeShapeType="1"/>
          </p:cNvSpPr>
          <p:nvPr/>
        </p:nvSpPr>
        <p:spPr bwMode="auto">
          <a:xfrm>
            <a:off x="6781800" y="47244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506" name="Line 82"/>
          <p:cNvSpPr>
            <a:spLocks noChangeShapeType="1"/>
          </p:cNvSpPr>
          <p:nvPr/>
        </p:nvSpPr>
        <p:spPr bwMode="auto">
          <a:xfrm>
            <a:off x="3276600" y="5029200"/>
            <a:ext cx="441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507" name="Line 83"/>
          <p:cNvSpPr>
            <a:spLocks noChangeShapeType="1"/>
          </p:cNvSpPr>
          <p:nvPr/>
        </p:nvSpPr>
        <p:spPr bwMode="auto">
          <a:xfrm>
            <a:off x="4419600" y="5334000"/>
            <a:ext cx="3276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508" name="Line 84"/>
          <p:cNvSpPr>
            <a:spLocks noChangeShapeType="1"/>
          </p:cNvSpPr>
          <p:nvPr/>
        </p:nvSpPr>
        <p:spPr bwMode="auto">
          <a:xfrm>
            <a:off x="5638800" y="56388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509" name="Line 85"/>
          <p:cNvSpPr>
            <a:spLocks noChangeShapeType="1"/>
          </p:cNvSpPr>
          <p:nvPr/>
        </p:nvSpPr>
        <p:spPr bwMode="auto">
          <a:xfrm>
            <a:off x="2133600" y="5943600"/>
            <a:ext cx="556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3510" name="Line 86"/>
          <p:cNvSpPr>
            <a:spLocks noChangeShapeType="1"/>
          </p:cNvSpPr>
          <p:nvPr/>
        </p:nvSpPr>
        <p:spPr bwMode="auto">
          <a:xfrm>
            <a:off x="5638800" y="62484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391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Main Control Unit</a:t>
            </a:r>
          </a:p>
        </p:txBody>
      </p:sp>
      <p:graphicFrame>
        <p:nvGraphicFramePr>
          <p:cNvPr id="786435" name="Group 3"/>
          <p:cNvGraphicFramePr>
            <a:graphicFrameLocks noGrp="1"/>
          </p:cNvGraphicFramePr>
          <p:nvPr>
            <p:ph idx="1"/>
          </p:nvPr>
        </p:nvGraphicFramePr>
        <p:xfrm>
          <a:off x="381000" y="1038225"/>
          <a:ext cx="8458200" cy="3585210"/>
        </p:xfrm>
        <a:graphic>
          <a:graphicData uri="http://schemas.openxmlformats.org/drawingml/2006/table">
            <a:tbl>
              <a:tblPr/>
              <a:tblGrid>
                <a:gridCol w="1066800"/>
                <a:gridCol w="762000"/>
                <a:gridCol w="838200"/>
                <a:gridCol w="914400"/>
                <a:gridCol w="765175"/>
                <a:gridCol w="835025"/>
                <a:gridCol w="838200"/>
                <a:gridCol w="762000"/>
                <a:gridCol w="838200"/>
                <a:gridCol w="838200"/>
              </a:tblGrid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Instr</a:t>
                      </a:r>
                      <a:endParaRPr kumimoji="0" lang="en-US" altLang="zh-CN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RegDst</a:t>
                      </a:r>
                      <a:endParaRPr kumimoji="0" lang="en-US" altLang="zh-CN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ALUSrc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MemReg</a:t>
                      </a:r>
                      <a:endParaRPr kumimoji="0" lang="en-US" altLang="zh-CN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RegWr</a:t>
                      </a:r>
                      <a:endParaRPr kumimoji="0" lang="en-US" altLang="zh-CN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MemRd</a:t>
                      </a:r>
                      <a:endParaRPr kumimoji="0" lang="en-US" altLang="zh-CN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MemWr</a:t>
                      </a:r>
                      <a:endParaRPr kumimoji="0" lang="en-US" altLang="zh-CN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Branch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ALUOp</a:t>
                      </a:r>
                      <a:endParaRPr kumimoji="0" lang="en-US" altLang="zh-CN" sz="15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Jump</a:t>
                      </a:r>
                      <a:endParaRPr kumimoji="0" lang="en-US" altLang="zh-CN" sz="15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1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R-type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lw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sw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beq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j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86516" name="Rectangle 84"/>
          <p:cNvSpPr>
            <a:spLocks noChangeArrowheads="1"/>
          </p:cNvSpPr>
          <p:nvPr/>
        </p:nvSpPr>
        <p:spPr bwMode="auto">
          <a:xfrm>
            <a:off x="457200" y="5181600"/>
            <a:ext cx="8305800" cy="806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 algn="just">
              <a:lnSpc>
                <a:spcPct val="95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600" dirty="0">
                <a:solidFill>
                  <a:schemeClr val="tx1"/>
                </a:solidFill>
                <a:ea typeface="宋体" pitchFamily="2" charset="-122"/>
              </a:rPr>
              <a:t>Setting of the </a:t>
            </a:r>
            <a:r>
              <a:rPr lang="en-US" altLang="zh-CN" sz="2600" dirty="0" err="1">
                <a:solidFill>
                  <a:schemeClr val="tx1"/>
                </a:solidFill>
                <a:ea typeface="宋体" pitchFamily="2" charset="-122"/>
              </a:rPr>
              <a:t>MemRd</a:t>
            </a:r>
            <a:r>
              <a:rPr lang="en-US" altLang="zh-CN" sz="2600" dirty="0">
                <a:solidFill>
                  <a:schemeClr val="tx1"/>
                </a:solidFill>
                <a:ea typeface="宋体" pitchFamily="2" charset="-122"/>
              </a:rPr>
              <a:t> signal (for R-type, </a:t>
            </a:r>
            <a:r>
              <a:rPr lang="en-US" altLang="zh-CN" sz="2600" dirty="0" err="1">
                <a:solidFill>
                  <a:schemeClr val="tx1"/>
                </a:solidFill>
                <a:ea typeface="宋体" pitchFamily="2" charset="-122"/>
              </a:rPr>
              <a:t>sw</a:t>
            </a:r>
            <a:r>
              <a:rPr lang="en-US" altLang="zh-CN" sz="2600" dirty="0">
                <a:solidFill>
                  <a:schemeClr val="tx1"/>
                </a:solidFill>
                <a:ea typeface="宋体" pitchFamily="2" charset="-122"/>
              </a:rPr>
              <a:t>, </a:t>
            </a:r>
            <a:r>
              <a:rPr lang="en-US" altLang="zh-CN" sz="2600" dirty="0" err="1">
                <a:solidFill>
                  <a:schemeClr val="tx1"/>
                </a:solidFill>
                <a:ea typeface="宋体" pitchFamily="2" charset="-122"/>
              </a:rPr>
              <a:t>beq</a:t>
            </a:r>
            <a:r>
              <a:rPr lang="en-US" altLang="zh-CN" sz="2600" dirty="0">
                <a:solidFill>
                  <a:schemeClr val="tx1"/>
                </a:solidFill>
                <a:ea typeface="宋体" pitchFamily="2" charset="-122"/>
              </a:rPr>
              <a:t>) depends on the memory design</a:t>
            </a:r>
          </a:p>
        </p:txBody>
      </p:sp>
    </p:spTree>
    <p:extLst>
      <p:ext uri="{BB962C8B-B14F-4D97-AF65-F5344CB8AC3E}">
        <p14:creationId xmlns:p14="http://schemas.microsoft.com/office/powerpoint/2010/main" val="11359681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Additional Readings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409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ALU Control</a:t>
            </a:r>
          </a:p>
        </p:txBody>
      </p:sp>
      <p:graphicFrame>
        <p:nvGraphicFramePr>
          <p:cNvPr id="710695" name="Group 39"/>
          <p:cNvGraphicFramePr>
            <a:graphicFrameLocks noGrp="1"/>
          </p:cNvGraphicFramePr>
          <p:nvPr>
            <p:ph type="tbl" idx="1"/>
          </p:nvPr>
        </p:nvGraphicFramePr>
        <p:xfrm>
          <a:off x="2209800" y="1600200"/>
          <a:ext cx="4572000" cy="3598164"/>
        </p:xfrm>
        <a:graphic>
          <a:graphicData uri="http://schemas.openxmlformats.org/drawingml/2006/table">
            <a:tbl>
              <a:tblPr/>
              <a:tblGrid>
                <a:gridCol w="2133600"/>
                <a:gridCol w="2438400"/>
              </a:tblGrid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ALU control input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subtract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set on less than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10682" name="Rectangle 26"/>
          <p:cNvSpPr>
            <a:spLocks noChangeArrowheads="1"/>
          </p:cNvSpPr>
          <p:nvPr/>
        </p:nvSpPr>
        <p:spPr bwMode="auto">
          <a:xfrm>
            <a:off x="609600" y="838200"/>
            <a:ext cx="7848600" cy="708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ALU's operation based on instruction type and function code</a:t>
            </a:r>
          </a:p>
        </p:txBody>
      </p:sp>
      <p:sp>
        <p:nvSpPr>
          <p:cNvPr id="710684" name="Rectangle 28"/>
          <p:cNvSpPr>
            <a:spLocks noChangeArrowheads="1"/>
          </p:cNvSpPr>
          <p:nvPr/>
        </p:nvSpPr>
        <p:spPr bwMode="auto">
          <a:xfrm>
            <a:off x="609600" y="5638800"/>
            <a:ext cx="7848600" cy="708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Notice that we are using </a:t>
            </a:r>
            <a:r>
              <a:rPr lang="en-US" altLang="zh-CN" sz="2400">
                <a:ea typeface="宋体" pitchFamily="2" charset="-122"/>
              </a:rPr>
              <a:t>different</a:t>
            </a: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 encodings than in the book</a:t>
            </a:r>
          </a:p>
        </p:txBody>
      </p:sp>
    </p:spTree>
    <p:extLst>
      <p:ext uri="{BB962C8B-B14F-4D97-AF65-F5344CB8AC3E}">
        <p14:creationId xmlns:p14="http://schemas.microsoft.com/office/powerpoint/2010/main" val="1860581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Elements</a:t>
            </a:r>
          </a:p>
        </p:txBody>
      </p:sp>
      <p:sp>
        <p:nvSpPr>
          <p:cNvPr id="66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848600" cy="428625"/>
          </a:xfrm>
        </p:spPr>
        <p:txBody>
          <a:bodyPr/>
          <a:lstStyle/>
          <a:p>
            <a:r>
              <a:rPr lang="en-US"/>
              <a:t>Set-reset latch</a:t>
            </a:r>
          </a:p>
        </p:txBody>
      </p:sp>
      <p:grpSp>
        <p:nvGrpSpPr>
          <p:cNvPr id="2" name="Group 130"/>
          <p:cNvGrpSpPr>
            <a:grpSpLocks/>
          </p:cNvGrpSpPr>
          <p:nvPr/>
        </p:nvGrpSpPr>
        <p:grpSpPr bwMode="auto">
          <a:xfrm>
            <a:off x="1295400" y="1447800"/>
            <a:ext cx="2076450" cy="1327150"/>
            <a:chOff x="816" y="912"/>
            <a:chExt cx="1308" cy="836"/>
          </a:xfrm>
        </p:grpSpPr>
        <p:sp>
          <p:nvSpPr>
            <p:cNvPr id="663556" name="AutoShape 4"/>
            <p:cNvSpPr>
              <a:spLocks noChangeArrowheads="1"/>
            </p:cNvSpPr>
            <p:nvPr/>
          </p:nvSpPr>
          <p:spPr bwMode="auto">
            <a:xfrm flipH="1">
              <a:off x="1296" y="960"/>
              <a:ext cx="288" cy="240"/>
            </a:xfrm>
            <a:prstGeom prst="moon">
              <a:avLst>
                <a:gd name="adj" fmla="val 875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3557" name="Oval 5"/>
            <p:cNvSpPr>
              <a:spLocks noChangeArrowheads="1"/>
            </p:cNvSpPr>
            <p:nvPr/>
          </p:nvSpPr>
          <p:spPr bwMode="auto">
            <a:xfrm>
              <a:off x="1584" y="1056"/>
              <a:ext cx="48" cy="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3558" name="AutoShape 6"/>
            <p:cNvSpPr>
              <a:spLocks noChangeArrowheads="1"/>
            </p:cNvSpPr>
            <p:nvPr/>
          </p:nvSpPr>
          <p:spPr bwMode="auto">
            <a:xfrm flipH="1">
              <a:off x="1296" y="1440"/>
              <a:ext cx="288" cy="240"/>
            </a:xfrm>
            <a:prstGeom prst="moon">
              <a:avLst>
                <a:gd name="adj" fmla="val 875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3559" name="Oval 7"/>
            <p:cNvSpPr>
              <a:spLocks noChangeArrowheads="1"/>
            </p:cNvSpPr>
            <p:nvPr/>
          </p:nvSpPr>
          <p:spPr bwMode="auto">
            <a:xfrm>
              <a:off x="1584" y="1536"/>
              <a:ext cx="48" cy="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3560" name="Line 8"/>
            <p:cNvSpPr>
              <a:spLocks noChangeShapeType="1"/>
            </p:cNvSpPr>
            <p:nvPr/>
          </p:nvSpPr>
          <p:spPr bwMode="auto">
            <a:xfrm>
              <a:off x="1008" y="100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561" name="Line 9"/>
            <p:cNvSpPr>
              <a:spLocks noChangeShapeType="1"/>
            </p:cNvSpPr>
            <p:nvPr/>
          </p:nvSpPr>
          <p:spPr bwMode="auto">
            <a:xfrm>
              <a:off x="1008" y="163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562" name="Line 10"/>
            <p:cNvSpPr>
              <a:spLocks noChangeShapeType="1"/>
            </p:cNvSpPr>
            <p:nvPr/>
          </p:nvSpPr>
          <p:spPr bwMode="auto">
            <a:xfrm>
              <a:off x="1152" y="11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563" name="Line 11"/>
            <p:cNvSpPr>
              <a:spLocks noChangeShapeType="1"/>
            </p:cNvSpPr>
            <p:nvPr/>
          </p:nvSpPr>
          <p:spPr bwMode="auto">
            <a:xfrm>
              <a:off x="1632" y="105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564" name="Line 12"/>
            <p:cNvSpPr>
              <a:spLocks noChangeShapeType="1"/>
            </p:cNvSpPr>
            <p:nvPr/>
          </p:nvSpPr>
          <p:spPr bwMode="auto">
            <a:xfrm>
              <a:off x="1632" y="1584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565" name="Line 13"/>
            <p:cNvSpPr>
              <a:spLocks noChangeShapeType="1"/>
            </p:cNvSpPr>
            <p:nvPr/>
          </p:nvSpPr>
          <p:spPr bwMode="auto">
            <a:xfrm>
              <a:off x="11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566" name="Line 14"/>
            <p:cNvSpPr>
              <a:spLocks noChangeShapeType="1"/>
            </p:cNvSpPr>
            <p:nvPr/>
          </p:nvSpPr>
          <p:spPr bwMode="auto">
            <a:xfrm>
              <a:off x="1728" y="105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567" name="Line 15"/>
            <p:cNvSpPr>
              <a:spLocks noChangeShapeType="1"/>
            </p:cNvSpPr>
            <p:nvPr/>
          </p:nvSpPr>
          <p:spPr bwMode="auto">
            <a:xfrm>
              <a:off x="1728" y="144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568" name="Line 16"/>
            <p:cNvSpPr>
              <a:spLocks noChangeShapeType="1"/>
            </p:cNvSpPr>
            <p:nvPr/>
          </p:nvSpPr>
          <p:spPr bwMode="auto">
            <a:xfrm>
              <a:off x="1152" y="115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569" name="Line 17"/>
            <p:cNvSpPr>
              <a:spLocks noChangeShapeType="1"/>
            </p:cNvSpPr>
            <p:nvPr/>
          </p:nvSpPr>
          <p:spPr bwMode="auto">
            <a:xfrm>
              <a:off x="1152" y="139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570" name="Line 18"/>
            <p:cNvSpPr>
              <a:spLocks noChangeShapeType="1"/>
            </p:cNvSpPr>
            <p:nvPr/>
          </p:nvSpPr>
          <p:spPr bwMode="auto">
            <a:xfrm flipV="1">
              <a:off x="1152" y="120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571" name="Line 19"/>
            <p:cNvSpPr>
              <a:spLocks noChangeShapeType="1"/>
            </p:cNvSpPr>
            <p:nvPr/>
          </p:nvSpPr>
          <p:spPr bwMode="auto">
            <a:xfrm>
              <a:off x="1152" y="1248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572" name="Text Box 20"/>
            <p:cNvSpPr txBox="1">
              <a:spLocks noChangeArrowheads="1"/>
            </p:cNvSpPr>
            <p:nvPr/>
          </p:nvSpPr>
          <p:spPr bwMode="auto">
            <a:xfrm>
              <a:off x="816" y="912"/>
              <a:ext cx="208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663573" name="Text Box 21"/>
            <p:cNvSpPr txBox="1">
              <a:spLocks noChangeArrowheads="1"/>
            </p:cNvSpPr>
            <p:nvPr/>
          </p:nvSpPr>
          <p:spPr bwMode="auto">
            <a:xfrm>
              <a:off x="816" y="1536"/>
              <a:ext cx="201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663574" name="Text Box 22"/>
            <p:cNvSpPr txBox="1">
              <a:spLocks noChangeArrowheads="1"/>
            </p:cNvSpPr>
            <p:nvPr/>
          </p:nvSpPr>
          <p:spPr bwMode="auto">
            <a:xfrm>
              <a:off x="1872" y="960"/>
              <a:ext cx="216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663575" name="Text Box 23"/>
            <p:cNvSpPr txBox="1">
              <a:spLocks noChangeArrowheads="1"/>
            </p:cNvSpPr>
            <p:nvPr/>
          </p:nvSpPr>
          <p:spPr bwMode="auto">
            <a:xfrm>
              <a:off x="1872" y="1488"/>
              <a:ext cx="25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!Q</a:t>
              </a:r>
            </a:p>
          </p:txBody>
        </p:sp>
      </p:grpSp>
      <p:graphicFrame>
        <p:nvGraphicFramePr>
          <p:cNvPr id="663681" name="Group 129"/>
          <p:cNvGraphicFramePr>
            <a:graphicFrameLocks noGrp="1"/>
          </p:cNvGraphicFramePr>
          <p:nvPr/>
        </p:nvGraphicFramePr>
        <p:xfrm>
          <a:off x="4953000" y="1066800"/>
          <a:ext cx="3124200" cy="176022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838200"/>
                <a:gridCol w="914400"/>
              </a:tblGrid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Q(t+1)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!Q(t+1)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Q(t)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!Q(t)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" name="Group 131"/>
          <p:cNvGrpSpPr>
            <a:grpSpLocks/>
          </p:cNvGrpSpPr>
          <p:nvPr/>
        </p:nvGrpSpPr>
        <p:grpSpPr bwMode="auto">
          <a:xfrm>
            <a:off x="609600" y="3505200"/>
            <a:ext cx="3448050" cy="1752600"/>
            <a:chOff x="384" y="2208"/>
            <a:chExt cx="2172" cy="1104"/>
          </a:xfrm>
        </p:grpSpPr>
        <p:sp>
          <p:nvSpPr>
            <p:cNvPr id="663608" name="AutoShape 56"/>
            <p:cNvSpPr>
              <a:spLocks noChangeArrowheads="1"/>
            </p:cNvSpPr>
            <p:nvPr/>
          </p:nvSpPr>
          <p:spPr bwMode="auto">
            <a:xfrm flipH="1">
              <a:off x="1728" y="2400"/>
              <a:ext cx="288" cy="240"/>
            </a:xfrm>
            <a:prstGeom prst="moon">
              <a:avLst>
                <a:gd name="adj" fmla="val 875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3609" name="Oval 57"/>
            <p:cNvSpPr>
              <a:spLocks noChangeArrowheads="1"/>
            </p:cNvSpPr>
            <p:nvPr/>
          </p:nvSpPr>
          <p:spPr bwMode="auto">
            <a:xfrm>
              <a:off x="2016" y="2496"/>
              <a:ext cx="48" cy="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3610" name="AutoShape 58"/>
            <p:cNvSpPr>
              <a:spLocks noChangeArrowheads="1"/>
            </p:cNvSpPr>
            <p:nvPr/>
          </p:nvSpPr>
          <p:spPr bwMode="auto">
            <a:xfrm flipH="1">
              <a:off x="1728" y="2880"/>
              <a:ext cx="288" cy="240"/>
            </a:xfrm>
            <a:prstGeom prst="moon">
              <a:avLst>
                <a:gd name="adj" fmla="val 875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3611" name="Oval 59"/>
            <p:cNvSpPr>
              <a:spLocks noChangeArrowheads="1"/>
            </p:cNvSpPr>
            <p:nvPr/>
          </p:nvSpPr>
          <p:spPr bwMode="auto">
            <a:xfrm>
              <a:off x="2016" y="2976"/>
              <a:ext cx="48" cy="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3612" name="Line 60"/>
            <p:cNvSpPr>
              <a:spLocks noChangeShapeType="1"/>
            </p:cNvSpPr>
            <p:nvPr/>
          </p:nvSpPr>
          <p:spPr bwMode="auto">
            <a:xfrm>
              <a:off x="1440" y="244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13" name="Line 61"/>
            <p:cNvSpPr>
              <a:spLocks noChangeShapeType="1"/>
            </p:cNvSpPr>
            <p:nvPr/>
          </p:nvSpPr>
          <p:spPr bwMode="auto">
            <a:xfrm>
              <a:off x="1440" y="307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14" name="Line 62"/>
            <p:cNvSpPr>
              <a:spLocks noChangeShapeType="1"/>
            </p:cNvSpPr>
            <p:nvPr/>
          </p:nvSpPr>
          <p:spPr bwMode="auto">
            <a:xfrm>
              <a:off x="1584" y="259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15" name="Line 63"/>
            <p:cNvSpPr>
              <a:spLocks noChangeShapeType="1"/>
            </p:cNvSpPr>
            <p:nvPr/>
          </p:nvSpPr>
          <p:spPr bwMode="auto">
            <a:xfrm>
              <a:off x="2064" y="249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16" name="Line 64"/>
            <p:cNvSpPr>
              <a:spLocks noChangeShapeType="1"/>
            </p:cNvSpPr>
            <p:nvPr/>
          </p:nvSpPr>
          <p:spPr bwMode="auto">
            <a:xfrm>
              <a:off x="2064" y="3024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17" name="Line 65"/>
            <p:cNvSpPr>
              <a:spLocks noChangeShapeType="1"/>
            </p:cNvSpPr>
            <p:nvPr/>
          </p:nvSpPr>
          <p:spPr bwMode="auto">
            <a:xfrm>
              <a:off x="1584" y="29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18" name="Line 66"/>
            <p:cNvSpPr>
              <a:spLocks noChangeShapeType="1"/>
            </p:cNvSpPr>
            <p:nvPr/>
          </p:nvSpPr>
          <p:spPr bwMode="auto">
            <a:xfrm>
              <a:off x="2160" y="249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19" name="Line 67"/>
            <p:cNvSpPr>
              <a:spLocks noChangeShapeType="1"/>
            </p:cNvSpPr>
            <p:nvPr/>
          </p:nvSpPr>
          <p:spPr bwMode="auto">
            <a:xfrm>
              <a:off x="2160" y="288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20" name="Line 68"/>
            <p:cNvSpPr>
              <a:spLocks noChangeShapeType="1"/>
            </p:cNvSpPr>
            <p:nvPr/>
          </p:nvSpPr>
          <p:spPr bwMode="auto">
            <a:xfrm>
              <a:off x="1584" y="259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21" name="Line 69"/>
            <p:cNvSpPr>
              <a:spLocks noChangeShapeType="1"/>
            </p:cNvSpPr>
            <p:nvPr/>
          </p:nvSpPr>
          <p:spPr bwMode="auto">
            <a:xfrm>
              <a:off x="1584" y="283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22" name="Line 70"/>
            <p:cNvSpPr>
              <a:spLocks noChangeShapeType="1"/>
            </p:cNvSpPr>
            <p:nvPr/>
          </p:nvSpPr>
          <p:spPr bwMode="auto">
            <a:xfrm flipV="1">
              <a:off x="1584" y="264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23" name="Line 71"/>
            <p:cNvSpPr>
              <a:spLocks noChangeShapeType="1"/>
            </p:cNvSpPr>
            <p:nvPr/>
          </p:nvSpPr>
          <p:spPr bwMode="auto">
            <a:xfrm>
              <a:off x="1584" y="2688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24" name="Text Box 72"/>
            <p:cNvSpPr txBox="1">
              <a:spLocks noChangeArrowheads="1"/>
            </p:cNvSpPr>
            <p:nvPr/>
          </p:nvSpPr>
          <p:spPr bwMode="auto">
            <a:xfrm>
              <a:off x="384" y="2304"/>
              <a:ext cx="407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accent2"/>
                  </a:solidFill>
                </a:rPr>
                <a:t>clock</a:t>
              </a:r>
            </a:p>
          </p:txBody>
        </p:sp>
        <p:sp>
          <p:nvSpPr>
            <p:cNvPr id="663625" name="Text Box 73"/>
            <p:cNvSpPr txBox="1">
              <a:spLocks noChangeArrowheads="1"/>
            </p:cNvSpPr>
            <p:nvPr/>
          </p:nvSpPr>
          <p:spPr bwMode="auto">
            <a:xfrm>
              <a:off x="528" y="2976"/>
              <a:ext cx="208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63626" name="Text Box 74"/>
            <p:cNvSpPr txBox="1">
              <a:spLocks noChangeArrowheads="1"/>
            </p:cNvSpPr>
            <p:nvPr/>
          </p:nvSpPr>
          <p:spPr bwMode="auto">
            <a:xfrm>
              <a:off x="2304" y="2400"/>
              <a:ext cx="216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663627" name="Text Box 75"/>
            <p:cNvSpPr txBox="1">
              <a:spLocks noChangeArrowheads="1"/>
            </p:cNvSpPr>
            <p:nvPr/>
          </p:nvSpPr>
          <p:spPr bwMode="auto">
            <a:xfrm>
              <a:off x="2304" y="2928"/>
              <a:ext cx="25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!Q</a:t>
              </a:r>
            </a:p>
          </p:txBody>
        </p:sp>
        <p:sp>
          <p:nvSpPr>
            <p:cNvPr id="663628" name="AutoShape 76"/>
            <p:cNvSpPr>
              <a:spLocks noChangeArrowheads="1"/>
            </p:cNvSpPr>
            <p:nvPr/>
          </p:nvSpPr>
          <p:spPr bwMode="auto">
            <a:xfrm>
              <a:off x="1152" y="2928"/>
              <a:ext cx="288" cy="240"/>
            </a:xfrm>
            <a:prstGeom prst="flowChartDelay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3629" name="AutoShape 77"/>
            <p:cNvSpPr>
              <a:spLocks noChangeArrowheads="1"/>
            </p:cNvSpPr>
            <p:nvPr/>
          </p:nvSpPr>
          <p:spPr bwMode="auto">
            <a:xfrm>
              <a:off x="1152" y="2352"/>
              <a:ext cx="288" cy="240"/>
            </a:xfrm>
            <a:prstGeom prst="flowChartDelay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3630" name="Line 78"/>
            <p:cNvSpPr>
              <a:spLocks noChangeShapeType="1"/>
            </p:cNvSpPr>
            <p:nvPr/>
          </p:nvSpPr>
          <p:spPr bwMode="auto">
            <a:xfrm>
              <a:off x="720" y="2400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31" name="Line 79"/>
            <p:cNvSpPr>
              <a:spLocks noChangeShapeType="1"/>
            </p:cNvSpPr>
            <p:nvPr/>
          </p:nvSpPr>
          <p:spPr bwMode="auto">
            <a:xfrm>
              <a:off x="912" y="2544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32" name="Oval 80"/>
            <p:cNvSpPr>
              <a:spLocks noChangeArrowheads="1"/>
            </p:cNvSpPr>
            <p:nvPr/>
          </p:nvSpPr>
          <p:spPr bwMode="auto">
            <a:xfrm>
              <a:off x="1104" y="2496"/>
              <a:ext cx="48" cy="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3633" name="Line 81"/>
            <p:cNvSpPr>
              <a:spLocks noChangeShapeType="1"/>
            </p:cNvSpPr>
            <p:nvPr/>
          </p:nvSpPr>
          <p:spPr bwMode="auto">
            <a:xfrm>
              <a:off x="1008" y="297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34" name="Line 82"/>
            <p:cNvSpPr>
              <a:spLocks noChangeShapeType="1"/>
            </p:cNvSpPr>
            <p:nvPr/>
          </p:nvSpPr>
          <p:spPr bwMode="auto">
            <a:xfrm>
              <a:off x="1008" y="2400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35" name="Line 83"/>
            <p:cNvSpPr>
              <a:spLocks noChangeShapeType="1"/>
            </p:cNvSpPr>
            <p:nvPr/>
          </p:nvSpPr>
          <p:spPr bwMode="auto">
            <a:xfrm>
              <a:off x="720" y="3120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36" name="Line 84"/>
            <p:cNvSpPr>
              <a:spLocks noChangeShapeType="1"/>
            </p:cNvSpPr>
            <p:nvPr/>
          </p:nvSpPr>
          <p:spPr bwMode="auto">
            <a:xfrm>
              <a:off x="912" y="2544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37" name="Rectangle 85"/>
            <p:cNvSpPr>
              <a:spLocks noChangeArrowheads="1"/>
            </p:cNvSpPr>
            <p:nvPr/>
          </p:nvSpPr>
          <p:spPr bwMode="auto">
            <a:xfrm>
              <a:off x="816" y="2208"/>
              <a:ext cx="1440" cy="1104"/>
            </a:xfrm>
            <a:prstGeom prst="rect">
              <a:avLst/>
            </a:prstGeom>
            <a:noFill/>
            <a:ln w="12700" cap="rnd">
              <a:solidFill>
                <a:schemeClr val="accent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32"/>
          <p:cNvGrpSpPr>
            <a:grpSpLocks/>
          </p:cNvGrpSpPr>
          <p:nvPr/>
        </p:nvGrpSpPr>
        <p:grpSpPr bwMode="auto">
          <a:xfrm>
            <a:off x="4495800" y="3733800"/>
            <a:ext cx="3810000" cy="1403350"/>
            <a:chOff x="2832" y="2352"/>
            <a:chExt cx="2400" cy="884"/>
          </a:xfrm>
        </p:grpSpPr>
        <p:sp>
          <p:nvSpPr>
            <p:cNvPr id="663638" name="Line 86"/>
            <p:cNvSpPr>
              <a:spLocks noChangeShapeType="1"/>
            </p:cNvSpPr>
            <p:nvPr/>
          </p:nvSpPr>
          <p:spPr bwMode="auto">
            <a:xfrm>
              <a:off x="3216" y="278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39" name="Line 87"/>
            <p:cNvSpPr>
              <a:spLocks noChangeShapeType="1"/>
            </p:cNvSpPr>
            <p:nvPr/>
          </p:nvSpPr>
          <p:spPr bwMode="auto">
            <a:xfrm>
              <a:off x="3504" y="264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40" name="Line 88"/>
            <p:cNvSpPr>
              <a:spLocks noChangeShapeType="1"/>
            </p:cNvSpPr>
            <p:nvPr/>
          </p:nvSpPr>
          <p:spPr bwMode="auto">
            <a:xfrm>
              <a:off x="3504" y="2640"/>
              <a:ext cx="288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41" name="Line 89"/>
            <p:cNvSpPr>
              <a:spLocks noChangeShapeType="1"/>
            </p:cNvSpPr>
            <p:nvPr/>
          </p:nvSpPr>
          <p:spPr bwMode="auto">
            <a:xfrm>
              <a:off x="3792" y="264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42" name="Line 90"/>
            <p:cNvSpPr>
              <a:spLocks noChangeShapeType="1"/>
            </p:cNvSpPr>
            <p:nvPr/>
          </p:nvSpPr>
          <p:spPr bwMode="auto">
            <a:xfrm>
              <a:off x="3792" y="278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43" name="Line 91"/>
            <p:cNvSpPr>
              <a:spLocks noChangeShapeType="1"/>
            </p:cNvSpPr>
            <p:nvPr/>
          </p:nvSpPr>
          <p:spPr bwMode="auto">
            <a:xfrm>
              <a:off x="4080" y="264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44" name="Line 92"/>
            <p:cNvSpPr>
              <a:spLocks noChangeShapeType="1"/>
            </p:cNvSpPr>
            <p:nvPr/>
          </p:nvSpPr>
          <p:spPr bwMode="auto">
            <a:xfrm>
              <a:off x="4080" y="2640"/>
              <a:ext cx="288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45" name="Line 93"/>
            <p:cNvSpPr>
              <a:spLocks noChangeShapeType="1"/>
            </p:cNvSpPr>
            <p:nvPr/>
          </p:nvSpPr>
          <p:spPr bwMode="auto">
            <a:xfrm>
              <a:off x="4368" y="264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46" name="Line 94"/>
            <p:cNvSpPr>
              <a:spLocks noChangeShapeType="1"/>
            </p:cNvSpPr>
            <p:nvPr/>
          </p:nvSpPr>
          <p:spPr bwMode="auto">
            <a:xfrm>
              <a:off x="4368" y="278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47" name="Line 95"/>
            <p:cNvSpPr>
              <a:spLocks noChangeShapeType="1"/>
            </p:cNvSpPr>
            <p:nvPr/>
          </p:nvSpPr>
          <p:spPr bwMode="auto">
            <a:xfrm>
              <a:off x="3216" y="249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48" name="Line 96"/>
            <p:cNvSpPr>
              <a:spLocks noChangeShapeType="1"/>
            </p:cNvSpPr>
            <p:nvPr/>
          </p:nvSpPr>
          <p:spPr bwMode="auto">
            <a:xfrm>
              <a:off x="3408" y="235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49" name="Line 97"/>
            <p:cNvSpPr>
              <a:spLocks noChangeShapeType="1"/>
            </p:cNvSpPr>
            <p:nvPr/>
          </p:nvSpPr>
          <p:spPr bwMode="auto">
            <a:xfrm>
              <a:off x="3408" y="235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50" name="Line 98"/>
            <p:cNvSpPr>
              <a:spLocks noChangeShapeType="1"/>
            </p:cNvSpPr>
            <p:nvPr/>
          </p:nvSpPr>
          <p:spPr bwMode="auto">
            <a:xfrm>
              <a:off x="3936" y="235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51" name="Line 99"/>
            <p:cNvSpPr>
              <a:spLocks noChangeShapeType="1"/>
            </p:cNvSpPr>
            <p:nvPr/>
          </p:nvSpPr>
          <p:spPr bwMode="auto">
            <a:xfrm>
              <a:off x="3936" y="2496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52" name="Text Box 100"/>
            <p:cNvSpPr txBox="1">
              <a:spLocks noChangeArrowheads="1"/>
            </p:cNvSpPr>
            <p:nvPr/>
          </p:nvSpPr>
          <p:spPr bwMode="auto">
            <a:xfrm>
              <a:off x="2832" y="2688"/>
              <a:ext cx="407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clock</a:t>
              </a:r>
            </a:p>
          </p:txBody>
        </p:sp>
        <p:sp>
          <p:nvSpPr>
            <p:cNvPr id="663653" name="Text Box 101"/>
            <p:cNvSpPr txBox="1">
              <a:spLocks noChangeArrowheads="1"/>
            </p:cNvSpPr>
            <p:nvPr/>
          </p:nvSpPr>
          <p:spPr bwMode="auto">
            <a:xfrm>
              <a:off x="2928" y="2352"/>
              <a:ext cx="208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63654" name="Text Box 102"/>
            <p:cNvSpPr txBox="1">
              <a:spLocks noChangeArrowheads="1"/>
            </p:cNvSpPr>
            <p:nvPr/>
          </p:nvSpPr>
          <p:spPr bwMode="auto">
            <a:xfrm>
              <a:off x="2928" y="3024"/>
              <a:ext cx="216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663655" name="Line 103"/>
            <p:cNvSpPr>
              <a:spLocks noChangeShapeType="1"/>
            </p:cNvSpPr>
            <p:nvPr/>
          </p:nvSpPr>
          <p:spPr bwMode="auto">
            <a:xfrm>
              <a:off x="3216" y="316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56" name="Line 104"/>
            <p:cNvSpPr>
              <a:spLocks noChangeShapeType="1"/>
            </p:cNvSpPr>
            <p:nvPr/>
          </p:nvSpPr>
          <p:spPr bwMode="auto">
            <a:xfrm>
              <a:off x="3504" y="302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57" name="Line 105"/>
            <p:cNvSpPr>
              <a:spLocks noChangeShapeType="1"/>
            </p:cNvSpPr>
            <p:nvPr/>
          </p:nvSpPr>
          <p:spPr bwMode="auto">
            <a:xfrm>
              <a:off x="3504" y="3024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58" name="Line 106"/>
            <p:cNvSpPr>
              <a:spLocks noChangeShapeType="1"/>
            </p:cNvSpPr>
            <p:nvPr/>
          </p:nvSpPr>
          <p:spPr bwMode="auto">
            <a:xfrm>
              <a:off x="4080" y="302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59" name="Line 107"/>
            <p:cNvSpPr>
              <a:spLocks noChangeShapeType="1"/>
            </p:cNvSpPr>
            <p:nvPr/>
          </p:nvSpPr>
          <p:spPr bwMode="auto">
            <a:xfrm>
              <a:off x="4080" y="3168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60" name="Line 108"/>
            <p:cNvSpPr>
              <a:spLocks noChangeShapeType="1"/>
            </p:cNvSpPr>
            <p:nvPr/>
          </p:nvSpPr>
          <p:spPr bwMode="auto">
            <a:xfrm>
              <a:off x="4656" y="264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61" name="Line 109"/>
            <p:cNvSpPr>
              <a:spLocks noChangeShapeType="1"/>
            </p:cNvSpPr>
            <p:nvPr/>
          </p:nvSpPr>
          <p:spPr bwMode="auto">
            <a:xfrm>
              <a:off x="4656" y="2640"/>
              <a:ext cx="288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62" name="Line 110"/>
            <p:cNvSpPr>
              <a:spLocks noChangeShapeType="1"/>
            </p:cNvSpPr>
            <p:nvPr/>
          </p:nvSpPr>
          <p:spPr bwMode="auto">
            <a:xfrm>
              <a:off x="4944" y="264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63" name="Line 111"/>
            <p:cNvSpPr>
              <a:spLocks noChangeShapeType="1"/>
            </p:cNvSpPr>
            <p:nvPr/>
          </p:nvSpPr>
          <p:spPr bwMode="auto">
            <a:xfrm>
              <a:off x="4944" y="278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64" name="Line 112"/>
            <p:cNvSpPr>
              <a:spLocks noChangeShapeType="1"/>
            </p:cNvSpPr>
            <p:nvPr/>
          </p:nvSpPr>
          <p:spPr bwMode="auto">
            <a:xfrm>
              <a:off x="4560" y="235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65" name="Line 113"/>
            <p:cNvSpPr>
              <a:spLocks noChangeShapeType="1"/>
            </p:cNvSpPr>
            <p:nvPr/>
          </p:nvSpPr>
          <p:spPr bwMode="auto">
            <a:xfrm>
              <a:off x="4704" y="235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66" name="Line 114"/>
            <p:cNvSpPr>
              <a:spLocks noChangeShapeType="1"/>
            </p:cNvSpPr>
            <p:nvPr/>
          </p:nvSpPr>
          <p:spPr bwMode="auto">
            <a:xfrm>
              <a:off x="4800" y="235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67" name="Line 115"/>
            <p:cNvSpPr>
              <a:spLocks noChangeShapeType="1"/>
            </p:cNvSpPr>
            <p:nvPr/>
          </p:nvSpPr>
          <p:spPr bwMode="auto">
            <a:xfrm>
              <a:off x="4896" y="235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68" name="Line 116"/>
            <p:cNvSpPr>
              <a:spLocks noChangeShapeType="1"/>
            </p:cNvSpPr>
            <p:nvPr/>
          </p:nvSpPr>
          <p:spPr bwMode="auto">
            <a:xfrm>
              <a:off x="4560" y="23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69" name="Line 117"/>
            <p:cNvSpPr>
              <a:spLocks noChangeShapeType="1"/>
            </p:cNvSpPr>
            <p:nvPr/>
          </p:nvSpPr>
          <p:spPr bwMode="auto">
            <a:xfrm>
              <a:off x="4704" y="2496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70" name="Line 118"/>
            <p:cNvSpPr>
              <a:spLocks noChangeShapeType="1"/>
            </p:cNvSpPr>
            <p:nvPr/>
          </p:nvSpPr>
          <p:spPr bwMode="auto">
            <a:xfrm>
              <a:off x="4800" y="2352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71" name="Line 119"/>
            <p:cNvSpPr>
              <a:spLocks noChangeShapeType="1"/>
            </p:cNvSpPr>
            <p:nvPr/>
          </p:nvSpPr>
          <p:spPr bwMode="auto">
            <a:xfrm>
              <a:off x="4896" y="249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72" name="Line 120"/>
            <p:cNvSpPr>
              <a:spLocks noChangeShapeType="1"/>
            </p:cNvSpPr>
            <p:nvPr/>
          </p:nvSpPr>
          <p:spPr bwMode="auto">
            <a:xfrm>
              <a:off x="4656" y="302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73" name="Line 121"/>
            <p:cNvSpPr>
              <a:spLocks noChangeShapeType="1"/>
            </p:cNvSpPr>
            <p:nvPr/>
          </p:nvSpPr>
          <p:spPr bwMode="auto">
            <a:xfrm>
              <a:off x="4704" y="302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74" name="Line 122"/>
            <p:cNvSpPr>
              <a:spLocks noChangeShapeType="1"/>
            </p:cNvSpPr>
            <p:nvPr/>
          </p:nvSpPr>
          <p:spPr bwMode="auto">
            <a:xfrm>
              <a:off x="4800" y="302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75" name="Line 123"/>
            <p:cNvSpPr>
              <a:spLocks noChangeShapeType="1"/>
            </p:cNvSpPr>
            <p:nvPr/>
          </p:nvSpPr>
          <p:spPr bwMode="auto">
            <a:xfrm>
              <a:off x="4896" y="302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76" name="Line 124"/>
            <p:cNvSpPr>
              <a:spLocks noChangeShapeType="1"/>
            </p:cNvSpPr>
            <p:nvPr/>
          </p:nvSpPr>
          <p:spPr bwMode="auto">
            <a:xfrm>
              <a:off x="4656" y="3024"/>
              <a:ext cx="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77" name="Line 125"/>
            <p:cNvSpPr>
              <a:spLocks noChangeShapeType="1"/>
            </p:cNvSpPr>
            <p:nvPr/>
          </p:nvSpPr>
          <p:spPr bwMode="auto">
            <a:xfrm>
              <a:off x="4704" y="316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78" name="Line 126"/>
            <p:cNvSpPr>
              <a:spLocks noChangeShapeType="1"/>
            </p:cNvSpPr>
            <p:nvPr/>
          </p:nvSpPr>
          <p:spPr bwMode="auto">
            <a:xfrm>
              <a:off x="4800" y="3024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679" name="Line 127"/>
            <p:cNvSpPr>
              <a:spLocks noChangeShapeType="1"/>
            </p:cNvSpPr>
            <p:nvPr/>
          </p:nvSpPr>
          <p:spPr bwMode="auto">
            <a:xfrm>
              <a:off x="4896" y="316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3680" name="Oval 128"/>
          <p:cNvSpPr>
            <a:spLocks noChangeArrowheads="1"/>
          </p:cNvSpPr>
          <p:nvPr/>
        </p:nvSpPr>
        <p:spPr bwMode="auto">
          <a:xfrm>
            <a:off x="7162800" y="4572000"/>
            <a:ext cx="838200" cy="6096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3685" name="Rectangle 133"/>
          <p:cNvSpPr>
            <a:spLocks noChangeArrowheads="1"/>
          </p:cNvSpPr>
          <p:nvPr/>
        </p:nvSpPr>
        <p:spPr bwMode="auto">
          <a:xfrm>
            <a:off x="762000" y="2940050"/>
            <a:ext cx="7848600" cy="4021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Level sensitive D latch</a:t>
            </a:r>
          </a:p>
        </p:txBody>
      </p:sp>
      <p:sp>
        <p:nvSpPr>
          <p:cNvPr id="663686" name="Rectangle 134"/>
          <p:cNvSpPr>
            <a:spLocks noChangeArrowheads="1"/>
          </p:cNvSpPr>
          <p:nvPr/>
        </p:nvSpPr>
        <p:spPr bwMode="auto">
          <a:xfrm>
            <a:off x="838200" y="5562600"/>
            <a:ext cx="7848600" cy="685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200">
                <a:solidFill>
                  <a:schemeClr val="tx1"/>
                </a:solidFill>
              </a:rPr>
              <a:t>latch is </a:t>
            </a:r>
            <a:r>
              <a:rPr lang="en-US" sz="2200"/>
              <a:t>transparent</a:t>
            </a:r>
            <a:r>
              <a:rPr lang="en-US" sz="2200">
                <a:solidFill>
                  <a:schemeClr val="tx1"/>
                </a:solidFill>
              </a:rPr>
              <a:t> when clock is high (copies input to output)</a:t>
            </a:r>
          </a:p>
        </p:txBody>
      </p:sp>
    </p:spTree>
    <p:extLst>
      <p:ext uri="{BB962C8B-B14F-4D97-AF65-F5344CB8AC3E}">
        <p14:creationId xmlns:p14="http://schemas.microsoft.com/office/powerpoint/2010/main" val="758702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680" grpId="0" animBg="1"/>
      <p:bldP spid="663685" grpId="0"/>
      <p:bldP spid="66368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Two-Sided Clock Constraint</a:t>
            </a:r>
          </a:p>
        </p:txBody>
      </p:sp>
      <p:sp>
        <p:nvSpPr>
          <p:cNvPr id="66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848600" cy="428625"/>
          </a:xfrm>
        </p:spPr>
        <p:txBody>
          <a:bodyPr/>
          <a:lstStyle/>
          <a:p>
            <a:r>
              <a:rPr lang="en-US"/>
              <a:t>Race problem with latch based design …</a:t>
            </a: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1371600" y="1524000"/>
            <a:ext cx="5486400" cy="1341438"/>
            <a:chOff x="864" y="960"/>
            <a:chExt cx="3456" cy="845"/>
          </a:xfrm>
        </p:grpSpPr>
        <p:sp>
          <p:nvSpPr>
            <p:cNvPr id="664580" name="Rectangle 4"/>
            <p:cNvSpPr>
              <a:spLocks noChangeArrowheads="1"/>
            </p:cNvSpPr>
            <p:nvPr/>
          </p:nvSpPr>
          <p:spPr bwMode="auto">
            <a:xfrm>
              <a:off x="1584" y="1056"/>
              <a:ext cx="576" cy="5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4581" name="Text Box 5"/>
            <p:cNvSpPr txBox="1">
              <a:spLocks noChangeArrowheads="1"/>
            </p:cNvSpPr>
            <p:nvPr/>
          </p:nvSpPr>
          <p:spPr bwMode="auto">
            <a:xfrm>
              <a:off x="1536" y="1104"/>
              <a:ext cx="185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64582" name="Text Box 6"/>
            <p:cNvSpPr txBox="1">
              <a:spLocks noChangeArrowheads="1"/>
            </p:cNvSpPr>
            <p:nvPr/>
          </p:nvSpPr>
          <p:spPr bwMode="auto">
            <a:xfrm>
              <a:off x="1536" y="1392"/>
              <a:ext cx="334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clock</a:t>
              </a:r>
            </a:p>
          </p:txBody>
        </p:sp>
        <p:sp>
          <p:nvSpPr>
            <p:cNvPr id="664583" name="Text Box 7"/>
            <p:cNvSpPr txBox="1">
              <a:spLocks noChangeArrowheads="1"/>
            </p:cNvSpPr>
            <p:nvPr/>
          </p:nvSpPr>
          <p:spPr bwMode="auto">
            <a:xfrm>
              <a:off x="2016" y="1104"/>
              <a:ext cx="191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664584" name="Text Box 8"/>
            <p:cNvSpPr txBox="1">
              <a:spLocks noChangeArrowheads="1"/>
            </p:cNvSpPr>
            <p:nvPr/>
          </p:nvSpPr>
          <p:spPr bwMode="auto">
            <a:xfrm>
              <a:off x="1968" y="1392"/>
              <a:ext cx="21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!Q</a:t>
              </a:r>
            </a:p>
          </p:txBody>
        </p:sp>
        <p:sp>
          <p:nvSpPr>
            <p:cNvPr id="664585" name="Text Box 9"/>
            <p:cNvSpPr txBox="1">
              <a:spLocks noChangeArrowheads="1"/>
            </p:cNvSpPr>
            <p:nvPr/>
          </p:nvSpPr>
          <p:spPr bwMode="auto">
            <a:xfrm>
              <a:off x="1665" y="1200"/>
              <a:ext cx="494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</a:rPr>
                <a:t>D-latch0</a:t>
              </a:r>
            </a:p>
          </p:txBody>
        </p:sp>
        <p:sp>
          <p:nvSpPr>
            <p:cNvPr id="664586" name="Rectangle 10"/>
            <p:cNvSpPr>
              <a:spLocks noChangeArrowheads="1"/>
            </p:cNvSpPr>
            <p:nvPr/>
          </p:nvSpPr>
          <p:spPr bwMode="auto">
            <a:xfrm>
              <a:off x="3456" y="1056"/>
              <a:ext cx="576" cy="5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4587" name="Text Box 11"/>
            <p:cNvSpPr txBox="1">
              <a:spLocks noChangeArrowheads="1"/>
            </p:cNvSpPr>
            <p:nvPr/>
          </p:nvSpPr>
          <p:spPr bwMode="auto">
            <a:xfrm>
              <a:off x="3408" y="1104"/>
              <a:ext cx="185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64588" name="Text Box 12"/>
            <p:cNvSpPr txBox="1">
              <a:spLocks noChangeArrowheads="1"/>
            </p:cNvSpPr>
            <p:nvPr/>
          </p:nvSpPr>
          <p:spPr bwMode="auto">
            <a:xfrm>
              <a:off x="3408" y="1392"/>
              <a:ext cx="334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clock</a:t>
              </a:r>
            </a:p>
          </p:txBody>
        </p:sp>
        <p:sp>
          <p:nvSpPr>
            <p:cNvPr id="664589" name="Text Box 13"/>
            <p:cNvSpPr txBox="1">
              <a:spLocks noChangeArrowheads="1"/>
            </p:cNvSpPr>
            <p:nvPr/>
          </p:nvSpPr>
          <p:spPr bwMode="auto">
            <a:xfrm>
              <a:off x="3888" y="1104"/>
              <a:ext cx="191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664590" name="Text Box 14"/>
            <p:cNvSpPr txBox="1">
              <a:spLocks noChangeArrowheads="1"/>
            </p:cNvSpPr>
            <p:nvPr/>
          </p:nvSpPr>
          <p:spPr bwMode="auto">
            <a:xfrm>
              <a:off x="3840" y="1392"/>
              <a:ext cx="21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!Q</a:t>
              </a:r>
            </a:p>
          </p:txBody>
        </p:sp>
        <p:sp>
          <p:nvSpPr>
            <p:cNvPr id="664591" name="Text Box 15"/>
            <p:cNvSpPr txBox="1">
              <a:spLocks noChangeArrowheads="1"/>
            </p:cNvSpPr>
            <p:nvPr/>
          </p:nvSpPr>
          <p:spPr bwMode="auto">
            <a:xfrm>
              <a:off x="3510" y="1200"/>
              <a:ext cx="494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</a:rPr>
                <a:t>D-latch1</a:t>
              </a:r>
            </a:p>
          </p:txBody>
        </p:sp>
        <p:sp>
          <p:nvSpPr>
            <p:cNvPr id="664592" name="Line 16"/>
            <p:cNvSpPr>
              <a:spLocks noChangeShapeType="1"/>
            </p:cNvSpPr>
            <p:nvPr/>
          </p:nvSpPr>
          <p:spPr bwMode="auto">
            <a:xfrm>
              <a:off x="2160" y="1200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4593" name="Line 17"/>
            <p:cNvSpPr>
              <a:spLocks noChangeShapeType="1"/>
            </p:cNvSpPr>
            <p:nvPr/>
          </p:nvSpPr>
          <p:spPr bwMode="auto">
            <a:xfrm>
              <a:off x="1248" y="1200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4594" name="Line 18"/>
            <p:cNvSpPr>
              <a:spLocks noChangeShapeType="1"/>
            </p:cNvSpPr>
            <p:nvPr/>
          </p:nvSpPr>
          <p:spPr bwMode="auto">
            <a:xfrm>
              <a:off x="3360" y="148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4595" name="Line 19"/>
            <p:cNvSpPr>
              <a:spLocks noChangeShapeType="1"/>
            </p:cNvSpPr>
            <p:nvPr/>
          </p:nvSpPr>
          <p:spPr bwMode="auto">
            <a:xfrm>
              <a:off x="3360" y="1488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4596" name="Line 20"/>
            <p:cNvSpPr>
              <a:spLocks noChangeShapeType="1"/>
            </p:cNvSpPr>
            <p:nvPr/>
          </p:nvSpPr>
          <p:spPr bwMode="auto">
            <a:xfrm>
              <a:off x="1200" y="1728"/>
              <a:ext cx="2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4597" name="Line 21"/>
            <p:cNvSpPr>
              <a:spLocks noChangeShapeType="1"/>
            </p:cNvSpPr>
            <p:nvPr/>
          </p:nvSpPr>
          <p:spPr bwMode="auto">
            <a:xfrm>
              <a:off x="1488" y="1488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4598" name="Line 22"/>
            <p:cNvSpPr>
              <a:spLocks noChangeShapeType="1"/>
            </p:cNvSpPr>
            <p:nvPr/>
          </p:nvSpPr>
          <p:spPr bwMode="auto">
            <a:xfrm>
              <a:off x="1488" y="148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4599" name="Line 23"/>
            <p:cNvSpPr>
              <a:spLocks noChangeShapeType="1"/>
            </p:cNvSpPr>
            <p:nvPr/>
          </p:nvSpPr>
          <p:spPr bwMode="auto">
            <a:xfrm>
              <a:off x="4032" y="1200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4600" name="Text Box 24"/>
            <p:cNvSpPr txBox="1">
              <a:spLocks noChangeArrowheads="1"/>
            </p:cNvSpPr>
            <p:nvPr/>
          </p:nvSpPr>
          <p:spPr bwMode="auto">
            <a:xfrm>
              <a:off x="864" y="1632"/>
              <a:ext cx="334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accent2"/>
                  </a:solidFill>
                </a:rPr>
                <a:t>clock</a:t>
              </a:r>
            </a:p>
          </p:txBody>
        </p:sp>
        <p:sp>
          <p:nvSpPr>
            <p:cNvPr id="664601" name="Line 25"/>
            <p:cNvSpPr>
              <a:spLocks noChangeShapeType="1"/>
            </p:cNvSpPr>
            <p:nvPr/>
          </p:nvSpPr>
          <p:spPr bwMode="auto">
            <a:xfrm>
              <a:off x="1248" y="960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4602" name="Line 26"/>
            <p:cNvSpPr>
              <a:spLocks noChangeShapeType="1"/>
            </p:cNvSpPr>
            <p:nvPr/>
          </p:nvSpPr>
          <p:spPr bwMode="auto">
            <a:xfrm>
              <a:off x="1248" y="960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4603" name="Line 27"/>
            <p:cNvSpPr>
              <a:spLocks noChangeShapeType="1"/>
            </p:cNvSpPr>
            <p:nvPr/>
          </p:nvSpPr>
          <p:spPr bwMode="auto">
            <a:xfrm>
              <a:off x="4320" y="960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4605" name="Rectangle 29"/>
          <p:cNvSpPr>
            <a:spLocks noChangeArrowheads="1"/>
          </p:cNvSpPr>
          <p:nvPr/>
        </p:nvSpPr>
        <p:spPr bwMode="auto">
          <a:xfrm>
            <a:off x="685800" y="3224213"/>
            <a:ext cx="7848600" cy="3100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Consider the case when D-latch0 holds a 0 and D-latch1 holds a 1 and you want to transfer the contents of D-latch0 to D-latch1 and </a:t>
            </a:r>
            <a:r>
              <a:rPr lang="en-US" sz="2400" dirty="0" smtClean="0">
                <a:solidFill>
                  <a:schemeClr val="tx1"/>
                </a:solidFill>
              </a:rPr>
              <a:t>vice-versa</a:t>
            </a:r>
            <a:endParaRPr lang="en-US" sz="2400" dirty="0">
              <a:solidFill>
                <a:schemeClr val="tx1"/>
              </a:solidFill>
            </a:endParaRP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200" dirty="0">
                <a:solidFill>
                  <a:schemeClr val="tx1"/>
                </a:solidFill>
              </a:rPr>
              <a:t>must have the clock high long enough for the transfer to take place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200" dirty="0">
                <a:solidFill>
                  <a:schemeClr val="tx1"/>
                </a:solidFill>
              </a:rPr>
              <a:t>must not leave the clock high so long that the transferred data is copied back into the original latch</a:t>
            </a:r>
          </a:p>
          <a:p>
            <a:pPr marL="287338" indent="-287338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/>
              <a:t>Two-sided</a:t>
            </a:r>
            <a:r>
              <a:rPr lang="en-US" sz="2400" dirty="0">
                <a:solidFill>
                  <a:schemeClr val="tx1"/>
                </a:solidFill>
              </a:rPr>
              <a:t> clock constraint</a:t>
            </a:r>
          </a:p>
        </p:txBody>
      </p:sp>
    </p:spTree>
    <p:extLst>
      <p:ext uri="{BB962C8B-B14F-4D97-AF65-F5344CB8AC3E}">
        <p14:creationId xmlns:p14="http://schemas.microsoft.com/office/powerpoint/2010/main" val="1906169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60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</a:t>
            </a:r>
            <a:r>
              <a:rPr lang="en-US" dirty="0" smtClean="0"/>
              <a:t>Elements</a:t>
            </a:r>
            <a:endParaRPr lang="en-US" dirty="0"/>
          </a:p>
        </p:txBody>
      </p:sp>
      <p:sp>
        <p:nvSpPr>
          <p:cNvPr id="66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25500"/>
            <a:ext cx="7848600" cy="5292731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dirty="0"/>
              <a:t>Solution is to use </a:t>
            </a:r>
            <a:r>
              <a:rPr lang="en-US" dirty="0" err="1"/>
              <a:t>flipflops</a:t>
            </a:r>
            <a:r>
              <a:rPr lang="en-US" dirty="0"/>
              <a:t> that change state (Q) only </a:t>
            </a:r>
            <a:r>
              <a:rPr lang="en-US" dirty="0" smtClean="0"/>
              <a:t>on a </a:t>
            </a:r>
            <a:r>
              <a:rPr lang="en-US" dirty="0">
                <a:solidFill>
                  <a:schemeClr val="accent1"/>
                </a:solidFill>
              </a:rPr>
              <a:t>clock edge </a:t>
            </a:r>
            <a:r>
              <a:rPr lang="en-US" dirty="0"/>
              <a:t>(master-slave)</a:t>
            </a:r>
          </a:p>
          <a:p>
            <a:pPr lvl="1">
              <a:spcBef>
                <a:spcPct val="20000"/>
              </a:spcBef>
            </a:pPr>
            <a:endParaRPr lang="en-US" sz="2600" dirty="0"/>
          </a:p>
          <a:p>
            <a:pPr lvl="1">
              <a:spcBef>
                <a:spcPct val="20000"/>
              </a:spcBef>
            </a:pPr>
            <a:endParaRPr lang="en-US" dirty="0"/>
          </a:p>
          <a:p>
            <a:pPr lvl="1">
              <a:spcBef>
                <a:spcPct val="20000"/>
              </a:spcBef>
            </a:pPr>
            <a:endParaRPr lang="en-US" dirty="0"/>
          </a:p>
          <a:p>
            <a:pPr lvl="1">
              <a:spcBef>
                <a:spcPct val="20000"/>
              </a:spcBef>
            </a:pPr>
            <a:endParaRPr lang="en-US" sz="2000" dirty="0"/>
          </a:p>
          <a:p>
            <a:pPr lvl="1">
              <a:spcBef>
                <a:spcPct val="20000"/>
              </a:spcBef>
            </a:pPr>
            <a:endParaRPr lang="en-US" sz="2000" dirty="0"/>
          </a:p>
          <a:p>
            <a:pPr lvl="1">
              <a:spcBef>
                <a:spcPct val="20000"/>
              </a:spcBef>
            </a:pPr>
            <a:endParaRPr lang="en-US" dirty="0"/>
          </a:p>
          <a:p>
            <a:pPr lvl="1">
              <a:spcBef>
                <a:spcPct val="20000"/>
              </a:spcBef>
            </a:pPr>
            <a:endParaRPr lang="en-US" sz="2000" dirty="0"/>
          </a:p>
          <a:p>
            <a:pPr lvl="1">
              <a:spcBef>
                <a:spcPct val="20000"/>
              </a:spcBef>
            </a:pPr>
            <a:r>
              <a:rPr lang="en-US" sz="2200" dirty="0"/>
              <a:t>master (first D-latch) copies the input when the clock is high (the slave (second D-latch) is locked in its memory state and the output does not change</a:t>
            </a:r>
            <a:r>
              <a:rPr lang="en-US" sz="2200" dirty="0" smtClean="0"/>
              <a:t>)</a:t>
            </a:r>
          </a:p>
          <a:p>
            <a:pPr lvl="1">
              <a:spcBef>
                <a:spcPct val="20000"/>
              </a:spcBef>
            </a:pPr>
            <a:endParaRPr lang="en-US" sz="2200" dirty="0"/>
          </a:p>
          <a:p>
            <a:pPr lvl="1">
              <a:spcBef>
                <a:spcPct val="20000"/>
              </a:spcBef>
            </a:pPr>
            <a:r>
              <a:rPr lang="en-US" sz="2200" dirty="0"/>
              <a:t>slave copies the master </a:t>
            </a:r>
            <a:r>
              <a:rPr lang="en-US" sz="2200" dirty="0">
                <a:solidFill>
                  <a:schemeClr val="accent1"/>
                </a:solidFill>
              </a:rPr>
              <a:t>when the clock goes low</a:t>
            </a:r>
            <a:r>
              <a:rPr lang="en-US" sz="2200" dirty="0"/>
              <a:t> (the master is now locked in its memory state so changes at the input are not loaded into the master D-latch)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7200" y="1905000"/>
            <a:ext cx="4079875" cy="1524000"/>
            <a:chOff x="1056" y="3072"/>
            <a:chExt cx="2570" cy="960"/>
          </a:xfrm>
        </p:grpSpPr>
        <p:sp>
          <p:nvSpPr>
            <p:cNvPr id="666629" name="Rectangle 5"/>
            <p:cNvSpPr>
              <a:spLocks noChangeArrowheads="1"/>
            </p:cNvSpPr>
            <p:nvPr/>
          </p:nvSpPr>
          <p:spPr bwMode="auto">
            <a:xfrm>
              <a:off x="1776" y="3216"/>
              <a:ext cx="576" cy="5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630" name="Text Box 6"/>
            <p:cNvSpPr txBox="1">
              <a:spLocks noChangeArrowheads="1"/>
            </p:cNvSpPr>
            <p:nvPr/>
          </p:nvSpPr>
          <p:spPr bwMode="auto">
            <a:xfrm>
              <a:off x="1728" y="3264"/>
              <a:ext cx="185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66631" name="Text Box 7"/>
            <p:cNvSpPr txBox="1">
              <a:spLocks noChangeArrowheads="1"/>
            </p:cNvSpPr>
            <p:nvPr/>
          </p:nvSpPr>
          <p:spPr bwMode="auto">
            <a:xfrm>
              <a:off x="1728" y="3552"/>
              <a:ext cx="334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clock</a:t>
              </a:r>
            </a:p>
          </p:txBody>
        </p:sp>
        <p:sp>
          <p:nvSpPr>
            <p:cNvPr id="666632" name="Text Box 8"/>
            <p:cNvSpPr txBox="1">
              <a:spLocks noChangeArrowheads="1"/>
            </p:cNvSpPr>
            <p:nvPr/>
          </p:nvSpPr>
          <p:spPr bwMode="auto">
            <a:xfrm>
              <a:off x="2208" y="3264"/>
              <a:ext cx="191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666633" name="Text Box 9"/>
            <p:cNvSpPr txBox="1">
              <a:spLocks noChangeArrowheads="1"/>
            </p:cNvSpPr>
            <p:nvPr/>
          </p:nvSpPr>
          <p:spPr bwMode="auto">
            <a:xfrm>
              <a:off x="2160" y="3552"/>
              <a:ext cx="21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!Q</a:t>
              </a:r>
            </a:p>
          </p:txBody>
        </p:sp>
        <p:sp>
          <p:nvSpPr>
            <p:cNvPr id="666634" name="Text Box 10"/>
            <p:cNvSpPr txBox="1">
              <a:spLocks noChangeArrowheads="1"/>
            </p:cNvSpPr>
            <p:nvPr/>
          </p:nvSpPr>
          <p:spPr bwMode="auto">
            <a:xfrm>
              <a:off x="1872" y="3360"/>
              <a:ext cx="441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D-latch</a:t>
              </a:r>
            </a:p>
          </p:txBody>
        </p:sp>
        <p:sp>
          <p:nvSpPr>
            <p:cNvPr id="666635" name="Rectangle 11"/>
            <p:cNvSpPr>
              <a:spLocks noChangeArrowheads="1"/>
            </p:cNvSpPr>
            <p:nvPr/>
          </p:nvSpPr>
          <p:spPr bwMode="auto">
            <a:xfrm>
              <a:off x="2544" y="3216"/>
              <a:ext cx="576" cy="5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636" name="Text Box 12"/>
            <p:cNvSpPr txBox="1">
              <a:spLocks noChangeArrowheads="1"/>
            </p:cNvSpPr>
            <p:nvPr/>
          </p:nvSpPr>
          <p:spPr bwMode="auto">
            <a:xfrm>
              <a:off x="2496" y="3264"/>
              <a:ext cx="185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66637" name="Text Box 13"/>
            <p:cNvSpPr txBox="1">
              <a:spLocks noChangeArrowheads="1"/>
            </p:cNvSpPr>
            <p:nvPr/>
          </p:nvSpPr>
          <p:spPr bwMode="auto">
            <a:xfrm>
              <a:off x="2496" y="3552"/>
              <a:ext cx="334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clock</a:t>
              </a:r>
            </a:p>
          </p:txBody>
        </p:sp>
        <p:sp>
          <p:nvSpPr>
            <p:cNvPr id="666638" name="Text Box 14"/>
            <p:cNvSpPr txBox="1">
              <a:spLocks noChangeArrowheads="1"/>
            </p:cNvSpPr>
            <p:nvPr/>
          </p:nvSpPr>
          <p:spPr bwMode="auto">
            <a:xfrm>
              <a:off x="2976" y="3264"/>
              <a:ext cx="191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666639" name="Text Box 15"/>
            <p:cNvSpPr txBox="1">
              <a:spLocks noChangeArrowheads="1"/>
            </p:cNvSpPr>
            <p:nvPr/>
          </p:nvSpPr>
          <p:spPr bwMode="auto">
            <a:xfrm>
              <a:off x="2928" y="3552"/>
              <a:ext cx="21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!Q</a:t>
              </a:r>
            </a:p>
          </p:txBody>
        </p:sp>
        <p:sp>
          <p:nvSpPr>
            <p:cNvPr id="666640" name="Text Box 16"/>
            <p:cNvSpPr txBox="1">
              <a:spLocks noChangeArrowheads="1"/>
            </p:cNvSpPr>
            <p:nvPr/>
          </p:nvSpPr>
          <p:spPr bwMode="auto">
            <a:xfrm>
              <a:off x="2640" y="3360"/>
              <a:ext cx="441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tx1"/>
                  </a:solidFill>
                </a:rPr>
                <a:t>D-latch</a:t>
              </a:r>
            </a:p>
          </p:txBody>
        </p:sp>
        <p:sp>
          <p:nvSpPr>
            <p:cNvPr id="666641" name="Line 17"/>
            <p:cNvSpPr>
              <a:spLocks noChangeShapeType="1"/>
            </p:cNvSpPr>
            <p:nvPr/>
          </p:nvSpPr>
          <p:spPr bwMode="auto">
            <a:xfrm>
              <a:off x="2352" y="3360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42" name="Line 18"/>
            <p:cNvSpPr>
              <a:spLocks noChangeShapeType="1"/>
            </p:cNvSpPr>
            <p:nvPr/>
          </p:nvSpPr>
          <p:spPr bwMode="auto">
            <a:xfrm>
              <a:off x="1440" y="3360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43" name="Line 19"/>
            <p:cNvSpPr>
              <a:spLocks noChangeShapeType="1"/>
            </p:cNvSpPr>
            <p:nvPr/>
          </p:nvSpPr>
          <p:spPr bwMode="auto">
            <a:xfrm>
              <a:off x="2448" y="364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44" name="Line 20"/>
            <p:cNvSpPr>
              <a:spLocks noChangeShapeType="1"/>
            </p:cNvSpPr>
            <p:nvPr/>
          </p:nvSpPr>
          <p:spPr bwMode="auto">
            <a:xfrm>
              <a:off x="2448" y="3648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45" name="Line 21"/>
            <p:cNvSpPr>
              <a:spLocks noChangeShapeType="1"/>
            </p:cNvSpPr>
            <p:nvPr/>
          </p:nvSpPr>
          <p:spPr bwMode="auto">
            <a:xfrm>
              <a:off x="2208" y="3888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1968" y="3840"/>
              <a:ext cx="240" cy="144"/>
              <a:chOff x="912" y="3504"/>
              <a:chExt cx="240" cy="144"/>
            </a:xfrm>
          </p:grpSpPr>
          <p:sp>
            <p:nvSpPr>
              <p:cNvPr id="666647" name="AutoShape 23"/>
              <p:cNvSpPr>
                <a:spLocks noChangeArrowheads="1"/>
              </p:cNvSpPr>
              <p:nvPr/>
            </p:nvSpPr>
            <p:spPr bwMode="auto">
              <a:xfrm rot="5400000">
                <a:off x="924" y="3492"/>
                <a:ext cx="144" cy="168"/>
              </a:xfrm>
              <a:prstGeom prst="triangle">
                <a:avLst>
                  <a:gd name="adj" fmla="val 50000"/>
                </a:avLst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6648" name="Oval 24"/>
              <p:cNvSpPr>
                <a:spLocks noChangeArrowheads="1"/>
              </p:cNvSpPr>
              <p:nvPr/>
            </p:nvSpPr>
            <p:spPr bwMode="auto">
              <a:xfrm>
                <a:off x="1104" y="3552"/>
                <a:ext cx="48" cy="4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66649" name="Line 25"/>
            <p:cNvSpPr>
              <a:spLocks noChangeShapeType="1"/>
            </p:cNvSpPr>
            <p:nvPr/>
          </p:nvSpPr>
          <p:spPr bwMode="auto">
            <a:xfrm>
              <a:off x="1680" y="388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50" name="Line 26"/>
            <p:cNvSpPr>
              <a:spLocks noChangeShapeType="1"/>
            </p:cNvSpPr>
            <p:nvPr/>
          </p:nvSpPr>
          <p:spPr bwMode="auto">
            <a:xfrm>
              <a:off x="1680" y="3648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51" name="Line 27"/>
            <p:cNvSpPr>
              <a:spLocks noChangeShapeType="1"/>
            </p:cNvSpPr>
            <p:nvPr/>
          </p:nvSpPr>
          <p:spPr bwMode="auto">
            <a:xfrm>
              <a:off x="1440" y="364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52" name="Line 28"/>
            <p:cNvSpPr>
              <a:spLocks noChangeShapeType="1"/>
            </p:cNvSpPr>
            <p:nvPr/>
          </p:nvSpPr>
          <p:spPr bwMode="auto">
            <a:xfrm>
              <a:off x="3120" y="3360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53" name="Line 29"/>
            <p:cNvSpPr>
              <a:spLocks noChangeShapeType="1"/>
            </p:cNvSpPr>
            <p:nvPr/>
          </p:nvSpPr>
          <p:spPr bwMode="auto">
            <a:xfrm>
              <a:off x="3120" y="364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54" name="Text Box 30"/>
            <p:cNvSpPr txBox="1">
              <a:spLocks noChangeArrowheads="1"/>
            </p:cNvSpPr>
            <p:nvPr/>
          </p:nvSpPr>
          <p:spPr bwMode="auto">
            <a:xfrm>
              <a:off x="3408" y="3264"/>
              <a:ext cx="191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666655" name="Text Box 31"/>
            <p:cNvSpPr txBox="1">
              <a:spLocks noChangeArrowheads="1"/>
            </p:cNvSpPr>
            <p:nvPr/>
          </p:nvSpPr>
          <p:spPr bwMode="auto">
            <a:xfrm>
              <a:off x="3408" y="3552"/>
              <a:ext cx="218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!Q</a:t>
              </a:r>
            </a:p>
          </p:txBody>
        </p:sp>
        <p:sp>
          <p:nvSpPr>
            <p:cNvPr id="666656" name="Text Box 32"/>
            <p:cNvSpPr txBox="1">
              <a:spLocks noChangeArrowheads="1"/>
            </p:cNvSpPr>
            <p:nvPr/>
          </p:nvSpPr>
          <p:spPr bwMode="auto">
            <a:xfrm>
              <a:off x="1200" y="3264"/>
              <a:ext cx="185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66657" name="Text Box 33"/>
            <p:cNvSpPr txBox="1">
              <a:spLocks noChangeArrowheads="1"/>
            </p:cNvSpPr>
            <p:nvPr/>
          </p:nvSpPr>
          <p:spPr bwMode="auto">
            <a:xfrm>
              <a:off x="1056" y="3552"/>
              <a:ext cx="334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accent2"/>
                  </a:solidFill>
                </a:rPr>
                <a:t>clock</a:t>
              </a:r>
            </a:p>
          </p:txBody>
        </p:sp>
        <p:sp>
          <p:nvSpPr>
            <p:cNvPr id="666658" name="Rectangle 34"/>
            <p:cNvSpPr>
              <a:spLocks noChangeArrowheads="1"/>
            </p:cNvSpPr>
            <p:nvPr/>
          </p:nvSpPr>
          <p:spPr bwMode="auto">
            <a:xfrm>
              <a:off x="1536" y="3072"/>
              <a:ext cx="1728" cy="960"/>
            </a:xfrm>
            <a:prstGeom prst="rect">
              <a:avLst/>
            </a:prstGeom>
            <a:noFill/>
            <a:ln w="12700" cap="rnd">
              <a:solidFill>
                <a:schemeClr val="accent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4648200" y="1981200"/>
            <a:ext cx="3810000" cy="1403350"/>
            <a:chOff x="2928" y="1104"/>
            <a:chExt cx="2400" cy="884"/>
          </a:xfrm>
        </p:grpSpPr>
        <p:sp>
          <p:nvSpPr>
            <p:cNvPr id="666659" name="Line 35"/>
            <p:cNvSpPr>
              <a:spLocks noChangeShapeType="1"/>
            </p:cNvSpPr>
            <p:nvPr/>
          </p:nvSpPr>
          <p:spPr bwMode="auto">
            <a:xfrm>
              <a:off x="3312" y="153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60" name="Line 36"/>
            <p:cNvSpPr>
              <a:spLocks noChangeShapeType="1"/>
            </p:cNvSpPr>
            <p:nvPr/>
          </p:nvSpPr>
          <p:spPr bwMode="auto">
            <a:xfrm>
              <a:off x="3600" y="139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61" name="Line 37"/>
            <p:cNvSpPr>
              <a:spLocks noChangeShapeType="1"/>
            </p:cNvSpPr>
            <p:nvPr/>
          </p:nvSpPr>
          <p:spPr bwMode="auto">
            <a:xfrm>
              <a:off x="3600" y="139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62" name="Line 38"/>
            <p:cNvSpPr>
              <a:spLocks noChangeShapeType="1"/>
            </p:cNvSpPr>
            <p:nvPr/>
          </p:nvSpPr>
          <p:spPr bwMode="auto">
            <a:xfrm>
              <a:off x="3888" y="1392"/>
              <a:ext cx="0" cy="14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63" name="Line 39"/>
            <p:cNvSpPr>
              <a:spLocks noChangeShapeType="1"/>
            </p:cNvSpPr>
            <p:nvPr/>
          </p:nvSpPr>
          <p:spPr bwMode="auto">
            <a:xfrm>
              <a:off x="3888" y="153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64" name="Line 40"/>
            <p:cNvSpPr>
              <a:spLocks noChangeShapeType="1"/>
            </p:cNvSpPr>
            <p:nvPr/>
          </p:nvSpPr>
          <p:spPr bwMode="auto">
            <a:xfrm>
              <a:off x="4176" y="139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65" name="Line 41"/>
            <p:cNvSpPr>
              <a:spLocks noChangeShapeType="1"/>
            </p:cNvSpPr>
            <p:nvPr/>
          </p:nvSpPr>
          <p:spPr bwMode="auto">
            <a:xfrm>
              <a:off x="4176" y="139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66" name="Line 42"/>
            <p:cNvSpPr>
              <a:spLocks noChangeShapeType="1"/>
            </p:cNvSpPr>
            <p:nvPr/>
          </p:nvSpPr>
          <p:spPr bwMode="auto">
            <a:xfrm>
              <a:off x="4464" y="1392"/>
              <a:ext cx="0" cy="14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67" name="Line 43"/>
            <p:cNvSpPr>
              <a:spLocks noChangeShapeType="1"/>
            </p:cNvSpPr>
            <p:nvPr/>
          </p:nvSpPr>
          <p:spPr bwMode="auto">
            <a:xfrm>
              <a:off x="4464" y="153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68" name="Line 44"/>
            <p:cNvSpPr>
              <a:spLocks noChangeShapeType="1"/>
            </p:cNvSpPr>
            <p:nvPr/>
          </p:nvSpPr>
          <p:spPr bwMode="auto">
            <a:xfrm>
              <a:off x="3312" y="124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69" name="Line 45"/>
            <p:cNvSpPr>
              <a:spLocks noChangeShapeType="1"/>
            </p:cNvSpPr>
            <p:nvPr/>
          </p:nvSpPr>
          <p:spPr bwMode="auto">
            <a:xfrm>
              <a:off x="3504" y="110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70" name="Line 46"/>
            <p:cNvSpPr>
              <a:spLocks noChangeShapeType="1"/>
            </p:cNvSpPr>
            <p:nvPr/>
          </p:nvSpPr>
          <p:spPr bwMode="auto">
            <a:xfrm>
              <a:off x="3504" y="110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71" name="Line 47"/>
            <p:cNvSpPr>
              <a:spLocks noChangeShapeType="1"/>
            </p:cNvSpPr>
            <p:nvPr/>
          </p:nvSpPr>
          <p:spPr bwMode="auto">
            <a:xfrm>
              <a:off x="4032" y="110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72" name="Line 48"/>
            <p:cNvSpPr>
              <a:spLocks noChangeShapeType="1"/>
            </p:cNvSpPr>
            <p:nvPr/>
          </p:nvSpPr>
          <p:spPr bwMode="auto">
            <a:xfrm>
              <a:off x="4032" y="1248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73" name="Text Box 49"/>
            <p:cNvSpPr txBox="1">
              <a:spLocks noChangeArrowheads="1"/>
            </p:cNvSpPr>
            <p:nvPr/>
          </p:nvSpPr>
          <p:spPr bwMode="auto">
            <a:xfrm>
              <a:off x="2928" y="1440"/>
              <a:ext cx="407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clock</a:t>
              </a:r>
            </a:p>
          </p:txBody>
        </p:sp>
        <p:sp>
          <p:nvSpPr>
            <p:cNvPr id="666674" name="Text Box 50"/>
            <p:cNvSpPr txBox="1">
              <a:spLocks noChangeArrowheads="1"/>
            </p:cNvSpPr>
            <p:nvPr/>
          </p:nvSpPr>
          <p:spPr bwMode="auto">
            <a:xfrm>
              <a:off x="3024" y="1104"/>
              <a:ext cx="208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66675" name="Text Box 51"/>
            <p:cNvSpPr txBox="1">
              <a:spLocks noChangeArrowheads="1"/>
            </p:cNvSpPr>
            <p:nvPr/>
          </p:nvSpPr>
          <p:spPr bwMode="auto">
            <a:xfrm>
              <a:off x="3024" y="1776"/>
              <a:ext cx="216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666676" name="Line 52"/>
            <p:cNvSpPr>
              <a:spLocks noChangeShapeType="1"/>
            </p:cNvSpPr>
            <p:nvPr/>
          </p:nvSpPr>
          <p:spPr bwMode="auto">
            <a:xfrm>
              <a:off x="3312" y="1920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77" name="Line 53"/>
            <p:cNvSpPr>
              <a:spLocks noChangeShapeType="1"/>
            </p:cNvSpPr>
            <p:nvPr/>
          </p:nvSpPr>
          <p:spPr bwMode="auto">
            <a:xfrm>
              <a:off x="3888" y="177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78" name="Line 54"/>
            <p:cNvSpPr>
              <a:spLocks noChangeShapeType="1"/>
            </p:cNvSpPr>
            <p:nvPr/>
          </p:nvSpPr>
          <p:spPr bwMode="auto">
            <a:xfrm>
              <a:off x="3888" y="177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79" name="Line 55"/>
            <p:cNvSpPr>
              <a:spLocks noChangeShapeType="1"/>
            </p:cNvSpPr>
            <p:nvPr/>
          </p:nvSpPr>
          <p:spPr bwMode="auto">
            <a:xfrm>
              <a:off x="4464" y="177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80" name="Line 56"/>
            <p:cNvSpPr>
              <a:spLocks noChangeShapeType="1"/>
            </p:cNvSpPr>
            <p:nvPr/>
          </p:nvSpPr>
          <p:spPr bwMode="auto">
            <a:xfrm>
              <a:off x="4464" y="192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81" name="Line 57"/>
            <p:cNvSpPr>
              <a:spLocks noChangeShapeType="1"/>
            </p:cNvSpPr>
            <p:nvPr/>
          </p:nvSpPr>
          <p:spPr bwMode="auto">
            <a:xfrm>
              <a:off x="4752" y="139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82" name="Line 58"/>
            <p:cNvSpPr>
              <a:spLocks noChangeShapeType="1"/>
            </p:cNvSpPr>
            <p:nvPr/>
          </p:nvSpPr>
          <p:spPr bwMode="auto">
            <a:xfrm>
              <a:off x="4752" y="139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83" name="Line 59"/>
            <p:cNvSpPr>
              <a:spLocks noChangeShapeType="1"/>
            </p:cNvSpPr>
            <p:nvPr/>
          </p:nvSpPr>
          <p:spPr bwMode="auto">
            <a:xfrm>
              <a:off x="5040" y="1392"/>
              <a:ext cx="0" cy="14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84" name="Line 60"/>
            <p:cNvSpPr>
              <a:spLocks noChangeShapeType="1"/>
            </p:cNvSpPr>
            <p:nvPr/>
          </p:nvSpPr>
          <p:spPr bwMode="auto">
            <a:xfrm>
              <a:off x="5040" y="153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85" name="Line 61"/>
            <p:cNvSpPr>
              <a:spLocks noChangeShapeType="1"/>
            </p:cNvSpPr>
            <p:nvPr/>
          </p:nvSpPr>
          <p:spPr bwMode="auto">
            <a:xfrm>
              <a:off x="4656" y="110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86" name="Line 62"/>
            <p:cNvSpPr>
              <a:spLocks noChangeShapeType="1"/>
            </p:cNvSpPr>
            <p:nvPr/>
          </p:nvSpPr>
          <p:spPr bwMode="auto">
            <a:xfrm>
              <a:off x="4800" y="110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87" name="Line 63"/>
            <p:cNvSpPr>
              <a:spLocks noChangeShapeType="1"/>
            </p:cNvSpPr>
            <p:nvPr/>
          </p:nvSpPr>
          <p:spPr bwMode="auto">
            <a:xfrm>
              <a:off x="4896" y="110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88" name="Line 64"/>
            <p:cNvSpPr>
              <a:spLocks noChangeShapeType="1"/>
            </p:cNvSpPr>
            <p:nvPr/>
          </p:nvSpPr>
          <p:spPr bwMode="auto">
            <a:xfrm>
              <a:off x="4992" y="110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89" name="Line 65"/>
            <p:cNvSpPr>
              <a:spLocks noChangeShapeType="1"/>
            </p:cNvSpPr>
            <p:nvPr/>
          </p:nvSpPr>
          <p:spPr bwMode="auto">
            <a:xfrm>
              <a:off x="4656" y="11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90" name="Line 66"/>
            <p:cNvSpPr>
              <a:spLocks noChangeShapeType="1"/>
            </p:cNvSpPr>
            <p:nvPr/>
          </p:nvSpPr>
          <p:spPr bwMode="auto">
            <a:xfrm>
              <a:off x="4800" y="124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91" name="Line 67"/>
            <p:cNvSpPr>
              <a:spLocks noChangeShapeType="1"/>
            </p:cNvSpPr>
            <p:nvPr/>
          </p:nvSpPr>
          <p:spPr bwMode="auto">
            <a:xfrm>
              <a:off x="4896" y="1104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692" name="Line 68"/>
            <p:cNvSpPr>
              <a:spLocks noChangeShapeType="1"/>
            </p:cNvSpPr>
            <p:nvPr/>
          </p:nvSpPr>
          <p:spPr bwMode="auto">
            <a:xfrm>
              <a:off x="4992" y="124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0247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627" grpId="0" build="p" bldLvl="2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One-Sided </a:t>
            </a:r>
            <a:r>
              <a:rPr lang="en-US" dirty="0"/>
              <a:t>Clock Constraint</a:t>
            </a:r>
          </a:p>
        </p:txBody>
      </p:sp>
      <p:sp>
        <p:nvSpPr>
          <p:cNvPr id="69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848600" cy="789960"/>
          </a:xfrm>
        </p:spPr>
        <p:txBody>
          <a:bodyPr/>
          <a:lstStyle/>
          <a:p>
            <a:r>
              <a:rPr lang="en-US" dirty="0" smtClean="0"/>
              <a:t>Edge-triggered (master-slave) </a:t>
            </a:r>
            <a:r>
              <a:rPr lang="en-US" dirty="0" err="1"/>
              <a:t>flipflops</a:t>
            </a:r>
            <a:r>
              <a:rPr lang="en-US" dirty="0"/>
              <a:t> </a:t>
            </a:r>
            <a:r>
              <a:rPr lang="en-US" dirty="0" smtClean="0"/>
              <a:t>remove </a:t>
            </a:r>
            <a:r>
              <a:rPr lang="en-US" dirty="0"/>
              <a:t>one of the clock constraints</a:t>
            </a:r>
          </a:p>
        </p:txBody>
      </p:sp>
      <p:sp>
        <p:nvSpPr>
          <p:cNvPr id="698373" name="Rectangle 5"/>
          <p:cNvSpPr>
            <a:spLocks noChangeArrowheads="1"/>
          </p:cNvSpPr>
          <p:nvPr/>
        </p:nvSpPr>
        <p:spPr bwMode="auto">
          <a:xfrm>
            <a:off x="2819400" y="2209800"/>
            <a:ext cx="9144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8374" name="Text Box 6"/>
          <p:cNvSpPr txBox="1">
            <a:spLocks noChangeArrowheads="1"/>
          </p:cNvSpPr>
          <p:nvPr/>
        </p:nvSpPr>
        <p:spPr bwMode="auto">
          <a:xfrm>
            <a:off x="2743200" y="2286000"/>
            <a:ext cx="2936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698375" name="Text Box 7"/>
          <p:cNvSpPr txBox="1">
            <a:spLocks noChangeArrowheads="1"/>
          </p:cNvSpPr>
          <p:nvPr/>
        </p:nvSpPr>
        <p:spPr bwMode="auto">
          <a:xfrm>
            <a:off x="2898775" y="2743200"/>
            <a:ext cx="5302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clock</a:t>
            </a:r>
          </a:p>
        </p:txBody>
      </p:sp>
      <p:sp>
        <p:nvSpPr>
          <p:cNvPr id="698376" name="Text Box 8"/>
          <p:cNvSpPr txBox="1">
            <a:spLocks noChangeArrowheads="1"/>
          </p:cNvSpPr>
          <p:nvPr/>
        </p:nvSpPr>
        <p:spPr bwMode="auto">
          <a:xfrm>
            <a:off x="3505200" y="2286000"/>
            <a:ext cx="3032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698377" name="Text Box 9"/>
          <p:cNvSpPr txBox="1">
            <a:spLocks noChangeArrowheads="1"/>
          </p:cNvSpPr>
          <p:nvPr/>
        </p:nvSpPr>
        <p:spPr bwMode="auto">
          <a:xfrm>
            <a:off x="3429000" y="2743200"/>
            <a:ext cx="34607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!Q</a:t>
            </a:r>
          </a:p>
        </p:txBody>
      </p:sp>
      <p:sp>
        <p:nvSpPr>
          <p:cNvPr id="698378" name="Text Box 10"/>
          <p:cNvSpPr txBox="1">
            <a:spLocks noChangeArrowheads="1"/>
          </p:cNvSpPr>
          <p:nvPr/>
        </p:nvSpPr>
        <p:spPr bwMode="auto">
          <a:xfrm>
            <a:off x="3008313" y="2438400"/>
            <a:ext cx="649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MS-ff0</a:t>
            </a:r>
          </a:p>
        </p:txBody>
      </p:sp>
      <p:sp>
        <p:nvSpPr>
          <p:cNvPr id="698379" name="Rectangle 11"/>
          <p:cNvSpPr>
            <a:spLocks noChangeArrowheads="1"/>
          </p:cNvSpPr>
          <p:nvPr/>
        </p:nvSpPr>
        <p:spPr bwMode="auto">
          <a:xfrm>
            <a:off x="5791200" y="2209800"/>
            <a:ext cx="9144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8380" name="Text Box 12"/>
          <p:cNvSpPr txBox="1">
            <a:spLocks noChangeArrowheads="1"/>
          </p:cNvSpPr>
          <p:nvPr/>
        </p:nvSpPr>
        <p:spPr bwMode="auto">
          <a:xfrm>
            <a:off x="5715000" y="2286000"/>
            <a:ext cx="2936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698381" name="Text Box 13"/>
          <p:cNvSpPr txBox="1">
            <a:spLocks noChangeArrowheads="1"/>
          </p:cNvSpPr>
          <p:nvPr/>
        </p:nvSpPr>
        <p:spPr bwMode="auto">
          <a:xfrm>
            <a:off x="5870575" y="2743200"/>
            <a:ext cx="5302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clock</a:t>
            </a:r>
          </a:p>
        </p:txBody>
      </p:sp>
      <p:sp>
        <p:nvSpPr>
          <p:cNvPr id="698382" name="Text Box 14"/>
          <p:cNvSpPr txBox="1">
            <a:spLocks noChangeArrowheads="1"/>
          </p:cNvSpPr>
          <p:nvPr/>
        </p:nvSpPr>
        <p:spPr bwMode="auto">
          <a:xfrm>
            <a:off x="6477000" y="2286000"/>
            <a:ext cx="3032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698383" name="Text Box 15"/>
          <p:cNvSpPr txBox="1">
            <a:spLocks noChangeArrowheads="1"/>
          </p:cNvSpPr>
          <p:nvPr/>
        </p:nvSpPr>
        <p:spPr bwMode="auto">
          <a:xfrm>
            <a:off x="6400800" y="2743200"/>
            <a:ext cx="34607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!Q</a:t>
            </a:r>
          </a:p>
        </p:txBody>
      </p:sp>
      <p:sp>
        <p:nvSpPr>
          <p:cNvPr id="698384" name="Text Box 16"/>
          <p:cNvSpPr txBox="1">
            <a:spLocks noChangeArrowheads="1"/>
          </p:cNvSpPr>
          <p:nvPr/>
        </p:nvSpPr>
        <p:spPr bwMode="auto">
          <a:xfrm>
            <a:off x="5903913" y="2438400"/>
            <a:ext cx="649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MS-ff1</a:t>
            </a:r>
          </a:p>
        </p:txBody>
      </p:sp>
      <p:sp>
        <p:nvSpPr>
          <p:cNvPr id="698385" name="Line 17"/>
          <p:cNvSpPr>
            <a:spLocks noChangeShapeType="1"/>
          </p:cNvSpPr>
          <p:nvPr/>
        </p:nvSpPr>
        <p:spPr bwMode="auto">
          <a:xfrm>
            <a:off x="3733800" y="24384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8386" name="Line 18"/>
          <p:cNvSpPr>
            <a:spLocks noChangeShapeType="1"/>
          </p:cNvSpPr>
          <p:nvPr/>
        </p:nvSpPr>
        <p:spPr bwMode="auto">
          <a:xfrm>
            <a:off x="2286000" y="2438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8387" name="Line 19"/>
          <p:cNvSpPr>
            <a:spLocks noChangeShapeType="1"/>
          </p:cNvSpPr>
          <p:nvPr/>
        </p:nvSpPr>
        <p:spPr bwMode="auto">
          <a:xfrm>
            <a:off x="5638800" y="2895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8388" name="Line 20"/>
          <p:cNvSpPr>
            <a:spLocks noChangeShapeType="1"/>
          </p:cNvSpPr>
          <p:nvPr/>
        </p:nvSpPr>
        <p:spPr bwMode="auto">
          <a:xfrm>
            <a:off x="5638800" y="2895600"/>
            <a:ext cx="0" cy="3810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8389" name="Line 21"/>
          <p:cNvSpPr>
            <a:spLocks noChangeShapeType="1"/>
          </p:cNvSpPr>
          <p:nvPr/>
        </p:nvSpPr>
        <p:spPr bwMode="auto">
          <a:xfrm>
            <a:off x="2209800" y="3276600"/>
            <a:ext cx="3429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8390" name="Line 22"/>
          <p:cNvSpPr>
            <a:spLocks noChangeShapeType="1"/>
          </p:cNvSpPr>
          <p:nvPr/>
        </p:nvSpPr>
        <p:spPr bwMode="auto">
          <a:xfrm>
            <a:off x="2667000" y="2895600"/>
            <a:ext cx="0" cy="3810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8391" name="Line 23"/>
          <p:cNvSpPr>
            <a:spLocks noChangeShapeType="1"/>
          </p:cNvSpPr>
          <p:nvPr/>
        </p:nvSpPr>
        <p:spPr bwMode="auto">
          <a:xfrm>
            <a:off x="2667000" y="2895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8392" name="Line 24"/>
          <p:cNvSpPr>
            <a:spLocks noChangeShapeType="1"/>
          </p:cNvSpPr>
          <p:nvPr/>
        </p:nvSpPr>
        <p:spPr bwMode="auto">
          <a:xfrm>
            <a:off x="6705600" y="24384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8393" name="Text Box 25"/>
          <p:cNvSpPr txBox="1">
            <a:spLocks noChangeArrowheads="1"/>
          </p:cNvSpPr>
          <p:nvPr/>
        </p:nvSpPr>
        <p:spPr bwMode="auto">
          <a:xfrm>
            <a:off x="1676400" y="3124200"/>
            <a:ext cx="5302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accent2"/>
                </a:solidFill>
              </a:rPr>
              <a:t>clock</a:t>
            </a:r>
          </a:p>
        </p:txBody>
      </p:sp>
      <p:sp>
        <p:nvSpPr>
          <p:cNvPr id="698394" name="Line 26"/>
          <p:cNvSpPr>
            <a:spLocks noChangeShapeType="1"/>
          </p:cNvSpPr>
          <p:nvPr/>
        </p:nvSpPr>
        <p:spPr bwMode="auto">
          <a:xfrm>
            <a:off x="2286000" y="20574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8395" name="Line 27"/>
          <p:cNvSpPr>
            <a:spLocks noChangeShapeType="1"/>
          </p:cNvSpPr>
          <p:nvPr/>
        </p:nvSpPr>
        <p:spPr bwMode="auto">
          <a:xfrm>
            <a:off x="2286000" y="2057400"/>
            <a:ext cx="487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8396" name="Line 28"/>
          <p:cNvSpPr>
            <a:spLocks noChangeShapeType="1"/>
          </p:cNvSpPr>
          <p:nvPr/>
        </p:nvSpPr>
        <p:spPr bwMode="auto">
          <a:xfrm>
            <a:off x="7162800" y="20574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8397" name="Rectangle 29"/>
          <p:cNvSpPr>
            <a:spLocks noChangeArrowheads="1"/>
          </p:cNvSpPr>
          <p:nvPr/>
        </p:nvSpPr>
        <p:spPr bwMode="auto">
          <a:xfrm>
            <a:off x="685800" y="3714750"/>
            <a:ext cx="7848600" cy="22749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Consider the case when MS-ff0 holds a 0 and </a:t>
            </a:r>
            <a:r>
              <a:rPr lang="en-US" sz="2400" dirty="0" smtClean="0">
                <a:solidFill>
                  <a:schemeClr val="tx1"/>
                </a:solidFill>
              </a:rPr>
              <a:t>MS-ff1 </a:t>
            </a:r>
            <a:r>
              <a:rPr lang="en-US" sz="2400" dirty="0">
                <a:solidFill>
                  <a:schemeClr val="tx1"/>
                </a:solidFill>
              </a:rPr>
              <a:t>holds a 1 and you want to transfer the contents of MS-ff0 to MS-ff1 </a:t>
            </a:r>
            <a:r>
              <a:rPr lang="en-US" sz="2400">
                <a:solidFill>
                  <a:schemeClr val="tx1"/>
                </a:solidFill>
              </a:rPr>
              <a:t>and </a:t>
            </a:r>
            <a:r>
              <a:rPr lang="en-US" sz="2400" smtClean="0">
                <a:solidFill>
                  <a:schemeClr val="tx1"/>
                </a:solidFill>
              </a:rPr>
              <a:t>vice-versa</a:t>
            </a:r>
            <a:endParaRPr lang="en-US" sz="2400" dirty="0">
              <a:solidFill>
                <a:schemeClr val="tx1"/>
              </a:solidFill>
            </a:endParaRP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200" dirty="0">
                <a:solidFill>
                  <a:schemeClr val="tx1"/>
                </a:solidFill>
              </a:rPr>
              <a:t>must have the clock cycle time long enough to accommodate the worst case delay path</a:t>
            </a:r>
          </a:p>
          <a:p>
            <a:pPr marL="287338" indent="-287338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/>
              <a:t>One-sided</a:t>
            </a:r>
            <a:r>
              <a:rPr lang="en-US" sz="2400" dirty="0">
                <a:solidFill>
                  <a:schemeClr val="tx1"/>
                </a:solidFill>
              </a:rPr>
              <a:t> clock constraint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2819400" y="2819400"/>
            <a:ext cx="152400" cy="152400"/>
            <a:chOff x="384" y="1632"/>
            <a:chExt cx="96" cy="96"/>
          </a:xfrm>
        </p:grpSpPr>
        <p:sp>
          <p:nvSpPr>
            <p:cNvPr id="698398" name="Line 30"/>
            <p:cNvSpPr>
              <a:spLocks noChangeShapeType="1"/>
            </p:cNvSpPr>
            <p:nvPr/>
          </p:nvSpPr>
          <p:spPr bwMode="auto">
            <a:xfrm>
              <a:off x="384" y="1632"/>
              <a:ext cx="96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8399" name="Line 31"/>
            <p:cNvSpPr>
              <a:spLocks noChangeShapeType="1"/>
            </p:cNvSpPr>
            <p:nvPr/>
          </p:nvSpPr>
          <p:spPr bwMode="auto">
            <a:xfrm flipH="1">
              <a:off x="384" y="1680"/>
              <a:ext cx="96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5791200" y="2819400"/>
            <a:ext cx="152400" cy="152400"/>
            <a:chOff x="384" y="1632"/>
            <a:chExt cx="96" cy="96"/>
          </a:xfrm>
        </p:grpSpPr>
        <p:sp>
          <p:nvSpPr>
            <p:cNvPr id="698402" name="Line 34"/>
            <p:cNvSpPr>
              <a:spLocks noChangeShapeType="1"/>
            </p:cNvSpPr>
            <p:nvPr/>
          </p:nvSpPr>
          <p:spPr bwMode="auto">
            <a:xfrm>
              <a:off x="384" y="1632"/>
              <a:ext cx="96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8403" name="Line 35"/>
            <p:cNvSpPr>
              <a:spLocks noChangeShapeType="1"/>
            </p:cNvSpPr>
            <p:nvPr/>
          </p:nvSpPr>
          <p:spPr bwMode="auto">
            <a:xfrm flipH="1">
              <a:off x="384" y="1680"/>
              <a:ext cx="96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8405" name="Oval 37"/>
          <p:cNvSpPr>
            <a:spLocks noChangeArrowheads="1"/>
          </p:cNvSpPr>
          <p:nvPr/>
        </p:nvSpPr>
        <p:spPr bwMode="auto">
          <a:xfrm>
            <a:off x="5715000" y="2819400"/>
            <a:ext cx="76200" cy="76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06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397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Latches vs Flipflops</a:t>
            </a:r>
          </a:p>
        </p:txBody>
      </p:sp>
      <p:sp>
        <p:nvSpPr>
          <p:cNvPr id="6871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848600" cy="3452813"/>
          </a:xfrm>
          <a:noFill/>
          <a:ln/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Output is equal to the stored value inside the element </a:t>
            </a:r>
          </a:p>
          <a:p>
            <a:r>
              <a:rPr lang="en-US" altLang="zh-CN" dirty="0">
                <a:ea typeface="宋体" pitchFamily="2" charset="-122"/>
              </a:rPr>
              <a:t>Change of state (value) is based on the clock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Latches:  output changes whenever the inputs change and the clock is asserted (level sensitive methodology)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Two-sided timing constraint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Flip-flop:  output changes only on a clock edge (edge-triggered methodology)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One-sided timing constraint</a:t>
            </a:r>
          </a:p>
        </p:txBody>
      </p:sp>
      <p:sp>
        <p:nvSpPr>
          <p:cNvPr id="687110" name="Rectangle 6"/>
          <p:cNvSpPr>
            <a:spLocks noChangeArrowheads="1"/>
          </p:cNvSpPr>
          <p:nvPr/>
        </p:nvSpPr>
        <p:spPr bwMode="auto">
          <a:xfrm>
            <a:off x="533400" y="4800600"/>
            <a:ext cx="7848600" cy="1184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 algn="ctr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600" dirty="0">
                <a:ea typeface="宋体" pitchFamily="2" charset="-122"/>
              </a:rPr>
              <a:t>A clocking methodology defines when signals can be read and written – wouldn’t want to read a signal at the same time it was being written </a:t>
            </a:r>
          </a:p>
        </p:txBody>
      </p:sp>
    </p:spTree>
    <p:extLst>
      <p:ext uri="{BB962C8B-B14F-4D97-AF65-F5344CB8AC3E}">
        <p14:creationId xmlns:p14="http://schemas.microsoft.com/office/powerpoint/2010/main" val="406298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10" grpId="0"/>
    </p:bldLst>
  </p:timing>
</p:sld>
</file>

<file path=ppt/theme/theme1.xml><?xml version="1.0" encoding="utf-8"?>
<a:theme xmlns:a="http://schemas.openxmlformats.org/drawingml/2006/main" name="mjicse431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mjicse43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jicse43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jicse43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35014</TotalTime>
  <Pages>47</Pages>
  <Words>4424</Words>
  <Application>Microsoft Macintosh PowerPoint</Application>
  <PresentationFormat>Letter Paper (8.5x11 in)</PresentationFormat>
  <Paragraphs>1981</Paragraphs>
  <Slides>52</Slides>
  <Notes>36</Notes>
  <HiddenSlides>15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52</vt:i4>
      </vt:variant>
    </vt:vector>
  </HeadingPairs>
  <TitlesOfParts>
    <vt:vector size="63" baseType="lpstr">
      <vt:lpstr>Calibri</vt:lpstr>
      <vt:lpstr>Calibri Light</vt:lpstr>
      <vt:lpstr>Courier New</vt:lpstr>
      <vt:lpstr>Monotype Sorts</vt:lpstr>
      <vt:lpstr>Times New Roman</vt:lpstr>
      <vt:lpstr>Wingdings</vt:lpstr>
      <vt:lpstr>宋体</vt:lpstr>
      <vt:lpstr>Arial</vt:lpstr>
      <vt:lpstr>mjicse431</vt:lpstr>
      <vt:lpstr>1_Custom Design</vt:lpstr>
      <vt:lpstr>Custom Design</vt:lpstr>
      <vt:lpstr>CSE 424  Computer Architecture    MIPS Datapath Components  and Design</vt:lpstr>
      <vt:lpstr>The Processor:  Datapath &amp; Control</vt:lpstr>
      <vt:lpstr>Abstract Implementation View</vt:lpstr>
      <vt:lpstr>Clocking Methodologies</vt:lpstr>
      <vt:lpstr>Our Implementation</vt:lpstr>
      <vt:lpstr>Fetching Instructions</vt:lpstr>
      <vt:lpstr>Decoding Instructions</vt:lpstr>
      <vt:lpstr>Reading Registers “Just in Case”</vt:lpstr>
      <vt:lpstr>Executing R Format Operations</vt:lpstr>
      <vt:lpstr>Consider the slt Instruction</vt:lpstr>
      <vt:lpstr>Executing Load and Store Operations</vt:lpstr>
      <vt:lpstr>Executing Load and Store Operations, con’t</vt:lpstr>
      <vt:lpstr>Executing Load and Store Operations, con’t</vt:lpstr>
      <vt:lpstr>Executing Branch Operations</vt:lpstr>
      <vt:lpstr>Executing Branch Operations, con’t</vt:lpstr>
      <vt:lpstr>Executing Branch Operations, con’t</vt:lpstr>
      <vt:lpstr>Executing Jump Operations</vt:lpstr>
      <vt:lpstr>Creating a Single Datapath from the Parts</vt:lpstr>
      <vt:lpstr>Fetch, R, and Memory Access Portions</vt:lpstr>
      <vt:lpstr>Multiplexer Insertion</vt:lpstr>
      <vt:lpstr>Clock Distribution</vt:lpstr>
      <vt:lpstr>Adding the Branch Portion</vt:lpstr>
      <vt:lpstr>Adding the Branch Portion</vt:lpstr>
      <vt:lpstr>Our Simple Control Structure</vt:lpstr>
      <vt:lpstr>Adding the Control</vt:lpstr>
      <vt:lpstr>(Almost) Complete Single Cycle Datapath</vt:lpstr>
      <vt:lpstr>ALU Control, Con’t</vt:lpstr>
      <vt:lpstr>ALU Control, Con’t</vt:lpstr>
      <vt:lpstr>ALU Control Truth Table</vt:lpstr>
      <vt:lpstr>ALU Control Truth Table</vt:lpstr>
      <vt:lpstr>ALU Control Logic</vt:lpstr>
      <vt:lpstr>(Almost) Complete Datapath with Control Unit</vt:lpstr>
      <vt:lpstr>Main Control Unit</vt:lpstr>
      <vt:lpstr>Adding the Control</vt:lpstr>
      <vt:lpstr>R-type Instruction Data/Control Flow</vt:lpstr>
      <vt:lpstr>R-type Instruction Data/Control Flow</vt:lpstr>
      <vt:lpstr>Store Word Instruction Data/Control Flow</vt:lpstr>
      <vt:lpstr>Store Word Instruction Data/Control Flow</vt:lpstr>
      <vt:lpstr>Load Word Instruction Data/Control Flow</vt:lpstr>
      <vt:lpstr>Load Word Instruction Data/Control Flow</vt:lpstr>
      <vt:lpstr>Branch Instruction Data/Control Flow</vt:lpstr>
      <vt:lpstr>Branch Instruction Data/Control Flow</vt:lpstr>
      <vt:lpstr>Main Control Unit</vt:lpstr>
      <vt:lpstr>Control Unit Logic</vt:lpstr>
      <vt:lpstr>Main Control Unit</vt:lpstr>
      <vt:lpstr>Additional Readings</vt:lpstr>
      <vt:lpstr>ALU Control</vt:lpstr>
      <vt:lpstr>State Elements</vt:lpstr>
      <vt:lpstr>Two-Sided Clock Constraint</vt:lpstr>
      <vt:lpstr>State Elements</vt:lpstr>
      <vt:lpstr>One-Sided Clock Constraint</vt:lpstr>
      <vt:lpstr>Latches vs Flipflops</vt:lpstr>
    </vt:vector>
  </TitlesOfParts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431. Computer Architecture</dc:title>
  <dc:subject>Lecture 01</dc:subject>
  <dc:creator>Janie Irwin</dc:creator>
  <cp:lastModifiedBy>Jog, Adwait</cp:lastModifiedBy>
  <cp:revision>789</cp:revision>
  <cp:lastPrinted>2019-09-25T16:06:43Z</cp:lastPrinted>
  <dcterms:created xsi:type="dcterms:W3CDTF">1997-08-19T16:58:46Z</dcterms:created>
  <dcterms:modified xsi:type="dcterms:W3CDTF">2019-10-02T16:31:56Z</dcterms:modified>
</cp:coreProperties>
</file>