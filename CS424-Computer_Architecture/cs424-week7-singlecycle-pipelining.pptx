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676" r:id="rId2"/>
    <p:sldMasterId id="2147483663" r:id="rId3"/>
  </p:sldMasterIdLst>
  <p:notesMasterIdLst>
    <p:notesMasterId r:id="rId44"/>
  </p:notesMasterIdLst>
  <p:handoutMasterIdLst>
    <p:handoutMasterId r:id="rId45"/>
  </p:handoutMasterIdLst>
  <p:sldIdLst>
    <p:sldId id="312" r:id="rId4"/>
    <p:sldId id="377" r:id="rId5"/>
    <p:sldId id="373" r:id="rId6"/>
    <p:sldId id="374" r:id="rId7"/>
    <p:sldId id="375" r:id="rId8"/>
    <p:sldId id="376" r:id="rId9"/>
    <p:sldId id="333" r:id="rId10"/>
    <p:sldId id="334" r:id="rId11"/>
    <p:sldId id="335" r:id="rId12"/>
    <p:sldId id="336" r:id="rId13"/>
    <p:sldId id="337" r:id="rId14"/>
    <p:sldId id="338" r:id="rId15"/>
    <p:sldId id="339" r:id="rId16"/>
    <p:sldId id="340" r:id="rId17"/>
    <p:sldId id="341" r:id="rId18"/>
    <p:sldId id="342" r:id="rId19"/>
    <p:sldId id="343" r:id="rId20"/>
    <p:sldId id="347" r:id="rId21"/>
    <p:sldId id="348" r:id="rId22"/>
    <p:sldId id="349" r:id="rId23"/>
    <p:sldId id="350" r:id="rId24"/>
    <p:sldId id="351" r:id="rId25"/>
    <p:sldId id="352" r:id="rId26"/>
    <p:sldId id="353" r:id="rId27"/>
    <p:sldId id="354" r:id="rId28"/>
    <p:sldId id="357" r:id="rId29"/>
    <p:sldId id="358" r:id="rId30"/>
    <p:sldId id="359" r:id="rId31"/>
    <p:sldId id="360" r:id="rId32"/>
    <p:sldId id="361" r:id="rId33"/>
    <p:sldId id="362" r:id="rId34"/>
    <p:sldId id="363" r:id="rId35"/>
    <p:sldId id="364" r:id="rId36"/>
    <p:sldId id="365" r:id="rId37"/>
    <p:sldId id="367" r:id="rId38"/>
    <p:sldId id="368" r:id="rId39"/>
    <p:sldId id="369" r:id="rId40"/>
    <p:sldId id="370" r:id="rId41"/>
    <p:sldId id="371" r:id="rId42"/>
    <p:sldId id="372" r:id="rId43"/>
  </p:sldIdLst>
  <p:sldSz cx="9144000" cy="6858000" type="letter"/>
  <p:notesSz cx="6985000" cy="92837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ern="1200">
        <a:solidFill>
          <a:schemeClr val="accent1"/>
        </a:solidFill>
        <a:latin typeface="Arial" charset="0"/>
        <a:ea typeface="+mn-ea"/>
        <a:cs typeface="+mn-cs"/>
      </a:defRPr>
    </a:lvl1pPr>
    <a:lvl2pPr marL="457200" algn="l" rtl="0" eaLnBrk="0" fontAlgn="base" hangingPunct="0">
      <a:spcBef>
        <a:spcPct val="0"/>
      </a:spcBef>
      <a:spcAft>
        <a:spcPct val="0"/>
      </a:spcAft>
      <a:defRPr kern="1200">
        <a:solidFill>
          <a:schemeClr val="accent1"/>
        </a:solidFill>
        <a:latin typeface="Arial" charset="0"/>
        <a:ea typeface="+mn-ea"/>
        <a:cs typeface="+mn-cs"/>
      </a:defRPr>
    </a:lvl2pPr>
    <a:lvl3pPr marL="914400" algn="l" rtl="0" eaLnBrk="0" fontAlgn="base" hangingPunct="0">
      <a:spcBef>
        <a:spcPct val="0"/>
      </a:spcBef>
      <a:spcAft>
        <a:spcPct val="0"/>
      </a:spcAft>
      <a:defRPr kern="1200">
        <a:solidFill>
          <a:schemeClr val="accent1"/>
        </a:solidFill>
        <a:latin typeface="Arial" charset="0"/>
        <a:ea typeface="+mn-ea"/>
        <a:cs typeface="+mn-cs"/>
      </a:defRPr>
    </a:lvl3pPr>
    <a:lvl4pPr marL="1371600" algn="l" rtl="0" eaLnBrk="0" fontAlgn="base" hangingPunct="0">
      <a:spcBef>
        <a:spcPct val="0"/>
      </a:spcBef>
      <a:spcAft>
        <a:spcPct val="0"/>
      </a:spcAft>
      <a:defRPr kern="1200">
        <a:solidFill>
          <a:schemeClr val="accent1"/>
        </a:solidFill>
        <a:latin typeface="Arial" charset="0"/>
        <a:ea typeface="+mn-ea"/>
        <a:cs typeface="+mn-cs"/>
      </a:defRPr>
    </a:lvl4pPr>
    <a:lvl5pPr marL="1828800" algn="l" rtl="0" eaLnBrk="0" fontAlgn="base" hangingPunct="0">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584">
          <p15:clr>
            <a:srgbClr val="A4A3A4"/>
          </p15:clr>
        </p15:guide>
      </p15:sldGuideLst>
    </p:ext>
    <p:ext uri="{2D200454-40CA-4A62-9FC3-DE9A4176ACB9}">
      <p15:notesGuideLst xmlns:p15="http://schemas.microsoft.com/office/powerpoint/2012/main">
        <p15:guide id="1" orient="horz" pos="2923">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8901F3"/>
    <a:srgbClr val="00A091"/>
    <a:srgbClr val="51DC00"/>
    <a:srgbClr val="5A11FD"/>
    <a:srgbClr val="000000"/>
    <a:srgbClr val="CC3399"/>
    <a:srgbClr val="0082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0" autoAdjust="0"/>
    <p:restoredTop sz="93129" autoAdjust="0"/>
  </p:normalViewPr>
  <p:slideViewPr>
    <p:cSldViewPr>
      <p:cViewPr varScale="1">
        <p:scale>
          <a:sx n="119" d="100"/>
          <a:sy n="119" d="100"/>
        </p:scale>
        <p:origin x="1656" y="184"/>
      </p:cViewPr>
      <p:guideLst>
        <p:guide orient="horz" pos="2160"/>
        <p:guide pos="15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840"/>
    </p:cViewPr>
  </p:sorterViewPr>
  <p:notesViewPr>
    <p:cSldViewPr>
      <p:cViewPr varScale="1">
        <p:scale>
          <a:sx n="84" d="100"/>
          <a:sy n="84" d="100"/>
        </p:scale>
        <p:origin x="-1932" y="-84"/>
      </p:cViewPr>
      <p:guideLst>
        <p:guide orient="horz" pos="2923"/>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5563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idx="2"/>
          </p:nvPr>
        </p:nvSpPr>
        <p:spPr bwMode="auto">
          <a:xfrm>
            <a:off x="1189038" y="598488"/>
            <a:ext cx="4622800" cy="3467100"/>
          </a:xfrm>
          <a:prstGeom prst="rect">
            <a:avLst/>
          </a:prstGeom>
          <a:noFill/>
          <a:ln w="12700">
            <a:noFill/>
            <a:miter lim="800000"/>
            <a:headEnd/>
            <a:tailEnd/>
          </a:ln>
        </p:spPr>
      </p:sp>
      <p:sp>
        <p:nvSpPr>
          <p:cNvPr id="2051" name="Rectangle 3"/>
          <p:cNvSpPr>
            <a:spLocks noGrp="1" noChangeArrowheads="1"/>
          </p:cNvSpPr>
          <p:nvPr>
            <p:ph type="body" sz="quarter" idx="3"/>
          </p:nvPr>
        </p:nvSpPr>
        <p:spPr bwMode="auto">
          <a:xfrm>
            <a:off x="525493" y="4408146"/>
            <a:ext cx="6019711" cy="4177665"/>
          </a:xfrm>
          <a:prstGeom prst="rect">
            <a:avLst/>
          </a:prstGeom>
          <a:noFill/>
          <a:ln w="12700">
            <a:solidFill>
              <a:schemeClr val="tx1"/>
            </a:solidFill>
            <a:miter lim="800000"/>
            <a:headEnd/>
            <a:tailEnd/>
          </a:ln>
          <a:effectLst/>
        </p:spPr>
        <p:txBody>
          <a:bodyPr vert="horz" wrap="square" lIns="93520" tIns="45939" rIns="93520" bIns="45939" numCol="1" anchor="t" anchorCtr="0" compatLnSpc="1">
            <a:prstTxWarp prst="textNoShape">
              <a:avLst/>
            </a:prstTxWarp>
          </a:bodyPr>
          <a:lstStyle/>
          <a:p>
            <a:pPr lvl="0"/>
            <a:r>
              <a:rPr lang="en-US" noProof="0"/>
              <a:t>we want this to be in font 11 and justify.</a:t>
            </a:r>
          </a:p>
        </p:txBody>
      </p:sp>
    </p:spTree>
    <p:extLst>
      <p:ext uri="{BB962C8B-B14F-4D97-AF65-F5344CB8AC3E}">
        <p14:creationId xmlns:p14="http://schemas.microsoft.com/office/powerpoint/2010/main" val="1934733741"/>
      </p:ext>
    </p:extLst>
  </p:cSld>
  <p:clrMap bg1="lt1" tx1="dk1" bg2="lt2" tx2="dk2" accent1="accent1" accent2="accent2" accent3="accent3" accent4="accent4" accent5="accent5" accent6="accent6" hlink="hlink" folHlink="folHlink"/>
  <p:hf hdr="0" dt="0"/>
  <p:notesStyle>
    <a:lvl1pPr algn="just" rtl="0" eaLnBrk="0" fontAlgn="base" hangingPunct="0">
      <a:lnSpc>
        <a:spcPct val="90000"/>
      </a:lnSpc>
      <a:spcBef>
        <a:spcPct val="40000"/>
      </a:spcBef>
      <a:spcAft>
        <a:spcPct val="0"/>
      </a:spcAft>
      <a:defRPr sz="1100"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noFill/>
          <a:ln w="9525">
            <a:noFill/>
          </a:ln>
        </p:spPr>
        <p:txBody>
          <a:bodyPr/>
          <a:lstStyle/>
          <a:p>
            <a:endParaRPr lang="en-US" dirty="0"/>
          </a:p>
        </p:txBody>
      </p:sp>
      <p:sp>
        <p:nvSpPr>
          <p:cNvPr id="56323" name="Rectangle 3"/>
          <p:cNvSpPr>
            <a:spLocks noGrp="1" noRot="1" noChangeAspect="1" noChangeArrowheads="1" noTextEdit="1"/>
          </p:cNvSpPr>
          <p:nvPr>
            <p:ph type="sldImg"/>
          </p:nvPr>
        </p:nvSpPr>
        <p:spPr/>
      </p:sp>
    </p:spTree>
    <p:extLst>
      <p:ext uri="{BB962C8B-B14F-4D97-AF65-F5344CB8AC3E}">
        <p14:creationId xmlns:p14="http://schemas.microsoft.com/office/powerpoint/2010/main" val="1945809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Rot="1" noChangeAspect="1" noChangeArrowheads="1" noTextEdit="1"/>
          </p:cNvSpPr>
          <p:nvPr>
            <p:ph type="sldImg"/>
          </p:nvPr>
        </p:nvSpPr>
        <p:spPr>
          <a:xfrm>
            <a:off x="1279525" y="619125"/>
            <a:ext cx="4779963" cy="3584575"/>
          </a:xfrm>
        </p:spPr>
      </p:sp>
      <p:sp>
        <p:nvSpPr>
          <p:cNvPr id="726019" name="Rectangle 3"/>
          <p:cNvSpPr>
            <a:spLocks noGrp="1" noChangeArrowheads="1"/>
          </p:cNvSpPr>
          <p:nvPr>
            <p:ph type="body" idx="1"/>
          </p:nvPr>
        </p:nvSpPr>
        <p:spPr>
          <a:xfrm>
            <a:off x="550863" y="4557713"/>
            <a:ext cx="6303962" cy="4321175"/>
          </a:xfrm>
          <a:ln/>
        </p:spPr>
        <p:txBody>
          <a:bodyPr lIns="96645" tIns="48323" rIns="96645" bIns="48323"/>
          <a:lstStyle/>
          <a:p>
            <a:r>
              <a:rPr lang="en-US" altLang="zh-CN"/>
              <a:t>For class handout – have a student come forward and mark the connections in the datapath that are active.  And show the state of the control lines.</a:t>
            </a:r>
          </a:p>
        </p:txBody>
      </p:sp>
    </p:spTree>
    <p:extLst>
      <p:ext uri="{BB962C8B-B14F-4D97-AF65-F5344CB8AC3E}">
        <p14:creationId xmlns:p14="http://schemas.microsoft.com/office/powerpoint/2010/main" val="692721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Rot="1" noChangeAspect="1" noChangeArrowheads="1" noTextEdit="1"/>
          </p:cNvSpPr>
          <p:nvPr>
            <p:ph type="sldImg"/>
          </p:nvPr>
        </p:nvSpPr>
        <p:spPr>
          <a:xfrm>
            <a:off x="1279525" y="619125"/>
            <a:ext cx="4779963" cy="3584575"/>
          </a:xfrm>
        </p:spPr>
      </p:sp>
      <p:sp>
        <p:nvSpPr>
          <p:cNvPr id="760835" name="Rectangle 3"/>
          <p:cNvSpPr>
            <a:spLocks noGrp="1" noChangeArrowheads="1"/>
          </p:cNvSpPr>
          <p:nvPr>
            <p:ph type="body" idx="1"/>
          </p:nvPr>
        </p:nvSpPr>
        <p:spPr>
          <a:xfrm>
            <a:off x="550863" y="4557713"/>
            <a:ext cx="6303962" cy="4321175"/>
          </a:xfrm>
          <a:ln/>
        </p:spPr>
        <p:txBody>
          <a:bodyPr lIns="96645" tIns="48323" rIns="96645" bIns="48323"/>
          <a:lstStyle/>
          <a:p>
            <a:r>
              <a:rPr lang="en-US" altLang="zh-CN" dirty="0"/>
              <a:t>For lecture</a:t>
            </a:r>
          </a:p>
        </p:txBody>
      </p:sp>
    </p:spTree>
    <p:extLst>
      <p:ext uri="{BB962C8B-B14F-4D97-AF65-F5344CB8AC3E}">
        <p14:creationId xmlns:p14="http://schemas.microsoft.com/office/powerpoint/2010/main" val="927674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Grp="1" noRot="1" noChangeAspect="1" noChangeArrowheads="1" noTextEdit="1"/>
          </p:cNvSpPr>
          <p:nvPr>
            <p:ph type="sldImg"/>
          </p:nvPr>
        </p:nvSpPr>
        <p:spPr>
          <a:xfrm>
            <a:off x="1266825" y="727075"/>
            <a:ext cx="4781550" cy="3586163"/>
          </a:xfrm>
          <a:ln cap="flat">
            <a:solidFill>
              <a:schemeClr val="tx1"/>
            </a:solidFill>
          </a:ln>
        </p:spPr>
      </p:sp>
      <p:sp>
        <p:nvSpPr>
          <p:cNvPr id="744451" name="Rectangle 3"/>
          <p:cNvSpPr>
            <a:spLocks noGrp="1" noChangeArrowheads="1"/>
          </p:cNvSpPr>
          <p:nvPr>
            <p:ph type="body" idx="1"/>
          </p:nvPr>
        </p:nvSpPr>
        <p:spPr>
          <a:xfrm>
            <a:off x="976313" y="4560888"/>
            <a:ext cx="5362575" cy="4319587"/>
          </a:xfrm>
          <a:ln>
            <a:noFill/>
          </a:ln>
        </p:spPr>
        <p:txBody>
          <a:bodyPr lIns="95632" tIns="46975" rIns="95632" bIns="46975"/>
          <a:lstStyle/>
          <a:p>
            <a:endParaRPr lang="zh-CN" altLang="en-US"/>
          </a:p>
        </p:txBody>
      </p:sp>
    </p:spTree>
    <p:extLst>
      <p:ext uri="{BB962C8B-B14F-4D97-AF65-F5344CB8AC3E}">
        <p14:creationId xmlns:p14="http://schemas.microsoft.com/office/powerpoint/2010/main" val="872218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Rot="1" noChangeAspect="1" noChangeArrowheads="1" noTextEdit="1"/>
          </p:cNvSpPr>
          <p:nvPr>
            <p:ph type="sldImg"/>
          </p:nvPr>
        </p:nvSpPr>
        <p:spPr>
          <a:xfrm>
            <a:off x="1279525" y="619125"/>
            <a:ext cx="4779963" cy="3584575"/>
          </a:xfrm>
        </p:spPr>
      </p:sp>
      <p:sp>
        <p:nvSpPr>
          <p:cNvPr id="787459" name="Rectangle 3"/>
          <p:cNvSpPr>
            <a:spLocks noGrp="1" noChangeArrowheads="1"/>
          </p:cNvSpPr>
          <p:nvPr>
            <p:ph type="body" idx="1"/>
          </p:nvPr>
        </p:nvSpPr>
        <p:spPr>
          <a:xfrm>
            <a:off x="550863" y="4557713"/>
            <a:ext cx="6303962" cy="4321175"/>
          </a:xfrm>
          <a:ln/>
        </p:spPr>
        <p:txBody>
          <a:bodyPr lIns="96645" tIns="48323" rIns="96645" bIns="48323"/>
          <a:lstStyle/>
          <a:p>
            <a:r>
              <a:rPr lang="en-US" altLang="zh-CN"/>
              <a:t>For class handout</a:t>
            </a:r>
          </a:p>
        </p:txBody>
      </p:sp>
    </p:spTree>
    <p:extLst>
      <p:ext uri="{BB962C8B-B14F-4D97-AF65-F5344CB8AC3E}">
        <p14:creationId xmlns:p14="http://schemas.microsoft.com/office/powerpoint/2010/main" val="1592693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ChangeArrowheads="1"/>
          </p:cNvSpPr>
          <p:nvPr>
            <p:ph type="body" idx="1"/>
          </p:nvPr>
        </p:nvSpPr>
        <p:spPr>
          <a:xfrm>
            <a:off x="976313" y="4560888"/>
            <a:ext cx="5362575" cy="4319587"/>
          </a:xfrm>
          <a:ln>
            <a:noFill/>
          </a:ln>
        </p:spPr>
        <p:txBody>
          <a:bodyPr lIns="95632" tIns="46975" rIns="95632" bIns="46975"/>
          <a:lstStyle/>
          <a:p>
            <a:endParaRPr lang="zh-CN" altLang="en-US"/>
          </a:p>
        </p:txBody>
      </p:sp>
      <p:sp>
        <p:nvSpPr>
          <p:cNvPr id="751619" name="Rectangle 3"/>
          <p:cNvSpPr>
            <a:spLocks noGrp="1" noRot="1" noChangeAspect="1" noChangeArrowheads="1" noTextEdit="1"/>
          </p:cNvSpPr>
          <p:nvPr>
            <p:ph type="sldImg"/>
          </p:nvPr>
        </p:nvSpPr>
        <p:spPr>
          <a:xfrm>
            <a:off x="1266825" y="727075"/>
            <a:ext cx="4781550" cy="3586163"/>
          </a:xfrm>
          <a:ln cap="flat">
            <a:solidFill>
              <a:schemeClr val="tx1"/>
            </a:solidFill>
          </a:ln>
        </p:spPr>
      </p:sp>
    </p:spTree>
    <p:extLst>
      <p:ext uri="{BB962C8B-B14F-4D97-AF65-F5344CB8AC3E}">
        <p14:creationId xmlns:p14="http://schemas.microsoft.com/office/powerpoint/2010/main" val="759136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Rot="1" noChangeAspect="1" noChangeArrowheads="1" noTextEdit="1"/>
          </p:cNvSpPr>
          <p:nvPr>
            <p:ph type="sldImg"/>
          </p:nvPr>
        </p:nvSpPr>
        <p:spPr/>
      </p:sp>
      <p:sp>
        <p:nvSpPr>
          <p:cNvPr id="768003" name="Rectangle 3"/>
          <p:cNvSpPr>
            <a:spLocks noGrp="1" noChangeArrowheads="1"/>
          </p:cNvSpPr>
          <p:nvPr>
            <p:ph type="body" idx="1"/>
          </p:nvPr>
        </p:nvSpPr>
        <p:spPr>
          <a:ln/>
        </p:spPr>
        <p:txBody>
          <a:bodyPr/>
          <a:lstStyle/>
          <a:p>
            <a:r>
              <a:rPr lang="en-US"/>
              <a:t>For class handout</a:t>
            </a:r>
          </a:p>
        </p:txBody>
      </p:sp>
    </p:spTree>
    <p:extLst>
      <p:ext uri="{BB962C8B-B14F-4D97-AF65-F5344CB8AC3E}">
        <p14:creationId xmlns:p14="http://schemas.microsoft.com/office/powerpoint/2010/main" val="707051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Rot="1" noChangeAspect="1" noChangeArrowheads="1" noTextEdit="1"/>
          </p:cNvSpPr>
          <p:nvPr>
            <p:ph type="sldImg"/>
          </p:nvPr>
        </p:nvSpPr>
        <p:spPr/>
      </p:sp>
      <p:sp>
        <p:nvSpPr>
          <p:cNvPr id="754691" name="Rectangle 3"/>
          <p:cNvSpPr>
            <a:spLocks noGrp="1" noChangeArrowheads="1"/>
          </p:cNvSpPr>
          <p:nvPr>
            <p:ph type="body" idx="1"/>
          </p:nvPr>
        </p:nvSpPr>
        <p:spPr>
          <a:ln/>
        </p:spPr>
        <p:txBody>
          <a:bodyPr/>
          <a:lstStyle/>
          <a:p>
            <a:r>
              <a:rPr lang="en-US" altLang="zh-CN"/>
              <a:t>For lecture</a:t>
            </a:r>
          </a:p>
          <a:p>
            <a:r>
              <a:rPr lang="en-US" altLang="zh-CN"/>
              <a:t>Note that PC is updated during I Mem read</a:t>
            </a:r>
          </a:p>
        </p:txBody>
      </p:sp>
    </p:spTree>
    <p:extLst>
      <p:ext uri="{BB962C8B-B14F-4D97-AF65-F5344CB8AC3E}">
        <p14:creationId xmlns:p14="http://schemas.microsoft.com/office/powerpoint/2010/main" val="928435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Rot="1" noChangeAspect="1" noChangeArrowheads="1" noTextEdit="1"/>
          </p:cNvSpPr>
          <p:nvPr>
            <p:ph type="sldImg"/>
          </p:nvPr>
        </p:nvSpPr>
        <p:spPr/>
      </p:sp>
      <p:sp>
        <p:nvSpPr>
          <p:cNvPr id="778243" name="Rectangle 3"/>
          <p:cNvSpPr>
            <a:spLocks noGrp="1" noChangeArrowheads="1"/>
          </p:cNvSpPr>
          <p:nvPr>
            <p:ph type="body" idx="1"/>
          </p:nvPr>
        </p:nvSpPr>
        <p:spPr>
          <a:xfrm>
            <a:off x="550863" y="4560888"/>
            <a:ext cx="6303962" cy="4319587"/>
          </a:xfrm>
          <a:ln/>
        </p:spPr>
        <p:txBody>
          <a:bodyPr lIns="96642" tIns="48321" rIns="96642" bIns="48321"/>
          <a:lstStyle/>
          <a:p>
            <a:r>
              <a:rPr lang="en-US"/>
              <a:t>In the Single Cycle implementation, the cycle time is set to accommodate the longest instruction, the Load instruction.</a:t>
            </a:r>
          </a:p>
          <a:p>
            <a:r>
              <a:rPr lang="en-US"/>
              <a:t>Since the cycle time has to be long enough for the load instruction, it is too long for the store instruction so the last part of the cycle here is wasted.</a:t>
            </a:r>
          </a:p>
        </p:txBody>
      </p:sp>
    </p:spTree>
    <p:extLst>
      <p:ext uri="{BB962C8B-B14F-4D97-AF65-F5344CB8AC3E}">
        <p14:creationId xmlns:p14="http://schemas.microsoft.com/office/powerpoint/2010/main" val="2090834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 reality the time per instruction in a pipeline processor is</a:t>
            </a:r>
            <a:r>
              <a:rPr lang="en-US" baseline="0" dirty="0"/>
              <a:t> longer than the minimum possible because 1) the pipeline stages may not be perfectly balanced and 2) pipelining involves some overhead (like pipeline stage isolation registers).</a:t>
            </a:r>
            <a:endParaRPr lang="en-US" dirty="0"/>
          </a:p>
        </p:txBody>
      </p:sp>
    </p:spTree>
    <p:extLst>
      <p:ext uri="{BB962C8B-B14F-4D97-AF65-F5344CB8AC3E}">
        <p14:creationId xmlns:p14="http://schemas.microsoft.com/office/powerpoint/2010/main" val="1438939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5010" name="Rectangle 2"/>
          <p:cNvSpPr>
            <a:spLocks noGrp="1" noChangeArrowheads="1"/>
          </p:cNvSpPr>
          <p:nvPr>
            <p:ph type="body" idx="1"/>
          </p:nvPr>
        </p:nvSpPr>
        <p:spPr>
          <a:xfrm>
            <a:off x="550334" y="4562237"/>
            <a:ext cx="6304279" cy="4320540"/>
          </a:xfrm>
          <a:noFill/>
          <a:ln>
            <a:noFill/>
          </a:ln>
        </p:spPr>
        <p:txBody>
          <a:bodyPr lIns="98224" tIns="48250" rIns="98224" bIns="48250"/>
          <a:lstStyle/>
          <a:p>
            <a:r>
              <a:rPr lang="en-US"/>
              <a:t>As shown here, each of these five steps will take one clock cycle to complete.</a:t>
            </a:r>
          </a:p>
        </p:txBody>
      </p:sp>
      <p:sp>
        <p:nvSpPr>
          <p:cNvPr id="1195011"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211968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a:xfrm>
            <a:off x="1" y="0"/>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r>
              <a:rPr lang="en-AU" sz="1300">
                <a:latin typeface="Times New Roman" pitchFamily="18" charset="0"/>
              </a:rPr>
              <a:t>Morgan Kaufmann Publishers</a:t>
            </a:r>
          </a:p>
        </p:txBody>
      </p:sp>
      <p:sp>
        <p:nvSpPr>
          <p:cNvPr id="171011" name="Rectangle 3"/>
          <p:cNvSpPr>
            <a:spLocks noGrp="1" noChangeArrowheads="1"/>
          </p:cNvSpPr>
          <p:nvPr>
            <p:ph type="dt" sz="quarter" idx="1"/>
          </p:nvPr>
        </p:nvSpPr>
        <p:spPr>
          <a:xfrm>
            <a:off x="4143427" y="0"/>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fld id="{2717C695-2F3C-4209-96FF-F2A8B32ABE5E}" type="datetime3">
              <a:rPr lang="en-AU" sz="1300">
                <a:latin typeface="Times New Roman" pitchFamily="18" charset="0"/>
              </a:rPr>
              <a:pPr/>
              <a:t>8 March, 2021</a:t>
            </a:fld>
            <a:endParaRPr lang="en-AU" sz="1300">
              <a:latin typeface="Times New Roman" pitchFamily="18" charset="0"/>
            </a:endParaRPr>
          </a:p>
        </p:txBody>
      </p:sp>
      <p:sp>
        <p:nvSpPr>
          <p:cNvPr id="171012" name="Rectangle 6"/>
          <p:cNvSpPr>
            <a:spLocks noGrp="1" noChangeArrowheads="1"/>
          </p:cNvSpPr>
          <p:nvPr>
            <p:ph type="ftr" sz="quarter" idx="4"/>
          </p:nvPr>
        </p:nvSpPr>
        <p:spPr>
          <a:xfrm>
            <a:off x="1" y="9120172"/>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r>
              <a:rPr lang="en-AU" sz="1300">
                <a:latin typeface="Times New Roman" pitchFamily="18" charset="0"/>
              </a:rPr>
              <a:t>Chapter 4 — The Processor</a:t>
            </a:r>
          </a:p>
        </p:txBody>
      </p:sp>
      <p:sp>
        <p:nvSpPr>
          <p:cNvPr id="171013" name="Rectangle 7"/>
          <p:cNvSpPr>
            <a:spLocks noGrp="1" noChangeArrowheads="1"/>
          </p:cNvSpPr>
          <p:nvPr>
            <p:ph type="sldNum" sz="quarter" idx="5"/>
          </p:nvPr>
        </p:nvSpPr>
        <p:spPr>
          <a:xfrm>
            <a:off x="4143427" y="9120172"/>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fld id="{E6458039-1257-4BAF-AC53-7CCAB4BA3FF2}" type="slidenum">
              <a:rPr lang="en-AU" sz="1300">
                <a:latin typeface="Times New Roman" pitchFamily="18" charset="0"/>
              </a:rPr>
              <a:pPr/>
              <a:t>13</a:t>
            </a:fld>
            <a:endParaRPr lang="en-AU" sz="1300">
              <a:latin typeface="Times New Roman" pitchFamily="18" charset="0"/>
            </a:endParaRPr>
          </a:p>
        </p:txBody>
      </p:sp>
      <p:sp>
        <p:nvSpPr>
          <p:cNvPr id="171014" name="Rectangle 2"/>
          <p:cNvSpPr>
            <a:spLocks noGrp="1" noRot="1" noChangeAspect="1" noChangeArrowheads="1" noTextEdit="1"/>
          </p:cNvSpPr>
          <p:nvPr>
            <p:ph type="sldImg"/>
          </p:nvPr>
        </p:nvSpPr>
        <p:spPr>
          <a:ln/>
        </p:spPr>
      </p:sp>
      <p:sp>
        <p:nvSpPr>
          <p:cNvPr id="171015"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777973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a:xfrm>
            <a:off x="1" y="0"/>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r>
              <a:rPr lang="en-AU" sz="1300">
                <a:latin typeface="Times New Roman" pitchFamily="18" charset="0"/>
              </a:rPr>
              <a:t>Morgan Kaufmann Publishers</a:t>
            </a:r>
          </a:p>
        </p:txBody>
      </p:sp>
      <p:sp>
        <p:nvSpPr>
          <p:cNvPr id="172035" name="Rectangle 3"/>
          <p:cNvSpPr>
            <a:spLocks noGrp="1" noChangeArrowheads="1"/>
          </p:cNvSpPr>
          <p:nvPr>
            <p:ph type="dt" sz="quarter" idx="1"/>
          </p:nvPr>
        </p:nvSpPr>
        <p:spPr>
          <a:xfrm>
            <a:off x="4143427" y="0"/>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fld id="{0854A7DD-6078-4502-A6FE-F1C5EBC76EFC}" type="datetime3">
              <a:rPr lang="en-AU" sz="1300">
                <a:latin typeface="Times New Roman" pitchFamily="18" charset="0"/>
              </a:rPr>
              <a:pPr/>
              <a:t>8 March, 2021</a:t>
            </a:fld>
            <a:endParaRPr lang="en-AU" sz="1300">
              <a:latin typeface="Times New Roman" pitchFamily="18" charset="0"/>
            </a:endParaRPr>
          </a:p>
        </p:txBody>
      </p:sp>
      <p:sp>
        <p:nvSpPr>
          <p:cNvPr id="172036" name="Rectangle 6"/>
          <p:cNvSpPr>
            <a:spLocks noGrp="1" noChangeArrowheads="1"/>
          </p:cNvSpPr>
          <p:nvPr>
            <p:ph type="ftr" sz="quarter" idx="4"/>
          </p:nvPr>
        </p:nvSpPr>
        <p:spPr>
          <a:xfrm>
            <a:off x="1" y="9120172"/>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r>
              <a:rPr lang="en-AU" sz="1300">
                <a:latin typeface="Times New Roman" pitchFamily="18" charset="0"/>
              </a:rPr>
              <a:t>Chapter 4 — The Processor</a:t>
            </a:r>
          </a:p>
        </p:txBody>
      </p:sp>
      <p:sp>
        <p:nvSpPr>
          <p:cNvPr id="172037" name="Rectangle 7"/>
          <p:cNvSpPr>
            <a:spLocks noGrp="1" noChangeArrowheads="1"/>
          </p:cNvSpPr>
          <p:nvPr>
            <p:ph type="sldNum" sz="quarter" idx="5"/>
          </p:nvPr>
        </p:nvSpPr>
        <p:spPr>
          <a:xfrm>
            <a:off x="4143427" y="9120172"/>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fld id="{FFDFCBAD-EA27-42DD-9829-49E211D199D1}" type="slidenum">
              <a:rPr lang="en-AU" sz="1300">
                <a:latin typeface="Times New Roman" pitchFamily="18" charset="0"/>
              </a:rPr>
              <a:pPr/>
              <a:t>14</a:t>
            </a:fld>
            <a:endParaRPr lang="en-AU" sz="1300">
              <a:latin typeface="Times New Roman" pitchFamily="18" charset="0"/>
            </a:endParaRPr>
          </a:p>
        </p:txBody>
      </p:sp>
      <p:sp>
        <p:nvSpPr>
          <p:cNvPr id="172038" name="Rectangle 2"/>
          <p:cNvSpPr>
            <a:spLocks noGrp="1" noRot="1" noChangeAspect="1" noChangeArrowheads="1" noTextEdit="1"/>
          </p:cNvSpPr>
          <p:nvPr>
            <p:ph type="sldImg"/>
          </p:nvPr>
        </p:nvSpPr>
        <p:spPr>
          <a:ln/>
        </p:spPr>
      </p:sp>
      <p:sp>
        <p:nvSpPr>
          <p:cNvPr id="172039"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1581079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xfrm>
            <a:off x="1" y="0"/>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r>
              <a:rPr lang="en-AU" sz="1300">
                <a:latin typeface="Times New Roman" pitchFamily="18" charset="0"/>
              </a:rPr>
              <a:t>Morgan Kaufmann Publishers</a:t>
            </a:r>
          </a:p>
        </p:txBody>
      </p:sp>
      <p:sp>
        <p:nvSpPr>
          <p:cNvPr id="173059" name="Rectangle 3"/>
          <p:cNvSpPr>
            <a:spLocks noGrp="1" noChangeArrowheads="1"/>
          </p:cNvSpPr>
          <p:nvPr>
            <p:ph type="dt" sz="quarter" idx="1"/>
          </p:nvPr>
        </p:nvSpPr>
        <p:spPr>
          <a:xfrm>
            <a:off x="4143427" y="0"/>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fld id="{1F514C03-11E8-4FE9-9AD4-B57660756403}" type="datetime3">
              <a:rPr lang="en-AU" sz="1300">
                <a:latin typeface="Times New Roman" pitchFamily="18" charset="0"/>
              </a:rPr>
              <a:pPr/>
              <a:t>8 March, 2021</a:t>
            </a:fld>
            <a:endParaRPr lang="en-AU" sz="1300">
              <a:latin typeface="Times New Roman" pitchFamily="18" charset="0"/>
            </a:endParaRPr>
          </a:p>
        </p:txBody>
      </p:sp>
      <p:sp>
        <p:nvSpPr>
          <p:cNvPr id="173060" name="Rectangle 6"/>
          <p:cNvSpPr>
            <a:spLocks noGrp="1" noChangeArrowheads="1"/>
          </p:cNvSpPr>
          <p:nvPr>
            <p:ph type="ftr" sz="quarter" idx="4"/>
          </p:nvPr>
        </p:nvSpPr>
        <p:spPr>
          <a:xfrm>
            <a:off x="1" y="9120172"/>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r>
              <a:rPr lang="en-AU" sz="1300">
                <a:latin typeface="Times New Roman" pitchFamily="18" charset="0"/>
              </a:rPr>
              <a:t>Chapter 4 — The Processor</a:t>
            </a:r>
          </a:p>
        </p:txBody>
      </p:sp>
      <p:sp>
        <p:nvSpPr>
          <p:cNvPr id="173061" name="Rectangle 7"/>
          <p:cNvSpPr>
            <a:spLocks noGrp="1" noChangeArrowheads="1"/>
          </p:cNvSpPr>
          <p:nvPr>
            <p:ph type="sldNum" sz="quarter" idx="5"/>
          </p:nvPr>
        </p:nvSpPr>
        <p:spPr>
          <a:xfrm>
            <a:off x="4143427" y="9120172"/>
            <a:ext cx="3170138" cy="479539"/>
          </a:xfrm>
          <a:prstGeom prst="rect">
            <a:avLst/>
          </a:prstGeom>
          <a:noFill/>
        </p:spPr>
        <p:txBody>
          <a:bodyPr/>
          <a:lstStyle>
            <a:lvl1pPr defTabSz="966788">
              <a:defRPr sz="1600">
                <a:solidFill>
                  <a:schemeClr val="tx1"/>
                </a:solidFill>
                <a:latin typeface="Arial" charset="0"/>
              </a:defRPr>
            </a:lvl1pPr>
            <a:lvl2pPr marL="742950" indent="-285750" defTabSz="966788">
              <a:defRPr sz="1600">
                <a:solidFill>
                  <a:schemeClr val="tx1"/>
                </a:solidFill>
                <a:latin typeface="Arial" charset="0"/>
              </a:defRPr>
            </a:lvl2pPr>
            <a:lvl3pPr marL="1143000" indent="-228600" defTabSz="966788">
              <a:defRPr sz="1600">
                <a:solidFill>
                  <a:schemeClr val="tx1"/>
                </a:solidFill>
                <a:latin typeface="Arial" charset="0"/>
              </a:defRPr>
            </a:lvl3pPr>
            <a:lvl4pPr marL="1600200" indent="-228600" defTabSz="966788">
              <a:defRPr sz="1600">
                <a:solidFill>
                  <a:schemeClr val="tx1"/>
                </a:solidFill>
                <a:latin typeface="Arial" charset="0"/>
              </a:defRPr>
            </a:lvl4pPr>
            <a:lvl5pPr marL="2057400" indent="-228600" defTabSz="966788">
              <a:defRPr sz="1600">
                <a:solidFill>
                  <a:schemeClr val="tx1"/>
                </a:solidFill>
                <a:latin typeface="Arial" charset="0"/>
              </a:defRPr>
            </a:lvl5pPr>
            <a:lvl6pPr marL="2514600" indent="-228600" algn="ctr" defTabSz="966788" eaLnBrk="0" fontAlgn="base" hangingPunct="0">
              <a:spcBef>
                <a:spcPct val="0"/>
              </a:spcBef>
              <a:spcAft>
                <a:spcPct val="0"/>
              </a:spcAft>
              <a:defRPr sz="1600">
                <a:solidFill>
                  <a:schemeClr val="tx1"/>
                </a:solidFill>
                <a:latin typeface="Arial" charset="0"/>
              </a:defRPr>
            </a:lvl6pPr>
            <a:lvl7pPr marL="2971800" indent="-228600" algn="ctr" defTabSz="966788" eaLnBrk="0" fontAlgn="base" hangingPunct="0">
              <a:spcBef>
                <a:spcPct val="0"/>
              </a:spcBef>
              <a:spcAft>
                <a:spcPct val="0"/>
              </a:spcAft>
              <a:defRPr sz="1600">
                <a:solidFill>
                  <a:schemeClr val="tx1"/>
                </a:solidFill>
                <a:latin typeface="Arial" charset="0"/>
              </a:defRPr>
            </a:lvl7pPr>
            <a:lvl8pPr marL="3429000" indent="-228600" algn="ctr" defTabSz="966788" eaLnBrk="0" fontAlgn="base" hangingPunct="0">
              <a:spcBef>
                <a:spcPct val="0"/>
              </a:spcBef>
              <a:spcAft>
                <a:spcPct val="0"/>
              </a:spcAft>
              <a:defRPr sz="1600">
                <a:solidFill>
                  <a:schemeClr val="tx1"/>
                </a:solidFill>
                <a:latin typeface="Arial" charset="0"/>
              </a:defRPr>
            </a:lvl8pPr>
            <a:lvl9pPr marL="3886200" indent="-228600" algn="ctr" defTabSz="966788" eaLnBrk="0" fontAlgn="base" hangingPunct="0">
              <a:spcBef>
                <a:spcPct val="0"/>
              </a:spcBef>
              <a:spcAft>
                <a:spcPct val="0"/>
              </a:spcAft>
              <a:defRPr sz="1600">
                <a:solidFill>
                  <a:schemeClr val="tx1"/>
                </a:solidFill>
                <a:latin typeface="Arial" charset="0"/>
              </a:defRPr>
            </a:lvl9pPr>
          </a:lstStyle>
          <a:p>
            <a:fld id="{8F2F1252-3F29-4F87-AE40-EF809F0475F5}" type="slidenum">
              <a:rPr lang="en-AU" sz="1300">
                <a:latin typeface="Times New Roman" pitchFamily="18" charset="0"/>
              </a:rPr>
              <a:pPr/>
              <a:t>15</a:t>
            </a:fld>
            <a:endParaRPr lang="en-AU" sz="1300">
              <a:latin typeface="Times New Roman"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1829353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06" name="Rectangle 2"/>
          <p:cNvSpPr>
            <a:spLocks noGrp="1" noRot="1" noChangeAspect="1" noChangeArrowheads="1" noTextEdit="1"/>
          </p:cNvSpPr>
          <p:nvPr>
            <p:ph type="sldImg"/>
          </p:nvPr>
        </p:nvSpPr>
        <p:spPr>
          <a:xfrm>
            <a:off x="1276350" y="617538"/>
            <a:ext cx="4781550" cy="3586162"/>
          </a:xfrm>
        </p:spPr>
      </p:sp>
      <p:sp>
        <p:nvSpPr>
          <p:cNvPr id="1199107" name="Rectangle 3"/>
          <p:cNvSpPr>
            <a:spLocks noGrp="1" noChangeArrowheads="1"/>
          </p:cNvSpPr>
          <p:nvPr>
            <p:ph type="body" idx="1"/>
          </p:nvPr>
        </p:nvSpPr>
        <p:spPr>
          <a:xfrm>
            <a:off x="550863" y="4560889"/>
            <a:ext cx="6303962" cy="4318000"/>
          </a:xfrm>
          <a:ln/>
        </p:spPr>
        <p:txBody>
          <a:bodyPr/>
          <a:lstStyle/>
          <a:p>
            <a:r>
              <a:rPr lang="en-US" dirty="0"/>
              <a:t>Latency = execution time (delay or response time) – the total time from start to finish of ONE instruction</a:t>
            </a:r>
          </a:p>
          <a:p>
            <a:r>
              <a:rPr lang="en-US" dirty="0"/>
              <a:t>For processors one important measure is THROUGHPUT (or the execution bandwidth) – the total amount of work done in a given amount of time</a:t>
            </a:r>
          </a:p>
          <a:p>
            <a:r>
              <a:rPr lang="en-US" dirty="0"/>
              <a:t>For memories one important measure is BANDWIDTH – the amount of information communicated across an interconnect (e.g., bus) per unit time; the number of operations performed per second (the WIDTH of the operation and the RATE of the operation)</a:t>
            </a:r>
          </a:p>
        </p:txBody>
      </p:sp>
    </p:spTree>
    <p:extLst>
      <p:ext uri="{BB962C8B-B14F-4D97-AF65-F5344CB8AC3E}">
        <p14:creationId xmlns:p14="http://schemas.microsoft.com/office/powerpoint/2010/main" val="805964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4" name="Rectangle 2"/>
          <p:cNvSpPr>
            <a:spLocks noGrp="1" noChangeArrowheads="1"/>
          </p:cNvSpPr>
          <p:nvPr>
            <p:ph type="body" idx="1"/>
          </p:nvPr>
        </p:nvSpPr>
        <p:spPr>
          <a:xfrm>
            <a:off x="550863" y="4562475"/>
            <a:ext cx="6303962" cy="4319588"/>
          </a:xfrm>
          <a:noFill/>
          <a:ln>
            <a:noFill/>
          </a:ln>
        </p:spPr>
        <p:txBody>
          <a:bodyPr lIns="98215" tIns="48246" rIns="98215" bIns="48246"/>
          <a:lstStyle/>
          <a:p>
            <a:r>
              <a:rPr lang="en-US" dirty="0"/>
              <a:t>1,000,000 adds for single cycle =</a:t>
            </a:r>
            <a:r>
              <a:rPr lang="en-US" baseline="0" dirty="0"/>
              <a:t> 800,000,000 </a:t>
            </a:r>
            <a:r>
              <a:rPr lang="en-US" baseline="0" dirty="0" err="1"/>
              <a:t>ps</a:t>
            </a:r>
            <a:endParaRPr lang="en-US" baseline="0" dirty="0"/>
          </a:p>
          <a:p>
            <a:r>
              <a:rPr lang="en-US" baseline="0" dirty="0"/>
              <a:t>1,000,000 adds for pipelined = 200,000,000 </a:t>
            </a:r>
            <a:r>
              <a:rPr lang="en-US" baseline="0" dirty="0" err="1"/>
              <a:t>ps</a:t>
            </a:r>
            <a:r>
              <a:rPr lang="en-US" baseline="0" dirty="0"/>
              <a:t> + 800 </a:t>
            </a:r>
            <a:r>
              <a:rPr lang="en-US" baseline="0" dirty="0" err="1"/>
              <a:t>ps</a:t>
            </a:r>
            <a:r>
              <a:rPr lang="en-US" baseline="0" dirty="0"/>
              <a:t> (fill or flush time)</a:t>
            </a:r>
            <a:endParaRPr lang="en-US" dirty="0"/>
          </a:p>
        </p:txBody>
      </p:sp>
      <p:sp>
        <p:nvSpPr>
          <p:cNvPr id="1201155"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4099992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Rectangle 2"/>
          <p:cNvSpPr>
            <a:spLocks noGrp="1" noRot="1" noChangeAspect="1" noChangeArrowheads="1" noTextEdit="1"/>
          </p:cNvSpPr>
          <p:nvPr>
            <p:ph type="sldImg"/>
          </p:nvPr>
        </p:nvSpPr>
        <p:spPr>
          <a:xfrm>
            <a:off x="1274763" y="727075"/>
            <a:ext cx="4779962" cy="3584575"/>
          </a:xfrm>
          <a:ln cap="flat">
            <a:solidFill>
              <a:schemeClr val="tx1"/>
            </a:solidFill>
          </a:ln>
        </p:spPr>
      </p:sp>
      <p:sp>
        <p:nvSpPr>
          <p:cNvPr id="987139" name="Rectangle 3"/>
          <p:cNvSpPr>
            <a:spLocks noGrp="1" noChangeArrowheads="1"/>
          </p:cNvSpPr>
          <p:nvPr>
            <p:ph type="body" idx="1"/>
          </p:nvPr>
        </p:nvSpPr>
        <p:spPr>
          <a:xfrm>
            <a:off x="975360" y="4562237"/>
            <a:ext cx="5364480" cy="4320540"/>
          </a:xfrm>
          <a:ln>
            <a:noFill/>
          </a:ln>
        </p:spPr>
        <p:txBody>
          <a:bodyPr lIns="98215" tIns="48246" rIns="98215" bIns="48246"/>
          <a:lstStyle/>
          <a:p>
            <a:endParaRPr lang="en-US"/>
          </a:p>
        </p:txBody>
      </p:sp>
    </p:spTree>
    <p:extLst>
      <p:ext uri="{BB962C8B-B14F-4D97-AF65-F5344CB8AC3E}">
        <p14:creationId xmlns:p14="http://schemas.microsoft.com/office/powerpoint/2010/main" val="1995039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22" name="Rectangle 2"/>
          <p:cNvSpPr>
            <a:spLocks noGrp="1" noChangeArrowheads="1"/>
          </p:cNvSpPr>
          <p:nvPr>
            <p:ph type="body" idx="1"/>
          </p:nvPr>
        </p:nvSpPr>
        <p:spPr>
          <a:xfrm>
            <a:off x="550863" y="4562475"/>
            <a:ext cx="6303962" cy="4319588"/>
          </a:xfrm>
          <a:ln>
            <a:noFill/>
          </a:ln>
        </p:spPr>
        <p:txBody>
          <a:bodyPr lIns="98215" tIns="48246" rIns="98215" bIns="48246"/>
          <a:lstStyle/>
          <a:p>
            <a:endParaRPr lang="en-US"/>
          </a:p>
        </p:txBody>
      </p:sp>
      <p:sp>
        <p:nvSpPr>
          <p:cNvPr id="1208323"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1143281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Rectangle 2"/>
          <p:cNvSpPr>
            <a:spLocks noGrp="1" noChangeArrowheads="1"/>
          </p:cNvSpPr>
          <p:nvPr>
            <p:ph type="body" idx="1"/>
          </p:nvPr>
        </p:nvSpPr>
        <p:spPr>
          <a:xfrm>
            <a:off x="550334" y="4562237"/>
            <a:ext cx="6304279" cy="4320540"/>
          </a:xfrm>
          <a:noFill/>
          <a:ln>
            <a:noFill/>
          </a:ln>
        </p:spPr>
        <p:txBody>
          <a:bodyPr lIns="98215" tIns="48246" rIns="98215" bIns="48246"/>
          <a:lstStyle/>
          <a:p>
            <a:r>
              <a:rPr lang="en-US" dirty="0"/>
              <a:t>Note that data hazards can come from R-type instructions or </a:t>
            </a:r>
            <a:r>
              <a:rPr lang="en-US" dirty="0" err="1"/>
              <a:t>lw</a:t>
            </a:r>
            <a:r>
              <a:rPr lang="en-US" dirty="0"/>
              <a:t> instructions</a:t>
            </a:r>
          </a:p>
          <a:p>
            <a:endParaRPr lang="en-US" dirty="0"/>
          </a:p>
          <a:p>
            <a:r>
              <a:rPr lang="en-US" dirty="0"/>
              <a:t>Exceptions can’t be resolved by waiting!</a:t>
            </a:r>
          </a:p>
        </p:txBody>
      </p:sp>
      <p:sp>
        <p:nvSpPr>
          <p:cNvPr id="992259"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469394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418" name="Rectangle 2"/>
          <p:cNvSpPr>
            <a:spLocks noGrp="1" noChangeArrowheads="1"/>
          </p:cNvSpPr>
          <p:nvPr>
            <p:ph type="body" idx="1"/>
          </p:nvPr>
        </p:nvSpPr>
        <p:spPr>
          <a:xfrm>
            <a:off x="550863" y="4562475"/>
            <a:ext cx="6303962" cy="4319588"/>
          </a:xfrm>
          <a:ln>
            <a:noFill/>
          </a:ln>
        </p:spPr>
        <p:txBody>
          <a:bodyPr lIns="98215" tIns="48246" rIns="98215" bIns="48246"/>
          <a:lstStyle/>
          <a:p>
            <a:endParaRPr lang="en-US"/>
          </a:p>
        </p:txBody>
      </p:sp>
      <p:sp>
        <p:nvSpPr>
          <p:cNvPr id="1212419"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1722371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p:cNvSpPr>
            <a:spLocks noGrp="1" noChangeArrowheads="1"/>
          </p:cNvSpPr>
          <p:nvPr>
            <p:ph type="body" idx="1"/>
          </p:nvPr>
        </p:nvSpPr>
        <p:spPr>
          <a:xfrm>
            <a:off x="550334" y="4562237"/>
            <a:ext cx="6304279" cy="4320540"/>
          </a:xfrm>
          <a:noFill/>
          <a:ln>
            <a:noFill/>
          </a:ln>
        </p:spPr>
        <p:txBody>
          <a:bodyPr lIns="98215" tIns="48246" rIns="98215" bIns="48246"/>
          <a:lstStyle/>
          <a:p>
            <a:r>
              <a:rPr lang="en-US"/>
              <a:t>For class handout</a:t>
            </a:r>
          </a:p>
        </p:txBody>
      </p:sp>
      <p:sp>
        <p:nvSpPr>
          <p:cNvPr id="996355"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748771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14" name="Rectangle 2"/>
          <p:cNvSpPr>
            <a:spLocks noGrp="1" noChangeArrowheads="1"/>
          </p:cNvSpPr>
          <p:nvPr>
            <p:ph type="body" idx="1"/>
          </p:nvPr>
        </p:nvSpPr>
        <p:spPr>
          <a:xfrm>
            <a:off x="550863" y="4562475"/>
            <a:ext cx="6303962" cy="4319588"/>
          </a:xfrm>
          <a:noFill/>
          <a:ln>
            <a:noFill/>
          </a:ln>
        </p:spPr>
        <p:txBody>
          <a:bodyPr lIns="98215" tIns="48246" rIns="98215" bIns="48246"/>
          <a:lstStyle/>
          <a:p>
            <a:r>
              <a:rPr lang="en-US" dirty="0"/>
              <a:t>For lecture</a:t>
            </a:r>
          </a:p>
          <a:p>
            <a:endParaRPr lang="en-US" dirty="0"/>
          </a:p>
          <a:p>
            <a:r>
              <a:rPr lang="en-US" dirty="0"/>
              <a:t>Define register reads to occur in the second half of the cycle and register writes in the first half</a:t>
            </a:r>
          </a:p>
        </p:txBody>
      </p:sp>
      <p:sp>
        <p:nvSpPr>
          <p:cNvPr id="1216515"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14287402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4" name="Rectangle 2"/>
          <p:cNvSpPr>
            <a:spLocks noGrp="1" noChangeArrowheads="1"/>
          </p:cNvSpPr>
          <p:nvPr>
            <p:ph type="body" idx="1"/>
          </p:nvPr>
        </p:nvSpPr>
        <p:spPr>
          <a:xfrm>
            <a:off x="550863" y="4562475"/>
            <a:ext cx="6303962" cy="4319588"/>
          </a:xfrm>
          <a:noFill/>
          <a:ln>
            <a:noFill/>
          </a:ln>
        </p:spPr>
        <p:txBody>
          <a:bodyPr lIns="98215" tIns="48246" rIns="98215" bIns="48246"/>
          <a:lstStyle/>
          <a:p>
            <a:r>
              <a:rPr lang="en-US"/>
              <a:t>For class handout</a:t>
            </a:r>
          </a:p>
        </p:txBody>
      </p:sp>
      <p:sp>
        <p:nvSpPr>
          <p:cNvPr id="1226755"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1138999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02" name="Rectangle 2"/>
          <p:cNvSpPr>
            <a:spLocks noGrp="1" noChangeArrowheads="1"/>
          </p:cNvSpPr>
          <p:nvPr>
            <p:ph type="body" idx="1"/>
          </p:nvPr>
        </p:nvSpPr>
        <p:spPr>
          <a:xfrm>
            <a:off x="550863" y="4562475"/>
            <a:ext cx="6303962" cy="4319588"/>
          </a:xfrm>
          <a:noFill/>
          <a:ln>
            <a:noFill/>
          </a:ln>
        </p:spPr>
        <p:txBody>
          <a:bodyPr lIns="98215" tIns="48246" rIns="98215" bIns="48246"/>
          <a:lstStyle/>
          <a:p>
            <a:r>
              <a:rPr lang="en-US"/>
              <a:t>For lecture</a:t>
            </a:r>
          </a:p>
        </p:txBody>
      </p:sp>
      <p:sp>
        <p:nvSpPr>
          <p:cNvPr id="1228803"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3336406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Rectangle 2"/>
          <p:cNvSpPr>
            <a:spLocks noGrp="1" noChangeArrowheads="1"/>
          </p:cNvSpPr>
          <p:nvPr>
            <p:ph type="body" idx="1"/>
          </p:nvPr>
        </p:nvSpPr>
        <p:spPr>
          <a:xfrm>
            <a:off x="550334" y="4562237"/>
            <a:ext cx="6304279" cy="4320540"/>
          </a:xfrm>
          <a:noFill/>
          <a:ln>
            <a:noFill/>
          </a:ln>
        </p:spPr>
        <p:txBody>
          <a:bodyPr lIns="98215" tIns="48246" rIns="98215" bIns="48246"/>
          <a:lstStyle/>
          <a:p>
            <a:r>
              <a:rPr lang="en-US" dirty="0"/>
              <a:t>For class handout</a:t>
            </a:r>
          </a:p>
        </p:txBody>
      </p:sp>
      <p:sp>
        <p:nvSpPr>
          <p:cNvPr id="1004547"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3491410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946" name="Rectangle 2"/>
          <p:cNvSpPr>
            <a:spLocks noGrp="1" noChangeArrowheads="1"/>
          </p:cNvSpPr>
          <p:nvPr>
            <p:ph type="body" idx="1"/>
          </p:nvPr>
        </p:nvSpPr>
        <p:spPr>
          <a:xfrm>
            <a:off x="550863" y="4562475"/>
            <a:ext cx="6303962" cy="4319588"/>
          </a:xfrm>
          <a:noFill/>
          <a:ln>
            <a:noFill/>
          </a:ln>
        </p:spPr>
        <p:txBody>
          <a:bodyPr lIns="98215" tIns="48246" rIns="98215" bIns="48246"/>
          <a:lstStyle/>
          <a:p>
            <a:r>
              <a:rPr lang="en-US" dirty="0"/>
              <a:t>For lecture</a:t>
            </a:r>
          </a:p>
          <a:p>
            <a:endParaRPr lang="en-US" dirty="0"/>
          </a:p>
          <a:p>
            <a:r>
              <a:rPr lang="en-US" dirty="0"/>
              <a:t>Note that </a:t>
            </a:r>
            <a:r>
              <a:rPr lang="en-US" dirty="0" err="1"/>
              <a:t>lw</a:t>
            </a:r>
            <a:r>
              <a:rPr lang="en-US" dirty="0"/>
              <a:t> is just another example of register usage (beyond ALU ops)</a:t>
            </a:r>
          </a:p>
        </p:txBody>
      </p:sp>
      <p:sp>
        <p:nvSpPr>
          <p:cNvPr id="1234947"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553564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898" name="Rectangle 2"/>
          <p:cNvSpPr>
            <a:spLocks noGrp="1" noChangeArrowheads="1"/>
          </p:cNvSpPr>
          <p:nvPr>
            <p:ph type="body" idx="1"/>
          </p:nvPr>
        </p:nvSpPr>
        <p:spPr>
          <a:xfrm>
            <a:off x="550863" y="4562475"/>
            <a:ext cx="6303962" cy="4319588"/>
          </a:xfrm>
          <a:ln>
            <a:noFill/>
          </a:ln>
        </p:spPr>
        <p:txBody>
          <a:bodyPr lIns="98200" tIns="48239" rIns="98200" bIns="48239"/>
          <a:lstStyle/>
          <a:p>
            <a:endParaRPr lang="en-US"/>
          </a:p>
        </p:txBody>
      </p:sp>
      <p:sp>
        <p:nvSpPr>
          <p:cNvPr id="1232899"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2073583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186" name="Rectangle 2"/>
          <p:cNvSpPr>
            <a:spLocks noGrp="1" noChangeArrowheads="1"/>
          </p:cNvSpPr>
          <p:nvPr>
            <p:ph type="body" idx="1"/>
          </p:nvPr>
        </p:nvSpPr>
        <p:spPr>
          <a:xfrm>
            <a:off x="550863" y="4562475"/>
            <a:ext cx="6303962" cy="4319588"/>
          </a:xfrm>
          <a:noFill/>
          <a:ln>
            <a:noFill/>
          </a:ln>
        </p:spPr>
        <p:txBody>
          <a:bodyPr lIns="98200" tIns="48239" rIns="98200" bIns="48239"/>
          <a:lstStyle/>
          <a:p>
            <a:r>
              <a:rPr lang="en-US"/>
              <a:t>For class handout</a:t>
            </a:r>
          </a:p>
        </p:txBody>
      </p:sp>
      <p:sp>
        <p:nvSpPr>
          <p:cNvPr id="1245187"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461797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234" name="Rectangle 2"/>
          <p:cNvSpPr>
            <a:spLocks noGrp="1" noChangeArrowheads="1"/>
          </p:cNvSpPr>
          <p:nvPr>
            <p:ph type="body" idx="1"/>
          </p:nvPr>
        </p:nvSpPr>
        <p:spPr>
          <a:xfrm>
            <a:off x="550863" y="4562475"/>
            <a:ext cx="6303962" cy="4319588"/>
          </a:xfrm>
          <a:noFill/>
          <a:ln>
            <a:noFill/>
          </a:ln>
        </p:spPr>
        <p:txBody>
          <a:bodyPr lIns="98200" tIns="48239" rIns="98200" bIns="48239"/>
          <a:lstStyle/>
          <a:p>
            <a:r>
              <a:rPr lang="en-US" dirty="0"/>
              <a:t>For lecture</a:t>
            </a:r>
          </a:p>
          <a:p>
            <a:r>
              <a:rPr lang="en-US" dirty="0"/>
              <a:t>Forwarding paths are valid only if the destination stage is later in time than the source stage.</a:t>
            </a:r>
          </a:p>
          <a:p>
            <a:r>
              <a:rPr lang="en-US" dirty="0"/>
              <a:t>Forwarding is harder if there are multiple results to forward per instruction or if they need to write a result early in the pipeline.</a:t>
            </a:r>
          </a:p>
          <a:p>
            <a:endParaRPr lang="en-US" dirty="0"/>
          </a:p>
          <a:p>
            <a:r>
              <a:rPr lang="en-US" dirty="0"/>
              <a:t>Notice that for now we are showing the forwarded data coming out of the ALU.  After looking at the problem more closely, we will see that it is really supplied by the pipeline register EX/MEM</a:t>
            </a:r>
            <a:r>
              <a:rPr lang="en-US" baseline="0" dirty="0"/>
              <a:t> or MEM/WB and will depict is as such.</a:t>
            </a:r>
            <a:endParaRPr lang="en-US" dirty="0"/>
          </a:p>
        </p:txBody>
      </p:sp>
      <p:sp>
        <p:nvSpPr>
          <p:cNvPr id="1247235"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712291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906" name="Rectangle 2"/>
          <p:cNvSpPr>
            <a:spLocks noGrp="1" noChangeArrowheads="1"/>
          </p:cNvSpPr>
          <p:nvPr>
            <p:ph type="body" idx="1"/>
          </p:nvPr>
        </p:nvSpPr>
        <p:spPr>
          <a:xfrm>
            <a:off x="550863" y="4562475"/>
            <a:ext cx="6303962" cy="4319588"/>
          </a:xfrm>
          <a:noFill/>
          <a:ln>
            <a:noFill/>
          </a:ln>
        </p:spPr>
        <p:txBody>
          <a:bodyPr lIns="98200" tIns="48239" rIns="98200" bIns="48239"/>
          <a:lstStyle/>
          <a:p>
            <a:r>
              <a:rPr lang="en-US"/>
              <a:t>What if lw was replaced with add $1,  - is forwarding still needed?  From where, to where?</a:t>
            </a:r>
          </a:p>
          <a:p>
            <a:r>
              <a:rPr lang="en-US"/>
              <a:t>What if $1 was used to compute the effective address (it would be a load-use data hazard and would require a stall insertion between the lw and sw)</a:t>
            </a:r>
          </a:p>
        </p:txBody>
      </p:sp>
      <p:sp>
        <p:nvSpPr>
          <p:cNvPr id="1275907" name="Rectangle 3"/>
          <p:cNvSpPr>
            <a:spLocks noGrp="1" noRot="1" noChangeAspect="1" noChangeArrowheads="1" noTextEdit="1"/>
          </p:cNvSpPr>
          <p:nvPr>
            <p:ph type="sldImg"/>
          </p:nvPr>
        </p:nvSpPr>
        <p:spPr>
          <a:xfrm>
            <a:off x="1274763" y="614363"/>
            <a:ext cx="4784725" cy="3589337"/>
          </a:xfrm>
          <a:ln/>
        </p:spPr>
      </p:sp>
    </p:spTree>
    <p:extLst>
      <p:ext uri="{BB962C8B-B14F-4D97-AF65-F5344CB8AC3E}">
        <p14:creationId xmlns:p14="http://schemas.microsoft.com/office/powerpoint/2010/main" val="4427007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82" name="Rectangle 2"/>
          <p:cNvSpPr>
            <a:spLocks noGrp="1" noChangeArrowheads="1"/>
          </p:cNvSpPr>
          <p:nvPr>
            <p:ph type="body" idx="1"/>
          </p:nvPr>
        </p:nvSpPr>
        <p:spPr>
          <a:xfrm>
            <a:off x="550863" y="4562475"/>
            <a:ext cx="6303962" cy="4319588"/>
          </a:xfrm>
          <a:noFill/>
          <a:ln>
            <a:noFill/>
          </a:ln>
        </p:spPr>
        <p:txBody>
          <a:bodyPr lIns="98200" tIns="48239" rIns="98200" bIns="48239"/>
          <a:lstStyle/>
          <a:p>
            <a:r>
              <a:rPr lang="en-US"/>
              <a:t>For class handout</a:t>
            </a:r>
          </a:p>
        </p:txBody>
      </p:sp>
      <p:sp>
        <p:nvSpPr>
          <p:cNvPr id="1249283" name="Rectangle 3"/>
          <p:cNvSpPr>
            <a:spLocks noGrp="1" noRot="1" noChangeAspect="1" noChangeArrowheads="1" noTextEdit="1"/>
          </p:cNvSpPr>
          <p:nvPr>
            <p:ph type="sldImg"/>
          </p:nvPr>
        </p:nvSpPr>
        <p:spPr>
          <a:xfrm>
            <a:off x="1274763" y="614363"/>
            <a:ext cx="4784725" cy="3589337"/>
          </a:xfrm>
          <a:ln/>
        </p:spPr>
      </p:sp>
    </p:spTree>
    <p:extLst>
      <p:ext uri="{BB962C8B-B14F-4D97-AF65-F5344CB8AC3E}">
        <p14:creationId xmlns:p14="http://schemas.microsoft.com/office/powerpoint/2010/main" val="1953506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2" name="Rectangle 2"/>
          <p:cNvSpPr>
            <a:spLocks noGrp="1" noChangeArrowheads="1"/>
          </p:cNvSpPr>
          <p:nvPr>
            <p:ph type="body" idx="1"/>
          </p:nvPr>
        </p:nvSpPr>
        <p:spPr>
          <a:xfrm>
            <a:off x="550863" y="4562475"/>
            <a:ext cx="6303962" cy="4319588"/>
          </a:xfrm>
          <a:noFill/>
          <a:ln>
            <a:noFill/>
          </a:ln>
        </p:spPr>
        <p:txBody>
          <a:bodyPr lIns="98200" tIns="48239" rIns="98200" bIns="48239"/>
          <a:lstStyle/>
          <a:p>
            <a:r>
              <a:rPr lang="en-US"/>
              <a:t>For lecture</a:t>
            </a:r>
          </a:p>
          <a:p>
            <a:r>
              <a:rPr lang="en-US"/>
              <a:t>The one case where forwarding cannot save the day is when an instruction tries to read a register following a load instruction that writes the same register.</a:t>
            </a:r>
          </a:p>
        </p:txBody>
      </p:sp>
      <p:sp>
        <p:nvSpPr>
          <p:cNvPr id="1295363" name="Rectangle 3"/>
          <p:cNvSpPr>
            <a:spLocks noGrp="1" noRot="1" noChangeAspect="1" noChangeArrowheads="1" noTextEdit="1"/>
          </p:cNvSpPr>
          <p:nvPr>
            <p:ph type="sldImg"/>
          </p:nvPr>
        </p:nvSpPr>
        <p:spPr>
          <a:xfrm>
            <a:off x="1274763" y="614363"/>
            <a:ext cx="4784725" cy="3589337"/>
          </a:xfrm>
          <a:ln/>
        </p:spPr>
      </p:sp>
    </p:spTree>
    <p:extLst>
      <p:ext uri="{BB962C8B-B14F-4D97-AF65-F5344CB8AC3E}">
        <p14:creationId xmlns:p14="http://schemas.microsoft.com/office/powerpoint/2010/main" val="18553537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body" idx="1"/>
          </p:nvPr>
        </p:nvSpPr>
        <p:spPr>
          <a:xfrm>
            <a:off x="550335" y="4562237"/>
            <a:ext cx="6304279" cy="4320540"/>
          </a:xfrm>
          <a:noFill/>
          <a:ln>
            <a:noFill/>
          </a:ln>
        </p:spPr>
        <p:txBody>
          <a:bodyPr lIns="98200" tIns="48239" rIns="98200" bIns="48239"/>
          <a:lstStyle/>
          <a:p>
            <a:endParaRPr lang="en-US" dirty="0"/>
          </a:p>
        </p:txBody>
      </p:sp>
      <p:sp>
        <p:nvSpPr>
          <p:cNvPr id="1040387" name="Rectangle 3"/>
          <p:cNvSpPr>
            <a:spLocks noGrp="1" noRot="1" noChangeAspect="1" noChangeArrowheads="1" noTextEdit="1"/>
          </p:cNvSpPr>
          <p:nvPr>
            <p:ph type="sldImg"/>
          </p:nvPr>
        </p:nvSpPr>
        <p:spPr>
          <a:xfrm>
            <a:off x="1273175" y="614363"/>
            <a:ext cx="4786313" cy="3589337"/>
          </a:xfrm>
          <a:ln/>
        </p:spPr>
      </p:sp>
    </p:spTree>
    <p:extLst>
      <p:ext uri="{BB962C8B-B14F-4D97-AF65-F5344CB8AC3E}">
        <p14:creationId xmlns:p14="http://schemas.microsoft.com/office/powerpoint/2010/main" val="13350830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0610" name="Rectangle 2"/>
          <p:cNvSpPr>
            <a:spLocks noGrp="1" noChangeArrowheads="1"/>
          </p:cNvSpPr>
          <p:nvPr>
            <p:ph type="body" idx="1"/>
          </p:nvPr>
        </p:nvSpPr>
        <p:spPr>
          <a:xfrm>
            <a:off x="550863" y="4562475"/>
            <a:ext cx="6303962" cy="4319588"/>
          </a:xfrm>
          <a:ln>
            <a:noFill/>
          </a:ln>
        </p:spPr>
        <p:txBody>
          <a:bodyPr lIns="98215" tIns="48246" rIns="98215" bIns="48246"/>
          <a:lstStyle/>
          <a:p>
            <a:endParaRPr lang="en-US"/>
          </a:p>
        </p:txBody>
      </p:sp>
      <p:sp>
        <p:nvSpPr>
          <p:cNvPr id="1220611" name="Rectangle 3"/>
          <p:cNvSpPr>
            <a:spLocks noGrp="1" noRot="1" noChangeAspect="1" noChangeArrowheads="1" noTextEdit="1"/>
          </p:cNvSpPr>
          <p:nvPr>
            <p:ph type="sldImg"/>
          </p:nvPr>
        </p:nvSpPr>
        <p:spPr>
          <a:xfrm>
            <a:off x="1271588" y="614363"/>
            <a:ext cx="4786312" cy="3589337"/>
          </a:xfrm>
          <a:ln/>
        </p:spPr>
      </p:sp>
    </p:spTree>
    <p:extLst>
      <p:ext uri="{BB962C8B-B14F-4D97-AF65-F5344CB8AC3E}">
        <p14:creationId xmlns:p14="http://schemas.microsoft.com/office/powerpoint/2010/main" val="2639701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ChangeArrowheads="1"/>
          </p:cNvSpPr>
          <p:nvPr>
            <p:ph type="body" idx="1"/>
          </p:nvPr>
        </p:nvSpPr>
        <p:spPr>
          <a:xfrm>
            <a:off x="550335" y="4562237"/>
            <a:ext cx="6304279" cy="4320540"/>
          </a:xfrm>
          <a:ln>
            <a:noFill/>
          </a:ln>
        </p:spPr>
        <p:txBody>
          <a:bodyPr lIns="98200" tIns="48239" rIns="98200" bIns="48239"/>
          <a:lstStyle/>
          <a:p>
            <a:endParaRPr lang="en-US"/>
          </a:p>
        </p:txBody>
      </p:sp>
      <p:sp>
        <p:nvSpPr>
          <p:cNvPr id="1018883" name="Rectangle 3"/>
          <p:cNvSpPr>
            <a:spLocks noGrp="1" noRot="1" noChangeAspect="1" noChangeArrowheads="1" noTextEdit="1"/>
          </p:cNvSpPr>
          <p:nvPr>
            <p:ph type="sldImg"/>
          </p:nvPr>
        </p:nvSpPr>
        <p:spPr>
          <a:xfrm>
            <a:off x="1273175" y="614363"/>
            <a:ext cx="4786313" cy="3589337"/>
          </a:xfrm>
          <a:ln/>
        </p:spPr>
      </p:sp>
    </p:spTree>
    <p:extLst>
      <p:ext uri="{BB962C8B-B14F-4D97-AF65-F5344CB8AC3E}">
        <p14:creationId xmlns:p14="http://schemas.microsoft.com/office/powerpoint/2010/main" val="14286258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body" idx="1"/>
          </p:nvPr>
        </p:nvSpPr>
        <p:spPr>
          <a:xfrm>
            <a:off x="550335" y="4562237"/>
            <a:ext cx="6304279" cy="4320540"/>
          </a:xfrm>
          <a:noFill/>
          <a:ln>
            <a:noFill/>
          </a:ln>
        </p:spPr>
        <p:txBody>
          <a:bodyPr lIns="98200" tIns="48239" rIns="98200" bIns="48239"/>
          <a:lstStyle/>
          <a:p>
            <a:r>
              <a:rPr lang="en-US" dirty="0"/>
              <a:t>Another “solution” is to put in enough extra hardware so that we can test registers, calculate the branch address, and update the PC during the second stage of the pipeline.  That would reduce the number of stalls to only one.</a:t>
            </a:r>
          </a:p>
        </p:txBody>
      </p:sp>
      <p:sp>
        <p:nvSpPr>
          <p:cNvPr id="1035267" name="Rectangle 3"/>
          <p:cNvSpPr>
            <a:spLocks noGrp="1" noRot="1" noChangeAspect="1" noChangeArrowheads="1" noTextEdit="1"/>
          </p:cNvSpPr>
          <p:nvPr>
            <p:ph type="sldImg"/>
          </p:nvPr>
        </p:nvSpPr>
        <p:spPr>
          <a:xfrm>
            <a:off x="1273175" y="614363"/>
            <a:ext cx="4786313" cy="3589337"/>
          </a:xfrm>
          <a:ln/>
        </p:spPr>
      </p:sp>
    </p:spTree>
    <p:extLst>
      <p:ext uri="{BB962C8B-B14F-4D97-AF65-F5344CB8AC3E}">
        <p14:creationId xmlns:p14="http://schemas.microsoft.com/office/powerpoint/2010/main" val="11812399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6" name="Rectangle 2"/>
          <p:cNvSpPr>
            <a:spLocks noGrp="1" noChangeArrowheads="1"/>
          </p:cNvSpPr>
          <p:nvPr>
            <p:ph type="body" idx="1"/>
          </p:nvPr>
        </p:nvSpPr>
        <p:spPr>
          <a:xfrm>
            <a:off x="550334" y="4562237"/>
            <a:ext cx="6304279" cy="4320540"/>
          </a:xfrm>
          <a:noFill/>
          <a:ln>
            <a:noFill/>
          </a:ln>
        </p:spPr>
        <p:txBody>
          <a:bodyPr lIns="98215" tIns="48246" rIns="98215" bIns="48246"/>
          <a:lstStyle/>
          <a:p>
            <a:r>
              <a:rPr lang="en-US"/>
              <a:t>A third approach is to prediction to handle branches, e.g., always predict that branches will be untaken.  When right, the pipeline proceeds at full speed.  When wrong, have to stall (and make sure nothing completes – changes machine state – that shouldn’t have).</a:t>
            </a:r>
          </a:p>
          <a:p>
            <a:r>
              <a:rPr lang="en-US"/>
              <a:t>Note branch address is PC-relative branch to 4+4+2*4 = 16</a:t>
            </a:r>
          </a:p>
        </p:txBody>
      </p:sp>
      <p:sp>
        <p:nvSpPr>
          <p:cNvPr id="1045507" name="Rectangle 3"/>
          <p:cNvSpPr>
            <a:spLocks noGrp="1" noRot="1" noChangeAspect="1" noChangeArrowheads="1" noTextEdit="1"/>
          </p:cNvSpPr>
          <p:nvPr>
            <p:ph type="sldImg"/>
          </p:nvPr>
        </p:nvSpPr>
        <p:spPr>
          <a:xfrm>
            <a:off x="1273175" y="614363"/>
            <a:ext cx="4784725" cy="3589337"/>
          </a:xfrm>
          <a:ln/>
        </p:spPr>
      </p:sp>
    </p:spTree>
    <p:extLst>
      <p:ext uri="{BB962C8B-B14F-4D97-AF65-F5344CB8AC3E}">
        <p14:creationId xmlns:p14="http://schemas.microsoft.com/office/powerpoint/2010/main" val="1244151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6" name="Slide Number Placeholder 5"/>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extLst>
      <p:ext uri="{BB962C8B-B14F-4D97-AF65-F5344CB8AC3E}">
        <p14:creationId xmlns:p14="http://schemas.microsoft.com/office/powerpoint/2010/main" val="970293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914400"/>
            <a:ext cx="4000500" cy="239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14400"/>
            <a:ext cx="4000500" cy="239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304800"/>
            <a:ext cx="2038350" cy="30035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304800"/>
            <a:ext cx="5962650" cy="3003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422275"/>
          </a:xfrm>
        </p:spPr>
        <p:txBody>
          <a:bodyPr/>
          <a:lstStyle/>
          <a:p>
            <a:r>
              <a:rPr lang="en-US"/>
              <a:t>Click to edit Master title style</a:t>
            </a:r>
          </a:p>
        </p:txBody>
      </p:sp>
      <p:sp>
        <p:nvSpPr>
          <p:cNvPr id="3" name="Chart Placeholder 2"/>
          <p:cNvSpPr>
            <a:spLocks noGrp="1"/>
          </p:cNvSpPr>
          <p:nvPr>
            <p:ph type="chart" idx="1"/>
          </p:nvPr>
        </p:nvSpPr>
        <p:spPr>
          <a:xfrm>
            <a:off x="533400" y="914400"/>
            <a:ext cx="8153400" cy="2393950"/>
          </a:xfrm>
        </p:spPr>
        <p:txBody>
          <a:bodyPr/>
          <a:lstStyle/>
          <a:p>
            <a:pPr lvl="0"/>
            <a:endParaRPr lang="en-US" noProof="0"/>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extLst>
      <p:ext uri="{BB962C8B-B14F-4D97-AF65-F5344CB8AC3E}">
        <p14:creationId xmlns:p14="http://schemas.microsoft.com/office/powerpoint/2010/main" val="81052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342188" cy="422275"/>
          </a:xfrm>
        </p:spPr>
        <p:txBody>
          <a:bodyPr/>
          <a:lstStyle/>
          <a:p>
            <a:r>
              <a:rPr lang="en-US"/>
              <a:t>Click to edit Master title style</a:t>
            </a:r>
          </a:p>
        </p:txBody>
      </p:sp>
      <p:sp>
        <p:nvSpPr>
          <p:cNvPr id="3" name="Table Placeholder 2"/>
          <p:cNvSpPr>
            <a:spLocks noGrp="1"/>
          </p:cNvSpPr>
          <p:nvPr>
            <p:ph type="tbl" idx="1"/>
          </p:nvPr>
        </p:nvSpPr>
        <p:spPr>
          <a:xfrm>
            <a:off x="685800" y="914400"/>
            <a:ext cx="7848600" cy="2398713"/>
          </a:xfrm>
        </p:spPr>
        <p:txBody>
          <a:bodyPr/>
          <a:lstStyle/>
          <a:p>
            <a:endParaRPr lang="en-US"/>
          </a:p>
        </p:txBody>
      </p:sp>
    </p:spTree>
    <p:extLst>
      <p:ext uri="{BB962C8B-B14F-4D97-AF65-F5344CB8AC3E}">
        <p14:creationId xmlns:p14="http://schemas.microsoft.com/office/powerpoint/2010/main" val="108185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304800"/>
            <a:ext cx="7848600" cy="422275"/>
          </a:xfrm>
        </p:spPr>
        <p:txBody>
          <a:bodyPr/>
          <a:lstStyle/>
          <a:p>
            <a:r>
              <a:rPr lang="en-US"/>
              <a:t>Click to edit Master title style</a:t>
            </a:r>
          </a:p>
        </p:txBody>
      </p:sp>
      <p:sp>
        <p:nvSpPr>
          <p:cNvPr id="3" name="Content Placeholder 2"/>
          <p:cNvSpPr>
            <a:spLocks noGrp="1"/>
          </p:cNvSpPr>
          <p:nvPr>
            <p:ph sz="quarter" idx="1"/>
          </p:nvPr>
        </p:nvSpPr>
        <p:spPr>
          <a:xfrm>
            <a:off x="685800" y="914400"/>
            <a:ext cx="38481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914400"/>
            <a:ext cx="38481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2209800"/>
            <a:ext cx="3848100" cy="114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86300" y="2209800"/>
            <a:ext cx="3848100" cy="114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188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765458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638216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610843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476552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0"/>
            <a:ext cx="20574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975150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28650" y="6356350"/>
            <a:ext cx="20574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4053890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556055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5645823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3523166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5656768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2129517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8208072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0763763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878732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35182958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5048371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4534769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1994442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0987029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9412670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2513981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84927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533400" y="304800"/>
            <a:ext cx="8153400" cy="422275"/>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t>Title goes here</a:t>
            </a:r>
          </a:p>
        </p:txBody>
      </p:sp>
      <p:sp>
        <p:nvSpPr>
          <p:cNvPr id="5125" name="Rectangle 5"/>
          <p:cNvSpPr>
            <a:spLocks noGrp="1" noChangeArrowheads="1"/>
          </p:cNvSpPr>
          <p:nvPr>
            <p:ph type="body" idx="1"/>
          </p:nvPr>
        </p:nvSpPr>
        <p:spPr bwMode="auto">
          <a:xfrm>
            <a:off x="533400" y="914400"/>
            <a:ext cx="8153400" cy="239395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dirty="0"/>
              <a:t>This is our 1st Level Bullet</a:t>
            </a:r>
          </a:p>
          <a:p>
            <a:pPr lvl="1"/>
            <a:r>
              <a:rPr lang="en-US" dirty="0"/>
              <a:t>this is our 2nd level bullet</a:t>
            </a:r>
          </a:p>
          <a:p>
            <a:pPr lvl="2"/>
            <a:r>
              <a:rPr lang="en-US" dirty="0"/>
              <a:t>this is our 3rd level bullet</a:t>
            </a:r>
          </a:p>
          <a:p>
            <a:pPr lvl="0"/>
            <a:r>
              <a:rPr lang="en-US" dirty="0"/>
              <a:t>This is our next 1st Level Bullet</a:t>
            </a:r>
          </a:p>
          <a:p>
            <a:pPr lvl="1"/>
            <a:r>
              <a:rPr lang="en-US" dirty="0"/>
              <a:t>this is our 2nd level bullet</a:t>
            </a:r>
          </a:p>
          <a:p>
            <a:pPr lvl="2"/>
            <a:r>
              <a:rPr lang="en-US" dirty="0"/>
              <a:t>this is our 3rd level bullet</a:t>
            </a:r>
          </a:p>
        </p:txBody>
      </p:sp>
      <p:sp>
        <p:nvSpPr>
          <p:cNvPr id="1030" name="Line 6"/>
          <p:cNvSpPr>
            <a:spLocks noChangeShapeType="1"/>
          </p:cNvSpPr>
          <p:nvPr/>
        </p:nvSpPr>
        <p:spPr bwMode="auto">
          <a:xfrm>
            <a:off x="533400" y="685800"/>
            <a:ext cx="8153400" cy="0"/>
          </a:xfrm>
          <a:prstGeom prst="line">
            <a:avLst/>
          </a:prstGeom>
          <a:noFill/>
          <a:ln w="57150" cmpd="thickThin">
            <a:solidFill>
              <a:schemeClr val="accent2"/>
            </a:solidFill>
            <a:round/>
            <a:headEnd/>
            <a:tailEnd/>
          </a:ln>
          <a:effectLst/>
        </p:spPr>
        <p:txBody>
          <a:bodyPr wrap="none" anchor="ctr"/>
          <a:lstStyle/>
          <a:p>
            <a:pPr>
              <a:defRPr/>
            </a:pPr>
            <a:endParaRPr lang="en-US"/>
          </a:p>
        </p:txBody>
      </p:sp>
      <p:sp>
        <p:nvSpPr>
          <p:cNvPr id="3" name="Slide Number Placeholder 2"/>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E0CC70-9BD5-7543-A524-72E5137DC4F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75" r:id="rId14"/>
    <p:sldLayoutId id="2147483689" r:id="rId15"/>
    <p:sldLayoutId id="2147483690" r:id="rId16"/>
  </p:sldLayoutIdLst>
  <p:hf hdr="0" ftr="0" dt="0"/>
  <p:txStyles>
    <p:titleStyle>
      <a:lvl1pPr algn="l" rtl="0" eaLnBrk="0" fontAlgn="base" hangingPunct="0">
        <a:lnSpc>
          <a:spcPct val="87000"/>
        </a:lnSpc>
        <a:spcBef>
          <a:spcPct val="0"/>
        </a:spcBef>
        <a:spcAft>
          <a:spcPct val="0"/>
        </a:spcAft>
        <a:defRPr sz="2800" b="1">
          <a:solidFill>
            <a:schemeClr val="accent2"/>
          </a:solidFill>
          <a:latin typeface="+mj-lt"/>
          <a:ea typeface="+mj-ea"/>
          <a:cs typeface="+mj-cs"/>
        </a:defRPr>
      </a:lvl1pPr>
      <a:lvl2pPr algn="l" rtl="0" eaLnBrk="0" fontAlgn="base" hangingPunct="0">
        <a:lnSpc>
          <a:spcPct val="87000"/>
        </a:lnSpc>
        <a:spcBef>
          <a:spcPct val="0"/>
        </a:spcBef>
        <a:spcAft>
          <a:spcPct val="0"/>
        </a:spcAft>
        <a:defRPr sz="2800" b="1">
          <a:solidFill>
            <a:schemeClr val="accent2"/>
          </a:solidFill>
          <a:latin typeface="Arial" charset="0"/>
        </a:defRPr>
      </a:lvl2pPr>
      <a:lvl3pPr algn="l" rtl="0" eaLnBrk="0" fontAlgn="base" hangingPunct="0">
        <a:lnSpc>
          <a:spcPct val="87000"/>
        </a:lnSpc>
        <a:spcBef>
          <a:spcPct val="0"/>
        </a:spcBef>
        <a:spcAft>
          <a:spcPct val="0"/>
        </a:spcAft>
        <a:defRPr sz="2800" b="1">
          <a:solidFill>
            <a:schemeClr val="accent2"/>
          </a:solidFill>
          <a:latin typeface="Arial" charset="0"/>
        </a:defRPr>
      </a:lvl3pPr>
      <a:lvl4pPr algn="l" rtl="0" eaLnBrk="0" fontAlgn="base" hangingPunct="0">
        <a:lnSpc>
          <a:spcPct val="87000"/>
        </a:lnSpc>
        <a:spcBef>
          <a:spcPct val="0"/>
        </a:spcBef>
        <a:spcAft>
          <a:spcPct val="0"/>
        </a:spcAft>
        <a:defRPr sz="2800" b="1">
          <a:solidFill>
            <a:schemeClr val="accent2"/>
          </a:solidFill>
          <a:latin typeface="Arial" charset="0"/>
        </a:defRPr>
      </a:lvl4pPr>
      <a:lvl5pPr algn="l" rtl="0" eaLnBrk="0" fontAlgn="base" hangingPunct="0">
        <a:lnSpc>
          <a:spcPct val="87000"/>
        </a:lnSpc>
        <a:spcBef>
          <a:spcPct val="0"/>
        </a:spcBef>
        <a:spcAft>
          <a:spcPct val="0"/>
        </a:spcAft>
        <a:defRPr sz="2800" b="1">
          <a:solidFill>
            <a:schemeClr val="accent2"/>
          </a:solidFill>
          <a:latin typeface="Arial" charset="0"/>
        </a:defRPr>
      </a:lvl5pPr>
      <a:lvl6pPr marL="457200" algn="l" rtl="0" eaLnBrk="0" fontAlgn="base" hangingPunct="0">
        <a:lnSpc>
          <a:spcPct val="87000"/>
        </a:lnSpc>
        <a:spcBef>
          <a:spcPct val="0"/>
        </a:spcBef>
        <a:spcAft>
          <a:spcPct val="0"/>
        </a:spcAft>
        <a:defRPr sz="2800" b="1">
          <a:solidFill>
            <a:schemeClr val="accent2"/>
          </a:solidFill>
          <a:latin typeface="Arial" charset="0"/>
        </a:defRPr>
      </a:lvl6pPr>
      <a:lvl7pPr marL="914400" algn="l" rtl="0" eaLnBrk="0" fontAlgn="base" hangingPunct="0">
        <a:lnSpc>
          <a:spcPct val="87000"/>
        </a:lnSpc>
        <a:spcBef>
          <a:spcPct val="0"/>
        </a:spcBef>
        <a:spcAft>
          <a:spcPct val="0"/>
        </a:spcAft>
        <a:defRPr sz="2800" b="1">
          <a:solidFill>
            <a:schemeClr val="accent2"/>
          </a:solidFill>
          <a:latin typeface="Arial" charset="0"/>
        </a:defRPr>
      </a:lvl7pPr>
      <a:lvl8pPr marL="1371600" algn="l" rtl="0" eaLnBrk="0" fontAlgn="base" hangingPunct="0">
        <a:lnSpc>
          <a:spcPct val="87000"/>
        </a:lnSpc>
        <a:spcBef>
          <a:spcPct val="0"/>
        </a:spcBef>
        <a:spcAft>
          <a:spcPct val="0"/>
        </a:spcAft>
        <a:defRPr sz="2800" b="1">
          <a:solidFill>
            <a:schemeClr val="accent2"/>
          </a:solidFill>
          <a:latin typeface="Arial" charset="0"/>
        </a:defRPr>
      </a:lvl8pPr>
      <a:lvl9pPr marL="1828800" algn="l" rtl="0" eaLnBrk="0" fontAlgn="base" hangingPunct="0">
        <a:lnSpc>
          <a:spcPct val="87000"/>
        </a:lnSpc>
        <a:spcBef>
          <a:spcPct val="0"/>
        </a:spcBef>
        <a:spcAft>
          <a:spcPct val="0"/>
        </a:spcAft>
        <a:defRPr sz="2800" b="1">
          <a:solidFill>
            <a:schemeClr val="accent2"/>
          </a:solidFill>
          <a:latin typeface="Arial" charset="0"/>
        </a:defRPr>
      </a:lvl9pPr>
    </p:titleStyle>
    <p:bodyStyle>
      <a:lvl1pPr marL="287338" indent="-287338" algn="l" rtl="0" eaLnBrk="0" fontAlgn="base" hangingPunct="0">
        <a:lnSpc>
          <a:spcPct val="90000"/>
        </a:lnSpc>
        <a:spcBef>
          <a:spcPct val="65000"/>
        </a:spcBef>
        <a:spcAft>
          <a:spcPct val="0"/>
        </a:spcAft>
        <a:buClr>
          <a:schemeClr val="accent1"/>
        </a:buClr>
        <a:buSzPct val="75000"/>
        <a:buFont typeface="Wingdings" pitchFamily="2" charset="2"/>
        <a:buChar char="q"/>
        <a:defRPr sz="2400">
          <a:solidFill>
            <a:schemeClr val="tx1"/>
          </a:solidFill>
          <a:latin typeface="+mn-lt"/>
          <a:ea typeface="+mn-ea"/>
          <a:cs typeface="+mn-cs"/>
        </a:defRPr>
      </a:lvl1pPr>
      <a:lvl2pPr marL="741363" indent="-246063" algn="l" rtl="0" eaLnBrk="0" fontAlgn="base" hangingPunct="0">
        <a:lnSpc>
          <a:spcPct val="85000"/>
        </a:lnSpc>
        <a:spcBef>
          <a:spcPct val="40000"/>
        </a:spcBef>
        <a:spcAft>
          <a:spcPct val="0"/>
        </a:spcAft>
        <a:buClr>
          <a:schemeClr val="accent1"/>
        </a:buClr>
        <a:buSzPct val="75000"/>
        <a:buFont typeface="Monotype Sorts" pitchFamily="2" charset="2"/>
        <a:buChar char="l"/>
        <a:defRPr sz="2000">
          <a:solidFill>
            <a:schemeClr val="tx1"/>
          </a:solidFill>
          <a:latin typeface="+mn-lt"/>
        </a:defRPr>
      </a:lvl2pPr>
      <a:lvl3pPr marL="1146175" indent="-176213" algn="l" rtl="0" eaLnBrk="0" fontAlgn="base" hangingPunct="0">
        <a:lnSpc>
          <a:spcPct val="85000"/>
        </a:lnSpc>
        <a:spcBef>
          <a:spcPct val="40000"/>
        </a:spcBef>
        <a:spcAft>
          <a:spcPct val="0"/>
        </a:spcAft>
        <a:buClr>
          <a:schemeClr val="accent1"/>
        </a:buClr>
        <a:buSzPct val="100000"/>
        <a:buChar char="-"/>
        <a:defRPr>
          <a:solidFill>
            <a:schemeClr val="tx1"/>
          </a:solidFill>
          <a:latin typeface="+mn-lt"/>
        </a:defRPr>
      </a:lvl3pPr>
      <a:lvl4pPr marL="1714500" indent="-342900" algn="l" rtl="0" eaLnBrk="0" fontAlgn="base" hangingPunct="0">
        <a:spcBef>
          <a:spcPct val="20000"/>
        </a:spcBef>
        <a:spcAft>
          <a:spcPct val="0"/>
        </a:spcAft>
        <a:buChar char="–"/>
        <a:defRPr sz="2000">
          <a:solidFill>
            <a:schemeClr val="tx1"/>
          </a:solidFill>
          <a:latin typeface="Times New Roman" pitchFamily="18" charset="0"/>
        </a:defRPr>
      </a:lvl4pPr>
      <a:lvl5pPr marL="2171700" indent="-342900" algn="l" rtl="0" eaLnBrk="0" fontAlgn="base" hangingPunct="0">
        <a:spcBef>
          <a:spcPct val="20000"/>
        </a:spcBef>
        <a:spcAft>
          <a:spcPct val="0"/>
        </a:spcAft>
        <a:buChar char="»"/>
        <a:defRPr sz="2000">
          <a:solidFill>
            <a:schemeClr val="tx1"/>
          </a:solidFill>
          <a:latin typeface="Times New Roman"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D6FB8-7834-7D49-B54B-F715DBAE56F1}" type="slidenum">
              <a:rPr lang="en-US" smtClean="0"/>
              <a:t>‹#›</a:t>
            </a:fld>
            <a:endParaRPr lang="en-US"/>
          </a:p>
        </p:txBody>
      </p:sp>
    </p:spTree>
    <p:extLst>
      <p:ext uri="{BB962C8B-B14F-4D97-AF65-F5344CB8AC3E}">
        <p14:creationId xmlns:p14="http://schemas.microsoft.com/office/powerpoint/2010/main" val="74739080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4D9223-CC43-4007-8255-F9F13EA03B73}" type="slidenum">
              <a:rPr lang="en-US" smtClean="0"/>
              <a:pPr/>
              <a:t>‹#›</a:t>
            </a:fld>
            <a:endParaRPr lang="en-US"/>
          </a:p>
        </p:txBody>
      </p:sp>
    </p:spTree>
    <p:extLst>
      <p:ext uri="{BB962C8B-B14F-4D97-AF65-F5344CB8AC3E}">
        <p14:creationId xmlns:p14="http://schemas.microsoft.com/office/powerpoint/2010/main" val="248306751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2059501" y="1100413"/>
            <a:ext cx="5022209" cy="2622000"/>
          </a:xfrm>
          <a:noFill/>
        </p:spPr>
        <p:txBody>
          <a:bodyPr wrap="none" anchor="ctr"/>
          <a:lstStyle/>
          <a:p>
            <a:pPr algn="ctr"/>
            <a:r>
              <a:rPr lang="en-US" sz="3200" dirty="0"/>
              <a:t>CSCI 424/524</a:t>
            </a:r>
            <a:br>
              <a:rPr lang="en-US" sz="3200" dirty="0"/>
            </a:br>
            <a:r>
              <a:rPr lang="en-US" sz="3200" dirty="0"/>
              <a:t> Computer Architecture </a:t>
            </a:r>
            <a:br>
              <a:rPr lang="en-US" sz="3200" dirty="0"/>
            </a:br>
            <a:br>
              <a:rPr lang="en-US" sz="3200" dirty="0"/>
            </a:br>
            <a:br>
              <a:rPr lang="en-US" sz="3200" dirty="0"/>
            </a:br>
            <a:r>
              <a:rPr lang="en-US" sz="3200" dirty="0"/>
              <a:t>Single-Cycle Design and </a:t>
            </a:r>
            <a:br>
              <a:rPr lang="en-US" sz="3200" dirty="0"/>
            </a:br>
            <a:r>
              <a:rPr lang="en-US" sz="3200" dirty="0"/>
              <a:t>Pipelining</a:t>
            </a:r>
          </a:p>
        </p:txBody>
      </p:sp>
      <p:sp>
        <p:nvSpPr>
          <p:cNvPr id="6147" name="Rectangle 3"/>
          <p:cNvSpPr>
            <a:spLocks noGrp="1" noChangeArrowheads="1"/>
          </p:cNvSpPr>
          <p:nvPr>
            <p:ph type="subTitle" idx="1"/>
          </p:nvPr>
        </p:nvSpPr>
        <p:spPr>
          <a:xfrm>
            <a:off x="1371600" y="4114800"/>
            <a:ext cx="6400800" cy="2430409"/>
          </a:xfrm>
          <a:noFill/>
        </p:spPr>
        <p:txBody>
          <a:bodyPr/>
          <a:lstStyle/>
          <a:p>
            <a:pPr marL="203200" indent="-203200"/>
            <a:r>
              <a:rPr lang="en-US" dirty="0"/>
              <a:t>Adwait Jog (http://</a:t>
            </a:r>
            <a:r>
              <a:rPr lang="en-US" dirty="0" err="1"/>
              <a:t>adwaitjog.github.io</a:t>
            </a:r>
            <a:r>
              <a:rPr lang="en-US" dirty="0"/>
              <a:t>/) </a:t>
            </a:r>
          </a:p>
          <a:p>
            <a:pPr marL="203200" indent="-203200"/>
            <a:endParaRPr lang="en-US" dirty="0"/>
          </a:p>
          <a:p>
            <a:pPr marL="203200" indent="-203200"/>
            <a:r>
              <a:rPr lang="en-US" sz="2000" dirty="0"/>
              <a:t>Based on the slides from Mary. J. Irwin (Penn State)</a:t>
            </a:r>
          </a:p>
          <a:p>
            <a:pPr marL="203200" indent="-203200">
              <a:spcBef>
                <a:spcPct val="30000"/>
              </a:spcBef>
            </a:pPr>
            <a:r>
              <a:rPr lang="en-US" sz="1800" dirty="0"/>
              <a:t>[Adapted from </a:t>
            </a:r>
            <a:r>
              <a:rPr lang="en-US" sz="1800" i="1" dirty="0"/>
              <a:t>Computer Organization and Design, </a:t>
            </a:r>
          </a:p>
          <a:p>
            <a:pPr marL="203200" indent="-203200">
              <a:spcBef>
                <a:spcPct val="30000"/>
              </a:spcBef>
            </a:pPr>
            <a:r>
              <a:rPr lang="en-US" sz="1800" i="1" dirty="0"/>
              <a:t>5</a:t>
            </a:r>
            <a:r>
              <a:rPr lang="en-US" sz="1800" i="1" baseline="30000" dirty="0"/>
              <a:t>th</a:t>
            </a:r>
            <a:r>
              <a:rPr lang="en-US" sz="1800" i="1" dirty="0"/>
              <a:t> Edition</a:t>
            </a:r>
            <a:r>
              <a:rPr lang="en-US" sz="1800" dirty="0"/>
              <a:t>, Patterson &amp; Hennessy, </a:t>
            </a:r>
          </a:p>
          <a:p>
            <a:pPr marL="203200" indent="-203200">
              <a:spcBef>
                <a:spcPct val="30000"/>
              </a:spcBef>
            </a:pPr>
            <a:r>
              <a:rPr lang="en-US" sz="1800" dirty="0"/>
              <a:t>Morgan Kaufmann]</a:t>
            </a:r>
          </a:p>
        </p:txBody>
      </p:sp>
    </p:spTree>
    <p:extLst>
      <p:ext uri="{BB962C8B-B14F-4D97-AF65-F5344CB8AC3E}">
        <p14:creationId xmlns:p14="http://schemas.microsoft.com/office/powerpoint/2010/main" val="201829297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a:xfrm>
            <a:off x="685800" y="304800"/>
            <a:ext cx="8077200" cy="422275"/>
          </a:xfrm>
        </p:spPr>
        <p:txBody>
          <a:bodyPr/>
          <a:lstStyle/>
          <a:p>
            <a:r>
              <a:rPr lang="en-US" altLang="zh-CN" dirty="0">
                <a:ea typeface="宋体" pitchFamily="2" charset="-122"/>
              </a:rPr>
              <a:t>MIPS Data Path</a:t>
            </a:r>
          </a:p>
        </p:txBody>
      </p:sp>
      <p:grpSp>
        <p:nvGrpSpPr>
          <p:cNvPr id="2" name="Group 3"/>
          <p:cNvGrpSpPr>
            <a:grpSpLocks/>
          </p:cNvGrpSpPr>
          <p:nvPr/>
        </p:nvGrpSpPr>
        <p:grpSpPr bwMode="auto">
          <a:xfrm>
            <a:off x="1752600" y="914400"/>
            <a:ext cx="381000" cy="990600"/>
            <a:chOff x="1392" y="2880"/>
            <a:chExt cx="288" cy="480"/>
          </a:xfrm>
        </p:grpSpPr>
        <p:sp>
          <p:nvSpPr>
            <p:cNvPr id="724996" name="Line 4"/>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724997" name="Line 5"/>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724998" name="Line 6"/>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724999" name="Line 7"/>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725000" name="Line 8"/>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725001" name="Line 9"/>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725002" name="Line 10"/>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725003" name="Rectangle 11"/>
          <p:cNvSpPr>
            <a:spLocks noChangeArrowheads="1"/>
          </p:cNvSpPr>
          <p:nvPr/>
        </p:nvSpPr>
        <p:spPr bwMode="auto">
          <a:xfrm>
            <a:off x="1052513" y="3581400"/>
            <a:ext cx="1447800" cy="1447800"/>
          </a:xfrm>
          <a:prstGeom prst="rect">
            <a:avLst/>
          </a:prstGeom>
          <a:noFill/>
          <a:ln w="12700">
            <a:solidFill>
              <a:schemeClr val="tx1"/>
            </a:solidFill>
            <a:miter lim="800000"/>
            <a:headEnd/>
            <a:tailEnd/>
          </a:ln>
          <a:effectLst/>
        </p:spPr>
        <p:txBody>
          <a:bodyPr wrap="none" anchor="ctr"/>
          <a:lstStyle/>
          <a:p>
            <a:endParaRPr lang="en-US"/>
          </a:p>
        </p:txBody>
      </p:sp>
      <p:sp>
        <p:nvSpPr>
          <p:cNvPr id="725004" name="Rectangle 12"/>
          <p:cNvSpPr>
            <a:spLocks noChangeArrowheads="1"/>
          </p:cNvSpPr>
          <p:nvPr/>
        </p:nvSpPr>
        <p:spPr bwMode="auto">
          <a:xfrm>
            <a:off x="519113" y="3962400"/>
            <a:ext cx="228600" cy="838200"/>
          </a:xfrm>
          <a:prstGeom prst="rect">
            <a:avLst/>
          </a:prstGeom>
          <a:noFill/>
          <a:ln w="12700">
            <a:solidFill>
              <a:schemeClr val="tx1"/>
            </a:solidFill>
            <a:miter lim="800000"/>
            <a:headEnd/>
            <a:tailEnd/>
          </a:ln>
          <a:effectLst/>
        </p:spPr>
        <p:txBody>
          <a:bodyPr wrap="none" anchor="ctr"/>
          <a:lstStyle/>
          <a:p>
            <a:endParaRPr lang="en-US"/>
          </a:p>
        </p:txBody>
      </p:sp>
      <p:sp>
        <p:nvSpPr>
          <p:cNvPr id="725005" name="Line 13"/>
          <p:cNvSpPr>
            <a:spLocks noChangeShapeType="1"/>
          </p:cNvSpPr>
          <p:nvPr/>
        </p:nvSpPr>
        <p:spPr bwMode="auto">
          <a:xfrm>
            <a:off x="747713" y="4343400"/>
            <a:ext cx="304800" cy="0"/>
          </a:xfrm>
          <a:prstGeom prst="line">
            <a:avLst/>
          </a:prstGeom>
          <a:noFill/>
          <a:ln w="28575">
            <a:solidFill>
              <a:schemeClr val="tx1"/>
            </a:solidFill>
            <a:round/>
            <a:headEnd/>
            <a:tailEnd type="triangle" w="med" len="med"/>
          </a:ln>
          <a:effectLst/>
        </p:spPr>
        <p:txBody>
          <a:bodyPr/>
          <a:lstStyle/>
          <a:p>
            <a:endParaRPr lang="en-US"/>
          </a:p>
        </p:txBody>
      </p:sp>
      <p:sp>
        <p:nvSpPr>
          <p:cNvPr id="725006" name="Line 14"/>
          <p:cNvSpPr>
            <a:spLocks noChangeShapeType="1"/>
          </p:cNvSpPr>
          <p:nvPr/>
        </p:nvSpPr>
        <p:spPr bwMode="auto">
          <a:xfrm>
            <a:off x="838200" y="1066800"/>
            <a:ext cx="914400" cy="0"/>
          </a:xfrm>
          <a:prstGeom prst="line">
            <a:avLst/>
          </a:prstGeom>
          <a:noFill/>
          <a:ln w="28575">
            <a:solidFill>
              <a:schemeClr val="tx1"/>
            </a:solidFill>
            <a:round/>
            <a:headEnd/>
            <a:tailEnd type="triangle" w="med" len="med"/>
          </a:ln>
          <a:effectLst/>
        </p:spPr>
        <p:txBody>
          <a:bodyPr/>
          <a:lstStyle/>
          <a:p>
            <a:endParaRPr lang="en-US"/>
          </a:p>
        </p:txBody>
      </p:sp>
      <p:sp>
        <p:nvSpPr>
          <p:cNvPr id="725007" name="Line 15"/>
          <p:cNvSpPr>
            <a:spLocks noChangeShapeType="1"/>
          </p:cNvSpPr>
          <p:nvPr/>
        </p:nvSpPr>
        <p:spPr bwMode="auto">
          <a:xfrm>
            <a:off x="1371600" y="1752600"/>
            <a:ext cx="381000" cy="0"/>
          </a:xfrm>
          <a:prstGeom prst="line">
            <a:avLst/>
          </a:prstGeom>
          <a:noFill/>
          <a:ln w="28575">
            <a:solidFill>
              <a:schemeClr val="tx1"/>
            </a:solidFill>
            <a:round/>
            <a:headEnd/>
            <a:tailEnd type="triangle" w="med" len="med"/>
          </a:ln>
          <a:effectLst/>
        </p:spPr>
        <p:txBody>
          <a:bodyPr/>
          <a:lstStyle/>
          <a:p>
            <a:endParaRPr lang="en-US"/>
          </a:p>
        </p:txBody>
      </p:sp>
      <p:sp>
        <p:nvSpPr>
          <p:cNvPr id="725008" name="Text Box 16"/>
          <p:cNvSpPr txBox="1">
            <a:spLocks noChangeArrowheads="1"/>
          </p:cNvSpPr>
          <p:nvPr/>
        </p:nvSpPr>
        <p:spPr bwMode="auto">
          <a:xfrm>
            <a:off x="976313" y="4114800"/>
            <a:ext cx="741362" cy="457200"/>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Read</a:t>
            </a:r>
          </a:p>
          <a:p>
            <a:r>
              <a:rPr lang="en-US" altLang="zh-CN" sz="1200">
                <a:solidFill>
                  <a:schemeClr val="tx1"/>
                </a:solidFill>
                <a:ea typeface="宋体" pitchFamily="2" charset="-122"/>
              </a:rPr>
              <a:t>Address</a:t>
            </a:r>
          </a:p>
        </p:txBody>
      </p:sp>
      <p:sp>
        <p:nvSpPr>
          <p:cNvPr id="725009" name="Text Box 17"/>
          <p:cNvSpPr txBox="1">
            <a:spLocks noChangeArrowheads="1"/>
          </p:cNvSpPr>
          <p:nvPr/>
        </p:nvSpPr>
        <p:spPr bwMode="auto">
          <a:xfrm>
            <a:off x="1738313" y="4191000"/>
            <a:ext cx="869950"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Instr[31-0]</a:t>
            </a:r>
          </a:p>
        </p:txBody>
      </p:sp>
      <p:sp>
        <p:nvSpPr>
          <p:cNvPr id="725010" name="Text Box 18"/>
          <p:cNvSpPr txBox="1">
            <a:spLocks noChangeArrowheads="1"/>
          </p:cNvSpPr>
          <p:nvPr/>
        </p:nvSpPr>
        <p:spPr bwMode="auto">
          <a:xfrm>
            <a:off x="1281113" y="3657600"/>
            <a:ext cx="973137" cy="457200"/>
          </a:xfrm>
          <a:prstGeom prst="rect">
            <a:avLst/>
          </a:prstGeom>
          <a:noFill/>
          <a:ln w="12700">
            <a:noFill/>
            <a:miter lim="800000"/>
            <a:headEnd/>
            <a:tailEnd/>
          </a:ln>
          <a:effectLst/>
        </p:spPr>
        <p:txBody>
          <a:bodyPr wrap="none">
            <a:spAutoFit/>
          </a:bodyPr>
          <a:lstStyle/>
          <a:p>
            <a:pPr algn="ctr"/>
            <a:r>
              <a:rPr lang="en-US" altLang="zh-CN" sz="1200" b="1">
                <a:solidFill>
                  <a:schemeClr val="tx1"/>
                </a:solidFill>
                <a:ea typeface="宋体" pitchFamily="2" charset="-122"/>
              </a:rPr>
              <a:t>Instruction</a:t>
            </a:r>
          </a:p>
          <a:p>
            <a:pPr algn="ctr"/>
            <a:r>
              <a:rPr lang="en-US" altLang="zh-CN" sz="1200" b="1">
                <a:solidFill>
                  <a:schemeClr val="tx1"/>
                </a:solidFill>
                <a:ea typeface="宋体" pitchFamily="2" charset="-122"/>
              </a:rPr>
              <a:t>Memory</a:t>
            </a:r>
          </a:p>
        </p:txBody>
      </p:sp>
      <p:sp>
        <p:nvSpPr>
          <p:cNvPr id="725011" name="Text Box 19"/>
          <p:cNvSpPr txBox="1">
            <a:spLocks noChangeArrowheads="1"/>
          </p:cNvSpPr>
          <p:nvPr/>
        </p:nvSpPr>
        <p:spPr bwMode="auto">
          <a:xfrm>
            <a:off x="1752600" y="1295400"/>
            <a:ext cx="481013"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Add</a:t>
            </a:r>
          </a:p>
        </p:txBody>
      </p:sp>
      <p:sp>
        <p:nvSpPr>
          <p:cNvPr id="725012" name="Text Box 20"/>
          <p:cNvSpPr txBox="1">
            <a:spLocks noChangeArrowheads="1"/>
          </p:cNvSpPr>
          <p:nvPr/>
        </p:nvSpPr>
        <p:spPr bwMode="auto">
          <a:xfrm>
            <a:off x="442913" y="4191000"/>
            <a:ext cx="395287"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PC</a:t>
            </a:r>
          </a:p>
        </p:txBody>
      </p:sp>
      <p:sp>
        <p:nvSpPr>
          <p:cNvPr id="725013" name="Line 21"/>
          <p:cNvSpPr>
            <a:spLocks noChangeShapeType="1"/>
          </p:cNvSpPr>
          <p:nvPr/>
        </p:nvSpPr>
        <p:spPr bwMode="auto">
          <a:xfrm>
            <a:off x="228600" y="838200"/>
            <a:ext cx="6858000" cy="0"/>
          </a:xfrm>
          <a:prstGeom prst="line">
            <a:avLst/>
          </a:prstGeom>
          <a:noFill/>
          <a:ln w="28575">
            <a:solidFill>
              <a:schemeClr val="tx1"/>
            </a:solidFill>
            <a:round/>
            <a:headEnd/>
            <a:tailEnd/>
          </a:ln>
          <a:effectLst/>
        </p:spPr>
        <p:txBody>
          <a:bodyPr/>
          <a:lstStyle/>
          <a:p>
            <a:endParaRPr lang="en-US"/>
          </a:p>
        </p:txBody>
      </p:sp>
      <p:sp>
        <p:nvSpPr>
          <p:cNvPr id="725014" name="Line 22"/>
          <p:cNvSpPr>
            <a:spLocks noChangeShapeType="1"/>
          </p:cNvSpPr>
          <p:nvPr/>
        </p:nvSpPr>
        <p:spPr bwMode="auto">
          <a:xfrm>
            <a:off x="214313" y="4343400"/>
            <a:ext cx="304800" cy="0"/>
          </a:xfrm>
          <a:prstGeom prst="line">
            <a:avLst/>
          </a:prstGeom>
          <a:noFill/>
          <a:ln w="28575">
            <a:solidFill>
              <a:schemeClr val="tx1"/>
            </a:solidFill>
            <a:round/>
            <a:headEnd/>
            <a:tailEnd type="triangle" w="med" len="med"/>
          </a:ln>
          <a:effectLst/>
        </p:spPr>
        <p:txBody>
          <a:bodyPr/>
          <a:lstStyle/>
          <a:p>
            <a:endParaRPr lang="en-US"/>
          </a:p>
        </p:txBody>
      </p:sp>
      <p:sp>
        <p:nvSpPr>
          <p:cNvPr id="725015" name="Text Box 23"/>
          <p:cNvSpPr txBox="1">
            <a:spLocks noChangeArrowheads="1"/>
          </p:cNvSpPr>
          <p:nvPr/>
        </p:nvSpPr>
        <p:spPr bwMode="auto">
          <a:xfrm>
            <a:off x="1143000" y="1600200"/>
            <a:ext cx="268288"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4</a:t>
            </a:r>
          </a:p>
        </p:txBody>
      </p:sp>
      <p:sp>
        <p:nvSpPr>
          <p:cNvPr id="725016" name="Rectangle 24"/>
          <p:cNvSpPr>
            <a:spLocks noChangeArrowheads="1"/>
          </p:cNvSpPr>
          <p:nvPr/>
        </p:nvSpPr>
        <p:spPr bwMode="auto">
          <a:xfrm>
            <a:off x="3505200" y="3581400"/>
            <a:ext cx="1447800" cy="1447800"/>
          </a:xfrm>
          <a:prstGeom prst="rect">
            <a:avLst/>
          </a:prstGeom>
          <a:noFill/>
          <a:ln w="12700">
            <a:solidFill>
              <a:schemeClr val="tx1"/>
            </a:solidFill>
            <a:miter lim="800000"/>
            <a:headEnd/>
            <a:tailEnd/>
          </a:ln>
          <a:effectLst/>
        </p:spPr>
        <p:txBody>
          <a:bodyPr wrap="none" anchor="ctr"/>
          <a:lstStyle/>
          <a:p>
            <a:endParaRPr lang="en-US"/>
          </a:p>
        </p:txBody>
      </p:sp>
      <p:sp>
        <p:nvSpPr>
          <p:cNvPr id="725017" name="Line 25"/>
          <p:cNvSpPr>
            <a:spLocks noChangeShapeType="1"/>
          </p:cNvSpPr>
          <p:nvPr/>
        </p:nvSpPr>
        <p:spPr bwMode="auto">
          <a:xfrm>
            <a:off x="2500313" y="4343400"/>
            <a:ext cx="152400" cy="0"/>
          </a:xfrm>
          <a:prstGeom prst="line">
            <a:avLst/>
          </a:prstGeom>
          <a:noFill/>
          <a:ln w="28575">
            <a:solidFill>
              <a:schemeClr val="tx1"/>
            </a:solidFill>
            <a:round/>
            <a:headEnd/>
            <a:tailEnd/>
          </a:ln>
          <a:effectLst/>
        </p:spPr>
        <p:txBody>
          <a:bodyPr/>
          <a:lstStyle/>
          <a:p>
            <a:endParaRPr lang="en-US"/>
          </a:p>
        </p:txBody>
      </p:sp>
      <p:sp>
        <p:nvSpPr>
          <p:cNvPr id="725018" name="Line 26"/>
          <p:cNvSpPr>
            <a:spLocks noChangeShapeType="1"/>
          </p:cNvSpPr>
          <p:nvPr/>
        </p:nvSpPr>
        <p:spPr bwMode="auto">
          <a:xfrm>
            <a:off x="2652713" y="4114800"/>
            <a:ext cx="852487" cy="0"/>
          </a:xfrm>
          <a:prstGeom prst="line">
            <a:avLst/>
          </a:prstGeom>
          <a:noFill/>
          <a:ln w="19050">
            <a:solidFill>
              <a:schemeClr val="tx1"/>
            </a:solidFill>
            <a:round/>
            <a:headEnd/>
            <a:tailEnd type="triangle" w="med" len="med"/>
          </a:ln>
          <a:effectLst/>
        </p:spPr>
        <p:txBody>
          <a:bodyPr/>
          <a:lstStyle/>
          <a:p>
            <a:endParaRPr lang="en-US"/>
          </a:p>
        </p:txBody>
      </p:sp>
      <p:sp>
        <p:nvSpPr>
          <p:cNvPr id="725019" name="Line 27"/>
          <p:cNvSpPr>
            <a:spLocks noChangeShapeType="1"/>
          </p:cNvSpPr>
          <p:nvPr/>
        </p:nvSpPr>
        <p:spPr bwMode="auto">
          <a:xfrm>
            <a:off x="2652713" y="4648200"/>
            <a:ext cx="471487" cy="0"/>
          </a:xfrm>
          <a:prstGeom prst="line">
            <a:avLst/>
          </a:prstGeom>
          <a:noFill/>
          <a:ln w="19050">
            <a:solidFill>
              <a:schemeClr val="tx1"/>
            </a:solidFill>
            <a:round/>
            <a:headEnd/>
            <a:tailEnd type="triangle" w="med" len="med"/>
          </a:ln>
          <a:effectLst/>
        </p:spPr>
        <p:txBody>
          <a:bodyPr/>
          <a:lstStyle/>
          <a:p>
            <a:endParaRPr lang="en-US"/>
          </a:p>
        </p:txBody>
      </p:sp>
      <p:sp>
        <p:nvSpPr>
          <p:cNvPr id="725020" name="Line 28"/>
          <p:cNvSpPr>
            <a:spLocks noChangeShapeType="1"/>
          </p:cNvSpPr>
          <p:nvPr/>
        </p:nvSpPr>
        <p:spPr bwMode="auto">
          <a:xfrm>
            <a:off x="8382000" y="47244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25021" name="Line 29"/>
          <p:cNvSpPr>
            <a:spLocks noChangeShapeType="1"/>
          </p:cNvSpPr>
          <p:nvPr/>
        </p:nvSpPr>
        <p:spPr bwMode="auto">
          <a:xfrm>
            <a:off x="2652713" y="3733800"/>
            <a:ext cx="852487" cy="0"/>
          </a:xfrm>
          <a:prstGeom prst="line">
            <a:avLst/>
          </a:prstGeom>
          <a:noFill/>
          <a:ln w="19050">
            <a:solidFill>
              <a:schemeClr val="tx1"/>
            </a:solidFill>
            <a:round/>
            <a:headEnd/>
            <a:tailEnd type="triangle" w="med" len="med"/>
          </a:ln>
          <a:effectLst/>
        </p:spPr>
        <p:txBody>
          <a:bodyPr/>
          <a:lstStyle/>
          <a:p>
            <a:endParaRPr lang="en-US"/>
          </a:p>
        </p:txBody>
      </p:sp>
      <p:sp>
        <p:nvSpPr>
          <p:cNvPr id="725022" name="Line 30"/>
          <p:cNvSpPr>
            <a:spLocks noChangeShapeType="1"/>
          </p:cNvSpPr>
          <p:nvPr/>
        </p:nvSpPr>
        <p:spPr bwMode="auto">
          <a:xfrm>
            <a:off x="4953000" y="3962400"/>
            <a:ext cx="863600" cy="0"/>
          </a:xfrm>
          <a:prstGeom prst="line">
            <a:avLst/>
          </a:prstGeom>
          <a:noFill/>
          <a:ln w="28575">
            <a:solidFill>
              <a:schemeClr val="tx1"/>
            </a:solidFill>
            <a:round/>
            <a:headEnd/>
            <a:tailEnd type="triangle" w="med" len="med"/>
          </a:ln>
          <a:effectLst/>
        </p:spPr>
        <p:txBody>
          <a:bodyPr/>
          <a:lstStyle/>
          <a:p>
            <a:endParaRPr lang="en-US"/>
          </a:p>
        </p:txBody>
      </p:sp>
      <p:sp>
        <p:nvSpPr>
          <p:cNvPr id="725023" name="Line 31"/>
          <p:cNvSpPr>
            <a:spLocks noChangeShapeType="1"/>
          </p:cNvSpPr>
          <p:nvPr/>
        </p:nvSpPr>
        <p:spPr bwMode="auto">
          <a:xfrm>
            <a:off x="5105400" y="4572000"/>
            <a:ext cx="279400" cy="0"/>
          </a:xfrm>
          <a:prstGeom prst="line">
            <a:avLst/>
          </a:prstGeom>
          <a:noFill/>
          <a:ln w="28575">
            <a:solidFill>
              <a:schemeClr val="tx1"/>
            </a:solidFill>
            <a:round/>
            <a:headEnd/>
            <a:tailEnd type="triangle" w="med" len="med"/>
          </a:ln>
          <a:effectLst/>
        </p:spPr>
        <p:txBody>
          <a:bodyPr/>
          <a:lstStyle/>
          <a:p>
            <a:endParaRPr lang="en-US"/>
          </a:p>
        </p:txBody>
      </p:sp>
      <p:sp>
        <p:nvSpPr>
          <p:cNvPr id="725024" name="Line 32"/>
          <p:cNvSpPr>
            <a:spLocks noChangeShapeType="1"/>
          </p:cNvSpPr>
          <p:nvPr/>
        </p:nvSpPr>
        <p:spPr bwMode="auto">
          <a:xfrm>
            <a:off x="6477000" y="5715000"/>
            <a:ext cx="1930400" cy="0"/>
          </a:xfrm>
          <a:prstGeom prst="line">
            <a:avLst/>
          </a:prstGeom>
          <a:noFill/>
          <a:ln w="28575">
            <a:solidFill>
              <a:schemeClr val="tx1"/>
            </a:solidFill>
            <a:round/>
            <a:headEnd/>
            <a:tailEnd/>
          </a:ln>
          <a:effectLst/>
        </p:spPr>
        <p:txBody>
          <a:bodyPr/>
          <a:lstStyle/>
          <a:p>
            <a:endParaRPr lang="en-US"/>
          </a:p>
        </p:txBody>
      </p:sp>
      <p:sp>
        <p:nvSpPr>
          <p:cNvPr id="725025" name="Line 33"/>
          <p:cNvSpPr>
            <a:spLocks noChangeShapeType="1"/>
          </p:cNvSpPr>
          <p:nvPr/>
        </p:nvSpPr>
        <p:spPr bwMode="auto">
          <a:xfrm>
            <a:off x="6324600" y="4343400"/>
            <a:ext cx="177800" cy="0"/>
          </a:xfrm>
          <a:prstGeom prst="line">
            <a:avLst/>
          </a:prstGeom>
          <a:noFill/>
          <a:ln w="28575">
            <a:solidFill>
              <a:schemeClr val="tx1"/>
            </a:solidFill>
            <a:round/>
            <a:headEnd/>
            <a:tailEnd/>
          </a:ln>
          <a:effectLst/>
        </p:spPr>
        <p:txBody>
          <a:bodyPr/>
          <a:lstStyle/>
          <a:p>
            <a:endParaRPr lang="en-US"/>
          </a:p>
        </p:txBody>
      </p:sp>
      <p:sp>
        <p:nvSpPr>
          <p:cNvPr id="725026" name="Text Box 34"/>
          <p:cNvSpPr txBox="1">
            <a:spLocks noChangeArrowheads="1"/>
          </p:cNvSpPr>
          <p:nvPr/>
        </p:nvSpPr>
        <p:spPr bwMode="auto">
          <a:xfrm>
            <a:off x="3429000" y="4724400"/>
            <a:ext cx="903288"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Write Data</a:t>
            </a:r>
          </a:p>
        </p:txBody>
      </p:sp>
      <p:sp>
        <p:nvSpPr>
          <p:cNvPr id="725027" name="Text Box 35"/>
          <p:cNvSpPr txBox="1">
            <a:spLocks noChangeArrowheads="1"/>
          </p:cNvSpPr>
          <p:nvPr/>
        </p:nvSpPr>
        <p:spPr bwMode="auto">
          <a:xfrm>
            <a:off x="3429000" y="3581400"/>
            <a:ext cx="1036638"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Read Addr 1</a:t>
            </a:r>
          </a:p>
        </p:txBody>
      </p:sp>
      <p:sp>
        <p:nvSpPr>
          <p:cNvPr id="725028" name="Text Box 36"/>
          <p:cNvSpPr txBox="1">
            <a:spLocks noChangeArrowheads="1"/>
          </p:cNvSpPr>
          <p:nvPr/>
        </p:nvSpPr>
        <p:spPr bwMode="auto">
          <a:xfrm>
            <a:off x="3429000" y="3962400"/>
            <a:ext cx="1036638"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Read Addr 2</a:t>
            </a:r>
          </a:p>
        </p:txBody>
      </p:sp>
      <p:sp>
        <p:nvSpPr>
          <p:cNvPr id="725029" name="Text Box 37"/>
          <p:cNvSpPr txBox="1">
            <a:spLocks noChangeArrowheads="1"/>
          </p:cNvSpPr>
          <p:nvPr/>
        </p:nvSpPr>
        <p:spPr bwMode="auto">
          <a:xfrm>
            <a:off x="3429000" y="4343400"/>
            <a:ext cx="903288"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Write Addr</a:t>
            </a:r>
          </a:p>
        </p:txBody>
      </p:sp>
      <p:sp>
        <p:nvSpPr>
          <p:cNvPr id="725030" name="Text Box 38"/>
          <p:cNvSpPr txBox="1">
            <a:spLocks noChangeArrowheads="1"/>
          </p:cNvSpPr>
          <p:nvPr/>
        </p:nvSpPr>
        <p:spPr bwMode="auto">
          <a:xfrm>
            <a:off x="3752850" y="3810000"/>
            <a:ext cx="792163" cy="639763"/>
          </a:xfrm>
          <a:prstGeom prst="rect">
            <a:avLst/>
          </a:prstGeom>
          <a:noFill/>
          <a:ln w="12700">
            <a:noFill/>
            <a:miter lim="800000"/>
            <a:headEnd/>
            <a:tailEnd/>
          </a:ln>
          <a:effectLst/>
        </p:spPr>
        <p:txBody>
          <a:bodyPr wrap="none">
            <a:spAutoFit/>
          </a:bodyPr>
          <a:lstStyle/>
          <a:p>
            <a:pPr algn="ctr"/>
            <a:r>
              <a:rPr lang="en-US" altLang="zh-CN" sz="1200" b="1">
                <a:solidFill>
                  <a:schemeClr val="tx1"/>
                </a:solidFill>
                <a:ea typeface="宋体" pitchFamily="2" charset="-122"/>
              </a:rPr>
              <a:t>Register</a:t>
            </a:r>
          </a:p>
          <a:p>
            <a:pPr algn="ctr"/>
            <a:endParaRPr lang="en-US" altLang="zh-CN" sz="1200" b="1">
              <a:solidFill>
                <a:schemeClr val="tx1"/>
              </a:solidFill>
              <a:ea typeface="宋体" pitchFamily="2" charset="-122"/>
            </a:endParaRPr>
          </a:p>
          <a:p>
            <a:pPr algn="ctr"/>
            <a:r>
              <a:rPr lang="en-US" altLang="zh-CN" sz="1200" b="1">
                <a:solidFill>
                  <a:schemeClr val="tx1"/>
                </a:solidFill>
                <a:ea typeface="宋体" pitchFamily="2" charset="-122"/>
              </a:rPr>
              <a:t>File</a:t>
            </a:r>
          </a:p>
        </p:txBody>
      </p:sp>
      <p:sp>
        <p:nvSpPr>
          <p:cNvPr id="725031" name="Text Box 39"/>
          <p:cNvSpPr txBox="1">
            <a:spLocks noChangeArrowheads="1"/>
          </p:cNvSpPr>
          <p:nvPr/>
        </p:nvSpPr>
        <p:spPr bwMode="auto">
          <a:xfrm>
            <a:off x="4343400" y="3733800"/>
            <a:ext cx="674688" cy="457200"/>
          </a:xfrm>
          <a:prstGeom prst="rect">
            <a:avLst/>
          </a:prstGeom>
          <a:noFill/>
          <a:ln w="12700">
            <a:noFill/>
            <a:miter lim="800000"/>
            <a:headEnd/>
            <a:tailEnd/>
          </a:ln>
          <a:effectLst/>
        </p:spPr>
        <p:txBody>
          <a:bodyPr wrap="none">
            <a:spAutoFit/>
          </a:bodyPr>
          <a:lstStyle/>
          <a:p>
            <a:pPr algn="r"/>
            <a:r>
              <a:rPr lang="en-US" altLang="zh-CN" sz="1200">
                <a:solidFill>
                  <a:schemeClr val="tx1"/>
                </a:solidFill>
                <a:ea typeface="宋体" pitchFamily="2" charset="-122"/>
              </a:rPr>
              <a:t>Read</a:t>
            </a:r>
          </a:p>
          <a:p>
            <a:pPr algn="r"/>
            <a:r>
              <a:rPr lang="en-US" altLang="zh-CN" sz="1200">
                <a:solidFill>
                  <a:schemeClr val="tx1"/>
                </a:solidFill>
                <a:ea typeface="宋体" pitchFamily="2" charset="-122"/>
              </a:rPr>
              <a:t> Data 1</a:t>
            </a:r>
          </a:p>
        </p:txBody>
      </p:sp>
      <p:sp>
        <p:nvSpPr>
          <p:cNvPr id="725032" name="Text Box 40"/>
          <p:cNvSpPr txBox="1">
            <a:spLocks noChangeArrowheads="1"/>
          </p:cNvSpPr>
          <p:nvPr/>
        </p:nvSpPr>
        <p:spPr bwMode="auto">
          <a:xfrm>
            <a:off x="4368800" y="4419600"/>
            <a:ext cx="674688" cy="457200"/>
          </a:xfrm>
          <a:prstGeom prst="rect">
            <a:avLst/>
          </a:prstGeom>
          <a:noFill/>
          <a:ln w="12700">
            <a:noFill/>
            <a:miter lim="800000"/>
            <a:headEnd/>
            <a:tailEnd/>
          </a:ln>
          <a:effectLst/>
        </p:spPr>
        <p:txBody>
          <a:bodyPr wrap="none">
            <a:spAutoFit/>
          </a:bodyPr>
          <a:lstStyle/>
          <a:p>
            <a:pPr algn="r"/>
            <a:r>
              <a:rPr lang="en-US" altLang="zh-CN" sz="1200">
                <a:solidFill>
                  <a:schemeClr val="tx1"/>
                </a:solidFill>
                <a:ea typeface="宋体" pitchFamily="2" charset="-122"/>
              </a:rPr>
              <a:t>Read</a:t>
            </a:r>
          </a:p>
          <a:p>
            <a:pPr algn="r"/>
            <a:r>
              <a:rPr lang="en-US" altLang="zh-CN" sz="1200">
                <a:solidFill>
                  <a:schemeClr val="tx1"/>
                </a:solidFill>
                <a:ea typeface="宋体" pitchFamily="2" charset="-122"/>
              </a:rPr>
              <a:t> Data 2</a:t>
            </a:r>
          </a:p>
        </p:txBody>
      </p:sp>
      <p:sp>
        <p:nvSpPr>
          <p:cNvPr id="725033" name="Freeform 41"/>
          <p:cNvSpPr>
            <a:spLocks/>
          </p:cNvSpPr>
          <p:nvPr/>
        </p:nvSpPr>
        <p:spPr bwMode="auto">
          <a:xfrm>
            <a:off x="5791200" y="3657600"/>
            <a:ext cx="533400" cy="1295400"/>
          </a:xfrm>
          <a:custGeom>
            <a:avLst/>
            <a:gdLst/>
            <a:ahLst/>
            <a:cxnLst>
              <a:cxn ang="0">
                <a:pos x="0" y="0"/>
              </a:cxn>
              <a:cxn ang="0">
                <a:pos x="0" y="427"/>
              </a:cxn>
              <a:cxn ang="0">
                <a:pos x="111" y="553"/>
              </a:cxn>
              <a:cxn ang="0">
                <a:pos x="0" y="671"/>
              </a:cxn>
              <a:cxn ang="0">
                <a:pos x="0" y="1098"/>
              </a:cxn>
              <a:cxn ang="0">
                <a:pos x="387" y="790"/>
              </a:cxn>
              <a:cxn ang="0">
                <a:pos x="387" y="308"/>
              </a:cxn>
              <a:cxn ang="0">
                <a:pos x="0" y="0"/>
              </a:cxn>
            </a:cxnLst>
            <a:rect l="0" t="0" r="r" b="b"/>
            <a:pathLst>
              <a:path w="388" h="1099">
                <a:moveTo>
                  <a:pt x="0" y="0"/>
                </a:moveTo>
                <a:lnTo>
                  <a:pt x="0" y="427"/>
                </a:lnTo>
                <a:lnTo>
                  <a:pt x="111" y="553"/>
                </a:lnTo>
                <a:lnTo>
                  <a:pt x="0" y="671"/>
                </a:lnTo>
                <a:lnTo>
                  <a:pt x="0" y="1098"/>
                </a:lnTo>
                <a:lnTo>
                  <a:pt x="387" y="790"/>
                </a:lnTo>
                <a:lnTo>
                  <a:pt x="387" y="308"/>
                </a:lnTo>
                <a:lnTo>
                  <a:pt x="0"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725034" name="Rectangle 42"/>
          <p:cNvSpPr>
            <a:spLocks noChangeArrowheads="1"/>
          </p:cNvSpPr>
          <p:nvPr/>
        </p:nvSpPr>
        <p:spPr bwMode="auto">
          <a:xfrm>
            <a:off x="5892800" y="4267200"/>
            <a:ext cx="504825" cy="333375"/>
          </a:xfrm>
          <a:prstGeom prst="rect">
            <a:avLst/>
          </a:prstGeom>
          <a:noFill/>
          <a:ln w="12700">
            <a:noFill/>
            <a:miter lim="800000"/>
            <a:headEnd/>
            <a:tailEnd/>
          </a:ln>
          <a:effectLst/>
        </p:spPr>
        <p:txBody>
          <a:bodyPr wrap="none" lIns="19050" tIns="26988" rIns="19050" bIns="26988"/>
          <a:lstStyle/>
          <a:p>
            <a:pPr defTabSz="904875">
              <a:lnSpc>
                <a:spcPts val="1600"/>
              </a:lnSpc>
              <a:tabLst>
                <a:tab pos="452438" algn="l"/>
                <a:tab pos="904875" algn="l"/>
                <a:tab pos="1357313" algn="l"/>
              </a:tabLst>
            </a:pPr>
            <a:r>
              <a:rPr lang="en-US" altLang="zh-CN" sz="1200" b="1">
                <a:solidFill>
                  <a:srgbClr val="000000"/>
                </a:solidFill>
                <a:ea typeface="宋体" pitchFamily="2" charset="-122"/>
              </a:rPr>
              <a:t>ALU</a:t>
            </a:r>
          </a:p>
        </p:txBody>
      </p:sp>
      <p:sp>
        <p:nvSpPr>
          <p:cNvPr id="725035" name="Rectangle 43"/>
          <p:cNvSpPr>
            <a:spLocks noChangeArrowheads="1"/>
          </p:cNvSpPr>
          <p:nvPr/>
        </p:nvSpPr>
        <p:spPr bwMode="auto">
          <a:xfrm>
            <a:off x="5791200" y="3276600"/>
            <a:ext cx="762000" cy="304800"/>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400">
                <a:solidFill>
                  <a:srgbClr val="000000"/>
                </a:solidFill>
                <a:ea typeface="宋体" pitchFamily="2" charset="-122"/>
              </a:rPr>
              <a:t>ovf</a:t>
            </a:r>
          </a:p>
        </p:txBody>
      </p:sp>
      <p:sp>
        <p:nvSpPr>
          <p:cNvPr id="725036" name="Line 44"/>
          <p:cNvSpPr>
            <a:spLocks noChangeShapeType="1"/>
          </p:cNvSpPr>
          <p:nvPr/>
        </p:nvSpPr>
        <p:spPr bwMode="auto">
          <a:xfrm>
            <a:off x="6096000" y="4724400"/>
            <a:ext cx="0" cy="533400"/>
          </a:xfrm>
          <a:prstGeom prst="line">
            <a:avLst/>
          </a:prstGeom>
          <a:noFill/>
          <a:ln w="19050">
            <a:solidFill>
              <a:srgbClr val="009900"/>
            </a:solidFill>
            <a:round/>
            <a:headEnd type="triangle" w="med" len="med"/>
            <a:tailEnd/>
          </a:ln>
          <a:effectLst/>
        </p:spPr>
        <p:txBody>
          <a:bodyPr/>
          <a:lstStyle/>
          <a:p>
            <a:endParaRPr lang="en-US"/>
          </a:p>
        </p:txBody>
      </p:sp>
      <p:sp>
        <p:nvSpPr>
          <p:cNvPr id="725037" name="Line 45"/>
          <p:cNvSpPr>
            <a:spLocks noChangeShapeType="1"/>
          </p:cNvSpPr>
          <p:nvPr/>
        </p:nvSpPr>
        <p:spPr bwMode="auto">
          <a:xfrm>
            <a:off x="4191000" y="2971800"/>
            <a:ext cx="0" cy="609600"/>
          </a:xfrm>
          <a:prstGeom prst="line">
            <a:avLst/>
          </a:prstGeom>
          <a:noFill/>
          <a:ln w="12700">
            <a:solidFill>
              <a:schemeClr val="accent1"/>
            </a:solidFill>
            <a:round/>
            <a:headEnd/>
            <a:tailEnd type="triangle" w="med" len="med"/>
          </a:ln>
          <a:effectLst/>
        </p:spPr>
        <p:txBody>
          <a:bodyPr/>
          <a:lstStyle/>
          <a:p>
            <a:endParaRPr lang="en-US"/>
          </a:p>
        </p:txBody>
      </p:sp>
      <p:sp>
        <p:nvSpPr>
          <p:cNvPr id="725038" name="Rectangle 46"/>
          <p:cNvSpPr>
            <a:spLocks noChangeArrowheads="1"/>
          </p:cNvSpPr>
          <p:nvPr/>
        </p:nvSpPr>
        <p:spPr bwMode="auto">
          <a:xfrm>
            <a:off x="4191000" y="2971800"/>
            <a:ext cx="925513"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ea typeface="宋体" pitchFamily="2" charset="-122"/>
              </a:rPr>
              <a:t>RegWrite</a:t>
            </a:r>
          </a:p>
        </p:txBody>
      </p:sp>
      <p:sp>
        <p:nvSpPr>
          <p:cNvPr id="725039" name="Line 47"/>
          <p:cNvSpPr>
            <a:spLocks noChangeShapeType="1"/>
          </p:cNvSpPr>
          <p:nvPr/>
        </p:nvSpPr>
        <p:spPr bwMode="auto">
          <a:xfrm flipV="1">
            <a:off x="5943600" y="3505200"/>
            <a:ext cx="0" cy="228600"/>
          </a:xfrm>
          <a:prstGeom prst="line">
            <a:avLst/>
          </a:prstGeom>
          <a:noFill/>
          <a:ln w="12700">
            <a:solidFill>
              <a:schemeClr val="tx1"/>
            </a:solidFill>
            <a:round/>
            <a:headEnd/>
            <a:tailEnd type="triangle" w="med" len="med"/>
          </a:ln>
          <a:effectLst/>
        </p:spPr>
        <p:txBody>
          <a:bodyPr/>
          <a:lstStyle/>
          <a:p>
            <a:endParaRPr lang="en-US"/>
          </a:p>
        </p:txBody>
      </p:sp>
      <p:sp>
        <p:nvSpPr>
          <p:cNvPr id="725040" name="Line 48"/>
          <p:cNvSpPr>
            <a:spLocks noChangeShapeType="1"/>
          </p:cNvSpPr>
          <p:nvPr/>
        </p:nvSpPr>
        <p:spPr bwMode="auto">
          <a:xfrm flipV="1">
            <a:off x="6248400" y="2209800"/>
            <a:ext cx="0" cy="1752600"/>
          </a:xfrm>
          <a:prstGeom prst="line">
            <a:avLst/>
          </a:prstGeom>
          <a:noFill/>
          <a:ln w="12700">
            <a:solidFill>
              <a:schemeClr val="accent1"/>
            </a:solidFill>
            <a:round/>
            <a:headEnd/>
            <a:tailEnd/>
          </a:ln>
          <a:effectLst/>
        </p:spPr>
        <p:txBody>
          <a:bodyPr/>
          <a:lstStyle/>
          <a:p>
            <a:endParaRPr lang="en-US"/>
          </a:p>
        </p:txBody>
      </p:sp>
      <p:sp>
        <p:nvSpPr>
          <p:cNvPr id="725041" name="Line 49"/>
          <p:cNvSpPr>
            <a:spLocks noChangeShapeType="1"/>
          </p:cNvSpPr>
          <p:nvPr/>
        </p:nvSpPr>
        <p:spPr bwMode="auto">
          <a:xfrm>
            <a:off x="8991600" y="4495800"/>
            <a:ext cx="0" cy="1981200"/>
          </a:xfrm>
          <a:prstGeom prst="line">
            <a:avLst/>
          </a:prstGeom>
          <a:noFill/>
          <a:ln w="28575">
            <a:solidFill>
              <a:schemeClr val="tx1"/>
            </a:solidFill>
            <a:round/>
            <a:headEnd/>
            <a:tailEnd/>
          </a:ln>
          <a:effectLst/>
        </p:spPr>
        <p:txBody>
          <a:bodyPr/>
          <a:lstStyle/>
          <a:p>
            <a:endParaRPr lang="en-US"/>
          </a:p>
        </p:txBody>
      </p:sp>
      <p:sp>
        <p:nvSpPr>
          <p:cNvPr id="725042" name="Rectangle 50"/>
          <p:cNvSpPr>
            <a:spLocks noChangeArrowheads="1"/>
          </p:cNvSpPr>
          <p:nvPr/>
        </p:nvSpPr>
        <p:spPr bwMode="auto">
          <a:xfrm>
            <a:off x="6858000" y="3581400"/>
            <a:ext cx="1447800" cy="1447800"/>
          </a:xfrm>
          <a:prstGeom prst="rect">
            <a:avLst/>
          </a:prstGeom>
          <a:noFill/>
          <a:ln w="12700">
            <a:solidFill>
              <a:schemeClr val="tx1"/>
            </a:solidFill>
            <a:miter lim="800000"/>
            <a:headEnd/>
            <a:tailEnd/>
          </a:ln>
          <a:effectLst/>
        </p:spPr>
        <p:txBody>
          <a:bodyPr wrap="none" anchor="ctr"/>
          <a:lstStyle/>
          <a:p>
            <a:endParaRPr lang="en-US"/>
          </a:p>
        </p:txBody>
      </p:sp>
      <p:sp>
        <p:nvSpPr>
          <p:cNvPr id="725043" name="Line 51"/>
          <p:cNvSpPr>
            <a:spLocks noChangeShapeType="1"/>
          </p:cNvSpPr>
          <p:nvPr/>
        </p:nvSpPr>
        <p:spPr bwMode="auto">
          <a:xfrm>
            <a:off x="8305800" y="4343400"/>
            <a:ext cx="304800" cy="0"/>
          </a:xfrm>
          <a:prstGeom prst="line">
            <a:avLst/>
          </a:prstGeom>
          <a:noFill/>
          <a:ln w="28575">
            <a:solidFill>
              <a:schemeClr val="tx1"/>
            </a:solidFill>
            <a:round/>
            <a:headEnd/>
            <a:tailEnd type="triangle" w="med" len="med"/>
          </a:ln>
          <a:effectLst/>
        </p:spPr>
        <p:txBody>
          <a:bodyPr/>
          <a:lstStyle/>
          <a:p>
            <a:endParaRPr lang="en-US"/>
          </a:p>
        </p:txBody>
      </p:sp>
      <p:sp>
        <p:nvSpPr>
          <p:cNvPr id="725044" name="Line 52"/>
          <p:cNvSpPr>
            <a:spLocks noChangeShapeType="1"/>
          </p:cNvSpPr>
          <p:nvPr/>
        </p:nvSpPr>
        <p:spPr bwMode="auto">
          <a:xfrm>
            <a:off x="6477000" y="3886200"/>
            <a:ext cx="406400" cy="0"/>
          </a:xfrm>
          <a:prstGeom prst="line">
            <a:avLst/>
          </a:prstGeom>
          <a:noFill/>
          <a:ln w="28575">
            <a:solidFill>
              <a:schemeClr val="tx1"/>
            </a:solidFill>
            <a:round/>
            <a:headEnd/>
            <a:tailEnd type="triangle" w="med" len="med"/>
          </a:ln>
          <a:effectLst/>
        </p:spPr>
        <p:txBody>
          <a:bodyPr/>
          <a:lstStyle/>
          <a:p>
            <a:endParaRPr lang="en-US"/>
          </a:p>
        </p:txBody>
      </p:sp>
      <p:sp>
        <p:nvSpPr>
          <p:cNvPr id="725045" name="Line 53"/>
          <p:cNvSpPr>
            <a:spLocks noChangeShapeType="1"/>
          </p:cNvSpPr>
          <p:nvPr/>
        </p:nvSpPr>
        <p:spPr bwMode="auto">
          <a:xfrm>
            <a:off x="6629400" y="4724400"/>
            <a:ext cx="0" cy="457200"/>
          </a:xfrm>
          <a:prstGeom prst="line">
            <a:avLst/>
          </a:prstGeom>
          <a:noFill/>
          <a:ln w="28575">
            <a:solidFill>
              <a:schemeClr val="tx1"/>
            </a:solidFill>
            <a:round/>
            <a:headEnd/>
            <a:tailEnd/>
          </a:ln>
          <a:effectLst/>
        </p:spPr>
        <p:txBody>
          <a:bodyPr/>
          <a:lstStyle/>
          <a:p>
            <a:endParaRPr lang="en-US"/>
          </a:p>
        </p:txBody>
      </p:sp>
      <p:sp>
        <p:nvSpPr>
          <p:cNvPr id="725046" name="Text Box 54"/>
          <p:cNvSpPr txBox="1">
            <a:spLocks noChangeArrowheads="1"/>
          </p:cNvSpPr>
          <p:nvPr/>
        </p:nvSpPr>
        <p:spPr bwMode="auto">
          <a:xfrm>
            <a:off x="6781800" y="4038600"/>
            <a:ext cx="766763" cy="457200"/>
          </a:xfrm>
          <a:prstGeom prst="rect">
            <a:avLst/>
          </a:prstGeom>
          <a:noFill/>
          <a:ln w="12700">
            <a:noFill/>
            <a:miter lim="800000"/>
            <a:headEnd/>
            <a:tailEnd/>
          </a:ln>
          <a:effectLst/>
        </p:spPr>
        <p:txBody>
          <a:bodyPr wrap="none">
            <a:spAutoFit/>
          </a:bodyPr>
          <a:lstStyle/>
          <a:p>
            <a:pPr algn="ctr"/>
            <a:r>
              <a:rPr lang="en-US" altLang="zh-CN" sz="1200" b="1">
                <a:solidFill>
                  <a:schemeClr val="tx1"/>
                </a:solidFill>
                <a:ea typeface="宋体" pitchFamily="2" charset="-122"/>
              </a:rPr>
              <a:t>Data</a:t>
            </a:r>
          </a:p>
          <a:p>
            <a:pPr algn="ctr"/>
            <a:r>
              <a:rPr lang="en-US" altLang="zh-CN" sz="1200" b="1">
                <a:solidFill>
                  <a:schemeClr val="tx1"/>
                </a:solidFill>
                <a:ea typeface="宋体" pitchFamily="2" charset="-122"/>
              </a:rPr>
              <a:t>Memory</a:t>
            </a:r>
          </a:p>
        </p:txBody>
      </p:sp>
      <p:sp>
        <p:nvSpPr>
          <p:cNvPr id="725047" name="Text Box 55"/>
          <p:cNvSpPr txBox="1">
            <a:spLocks noChangeArrowheads="1"/>
          </p:cNvSpPr>
          <p:nvPr/>
        </p:nvSpPr>
        <p:spPr bwMode="auto">
          <a:xfrm>
            <a:off x="6781800" y="3733800"/>
            <a:ext cx="741363"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Address</a:t>
            </a:r>
          </a:p>
        </p:txBody>
      </p:sp>
      <p:sp>
        <p:nvSpPr>
          <p:cNvPr id="725048" name="Text Box 56"/>
          <p:cNvSpPr txBox="1">
            <a:spLocks noChangeArrowheads="1"/>
          </p:cNvSpPr>
          <p:nvPr/>
        </p:nvSpPr>
        <p:spPr bwMode="auto">
          <a:xfrm>
            <a:off x="6781800" y="4572000"/>
            <a:ext cx="903288"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Write Data</a:t>
            </a:r>
          </a:p>
        </p:txBody>
      </p:sp>
      <p:sp>
        <p:nvSpPr>
          <p:cNvPr id="725049" name="Text Box 57"/>
          <p:cNvSpPr txBox="1">
            <a:spLocks noChangeArrowheads="1"/>
          </p:cNvSpPr>
          <p:nvPr/>
        </p:nvSpPr>
        <p:spPr bwMode="auto">
          <a:xfrm>
            <a:off x="7467600" y="4191000"/>
            <a:ext cx="909638"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Read Data</a:t>
            </a:r>
          </a:p>
        </p:txBody>
      </p:sp>
      <p:sp>
        <p:nvSpPr>
          <p:cNvPr id="725050" name="Line 58"/>
          <p:cNvSpPr>
            <a:spLocks noChangeShapeType="1"/>
          </p:cNvSpPr>
          <p:nvPr/>
        </p:nvSpPr>
        <p:spPr bwMode="auto">
          <a:xfrm>
            <a:off x="7543800" y="2667000"/>
            <a:ext cx="0" cy="914400"/>
          </a:xfrm>
          <a:prstGeom prst="line">
            <a:avLst/>
          </a:prstGeom>
          <a:noFill/>
          <a:ln w="12700">
            <a:solidFill>
              <a:schemeClr val="accent1"/>
            </a:solidFill>
            <a:round/>
            <a:headEnd/>
            <a:tailEnd type="triangle" w="med" len="med"/>
          </a:ln>
          <a:effectLst/>
        </p:spPr>
        <p:txBody>
          <a:bodyPr/>
          <a:lstStyle/>
          <a:p>
            <a:endParaRPr lang="en-US"/>
          </a:p>
        </p:txBody>
      </p:sp>
      <p:sp>
        <p:nvSpPr>
          <p:cNvPr id="725051" name="Rectangle 59"/>
          <p:cNvSpPr>
            <a:spLocks noChangeArrowheads="1"/>
          </p:cNvSpPr>
          <p:nvPr/>
        </p:nvSpPr>
        <p:spPr bwMode="auto">
          <a:xfrm>
            <a:off x="6553200" y="24384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200">
                <a:ea typeface="宋体" pitchFamily="2" charset="-122"/>
              </a:rPr>
              <a:t>MemWrite</a:t>
            </a:r>
          </a:p>
        </p:txBody>
      </p:sp>
      <p:sp>
        <p:nvSpPr>
          <p:cNvPr id="725052" name="Rectangle 60"/>
          <p:cNvSpPr>
            <a:spLocks noChangeArrowheads="1"/>
          </p:cNvSpPr>
          <p:nvPr/>
        </p:nvSpPr>
        <p:spPr bwMode="auto">
          <a:xfrm>
            <a:off x="7848600" y="21336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200">
                <a:ea typeface="宋体" pitchFamily="2" charset="-122"/>
              </a:rPr>
              <a:t>MemRead</a:t>
            </a:r>
          </a:p>
        </p:txBody>
      </p:sp>
      <p:sp>
        <p:nvSpPr>
          <p:cNvPr id="725053" name="Line 61"/>
          <p:cNvSpPr>
            <a:spLocks noChangeShapeType="1"/>
          </p:cNvSpPr>
          <p:nvPr/>
        </p:nvSpPr>
        <p:spPr bwMode="auto">
          <a:xfrm>
            <a:off x="7543800" y="5029200"/>
            <a:ext cx="0" cy="304800"/>
          </a:xfrm>
          <a:prstGeom prst="line">
            <a:avLst/>
          </a:prstGeom>
          <a:noFill/>
          <a:ln w="12700">
            <a:solidFill>
              <a:schemeClr val="accent1"/>
            </a:solidFill>
            <a:round/>
            <a:headEnd type="triangle" w="med" len="med"/>
            <a:tailEnd/>
          </a:ln>
          <a:effectLst/>
        </p:spPr>
        <p:txBody>
          <a:bodyPr/>
          <a:lstStyle/>
          <a:p>
            <a:endParaRPr lang="en-US"/>
          </a:p>
        </p:txBody>
      </p:sp>
      <p:sp>
        <p:nvSpPr>
          <p:cNvPr id="725054" name="Line 62"/>
          <p:cNvSpPr>
            <a:spLocks noChangeShapeType="1"/>
          </p:cNvSpPr>
          <p:nvPr/>
        </p:nvSpPr>
        <p:spPr bwMode="auto">
          <a:xfrm>
            <a:off x="3276600" y="6477000"/>
            <a:ext cx="5715000" cy="0"/>
          </a:xfrm>
          <a:prstGeom prst="line">
            <a:avLst/>
          </a:prstGeom>
          <a:noFill/>
          <a:ln w="28575">
            <a:solidFill>
              <a:schemeClr val="tx1"/>
            </a:solidFill>
            <a:round/>
            <a:headEnd/>
            <a:tailEnd/>
          </a:ln>
          <a:effectLst/>
        </p:spPr>
        <p:txBody>
          <a:bodyPr/>
          <a:lstStyle/>
          <a:p>
            <a:endParaRPr lang="en-US"/>
          </a:p>
        </p:txBody>
      </p:sp>
      <p:sp>
        <p:nvSpPr>
          <p:cNvPr id="725055" name="Line 63"/>
          <p:cNvSpPr>
            <a:spLocks noChangeShapeType="1"/>
          </p:cNvSpPr>
          <p:nvPr/>
        </p:nvSpPr>
        <p:spPr bwMode="auto">
          <a:xfrm>
            <a:off x="5054600" y="5181600"/>
            <a:ext cx="1600200" cy="0"/>
          </a:xfrm>
          <a:prstGeom prst="line">
            <a:avLst/>
          </a:prstGeom>
          <a:noFill/>
          <a:ln w="28575">
            <a:solidFill>
              <a:schemeClr val="tx1"/>
            </a:solidFill>
            <a:round/>
            <a:headEnd/>
            <a:tailEnd/>
          </a:ln>
          <a:effectLst/>
        </p:spPr>
        <p:txBody>
          <a:bodyPr/>
          <a:lstStyle/>
          <a:p>
            <a:endParaRPr lang="en-US"/>
          </a:p>
        </p:txBody>
      </p:sp>
      <p:sp>
        <p:nvSpPr>
          <p:cNvPr id="725056" name="Line 64"/>
          <p:cNvSpPr>
            <a:spLocks noChangeShapeType="1"/>
          </p:cNvSpPr>
          <p:nvPr/>
        </p:nvSpPr>
        <p:spPr bwMode="auto">
          <a:xfrm>
            <a:off x="4811713" y="5562600"/>
            <a:ext cx="381000" cy="0"/>
          </a:xfrm>
          <a:prstGeom prst="line">
            <a:avLst/>
          </a:prstGeom>
          <a:noFill/>
          <a:ln w="28575">
            <a:solidFill>
              <a:schemeClr val="tx1"/>
            </a:solidFill>
            <a:round/>
            <a:headEnd/>
            <a:tailEnd/>
          </a:ln>
          <a:effectLst/>
        </p:spPr>
        <p:txBody>
          <a:bodyPr/>
          <a:lstStyle/>
          <a:p>
            <a:endParaRPr lang="en-US"/>
          </a:p>
        </p:txBody>
      </p:sp>
      <p:sp>
        <p:nvSpPr>
          <p:cNvPr id="725057" name="Oval 65"/>
          <p:cNvSpPr>
            <a:spLocks noChangeArrowheads="1"/>
          </p:cNvSpPr>
          <p:nvPr/>
        </p:nvSpPr>
        <p:spPr bwMode="auto">
          <a:xfrm>
            <a:off x="4202113" y="5181600"/>
            <a:ext cx="609600" cy="838200"/>
          </a:xfrm>
          <a:prstGeom prst="ellipse">
            <a:avLst/>
          </a:prstGeom>
          <a:noFill/>
          <a:ln w="12700">
            <a:solidFill>
              <a:schemeClr val="tx1"/>
            </a:solidFill>
            <a:round/>
            <a:headEnd/>
            <a:tailEnd/>
          </a:ln>
          <a:effectLst/>
        </p:spPr>
        <p:txBody>
          <a:bodyPr wrap="none" anchor="ctr"/>
          <a:lstStyle/>
          <a:p>
            <a:endParaRPr lang="en-US"/>
          </a:p>
        </p:txBody>
      </p:sp>
      <p:sp>
        <p:nvSpPr>
          <p:cNvPr id="725058" name="Rectangle 66"/>
          <p:cNvSpPr>
            <a:spLocks noChangeArrowheads="1"/>
          </p:cNvSpPr>
          <p:nvPr/>
        </p:nvSpPr>
        <p:spPr bwMode="auto">
          <a:xfrm>
            <a:off x="4252913" y="5334000"/>
            <a:ext cx="533400" cy="457200"/>
          </a:xfrm>
          <a:prstGeom prst="rect">
            <a:avLst/>
          </a:prstGeom>
          <a:noFill/>
          <a:ln w="12700">
            <a:noFill/>
            <a:miter lim="800000"/>
            <a:headEnd/>
            <a:tailEnd/>
          </a:ln>
          <a:effectLst/>
        </p:spPr>
        <p:txBody>
          <a:bodyPr wrap="none" lIns="19050" tIns="26988" rIns="19050" bIns="26988"/>
          <a:lstStyle/>
          <a:p>
            <a:pPr algn="ctr"/>
            <a:r>
              <a:rPr lang="en-US" altLang="zh-CN" sz="1200" b="1">
                <a:solidFill>
                  <a:srgbClr val="000000"/>
                </a:solidFill>
                <a:ea typeface="宋体" pitchFamily="2" charset="-122"/>
              </a:rPr>
              <a:t>Sign</a:t>
            </a:r>
          </a:p>
          <a:p>
            <a:pPr algn="ctr"/>
            <a:r>
              <a:rPr lang="en-US" altLang="zh-CN" sz="1200" b="1">
                <a:solidFill>
                  <a:srgbClr val="000000"/>
                </a:solidFill>
                <a:ea typeface="宋体" pitchFamily="2" charset="-122"/>
              </a:rPr>
              <a:t>Extend</a:t>
            </a:r>
          </a:p>
        </p:txBody>
      </p:sp>
      <p:sp>
        <p:nvSpPr>
          <p:cNvPr id="725059" name="Line 67"/>
          <p:cNvSpPr>
            <a:spLocks noChangeShapeType="1"/>
          </p:cNvSpPr>
          <p:nvPr/>
        </p:nvSpPr>
        <p:spPr bwMode="auto">
          <a:xfrm>
            <a:off x="2638425" y="5562600"/>
            <a:ext cx="1563688" cy="0"/>
          </a:xfrm>
          <a:prstGeom prst="line">
            <a:avLst/>
          </a:prstGeom>
          <a:noFill/>
          <a:ln w="28575">
            <a:solidFill>
              <a:schemeClr val="tx1"/>
            </a:solidFill>
            <a:round/>
            <a:headEnd/>
            <a:tailEnd/>
          </a:ln>
          <a:effectLst/>
        </p:spPr>
        <p:txBody>
          <a:bodyPr/>
          <a:lstStyle/>
          <a:p>
            <a:endParaRPr lang="en-US"/>
          </a:p>
        </p:txBody>
      </p:sp>
      <p:sp>
        <p:nvSpPr>
          <p:cNvPr id="725060" name="Line 68"/>
          <p:cNvSpPr>
            <a:spLocks noChangeShapeType="1"/>
          </p:cNvSpPr>
          <p:nvPr/>
        </p:nvSpPr>
        <p:spPr bwMode="auto">
          <a:xfrm>
            <a:off x="3871913" y="5486400"/>
            <a:ext cx="76200" cy="152400"/>
          </a:xfrm>
          <a:prstGeom prst="line">
            <a:avLst/>
          </a:prstGeom>
          <a:noFill/>
          <a:ln w="12700">
            <a:solidFill>
              <a:schemeClr val="tx1"/>
            </a:solidFill>
            <a:round/>
            <a:headEnd/>
            <a:tailEnd/>
          </a:ln>
          <a:effectLst/>
        </p:spPr>
        <p:txBody>
          <a:bodyPr/>
          <a:lstStyle/>
          <a:p>
            <a:endParaRPr lang="en-US"/>
          </a:p>
        </p:txBody>
      </p:sp>
      <p:sp>
        <p:nvSpPr>
          <p:cNvPr id="725061" name="Line 69"/>
          <p:cNvSpPr>
            <a:spLocks noChangeShapeType="1"/>
          </p:cNvSpPr>
          <p:nvPr/>
        </p:nvSpPr>
        <p:spPr bwMode="auto">
          <a:xfrm>
            <a:off x="4887913" y="5486400"/>
            <a:ext cx="76200" cy="152400"/>
          </a:xfrm>
          <a:prstGeom prst="line">
            <a:avLst/>
          </a:prstGeom>
          <a:noFill/>
          <a:ln w="12700">
            <a:solidFill>
              <a:schemeClr val="tx1"/>
            </a:solidFill>
            <a:round/>
            <a:headEnd/>
            <a:tailEnd/>
          </a:ln>
          <a:effectLst/>
        </p:spPr>
        <p:txBody>
          <a:bodyPr/>
          <a:lstStyle/>
          <a:p>
            <a:endParaRPr lang="en-US"/>
          </a:p>
        </p:txBody>
      </p:sp>
      <p:sp>
        <p:nvSpPr>
          <p:cNvPr id="725062" name="Text Box 70"/>
          <p:cNvSpPr txBox="1">
            <a:spLocks noChangeArrowheads="1"/>
          </p:cNvSpPr>
          <p:nvPr/>
        </p:nvSpPr>
        <p:spPr bwMode="auto">
          <a:xfrm>
            <a:off x="3871913" y="5562600"/>
            <a:ext cx="352425"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16</a:t>
            </a:r>
          </a:p>
        </p:txBody>
      </p:sp>
      <p:sp>
        <p:nvSpPr>
          <p:cNvPr id="725063" name="Text Box 71"/>
          <p:cNvSpPr txBox="1">
            <a:spLocks noChangeArrowheads="1"/>
          </p:cNvSpPr>
          <p:nvPr/>
        </p:nvSpPr>
        <p:spPr bwMode="auto">
          <a:xfrm>
            <a:off x="4887913" y="5562600"/>
            <a:ext cx="352425" cy="274638"/>
          </a:xfrm>
          <a:prstGeom prst="rect">
            <a:avLst/>
          </a:prstGeom>
          <a:noFill/>
          <a:ln w="12700">
            <a:noFill/>
            <a:miter lim="800000"/>
            <a:headEnd/>
            <a:tailEnd/>
          </a:ln>
          <a:effectLst/>
        </p:spPr>
        <p:txBody>
          <a:bodyPr wrap="none">
            <a:spAutoFit/>
          </a:bodyPr>
          <a:lstStyle/>
          <a:p>
            <a:r>
              <a:rPr lang="en-US" altLang="zh-CN" sz="1200">
                <a:solidFill>
                  <a:schemeClr val="tx1"/>
                </a:solidFill>
                <a:ea typeface="宋体" pitchFamily="2" charset="-122"/>
              </a:rPr>
              <a:t>32</a:t>
            </a:r>
          </a:p>
        </p:txBody>
      </p:sp>
      <p:sp>
        <p:nvSpPr>
          <p:cNvPr id="725064" name="Line 72"/>
          <p:cNvSpPr>
            <a:spLocks noChangeShapeType="1"/>
          </p:cNvSpPr>
          <p:nvPr/>
        </p:nvSpPr>
        <p:spPr bwMode="auto">
          <a:xfrm>
            <a:off x="5054600" y="4572000"/>
            <a:ext cx="0" cy="609600"/>
          </a:xfrm>
          <a:prstGeom prst="line">
            <a:avLst/>
          </a:prstGeom>
          <a:noFill/>
          <a:ln w="28575">
            <a:solidFill>
              <a:schemeClr val="tx1"/>
            </a:solidFill>
            <a:round/>
            <a:headEnd/>
            <a:tailEnd/>
          </a:ln>
          <a:effectLst/>
        </p:spPr>
        <p:txBody>
          <a:bodyPr/>
          <a:lstStyle/>
          <a:p>
            <a:endParaRPr lang="en-US"/>
          </a:p>
        </p:txBody>
      </p:sp>
      <p:sp>
        <p:nvSpPr>
          <p:cNvPr id="725065" name="Line 73"/>
          <p:cNvSpPr>
            <a:spLocks noChangeShapeType="1"/>
          </p:cNvSpPr>
          <p:nvPr/>
        </p:nvSpPr>
        <p:spPr bwMode="auto">
          <a:xfrm>
            <a:off x="8382000" y="4724400"/>
            <a:ext cx="0" cy="990600"/>
          </a:xfrm>
          <a:prstGeom prst="line">
            <a:avLst/>
          </a:prstGeom>
          <a:noFill/>
          <a:ln w="28575">
            <a:solidFill>
              <a:schemeClr val="tx1"/>
            </a:solidFill>
            <a:round/>
            <a:headEnd/>
            <a:tailEnd/>
          </a:ln>
          <a:effectLst/>
        </p:spPr>
        <p:txBody>
          <a:bodyPr/>
          <a:lstStyle/>
          <a:p>
            <a:endParaRPr lang="en-US"/>
          </a:p>
        </p:txBody>
      </p:sp>
      <p:sp>
        <p:nvSpPr>
          <p:cNvPr id="725066" name="Line 74"/>
          <p:cNvSpPr>
            <a:spLocks noChangeShapeType="1"/>
          </p:cNvSpPr>
          <p:nvPr/>
        </p:nvSpPr>
        <p:spPr bwMode="auto">
          <a:xfrm>
            <a:off x="5181600" y="4953000"/>
            <a:ext cx="177800" cy="0"/>
          </a:xfrm>
          <a:prstGeom prst="line">
            <a:avLst/>
          </a:prstGeom>
          <a:noFill/>
          <a:ln w="28575">
            <a:solidFill>
              <a:schemeClr val="tx1"/>
            </a:solidFill>
            <a:round/>
            <a:headEnd/>
            <a:tailEnd type="triangle" w="med" len="med"/>
          </a:ln>
          <a:effectLst/>
        </p:spPr>
        <p:txBody>
          <a:bodyPr/>
          <a:lstStyle/>
          <a:p>
            <a:endParaRPr lang="en-US"/>
          </a:p>
        </p:txBody>
      </p:sp>
      <p:sp>
        <p:nvSpPr>
          <p:cNvPr id="725067" name="Line 75"/>
          <p:cNvSpPr>
            <a:spLocks noChangeShapeType="1"/>
          </p:cNvSpPr>
          <p:nvPr/>
        </p:nvSpPr>
        <p:spPr bwMode="auto">
          <a:xfrm>
            <a:off x="3276600" y="4876800"/>
            <a:ext cx="254000" cy="0"/>
          </a:xfrm>
          <a:prstGeom prst="line">
            <a:avLst/>
          </a:prstGeom>
          <a:noFill/>
          <a:ln w="28575">
            <a:solidFill>
              <a:schemeClr val="tx1"/>
            </a:solidFill>
            <a:round/>
            <a:headEnd/>
            <a:tailEnd type="triangle" w="med" len="med"/>
          </a:ln>
          <a:effectLst/>
        </p:spPr>
        <p:txBody>
          <a:bodyPr/>
          <a:lstStyle/>
          <a:p>
            <a:endParaRPr lang="en-US"/>
          </a:p>
        </p:txBody>
      </p:sp>
      <p:sp>
        <p:nvSpPr>
          <p:cNvPr id="725068" name="AutoShape 76"/>
          <p:cNvSpPr>
            <a:spLocks noChangeArrowheads="1"/>
          </p:cNvSpPr>
          <p:nvPr/>
        </p:nvSpPr>
        <p:spPr bwMode="auto">
          <a:xfrm rot="-5400000">
            <a:off x="8382000" y="4419600"/>
            <a:ext cx="685800" cy="228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12700">
            <a:solidFill>
              <a:schemeClr val="tx1"/>
            </a:solidFill>
            <a:miter lim="800000"/>
            <a:headEnd/>
            <a:tailEnd/>
          </a:ln>
          <a:effectLst/>
        </p:spPr>
        <p:txBody>
          <a:bodyPr wrap="none" anchor="ctr"/>
          <a:lstStyle/>
          <a:p>
            <a:endParaRPr lang="en-US"/>
          </a:p>
        </p:txBody>
      </p:sp>
      <p:sp>
        <p:nvSpPr>
          <p:cNvPr id="725069" name="Line 77"/>
          <p:cNvSpPr>
            <a:spLocks noChangeShapeType="1"/>
          </p:cNvSpPr>
          <p:nvPr/>
        </p:nvSpPr>
        <p:spPr bwMode="auto">
          <a:xfrm>
            <a:off x="8839200" y="4495800"/>
            <a:ext cx="152400" cy="0"/>
          </a:xfrm>
          <a:prstGeom prst="line">
            <a:avLst/>
          </a:prstGeom>
          <a:noFill/>
          <a:ln w="28575">
            <a:solidFill>
              <a:schemeClr val="tx1"/>
            </a:solidFill>
            <a:round/>
            <a:headEnd/>
            <a:tailEnd/>
          </a:ln>
          <a:effectLst/>
        </p:spPr>
        <p:txBody>
          <a:bodyPr/>
          <a:lstStyle/>
          <a:p>
            <a:endParaRPr lang="en-US"/>
          </a:p>
        </p:txBody>
      </p:sp>
      <p:sp>
        <p:nvSpPr>
          <p:cNvPr id="725070" name="AutoShape 78"/>
          <p:cNvSpPr>
            <a:spLocks noChangeArrowheads="1"/>
          </p:cNvSpPr>
          <p:nvPr/>
        </p:nvSpPr>
        <p:spPr bwMode="auto">
          <a:xfrm rot="-5400000">
            <a:off x="5092700" y="4610100"/>
            <a:ext cx="762000" cy="228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12700">
            <a:solidFill>
              <a:schemeClr val="tx1"/>
            </a:solidFill>
            <a:miter lim="800000"/>
            <a:headEnd/>
            <a:tailEnd/>
          </a:ln>
          <a:effectLst/>
        </p:spPr>
        <p:txBody>
          <a:bodyPr wrap="none" anchor="ctr"/>
          <a:lstStyle/>
          <a:p>
            <a:endParaRPr lang="en-US"/>
          </a:p>
        </p:txBody>
      </p:sp>
      <p:sp>
        <p:nvSpPr>
          <p:cNvPr id="725071" name="Line 79"/>
          <p:cNvSpPr>
            <a:spLocks noChangeShapeType="1"/>
          </p:cNvSpPr>
          <p:nvPr/>
        </p:nvSpPr>
        <p:spPr bwMode="auto">
          <a:xfrm>
            <a:off x="5588000" y="47244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25072" name="Line 80"/>
          <p:cNvSpPr>
            <a:spLocks noChangeShapeType="1"/>
          </p:cNvSpPr>
          <p:nvPr/>
        </p:nvSpPr>
        <p:spPr bwMode="auto">
          <a:xfrm>
            <a:off x="3276600" y="4876800"/>
            <a:ext cx="0" cy="1600200"/>
          </a:xfrm>
          <a:prstGeom prst="line">
            <a:avLst/>
          </a:prstGeom>
          <a:noFill/>
          <a:ln w="28575">
            <a:solidFill>
              <a:schemeClr val="tx1"/>
            </a:solidFill>
            <a:round/>
            <a:headEnd/>
            <a:tailEnd/>
          </a:ln>
          <a:effectLst/>
        </p:spPr>
        <p:txBody>
          <a:bodyPr/>
          <a:lstStyle/>
          <a:p>
            <a:endParaRPr lang="en-US"/>
          </a:p>
        </p:txBody>
      </p:sp>
      <p:sp>
        <p:nvSpPr>
          <p:cNvPr id="725073" name="Line 81"/>
          <p:cNvSpPr>
            <a:spLocks noChangeShapeType="1"/>
          </p:cNvSpPr>
          <p:nvPr/>
        </p:nvSpPr>
        <p:spPr bwMode="auto">
          <a:xfrm>
            <a:off x="8686800" y="2514600"/>
            <a:ext cx="0" cy="1752600"/>
          </a:xfrm>
          <a:prstGeom prst="line">
            <a:avLst/>
          </a:prstGeom>
          <a:noFill/>
          <a:ln w="12700">
            <a:solidFill>
              <a:schemeClr val="accent1"/>
            </a:solidFill>
            <a:round/>
            <a:headEnd/>
            <a:tailEnd type="triangle" w="med" len="med"/>
          </a:ln>
          <a:effectLst/>
        </p:spPr>
        <p:txBody>
          <a:bodyPr/>
          <a:lstStyle/>
          <a:p>
            <a:endParaRPr lang="en-US"/>
          </a:p>
        </p:txBody>
      </p:sp>
      <p:sp>
        <p:nvSpPr>
          <p:cNvPr id="725074" name="Rectangle 82"/>
          <p:cNvSpPr>
            <a:spLocks noChangeArrowheads="1"/>
          </p:cNvSpPr>
          <p:nvPr/>
        </p:nvSpPr>
        <p:spPr bwMode="auto">
          <a:xfrm>
            <a:off x="7162800" y="22860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200">
                <a:ea typeface="宋体" pitchFamily="2" charset="-122"/>
              </a:rPr>
              <a:t>MemtoReg</a:t>
            </a:r>
          </a:p>
        </p:txBody>
      </p:sp>
      <p:sp>
        <p:nvSpPr>
          <p:cNvPr id="725075" name="Rectangle 83"/>
          <p:cNvSpPr>
            <a:spLocks noChangeArrowheads="1"/>
          </p:cNvSpPr>
          <p:nvPr/>
        </p:nvSpPr>
        <p:spPr bwMode="auto">
          <a:xfrm>
            <a:off x="4343400" y="2590800"/>
            <a:ext cx="6858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ea typeface="宋体" pitchFamily="2" charset="-122"/>
              </a:rPr>
              <a:t>ALUSrc</a:t>
            </a:r>
          </a:p>
        </p:txBody>
      </p:sp>
      <p:sp>
        <p:nvSpPr>
          <p:cNvPr id="725076" name="Oval 84"/>
          <p:cNvSpPr>
            <a:spLocks noChangeArrowheads="1"/>
          </p:cNvSpPr>
          <p:nvPr/>
        </p:nvSpPr>
        <p:spPr bwMode="auto">
          <a:xfrm>
            <a:off x="5410200" y="1600200"/>
            <a:ext cx="457200" cy="533400"/>
          </a:xfrm>
          <a:prstGeom prst="ellipse">
            <a:avLst/>
          </a:prstGeom>
          <a:noFill/>
          <a:ln w="12700">
            <a:solidFill>
              <a:schemeClr val="tx1"/>
            </a:solidFill>
            <a:round/>
            <a:headEnd/>
            <a:tailEnd/>
          </a:ln>
          <a:effectLst/>
        </p:spPr>
        <p:txBody>
          <a:bodyPr wrap="none" anchor="ctr"/>
          <a:lstStyle/>
          <a:p>
            <a:endParaRPr lang="en-US"/>
          </a:p>
        </p:txBody>
      </p:sp>
      <p:sp>
        <p:nvSpPr>
          <p:cNvPr id="725077" name="Rectangle 85"/>
          <p:cNvSpPr>
            <a:spLocks noChangeArrowheads="1"/>
          </p:cNvSpPr>
          <p:nvPr/>
        </p:nvSpPr>
        <p:spPr bwMode="auto">
          <a:xfrm>
            <a:off x="5410200" y="1600200"/>
            <a:ext cx="457200" cy="457200"/>
          </a:xfrm>
          <a:prstGeom prst="rect">
            <a:avLst/>
          </a:prstGeom>
          <a:noFill/>
          <a:ln w="12700">
            <a:noFill/>
            <a:miter lim="800000"/>
            <a:headEnd/>
            <a:tailEnd/>
          </a:ln>
          <a:effectLst/>
        </p:spPr>
        <p:txBody>
          <a:bodyPr wrap="none" lIns="19050" tIns="26988" rIns="19050" bIns="26988"/>
          <a:lstStyle/>
          <a:p>
            <a:pPr algn="ctr" defTabSz="904875">
              <a:lnSpc>
                <a:spcPts val="1600"/>
              </a:lnSpc>
              <a:tabLst>
                <a:tab pos="452438" algn="l"/>
                <a:tab pos="904875" algn="l"/>
                <a:tab pos="1357313" algn="l"/>
              </a:tabLst>
            </a:pPr>
            <a:r>
              <a:rPr lang="en-US" altLang="zh-CN" sz="1200" b="1">
                <a:solidFill>
                  <a:srgbClr val="000000"/>
                </a:solidFill>
                <a:ea typeface="宋体" pitchFamily="2" charset="-122"/>
              </a:rPr>
              <a:t>Shift</a:t>
            </a:r>
          </a:p>
          <a:p>
            <a:pPr algn="ctr" defTabSz="904875">
              <a:lnSpc>
                <a:spcPts val="1600"/>
              </a:lnSpc>
              <a:tabLst>
                <a:tab pos="452438" algn="l"/>
                <a:tab pos="904875" algn="l"/>
                <a:tab pos="1357313" algn="l"/>
              </a:tabLst>
            </a:pPr>
            <a:r>
              <a:rPr lang="en-US" altLang="zh-CN" sz="1200" b="1">
                <a:solidFill>
                  <a:srgbClr val="000000"/>
                </a:solidFill>
                <a:ea typeface="宋体" pitchFamily="2" charset="-122"/>
              </a:rPr>
              <a:t>left 2</a:t>
            </a:r>
          </a:p>
        </p:txBody>
      </p:sp>
      <p:sp>
        <p:nvSpPr>
          <p:cNvPr id="725078" name="Line 86"/>
          <p:cNvSpPr>
            <a:spLocks noChangeShapeType="1"/>
          </p:cNvSpPr>
          <p:nvPr/>
        </p:nvSpPr>
        <p:spPr bwMode="auto">
          <a:xfrm>
            <a:off x="5181600" y="19050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25079" name="Line 87"/>
          <p:cNvSpPr>
            <a:spLocks noChangeShapeType="1"/>
          </p:cNvSpPr>
          <p:nvPr/>
        </p:nvSpPr>
        <p:spPr bwMode="auto">
          <a:xfrm>
            <a:off x="5181600" y="1447800"/>
            <a:ext cx="928688" cy="0"/>
          </a:xfrm>
          <a:prstGeom prst="line">
            <a:avLst/>
          </a:prstGeom>
          <a:noFill/>
          <a:ln w="28575">
            <a:solidFill>
              <a:schemeClr val="tx1"/>
            </a:solidFill>
            <a:round/>
            <a:headEnd/>
            <a:tailEnd type="triangle" w="med" len="med"/>
          </a:ln>
          <a:effectLst/>
        </p:spPr>
        <p:txBody>
          <a:bodyPr/>
          <a:lstStyle/>
          <a:p>
            <a:endParaRPr lang="en-US"/>
          </a:p>
        </p:txBody>
      </p:sp>
      <p:grpSp>
        <p:nvGrpSpPr>
          <p:cNvPr id="3" name="Group 88"/>
          <p:cNvGrpSpPr>
            <a:grpSpLocks/>
          </p:cNvGrpSpPr>
          <p:nvPr/>
        </p:nvGrpSpPr>
        <p:grpSpPr bwMode="auto">
          <a:xfrm>
            <a:off x="6096000" y="1143000"/>
            <a:ext cx="381000" cy="914400"/>
            <a:chOff x="1392" y="2880"/>
            <a:chExt cx="288" cy="480"/>
          </a:xfrm>
        </p:grpSpPr>
        <p:sp>
          <p:nvSpPr>
            <p:cNvPr id="725081" name="Line 89"/>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725082" name="Line 90"/>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725083" name="Line 91"/>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725084" name="Line 92"/>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725085" name="Line 93"/>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725086" name="Line 94"/>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725087" name="Line 95"/>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725088" name="Text Box 96"/>
          <p:cNvSpPr txBox="1">
            <a:spLocks noChangeArrowheads="1"/>
          </p:cNvSpPr>
          <p:nvPr/>
        </p:nvSpPr>
        <p:spPr bwMode="auto">
          <a:xfrm>
            <a:off x="6096000" y="1447800"/>
            <a:ext cx="481013"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Add</a:t>
            </a:r>
          </a:p>
        </p:txBody>
      </p:sp>
      <p:sp>
        <p:nvSpPr>
          <p:cNvPr id="725089" name="Line 97"/>
          <p:cNvSpPr>
            <a:spLocks noChangeShapeType="1"/>
          </p:cNvSpPr>
          <p:nvPr/>
        </p:nvSpPr>
        <p:spPr bwMode="auto">
          <a:xfrm>
            <a:off x="5853113" y="19050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25090" name="Line 98"/>
          <p:cNvSpPr>
            <a:spLocks noChangeShapeType="1"/>
          </p:cNvSpPr>
          <p:nvPr/>
        </p:nvSpPr>
        <p:spPr bwMode="auto">
          <a:xfrm>
            <a:off x="6477000" y="16002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25091" name="Line 99"/>
          <p:cNvSpPr>
            <a:spLocks noChangeShapeType="1"/>
          </p:cNvSpPr>
          <p:nvPr/>
        </p:nvSpPr>
        <p:spPr bwMode="auto">
          <a:xfrm>
            <a:off x="838200" y="1066800"/>
            <a:ext cx="0" cy="3276600"/>
          </a:xfrm>
          <a:prstGeom prst="line">
            <a:avLst/>
          </a:prstGeom>
          <a:noFill/>
          <a:ln w="28575">
            <a:solidFill>
              <a:schemeClr val="tx1"/>
            </a:solidFill>
            <a:round/>
            <a:headEnd/>
            <a:tailEnd/>
          </a:ln>
          <a:effectLst/>
        </p:spPr>
        <p:txBody>
          <a:bodyPr/>
          <a:lstStyle/>
          <a:p>
            <a:endParaRPr lang="en-US"/>
          </a:p>
        </p:txBody>
      </p:sp>
      <p:sp>
        <p:nvSpPr>
          <p:cNvPr id="725092" name="AutoShape 100"/>
          <p:cNvSpPr>
            <a:spLocks noChangeArrowheads="1"/>
          </p:cNvSpPr>
          <p:nvPr/>
        </p:nvSpPr>
        <p:spPr bwMode="auto">
          <a:xfrm rot="-5400000">
            <a:off x="6400800" y="1219200"/>
            <a:ext cx="838200" cy="228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12700">
            <a:solidFill>
              <a:schemeClr val="tx1"/>
            </a:solidFill>
            <a:miter lim="800000"/>
            <a:headEnd/>
            <a:tailEnd/>
          </a:ln>
          <a:effectLst/>
        </p:spPr>
        <p:txBody>
          <a:bodyPr wrap="none" anchor="ctr"/>
          <a:lstStyle/>
          <a:p>
            <a:endParaRPr lang="en-US"/>
          </a:p>
        </p:txBody>
      </p:sp>
      <p:sp>
        <p:nvSpPr>
          <p:cNvPr id="725093" name="Line 101"/>
          <p:cNvSpPr>
            <a:spLocks noChangeShapeType="1"/>
          </p:cNvSpPr>
          <p:nvPr/>
        </p:nvSpPr>
        <p:spPr bwMode="auto">
          <a:xfrm>
            <a:off x="5181600" y="1066800"/>
            <a:ext cx="1524000" cy="0"/>
          </a:xfrm>
          <a:prstGeom prst="line">
            <a:avLst/>
          </a:prstGeom>
          <a:noFill/>
          <a:ln w="28575">
            <a:solidFill>
              <a:schemeClr val="tx1"/>
            </a:solidFill>
            <a:round/>
            <a:headEnd/>
            <a:tailEnd type="triangle" w="med" len="med"/>
          </a:ln>
          <a:effectLst/>
        </p:spPr>
        <p:txBody>
          <a:bodyPr/>
          <a:lstStyle/>
          <a:p>
            <a:endParaRPr lang="en-US"/>
          </a:p>
        </p:txBody>
      </p:sp>
      <p:sp>
        <p:nvSpPr>
          <p:cNvPr id="725094" name="Line 102"/>
          <p:cNvSpPr>
            <a:spLocks noChangeShapeType="1"/>
          </p:cNvSpPr>
          <p:nvPr/>
        </p:nvSpPr>
        <p:spPr bwMode="auto">
          <a:xfrm>
            <a:off x="5181600" y="1066800"/>
            <a:ext cx="0" cy="381000"/>
          </a:xfrm>
          <a:prstGeom prst="line">
            <a:avLst/>
          </a:prstGeom>
          <a:noFill/>
          <a:ln w="28575">
            <a:solidFill>
              <a:schemeClr val="tx1"/>
            </a:solidFill>
            <a:round/>
            <a:headEnd/>
            <a:tailEnd/>
          </a:ln>
          <a:effectLst/>
        </p:spPr>
        <p:txBody>
          <a:bodyPr/>
          <a:lstStyle/>
          <a:p>
            <a:endParaRPr lang="en-US"/>
          </a:p>
        </p:txBody>
      </p:sp>
      <p:sp>
        <p:nvSpPr>
          <p:cNvPr id="725095" name="Line 103"/>
          <p:cNvSpPr>
            <a:spLocks noChangeShapeType="1"/>
          </p:cNvSpPr>
          <p:nvPr/>
        </p:nvSpPr>
        <p:spPr bwMode="auto">
          <a:xfrm>
            <a:off x="6934200" y="1371600"/>
            <a:ext cx="177800" cy="0"/>
          </a:xfrm>
          <a:prstGeom prst="line">
            <a:avLst/>
          </a:prstGeom>
          <a:noFill/>
          <a:ln w="28575">
            <a:solidFill>
              <a:schemeClr val="tx1"/>
            </a:solidFill>
            <a:round/>
            <a:headEnd/>
            <a:tailEnd/>
          </a:ln>
          <a:effectLst/>
        </p:spPr>
        <p:txBody>
          <a:bodyPr/>
          <a:lstStyle/>
          <a:p>
            <a:endParaRPr lang="en-US"/>
          </a:p>
        </p:txBody>
      </p:sp>
      <p:sp>
        <p:nvSpPr>
          <p:cNvPr id="725096" name="Line 104"/>
          <p:cNvSpPr>
            <a:spLocks noChangeShapeType="1"/>
          </p:cNvSpPr>
          <p:nvPr/>
        </p:nvSpPr>
        <p:spPr bwMode="auto">
          <a:xfrm>
            <a:off x="6858000" y="1600200"/>
            <a:ext cx="0" cy="533400"/>
          </a:xfrm>
          <a:prstGeom prst="line">
            <a:avLst/>
          </a:prstGeom>
          <a:noFill/>
          <a:ln w="12700">
            <a:solidFill>
              <a:schemeClr val="accent1"/>
            </a:solidFill>
            <a:round/>
            <a:headEnd type="triangle" w="med" len="med"/>
            <a:tailEnd/>
          </a:ln>
          <a:effectLst/>
        </p:spPr>
        <p:txBody>
          <a:bodyPr/>
          <a:lstStyle/>
          <a:p>
            <a:endParaRPr lang="en-US"/>
          </a:p>
        </p:txBody>
      </p:sp>
      <p:sp>
        <p:nvSpPr>
          <p:cNvPr id="725097" name="Rectangle 105"/>
          <p:cNvSpPr>
            <a:spLocks noChangeArrowheads="1"/>
          </p:cNvSpPr>
          <p:nvPr/>
        </p:nvSpPr>
        <p:spPr bwMode="auto">
          <a:xfrm>
            <a:off x="6858000" y="1752600"/>
            <a:ext cx="6858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ea typeface="宋体" pitchFamily="2" charset="-122"/>
              </a:rPr>
              <a:t>PCSrc</a:t>
            </a:r>
          </a:p>
        </p:txBody>
      </p:sp>
      <p:sp>
        <p:nvSpPr>
          <p:cNvPr id="725098" name="Line 106"/>
          <p:cNvSpPr>
            <a:spLocks noChangeShapeType="1"/>
          </p:cNvSpPr>
          <p:nvPr/>
        </p:nvSpPr>
        <p:spPr bwMode="auto">
          <a:xfrm>
            <a:off x="6629400" y="47244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25099" name="AutoShape 107"/>
          <p:cNvSpPr>
            <a:spLocks noChangeArrowheads="1"/>
          </p:cNvSpPr>
          <p:nvPr/>
        </p:nvSpPr>
        <p:spPr bwMode="auto">
          <a:xfrm rot="-5400000">
            <a:off x="2933700" y="4381500"/>
            <a:ext cx="609600" cy="228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12700">
            <a:solidFill>
              <a:schemeClr val="tx1"/>
            </a:solidFill>
            <a:miter lim="800000"/>
            <a:headEnd/>
            <a:tailEnd/>
          </a:ln>
          <a:effectLst/>
        </p:spPr>
        <p:txBody>
          <a:bodyPr wrap="none" anchor="ctr"/>
          <a:lstStyle/>
          <a:p>
            <a:endParaRPr lang="en-US"/>
          </a:p>
        </p:txBody>
      </p:sp>
      <p:sp>
        <p:nvSpPr>
          <p:cNvPr id="725100" name="Line 108"/>
          <p:cNvSpPr>
            <a:spLocks noChangeShapeType="1"/>
          </p:cNvSpPr>
          <p:nvPr/>
        </p:nvSpPr>
        <p:spPr bwMode="auto">
          <a:xfrm>
            <a:off x="3352800" y="4495800"/>
            <a:ext cx="152400" cy="0"/>
          </a:xfrm>
          <a:prstGeom prst="line">
            <a:avLst/>
          </a:prstGeom>
          <a:noFill/>
          <a:ln w="19050">
            <a:solidFill>
              <a:schemeClr val="tx1"/>
            </a:solidFill>
            <a:round/>
            <a:headEnd/>
            <a:tailEnd type="triangle" w="med" len="med"/>
          </a:ln>
          <a:effectLst/>
        </p:spPr>
        <p:txBody>
          <a:bodyPr/>
          <a:lstStyle/>
          <a:p>
            <a:endParaRPr lang="en-US"/>
          </a:p>
        </p:txBody>
      </p:sp>
      <p:sp>
        <p:nvSpPr>
          <p:cNvPr id="725101" name="Line 109"/>
          <p:cNvSpPr>
            <a:spLocks noChangeShapeType="1"/>
          </p:cNvSpPr>
          <p:nvPr/>
        </p:nvSpPr>
        <p:spPr bwMode="auto">
          <a:xfrm>
            <a:off x="2957513" y="4114800"/>
            <a:ext cx="0" cy="228600"/>
          </a:xfrm>
          <a:prstGeom prst="line">
            <a:avLst/>
          </a:prstGeom>
          <a:noFill/>
          <a:ln w="19050">
            <a:solidFill>
              <a:schemeClr val="tx1"/>
            </a:solidFill>
            <a:round/>
            <a:headEnd/>
            <a:tailEnd/>
          </a:ln>
          <a:effectLst/>
        </p:spPr>
        <p:txBody>
          <a:bodyPr/>
          <a:lstStyle/>
          <a:p>
            <a:endParaRPr lang="en-US"/>
          </a:p>
        </p:txBody>
      </p:sp>
      <p:sp>
        <p:nvSpPr>
          <p:cNvPr id="725102" name="Line 110"/>
          <p:cNvSpPr>
            <a:spLocks noChangeShapeType="1"/>
          </p:cNvSpPr>
          <p:nvPr/>
        </p:nvSpPr>
        <p:spPr bwMode="auto">
          <a:xfrm>
            <a:off x="2957513" y="4343400"/>
            <a:ext cx="166687" cy="0"/>
          </a:xfrm>
          <a:prstGeom prst="line">
            <a:avLst/>
          </a:prstGeom>
          <a:noFill/>
          <a:ln w="19050">
            <a:solidFill>
              <a:schemeClr val="tx1"/>
            </a:solidFill>
            <a:round/>
            <a:headEnd/>
            <a:tailEnd type="triangle" w="med" len="med"/>
          </a:ln>
          <a:effectLst/>
        </p:spPr>
        <p:txBody>
          <a:bodyPr/>
          <a:lstStyle/>
          <a:p>
            <a:endParaRPr lang="en-US"/>
          </a:p>
        </p:txBody>
      </p:sp>
      <p:sp>
        <p:nvSpPr>
          <p:cNvPr id="725103" name="Line 111"/>
          <p:cNvSpPr>
            <a:spLocks noChangeShapeType="1"/>
          </p:cNvSpPr>
          <p:nvPr/>
        </p:nvSpPr>
        <p:spPr bwMode="auto">
          <a:xfrm>
            <a:off x="3200400" y="2971800"/>
            <a:ext cx="0" cy="1295400"/>
          </a:xfrm>
          <a:prstGeom prst="line">
            <a:avLst/>
          </a:prstGeom>
          <a:noFill/>
          <a:ln w="12700">
            <a:solidFill>
              <a:schemeClr val="accent1"/>
            </a:solidFill>
            <a:round/>
            <a:headEnd/>
            <a:tailEnd type="triangle" w="med" len="med"/>
          </a:ln>
          <a:effectLst/>
        </p:spPr>
        <p:txBody>
          <a:bodyPr/>
          <a:lstStyle/>
          <a:p>
            <a:endParaRPr lang="en-US"/>
          </a:p>
        </p:txBody>
      </p:sp>
      <p:sp>
        <p:nvSpPr>
          <p:cNvPr id="725104" name="Rectangle 112"/>
          <p:cNvSpPr>
            <a:spLocks noChangeArrowheads="1"/>
          </p:cNvSpPr>
          <p:nvPr/>
        </p:nvSpPr>
        <p:spPr bwMode="auto">
          <a:xfrm>
            <a:off x="2667000" y="3124200"/>
            <a:ext cx="6858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ea typeface="宋体" pitchFamily="2" charset="-122"/>
              </a:rPr>
              <a:t>RegDst</a:t>
            </a:r>
          </a:p>
        </p:txBody>
      </p:sp>
      <p:sp>
        <p:nvSpPr>
          <p:cNvPr id="725105" name="Oval 113"/>
          <p:cNvSpPr>
            <a:spLocks noChangeArrowheads="1"/>
          </p:cNvSpPr>
          <p:nvPr/>
        </p:nvSpPr>
        <p:spPr bwMode="auto">
          <a:xfrm>
            <a:off x="5791200" y="5257800"/>
            <a:ext cx="609600" cy="762000"/>
          </a:xfrm>
          <a:prstGeom prst="ellipse">
            <a:avLst/>
          </a:prstGeom>
          <a:noFill/>
          <a:ln w="12700">
            <a:solidFill>
              <a:schemeClr val="accent1"/>
            </a:solidFill>
            <a:round/>
            <a:headEnd/>
            <a:tailEnd/>
          </a:ln>
          <a:effectLst/>
        </p:spPr>
        <p:txBody>
          <a:bodyPr wrap="none" anchor="ctr"/>
          <a:lstStyle/>
          <a:p>
            <a:endParaRPr lang="en-US"/>
          </a:p>
        </p:txBody>
      </p:sp>
      <p:sp>
        <p:nvSpPr>
          <p:cNvPr id="725106" name="Rectangle 114"/>
          <p:cNvSpPr>
            <a:spLocks noChangeArrowheads="1"/>
          </p:cNvSpPr>
          <p:nvPr/>
        </p:nvSpPr>
        <p:spPr bwMode="auto">
          <a:xfrm>
            <a:off x="5867400" y="5410200"/>
            <a:ext cx="533400" cy="457200"/>
          </a:xfrm>
          <a:prstGeom prst="rect">
            <a:avLst/>
          </a:prstGeom>
          <a:noFill/>
          <a:ln w="12700">
            <a:noFill/>
            <a:miter lim="800000"/>
            <a:headEnd/>
            <a:tailEnd/>
          </a:ln>
          <a:effectLst/>
        </p:spPr>
        <p:txBody>
          <a:bodyPr wrap="none" lIns="19050" tIns="26988" rIns="19050" bIns="26988"/>
          <a:lstStyle/>
          <a:p>
            <a:pPr algn="ctr"/>
            <a:r>
              <a:rPr lang="en-US" altLang="zh-CN" sz="1200" b="1">
                <a:ea typeface="宋体" pitchFamily="2" charset="-122"/>
              </a:rPr>
              <a:t>ALU</a:t>
            </a:r>
          </a:p>
          <a:p>
            <a:pPr algn="ctr"/>
            <a:r>
              <a:rPr lang="en-US" altLang="zh-CN" sz="1200" b="1">
                <a:ea typeface="宋体" pitchFamily="2" charset="-122"/>
              </a:rPr>
              <a:t>control</a:t>
            </a:r>
          </a:p>
        </p:txBody>
      </p:sp>
      <p:sp>
        <p:nvSpPr>
          <p:cNvPr id="725107" name="Line 115"/>
          <p:cNvSpPr>
            <a:spLocks noChangeShapeType="1"/>
          </p:cNvSpPr>
          <p:nvPr/>
        </p:nvSpPr>
        <p:spPr bwMode="auto">
          <a:xfrm>
            <a:off x="3657600" y="6172200"/>
            <a:ext cx="1905000" cy="0"/>
          </a:xfrm>
          <a:prstGeom prst="line">
            <a:avLst/>
          </a:prstGeom>
          <a:noFill/>
          <a:ln w="19050">
            <a:solidFill>
              <a:schemeClr val="tx1"/>
            </a:solidFill>
            <a:round/>
            <a:headEnd/>
            <a:tailEnd/>
          </a:ln>
          <a:effectLst/>
        </p:spPr>
        <p:txBody>
          <a:bodyPr/>
          <a:lstStyle/>
          <a:p>
            <a:endParaRPr lang="en-US"/>
          </a:p>
        </p:txBody>
      </p:sp>
      <p:sp>
        <p:nvSpPr>
          <p:cNvPr id="725108" name="Line 116"/>
          <p:cNvSpPr>
            <a:spLocks noChangeShapeType="1"/>
          </p:cNvSpPr>
          <p:nvPr/>
        </p:nvSpPr>
        <p:spPr bwMode="auto">
          <a:xfrm>
            <a:off x="5548313" y="5486400"/>
            <a:ext cx="228600" cy="0"/>
          </a:xfrm>
          <a:prstGeom prst="line">
            <a:avLst/>
          </a:prstGeom>
          <a:noFill/>
          <a:ln w="19050">
            <a:solidFill>
              <a:schemeClr val="tx1"/>
            </a:solidFill>
            <a:round/>
            <a:headEnd/>
            <a:tailEnd type="triangle" w="med" len="med"/>
          </a:ln>
          <a:effectLst/>
        </p:spPr>
        <p:txBody>
          <a:bodyPr/>
          <a:lstStyle/>
          <a:p>
            <a:endParaRPr lang="en-US"/>
          </a:p>
        </p:txBody>
      </p:sp>
      <p:sp>
        <p:nvSpPr>
          <p:cNvPr id="725109" name="Rectangle 117"/>
          <p:cNvSpPr>
            <a:spLocks noChangeArrowheads="1"/>
          </p:cNvSpPr>
          <p:nvPr/>
        </p:nvSpPr>
        <p:spPr bwMode="auto">
          <a:xfrm>
            <a:off x="8610600" y="41910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1</a:t>
            </a:r>
          </a:p>
        </p:txBody>
      </p:sp>
      <p:sp>
        <p:nvSpPr>
          <p:cNvPr id="725110" name="Rectangle 118"/>
          <p:cNvSpPr>
            <a:spLocks noChangeArrowheads="1"/>
          </p:cNvSpPr>
          <p:nvPr/>
        </p:nvSpPr>
        <p:spPr bwMode="auto">
          <a:xfrm>
            <a:off x="5410200" y="48006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1</a:t>
            </a:r>
          </a:p>
        </p:txBody>
      </p:sp>
      <p:sp>
        <p:nvSpPr>
          <p:cNvPr id="725111" name="Rectangle 119"/>
          <p:cNvSpPr>
            <a:spLocks noChangeArrowheads="1"/>
          </p:cNvSpPr>
          <p:nvPr/>
        </p:nvSpPr>
        <p:spPr bwMode="auto">
          <a:xfrm>
            <a:off x="3124200" y="44958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1</a:t>
            </a:r>
          </a:p>
        </p:txBody>
      </p:sp>
      <p:sp>
        <p:nvSpPr>
          <p:cNvPr id="725112" name="Rectangle 120"/>
          <p:cNvSpPr>
            <a:spLocks noChangeArrowheads="1"/>
          </p:cNvSpPr>
          <p:nvPr/>
        </p:nvSpPr>
        <p:spPr bwMode="auto">
          <a:xfrm>
            <a:off x="3124200" y="41910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0</a:t>
            </a:r>
          </a:p>
        </p:txBody>
      </p:sp>
      <p:sp>
        <p:nvSpPr>
          <p:cNvPr id="725113" name="Rectangle 121"/>
          <p:cNvSpPr>
            <a:spLocks noChangeArrowheads="1"/>
          </p:cNvSpPr>
          <p:nvPr/>
        </p:nvSpPr>
        <p:spPr bwMode="auto">
          <a:xfrm>
            <a:off x="5410200" y="44196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0</a:t>
            </a:r>
          </a:p>
        </p:txBody>
      </p:sp>
      <p:sp>
        <p:nvSpPr>
          <p:cNvPr id="725114" name="Rectangle 122"/>
          <p:cNvSpPr>
            <a:spLocks noChangeArrowheads="1"/>
          </p:cNvSpPr>
          <p:nvPr/>
        </p:nvSpPr>
        <p:spPr bwMode="auto">
          <a:xfrm>
            <a:off x="8610600" y="45720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0</a:t>
            </a:r>
          </a:p>
        </p:txBody>
      </p:sp>
      <p:sp>
        <p:nvSpPr>
          <p:cNvPr id="725115" name="Rectangle 123"/>
          <p:cNvSpPr>
            <a:spLocks noChangeArrowheads="1"/>
          </p:cNvSpPr>
          <p:nvPr/>
        </p:nvSpPr>
        <p:spPr bwMode="auto">
          <a:xfrm>
            <a:off x="6705600" y="9906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0</a:t>
            </a:r>
          </a:p>
        </p:txBody>
      </p:sp>
      <p:sp>
        <p:nvSpPr>
          <p:cNvPr id="725116" name="Rectangle 124"/>
          <p:cNvSpPr>
            <a:spLocks noChangeArrowheads="1"/>
          </p:cNvSpPr>
          <p:nvPr/>
        </p:nvSpPr>
        <p:spPr bwMode="auto">
          <a:xfrm>
            <a:off x="6705600" y="1447800"/>
            <a:ext cx="1524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1</a:t>
            </a:r>
          </a:p>
        </p:txBody>
      </p:sp>
      <p:sp>
        <p:nvSpPr>
          <p:cNvPr id="725117" name="Rectangle 125"/>
          <p:cNvSpPr>
            <a:spLocks noChangeArrowheads="1"/>
          </p:cNvSpPr>
          <p:nvPr/>
        </p:nvSpPr>
        <p:spPr bwMode="auto">
          <a:xfrm>
            <a:off x="2514600" y="1905000"/>
            <a:ext cx="6858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ea typeface="宋体" pitchFamily="2" charset="-122"/>
              </a:rPr>
              <a:t>ALUOp</a:t>
            </a:r>
          </a:p>
        </p:txBody>
      </p:sp>
      <p:sp>
        <p:nvSpPr>
          <p:cNvPr id="725118" name="Line 126"/>
          <p:cNvSpPr>
            <a:spLocks noChangeShapeType="1"/>
          </p:cNvSpPr>
          <p:nvPr/>
        </p:nvSpPr>
        <p:spPr bwMode="auto">
          <a:xfrm>
            <a:off x="6096000" y="6019800"/>
            <a:ext cx="0" cy="304800"/>
          </a:xfrm>
          <a:prstGeom prst="line">
            <a:avLst/>
          </a:prstGeom>
          <a:noFill/>
          <a:ln w="19050">
            <a:solidFill>
              <a:schemeClr val="accent1"/>
            </a:solidFill>
            <a:round/>
            <a:headEnd type="triangle" w="med" len="med"/>
            <a:tailEnd/>
          </a:ln>
          <a:effectLst/>
        </p:spPr>
        <p:txBody>
          <a:bodyPr/>
          <a:lstStyle/>
          <a:p>
            <a:endParaRPr lang="en-US"/>
          </a:p>
        </p:txBody>
      </p:sp>
      <p:sp>
        <p:nvSpPr>
          <p:cNvPr id="725119" name="Rectangle 127"/>
          <p:cNvSpPr>
            <a:spLocks noChangeArrowheads="1"/>
          </p:cNvSpPr>
          <p:nvPr/>
        </p:nvSpPr>
        <p:spPr bwMode="auto">
          <a:xfrm>
            <a:off x="4724400" y="5867400"/>
            <a:ext cx="7620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Instr[5-0]</a:t>
            </a:r>
          </a:p>
        </p:txBody>
      </p:sp>
      <p:sp>
        <p:nvSpPr>
          <p:cNvPr id="725120" name="Rectangle 128"/>
          <p:cNvSpPr>
            <a:spLocks noChangeArrowheads="1"/>
          </p:cNvSpPr>
          <p:nvPr/>
        </p:nvSpPr>
        <p:spPr bwMode="auto">
          <a:xfrm>
            <a:off x="2667000" y="53340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Instr[15-0]</a:t>
            </a:r>
          </a:p>
        </p:txBody>
      </p:sp>
      <p:sp>
        <p:nvSpPr>
          <p:cNvPr id="725121" name="Rectangle 129"/>
          <p:cNvSpPr>
            <a:spLocks noChangeArrowheads="1"/>
          </p:cNvSpPr>
          <p:nvPr/>
        </p:nvSpPr>
        <p:spPr bwMode="auto">
          <a:xfrm>
            <a:off x="2652713" y="35052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Instr[25-21]</a:t>
            </a:r>
          </a:p>
        </p:txBody>
      </p:sp>
      <p:sp>
        <p:nvSpPr>
          <p:cNvPr id="725122" name="Rectangle 130"/>
          <p:cNvSpPr>
            <a:spLocks noChangeArrowheads="1"/>
          </p:cNvSpPr>
          <p:nvPr/>
        </p:nvSpPr>
        <p:spPr bwMode="auto">
          <a:xfrm>
            <a:off x="2652713" y="38862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Instr[20-16]</a:t>
            </a:r>
          </a:p>
        </p:txBody>
      </p:sp>
      <p:sp>
        <p:nvSpPr>
          <p:cNvPr id="725123" name="Text Box 131"/>
          <p:cNvSpPr txBox="1">
            <a:spLocks noChangeArrowheads="1"/>
          </p:cNvSpPr>
          <p:nvPr/>
        </p:nvSpPr>
        <p:spPr bwMode="auto">
          <a:xfrm>
            <a:off x="2576513" y="4648200"/>
            <a:ext cx="701675" cy="457200"/>
          </a:xfrm>
          <a:prstGeom prst="rect">
            <a:avLst/>
          </a:prstGeom>
          <a:noFill/>
          <a:ln w="12700">
            <a:noFill/>
            <a:miter lim="800000"/>
            <a:headEnd/>
            <a:tailEnd/>
          </a:ln>
          <a:effectLst/>
        </p:spPr>
        <p:txBody>
          <a:bodyPr>
            <a:spAutoFit/>
          </a:bodyPr>
          <a:lstStyle/>
          <a:p>
            <a:pPr algn="r"/>
            <a:r>
              <a:rPr lang="en-US" altLang="zh-CN" sz="1200">
                <a:solidFill>
                  <a:schemeClr val="tx1"/>
                </a:solidFill>
                <a:ea typeface="宋体" pitchFamily="2" charset="-122"/>
              </a:rPr>
              <a:t>Instr[15  -11]</a:t>
            </a:r>
          </a:p>
        </p:txBody>
      </p:sp>
      <p:sp>
        <p:nvSpPr>
          <p:cNvPr id="725124" name="Line 132"/>
          <p:cNvSpPr>
            <a:spLocks noChangeShapeType="1"/>
          </p:cNvSpPr>
          <p:nvPr/>
        </p:nvSpPr>
        <p:spPr bwMode="auto">
          <a:xfrm>
            <a:off x="228600" y="838200"/>
            <a:ext cx="0" cy="3505200"/>
          </a:xfrm>
          <a:prstGeom prst="line">
            <a:avLst/>
          </a:prstGeom>
          <a:noFill/>
          <a:ln w="28575">
            <a:solidFill>
              <a:schemeClr val="tx1"/>
            </a:solidFill>
            <a:round/>
            <a:headEnd/>
            <a:tailEnd/>
          </a:ln>
          <a:effectLst/>
        </p:spPr>
        <p:txBody>
          <a:bodyPr/>
          <a:lstStyle/>
          <a:p>
            <a:endParaRPr lang="en-US"/>
          </a:p>
        </p:txBody>
      </p:sp>
      <p:sp>
        <p:nvSpPr>
          <p:cNvPr id="725125" name="Line 133"/>
          <p:cNvSpPr>
            <a:spLocks noChangeShapeType="1"/>
          </p:cNvSpPr>
          <p:nvPr/>
        </p:nvSpPr>
        <p:spPr bwMode="auto">
          <a:xfrm>
            <a:off x="7086600" y="838200"/>
            <a:ext cx="0" cy="533400"/>
          </a:xfrm>
          <a:prstGeom prst="line">
            <a:avLst/>
          </a:prstGeom>
          <a:noFill/>
          <a:ln w="28575">
            <a:solidFill>
              <a:schemeClr val="tx1"/>
            </a:solidFill>
            <a:round/>
            <a:headEnd/>
            <a:tailEnd/>
          </a:ln>
          <a:effectLst/>
        </p:spPr>
        <p:txBody>
          <a:bodyPr/>
          <a:lstStyle/>
          <a:p>
            <a:endParaRPr lang="en-US"/>
          </a:p>
        </p:txBody>
      </p:sp>
      <p:sp>
        <p:nvSpPr>
          <p:cNvPr id="725126" name="Line 134"/>
          <p:cNvSpPr>
            <a:spLocks noChangeShapeType="1"/>
          </p:cNvSpPr>
          <p:nvPr/>
        </p:nvSpPr>
        <p:spPr bwMode="auto">
          <a:xfrm>
            <a:off x="5181600" y="4953000"/>
            <a:ext cx="0" cy="609600"/>
          </a:xfrm>
          <a:prstGeom prst="line">
            <a:avLst/>
          </a:prstGeom>
          <a:noFill/>
          <a:ln w="28575">
            <a:solidFill>
              <a:schemeClr val="tx1"/>
            </a:solidFill>
            <a:round/>
            <a:headEnd/>
            <a:tailEnd/>
          </a:ln>
          <a:effectLst/>
        </p:spPr>
        <p:txBody>
          <a:bodyPr/>
          <a:lstStyle/>
          <a:p>
            <a:endParaRPr lang="en-US"/>
          </a:p>
        </p:txBody>
      </p:sp>
      <p:sp>
        <p:nvSpPr>
          <p:cNvPr id="725127" name="Oval 135"/>
          <p:cNvSpPr>
            <a:spLocks noChangeArrowheads="1"/>
          </p:cNvSpPr>
          <p:nvPr/>
        </p:nvSpPr>
        <p:spPr bwMode="auto">
          <a:xfrm>
            <a:off x="2971800" y="1828800"/>
            <a:ext cx="762000" cy="1219200"/>
          </a:xfrm>
          <a:prstGeom prst="ellipse">
            <a:avLst/>
          </a:prstGeom>
          <a:noFill/>
          <a:ln w="12700">
            <a:solidFill>
              <a:schemeClr val="accent1"/>
            </a:solidFill>
            <a:round/>
            <a:headEnd/>
            <a:tailEnd/>
          </a:ln>
          <a:effectLst/>
        </p:spPr>
        <p:txBody>
          <a:bodyPr wrap="none" anchor="ctr"/>
          <a:lstStyle/>
          <a:p>
            <a:endParaRPr lang="en-US"/>
          </a:p>
        </p:txBody>
      </p:sp>
      <p:sp>
        <p:nvSpPr>
          <p:cNvPr id="725128" name="Rectangle 136"/>
          <p:cNvSpPr>
            <a:spLocks noChangeArrowheads="1"/>
          </p:cNvSpPr>
          <p:nvPr/>
        </p:nvSpPr>
        <p:spPr bwMode="auto">
          <a:xfrm>
            <a:off x="3124200" y="2286000"/>
            <a:ext cx="533400" cy="457200"/>
          </a:xfrm>
          <a:prstGeom prst="rect">
            <a:avLst/>
          </a:prstGeom>
          <a:noFill/>
          <a:ln w="12700">
            <a:noFill/>
            <a:miter lim="800000"/>
            <a:headEnd/>
            <a:tailEnd/>
          </a:ln>
          <a:effectLst/>
        </p:spPr>
        <p:txBody>
          <a:bodyPr wrap="none" lIns="19050" tIns="26988" rIns="19050" bIns="26988"/>
          <a:lstStyle/>
          <a:p>
            <a:pPr algn="ctr"/>
            <a:r>
              <a:rPr lang="en-US" altLang="zh-CN" sz="1200" b="1">
                <a:ea typeface="宋体" pitchFamily="2" charset="-122"/>
              </a:rPr>
              <a:t>Control</a:t>
            </a:r>
          </a:p>
          <a:p>
            <a:pPr algn="ctr"/>
            <a:r>
              <a:rPr lang="en-US" altLang="zh-CN" sz="1200" b="1">
                <a:ea typeface="宋体" pitchFamily="2" charset="-122"/>
              </a:rPr>
              <a:t>Unit</a:t>
            </a:r>
          </a:p>
        </p:txBody>
      </p:sp>
      <p:sp>
        <p:nvSpPr>
          <p:cNvPr id="725129" name="Line 137"/>
          <p:cNvSpPr>
            <a:spLocks noChangeShapeType="1"/>
          </p:cNvSpPr>
          <p:nvPr/>
        </p:nvSpPr>
        <p:spPr bwMode="auto">
          <a:xfrm>
            <a:off x="2667000" y="2514600"/>
            <a:ext cx="0" cy="2133600"/>
          </a:xfrm>
          <a:prstGeom prst="line">
            <a:avLst/>
          </a:prstGeom>
          <a:noFill/>
          <a:ln w="28575">
            <a:solidFill>
              <a:schemeClr val="tx1"/>
            </a:solidFill>
            <a:round/>
            <a:headEnd/>
            <a:tailEnd/>
          </a:ln>
          <a:effectLst/>
        </p:spPr>
        <p:txBody>
          <a:bodyPr/>
          <a:lstStyle/>
          <a:p>
            <a:endParaRPr lang="en-US"/>
          </a:p>
        </p:txBody>
      </p:sp>
      <p:sp>
        <p:nvSpPr>
          <p:cNvPr id="725130" name="Line 138"/>
          <p:cNvSpPr>
            <a:spLocks noChangeShapeType="1"/>
          </p:cNvSpPr>
          <p:nvPr/>
        </p:nvSpPr>
        <p:spPr bwMode="auto">
          <a:xfrm>
            <a:off x="2667000" y="2514600"/>
            <a:ext cx="304800" cy="0"/>
          </a:xfrm>
          <a:prstGeom prst="line">
            <a:avLst/>
          </a:prstGeom>
          <a:noFill/>
          <a:ln w="12700">
            <a:solidFill>
              <a:schemeClr val="tx1"/>
            </a:solidFill>
            <a:round/>
            <a:headEnd/>
            <a:tailEnd type="triangle" w="med" len="med"/>
          </a:ln>
          <a:effectLst/>
        </p:spPr>
        <p:txBody>
          <a:bodyPr/>
          <a:lstStyle/>
          <a:p>
            <a:endParaRPr lang="en-US"/>
          </a:p>
        </p:txBody>
      </p:sp>
      <p:sp>
        <p:nvSpPr>
          <p:cNvPr id="725131" name="Rectangle 139"/>
          <p:cNvSpPr>
            <a:spLocks noChangeArrowheads="1"/>
          </p:cNvSpPr>
          <p:nvPr/>
        </p:nvSpPr>
        <p:spPr bwMode="auto">
          <a:xfrm>
            <a:off x="2209800" y="22860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Instr[31-26]</a:t>
            </a:r>
          </a:p>
        </p:txBody>
      </p:sp>
      <p:sp>
        <p:nvSpPr>
          <p:cNvPr id="725132" name="AutoShape 140"/>
          <p:cNvSpPr>
            <a:spLocks noChangeArrowheads="1"/>
          </p:cNvSpPr>
          <p:nvPr/>
        </p:nvSpPr>
        <p:spPr bwMode="auto">
          <a:xfrm>
            <a:off x="6400800" y="1981200"/>
            <a:ext cx="304800" cy="304800"/>
          </a:xfrm>
          <a:prstGeom prst="flowChartDelay">
            <a:avLst/>
          </a:prstGeom>
          <a:noFill/>
          <a:ln w="12700">
            <a:solidFill>
              <a:schemeClr val="accent1"/>
            </a:solidFill>
            <a:miter lim="800000"/>
            <a:headEnd/>
            <a:tailEnd/>
          </a:ln>
          <a:effectLst/>
        </p:spPr>
        <p:txBody>
          <a:bodyPr wrap="none" anchor="ctr"/>
          <a:lstStyle/>
          <a:p>
            <a:endParaRPr lang="en-US"/>
          </a:p>
        </p:txBody>
      </p:sp>
      <p:sp>
        <p:nvSpPr>
          <p:cNvPr id="725133" name="Line 141"/>
          <p:cNvSpPr>
            <a:spLocks noChangeShapeType="1"/>
          </p:cNvSpPr>
          <p:nvPr/>
        </p:nvSpPr>
        <p:spPr bwMode="auto">
          <a:xfrm>
            <a:off x="6705600" y="2133600"/>
            <a:ext cx="152400" cy="0"/>
          </a:xfrm>
          <a:prstGeom prst="line">
            <a:avLst/>
          </a:prstGeom>
          <a:noFill/>
          <a:ln w="12700">
            <a:solidFill>
              <a:schemeClr val="accent1"/>
            </a:solidFill>
            <a:round/>
            <a:headEnd/>
            <a:tailEnd/>
          </a:ln>
          <a:effectLst/>
        </p:spPr>
        <p:txBody>
          <a:bodyPr/>
          <a:lstStyle/>
          <a:p>
            <a:endParaRPr lang="en-US"/>
          </a:p>
        </p:txBody>
      </p:sp>
      <p:sp>
        <p:nvSpPr>
          <p:cNvPr id="725134" name="Line 142"/>
          <p:cNvSpPr>
            <a:spLocks noChangeShapeType="1"/>
          </p:cNvSpPr>
          <p:nvPr/>
        </p:nvSpPr>
        <p:spPr bwMode="auto">
          <a:xfrm>
            <a:off x="6248400" y="2209800"/>
            <a:ext cx="152400" cy="0"/>
          </a:xfrm>
          <a:prstGeom prst="line">
            <a:avLst/>
          </a:prstGeom>
          <a:noFill/>
          <a:ln w="12700">
            <a:solidFill>
              <a:schemeClr val="accent1"/>
            </a:solidFill>
            <a:round/>
            <a:headEnd/>
            <a:tailEnd/>
          </a:ln>
          <a:effectLst/>
        </p:spPr>
        <p:txBody>
          <a:bodyPr/>
          <a:lstStyle/>
          <a:p>
            <a:endParaRPr lang="en-US"/>
          </a:p>
        </p:txBody>
      </p:sp>
      <p:sp>
        <p:nvSpPr>
          <p:cNvPr id="725135" name="Line 143"/>
          <p:cNvSpPr>
            <a:spLocks noChangeShapeType="1"/>
          </p:cNvSpPr>
          <p:nvPr/>
        </p:nvSpPr>
        <p:spPr bwMode="auto">
          <a:xfrm>
            <a:off x="3733800" y="2209800"/>
            <a:ext cx="2438400" cy="0"/>
          </a:xfrm>
          <a:prstGeom prst="line">
            <a:avLst/>
          </a:prstGeom>
          <a:noFill/>
          <a:ln w="12700">
            <a:solidFill>
              <a:schemeClr val="accent1"/>
            </a:solidFill>
            <a:round/>
            <a:headEnd/>
            <a:tailEnd/>
          </a:ln>
          <a:effectLst/>
        </p:spPr>
        <p:txBody>
          <a:bodyPr/>
          <a:lstStyle/>
          <a:p>
            <a:endParaRPr lang="en-US"/>
          </a:p>
        </p:txBody>
      </p:sp>
      <p:sp>
        <p:nvSpPr>
          <p:cNvPr id="725136" name="Rectangle 144"/>
          <p:cNvSpPr>
            <a:spLocks noChangeArrowheads="1"/>
          </p:cNvSpPr>
          <p:nvPr/>
        </p:nvSpPr>
        <p:spPr bwMode="auto">
          <a:xfrm>
            <a:off x="3810000" y="1981200"/>
            <a:ext cx="6858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200">
                <a:ea typeface="宋体" pitchFamily="2" charset="-122"/>
              </a:rPr>
              <a:t>Branch</a:t>
            </a:r>
          </a:p>
        </p:txBody>
      </p:sp>
      <p:sp>
        <p:nvSpPr>
          <p:cNvPr id="725137" name="Line 145"/>
          <p:cNvSpPr>
            <a:spLocks noChangeShapeType="1"/>
          </p:cNvSpPr>
          <p:nvPr/>
        </p:nvSpPr>
        <p:spPr bwMode="auto">
          <a:xfrm>
            <a:off x="3733800" y="2362200"/>
            <a:ext cx="5181600" cy="0"/>
          </a:xfrm>
          <a:prstGeom prst="line">
            <a:avLst/>
          </a:prstGeom>
          <a:noFill/>
          <a:ln w="12700">
            <a:solidFill>
              <a:schemeClr val="accent1"/>
            </a:solidFill>
            <a:round/>
            <a:headEnd/>
            <a:tailEnd/>
          </a:ln>
          <a:effectLst/>
        </p:spPr>
        <p:txBody>
          <a:bodyPr/>
          <a:lstStyle/>
          <a:p>
            <a:endParaRPr lang="en-US"/>
          </a:p>
        </p:txBody>
      </p:sp>
      <p:sp>
        <p:nvSpPr>
          <p:cNvPr id="725138" name="Line 146"/>
          <p:cNvSpPr>
            <a:spLocks noChangeShapeType="1"/>
          </p:cNvSpPr>
          <p:nvPr/>
        </p:nvSpPr>
        <p:spPr bwMode="auto">
          <a:xfrm>
            <a:off x="7543800" y="5334000"/>
            <a:ext cx="1371600" cy="0"/>
          </a:xfrm>
          <a:prstGeom prst="line">
            <a:avLst/>
          </a:prstGeom>
          <a:noFill/>
          <a:ln w="12700">
            <a:solidFill>
              <a:schemeClr val="accent1"/>
            </a:solidFill>
            <a:round/>
            <a:headEnd/>
            <a:tailEnd/>
          </a:ln>
          <a:effectLst/>
        </p:spPr>
        <p:txBody>
          <a:bodyPr/>
          <a:lstStyle/>
          <a:p>
            <a:endParaRPr lang="en-US"/>
          </a:p>
        </p:txBody>
      </p:sp>
      <p:sp>
        <p:nvSpPr>
          <p:cNvPr id="725139" name="Line 147"/>
          <p:cNvSpPr>
            <a:spLocks noChangeShapeType="1"/>
          </p:cNvSpPr>
          <p:nvPr/>
        </p:nvSpPr>
        <p:spPr bwMode="auto">
          <a:xfrm>
            <a:off x="8915400" y="2362200"/>
            <a:ext cx="0" cy="2971800"/>
          </a:xfrm>
          <a:prstGeom prst="line">
            <a:avLst/>
          </a:prstGeom>
          <a:noFill/>
          <a:ln w="12700">
            <a:solidFill>
              <a:schemeClr val="accent1"/>
            </a:solidFill>
            <a:round/>
            <a:headEnd/>
            <a:tailEnd/>
          </a:ln>
          <a:effectLst/>
        </p:spPr>
        <p:txBody>
          <a:bodyPr/>
          <a:lstStyle/>
          <a:p>
            <a:endParaRPr lang="en-US"/>
          </a:p>
        </p:txBody>
      </p:sp>
      <p:sp>
        <p:nvSpPr>
          <p:cNvPr id="725140" name="Line 148"/>
          <p:cNvSpPr>
            <a:spLocks noChangeShapeType="1"/>
          </p:cNvSpPr>
          <p:nvPr/>
        </p:nvSpPr>
        <p:spPr bwMode="auto">
          <a:xfrm>
            <a:off x="3733800" y="2514600"/>
            <a:ext cx="4953000" cy="0"/>
          </a:xfrm>
          <a:prstGeom prst="line">
            <a:avLst/>
          </a:prstGeom>
          <a:noFill/>
          <a:ln w="12700">
            <a:solidFill>
              <a:schemeClr val="accent1"/>
            </a:solidFill>
            <a:round/>
            <a:headEnd/>
            <a:tailEnd/>
          </a:ln>
          <a:effectLst/>
        </p:spPr>
        <p:txBody>
          <a:bodyPr/>
          <a:lstStyle/>
          <a:p>
            <a:endParaRPr lang="en-US"/>
          </a:p>
        </p:txBody>
      </p:sp>
      <p:sp>
        <p:nvSpPr>
          <p:cNvPr id="725141" name="Line 149"/>
          <p:cNvSpPr>
            <a:spLocks noChangeShapeType="1"/>
          </p:cNvSpPr>
          <p:nvPr/>
        </p:nvSpPr>
        <p:spPr bwMode="auto">
          <a:xfrm>
            <a:off x="3733800" y="2667000"/>
            <a:ext cx="3810000" cy="0"/>
          </a:xfrm>
          <a:prstGeom prst="line">
            <a:avLst/>
          </a:prstGeom>
          <a:noFill/>
          <a:ln w="12700">
            <a:solidFill>
              <a:schemeClr val="accent1"/>
            </a:solidFill>
            <a:round/>
            <a:headEnd/>
            <a:tailEnd/>
          </a:ln>
          <a:effectLst/>
        </p:spPr>
        <p:txBody>
          <a:bodyPr/>
          <a:lstStyle/>
          <a:p>
            <a:endParaRPr lang="en-US"/>
          </a:p>
        </p:txBody>
      </p:sp>
      <p:sp>
        <p:nvSpPr>
          <p:cNvPr id="725142" name="Line 150"/>
          <p:cNvSpPr>
            <a:spLocks noChangeShapeType="1"/>
          </p:cNvSpPr>
          <p:nvPr/>
        </p:nvSpPr>
        <p:spPr bwMode="auto">
          <a:xfrm>
            <a:off x="3581400" y="2971800"/>
            <a:ext cx="609600" cy="0"/>
          </a:xfrm>
          <a:prstGeom prst="line">
            <a:avLst/>
          </a:prstGeom>
          <a:noFill/>
          <a:ln w="12700">
            <a:solidFill>
              <a:schemeClr val="accent1"/>
            </a:solidFill>
            <a:round/>
            <a:headEnd/>
            <a:tailEnd/>
          </a:ln>
          <a:effectLst/>
        </p:spPr>
        <p:txBody>
          <a:bodyPr/>
          <a:lstStyle/>
          <a:p>
            <a:endParaRPr lang="en-US"/>
          </a:p>
        </p:txBody>
      </p:sp>
      <p:sp>
        <p:nvSpPr>
          <p:cNvPr id="725143" name="Line 151"/>
          <p:cNvSpPr>
            <a:spLocks noChangeShapeType="1"/>
          </p:cNvSpPr>
          <p:nvPr/>
        </p:nvSpPr>
        <p:spPr bwMode="auto">
          <a:xfrm>
            <a:off x="3657600" y="2819400"/>
            <a:ext cx="1828800" cy="0"/>
          </a:xfrm>
          <a:prstGeom prst="line">
            <a:avLst/>
          </a:prstGeom>
          <a:noFill/>
          <a:ln w="12700">
            <a:solidFill>
              <a:schemeClr val="accent1"/>
            </a:solidFill>
            <a:round/>
            <a:headEnd/>
            <a:tailEnd/>
          </a:ln>
          <a:effectLst/>
        </p:spPr>
        <p:txBody>
          <a:bodyPr/>
          <a:lstStyle/>
          <a:p>
            <a:endParaRPr lang="en-US"/>
          </a:p>
        </p:txBody>
      </p:sp>
      <p:sp>
        <p:nvSpPr>
          <p:cNvPr id="725144" name="Line 152"/>
          <p:cNvSpPr>
            <a:spLocks noChangeShapeType="1"/>
          </p:cNvSpPr>
          <p:nvPr/>
        </p:nvSpPr>
        <p:spPr bwMode="auto">
          <a:xfrm>
            <a:off x="5486400" y="2819400"/>
            <a:ext cx="0" cy="1676400"/>
          </a:xfrm>
          <a:prstGeom prst="line">
            <a:avLst/>
          </a:prstGeom>
          <a:noFill/>
          <a:ln w="12700">
            <a:solidFill>
              <a:schemeClr val="accent1"/>
            </a:solidFill>
            <a:round/>
            <a:headEnd/>
            <a:tailEnd type="triangle" w="med" len="med"/>
          </a:ln>
          <a:effectLst/>
        </p:spPr>
        <p:txBody>
          <a:bodyPr/>
          <a:lstStyle/>
          <a:p>
            <a:endParaRPr lang="en-US"/>
          </a:p>
        </p:txBody>
      </p:sp>
      <p:sp>
        <p:nvSpPr>
          <p:cNvPr id="725145" name="Line 153"/>
          <p:cNvSpPr>
            <a:spLocks noChangeShapeType="1"/>
          </p:cNvSpPr>
          <p:nvPr/>
        </p:nvSpPr>
        <p:spPr bwMode="auto">
          <a:xfrm>
            <a:off x="2590800" y="6324600"/>
            <a:ext cx="3505200" cy="0"/>
          </a:xfrm>
          <a:prstGeom prst="line">
            <a:avLst/>
          </a:prstGeom>
          <a:noFill/>
          <a:ln w="19050">
            <a:solidFill>
              <a:schemeClr val="accent1"/>
            </a:solidFill>
            <a:round/>
            <a:headEnd/>
            <a:tailEnd/>
          </a:ln>
          <a:effectLst/>
        </p:spPr>
        <p:txBody>
          <a:bodyPr/>
          <a:lstStyle/>
          <a:p>
            <a:endParaRPr lang="en-US"/>
          </a:p>
        </p:txBody>
      </p:sp>
      <p:sp>
        <p:nvSpPr>
          <p:cNvPr id="725146" name="Line 154"/>
          <p:cNvSpPr>
            <a:spLocks noChangeShapeType="1"/>
          </p:cNvSpPr>
          <p:nvPr/>
        </p:nvSpPr>
        <p:spPr bwMode="auto">
          <a:xfrm>
            <a:off x="2590800" y="2133600"/>
            <a:ext cx="0" cy="4191000"/>
          </a:xfrm>
          <a:prstGeom prst="line">
            <a:avLst/>
          </a:prstGeom>
          <a:noFill/>
          <a:ln w="19050">
            <a:solidFill>
              <a:schemeClr val="accent1"/>
            </a:solidFill>
            <a:round/>
            <a:headEnd/>
            <a:tailEnd/>
          </a:ln>
          <a:effectLst/>
        </p:spPr>
        <p:txBody>
          <a:bodyPr/>
          <a:lstStyle/>
          <a:p>
            <a:endParaRPr lang="en-US"/>
          </a:p>
        </p:txBody>
      </p:sp>
      <p:sp>
        <p:nvSpPr>
          <p:cNvPr id="725147" name="Line 155"/>
          <p:cNvSpPr>
            <a:spLocks noChangeShapeType="1"/>
          </p:cNvSpPr>
          <p:nvPr/>
        </p:nvSpPr>
        <p:spPr bwMode="auto">
          <a:xfrm>
            <a:off x="2590800" y="2133600"/>
            <a:ext cx="457200" cy="0"/>
          </a:xfrm>
          <a:prstGeom prst="line">
            <a:avLst/>
          </a:prstGeom>
          <a:noFill/>
          <a:ln w="19050">
            <a:solidFill>
              <a:schemeClr val="accent1"/>
            </a:solidFill>
            <a:round/>
            <a:headEnd/>
            <a:tailEnd/>
          </a:ln>
          <a:effectLst/>
        </p:spPr>
        <p:txBody>
          <a:bodyPr/>
          <a:lstStyle/>
          <a:p>
            <a:endParaRPr lang="en-US"/>
          </a:p>
        </p:txBody>
      </p:sp>
      <p:sp>
        <p:nvSpPr>
          <p:cNvPr id="725148" name="Line 156"/>
          <p:cNvSpPr>
            <a:spLocks noChangeShapeType="1"/>
          </p:cNvSpPr>
          <p:nvPr/>
        </p:nvSpPr>
        <p:spPr bwMode="auto">
          <a:xfrm>
            <a:off x="3657600" y="5562600"/>
            <a:ext cx="0" cy="609600"/>
          </a:xfrm>
          <a:prstGeom prst="line">
            <a:avLst/>
          </a:prstGeom>
          <a:noFill/>
          <a:ln w="12700">
            <a:solidFill>
              <a:schemeClr val="tx1"/>
            </a:solidFill>
            <a:round/>
            <a:headEnd/>
            <a:tailEnd/>
          </a:ln>
          <a:effectLst/>
        </p:spPr>
        <p:txBody>
          <a:bodyPr/>
          <a:lstStyle/>
          <a:p>
            <a:endParaRPr lang="en-US"/>
          </a:p>
        </p:txBody>
      </p:sp>
      <p:sp>
        <p:nvSpPr>
          <p:cNvPr id="725149" name="Line 157"/>
          <p:cNvSpPr>
            <a:spLocks noChangeShapeType="1"/>
          </p:cNvSpPr>
          <p:nvPr/>
        </p:nvSpPr>
        <p:spPr bwMode="auto">
          <a:xfrm>
            <a:off x="5562600" y="5486400"/>
            <a:ext cx="0" cy="685800"/>
          </a:xfrm>
          <a:prstGeom prst="line">
            <a:avLst/>
          </a:prstGeom>
          <a:noFill/>
          <a:ln w="12700">
            <a:solidFill>
              <a:schemeClr val="tx1"/>
            </a:solidFill>
            <a:round/>
            <a:headEnd/>
            <a:tailEnd/>
          </a:ln>
          <a:effectLst/>
        </p:spPr>
        <p:txBody>
          <a:bodyPr/>
          <a:lstStyle/>
          <a:p>
            <a:endParaRPr lang="en-US"/>
          </a:p>
        </p:txBody>
      </p:sp>
      <p:sp>
        <p:nvSpPr>
          <p:cNvPr id="725150" name="Line 158"/>
          <p:cNvSpPr>
            <a:spLocks noChangeShapeType="1"/>
          </p:cNvSpPr>
          <p:nvPr/>
        </p:nvSpPr>
        <p:spPr bwMode="auto">
          <a:xfrm>
            <a:off x="6172200" y="2057400"/>
            <a:ext cx="228600" cy="0"/>
          </a:xfrm>
          <a:prstGeom prst="line">
            <a:avLst/>
          </a:prstGeom>
          <a:noFill/>
          <a:ln w="12700">
            <a:solidFill>
              <a:schemeClr val="accent1"/>
            </a:solidFill>
            <a:round/>
            <a:headEnd/>
            <a:tailEnd/>
          </a:ln>
          <a:effectLst/>
        </p:spPr>
        <p:txBody>
          <a:bodyPr/>
          <a:lstStyle/>
          <a:p>
            <a:endParaRPr lang="en-US"/>
          </a:p>
        </p:txBody>
      </p:sp>
      <p:sp>
        <p:nvSpPr>
          <p:cNvPr id="725151" name="Line 159"/>
          <p:cNvSpPr>
            <a:spLocks noChangeShapeType="1"/>
          </p:cNvSpPr>
          <p:nvPr/>
        </p:nvSpPr>
        <p:spPr bwMode="auto">
          <a:xfrm flipV="1">
            <a:off x="6172200" y="2057400"/>
            <a:ext cx="0" cy="152400"/>
          </a:xfrm>
          <a:prstGeom prst="line">
            <a:avLst/>
          </a:prstGeom>
          <a:noFill/>
          <a:ln w="12700">
            <a:solidFill>
              <a:schemeClr val="accent1"/>
            </a:solidFill>
            <a:round/>
            <a:headEnd/>
            <a:tailEnd/>
          </a:ln>
          <a:effectLst/>
        </p:spPr>
        <p:txBody>
          <a:bodyPr/>
          <a:lstStyle/>
          <a:p>
            <a:endParaRPr lang="en-US"/>
          </a:p>
        </p:txBody>
      </p:sp>
      <p:sp>
        <p:nvSpPr>
          <p:cNvPr id="725152" name="Line 160"/>
          <p:cNvSpPr>
            <a:spLocks noChangeShapeType="1"/>
          </p:cNvSpPr>
          <p:nvPr/>
        </p:nvSpPr>
        <p:spPr bwMode="auto">
          <a:xfrm>
            <a:off x="2133600" y="1447800"/>
            <a:ext cx="3048000" cy="0"/>
          </a:xfrm>
          <a:prstGeom prst="line">
            <a:avLst/>
          </a:prstGeom>
          <a:noFill/>
          <a:ln w="28575">
            <a:solidFill>
              <a:schemeClr val="tx1"/>
            </a:solidFill>
            <a:round/>
            <a:headEnd/>
            <a:tailEnd/>
          </a:ln>
          <a:effectLst/>
        </p:spPr>
        <p:txBody>
          <a:bodyPr/>
          <a:lstStyle/>
          <a:p>
            <a:endParaRPr lang="en-US"/>
          </a:p>
        </p:txBody>
      </p:sp>
      <p:sp>
        <p:nvSpPr>
          <p:cNvPr id="725153" name="Line 161"/>
          <p:cNvSpPr>
            <a:spLocks noChangeShapeType="1"/>
          </p:cNvSpPr>
          <p:nvPr/>
        </p:nvSpPr>
        <p:spPr bwMode="auto">
          <a:xfrm>
            <a:off x="4953000" y="4572000"/>
            <a:ext cx="152400" cy="0"/>
          </a:xfrm>
          <a:prstGeom prst="line">
            <a:avLst/>
          </a:prstGeom>
          <a:noFill/>
          <a:ln w="28575">
            <a:solidFill>
              <a:schemeClr val="tx1"/>
            </a:solidFill>
            <a:round/>
            <a:headEnd/>
            <a:tailEnd/>
          </a:ln>
          <a:effectLst/>
        </p:spPr>
        <p:txBody>
          <a:bodyPr/>
          <a:lstStyle/>
          <a:p>
            <a:endParaRPr lang="en-US"/>
          </a:p>
        </p:txBody>
      </p:sp>
      <p:sp>
        <p:nvSpPr>
          <p:cNvPr id="725154" name="Line 162"/>
          <p:cNvSpPr>
            <a:spLocks noChangeShapeType="1"/>
          </p:cNvSpPr>
          <p:nvPr/>
        </p:nvSpPr>
        <p:spPr bwMode="auto">
          <a:xfrm>
            <a:off x="6477000" y="3886200"/>
            <a:ext cx="0" cy="457200"/>
          </a:xfrm>
          <a:prstGeom prst="line">
            <a:avLst/>
          </a:prstGeom>
          <a:noFill/>
          <a:ln w="28575">
            <a:solidFill>
              <a:schemeClr val="tx1"/>
            </a:solidFill>
            <a:round/>
            <a:headEnd/>
            <a:tailEnd/>
          </a:ln>
          <a:effectLst/>
        </p:spPr>
        <p:txBody>
          <a:bodyPr/>
          <a:lstStyle/>
          <a:p>
            <a:endParaRPr lang="en-US"/>
          </a:p>
        </p:txBody>
      </p:sp>
      <p:sp>
        <p:nvSpPr>
          <p:cNvPr id="725155" name="Line 163"/>
          <p:cNvSpPr>
            <a:spLocks noChangeShapeType="1"/>
          </p:cNvSpPr>
          <p:nvPr/>
        </p:nvSpPr>
        <p:spPr bwMode="auto">
          <a:xfrm>
            <a:off x="6477000" y="4343400"/>
            <a:ext cx="0" cy="1371600"/>
          </a:xfrm>
          <a:prstGeom prst="line">
            <a:avLst/>
          </a:prstGeom>
          <a:noFill/>
          <a:ln w="28575">
            <a:solidFill>
              <a:schemeClr val="tx1"/>
            </a:solidFill>
            <a:round/>
            <a:headEnd/>
            <a:tailEnd/>
          </a:ln>
          <a:effectLst/>
        </p:spPr>
        <p:txBody>
          <a:bodyPr/>
          <a:lstStyle/>
          <a:p>
            <a:endParaRPr lang="en-US"/>
          </a:p>
        </p:txBody>
      </p:sp>
      <p:sp>
        <p:nvSpPr>
          <p:cNvPr id="725156" name="Line 164"/>
          <p:cNvSpPr>
            <a:spLocks noChangeShapeType="1"/>
          </p:cNvSpPr>
          <p:nvPr/>
        </p:nvSpPr>
        <p:spPr bwMode="auto">
          <a:xfrm>
            <a:off x="5181600" y="1905000"/>
            <a:ext cx="0" cy="3048000"/>
          </a:xfrm>
          <a:prstGeom prst="line">
            <a:avLst/>
          </a:prstGeom>
          <a:noFill/>
          <a:ln w="28575">
            <a:solidFill>
              <a:schemeClr val="tx1"/>
            </a:solidFill>
            <a:round/>
            <a:headEnd/>
            <a:tailEnd/>
          </a:ln>
          <a:effectLst/>
        </p:spPr>
        <p:txBody>
          <a:bodyPr/>
          <a:lstStyle/>
          <a:p>
            <a:endParaRPr lang="en-US"/>
          </a:p>
        </p:txBody>
      </p:sp>
      <p:sp>
        <p:nvSpPr>
          <p:cNvPr id="725157" name="Line 165"/>
          <p:cNvSpPr>
            <a:spLocks noChangeShapeType="1"/>
          </p:cNvSpPr>
          <p:nvPr/>
        </p:nvSpPr>
        <p:spPr bwMode="auto">
          <a:xfrm>
            <a:off x="2667000" y="4648200"/>
            <a:ext cx="0" cy="914400"/>
          </a:xfrm>
          <a:prstGeom prst="line">
            <a:avLst/>
          </a:prstGeom>
          <a:noFill/>
          <a:ln w="28575">
            <a:solidFill>
              <a:schemeClr val="tx1"/>
            </a:solidFill>
            <a:round/>
            <a:headEnd/>
            <a:tailEnd/>
          </a:ln>
          <a:effectLst/>
        </p:spPr>
        <p:txBody>
          <a:bodyPr/>
          <a:lstStyle/>
          <a:p>
            <a:endParaRPr lang="en-US"/>
          </a:p>
        </p:txBody>
      </p:sp>
      <p:sp>
        <p:nvSpPr>
          <p:cNvPr id="725158" name="Rectangle 166"/>
          <p:cNvSpPr>
            <a:spLocks noChangeArrowheads="1"/>
          </p:cNvSpPr>
          <p:nvPr/>
        </p:nvSpPr>
        <p:spPr bwMode="auto">
          <a:xfrm>
            <a:off x="5943600" y="3886200"/>
            <a:ext cx="533400" cy="304800"/>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400">
                <a:solidFill>
                  <a:srgbClr val="000000"/>
                </a:solidFill>
                <a:ea typeface="宋体" pitchFamily="2" charset="-122"/>
              </a:rPr>
              <a:t>zero</a:t>
            </a:r>
          </a:p>
        </p:txBody>
      </p:sp>
    </p:spTree>
    <p:extLst>
      <p:ext uri="{BB962C8B-B14F-4D97-AF65-F5344CB8AC3E}">
        <p14:creationId xmlns:p14="http://schemas.microsoft.com/office/powerpoint/2010/main" val="579875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en-US" altLang="zh-CN">
                <a:ea typeface="宋体" pitchFamily="2" charset="-122"/>
              </a:rPr>
              <a:t>Main Control Unit</a:t>
            </a:r>
          </a:p>
        </p:txBody>
      </p:sp>
      <p:graphicFrame>
        <p:nvGraphicFramePr>
          <p:cNvPr id="759901" name="Group 93"/>
          <p:cNvGraphicFramePr>
            <a:graphicFrameLocks noGrp="1"/>
          </p:cNvGraphicFramePr>
          <p:nvPr>
            <p:ph idx="1"/>
          </p:nvPr>
        </p:nvGraphicFramePr>
        <p:xfrm>
          <a:off x="762000" y="1038225"/>
          <a:ext cx="7696200" cy="2929890"/>
        </p:xfrm>
        <a:graphic>
          <a:graphicData uri="http://schemas.openxmlformats.org/drawingml/2006/table">
            <a:tbl>
              <a:tblPr/>
              <a:tblGrid>
                <a:gridCol w="1066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65175">
                  <a:extLst>
                    <a:ext uri="{9D8B030D-6E8A-4147-A177-3AD203B41FA5}">
                      <a16:colId xmlns:a16="http://schemas.microsoft.com/office/drawing/2014/main" val="20004"/>
                    </a:ext>
                  </a:extLst>
                </a:gridCol>
                <a:gridCol w="835025">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476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Instr</a:t>
                      </a:r>
                    </a:p>
                  </a:txBody>
                  <a:tcPr marL="45720" marR="4572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RegDst</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ALUSrc</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MemReg</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RegWr</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MemRd</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MemWr</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Branch</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ALUOp</a:t>
                      </a:r>
                      <a:endParaRPr kumimoji="0" lang="en-US" altLang="zh-CN" sz="1500" b="1" i="0" u="none" strike="noStrike" cap="none" normalizeH="0" baseline="-2500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1188">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R-type</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a:ln>
                            <a:noFill/>
                          </a:ln>
                          <a:solidFill>
                            <a:schemeClr val="tx1"/>
                          </a:solidFill>
                          <a:effectLst/>
                          <a:latin typeface="Arial" charset="0"/>
                          <a:ea typeface="宋体" pitchFamily="2" charset="-122"/>
                        </a:rPr>
                        <a:t>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7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lw</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a:ln>
                            <a:noFill/>
                          </a:ln>
                          <a:solidFill>
                            <a:schemeClr val="tx1"/>
                          </a:solidFill>
                          <a:effectLst/>
                          <a:latin typeface="Arial" charset="0"/>
                          <a:ea typeface="宋体" pitchFamily="2" charset="-122"/>
                        </a:rPr>
                        <a:t>100011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7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sw</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a:ln>
                            <a:noFill/>
                          </a:ln>
                          <a:solidFill>
                            <a:schemeClr val="tx1"/>
                          </a:solidFill>
                          <a:effectLst/>
                          <a:latin typeface="Arial" charset="0"/>
                          <a:ea typeface="宋体" pitchFamily="2" charset="-122"/>
                        </a:rPr>
                        <a:t>101011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7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beq</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a:ln>
                            <a:noFill/>
                          </a:ln>
                          <a:solidFill>
                            <a:schemeClr val="tx1"/>
                          </a:solidFill>
                          <a:effectLst/>
                          <a:latin typeface="Arial" charset="0"/>
                          <a:ea typeface="宋体" pitchFamily="2" charset="-122"/>
                        </a:rPr>
                        <a:t>000100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59881" name="Rectangle 73"/>
          <p:cNvSpPr>
            <a:spLocks noChangeArrowheads="1"/>
          </p:cNvSpPr>
          <p:nvPr/>
        </p:nvSpPr>
        <p:spPr bwMode="auto">
          <a:xfrm>
            <a:off x="457200" y="4724400"/>
            <a:ext cx="8305800" cy="1184275"/>
          </a:xfrm>
          <a:prstGeom prst="rect">
            <a:avLst/>
          </a:prstGeom>
          <a:noFill/>
          <a:ln w="12700">
            <a:noFill/>
            <a:miter lim="800000"/>
            <a:headEnd/>
            <a:tailEnd/>
          </a:ln>
          <a:effectLst/>
        </p:spPr>
        <p:txBody>
          <a:bodyPr lIns="63500" tIns="25400" rIns="63500" bIns="25400">
            <a:spAutoFit/>
          </a:bodyPr>
          <a:lstStyle/>
          <a:p>
            <a:pPr marL="287338" indent="-287338" algn="just">
              <a:lnSpc>
                <a:spcPct val="95000"/>
              </a:lnSpc>
              <a:spcBef>
                <a:spcPct val="20000"/>
              </a:spcBef>
              <a:buClr>
                <a:schemeClr val="accent1"/>
              </a:buClr>
              <a:buSzPct val="75000"/>
              <a:buFont typeface="Wingdings" pitchFamily="2" charset="2"/>
              <a:buChar char="q"/>
            </a:pPr>
            <a:r>
              <a:rPr lang="en-US" altLang="zh-CN" sz="2600" dirty="0">
                <a:solidFill>
                  <a:schemeClr val="tx1"/>
                </a:solidFill>
                <a:ea typeface="宋体" pitchFamily="2" charset="-122"/>
              </a:rPr>
              <a:t>Setting of the </a:t>
            </a:r>
            <a:r>
              <a:rPr lang="en-US" altLang="zh-CN" sz="2600" dirty="0" err="1">
                <a:solidFill>
                  <a:schemeClr val="tx1"/>
                </a:solidFill>
                <a:ea typeface="宋体" pitchFamily="2" charset="-122"/>
              </a:rPr>
              <a:t>MemRd</a:t>
            </a:r>
            <a:r>
              <a:rPr lang="en-US" altLang="zh-CN" sz="2600" dirty="0">
                <a:solidFill>
                  <a:schemeClr val="tx1"/>
                </a:solidFill>
                <a:ea typeface="宋体" pitchFamily="2" charset="-122"/>
              </a:rPr>
              <a:t> signal (for R-type, </a:t>
            </a:r>
            <a:r>
              <a:rPr lang="en-US" altLang="zh-CN" sz="2600" dirty="0" err="1">
                <a:solidFill>
                  <a:schemeClr val="tx1"/>
                </a:solidFill>
                <a:ea typeface="宋体" pitchFamily="2" charset="-122"/>
              </a:rPr>
              <a:t>sw</a:t>
            </a:r>
            <a:r>
              <a:rPr lang="en-US" altLang="zh-CN" sz="2600" dirty="0">
                <a:solidFill>
                  <a:schemeClr val="tx1"/>
                </a:solidFill>
                <a:ea typeface="宋体" pitchFamily="2" charset="-122"/>
              </a:rPr>
              <a:t>, </a:t>
            </a:r>
            <a:r>
              <a:rPr lang="en-US" altLang="zh-CN" sz="2600" dirty="0" err="1">
                <a:solidFill>
                  <a:schemeClr val="tx1"/>
                </a:solidFill>
                <a:ea typeface="宋体" pitchFamily="2" charset="-122"/>
              </a:rPr>
              <a:t>beq</a:t>
            </a:r>
            <a:r>
              <a:rPr lang="en-US" altLang="zh-CN" sz="2600" dirty="0">
                <a:solidFill>
                  <a:schemeClr val="tx1"/>
                </a:solidFill>
                <a:ea typeface="宋体" pitchFamily="2" charset="-122"/>
              </a:rPr>
              <a:t>) depends on the memory design (could be a </a:t>
            </a:r>
            <a:r>
              <a:rPr lang="en-US" altLang="zh-CN" sz="2600" dirty="0">
                <a:solidFill>
                  <a:schemeClr val="accent2"/>
                </a:solidFill>
                <a:ea typeface="宋体" pitchFamily="2" charset="-122"/>
              </a:rPr>
              <a:t>0</a:t>
            </a:r>
            <a:r>
              <a:rPr lang="en-US" altLang="zh-CN" sz="2600" dirty="0">
                <a:solidFill>
                  <a:schemeClr val="tx1"/>
                </a:solidFill>
                <a:ea typeface="宋体" pitchFamily="2" charset="-122"/>
              </a:rPr>
              <a:t> or could be a </a:t>
            </a:r>
            <a:r>
              <a:rPr lang="en-US" altLang="zh-CN" sz="2600" dirty="0">
                <a:ea typeface="宋体" pitchFamily="2" charset="-122"/>
              </a:rPr>
              <a:t>X</a:t>
            </a:r>
            <a:r>
              <a:rPr lang="en-US" altLang="zh-CN" sz="2600" dirty="0">
                <a:solidFill>
                  <a:schemeClr val="tx1"/>
                </a:solidFill>
                <a:ea typeface="宋体" pitchFamily="2" charset="-122"/>
              </a:rPr>
              <a:t> (don’t care))</a:t>
            </a:r>
          </a:p>
        </p:txBody>
      </p:sp>
    </p:spTree>
    <p:extLst>
      <p:ext uri="{BB962C8B-B14F-4D97-AF65-F5344CB8AC3E}">
        <p14:creationId xmlns:p14="http://schemas.microsoft.com/office/powerpoint/2010/main" val="14049211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a:noFill/>
          <a:ln/>
        </p:spPr>
        <p:txBody>
          <a:bodyPr lIns="90488" tIns="44450" rIns="90488" bIns="44450" anchor="ctr"/>
          <a:lstStyle/>
          <a:p>
            <a:r>
              <a:rPr lang="en-US" altLang="zh-CN">
                <a:ea typeface="宋体" pitchFamily="2" charset="-122"/>
              </a:rPr>
              <a:t>Control Unit Logic</a:t>
            </a:r>
          </a:p>
        </p:txBody>
      </p:sp>
      <p:sp>
        <p:nvSpPr>
          <p:cNvPr id="743427" name="Rectangle 3"/>
          <p:cNvSpPr>
            <a:spLocks noGrp="1" noChangeArrowheads="1"/>
          </p:cNvSpPr>
          <p:nvPr>
            <p:ph type="body" idx="1"/>
          </p:nvPr>
        </p:nvSpPr>
        <p:spPr>
          <a:xfrm>
            <a:off x="457200" y="762000"/>
            <a:ext cx="8382000" cy="428625"/>
          </a:xfrm>
        </p:spPr>
        <p:txBody>
          <a:bodyPr/>
          <a:lstStyle/>
          <a:p>
            <a:r>
              <a:rPr lang="en-US" altLang="zh-CN">
                <a:ea typeface="宋体" pitchFamily="2" charset="-122"/>
              </a:rPr>
              <a:t>From the truth table can design the Main Control logic</a:t>
            </a:r>
          </a:p>
        </p:txBody>
      </p:sp>
      <p:sp>
        <p:nvSpPr>
          <p:cNvPr id="743428" name="AutoShape 4"/>
          <p:cNvSpPr>
            <a:spLocks noChangeArrowheads="1"/>
          </p:cNvSpPr>
          <p:nvPr/>
        </p:nvSpPr>
        <p:spPr bwMode="auto">
          <a:xfrm flipH="1">
            <a:off x="6248400" y="3886200"/>
            <a:ext cx="533400" cy="457200"/>
          </a:xfrm>
          <a:prstGeom prst="moon">
            <a:avLst>
              <a:gd name="adj" fmla="val 82736"/>
            </a:avLst>
          </a:prstGeom>
          <a:noFill/>
          <a:ln w="12700">
            <a:solidFill>
              <a:schemeClr val="tx1"/>
            </a:solidFill>
            <a:miter lim="800000"/>
            <a:headEnd/>
            <a:tailEnd/>
          </a:ln>
          <a:effectLst/>
        </p:spPr>
        <p:txBody>
          <a:bodyPr wrap="none" anchor="ctr"/>
          <a:lstStyle/>
          <a:p>
            <a:endParaRPr lang="en-US"/>
          </a:p>
        </p:txBody>
      </p:sp>
      <p:sp>
        <p:nvSpPr>
          <p:cNvPr id="743429" name="AutoShape 5"/>
          <p:cNvSpPr>
            <a:spLocks noChangeArrowheads="1"/>
          </p:cNvSpPr>
          <p:nvPr/>
        </p:nvSpPr>
        <p:spPr bwMode="auto">
          <a:xfrm rot="5400000">
            <a:off x="1828800" y="2743200"/>
            <a:ext cx="609600" cy="914400"/>
          </a:xfrm>
          <a:prstGeom prst="flowChartDelay">
            <a:avLst/>
          </a:prstGeom>
          <a:noFill/>
          <a:ln w="12700">
            <a:solidFill>
              <a:schemeClr val="tx1"/>
            </a:solidFill>
            <a:miter lim="800000"/>
            <a:headEnd/>
            <a:tailEnd/>
          </a:ln>
          <a:effectLst/>
        </p:spPr>
        <p:txBody>
          <a:bodyPr wrap="none" anchor="ctr"/>
          <a:lstStyle/>
          <a:p>
            <a:endParaRPr lang="en-US"/>
          </a:p>
        </p:txBody>
      </p:sp>
      <p:sp>
        <p:nvSpPr>
          <p:cNvPr id="743430" name="Oval 6"/>
          <p:cNvSpPr>
            <a:spLocks noChangeArrowheads="1"/>
          </p:cNvSpPr>
          <p:nvPr/>
        </p:nvSpPr>
        <p:spPr bwMode="auto">
          <a:xfrm>
            <a:off x="16764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31" name="Line 7"/>
          <p:cNvSpPr>
            <a:spLocks noChangeShapeType="1"/>
          </p:cNvSpPr>
          <p:nvPr/>
        </p:nvSpPr>
        <p:spPr bwMode="auto">
          <a:xfrm>
            <a:off x="1752600" y="1600200"/>
            <a:ext cx="0" cy="1143000"/>
          </a:xfrm>
          <a:prstGeom prst="line">
            <a:avLst/>
          </a:prstGeom>
          <a:noFill/>
          <a:ln w="12700">
            <a:solidFill>
              <a:schemeClr val="tx1"/>
            </a:solidFill>
            <a:round/>
            <a:headEnd/>
            <a:tailEnd/>
          </a:ln>
          <a:effectLst/>
        </p:spPr>
        <p:txBody>
          <a:bodyPr/>
          <a:lstStyle/>
          <a:p>
            <a:endParaRPr lang="en-US"/>
          </a:p>
        </p:txBody>
      </p:sp>
      <p:sp>
        <p:nvSpPr>
          <p:cNvPr id="743432" name="Oval 8"/>
          <p:cNvSpPr>
            <a:spLocks noChangeArrowheads="1"/>
          </p:cNvSpPr>
          <p:nvPr/>
        </p:nvSpPr>
        <p:spPr bwMode="auto">
          <a:xfrm>
            <a:off x="18288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33" name="Line 9"/>
          <p:cNvSpPr>
            <a:spLocks noChangeShapeType="1"/>
          </p:cNvSpPr>
          <p:nvPr/>
        </p:nvSpPr>
        <p:spPr bwMode="auto">
          <a:xfrm>
            <a:off x="1905000" y="1752600"/>
            <a:ext cx="0" cy="990600"/>
          </a:xfrm>
          <a:prstGeom prst="line">
            <a:avLst/>
          </a:prstGeom>
          <a:noFill/>
          <a:ln w="12700">
            <a:solidFill>
              <a:schemeClr val="tx1"/>
            </a:solidFill>
            <a:round/>
            <a:headEnd/>
            <a:tailEnd/>
          </a:ln>
          <a:effectLst/>
        </p:spPr>
        <p:txBody>
          <a:bodyPr/>
          <a:lstStyle/>
          <a:p>
            <a:endParaRPr lang="en-US"/>
          </a:p>
        </p:txBody>
      </p:sp>
      <p:sp>
        <p:nvSpPr>
          <p:cNvPr id="743434" name="Oval 10"/>
          <p:cNvSpPr>
            <a:spLocks noChangeArrowheads="1"/>
          </p:cNvSpPr>
          <p:nvPr/>
        </p:nvSpPr>
        <p:spPr bwMode="auto">
          <a:xfrm>
            <a:off x="19812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35" name="Line 11"/>
          <p:cNvSpPr>
            <a:spLocks noChangeShapeType="1"/>
          </p:cNvSpPr>
          <p:nvPr/>
        </p:nvSpPr>
        <p:spPr bwMode="auto">
          <a:xfrm>
            <a:off x="2057400" y="1905000"/>
            <a:ext cx="0" cy="838200"/>
          </a:xfrm>
          <a:prstGeom prst="line">
            <a:avLst/>
          </a:prstGeom>
          <a:noFill/>
          <a:ln w="12700">
            <a:solidFill>
              <a:schemeClr val="tx1"/>
            </a:solidFill>
            <a:round/>
            <a:headEnd/>
            <a:tailEnd/>
          </a:ln>
          <a:effectLst/>
        </p:spPr>
        <p:txBody>
          <a:bodyPr/>
          <a:lstStyle/>
          <a:p>
            <a:endParaRPr lang="en-US"/>
          </a:p>
        </p:txBody>
      </p:sp>
      <p:sp>
        <p:nvSpPr>
          <p:cNvPr id="743436" name="Oval 12"/>
          <p:cNvSpPr>
            <a:spLocks noChangeArrowheads="1"/>
          </p:cNvSpPr>
          <p:nvPr/>
        </p:nvSpPr>
        <p:spPr bwMode="auto">
          <a:xfrm>
            <a:off x="21336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37" name="Line 13"/>
          <p:cNvSpPr>
            <a:spLocks noChangeShapeType="1"/>
          </p:cNvSpPr>
          <p:nvPr/>
        </p:nvSpPr>
        <p:spPr bwMode="auto">
          <a:xfrm>
            <a:off x="2209800" y="2057400"/>
            <a:ext cx="0" cy="685800"/>
          </a:xfrm>
          <a:prstGeom prst="line">
            <a:avLst/>
          </a:prstGeom>
          <a:noFill/>
          <a:ln w="12700">
            <a:solidFill>
              <a:schemeClr val="tx1"/>
            </a:solidFill>
            <a:round/>
            <a:headEnd/>
            <a:tailEnd/>
          </a:ln>
          <a:effectLst/>
        </p:spPr>
        <p:txBody>
          <a:bodyPr/>
          <a:lstStyle/>
          <a:p>
            <a:endParaRPr lang="en-US"/>
          </a:p>
        </p:txBody>
      </p:sp>
      <p:sp>
        <p:nvSpPr>
          <p:cNvPr id="743438" name="Oval 14"/>
          <p:cNvSpPr>
            <a:spLocks noChangeArrowheads="1"/>
          </p:cNvSpPr>
          <p:nvPr/>
        </p:nvSpPr>
        <p:spPr bwMode="auto">
          <a:xfrm>
            <a:off x="22860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39" name="Line 15"/>
          <p:cNvSpPr>
            <a:spLocks noChangeShapeType="1"/>
          </p:cNvSpPr>
          <p:nvPr/>
        </p:nvSpPr>
        <p:spPr bwMode="auto">
          <a:xfrm>
            <a:off x="2362200" y="2209800"/>
            <a:ext cx="0" cy="533400"/>
          </a:xfrm>
          <a:prstGeom prst="line">
            <a:avLst/>
          </a:prstGeom>
          <a:noFill/>
          <a:ln w="12700">
            <a:solidFill>
              <a:schemeClr val="tx1"/>
            </a:solidFill>
            <a:round/>
            <a:headEnd/>
            <a:tailEnd/>
          </a:ln>
          <a:effectLst/>
        </p:spPr>
        <p:txBody>
          <a:bodyPr/>
          <a:lstStyle/>
          <a:p>
            <a:endParaRPr lang="en-US"/>
          </a:p>
        </p:txBody>
      </p:sp>
      <p:sp>
        <p:nvSpPr>
          <p:cNvPr id="743440" name="Oval 16"/>
          <p:cNvSpPr>
            <a:spLocks noChangeArrowheads="1"/>
          </p:cNvSpPr>
          <p:nvPr/>
        </p:nvSpPr>
        <p:spPr bwMode="auto">
          <a:xfrm>
            <a:off x="24384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41" name="Line 17"/>
          <p:cNvSpPr>
            <a:spLocks noChangeShapeType="1"/>
          </p:cNvSpPr>
          <p:nvPr/>
        </p:nvSpPr>
        <p:spPr bwMode="auto">
          <a:xfrm>
            <a:off x="2514600" y="2362200"/>
            <a:ext cx="0" cy="381000"/>
          </a:xfrm>
          <a:prstGeom prst="line">
            <a:avLst/>
          </a:prstGeom>
          <a:noFill/>
          <a:ln w="12700">
            <a:solidFill>
              <a:schemeClr val="tx1"/>
            </a:solidFill>
            <a:round/>
            <a:headEnd/>
            <a:tailEnd/>
          </a:ln>
          <a:effectLst/>
        </p:spPr>
        <p:txBody>
          <a:bodyPr/>
          <a:lstStyle/>
          <a:p>
            <a:endParaRPr lang="en-US"/>
          </a:p>
        </p:txBody>
      </p:sp>
      <p:sp>
        <p:nvSpPr>
          <p:cNvPr id="743442" name="AutoShape 18"/>
          <p:cNvSpPr>
            <a:spLocks noChangeArrowheads="1"/>
          </p:cNvSpPr>
          <p:nvPr/>
        </p:nvSpPr>
        <p:spPr bwMode="auto">
          <a:xfrm rot="5400000">
            <a:off x="2971800" y="2743200"/>
            <a:ext cx="609600" cy="914400"/>
          </a:xfrm>
          <a:prstGeom prst="flowChartDelay">
            <a:avLst/>
          </a:prstGeom>
          <a:noFill/>
          <a:ln w="12700">
            <a:solidFill>
              <a:schemeClr val="tx1"/>
            </a:solidFill>
            <a:miter lim="800000"/>
            <a:headEnd/>
            <a:tailEnd/>
          </a:ln>
          <a:effectLst/>
        </p:spPr>
        <p:txBody>
          <a:bodyPr wrap="none" anchor="ctr"/>
          <a:lstStyle/>
          <a:p>
            <a:endParaRPr lang="en-US"/>
          </a:p>
        </p:txBody>
      </p:sp>
      <p:sp>
        <p:nvSpPr>
          <p:cNvPr id="743443" name="Line 19"/>
          <p:cNvSpPr>
            <a:spLocks noChangeShapeType="1"/>
          </p:cNvSpPr>
          <p:nvPr/>
        </p:nvSpPr>
        <p:spPr bwMode="auto">
          <a:xfrm>
            <a:off x="2895600" y="1600200"/>
            <a:ext cx="0" cy="1295400"/>
          </a:xfrm>
          <a:prstGeom prst="line">
            <a:avLst/>
          </a:prstGeom>
          <a:noFill/>
          <a:ln w="12700">
            <a:solidFill>
              <a:schemeClr val="tx1"/>
            </a:solidFill>
            <a:round/>
            <a:headEnd/>
            <a:tailEnd/>
          </a:ln>
          <a:effectLst/>
        </p:spPr>
        <p:txBody>
          <a:bodyPr/>
          <a:lstStyle/>
          <a:p>
            <a:endParaRPr lang="en-US"/>
          </a:p>
        </p:txBody>
      </p:sp>
      <p:sp>
        <p:nvSpPr>
          <p:cNvPr id="743444" name="Oval 20"/>
          <p:cNvSpPr>
            <a:spLocks noChangeArrowheads="1"/>
          </p:cNvSpPr>
          <p:nvPr/>
        </p:nvSpPr>
        <p:spPr bwMode="auto">
          <a:xfrm>
            <a:off x="29718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45" name="Line 21"/>
          <p:cNvSpPr>
            <a:spLocks noChangeShapeType="1"/>
          </p:cNvSpPr>
          <p:nvPr/>
        </p:nvSpPr>
        <p:spPr bwMode="auto">
          <a:xfrm>
            <a:off x="3048000" y="1752600"/>
            <a:ext cx="0" cy="990600"/>
          </a:xfrm>
          <a:prstGeom prst="line">
            <a:avLst/>
          </a:prstGeom>
          <a:noFill/>
          <a:ln w="12700">
            <a:solidFill>
              <a:schemeClr val="tx1"/>
            </a:solidFill>
            <a:round/>
            <a:headEnd/>
            <a:tailEnd/>
          </a:ln>
          <a:effectLst/>
        </p:spPr>
        <p:txBody>
          <a:bodyPr/>
          <a:lstStyle/>
          <a:p>
            <a:endParaRPr lang="en-US"/>
          </a:p>
        </p:txBody>
      </p:sp>
      <p:sp>
        <p:nvSpPr>
          <p:cNvPr id="743446" name="Oval 22"/>
          <p:cNvSpPr>
            <a:spLocks noChangeArrowheads="1"/>
          </p:cNvSpPr>
          <p:nvPr/>
        </p:nvSpPr>
        <p:spPr bwMode="auto">
          <a:xfrm>
            <a:off x="31242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47" name="Line 23"/>
          <p:cNvSpPr>
            <a:spLocks noChangeShapeType="1"/>
          </p:cNvSpPr>
          <p:nvPr/>
        </p:nvSpPr>
        <p:spPr bwMode="auto">
          <a:xfrm>
            <a:off x="3200400" y="1905000"/>
            <a:ext cx="0" cy="838200"/>
          </a:xfrm>
          <a:prstGeom prst="line">
            <a:avLst/>
          </a:prstGeom>
          <a:noFill/>
          <a:ln w="12700">
            <a:solidFill>
              <a:schemeClr val="tx1"/>
            </a:solidFill>
            <a:round/>
            <a:headEnd/>
            <a:tailEnd/>
          </a:ln>
          <a:effectLst/>
        </p:spPr>
        <p:txBody>
          <a:bodyPr/>
          <a:lstStyle/>
          <a:p>
            <a:endParaRPr lang="en-US"/>
          </a:p>
        </p:txBody>
      </p:sp>
      <p:sp>
        <p:nvSpPr>
          <p:cNvPr id="743448" name="Oval 24"/>
          <p:cNvSpPr>
            <a:spLocks noChangeArrowheads="1"/>
          </p:cNvSpPr>
          <p:nvPr/>
        </p:nvSpPr>
        <p:spPr bwMode="auto">
          <a:xfrm>
            <a:off x="32766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49" name="Line 25"/>
          <p:cNvSpPr>
            <a:spLocks noChangeShapeType="1"/>
          </p:cNvSpPr>
          <p:nvPr/>
        </p:nvSpPr>
        <p:spPr bwMode="auto">
          <a:xfrm>
            <a:off x="3352800" y="2057400"/>
            <a:ext cx="0" cy="685800"/>
          </a:xfrm>
          <a:prstGeom prst="line">
            <a:avLst/>
          </a:prstGeom>
          <a:noFill/>
          <a:ln w="12700">
            <a:solidFill>
              <a:schemeClr val="tx1"/>
            </a:solidFill>
            <a:round/>
            <a:headEnd/>
            <a:tailEnd/>
          </a:ln>
          <a:effectLst/>
        </p:spPr>
        <p:txBody>
          <a:bodyPr/>
          <a:lstStyle/>
          <a:p>
            <a:endParaRPr lang="en-US"/>
          </a:p>
        </p:txBody>
      </p:sp>
      <p:sp>
        <p:nvSpPr>
          <p:cNvPr id="743450" name="AutoShape 26"/>
          <p:cNvSpPr>
            <a:spLocks noChangeArrowheads="1"/>
          </p:cNvSpPr>
          <p:nvPr/>
        </p:nvSpPr>
        <p:spPr bwMode="auto">
          <a:xfrm rot="5400000">
            <a:off x="4114800" y="2743200"/>
            <a:ext cx="609600" cy="914400"/>
          </a:xfrm>
          <a:prstGeom prst="flowChartDelay">
            <a:avLst/>
          </a:prstGeom>
          <a:noFill/>
          <a:ln w="12700">
            <a:solidFill>
              <a:schemeClr val="tx1"/>
            </a:solidFill>
            <a:miter lim="800000"/>
            <a:headEnd/>
            <a:tailEnd/>
          </a:ln>
          <a:effectLst/>
        </p:spPr>
        <p:txBody>
          <a:bodyPr wrap="none" anchor="ctr"/>
          <a:lstStyle/>
          <a:p>
            <a:endParaRPr lang="en-US"/>
          </a:p>
        </p:txBody>
      </p:sp>
      <p:sp>
        <p:nvSpPr>
          <p:cNvPr id="743451" name="Oval 27"/>
          <p:cNvSpPr>
            <a:spLocks noChangeArrowheads="1"/>
          </p:cNvSpPr>
          <p:nvPr/>
        </p:nvSpPr>
        <p:spPr bwMode="auto">
          <a:xfrm>
            <a:off x="41148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52" name="Line 28"/>
          <p:cNvSpPr>
            <a:spLocks noChangeShapeType="1"/>
          </p:cNvSpPr>
          <p:nvPr/>
        </p:nvSpPr>
        <p:spPr bwMode="auto">
          <a:xfrm>
            <a:off x="4191000" y="1752600"/>
            <a:ext cx="0" cy="990600"/>
          </a:xfrm>
          <a:prstGeom prst="line">
            <a:avLst/>
          </a:prstGeom>
          <a:noFill/>
          <a:ln w="12700">
            <a:solidFill>
              <a:schemeClr val="tx1"/>
            </a:solidFill>
            <a:round/>
            <a:headEnd/>
            <a:tailEnd/>
          </a:ln>
          <a:effectLst/>
        </p:spPr>
        <p:txBody>
          <a:bodyPr/>
          <a:lstStyle/>
          <a:p>
            <a:endParaRPr lang="en-US"/>
          </a:p>
        </p:txBody>
      </p:sp>
      <p:sp>
        <p:nvSpPr>
          <p:cNvPr id="743453" name="Oval 29"/>
          <p:cNvSpPr>
            <a:spLocks noChangeArrowheads="1"/>
          </p:cNvSpPr>
          <p:nvPr/>
        </p:nvSpPr>
        <p:spPr bwMode="auto">
          <a:xfrm>
            <a:off x="44196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54" name="Line 30"/>
          <p:cNvSpPr>
            <a:spLocks noChangeShapeType="1"/>
          </p:cNvSpPr>
          <p:nvPr/>
        </p:nvSpPr>
        <p:spPr bwMode="auto">
          <a:xfrm flipH="1">
            <a:off x="4495800" y="2057400"/>
            <a:ext cx="0" cy="685800"/>
          </a:xfrm>
          <a:prstGeom prst="line">
            <a:avLst/>
          </a:prstGeom>
          <a:noFill/>
          <a:ln w="12700">
            <a:solidFill>
              <a:schemeClr val="tx1"/>
            </a:solidFill>
            <a:round/>
            <a:headEnd/>
            <a:tailEnd/>
          </a:ln>
          <a:effectLst/>
        </p:spPr>
        <p:txBody>
          <a:bodyPr/>
          <a:lstStyle/>
          <a:p>
            <a:endParaRPr lang="en-US"/>
          </a:p>
        </p:txBody>
      </p:sp>
      <p:sp>
        <p:nvSpPr>
          <p:cNvPr id="743455" name="AutoShape 31"/>
          <p:cNvSpPr>
            <a:spLocks noChangeArrowheads="1"/>
          </p:cNvSpPr>
          <p:nvPr/>
        </p:nvSpPr>
        <p:spPr bwMode="auto">
          <a:xfrm rot="5400000">
            <a:off x="5334000" y="2743200"/>
            <a:ext cx="609600" cy="914400"/>
          </a:xfrm>
          <a:prstGeom prst="flowChartDelay">
            <a:avLst/>
          </a:prstGeom>
          <a:noFill/>
          <a:ln w="12700">
            <a:solidFill>
              <a:schemeClr val="tx1"/>
            </a:solidFill>
            <a:miter lim="800000"/>
            <a:headEnd/>
            <a:tailEnd/>
          </a:ln>
          <a:effectLst/>
        </p:spPr>
        <p:txBody>
          <a:bodyPr wrap="none" anchor="ctr"/>
          <a:lstStyle/>
          <a:p>
            <a:endParaRPr lang="en-US"/>
          </a:p>
        </p:txBody>
      </p:sp>
      <p:sp>
        <p:nvSpPr>
          <p:cNvPr id="743456" name="Oval 32"/>
          <p:cNvSpPr>
            <a:spLocks noChangeArrowheads="1"/>
          </p:cNvSpPr>
          <p:nvPr/>
        </p:nvSpPr>
        <p:spPr bwMode="auto">
          <a:xfrm>
            <a:off x="51816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57" name="Line 33"/>
          <p:cNvSpPr>
            <a:spLocks noChangeShapeType="1"/>
          </p:cNvSpPr>
          <p:nvPr/>
        </p:nvSpPr>
        <p:spPr bwMode="auto">
          <a:xfrm>
            <a:off x="5257800" y="1600200"/>
            <a:ext cx="0" cy="1143000"/>
          </a:xfrm>
          <a:prstGeom prst="line">
            <a:avLst/>
          </a:prstGeom>
          <a:noFill/>
          <a:ln w="12700">
            <a:solidFill>
              <a:schemeClr val="tx1"/>
            </a:solidFill>
            <a:round/>
            <a:headEnd/>
            <a:tailEnd/>
          </a:ln>
          <a:effectLst/>
        </p:spPr>
        <p:txBody>
          <a:bodyPr/>
          <a:lstStyle/>
          <a:p>
            <a:endParaRPr lang="en-US"/>
          </a:p>
        </p:txBody>
      </p:sp>
      <p:sp>
        <p:nvSpPr>
          <p:cNvPr id="743458" name="Oval 34"/>
          <p:cNvSpPr>
            <a:spLocks noChangeArrowheads="1"/>
          </p:cNvSpPr>
          <p:nvPr/>
        </p:nvSpPr>
        <p:spPr bwMode="auto">
          <a:xfrm>
            <a:off x="53340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59" name="Line 35"/>
          <p:cNvSpPr>
            <a:spLocks noChangeShapeType="1"/>
          </p:cNvSpPr>
          <p:nvPr/>
        </p:nvSpPr>
        <p:spPr bwMode="auto">
          <a:xfrm>
            <a:off x="5410200" y="1752600"/>
            <a:ext cx="0" cy="990600"/>
          </a:xfrm>
          <a:prstGeom prst="line">
            <a:avLst/>
          </a:prstGeom>
          <a:noFill/>
          <a:ln w="12700">
            <a:solidFill>
              <a:schemeClr val="tx1"/>
            </a:solidFill>
            <a:round/>
            <a:headEnd/>
            <a:tailEnd/>
          </a:ln>
          <a:effectLst/>
        </p:spPr>
        <p:txBody>
          <a:bodyPr/>
          <a:lstStyle/>
          <a:p>
            <a:endParaRPr lang="en-US"/>
          </a:p>
        </p:txBody>
      </p:sp>
      <p:sp>
        <p:nvSpPr>
          <p:cNvPr id="743460" name="Oval 36"/>
          <p:cNvSpPr>
            <a:spLocks noChangeArrowheads="1"/>
          </p:cNvSpPr>
          <p:nvPr/>
        </p:nvSpPr>
        <p:spPr bwMode="auto">
          <a:xfrm>
            <a:off x="54864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61" name="Oval 37"/>
          <p:cNvSpPr>
            <a:spLocks noChangeArrowheads="1"/>
          </p:cNvSpPr>
          <p:nvPr/>
        </p:nvSpPr>
        <p:spPr bwMode="auto">
          <a:xfrm>
            <a:off x="57912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62" name="Line 38"/>
          <p:cNvSpPr>
            <a:spLocks noChangeShapeType="1"/>
          </p:cNvSpPr>
          <p:nvPr/>
        </p:nvSpPr>
        <p:spPr bwMode="auto">
          <a:xfrm>
            <a:off x="5867400" y="2209800"/>
            <a:ext cx="0" cy="533400"/>
          </a:xfrm>
          <a:prstGeom prst="line">
            <a:avLst/>
          </a:prstGeom>
          <a:noFill/>
          <a:ln w="12700">
            <a:solidFill>
              <a:schemeClr val="tx1"/>
            </a:solidFill>
            <a:round/>
            <a:headEnd/>
            <a:tailEnd/>
          </a:ln>
          <a:effectLst/>
        </p:spPr>
        <p:txBody>
          <a:bodyPr/>
          <a:lstStyle/>
          <a:p>
            <a:endParaRPr lang="en-US"/>
          </a:p>
        </p:txBody>
      </p:sp>
      <p:sp>
        <p:nvSpPr>
          <p:cNvPr id="743463" name="Oval 39"/>
          <p:cNvSpPr>
            <a:spLocks noChangeArrowheads="1"/>
          </p:cNvSpPr>
          <p:nvPr/>
        </p:nvSpPr>
        <p:spPr bwMode="auto">
          <a:xfrm>
            <a:off x="5943600" y="2743200"/>
            <a:ext cx="152400" cy="152400"/>
          </a:xfrm>
          <a:prstGeom prst="ellipse">
            <a:avLst/>
          </a:prstGeom>
          <a:noFill/>
          <a:ln w="12700">
            <a:solidFill>
              <a:schemeClr val="tx1"/>
            </a:solidFill>
            <a:round/>
            <a:headEnd/>
            <a:tailEnd/>
          </a:ln>
          <a:effectLst/>
        </p:spPr>
        <p:txBody>
          <a:bodyPr wrap="none" anchor="ctr"/>
          <a:lstStyle/>
          <a:p>
            <a:endParaRPr lang="en-US"/>
          </a:p>
        </p:txBody>
      </p:sp>
      <p:sp>
        <p:nvSpPr>
          <p:cNvPr id="743464" name="Line 40"/>
          <p:cNvSpPr>
            <a:spLocks noChangeShapeType="1"/>
          </p:cNvSpPr>
          <p:nvPr/>
        </p:nvSpPr>
        <p:spPr bwMode="auto">
          <a:xfrm>
            <a:off x="6019800" y="2362200"/>
            <a:ext cx="0" cy="381000"/>
          </a:xfrm>
          <a:prstGeom prst="line">
            <a:avLst/>
          </a:prstGeom>
          <a:noFill/>
          <a:ln w="12700">
            <a:solidFill>
              <a:schemeClr val="tx1"/>
            </a:solidFill>
            <a:round/>
            <a:headEnd/>
            <a:tailEnd/>
          </a:ln>
          <a:effectLst/>
        </p:spPr>
        <p:txBody>
          <a:bodyPr/>
          <a:lstStyle/>
          <a:p>
            <a:endParaRPr lang="en-US"/>
          </a:p>
        </p:txBody>
      </p:sp>
      <p:sp>
        <p:nvSpPr>
          <p:cNvPr id="743465" name="Line 41"/>
          <p:cNvSpPr>
            <a:spLocks noChangeShapeType="1"/>
          </p:cNvSpPr>
          <p:nvPr/>
        </p:nvSpPr>
        <p:spPr bwMode="auto">
          <a:xfrm>
            <a:off x="3505200" y="2209800"/>
            <a:ext cx="0" cy="685800"/>
          </a:xfrm>
          <a:prstGeom prst="line">
            <a:avLst/>
          </a:prstGeom>
          <a:noFill/>
          <a:ln w="12700">
            <a:solidFill>
              <a:schemeClr val="tx1"/>
            </a:solidFill>
            <a:round/>
            <a:headEnd/>
            <a:tailEnd/>
          </a:ln>
          <a:effectLst/>
        </p:spPr>
        <p:txBody>
          <a:bodyPr/>
          <a:lstStyle/>
          <a:p>
            <a:endParaRPr lang="en-US"/>
          </a:p>
        </p:txBody>
      </p:sp>
      <p:sp>
        <p:nvSpPr>
          <p:cNvPr id="743466" name="Line 42"/>
          <p:cNvSpPr>
            <a:spLocks noChangeShapeType="1"/>
          </p:cNvSpPr>
          <p:nvPr/>
        </p:nvSpPr>
        <p:spPr bwMode="auto">
          <a:xfrm>
            <a:off x="3657600" y="2362200"/>
            <a:ext cx="0" cy="533400"/>
          </a:xfrm>
          <a:prstGeom prst="line">
            <a:avLst/>
          </a:prstGeom>
          <a:noFill/>
          <a:ln w="12700">
            <a:solidFill>
              <a:schemeClr val="tx1"/>
            </a:solidFill>
            <a:round/>
            <a:headEnd/>
            <a:tailEnd/>
          </a:ln>
          <a:effectLst/>
        </p:spPr>
        <p:txBody>
          <a:bodyPr/>
          <a:lstStyle/>
          <a:p>
            <a:endParaRPr lang="en-US"/>
          </a:p>
        </p:txBody>
      </p:sp>
      <p:sp>
        <p:nvSpPr>
          <p:cNvPr id="743467" name="Line 43"/>
          <p:cNvSpPr>
            <a:spLocks noChangeShapeType="1"/>
          </p:cNvSpPr>
          <p:nvPr/>
        </p:nvSpPr>
        <p:spPr bwMode="auto">
          <a:xfrm>
            <a:off x="4038600" y="1600200"/>
            <a:ext cx="0" cy="1295400"/>
          </a:xfrm>
          <a:prstGeom prst="line">
            <a:avLst/>
          </a:prstGeom>
          <a:noFill/>
          <a:ln w="12700">
            <a:solidFill>
              <a:schemeClr val="tx1"/>
            </a:solidFill>
            <a:round/>
            <a:headEnd/>
            <a:tailEnd/>
          </a:ln>
          <a:effectLst/>
        </p:spPr>
        <p:txBody>
          <a:bodyPr/>
          <a:lstStyle/>
          <a:p>
            <a:endParaRPr lang="en-US"/>
          </a:p>
        </p:txBody>
      </p:sp>
      <p:sp>
        <p:nvSpPr>
          <p:cNvPr id="743468" name="Line 44"/>
          <p:cNvSpPr>
            <a:spLocks noChangeShapeType="1"/>
          </p:cNvSpPr>
          <p:nvPr/>
        </p:nvSpPr>
        <p:spPr bwMode="auto">
          <a:xfrm>
            <a:off x="4343400" y="1905000"/>
            <a:ext cx="0" cy="990600"/>
          </a:xfrm>
          <a:prstGeom prst="line">
            <a:avLst/>
          </a:prstGeom>
          <a:noFill/>
          <a:ln w="12700">
            <a:solidFill>
              <a:schemeClr val="tx1"/>
            </a:solidFill>
            <a:round/>
            <a:headEnd/>
            <a:tailEnd/>
          </a:ln>
          <a:effectLst/>
        </p:spPr>
        <p:txBody>
          <a:bodyPr/>
          <a:lstStyle/>
          <a:p>
            <a:endParaRPr lang="en-US"/>
          </a:p>
        </p:txBody>
      </p:sp>
      <p:sp>
        <p:nvSpPr>
          <p:cNvPr id="743469" name="Line 45"/>
          <p:cNvSpPr>
            <a:spLocks noChangeShapeType="1"/>
          </p:cNvSpPr>
          <p:nvPr/>
        </p:nvSpPr>
        <p:spPr bwMode="auto">
          <a:xfrm>
            <a:off x="4648200" y="2209800"/>
            <a:ext cx="0" cy="685800"/>
          </a:xfrm>
          <a:prstGeom prst="line">
            <a:avLst/>
          </a:prstGeom>
          <a:noFill/>
          <a:ln w="12700">
            <a:solidFill>
              <a:schemeClr val="tx1"/>
            </a:solidFill>
            <a:round/>
            <a:headEnd/>
            <a:tailEnd/>
          </a:ln>
          <a:effectLst/>
        </p:spPr>
        <p:txBody>
          <a:bodyPr/>
          <a:lstStyle/>
          <a:p>
            <a:endParaRPr lang="en-US"/>
          </a:p>
        </p:txBody>
      </p:sp>
      <p:sp>
        <p:nvSpPr>
          <p:cNvPr id="743470" name="Line 46"/>
          <p:cNvSpPr>
            <a:spLocks noChangeShapeType="1"/>
          </p:cNvSpPr>
          <p:nvPr/>
        </p:nvSpPr>
        <p:spPr bwMode="auto">
          <a:xfrm>
            <a:off x="4800600" y="2362200"/>
            <a:ext cx="0" cy="533400"/>
          </a:xfrm>
          <a:prstGeom prst="line">
            <a:avLst/>
          </a:prstGeom>
          <a:noFill/>
          <a:ln w="12700">
            <a:solidFill>
              <a:schemeClr val="tx1"/>
            </a:solidFill>
            <a:round/>
            <a:headEnd/>
            <a:tailEnd/>
          </a:ln>
          <a:effectLst/>
        </p:spPr>
        <p:txBody>
          <a:bodyPr/>
          <a:lstStyle/>
          <a:p>
            <a:endParaRPr lang="en-US"/>
          </a:p>
        </p:txBody>
      </p:sp>
      <p:sp>
        <p:nvSpPr>
          <p:cNvPr id="743471" name="Line 47"/>
          <p:cNvSpPr>
            <a:spLocks noChangeShapeType="1"/>
          </p:cNvSpPr>
          <p:nvPr/>
        </p:nvSpPr>
        <p:spPr bwMode="auto">
          <a:xfrm>
            <a:off x="5715000" y="2057400"/>
            <a:ext cx="0" cy="838200"/>
          </a:xfrm>
          <a:prstGeom prst="line">
            <a:avLst/>
          </a:prstGeom>
          <a:noFill/>
          <a:ln w="12700">
            <a:solidFill>
              <a:schemeClr val="tx1"/>
            </a:solidFill>
            <a:round/>
            <a:headEnd/>
            <a:tailEnd/>
          </a:ln>
          <a:effectLst/>
        </p:spPr>
        <p:txBody>
          <a:bodyPr/>
          <a:lstStyle/>
          <a:p>
            <a:endParaRPr lang="en-US"/>
          </a:p>
        </p:txBody>
      </p:sp>
      <p:sp>
        <p:nvSpPr>
          <p:cNvPr id="743472" name="Line 48"/>
          <p:cNvSpPr>
            <a:spLocks noChangeShapeType="1"/>
          </p:cNvSpPr>
          <p:nvPr/>
        </p:nvSpPr>
        <p:spPr bwMode="auto">
          <a:xfrm>
            <a:off x="5562600" y="1905000"/>
            <a:ext cx="0" cy="838200"/>
          </a:xfrm>
          <a:prstGeom prst="line">
            <a:avLst/>
          </a:prstGeom>
          <a:noFill/>
          <a:ln w="12700">
            <a:solidFill>
              <a:schemeClr val="tx1"/>
            </a:solidFill>
            <a:round/>
            <a:headEnd/>
            <a:tailEnd/>
          </a:ln>
          <a:effectLst/>
        </p:spPr>
        <p:txBody>
          <a:bodyPr/>
          <a:lstStyle/>
          <a:p>
            <a:endParaRPr lang="en-US"/>
          </a:p>
        </p:txBody>
      </p:sp>
      <p:sp>
        <p:nvSpPr>
          <p:cNvPr id="743473" name="Line 49"/>
          <p:cNvSpPr>
            <a:spLocks noChangeShapeType="1"/>
          </p:cNvSpPr>
          <p:nvPr/>
        </p:nvSpPr>
        <p:spPr bwMode="auto">
          <a:xfrm>
            <a:off x="1219200" y="1600200"/>
            <a:ext cx="4038600" cy="0"/>
          </a:xfrm>
          <a:prstGeom prst="line">
            <a:avLst/>
          </a:prstGeom>
          <a:noFill/>
          <a:ln w="12700">
            <a:solidFill>
              <a:schemeClr val="tx1"/>
            </a:solidFill>
            <a:round/>
            <a:headEnd/>
            <a:tailEnd/>
          </a:ln>
          <a:effectLst/>
        </p:spPr>
        <p:txBody>
          <a:bodyPr/>
          <a:lstStyle/>
          <a:p>
            <a:endParaRPr lang="en-US"/>
          </a:p>
        </p:txBody>
      </p:sp>
      <p:sp>
        <p:nvSpPr>
          <p:cNvPr id="743474" name="Line 50"/>
          <p:cNvSpPr>
            <a:spLocks noChangeShapeType="1"/>
          </p:cNvSpPr>
          <p:nvPr/>
        </p:nvSpPr>
        <p:spPr bwMode="auto">
          <a:xfrm>
            <a:off x="1219200" y="1752600"/>
            <a:ext cx="4191000" cy="0"/>
          </a:xfrm>
          <a:prstGeom prst="line">
            <a:avLst/>
          </a:prstGeom>
          <a:noFill/>
          <a:ln w="12700">
            <a:solidFill>
              <a:schemeClr val="tx1"/>
            </a:solidFill>
            <a:round/>
            <a:headEnd/>
            <a:tailEnd/>
          </a:ln>
          <a:effectLst/>
        </p:spPr>
        <p:txBody>
          <a:bodyPr/>
          <a:lstStyle/>
          <a:p>
            <a:endParaRPr lang="en-US"/>
          </a:p>
        </p:txBody>
      </p:sp>
      <p:sp>
        <p:nvSpPr>
          <p:cNvPr id="743475" name="Line 51"/>
          <p:cNvSpPr>
            <a:spLocks noChangeShapeType="1"/>
          </p:cNvSpPr>
          <p:nvPr/>
        </p:nvSpPr>
        <p:spPr bwMode="auto">
          <a:xfrm>
            <a:off x="1219200" y="1905000"/>
            <a:ext cx="4343400" cy="0"/>
          </a:xfrm>
          <a:prstGeom prst="line">
            <a:avLst/>
          </a:prstGeom>
          <a:noFill/>
          <a:ln w="12700">
            <a:solidFill>
              <a:schemeClr val="tx1"/>
            </a:solidFill>
            <a:round/>
            <a:headEnd/>
            <a:tailEnd/>
          </a:ln>
          <a:effectLst/>
        </p:spPr>
        <p:txBody>
          <a:bodyPr/>
          <a:lstStyle/>
          <a:p>
            <a:endParaRPr lang="en-US"/>
          </a:p>
        </p:txBody>
      </p:sp>
      <p:sp>
        <p:nvSpPr>
          <p:cNvPr id="743476" name="Line 52"/>
          <p:cNvSpPr>
            <a:spLocks noChangeShapeType="1"/>
          </p:cNvSpPr>
          <p:nvPr/>
        </p:nvSpPr>
        <p:spPr bwMode="auto">
          <a:xfrm>
            <a:off x="1219200" y="2057400"/>
            <a:ext cx="4495800" cy="0"/>
          </a:xfrm>
          <a:prstGeom prst="line">
            <a:avLst/>
          </a:prstGeom>
          <a:noFill/>
          <a:ln w="12700">
            <a:solidFill>
              <a:schemeClr val="tx1"/>
            </a:solidFill>
            <a:round/>
            <a:headEnd/>
            <a:tailEnd/>
          </a:ln>
          <a:effectLst/>
        </p:spPr>
        <p:txBody>
          <a:bodyPr/>
          <a:lstStyle/>
          <a:p>
            <a:endParaRPr lang="en-US"/>
          </a:p>
        </p:txBody>
      </p:sp>
      <p:sp>
        <p:nvSpPr>
          <p:cNvPr id="743477" name="Line 53"/>
          <p:cNvSpPr>
            <a:spLocks noChangeShapeType="1"/>
          </p:cNvSpPr>
          <p:nvPr/>
        </p:nvSpPr>
        <p:spPr bwMode="auto">
          <a:xfrm>
            <a:off x="1219200" y="2209800"/>
            <a:ext cx="4648200" cy="0"/>
          </a:xfrm>
          <a:prstGeom prst="line">
            <a:avLst/>
          </a:prstGeom>
          <a:noFill/>
          <a:ln w="12700">
            <a:solidFill>
              <a:schemeClr val="tx1"/>
            </a:solidFill>
            <a:round/>
            <a:headEnd/>
            <a:tailEnd/>
          </a:ln>
          <a:effectLst/>
        </p:spPr>
        <p:txBody>
          <a:bodyPr/>
          <a:lstStyle/>
          <a:p>
            <a:endParaRPr lang="en-US"/>
          </a:p>
        </p:txBody>
      </p:sp>
      <p:sp>
        <p:nvSpPr>
          <p:cNvPr id="743478" name="Line 54"/>
          <p:cNvSpPr>
            <a:spLocks noChangeShapeType="1"/>
          </p:cNvSpPr>
          <p:nvPr/>
        </p:nvSpPr>
        <p:spPr bwMode="auto">
          <a:xfrm>
            <a:off x="1219200" y="2362200"/>
            <a:ext cx="4800600" cy="0"/>
          </a:xfrm>
          <a:prstGeom prst="line">
            <a:avLst/>
          </a:prstGeom>
          <a:noFill/>
          <a:ln w="12700">
            <a:solidFill>
              <a:schemeClr val="tx1"/>
            </a:solidFill>
            <a:round/>
            <a:headEnd/>
            <a:tailEnd/>
          </a:ln>
          <a:effectLst/>
        </p:spPr>
        <p:txBody>
          <a:bodyPr/>
          <a:lstStyle/>
          <a:p>
            <a:endParaRPr lang="en-US"/>
          </a:p>
        </p:txBody>
      </p:sp>
      <p:sp>
        <p:nvSpPr>
          <p:cNvPr id="743479" name="Rectangle 55"/>
          <p:cNvSpPr>
            <a:spLocks noChangeArrowheads="1"/>
          </p:cNvSpPr>
          <p:nvPr/>
        </p:nvSpPr>
        <p:spPr bwMode="auto">
          <a:xfrm>
            <a:off x="533400" y="1524000"/>
            <a:ext cx="762000" cy="1447800"/>
          </a:xfrm>
          <a:prstGeom prst="rect">
            <a:avLst/>
          </a:prstGeom>
          <a:noFill/>
          <a:ln w="12700">
            <a:noFill/>
            <a:miter lim="800000"/>
            <a:headEnd/>
            <a:tailEnd/>
          </a:ln>
          <a:effectLst/>
        </p:spPr>
        <p:txBody>
          <a:bodyPr wrap="none" lIns="19050" tIns="26988" rIns="19050" bIns="26988"/>
          <a:lstStyle/>
          <a:p>
            <a:pPr defTabSz="904875">
              <a:lnSpc>
                <a:spcPts val="2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Instr[31]</a:t>
            </a:r>
          </a:p>
          <a:p>
            <a:pPr defTabSz="904875">
              <a:lnSpc>
                <a:spcPts val="2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Instr[30]</a:t>
            </a:r>
          </a:p>
          <a:p>
            <a:pPr defTabSz="904875">
              <a:lnSpc>
                <a:spcPts val="2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Instr[29]</a:t>
            </a:r>
          </a:p>
          <a:p>
            <a:pPr defTabSz="904875">
              <a:lnSpc>
                <a:spcPts val="2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Instr[28]</a:t>
            </a:r>
          </a:p>
          <a:p>
            <a:pPr defTabSz="904875">
              <a:lnSpc>
                <a:spcPts val="2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Instr[27]</a:t>
            </a:r>
          </a:p>
          <a:p>
            <a:pPr defTabSz="904875">
              <a:lnSpc>
                <a:spcPts val="200"/>
              </a:lnSpc>
              <a:spcBef>
                <a:spcPts val="600"/>
              </a:spcBef>
              <a:spcAft>
                <a:spcPts val="600"/>
              </a:spcAft>
              <a:tabLst>
                <a:tab pos="452438" algn="l"/>
                <a:tab pos="904875" algn="l"/>
                <a:tab pos="1357313" algn="l"/>
              </a:tabLst>
            </a:pPr>
            <a:r>
              <a:rPr lang="en-US" altLang="zh-CN" sz="1200">
                <a:solidFill>
                  <a:schemeClr val="tx1"/>
                </a:solidFill>
                <a:ea typeface="宋体" pitchFamily="2" charset="-122"/>
              </a:rPr>
              <a:t>Instr[26]</a:t>
            </a:r>
          </a:p>
        </p:txBody>
      </p:sp>
      <p:sp>
        <p:nvSpPr>
          <p:cNvPr id="743480" name="Rectangle 56"/>
          <p:cNvSpPr>
            <a:spLocks noChangeArrowheads="1"/>
          </p:cNvSpPr>
          <p:nvPr/>
        </p:nvSpPr>
        <p:spPr bwMode="auto">
          <a:xfrm>
            <a:off x="1371600" y="34290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600">
                <a:solidFill>
                  <a:schemeClr val="tx1"/>
                </a:solidFill>
                <a:ea typeface="宋体" pitchFamily="2" charset="-122"/>
              </a:rPr>
              <a:t>R-type</a:t>
            </a:r>
          </a:p>
        </p:txBody>
      </p:sp>
      <p:sp>
        <p:nvSpPr>
          <p:cNvPr id="743481" name="Rectangle 57"/>
          <p:cNvSpPr>
            <a:spLocks noChangeArrowheads="1"/>
          </p:cNvSpPr>
          <p:nvPr/>
        </p:nvSpPr>
        <p:spPr bwMode="auto">
          <a:xfrm>
            <a:off x="2819400" y="34290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600" b="1">
                <a:solidFill>
                  <a:schemeClr val="tx1"/>
                </a:solidFill>
                <a:latin typeface="Courier New" pitchFamily="49" charset="0"/>
                <a:ea typeface="宋体" pitchFamily="2" charset="-122"/>
              </a:rPr>
              <a:t>lw</a:t>
            </a:r>
          </a:p>
        </p:txBody>
      </p:sp>
      <p:sp>
        <p:nvSpPr>
          <p:cNvPr id="743482" name="Rectangle 58"/>
          <p:cNvSpPr>
            <a:spLocks noChangeArrowheads="1"/>
          </p:cNvSpPr>
          <p:nvPr/>
        </p:nvSpPr>
        <p:spPr bwMode="auto">
          <a:xfrm>
            <a:off x="4038600" y="34290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600" b="1">
                <a:solidFill>
                  <a:schemeClr val="tx1"/>
                </a:solidFill>
                <a:latin typeface="Courier New" pitchFamily="49" charset="0"/>
                <a:ea typeface="宋体" pitchFamily="2" charset="-122"/>
              </a:rPr>
              <a:t>sw</a:t>
            </a:r>
          </a:p>
        </p:txBody>
      </p:sp>
      <p:sp>
        <p:nvSpPr>
          <p:cNvPr id="743483" name="Rectangle 59"/>
          <p:cNvSpPr>
            <a:spLocks noChangeArrowheads="1"/>
          </p:cNvSpPr>
          <p:nvPr/>
        </p:nvSpPr>
        <p:spPr bwMode="auto">
          <a:xfrm>
            <a:off x="5181600" y="3429000"/>
            <a:ext cx="8382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600" b="1">
                <a:solidFill>
                  <a:schemeClr val="tx1"/>
                </a:solidFill>
                <a:latin typeface="Courier New" pitchFamily="49" charset="0"/>
                <a:ea typeface="宋体" pitchFamily="2" charset="-122"/>
              </a:rPr>
              <a:t>beq</a:t>
            </a:r>
          </a:p>
        </p:txBody>
      </p:sp>
      <p:sp>
        <p:nvSpPr>
          <p:cNvPr id="743484" name="Line 60"/>
          <p:cNvSpPr>
            <a:spLocks noChangeShapeType="1"/>
          </p:cNvSpPr>
          <p:nvPr/>
        </p:nvSpPr>
        <p:spPr bwMode="auto">
          <a:xfrm>
            <a:off x="2133600" y="3505200"/>
            <a:ext cx="0" cy="2438400"/>
          </a:xfrm>
          <a:prstGeom prst="line">
            <a:avLst/>
          </a:prstGeom>
          <a:noFill/>
          <a:ln w="12700">
            <a:solidFill>
              <a:schemeClr val="tx1"/>
            </a:solidFill>
            <a:round/>
            <a:headEnd/>
            <a:tailEnd/>
          </a:ln>
          <a:effectLst/>
        </p:spPr>
        <p:txBody>
          <a:bodyPr/>
          <a:lstStyle/>
          <a:p>
            <a:endParaRPr lang="en-US"/>
          </a:p>
        </p:txBody>
      </p:sp>
      <p:sp>
        <p:nvSpPr>
          <p:cNvPr id="743485" name="Line 61"/>
          <p:cNvSpPr>
            <a:spLocks noChangeShapeType="1"/>
          </p:cNvSpPr>
          <p:nvPr/>
        </p:nvSpPr>
        <p:spPr bwMode="auto">
          <a:xfrm>
            <a:off x="3276600" y="3505200"/>
            <a:ext cx="0" cy="1524000"/>
          </a:xfrm>
          <a:prstGeom prst="line">
            <a:avLst/>
          </a:prstGeom>
          <a:noFill/>
          <a:ln w="12700">
            <a:solidFill>
              <a:schemeClr val="tx1"/>
            </a:solidFill>
            <a:round/>
            <a:headEnd/>
            <a:tailEnd/>
          </a:ln>
          <a:effectLst/>
        </p:spPr>
        <p:txBody>
          <a:bodyPr/>
          <a:lstStyle/>
          <a:p>
            <a:endParaRPr lang="en-US"/>
          </a:p>
        </p:txBody>
      </p:sp>
      <p:sp>
        <p:nvSpPr>
          <p:cNvPr id="743486" name="Line 62"/>
          <p:cNvSpPr>
            <a:spLocks noChangeShapeType="1"/>
          </p:cNvSpPr>
          <p:nvPr/>
        </p:nvSpPr>
        <p:spPr bwMode="auto">
          <a:xfrm>
            <a:off x="4419600" y="3505200"/>
            <a:ext cx="0" cy="1828800"/>
          </a:xfrm>
          <a:prstGeom prst="line">
            <a:avLst/>
          </a:prstGeom>
          <a:noFill/>
          <a:ln w="12700">
            <a:solidFill>
              <a:schemeClr val="tx1"/>
            </a:solidFill>
            <a:round/>
            <a:headEnd/>
            <a:tailEnd/>
          </a:ln>
          <a:effectLst/>
        </p:spPr>
        <p:txBody>
          <a:bodyPr/>
          <a:lstStyle/>
          <a:p>
            <a:endParaRPr lang="en-US"/>
          </a:p>
        </p:txBody>
      </p:sp>
      <p:sp>
        <p:nvSpPr>
          <p:cNvPr id="743487" name="Line 63"/>
          <p:cNvSpPr>
            <a:spLocks noChangeShapeType="1"/>
          </p:cNvSpPr>
          <p:nvPr/>
        </p:nvSpPr>
        <p:spPr bwMode="auto">
          <a:xfrm>
            <a:off x="5638800" y="3505200"/>
            <a:ext cx="0" cy="2743200"/>
          </a:xfrm>
          <a:prstGeom prst="line">
            <a:avLst/>
          </a:prstGeom>
          <a:noFill/>
          <a:ln w="12700">
            <a:solidFill>
              <a:schemeClr val="tx1"/>
            </a:solidFill>
            <a:round/>
            <a:headEnd/>
            <a:tailEnd/>
          </a:ln>
          <a:effectLst/>
        </p:spPr>
        <p:txBody>
          <a:bodyPr/>
          <a:lstStyle/>
          <a:p>
            <a:endParaRPr lang="en-US"/>
          </a:p>
        </p:txBody>
      </p:sp>
      <p:sp>
        <p:nvSpPr>
          <p:cNvPr id="743488" name="Line 64"/>
          <p:cNvSpPr>
            <a:spLocks noChangeShapeType="1"/>
          </p:cNvSpPr>
          <p:nvPr/>
        </p:nvSpPr>
        <p:spPr bwMode="auto">
          <a:xfrm>
            <a:off x="2133600" y="3810000"/>
            <a:ext cx="5562600" cy="0"/>
          </a:xfrm>
          <a:prstGeom prst="line">
            <a:avLst/>
          </a:prstGeom>
          <a:noFill/>
          <a:ln w="12700">
            <a:solidFill>
              <a:schemeClr val="tx1"/>
            </a:solidFill>
            <a:round/>
            <a:headEnd/>
            <a:tailEnd/>
          </a:ln>
          <a:effectLst/>
        </p:spPr>
        <p:txBody>
          <a:bodyPr/>
          <a:lstStyle/>
          <a:p>
            <a:endParaRPr lang="en-US"/>
          </a:p>
        </p:txBody>
      </p:sp>
      <p:sp>
        <p:nvSpPr>
          <p:cNvPr id="743489" name="Rectangle 65"/>
          <p:cNvSpPr>
            <a:spLocks noChangeArrowheads="1"/>
          </p:cNvSpPr>
          <p:nvPr/>
        </p:nvSpPr>
        <p:spPr bwMode="auto">
          <a:xfrm>
            <a:off x="7848600" y="3581400"/>
            <a:ext cx="685800" cy="327025"/>
          </a:xfrm>
          <a:prstGeom prst="rect">
            <a:avLst/>
          </a:prstGeom>
          <a:noFill/>
          <a:ln w="12700">
            <a:noFill/>
            <a:miter lim="800000"/>
            <a:headEnd/>
            <a:tailEnd/>
          </a:ln>
          <a:effectLst/>
        </p:spPr>
        <p:txBody>
          <a:bodyPr wrap="none" lIns="19050" tIns="26988" rIns="19050" bIns="26988"/>
          <a:lstStyle/>
          <a:p>
            <a:pPr defTabSz="904875">
              <a:lnSpc>
                <a:spcPts val="1800"/>
              </a:lnSpc>
              <a:spcBef>
                <a:spcPts val="600"/>
              </a:spcBef>
              <a:spcAft>
                <a:spcPts val="600"/>
              </a:spcAft>
              <a:tabLst>
                <a:tab pos="452438" algn="l"/>
                <a:tab pos="904875" algn="l"/>
                <a:tab pos="1357313" algn="l"/>
              </a:tabLst>
            </a:pPr>
            <a:r>
              <a:rPr lang="en-US" altLang="zh-CN" sz="1400">
                <a:ea typeface="宋体" pitchFamily="2" charset="-122"/>
              </a:rPr>
              <a:t>RegDst</a:t>
            </a:r>
          </a:p>
        </p:txBody>
      </p:sp>
      <p:sp>
        <p:nvSpPr>
          <p:cNvPr id="743490" name="Rectangle 66"/>
          <p:cNvSpPr>
            <a:spLocks noChangeArrowheads="1"/>
          </p:cNvSpPr>
          <p:nvPr/>
        </p:nvSpPr>
        <p:spPr bwMode="auto">
          <a:xfrm>
            <a:off x="7848600" y="3962400"/>
            <a:ext cx="6858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ALUSrc</a:t>
            </a:r>
          </a:p>
        </p:txBody>
      </p:sp>
      <p:sp>
        <p:nvSpPr>
          <p:cNvPr id="743491" name="Rectangle 67"/>
          <p:cNvSpPr>
            <a:spLocks noChangeArrowheads="1"/>
          </p:cNvSpPr>
          <p:nvPr/>
        </p:nvSpPr>
        <p:spPr bwMode="auto">
          <a:xfrm>
            <a:off x="7848600" y="42672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MemtoReg</a:t>
            </a:r>
          </a:p>
        </p:txBody>
      </p:sp>
      <p:sp>
        <p:nvSpPr>
          <p:cNvPr id="743492" name="Rectangle 68"/>
          <p:cNvSpPr>
            <a:spLocks noChangeArrowheads="1"/>
          </p:cNvSpPr>
          <p:nvPr/>
        </p:nvSpPr>
        <p:spPr bwMode="auto">
          <a:xfrm>
            <a:off x="7848600" y="45720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RegWrite</a:t>
            </a:r>
          </a:p>
        </p:txBody>
      </p:sp>
      <p:sp>
        <p:nvSpPr>
          <p:cNvPr id="743493" name="Rectangle 69"/>
          <p:cNvSpPr>
            <a:spLocks noChangeArrowheads="1"/>
          </p:cNvSpPr>
          <p:nvPr/>
        </p:nvSpPr>
        <p:spPr bwMode="auto">
          <a:xfrm>
            <a:off x="7848600" y="48768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MemRead</a:t>
            </a:r>
          </a:p>
        </p:txBody>
      </p:sp>
      <p:sp>
        <p:nvSpPr>
          <p:cNvPr id="743494" name="Rectangle 70"/>
          <p:cNvSpPr>
            <a:spLocks noChangeArrowheads="1"/>
          </p:cNvSpPr>
          <p:nvPr/>
        </p:nvSpPr>
        <p:spPr bwMode="auto">
          <a:xfrm>
            <a:off x="7848600" y="5181600"/>
            <a:ext cx="925513"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MemWrite</a:t>
            </a:r>
          </a:p>
        </p:txBody>
      </p:sp>
      <p:sp>
        <p:nvSpPr>
          <p:cNvPr id="743495" name="Rectangle 71"/>
          <p:cNvSpPr>
            <a:spLocks noChangeArrowheads="1"/>
          </p:cNvSpPr>
          <p:nvPr/>
        </p:nvSpPr>
        <p:spPr bwMode="auto">
          <a:xfrm>
            <a:off x="7848600" y="5486400"/>
            <a:ext cx="6858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Branch</a:t>
            </a:r>
          </a:p>
        </p:txBody>
      </p:sp>
      <p:sp>
        <p:nvSpPr>
          <p:cNvPr id="743496" name="Rectangle 72"/>
          <p:cNvSpPr>
            <a:spLocks noChangeArrowheads="1"/>
          </p:cNvSpPr>
          <p:nvPr/>
        </p:nvSpPr>
        <p:spPr bwMode="auto">
          <a:xfrm>
            <a:off x="7848600" y="5791200"/>
            <a:ext cx="6858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ALUOp</a:t>
            </a:r>
            <a:r>
              <a:rPr lang="en-US" altLang="zh-CN" sz="1400" baseline="-25000">
                <a:ea typeface="宋体" pitchFamily="2" charset="-122"/>
              </a:rPr>
              <a:t>1</a:t>
            </a:r>
          </a:p>
        </p:txBody>
      </p:sp>
      <p:sp>
        <p:nvSpPr>
          <p:cNvPr id="743497" name="Rectangle 73"/>
          <p:cNvSpPr>
            <a:spLocks noChangeArrowheads="1"/>
          </p:cNvSpPr>
          <p:nvPr/>
        </p:nvSpPr>
        <p:spPr bwMode="auto">
          <a:xfrm>
            <a:off x="7848600" y="6096000"/>
            <a:ext cx="685800" cy="327025"/>
          </a:xfrm>
          <a:prstGeom prst="rect">
            <a:avLst/>
          </a:prstGeom>
          <a:noFill/>
          <a:ln w="12700">
            <a:noFill/>
            <a:miter lim="800000"/>
            <a:headEnd/>
            <a:tailEnd/>
          </a:ln>
          <a:effectLst/>
        </p:spPr>
        <p:txBody>
          <a:bodyPr wrap="none" lIns="19050" tIns="26988" rIns="19050" bIns="26988"/>
          <a:lstStyle/>
          <a:p>
            <a:pPr>
              <a:spcBef>
                <a:spcPts val="600"/>
              </a:spcBef>
              <a:spcAft>
                <a:spcPts val="600"/>
              </a:spcAft>
            </a:pPr>
            <a:r>
              <a:rPr lang="en-US" altLang="zh-CN" sz="1400">
                <a:ea typeface="宋体" pitchFamily="2" charset="-122"/>
              </a:rPr>
              <a:t>ALUOp</a:t>
            </a:r>
            <a:r>
              <a:rPr lang="en-US" altLang="zh-CN" sz="1400" baseline="-25000">
                <a:ea typeface="宋体" pitchFamily="2" charset="-122"/>
              </a:rPr>
              <a:t>0</a:t>
            </a:r>
          </a:p>
        </p:txBody>
      </p:sp>
      <p:sp>
        <p:nvSpPr>
          <p:cNvPr id="743498" name="Line 74"/>
          <p:cNvSpPr>
            <a:spLocks noChangeShapeType="1"/>
          </p:cNvSpPr>
          <p:nvPr/>
        </p:nvSpPr>
        <p:spPr bwMode="auto">
          <a:xfrm>
            <a:off x="4419600" y="4191000"/>
            <a:ext cx="1905000" cy="0"/>
          </a:xfrm>
          <a:prstGeom prst="line">
            <a:avLst/>
          </a:prstGeom>
          <a:noFill/>
          <a:ln w="12700">
            <a:solidFill>
              <a:schemeClr val="tx1"/>
            </a:solidFill>
            <a:round/>
            <a:headEnd/>
            <a:tailEnd/>
          </a:ln>
          <a:effectLst/>
        </p:spPr>
        <p:txBody>
          <a:bodyPr/>
          <a:lstStyle/>
          <a:p>
            <a:endParaRPr lang="en-US"/>
          </a:p>
        </p:txBody>
      </p:sp>
      <p:sp>
        <p:nvSpPr>
          <p:cNvPr id="743499" name="Line 75"/>
          <p:cNvSpPr>
            <a:spLocks noChangeShapeType="1"/>
          </p:cNvSpPr>
          <p:nvPr/>
        </p:nvSpPr>
        <p:spPr bwMode="auto">
          <a:xfrm>
            <a:off x="3276600" y="4038600"/>
            <a:ext cx="3048000" cy="0"/>
          </a:xfrm>
          <a:prstGeom prst="line">
            <a:avLst/>
          </a:prstGeom>
          <a:noFill/>
          <a:ln w="12700">
            <a:solidFill>
              <a:schemeClr val="tx1"/>
            </a:solidFill>
            <a:round/>
            <a:headEnd/>
            <a:tailEnd/>
          </a:ln>
          <a:effectLst/>
        </p:spPr>
        <p:txBody>
          <a:bodyPr/>
          <a:lstStyle/>
          <a:p>
            <a:endParaRPr lang="en-US"/>
          </a:p>
        </p:txBody>
      </p:sp>
      <p:sp>
        <p:nvSpPr>
          <p:cNvPr id="743500" name="Line 76"/>
          <p:cNvSpPr>
            <a:spLocks noChangeShapeType="1"/>
          </p:cNvSpPr>
          <p:nvPr/>
        </p:nvSpPr>
        <p:spPr bwMode="auto">
          <a:xfrm>
            <a:off x="6781800" y="4114800"/>
            <a:ext cx="914400" cy="0"/>
          </a:xfrm>
          <a:prstGeom prst="line">
            <a:avLst/>
          </a:prstGeom>
          <a:noFill/>
          <a:ln w="12700">
            <a:solidFill>
              <a:schemeClr val="tx1"/>
            </a:solidFill>
            <a:round/>
            <a:headEnd/>
            <a:tailEnd/>
          </a:ln>
          <a:effectLst/>
        </p:spPr>
        <p:txBody>
          <a:bodyPr/>
          <a:lstStyle/>
          <a:p>
            <a:endParaRPr lang="en-US"/>
          </a:p>
        </p:txBody>
      </p:sp>
      <p:sp>
        <p:nvSpPr>
          <p:cNvPr id="743501" name="Line 77"/>
          <p:cNvSpPr>
            <a:spLocks noChangeShapeType="1"/>
          </p:cNvSpPr>
          <p:nvPr/>
        </p:nvSpPr>
        <p:spPr bwMode="auto">
          <a:xfrm flipV="1">
            <a:off x="3276600" y="4419600"/>
            <a:ext cx="4419600" cy="0"/>
          </a:xfrm>
          <a:prstGeom prst="line">
            <a:avLst/>
          </a:prstGeom>
          <a:noFill/>
          <a:ln w="12700">
            <a:solidFill>
              <a:schemeClr val="tx1"/>
            </a:solidFill>
            <a:round/>
            <a:headEnd/>
            <a:tailEnd/>
          </a:ln>
          <a:effectLst/>
        </p:spPr>
        <p:txBody>
          <a:bodyPr/>
          <a:lstStyle/>
          <a:p>
            <a:endParaRPr lang="en-US"/>
          </a:p>
        </p:txBody>
      </p:sp>
      <p:sp>
        <p:nvSpPr>
          <p:cNvPr id="743502" name="Line 78"/>
          <p:cNvSpPr>
            <a:spLocks noChangeShapeType="1"/>
          </p:cNvSpPr>
          <p:nvPr/>
        </p:nvSpPr>
        <p:spPr bwMode="auto">
          <a:xfrm>
            <a:off x="2133600" y="4648200"/>
            <a:ext cx="4191000" cy="0"/>
          </a:xfrm>
          <a:prstGeom prst="line">
            <a:avLst/>
          </a:prstGeom>
          <a:noFill/>
          <a:ln w="12700">
            <a:solidFill>
              <a:schemeClr val="tx1"/>
            </a:solidFill>
            <a:round/>
            <a:headEnd/>
            <a:tailEnd/>
          </a:ln>
          <a:effectLst/>
        </p:spPr>
        <p:txBody>
          <a:bodyPr/>
          <a:lstStyle/>
          <a:p>
            <a:endParaRPr lang="en-US"/>
          </a:p>
        </p:txBody>
      </p:sp>
      <p:sp>
        <p:nvSpPr>
          <p:cNvPr id="743503" name="Line 79"/>
          <p:cNvSpPr>
            <a:spLocks noChangeShapeType="1"/>
          </p:cNvSpPr>
          <p:nvPr/>
        </p:nvSpPr>
        <p:spPr bwMode="auto">
          <a:xfrm>
            <a:off x="3276600" y="4800600"/>
            <a:ext cx="3048000" cy="0"/>
          </a:xfrm>
          <a:prstGeom prst="line">
            <a:avLst/>
          </a:prstGeom>
          <a:noFill/>
          <a:ln w="12700">
            <a:solidFill>
              <a:schemeClr val="tx1"/>
            </a:solidFill>
            <a:round/>
            <a:headEnd/>
            <a:tailEnd/>
          </a:ln>
          <a:effectLst/>
        </p:spPr>
        <p:txBody>
          <a:bodyPr/>
          <a:lstStyle/>
          <a:p>
            <a:endParaRPr lang="en-US"/>
          </a:p>
        </p:txBody>
      </p:sp>
      <p:sp>
        <p:nvSpPr>
          <p:cNvPr id="743504" name="AutoShape 80"/>
          <p:cNvSpPr>
            <a:spLocks noChangeArrowheads="1"/>
          </p:cNvSpPr>
          <p:nvPr/>
        </p:nvSpPr>
        <p:spPr bwMode="auto">
          <a:xfrm flipH="1">
            <a:off x="6248400" y="4495800"/>
            <a:ext cx="533400" cy="457200"/>
          </a:xfrm>
          <a:prstGeom prst="moon">
            <a:avLst>
              <a:gd name="adj" fmla="val 82736"/>
            </a:avLst>
          </a:prstGeom>
          <a:noFill/>
          <a:ln w="12700">
            <a:solidFill>
              <a:schemeClr val="tx1"/>
            </a:solidFill>
            <a:miter lim="800000"/>
            <a:headEnd/>
            <a:tailEnd/>
          </a:ln>
          <a:effectLst/>
        </p:spPr>
        <p:txBody>
          <a:bodyPr wrap="none" anchor="ctr"/>
          <a:lstStyle/>
          <a:p>
            <a:endParaRPr lang="en-US"/>
          </a:p>
        </p:txBody>
      </p:sp>
      <p:sp>
        <p:nvSpPr>
          <p:cNvPr id="743505" name="Line 81"/>
          <p:cNvSpPr>
            <a:spLocks noChangeShapeType="1"/>
          </p:cNvSpPr>
          <p:nvPr/>
        </p:nvSpPr>
        <p:spPr bwMode="auto">
          <a:xfrm>
            <a:off x="6781800" y="4724400"/>
            <a:ext cx="914400" cy="0"/>
          </a:xfrm>
          <a:prstGeom prst="line">
            <a:avLst/>
          </a:prstGeom>
          <a:noFill/>
          <a:ln w="12700">
            <a:solidFill>
              <a:schemeClr val="tx1"/>
            </a:solidFill>
            <a:round/>
            <a:headEnd/>
            <a:tailEnd/>
          </a:ln>
          <a:effectLst/>
        </p:spPr>
        <p:txBody>
          <a:bodyPr/>
          <a:lstStyle/>
          <a:p>
            <a:endParaRPr lang="en-US"/>
          </a:p>
        </p:txBody>
      </p:sp>
      <p:sp>
        <p:nvSpPr>
          <p:cNvPr id="743506" name="Line 82"/>
          <p:cNvSpPr>
            <a:spLocks noChangeShapeType="1"/>
          </p:cNvSpPr>
          <p:nvPr/>
        </p:nvSpPr>
        <p:spPr bwMode="auto">
          <a:xfrm>
            <a:off x="3276600" y="5029200"/>
            <a:ext cx="4419600" cy="0"/>
          </a:xfrm>
          <a:prstGeom prst="line">
            <a:avLst/>
          </a:prstGeom>
          <a:noFill/>
          <a:ln w="12700">
            <a:solidFill>
              <a:schemeClr val="tx1"/>
            </a:solidFill>
            <a:round/>
            <a:headEnd/>
            <a:tailEnd/>
          </a:ln>
          <a:effectLst/>
        </p:spPr>
        <p:txBody>
          <a:bodyPr/>
          <a:lstStyle/>
          <a:p>
            <a:endParaRPr lang="en-US"/>
          </a:p>
        </p:txBody>
      </p:sp>
      <p:sp>
        <p:nvSpPr>
          <p:cNvPr id="743507" name="Line 83"/>
          <p:cNvSpPr>
            <a:spLocks noChangeShapeType="1"/>
          </p:cNvSpPr>
          <p:nvPr/>
        </p:nvSpPr>
        <p:spPr bwMode="auto">
          <a:xfrm>
            <a:off x="4419600" y="5334000"/>
            <a:ext cx="3276600" cy="0"/>
          </a:xfrm>
          <a:prstGeom prst="line">
            <a:avLst/>
          </a:prstGeom>
          <a:noFill/>
          <a:ln w="12700">
            <a:solidFill>
              <a:schemeClr val="tx1"/>
            </a:solidFill>
            <a:round/>
            <a:headEnd/>
            <a:tailEnd/>
          </a:ln>
          <a:effectLst/>
        </p:spPr>
        <p:txBody>
          <a:bodyPr/>
          <a:lstStyle/>
          <a:p>
            <a:endParaRPr lang="en-US"/>
          </a:p>
        </p:txBody>
      </p:sp>
      <p:sp>
        <p:nvSpPr>
          <p:cNvPr id="743508" name="Line 84"/>
          <p:cNvSpPr>
            <a:spLocks noChangeShapeType="1"/>
          </p:cNvSpPr>
          <p:nvPr/>
        </p:nvSpPr>
        <p:spPr bwMode="auto">
          <a:xfrm>
            <a:off x="5638800" y="5638800"/>
            <a:ext cx="2057400" cy="0"/>
          </a:xfrm>
          <a:prstGeom prst="line">
            <a:avLst/>
          </a:prstGeom>
          <a:noFill/>
          <a:ln w="12700">
            <a:solidFill>
              <a:schemeClr val="tx1"/>
            </a:solidFill>
            <a:round/>
            <a:headEnd/>
            <a:tailEnd/>
          </a:ln>
          <a:effectLst/>
        </p:spPr>
        <p:txBody>
          <a:bodyPr/>
          <a:lstStyle/>
          <a:p>
            <a:endParaRPr lang="en-US"/>
          </a:p>
        </p:txBody>
      </p:sp>
      <p:sp>
        <p:nvSpPr>
          <p:cNvPr id="743509" name="Line 85"/>
          <p:cNvSpPr>
            <a:spLocks noChangeShapeType="1"/>
          </p:cNvSpPr>
          <p:nvPr/>
        </p:nvSpPr>
        <p:spPr bwMode="auto">
          <a:xfrm>
            <a:off x="2133600" y="5943600"/>
            <a:ext cx="5562600" cy="0"/>
          </a:xfrm>
          <a:prstGeom prst="line">
            <a:avLst/>
          </a:prstGeom>
          <a:noFill/>
          <a:ln w="12700">
            <a:solidFill>
              <a:schemeClr val="tx1"/>
            </a:solidFill>
            <a:round/>
            <a:headEnd/>
            <a:tailEnd/>
          </a:ln>
          <a:effectLst/>
        </p:spPr>
        <p:txBody>
          <a:bodyPr/>
          <a:lstStyle/>
          <a:p>
            <a:endParaRPr lang="en-US"/>
          </a:p>
        </p:txBody>
      </p:sp>
      <p:sp>
        <p:nvSpPr>
          <p:cNvPr id="743510" name="Line 86"/>
          <p:cNvSpPr>
            <a:spLocks noChangeShapeType="1"/>
          </p:cNvSpPr>
          <p:nvPr/>
        </p:nvSpPr>
        <p:spPr bwMode="auto">
          <a:xfrm>
            <a:off x="5638800" y="6248400"/>
            <a:ext cx="2057400" cy="0"/>
          </a:xfrm>
          <a:prstGeom prst="line">
            <a:avLst/>
          </a:prstGeom>
          <a:noFill/>
          <a:ln w="12700">
            <a:solidFill>
              <a:schemeClr val="tx1"/>
            </a:solidFill>
            <a:round/>
            <a:headEnd/>
            <a:tailEnd/>
          </a:ln>
          <a:effectLst/>
        </p:spPr>
        <p:txBody>
          <a:bodyPr/>
          <a:lstStyle/>
          <a:p>
            <a:endParaRPr lang="en-US"/>
          </a:p>
        </p:txBody>
      </p:sp>
    </p:spTree>
    <p:extLst>
      <p:ext uri="{BB962C8B-B14F-4D97-AF65-F5344CB8AC3E}">
        <p14:creationId xmlns:p14="http://schemas.microsoft.com/office/powerpoint/2010/main" val="69130473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p:txBody>
          <a:bodyPr/>
          <a:lstStyle/>
          <a:p>
            <a:r>
              <a:rPr lang="en-US" altLang="zh-CN" dirty="0">
                <a:ea typeface="宋体" pitchFamily="2" charset="-122"/>
              </a:rPr>
              <a:t>Handling Jump Operations</a:t>
            </a:r>
          </a:p>
        </p:txBody>
      </p:sp>
      <p:sp>
        <p:nvSpPr>
          <p:cNvPr id="745475" name="Rectangle 3"/>
          <p:cNvSpPr>
            <a:spLocks noGrp="1" noChangeArrowheads="1"/>
          </p:cNvSpPr>
          <p:nvPr>
            <p:ph type="body" idx="1"/>
          </p:nvPr>
        </p:nvSpPr>
        <p:spPr>
          <a:xfrm>
            <a:off x="685800" y="914400"/>
            <a:ext cx="7848600" cy="1038225"/>
          </a:xfrm>
        </p:spPr>
        <p:txBody>
          <a:bodyPr/>
          <a:lstStyle/>
          <a:p>
            <a:r>
              <a:rPr lang="en-US" altLang="zh-CN">
                <a:ea typeface="宋体" pitchFamily="2" charset="-122"/>
              </a:rPr>
              <a:t>Jump operation have to</a:t>
            </a:r>
          </a:p>
          <a:p>
            <a:pPr lvl="1"/>
            <a:r>
              <a:rPr lang="en-US" altLang="zh-CN">
                <a:ea typeface="宋体" pitchFamily="2" charset="-122"/>
              </a:rPr>
              <a:t>replace the lower 28 bits of the PC with the lower 26 bits of the fetched instruction shifted left by 2 bits</a:t>
            </a:r>
          </a:p>
        </p:txBody>
      </p:sp>
      <p:grpSp>
        <p:nvGrpSpPr>
          <p:cNvPr id="2" name="Group 4"/>
          <p:cNvGrpSpPr>
            <a:grpSpLocks/>
          </p:cNvGrpSpPr>
          <p:nvPr/>
        </p:nvGrpSpPr>
        <p:grpSpPr bwMode="auto">
          <a:xfrm>
            <a:off x="4114800" y="3581400"/>
            <a:ext cx="381000" cy="990600"/>
            <a:chOff x="1392" y="2880"/>
            <a:chExt cx="288" cy="480"/>
          </a:xfrm>
        </p:grpSpPr>
        <p:sp>
          <p:nvSpPr>
            <p:cNvPr id="745477" name="Line 5"/>
            <p:cNvSpPr>
              <a:spLocks noChangeShapeType="1"/>
            </p:cNvSpPr>
            <p:nvPr/>
          </p:nvSpPr>
          <p:spPr bwMode="auto">
            <a:xfrm>
              <a:off x="1392" y="3072"/>
              <a:ext cx="48" cy="48"/>
            </a:xfrm>
            <a:prstGeom prst="line">
              <a:avLst/>
            </a:prstGeom>
            <a:noFill/>
            <a:ln w="12700">
              <a:solidFill>
                <a:schemeClr val="bg2"/>
              </a:solidFill>
              <a:round/>
              <a:headEnd/>
              <a:tailEnd/>
            </a:ln>
            <a:effectLst/>
          </p:spPr>
          <p:txBody>
            <a:bodyPr/>
            <a:lstStyle/>
            <a:p>
              <a:endParaRPr lang="en-US"/>
            </a:p>
          </p:txBody>
        </p:sp>
        <p:sp>
          <p:nvSpPr>
            <p:cNvPr id="745478" name="Line 6"/>
            <p:cNvSpPr>
              <a:spLocks noChangeShapeType="1"/>
            </p:cNvSpPr>
            <p:nvPr/>
          </p:nvSpPr>
          <p:spPr bwMode="auto">
            <a:xfrm flipH="1">
              <a:off x="1392" y="3120"/>
              <a:ext cx="48" cy="48"/>
            </a:xfrm>
            <a:prstGeom prst="line">
              <a:avLst/>
            </a:prstGeom>
            <a:noFill/>
            <a:ln w="12700">
              <a:solidFill>
                <a:schemeClr val="bg2"/>
              </a:solidFill>
              <a:round/>
              <a:headEnd/>
              <a:tailEnd/>
            </a:ln>
            <a:effectLst/>
          </p:spPr>
          <p:txBody>
            <a:bodyPr/>
            <a:lstStyle/>
            <a:p>
              <a:endParaRPr lang="en-US"/>
            </a:p>
          </p:txBody>
        </p:sp>
        <p:sp>
          <p:nvSpPr>
            <p:cNvPr id="745479" name="Line 7"/>
            <p:cNvSpPr>
              <a:spLocks noChangeShapeType="1"/>
            </p:cNvSpPr>
            <p:nvPr/>
          </p:nvSpPr>
          <p:spPr bwMode="auto">
            <a:xfrm flipV="1">
              <a:off x="1392" y="2880"/>
              <a:ext cx="0" cy="192"/>
            </a:xfrm>
            <a:prstGeom prst="line">
              <a:avLst/>
            </a:prstGeom>
            <a:noFill/>
            <a:ln w="12700">
              <a:solidFill>
                <a:schemeClr val="bg2"/>
              </a:solidFill>
              <a:round/>
              <a:headEnd/>
              <a:tailEnd/>
            </a:ln>
            <a:effectLst/>
          </p:spPr>
          <p:txBody>
            <a:bodyPr/>
            <a:lstStyle/>
            <a:p>
              <a:endParaRPr lang="en-US"/>
            </a:p>
          </p:txBody>
        </p:sp>
        <p:sp>
          <p:nvSpPr>
            <p:cNvPr id="745480" name="Line 8"/>
            <p:cNvSpPr>
              <a:spLocks noChangeShapeType="1"/>
            </p:cNvSpPr>
            <p:nvPr/>
          </p:nvSpPr>
          <p:spPr bwMode="auto">
            <a:xfrm flipV="1">
              <a:off x="1392" y="3168"/>
              <a:ext cx="0" cy="192"/>
            </a:xfrm>
            <a:prstGeom prst="line">
              <a:avLst/>
            </a:prstGeom>
            <a:noFill/>
            <a:ln w="12700">
              <a:solidFill>
                <a:schemeClr val="bg2"/>
              </a:solidFill>
              <a:round/>
              <a:headEnd/>
              <a:tailEnd/>
            </a:ln>
            <a:effectLst/>
          </p:spPr>
          <p:txBody>
            <a:bodyPr/>
            <a:lstStyle/>
            <a:p>
              <a:endParaRPr lang="en-US"/>
            </a:p>
          </p:txBody>
        </p:sp>
        <p:sp>
          <p:nvSpPr>
            <p:cNvPr id="745481" name="Line 9"/>
            <p:cNvSpPr>
              <a:spLocks noChangeShapeType="1"/>
            </p:cNvSpPr>
            <p:nvPr/>
          </p:nvSpPr>
          <p:spPr bwMode="auto">
            <a:xfrm flipV="1">
              <a:off x="1392" y="3216"/>
              <a:ext cx="288" cy="144"/>
            </a:xfrm>
            <a:prstGeom prst="line">
              <a:avLst/>
            </a:prstGeom>
            <a:noFill/>
            <a:ln w="12700">
              <a:solidFill>
                <a:schemeClr val="bg2"/>
              </a:solidFill>
              <a:round/>
              <a:headEnd/>
              <a:tailEnd/>
            </a:ln>
            <a:effectLst/>
          </p:spPr>
          <p:txBody>
            <a:bodyPr/>
            <a:lstStyle/>
            <a:p>
              <a:endParaRPr lang="en-US"/>
            </a:p>
          </p:txBody>
        </p:sp>
        <p:sp>
          <p:nvSpPr>
            <p:cNvPr id="745482" name="Line 10"/>
            <p:cNvSpPr>
              <a:spLocks noChangeShapeType="1"/>
            </p:cNvSpPr>
            <p:nvPr/>
          </p:nvSpPr>
          <p:spPr bwMode="auto">
            <a:xfrm flipV="1">
              <a:off x="1680" y="3024"/>
              <a:ext cx="0" cy="192"/>
            </a:xfrm>
            <a:prstGeom prst="line">
              <a:avLst/>
            </a:prstGeom>
            <a:noFill/>
            <a:ln w="12700">
              <a:solidFill>
                <a:schemeClr val="bg2"/>
              </a:solidFill>
              <a:round/>
              <a:headEnd/>
              <a:tailEnd/>
            </a:ln>
            <a:effectLst/>
          </p:spPr>
          <p:txBody>
            <a:bodyPr/>
            <a:lstStyle/>
            <a:p>
              <a:endParaRPr lang="en-US"/>
            </a:p>
          </p:txBody>
        </p:sp>
        <p:sp>
          <p:nvSpPr>
            <p:cNvPr id="745483" name="Line 11"/>
            <p:cNvSpPr>
              <a:spLocks noChangeShapeType="1"/>
            </p:cNvSpPr>
            <p:nvPr/>
          </p:nvSpPr>
          <p:spPr bwMode="auto">
            <a:xfrm>
              <a:off x="1392" y="2880"/>
              <a:ext cx="288" cy="144"/>
            </a:xfrm>
            <a:prstGeom prst="line">
              <a:avLst/>
            </a:prstGeom>
            <a:noFill/>
            <a:ln w="12700">
              <a:solidFill>
                <a:schemeClr val="bg2"/>
              </a:solidFill>
              <a:round/>
              <a:headEnd/>
              <a:tailEnd/>
            </a:ln>
            <a:effectLst/>
          </p:spPr>
          <p:txBody>
            <a:bodyPr/>
            <a:lstStyle/>
            <a:p>
              <a:endParaRPr lang="en-US"/>
            </a:p>
          </p:txBody>
        </p:sp>
      </p:grpSp>
      <p:sp>
        <p:nvSpPr>
          <p:cNvPr id="745484" name="Rectangle 12"/>
          <p:cNvSpPr>
            <a:spLocks noChangeArrowheads="1"/>
          </p:cNvSpPr>
          <p:nvPr/>
        </p:nvSpPr>
        <p:spPr bwMode="auto">
          <a:xfrm>
            <a:off x="3429000" y="4724400"/>
            <a:ext cx="1447800" cy="1447800"/>
          </a:xfrm>
          <a:prstGeom prst="rect">
            <a:avLst/>
          </a:prstGeom>
          <a:noFill/>
          <a:ln w="12700">
            <a:solidFill>
              <a:schemeClr val="bg2"/>
            </a:solidFill>
            <a:miter lim="800000"/>
            <a:headEnd/>
            <a:tailEnd/>
          </a:ln>
          <a:effectLst/>
        </p:spPr>
        <p:txBody>
          <a:bodyPr wrap="none" anchor="ctr"/>
          <a:lstStyle/>
          <a:p>
            <a:endParaRPr lang="en-US"/>
          </a:p>
        </p:txBody>
      </p:sp>
      <p:sp>
        <p:nvSpPr>
          <p:cNvPr id="745485" name="Rectangle 13"/>
          <p:cNvSpPr>
            <a:spLocks noChangeArrowheads="1"/>
          </p:cNvSpPr>
          <p:nvPr/>
        </p:nvSpPr>
        <p:spPr bwMode="auto">
          <a:xfrm>
            <a:off x="2895600" y="5105400"/>
            <a:ext cx="228600" cy="838200"/>
          </a:xfrm>
          <a:prstGeom prst="rect">
            <a:avLst/>
          </a:prstGeom>
          <a:noFill/>
          <a:ln w="12700">
            <a:solidFill>
              <a:schemeClr val="tx1"/>
            </a:solidFill>
            <a:miter lim="800000"/>
            <a:headEnd/>
            <a:tailEnd/>
          </a:ln>
          <a:effectLst/>
        </p:spPr>
        <p:txBody>
          <a:bodyPr wrap="none" anchor="ctr"/>
          <a:lstStyle/>
          <a:p>
            <a:endParaRPr lang="en-US"/>
          </a:p>
        </p:txBody>
      </p:sp>
      <p:sp>
        <p:nvSpPr>
          <p:cNvPr id="745486" name="Line 14"/>
          <p:cNvSpPr>
            <a:spLocks noChangeShapeType="1"/>
          </p:cNvSpPr>
          <p:nvPr/>
        </p:nvSpPr>
        <p:spPr bwMode="auto">
          <a:xfrm>
            <a:off x="4876800" y="5486400"/>
            <a:ext cx="304800" cy="0"/>
          </a:xfrm>
          <a:prstGeom prst="line">
            <a:avLst/>
          </a:prstGeom>
          <a:noFill/>
          <a:ln w="28575">
            <a:solidFill>
              <a:schemeClr val="tx1"/>
            </a:solidFill>
            <a:round/>
            <a:headEnd/>
            <a:tailEnd/>
          </a:ln>
          <a:effectLst/>
        </p:spPr>
        <p:txBody>
          <a:bodyPr/>
          <a:lstStyle/>
          <a:p>
            <a:endParaRPr lang="en-US"/>
          </a:p>
        </p:txBody>
      </p:sp>
      <p:sp>
        <p:nvSpPr>
          <p:cNvPr id="745487" name="Line 15"/>
          <p:cNvSpPr>
            <a:spLocks noChangeShapeType="1"/>
          </p:cNvSpPr>
          <p:nvPr/>
        </p:nvSpPr>
        <p:spPr bwMode="auto">
          <a:xfrm>
            <a:off x="3124200" y="5486400"/>
            <a:ext cx="304800" cy="0"/>
          </a:xfrm>
          <a:prstGeom prst="line">
            <a:avLst/>
          </a:prstGeom>
          <a:noFill/>
          <a:ln w="28575">
            <a:solidFill>
              <a:schemeClr val="bg2"/>
            </a:solidFill>
            <a:round/>
            <a:headEnd/>
            <a:tailEnd type="triangle" w="med" len="med"/>
          </a:ln>
          <a:effectLst/>
        </p:spPr>
        <p:txBody>
          <a:bodyPr/>
          <a:lstStyle/>
          <a:p>
            <a:endParaRPr lang="en-US"/>
          </a:p>
        </p:txBody>
      </p:sp>
      <p:sp>
        <p:nvSpPr>
          <p:cNvPr id="745488" name="Line 16"/>
          <p:cNvSpPr>
            <a:spLocks noChangeShapeType="1"/>
          </p:cNvSpPr>
          <p:nvPr/>
        </p:nvSpPr>
        <p:spPr bwMode="auto">
          <a:xfrm>
            <a:off x="3200400" y="3733800"/>
            <a:ext cx="914400" cy="0"/>
          </a:xfrm>
          <a:prstGeom prst="line">
            <a:avLst/>
          </a:prstGeom>
          <a:noFill/>
          <a:ln w="28575">
            <a:solidFill>
              <a:schemeClr val="bg2"/>
            </a:solidFill>
            <a:round/>
            <a:headEnd/>
            <a:tailEnd type="triangle" w="med" len="med"/>
          </a:ln>
          <a:effectLst/>
        </p:spPr>
        <p:txBody>
          <a:bodyPr/>
          <a:lstStyle/>
          <a:p>
            <a:endParaRPr lang="en-US"/>
          </a:p>
        </p:txBody>
      </p:sp>
      <p:sp>
        <p:nvSpPr>
          <p:cNvPr id="745489" name="Line 17"/>
          <p:cNvSpPr>
            <a:spLocks noChangeShapeType="1"/>
          </p:cNvSpPr>
          <p:nvPr/>
        </p:nvSpPr>
        <p:spPr bwMode="auto">
          <a:xfrm>
            <a:off x="3733800" y="4419600"/>
            <a:ext cx="381000" cy="0"/>
          </a:xfrm>
          <a:prstGeom prst="line">
            <a:avLst/>
          </a:prstGeom>
          <a:noFill/>
          <a:ln w="28575">
            <a:solidFill>
              <a:schemeClr val="bg2"/>
            </a:solidFill>
            <a:round/>
            <a:headEnd/>
            <a:tailEnd type="triangle" w="med" len="med"/>
          </a:ln>
          <a:effectLst/>
        </p:spPr>
        <p:txBody>
          <a:bodyPr/>
          <a:lstStyle/>
          <a:p>
            <a:endParaRPr lang="en-US"/>
          </a:p>
        </p:txBody>
      </p:sp>
      <p:sp>
        <p:nvSpPr>
          <p:cNvPr id="745490" name="Line 18"/>
          <p:cNvSpPr>
            <a:spLocks noChangeShapeType="1"/>
          </p:cNvSpPr>
          <p:nvPr/>
        </p:nvSpPr>
        <p:spPr bwMode="auto">
          <a:xfrm>
            <a:off x="4800600" y="3429000"/>
            <a:ext cx="0" cy="609600"/>
          </a:xfrm>
          <a:prstGeom prst="line">
            <a:avLst/>
          </a:prstGeom>
          <a:noFill/>
          <a:ln w="28575">
            <a:solidFill>
              <a:schemeClr val="bg2"/>
            </a:solidFill>
            <a:round/>
            <a:headEnd/>
            <a:tailEnd/>
          </a:ln>
          <a:effectLst/>
        </p:spPr>
        <p:txBody>
          <a:bodyPr/>
          <a:lstStyle/>
          <a:p>
            <a:endParaRPr lang="en-US"/>
          </a:p>
        </p:txBody>
      </p:sp>
      <p:sp>
        <p:nvSpPr>
          <p:cNvPr id="745491" name="Line 19"/>
          <p:cNvSpPr>
            <a:spLocks noChangeShapeType="1"/>
          </p:cNvSpPr>
          <p:nvPr/>
        </p:nvSpPr>
        <p:spPr bwMode="auto">
          <a:xfrm>
            <a:off x="4495800" y="4038600"/>
            <a:ext cx="304800" cy="0"/>
          </a:xfrm>
          <a:prstGeom prst="line">
            <a:avLst/>
          </a:prstGeom>
          <a:noFill/>
          <a:ln w="28575">
            <a:solidFill>
              <a:schemeClr val="bg2"/>
            </a:solidFill>
            <a:round/>
            <a:headEnd/>
            <a:tailEnd/>
          </a:ln>
          <a:effectLst/>
        </p:spPr>
        <p:txBody>
          <a:bodyPr/>
          <a:lstStyle/>
          <a:p>
            <a:endParaRPr lang="en-US"/>
          </a:p>
        </p:txBody>
      </p:sp>
      <p:sp>
        <p:nvSpPr>
          <p:cNvPr id="745492" name="Text Box 20"/>
          <p:cNvSpPr txBox="1">
            <a:spLocks noChangeArrowheads="1"/>
          </p:cNvSpPr>
          <p:nvPr/>
        </p:nvSpPr>
        <p:spPr bwMode="auto">
          <a:xfrm>
            <a:off x="3352800" y="5257800"/>
            <a:ext cx="741363" cy="457200"/>
          </a:xfrm>
          <a:prstGeom prst="rect">
            <a:avLst/>
          </a:prstGeom>
          <a:noFill/>
          <a:ln w="12700">
            <a:noFill/>
            <a:miter lim="800000"/>
            <a:headEnd/>
            <a:tailEnd/>
          </a:ln>
          <a:effectLst/>
        </p:spPr>
        <p:txBody>
          <a:bodyPr wrap="none">
            <a:spAutoFit/>
          </a:bodyPr>
          <a:lstStyle/>
          <a:p>
            <a:r>
              <a:rPr lang="en-US" altLang="zh-CN" sz="1200">
                <a:solidFill>
                  <a:schemeClr val="bg2"/>
                </a:solidFill>
                <a:ea typeface="宋体" pitchFamily="2" charset="-122"/>
              </a:rPr>
              <a:t>Read</a:t>
            </a:r>
          </a:p>
          <a:p>
            <a:r>
              <a:rPr lang="en-US" altLang="zh-CN" sz="1200">
                <a:solidFill>
                  <a:schemeClr val="bg2"/>
                </a:solidFill>
                <a:ea typeface="宋体" pitchFamily="2" charset="-122"/>
              </a:rPr>
              <a:t>Address</a:t>
            </a:r>
          </a:p>
        </p:txBody>
      </p:sp>
      <p:sp>
        <p:nvSpPr>
          <p:cNvPr id="745493" name="Text Box 21"/>
          <p:cNvSpPr txBox="1">
            <a:spLocks noChangeArrowheads="1"/>
          </p:cNvSpPr>
          <p:nvPr/>
        </p:nvSpPr>
        <p:spPr bwMode="auto">
          <a:xfrm>
            <a:off x="4114800" y="5334000"/>
            <a:ext cx="885825" cy="274638"/>
          </a:xfrm>
          <a:prstGeom prst="rect">
            <a:avLst/>
          </a:prstGeom>
          <a:noFill/>
          <a:ln w="12700">
            <a:noFill/>
            <a:miter lim="800000"/>
            <a:headEnd/>
            <a:tailEnd/>
          </a:ln>
          <a:effectLst/>
        </p:spPr>
        <p:txBody>
          <a:bodyPr wrap="none">
            <a:spAutoFit/>
          </a:bodyPr>
          <a:lstStyle/>
          <a:p>
            <a:r>
              <a:rPr lang="en-US" altLang="zh-CN" sz="1200">
                <a:solidFill>
                  <a:schemeClr val="bg2"/>
                </a:solidFill>
                <a:ea typeface="宋体" pitchFamily="2" charset="-122"/>
              </a:rPr>
              <a:t>Instruction</a:t>
            </a:r>
          </a:p>
        </p:txBody>
      </p:sp>
      <p:sp>
        <p:nvSpPr>
          <p:cNvPr id="745494" name="Text Box 22"/>
          <p:cNvSpPr txBox="1">
            <a:spLocks noChangeArrowheads="1"/>
          </p:cNvSpPr>
          <p:nvPr/>
        </p:nvSpPr>
        <p:spPr bwMode="auto">
          <a:xfrm>
            <a:off x="3657600" y="4800600"/>
            <a:ext cx="973138" cy="457200"/>
          </a:xfrm>
          <a:prstGeom prst="rect">
            <a:avLst/>
          </a:prstGeom>
          <a:noFill/>
          <a:ln w="12700">
            <a:noFill/>
            <a:miter lim="800000"/>
            <a:headEnd/>
            <a:tailEnd/>
          </a:ln>
          <a:effectLst/>
        </p:spPr>
        <p:txBody>
          <a:bodyPr wrap="none">
            <a:spAutoFit/>
          </a:bodyPr>
          <a:lstStyle/>
          <a:p>
            <a:pPr algn="ctr"/>
            <a:r>
              <a:rPr lang="en-US" altLang="zh-CN" sz="1200" b="1">
                <a:solidFill>
                  <a:schemeClr val="bg2"/>
                </a:solidFill>
                <a:ea typeface="宋体" pitchFamily="2" charset="-122"/>
              </a:rPr>
              <a:t>Instruction</a:t>
            </a:r>
          </a:p>
          <a:p>
            <a:pPr algn="ctr"/>
            <a:r>
              <a:rPr lang="en-US" altLang="zh-CN" sz="1200" b="1">
                <a:solidFill>
                  <a:schemeClr val="bg2"/>
                </a:solidFill>
                <a:ea typeface="宋体" pitchFamily="2" charset="-122"/>
              </a:rPr>
              <a:t>Memory</a:t>
            </a:r>
          </a:p>
        </p:txBody>
      </p:sp>
      <p:sp>
        <p:nvSpPr>
          <p:cNvPr id="745495" name="Text Box 23"/>
          <p:cNvSpPr txBox="1">
            <a:spLocks noChangeArrowheads="1"/>
          </p:cNvSpPr>
          <p:nvPr/>
        </p:nvSpPr>
        <p:spPr bwMode="auto">
          <a:xfrm>
            <a:off x="4114800" y="3962400"/>
            <a:ext cx="481013" cy="274638"/>
          </a:xfrm>
          <a:prstGeom prst="rect">
            <a:avLst/>
          </a:prstGeom>
          <a:noFill/>
          <a:ln w="12700">
            <a:noFill/>
            <a:miter lim="800000"/>
            <a:headEnd/>
            <a:tailEnd/>
          </a:ln>
          <a:effectLst/>
        </p:spPr>
        <p:txBody>
          <a:bodyPr wrap="none">
            <a:spAutoFit/>
          </a:bodyPr>
          <a:lstStyle/>
          <a:p>
            <a:r>
              <a:rPr lang="en-US" altLang="zh-CN" sz="1200" b="1">
                <a:solidFill>
                  <a:schemeClr val="bg2"/>
                </a:solidFill>
                <a:ea typeface="宋体" pitchFamily="2" charset="-122"/>
              </a:rPr>
              <a:t>Add</a:t>
            </a:r>
          </a:p>
        </p:txBody>
      </p:sp>
      <p:sp>
        <p:nvSpPr>
          <p:cNvPr id="745496" name="Text Box 24"/>
          <p:cNvSpPr txBox="1">
            <a:spLocks noChangeArrowheads="1"/>
          </p:cNvSpPr>
          <p:nvPr/>
        </p:nvSpPr>
        <p:spPr bwMode="auto">
          <a:xfrm>
            <a:off x="2819400" y="5334000"/>
            <a:ext cx="395288"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PC</a:t>
            </a:r>
          </a:p>
        </p:txBody>
      </p:sp>
      <p:sp>
        <p:nvSpPr>
          <p:cNvPr id="745497" name="Line 25"/>
          <p:cNvSpPr>
            <a:spLocks noChangeShapeType="1"/>
          </p:cNvSpPr>
          <p:nvPr/>
        </p:nvSpPr>
        <p:spPr bwMode="auto">
          <a:xfrm>
            <a:off x="2590800" y="3429000"/>
            <a:ext cx="2209800" cy="0"/>
          </a:xfrm>
          <a:prstGeom prst="line">
            <a:avLst/>
          </a:prstGeom>
          <a:noFill/>
          <a:ln w="28575">
            <a:solidFill>
              <a:schemeClr val="bg2"/>
            </a:solidFill>
            <a:round/>
            <a:headEnd/>
            <a:tailEnd/>
          </a:ln>
          <a:effectLst/>
        </p:spPr>
        <p:txBody>
          <a:bodyPr/>
          <a:lstStyle/>
          <a:p>
            <a:endParaRPr lang="en-US"/>
          </a:p>
        </p:txBody>
      </p:sp>
      <p:sp>
        <p:nvSpPr>
          <p:cNvPr id="745498" name="Line 26"/>
          <p:cNvSpPr>
            <a:spLocks noChangeShapeType="1"/>
          </p:cNvSpPr>
          <p:nvPr/>
        </p:nvSpPr>
        <p:spPr bwMode="auto">
          <a:xfrm>
            <a:off x="2590800" y="3429000"/>
            <a:ext cx="0" cy="2057400"/>
          </a:xfrm>
          <a:prstGeom prst="line">
            <a:avLst/>
          </a:prstGeom>
          <a:noFill/>
          <a:ln w="28575">
            <a:solidFill>
              <a:schemeClr val="bg2"/>
            </a:solidFill>
            <a:round/>
            <a:headEnd/>
            <a:tailEnd/>
          </a:ln>
          <a:effectLst/>
        </p:spPr>
        <p:txBody>
          <a:bodyPr/>
          <a:lstStyle/>
          <a:p>
            <a:endParaRPr lang="en-US"/>
          </a:p>
        </p:txBody>
      </p:sp>
      <p:sp>
        <p:nvSpPr>
          <p:cNvPr id="745499" name="Line 27"/>
          <p:cNvSpPr>
            <a:spLocks noChangeShapeType="1"/>
          </p:cNvSpPr>
          <p:nvPr/>
        </p:nvSpPr>
        <p:spPr bwMode="auto">
          <a:xfrm>
            <a:off x="2590800" y="5486400"/>
            <a:ext cx="304800" cy="0"/>
          </a:xfrm>
          <a:prstGeom prst="line">
            <a:avLst/>
          </a:prstGeom>
          <a:noFill/>
          <a:ln w="28575">
            <a:solidFill>
              <a:schemeClr val="bg2"/>
            </a:solidFill>
            <a:round/>
            <a:headEnd/>
            <a:tailEnd type="triangle" w="med" len="med"/>
          </a:ln>
          <a:effectLst/>
        </p:spPr>
        <p:txBody>
          <a:bodyPr/>
          <a:lstStyle/>
          <a:p>
            <a:endParaRPr lang="en-US"/>
          </a:p>
        </p:txBody>
      </p:sp>
      <p:sp>
        <p:nvSpPr>
          <p:cNvPr id="745500" name="Line 28"/>
          <p:cNvSpPr>
            <a:spLocks noChangeShapeType="1"/>
          </p:cNvSpPr>
          <p:nvPr/>
        </p:nvSpPr>
        <p:spPr bwMode="auto">
          <a:xfrm>
            <a:off x="3200400" y="3733800"/>
            <a:ext cx="0" cy="1752600"/>
          </a:xfrm>
          <a:prstGeom prst="line">
            <a:avLst/>
          </a:prstGeom>
          <a:noFill/>
          <a:ln w="28575">
            <a:solidFill>
              <a:schemeClr val="bg2"/>
            </a:solidFill>
            <a:round/>
            <a:headEnd/>
            <a:tailEnd/>
          </a:ln>
          <a:effectLst/>
        </p:spPr>
        <p:txBody>
          <a:bodyPr/>
          <a:lstStyle/>
          <a:p>
            <a:endParaRPr lang="en-US"/>
          </a:p>
        </p:txBody>
      </p:sp>
      <p:sp>
        <p:nvSpPr>
          <p:cNvPr id="745501" name="Text Box 29"/>
          <p:cNvSpPr txBox="1">
            <a:spLocks noChangeArrowheads="1"/>
          </p:cNvSpPr>
          <p:nvPr/>
        </p:nvSpPr>
        <p:spPr bwMode="auto">
          <a:xfrm>
            <a:off x="3505200" y="4267200"/>
            <a:ext cx="268288" cy="274638"/>
          </a:xfrm>
          <a:prstGeom prst="rect">
            <a:avLst/>
          </a:prstGeom>
          <a:noFill/>
          <a:ln w="12700">
            <a:noFill/>
            <a:miter lim="800000"/>
            <a:headEnd/>
            <a:tailEnd/>
          </a:ln>
          <a:effectLst/>
        </p:spPr>
        <p:txBody>
          <a:bodyPr wrap="none">
            <a:spAutoFit/>
          </a:bodyPr>
          <a:lstStyle/>
          <a:p>
            <a:r>
              <a:rPr lang="en-US" altLang="zh-CN" sz="1200" b="1">
                <a:solidFill>
                  <a:schemeClr val="bg2"/>
                </a:solidFill>
                <a:ea typeface="宋体" pitchFamily="2" charset="-122"/>
              </a:rPr>
              <a:t>4</a:t>
            </a:r>
          </a:p>
        </p:txBody>
      </p:sp>
      <p:sp>
        <p:nvSpPr>
          <p:cNvPr id="745502" name="Oval 30"/>
          <p:cNvSpPr>
            <a:spLocks noChangeArrowheads="1"/>
          </p:cNvSpPr>
          <p:nvPr/>
        </p:nvSpPr>
        <p:spPr bwMode="auto">
          <a:xfrm>
            <a:off x="5410200" y="4800600"/>
            <a:ext cx="457200" cy="609600"/>
          </a:xfrm>
          <a:prstGeom prst="ellipse">
            <a:avLst/>
          </a:prstGeom>
          <a:noFill/>
          <a:ln w="12700">
            <a:solidFill>
              <a:schemeClr val="tx1"/>
            </a:solidFill>
            <a:round/>
            <a:headEnd/>
            <a:tailEnd/>
          </a:ln>
          <a:effectLst/>
        </p:spPr>
        <p:txBody>
          <a:bodyPr wrap="none" anchor="ctr"/>
          <a:lstStyle/>
          <a:p>
            <a:endParaRPr lang="en-US"/>
          </a:p>
        </p:txBody>
      </p:sp>
      <p:sp>
        <p:nvSpPr>
          <p:cNvPr id="745503" name="Rectangle 31"/>
          <p:cNvSpPr>
            <a:spLocks noChangeArrowheads="1"/>
          </p:cNvSpPr>
          <p:nvPr/>
        </p:nvSpPr>
        <p:spPr bwMode="auto">
          <a:xfrm>
            <a:off x="5410200" y="4876800"/>
            <a:ext cx="457200" cy="457200"/>
          </a:xfrm>
          <a:prstGeom prst="rect">
            <a:avLst/>
          </a:prstGeom>
          <a:noFill/>
          <a:ln w="12700">
            <a:noFill/>
            <a:miter lim="800000"/>
            <a:headEnd/>
            <a:tailEnd/>
          </a:ln>
          <a:effectLst/>
        </p:spPr>
        <p:txBody>
          <a:bodyPr wrap="none" lIns="19050" tIns="26988" rIns="19050" bIns="26988"/>
          <a:lstStyle/>
          <a:p>
            <a:pPr algn="ctr" defTabSz="904875">
              <a:lnSpc>
                <a:spcPts val="1600"/>
              </a:lnSpc>
              <a:tabLst>
                <a:tab pos="452438" algn="l"/>
                <a:tab pos="904875" algn="l"/>
                <a:tab pos="1357313" algn="l"/>
              </a:tabLst>
            </a:pPr>
            <a:r>
              <a:rPr lang="en-US" altLang="zh-CN" sz="1200" b="1">
                <a:solidFill>
                  <a:srgbClr val="000000"/>
                </a:solidFill>
                <a:ea typeface="宋体" pitchFamily="2" charset="-122"/>
              </a:rPr>
              <a:t>Shift</a:t>
            </a:r>
          </a:p>
          <a:p>
            <a:pPr algn="ctr" defTabSz="904875">
              <a:lnSpc>
                <a:spcPts val="1600"/>
              </a:lnSpc>
              <a:tabLst>
                <a:tab pos="452438" algn="l"/>
                <a:tab pos="904875" algn="l"/>
                <a:tab pos="1357313" algn="l"/>
              </a:tabLst>
            </a:pPr>
            <a:r>
              <a:rPr lang="en-US" altLang="zh-CN" sz="1200" b="1">
                <a:solidFill>
                  <a:srgbClr val="000000"/>
                </a:solidFill>
                <a:ea typeface="宋体" pitchFamily="2" charset="-122"/>
              </a:rPr>
              <a:t>left 2</a:t>
            </a:r>
          </a:p>
        </p:txBody>
      </p:sp>
      <p:sp>
        <p:nvSpPr>
          <p:cNvPr id="745504" name="Line 32"/>
          <p:cNvSpPr>
            <a:spLocks noChangeShapeType="1"/>
          </p:cNvSpPr>
          <p:nvPr/>
        </p:nvSpPr>
        <p:spPr bwMode="auto">
          <a:xfrm>
            <a:off x="5181600" y="5105400"/>
            <a:ext cx="228600" cy="0"/>
          </a:xfrm>
          <a:prstGeom prst="line">
            <a:avLst/>
          </a:prstGeom>
          <a:noFill/>
          <a:ln w="28575">
            <a:solidFill>
              <a:schemeClr val="tx1"/>
            </a:solidFill>
            <a:round/>
            <a:headEnd/>
            <a:tailEnd type="triangle" w="med" len="med"/>
          </a:ln>
          <a:effectLst/>
        </p:spPr>
        <p:txBody>
          <a:bodyPr/>
          <a:lstStyle/>
          <a:p>
            <a:endParaRPr lang="en-US"/>
          </a:p>
        </p:txBody>
      </p:sp>
      <p:sp>
        <p:nvSpPr>
          <p:cNvPr id="745505" name="Line 33"/>
          <p:cNvSpPr>
            <a:spLocks noChangeShapeType="1"/>
          </p:cNvSpPr>
          <p:nvPr/>
        </p:nvSpPr>
        <p:spPr bwMode="auto">
          <a:xfrm flipV="1">
            <a:off x="5181600" y="5105400"/>
            <a:ext cx="0" cy="381000"/>
          </a:xfrm>
          <a:prstGeom prst="line">
            <a:avLst/>
          </a:prstGeom>
          <a:noFill/>
          <a:ln w="28575">
            <a:solidFill>
              <a:schemeClr val="tx1"/>
            </a:solidFill>
            <a:round/>
            <a:headEnd/>
            <a:tailEnd/>
          </a:ln>
          <a:effectLst/>
        </p:spPr>
        <p:txBody>
          <a:bodyPr/>
          <a:lstStyle/>
          <a:p>
            <a:endParaRPr lang="en-US"/>
          </a:p>
        </p:txBody>
      </p:sp>
      <p:sp>
        <p:nvSpPr>
          <p:cNvPr id="745506" name="Line 34"/>
          <p:cNvSpPr>
            <a:spLocks noChangeShapeType="1"/>
          </p:cNvSpPr>
          <p:nvPr/>
        </p:nvSpPr>
        <p:spPr bwMode="auto">
          <a:xfrm>
            <a:off x="5867400" y="5105400"/>
            <a:ext cx="533400" cy="0"/>
          </a:xfrm>
          <a:prstGeom prst="line">
            <a:avLst/>
          </a:prstGeom>
          <a:noFill/>
          <a:ln w="28575">
            <a:solidFill>
              <a:schemeClr val="tx1"/>
            </a:solidFill>
            <a:round/>
            <a:headEnd/>
            <a:tailEnd type="triangle" w="med" len="med"/>
          </a:ln>
          <a:effectLst/>
        </p:spPr>
        <p:txBody>
          <a:bodyPr/>
          <a:lstStyle/>
          <a:p>
            <a:endParaRPr lang="en-US"/>
          </a:p>
        </p:txBody>
      </p:sp>
      <p:sp>
        <p:nvSpPr>
          <p:cNvPr id="745507" name="Text Box 35"/>
          <p:cNvSpPr txBox="1">
            <a:spLocks noChangeArrowheads="1"/>
          </p:cNvSpPr>
          <p:nvPr/>
        </p:nvSpPr>
        <p:spPr bwMode="auto">
          <a:xfrm>
            <a:off x="6629400" y="4648200"/>
            <a:ext cx="814388" cy="517525"/>
          </a:xfrm>
          <a:prstGeom prst="rect">
            <a:avLst/>
          </a:prstGeom>
          <a:noFill/>
          <a:ln w="12700">
            <a:noFill/>
            <a:miter lim="800000"/>
            <a:headEnd/>
            <a:tailEnd/>
          </a:ln>
          <a:effectLst/>
        </p:spPr>
        <p:txBody>
          <a:bodyPr wrap="none">
            <a:spAutoFit/>
          </a:bodyPr>
          <a:lstStyle/>
          <a:p>
            <a:r>
              <a:rPr lang="en-US" altLang="zh-CN" sz="1400">
                <a:solidFill>
                  <a:schemeClr val="tx1"/>
                </a:solidFill>
                <a:ea typeface="宋体" pitchFamily="2" charset="-122"/>
              </a:rPr>
              <a:t>Jump</a:t>
            </a:r>
          </a:p>
          <a:p>
            <a:r>
              <a:rPr lang="en-US" altLang="zh-CN" sz="1400">
                <a:solidFill>
                  <a:schemeClr val="tx1"/>
                </a:solidFill>
                <a:ea typeface="宋体" pitchFamily="2" charset="-122"/>
              </a:rPr>
              <a:t>address</a:t>
            </a:r>
          </a:p>
        </p:txBody>
      </p:sp>
      <p:sp>
        <p:nvSpPr>
          <p:cNvPr id="745508" name="Line 36"/>
          <p:cNvSpPr>
            <a:spLocks noChangeShapeType="1"/>
          </p:cNvSpPr>
          <p:nvPr/>
        </p:nvSpPr>
        <p:spPr bwMode="auto">
          <a:xfrm>
            <a:off x="4800600" y="4648200"/>
            <a:ext cx="1600200" cy="0"/>
          </a:xfrm>
          <a:prstGeom prst="line">
            <a:avLst/>
          </a:prstGeom>
          <a:noFill/>
          <a:ln w="19050">
            <a:solidFill>
              <a:schemeClr val="tx1"/>
            </a:solidFill>
            <a:round/>
            <a:headEnd/>
            <a:tailEnd type="triangle" w="med" len="med"/>
          </a:ln>
          <a:effectLst/>
        </p:spPr>
        <p:txBody>
          <a:bodyPr/>
          <a:lstStyle/>
          <a:p>
            <a:endParaRPr lang="en-US"/>
          </a:p>
        </p:txBody>
      </p:sp>
      <p:sp>
        <p:nvSpPr>
          <p:cNvPr id="745509" name="Line 37"/>
          <p:cNvSpPr>
            <a:spLocks noChangeShapeType="1"/>
          </p:cNvSpPr>
          <p:nvPr/>
        </p:nvSpPr>
        <p:spPr bwMode="auto">
          <a:xfrm>
            <a:off x="5867400" y="4572000"/>
            <a:ext cx="76200" cy="152400"/>
          </a:xfrm>
          <a:prstGeom prst="line">
            <a:avLst/>
          </a:prstGeom>
          <a:noFill/>
          <a:ln w="12700">
            <a:solidFill>
              <a:schemeClr val="tx1"/>
            </a:solidFill>
            <a:round/>
            <a:headEnd/>
            <a:tailEnd/>
          </a:ln>
          <a:effectLst/>
        </p:spPr>
        <p:txBody>
          <a:bodyPr/>
          <a:lstStyle/>
          <a:p>
            <a:endParaRPr lang="en-US"/>
          </a:p>
        </p:txBody>
      </p:sp>
      <p:sp>
        <p:nvSpPr>
          <p:cNvPr id="745510" name="Line 38"/>
          <p:cNvSpPr>
            <a:spLocks noChangeShapeType="1"/>
          </p:cNvSpPr>
          <p:nvPr/>
        </p:nvSpPr>
        <p:spPr bwMode="auto">
          <a:xfrm>
            <a:off x="5029200" y="5410200"/>
            <a:ext cx="76200" cy="152400"/>
          </a:xfrm>
          <a:prstGeom prst="line">
            <a:avLst/>
          </a:prstGeom>
          <a:noFill/>
          <a:ln w="12700">
            <a:solidFill>
              <a:schemeClr val="tx1"/>
            </a:solidFill>
            <a:round/>
            <a:headEnd/>
            <a:tailEnd/>
          </a:ln>
          <a:effectLst/>
        </p:spPr>
        <p:txBody>
          <a:bodyPr/>
          <a:lstStyle/>
          <a:p>
            <a:endParaRPr lang="en-US"/>
          </a:p>
        </p:txBody>
      </p:sp>
      <p:sp>
        <p:nvSpPr>
          <p:cNvPr id="745511" name="Text Box 39"/>
          <p:cNvSpPr txBox="1">
            <a:spLocks noChangeArrowheads="1"/>
          </p:cNvSpPr>
          <p:nvPr/>
        </p:nvSpPr>
        <p:spPr bwMode="auto">
          <a:xfrm>
            <a:off x="5029200" y="5486400"/>
            <a:ext cx="352425"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26</a:t>
            </a:r>
          </a:p>
        </p:txBody>
      </p:sp>
      <p:sp>
        <p:nvSpPr>
          <p:cNvPr id="745512" name="Text Box 40"/>
          <p:cNvSpPr txBox="1">
            <a:spLocks noChangeArrowheads="1"/>
          </p:cNvSpPr>
          <p:nvPr/>
        </p:nvSpPr>
        <p:spPr bwMode="auto">
          <a:xfrm>
            <a:off x="5867400" y="4419600"/>
            <a:ext cx="268288"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4</a:t>
            </a:r>
          </a:p>
        </p:txBody>
      </p:sp>
      <p:sp>
        <p:nvSpPr>
          <p:cNvPr id="745513" name="Line 41"/>
          <p:cNvSpPr>
            <a:spLocks noChangeShapeType="1"/>
          </p:cNvSpPr>
          <p:nvPr/>
        </p:nvSpPr>
        <p:spPr bwMode="auto">
          <a:xfrm>
            <a:off x="5943600" y="5029200"/>
            <a:ext cx="76200" cy="152400"/>
          </a:xfrm>
          <a:prstGeom prst="line">
            <a:avLst/>
          </a:prstGeom>
          <a:noFill/>
          <a:ln w="12700">
            <a:solidFill>
              <a:schemeClr val="tx1"/>
            </a:solidFill>
            <a:round/>
            <a:headEnd/>
            <a:tailEnd/>
          </a:ln>
          <a:effectLst/>
        </p:spPr>
        <p:txBody>
          <a:bodyPr/>
          <a:lstStyle/>
          <a:p>
            <a:endParaRPr lang="en-US"/>
          </a:p>
        </p:txBody>
      </p:sp>
      <p:sp>
        <p:nvSpPr>
          <p:cNvPr id="745514" name="Text Box 42"/>
          <p:cNvSpPr txBox="1">
            <a:spLocks noChangeArrowheads="1"/>
          </p:cNvSpPr>
          <p:nvPr/>
        </p:nvSpPr>
        <p:spPr bwMode="auto">
          <a:xfrm>
            <a:off x="5943600" y="5105400"/>
            <a:ext cx="352425" cy="274638"/>
          </a:xfrm>
          <a:prstGeom prst="rect">
            <a:avLst/>
          </a:prstGeom>
          <a:noFill/>
          <a:ln w="12700">
            <a:noFill/>
            <a:miter lim="800000"/>
            <a:headEnd/>
            <a:tailEnd/>
          </a:ln>
          <a:effectLst/>
        </p:spPr>
        <p:txBody>
          <a:bodyPr wrap="none">
            <a:spAutoFit/>
          </a:bodyPr>
          <a:lstStyle/>
          <a:p>
            <a:r>
              <a:rPr lang="en-US" altLang="zh-CN" sz="1200" b="1">
                <a:solidFill>
                  <a:schemeClr val="tx1"/>
                </a:solidFill>
                <a:ea typeface="宋体" pitchFamily="2" charset="-122"/>
              </a:rPr>
              <a:t>28</a:t>
            </a:r>
          </a:p>
        </p:txBody>
      </p:sp>
      <p:sp>
        <p:nvSpPr>
          <p:cNvPr id="745515" name="AutoShape 43"/>
          <p:cNvSpPr>
            <a:spLocks/>
          </p:cNvSpPr>
          <p:nvPr/>
        </p:nvSpPr>
        <p:spPr bwMode="auto">
          <a:xfrm>
            <a:off x="6400800" y="4495800"/>
            <a:ext cx="152400" cy="914400"/>
          </a:xfrm>
          <a:prstGeom prst="rightBrace">
            <a:avLst>
              <a:gd name="adj1" fmla="val 50000"/>
              <a:gd name="adj2" fmla="val 50000"/>
            </a:avLst>
          </a:prstGeom>
          <a:noFill/>
          <a:ln w="12700">
            <a:solidFill>
              <a:schemeClr val="tx1"/>
            </a:solidFill>
            <a:round/>
            <a:headEnd/>
            <a:tailEnd/>
          </a:ln>
          <a:effectLst/>
        </p:spPr>
        <p:txBody>
          <a:bodyPr wrap="none" anchor="ctr"/>
          <a:lstStyle/>
          <a:p>
            <a:endParaRPr lang="en-US"/>
          </a:p>
        </p:txBody>
      </p:sp>
      <p:sp>
        <p:nvSpPr>
          <p:cNvPr id="745516" name="Line 44"/>
          <p:cNvSpPr>
            <a:spLocks noChangeShapeType="1"/>
          </p:cNvSpPr>
          <p:nvPr/>
        </p:nvSpPr>
        <p:spPr bwMode="auto">
          <a:xfrm>
            <a:off x="51260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17" name="Line 45"/>
          <p:cNvSpPr>
            <a:spLocks noChangeShapeType="1"/>
          </p:cNvSpPr>
          <p:nvPr/>
        </p:nvSpPr>
        <p:spPr bwMode="auto">
          <a:xfrm>
            <a:off x="49736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18" name="Line 46"/>
          <p:cNvSpPr>
            <a:spLocks noChangeShapeType="1"/>
          </p:cNvSpPr>
          <p:nvPr/>
        </p:nvSpPr>
        <p:spPr bwMode="auto">
          <a:xfrm>
            <a:off x="52784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19" name="Line 47"/>
          <p:cNvSpPr>
            <a:spLocks noChangeShapeType="1"/>
          </p:cNvSpPr>
          <p:nvPr/>
        </p:nvSpPr>
        <p:spPr bwMode="auto">
          <a:xfrm>
            <a:off x="54308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0" name="Line 48"/>
          <p:cNvSpPr>
            <a:spLocks noChangeShapeType="1"/>
          </p:cNvSpPr>
          <p:nvPr/>
        </p:nvSpPr>
        <p:spPr bwMode="auto">
          <a:xfrm>
            <a:off x="58880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1" name="Line 49"/>
          <p:cNvSpPr>
            <a:spLocks noChangeShapeType="1"/>
          </p:cNvSpPr>
          <p:nvPr/>
        </p:nvSpPr>
        <p:spPr bwMode="auto">
          <a:xfrm>
            <a:off x="57356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2" name="Line 50"/>
          <p:cNvSpPr>
            <a:spLocks noChangeShapeType="1"/>
          </p:cNvSpPr>
          <p:nvPr/>
        </p:nvSpPr>
        <p:spPr bwMode="auto">
          <a:xfrm>
            <a:off x="60404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3" name="Line 51"/>
          <p:cNvSpPr>
            <a:spLocks noChangeShapeType="1"/>
          </p:cNvSpPr>
          <p:nvPr/>
        </p:nvSpPr>
        <p:spPr bwMode="auto">
          <a:xfrm>
            <a:off x="61928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4" name="Line 52"/>
          <p:cNvSpPr>
            <a:spLocks noChangeShapeType="1"/>
          </p:cNvSpPr>
          <p:nvPr/>
        </p:nvSpPr>
        <p:spPr bwMode="auto">
          <a:xfrm>
            <a:off x="66500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5" name="Line 53"/>
          <p:cNvSpPr>
            <a:spLocks noChangeShapeType="1"/>
          </p:cNvSpPr>
          <p:nvPr/>
        </p:nvSpPr>
        <p:spPr bwMode="auto">
          <a:xfrm>
            <a:off x="64976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6" name="Line 54"/>
          <p:cNvSpPr>
            <a:spLocks noChangeShapeType="1"/>
          </p:cNvSpPr>
          <p:nvPr/>
        </p:nvSpPr>
        <p:spPr bwMode="auto">
          <a:xfrm>
            <a:off x="68024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7" name="Line 55"/>
          <p:cNvSpPr>
            <a:spLocks noChangeShapeType="1"/>
          </p:cNvSpPr>
          <p:nvPr/>
        </p:nvSpPr>
        <p:spPr bwMode="auto">
          <a:xfrm>
            <a:off x="69548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28" name="Rectangle 56"/>
          <p:cNvSpPr>
            <a:spLocks noChangeArrowheads="1"/>
          </p:cNvSpPr>
          <p:nvPr/>
        </p:nvSpPr>
        <p:spPr bwMode="auto">
          <a:xfrm>
            <a:off x="3124200" y="2403475"/>
            <a:ext cx="3970338" cy="431800"/>
          </a:xfrm>
          <a:prstGeom prst="rect">
            <a:avLst/>
          </a:prstGeom>
          <a:noFill/>
          <a:ln w="25400">
            <a:solidFill>
              <a:schemeClr val="tx1"/>
            </a:solidFill>
            <a:miter lim="800000"/>
            <a:headEnd/>
            <a:tailEnd/>
          </a:ln>
          <a:effectLst/>
        </p:spPr>
        <p:txBody>
          <a:bodyPr wrap="none" anchor="ctr"/>
          <a:lstStyle/>
          <a:p>
            <a:endParaRPr lang="en-US"/>
          </a:p>
        </p:txBody>
      </p:sp>
      <p:sp>
        <p:nvSpPr>
          <p:cNvPr id="745529" name="Line 57"/>
          <p:cNvSpPr>
            <a:spLocks noChangeShapeType="1"/>
          </p:cNvSpPr>
          <p:nvPr/>
        </p:nvSpPr>
        <p:spPr bwMode="auto">
          <a:xfrm>
            <a:off x="48212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0" name="Line 58"/>
          <p:cNvSpPr>
            <a:spLocks noChangeShapeType="1"/>
          </p:cNvSpPr>
          <p:nvPr/>
        </p:nvSpPr>
        <p:spPr bwMode="auto">
          <a:xfrm>
            <a:off x="55832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1" name="Line 59"/>
          <p:cNvSpPr>
            <a:spLocks noChangeShapeType="1"/>
          </p:cNvSpPr>
          <p:nvPr/>
        </p:nvSpPr>
        <p:spPr bwMode="auto">
          <a:xfrm>
            <a:off x="63452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2" name="Rectangle 60"/>
          <p:cNvSpPr>
            <a:spLocks noChangeArrowheads="1"/>
          </p:cNvSpPr>
          <p:nvPr/>
        </p:nvSpPr>
        <p:spPr bwMode="auto">
          <a:xfrm>
            <a:off x="2243138" y="2403475"/>
            <a:ext cx="889000" cy="431800"/>
          </a:xfrm>
          <a:prstGeom prst="rect">
            <a:avLst/>
          </a:prstGeom>
          <a:noFill/>
          <a:ln w="25400">
            <a:solidFill>
              <a:schemeClr val="tx1"/>
            </a:solidFill>
            <a:miter lim="800000"/>
            <a:headEnd/>
            <a:tailEnd/>
          </a:ln>
          <a:effectLst/>
        </p:spPr>
        <p:txBody>
          <a:bodyPr wrap="none" anchor="ctr"/>
          <a:lstStyle/>
          <a:p>
            <a:endParaRPr lang="en-US"/>
          </a:p>
        </p:txBody>
      </p:sp>
      <p:sp>
        <p:nvSpPr>
          <p:cNvPr id="745533" name="Line 61"/>
          <p:cNvSpPr>
            <a:spLocks noChangeShapeType="1"/>
          </p:cNvSpPr>
          <p:nvPr/>
        </p:nvSpPr>
        <p:spPr bwMode="auto">
          <a:xfrm>
            <a:off x="28400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4" name="Line 62"/>
          <p:cNvSpPr>
            <a:spLocks noChangeShapeType="1"/>
          </p:cNvSpPr>
          <p:nvPr/>
        </p:nvSpPr>
        <p:spPr bwMode="auto">
          <a:xfrm>
            <a:off x="26876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5" name="Line 63"/>
          <p:cNvSpPr>
            <a:spLocks noChangeShapeType="1"/>
          </p:cNvSpPr>
          <p:nvPr/>
        </p:nvSpPr>
        <p:spPr bwMode="auto">
          <a:xfrm>
            <a:off x="29924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6" name="Line 64"/>
          <p:cNvSpPr>
            <a:spLocks noChangeShapeType="1"/>
          </p:cNvSpPr>
          <p:nvPr/>
        </p:nvSpPr>
        <p:spPr bwMode="auto">
          <a:xfrm>
            <a:off x="25352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7" name="Line 65"/>
          <p:cNvSpPr>
            <a:spLocks noChangeShapeType="1"/>
          </p:cNvSpPr>
          <p:nvPr/>
        </p:nvSpPr>
        <p:spPr bwMode="auto">
          <a:xfrm>
            <a:off x="23828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8" name="Line 66"/>
          <p:cNvSpPr>
            <a:spLocks noChangeShapeType="1"/>
          </p:cNvSpPr>
          <p:nvPr/>
        </p:nvSpPr>
        <p:spPr bwMode="auto">
          <a:xfrm>
            <a:off x="34496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39" name="Line 67"/>
          <p:cNvSpPr>
            <a:spLocks noChangeShapeType="1"/>
          </p:cNvSpPr>
          <p:nvPr/>
        </p:nvSpPr>
        <p:spPr bwMode="auto">
          <a:xfrm>
            <a:off x="32972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0" name="Line 68"/>
          <p:cNvSpPr>
            <a:spLocks noChangeShapeType="1"/>
          </p:cNvSpPr>
          <p:nvPr/>
        </p:nvSpPr>
        <p:spPr bwMode="auto">
          <a:xfrm>
            <a:off x="36020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1" name="Line 69"/>
          <p:cNvSpPr>
            <a:spLocks noChangeShapeType="1"/>
          </p:cNvSpPr>
          <p:nvPr/>
        </p:nvSpPr>
        <p:spPr bwMode="auto">
          <a:xfrm>
            <a:off x="37544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2" name="Line 70"/>
          <p:cNvSpPr>
            <a:spLocks noChangeShapeType="1"/>
          </p:cNvSpPr>
          <p:nvPr/>
        </p:nvSpPr>
        <p:spPr bwMode="auto">
          <a:xfrm>
            <a:off x="42116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3" name="Line 71"/>
          <p:cNvSpPr>
            <a:spLocks noChangeShapeType="1"/>
          </p:cNvSpPr>
          <p:nvPr/>
        </p:nvSpPr>
        <p:spPr bwMode="auto">
          <a:xfrm>
            <a:off x="40592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4" name="Line 72"/>
          <p:cNvSpPr>
            <a:spLocks noChangeShapeType="1"/>
          </p:cNvSpPr>
          <p:nvPr/>
        </p:nvSpPr>
        <p:spPr bwMode="auto">
          <a:xfrm>
            <a:off x="43640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5" name="Line 73"/>
          <p:cNvSpPr>
            <a:spLocks noChangeShapeType="1"/>
          </p:cNvSpPr>
          <p:nvPr/>
        </p:nvSpPr>
        <p:spPr bwMode="auto">
          <a:xfrm>
            <a:off x="4516438" y="2403475"/>
            <a:ext cx="0" cy="50800"/>
          </a:xfrm>
          <a:prstGeom prst="line">
            <a:avLst/>
          </a:prstGeom>
          <a:noFill/>
          <a:ln w="25400">
            <a:solidFill>
              <a:schemeClr val="tx1"/>
            </a:solidFill>
            <a:round/>
            <a:headEnd/>
            <a:tailEnd/>
          </a:ln>
          <a:effectLst/>
        </p:spPr>
        <p:txBody>
          <a:bodyPr wrap="none" anchor="ctr"/>
          <a:lstStyle/>
          <a:p>
            <a:endParaRPr lang="en-US"/>
          </a:p>
        </p:txBody>
      </p:sp>
      <p:sp>
        <p:nvSpPr>
          <p:cNvPr id="745546" name="Rectangle 74"/>
          <p:cNvSpPr>
            <a:spLocks noChangeArrowheads="1"/>
          </p:cNvSpPr>
          <p:nvPr/>
        </p:nvSpPr>
        <p:spPr bwMode="auto">
          <a:xfrm>
            <a:off x="1295400" y="2438400"/>
            <a:ext cx="993775" cy="363538"/>
          </a:xfrm>
          <a:prstGeom prst="rect">
            <a:avLst/>
          </a:prstGeom>
          <a:noFill/>
          <a:ln w="12700">
            <a:noFill/>
            <a:miter lim="800000"/>
            <a:headEnd/>
            <a:tailEnd/>
          </a:ln>
          <a:effectLst/>
        </p:spPr>
        <p:txBody>
          <a:bodyPr wrap="none" lIns="90488" tIns="44450" rIns="90488" bIns="44450">
            <a:spAutoFit/>
          </a:bodyPr>
          <a:lstStyle/>
          <a:p>
            <a:r>
              <a:rPr lang="en-US" altLang="zh-CN" b="1">
                <a:ea typeface="宋体" pitchFamily="2" charset="-122"/>
              </a:rPr>
              <a:t>J-Type:</a:t>
            </a:r>
          </a:p>
        </p:txBody>
      </p:sp>
      <p:sp>
        <p:nvSpPr>
          <p:cNvPr id="745547" name="Rectangle 75"/>
          <p:cNvSpPr>
            <a:spLocks noChangeArrowheads="1"/>
          </p:cNvSpPr>
          <p:nvPr/>
        </p:nvSpPr>
        <p:spPr bwMode="auto">
          <a:xfrm>
            <a:off x="2286000" y="2514600"/>
            <a:ext cx="460375" cy="363538"/>
          </a:xfrm>
          <a:prstGeom prst="rect">
            <a:avLst/>
          </a:prstGeom>
          <a:noFill/>
          <a:ln w="12700">
            <a:noFill/>
            <a:miter lim="800000"/>
            <a:headEnd/>
            <a:tailEnd/>
          </a:ln>
          <a:effectLst/>
        </p:spPr>
        <p:txBody>
          <a:bodyPr wrap="none" lIns="90488" tIns="44450" rIns="90488" bIns="44450">
            <a:spAutoFit/>
          </a:bodyPr>
          <a:lstStyle/>
          <a:p>
            <a:r>
              <a:rPr lang="en-US" altLang="zh-CN" b="1">
                <a:ea typeface="宋体" pitchFamily="2" charset="-122"/>
              </a:rPr>
              <a:t>op</a:t>
            </a:r>
          </a:p>
        </p:txBody>
      </p:sp>
      <p:sp>
        <p:nvSpPr>
          <p:cNvPr id="745548" name="Rectangle 76"/>
          <p:cNvSpPr>
            <a:spLocks noChangeArrowheads="1"/>
          </p:cNvSpPr>
          <p:nvPr/>
        </p:nvSpPr>
        <p:spPr bwMode="auto">
          <a:xfrm>
            <a:off x="3962400" y="2514600"/>
            <a:ext cx="2365375" cy="363538"/>
          </a:xfrm>
          <a:prstGeom prst="rect">
            <a:avLst/>
          </a:prstGeom>
          <a:noFill/>
          <a:ln w="12700">
            <a:noFill/>
            <a:miter lim="800000"/>
            <a:headEnd/>
            <a:tailEnd/>
          </a:ln>
          <a:effectLst/>
        </p:spPr>
        <p:txBody>
          <a:bodyPr wrap="none" lIns="90488" tIns="44450" rIns="90488" bIns="44450">
            <a:spAutoFit/>
          </a:bodyPr>
          <a:lstStyle/>
          <a:p>
            <a:r>
              <a:rPr lang="en-US" altLang="zh-CN" b="1">
                <a:ea typeface="宋体" pitchFamily="2" charset="-122"/>
              </a:rPr>
              <a:t>jump target address</a:t>
            </a:r>
          </a:p>
        </p:txBody>
      </p:sp>
      <p:sp>
        <p:nvSpPr>
          <p:cNvPr id="745549" name="Rectangle 77"/>
          <p:cNvSpPr>
            <a:spLocks noChangeArrowheads="1"/>
          </p:cNvSpPr>
          <p:nvPr/>
        </p:nvSpPr>
        <p:spPr bwMode="auto">
          <a:xfrm>
            <a:off x="2090738" y="2098675"/>
            <a:ext cx="434975" cy="363538"/>
          </a:xfrm>
          <a:prstGeom prst="rect">
            <a:avLst/>
          </a:prstGeom>
          <a:noFill/>
          <a:ln w="12700">
            <a:noFill/>
            <a:miter lim="800000"/>
            <a:headEnd/>
            <a:tailEnd/>
          </a:ln>
          <a:effectLst/>
        </p:spPr>
        <p:txBody>
          <a:bodyPr wrap="none" lIns="90488" tIns="44450" rIns="90488" bIns="44450">
            <a:spAutoFit/>
          </a:bodyPr>
          <a:lstStyle/>
          <a:p>
            <a:r>
              <a:rPr lang="en-US" altLang="zh-CN">
                <a:solidFill>
                  <a:schemeClr val="tx1"/>
                </a:solidFill>
                <a:ea typeface="宋体" pitchFamily="2" charset="-122"/>
              </a:rPr>
              <a:t>31</a:t>
            </a:r>
          </a:p>
        </p:txBody>
      </p:sp>
      <p:sp>
        <p:nvSpPr>
          <p:cNvPr id="745550" name="Rectangle 78"/>
          <p:cNvSpPr>
            <a:spLocks noChangeArrowheads="1"/>
          </p:cNvSpPr>
          <p:nvPr/>
        </p:nvSpPr>
        <p:spPr bwMode="auto">
          <a:xfrm>
            <a:off x="6891338" y="2098675"/>
            <a:ext cx="307975" cy="363538"/>
          </a:xfrm>
          <a:prstGeom prst="rect">
            <a:avLst/>
          </a:prstGeom>
          <a:noFill/>
          <a:ln w="12700">
            <a:noFill/>
            <a:miter lim="800000"/>
            <a:headEnd/>
            <a:tailEnd/>
          </a:ln>
          <a:effectLst/>
        </p:spPr>
        <p:txBody>
          <a:bodyPr wrap="none" lIns="90488" tIns="44450" rIns="90488" bIns="44450">
            <a:spAutoFit/>
          </a:bodyPr>
          <a:lstStyle/>
          <a:p>
            <a:r>
              <a:rPr lang="en-US" altLang="zh-CN">
                <a:solidFill>
                  <a:schemeClr val="tx1"/>
                </a:solidFill>
                <a:ea typeface="宋体" pitchFamily="2" charset="-122"/>
              </a:rPr>
              <a:t>0</a:t>
            </a:r>
          </a:p>
        </p:txBody>
      </p:sp>
      <p:sp>
        <p:nvSpPr>
          <p:cNvPr id="745551" name="Line 79"/>
          <p:cNvSpPr>
            <a:spLocks noChangeShapeType="1"/>
          </p:cNvSpPr>
          <p:nvPr/>
        </p:nvSpPr>
        <p:spPr bwMode="auto">
          <a:xfrm>
            <a:off x="4800600" y="4038600"/>
            <a:ext cx="0" cy="609600"/>
          </a:xfrm>
          <a:prstGeom prst="line">
            <a:avLst/>
          </a:prstGeom>
          <a:noFill/>
          <a:ln w="19050">
            <a:solidFill>
              <a:schemeClr val="tx1"/>
            </a:solidFill>
            <a:round/>
            <a:headEnd/>
            <a:tailEnd/>
          </a:ln>
          <a:effectLst/>
        </p:spPr>
        <p:txBody>
          <a:bodyPr/>
          <a:lstStyle/>
          <a:p>
            <a:endParaRPr lang="en-US"/>
          </a:p>
        </p:txBody>
      </p:sp>
    </p:spTree>
    <p:extLst>
      <p:ext uri="{BB962C8B-B14F-4D97-AF65-F5344CB8AC3E}">
        <p14:creationId xmlns:p14="http://schemas.microsoft.com/office/powerpoint/2010/main" val="64628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p:txBody>
          <a:bodyPr/>
          <a:lstStyle/>
          <a:p>
            <a:r>
              <a:rPr lang="en-US" altLang="zh-CN">
                <a:ea typeface="宋体" pitchFamily="2" charset="-122"/>
              </a:rPr>
              <a:t>Main Control Unit</a:t>
            </a:r>
          </a:p>
        </p:txBody>
      </p:sp>
      <p:graphicFrame>
        <p:nvGraphicFramePr>
          <p:cNvPr id="786435" name="Group 3"/>
          <p:cNvGraphicFramePr>
            <a:graphicFrameLocks noGrp="1"/>
          </p:cNvGraphicFramePr>
          <p:nvPr>
            <p:ph idx="1"/>
          </p:nvPr>
        </p:nvGraphicFramePr>
        <p:xfrm>
          <a:off x="381000" y="1038225"/>
          <a:ext cx="8458200" cy="3585210"/>
        </p:xfrm>
        <a:graphic>
          <a:graphicData uri="http://schemas.openxmlformats.org/drawingml/2006/table">
            <a:tbl>
              <a:tblPr/>
              <a:tblGrid>
                <a:gridCol w="1066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65175">
                  <a:extLst>
                    <a:ext uri="{9D8B030D-6E8A-4147-A177-3AD203B41FA5}">
                      <a16:colId xmlns:a16="http://schemas.microsoft.com/office/drawing/2014/main" val="20004"/>
                    </a:ext>
                  </a:extLst>
                </a:gridCol>
                <a:gridCol w="835025">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838200">
                  <a:extLst>
                    <a:ext uri="{9D8B030D-6E8A-4147-A177-3AD203B41FA5}">
                      <a16:colId xmlns:a16="http://schemas.microsoft.com/office/drawing/2014/main" val="20009"/>
                    </a:ext>
                  </a:extLst>
                </a:gridCol>
              </a:tblGrid>
              <a:tr h="2476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Instr</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RegDst</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ALUSrc</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MemReg</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RegWr</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MemRd</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MemWr</a:t>
                      </a:r>
                      <a:endParaRPr kumimoji="0" lang="en-US" altLang="zh-CN" sz="1500" b="1" i="0" u="none" strike="noStrike" cap="none" normalizeH="0" baseline="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charset="0"/>
                          <a:ea typeface="宋体" pitchFamily="2" charset="-122"/>
                        </a:rPr>
                        <a:t>Branch</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err="1">
                          <a:ln>
                            <a:noFill/>
                          </a:ln>
                          <a:solidFill>
                            <a:schemeClr val="tx1"/>
                          </a:solidFill>
                          <a:effectLst/>
                          <a:latin typeface="Arial" charset="0"/>
                          <a:ea typeface="宋体" pitchFamily="2" charset="-122"/>
                        </a:rPr>
                        <a:t>ALUOp</a:t>
                      </a:r>
                      <a:endParaRPr kumimoji="0" lang="en-US" altLang="zh-CN" sz="1500" b="1" i="0" u="none" strike="noStrike" cap="none" normalizeH="0" baseline="-2500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1" i="0" u="none" strike="noStrike" cap="none" normalizeH="0" baseline="0" dirty="0">
                          <a:ln>
                            <a:noFill/>
                          </a:ln>
                          <a:solidFill>
                            <a:schemeClr val="tx1"/>
                          </a:solidFill>
                          <a:effectLst/>
                          <a:latin typeface="Arial" charset="0"/>
                          <a:ea typeface="宋体" pitchFamily="2" charset="-122"/>
                        </a:rPr>
                        <a:t>Jump</a:t>
                      </a:r>
                      <a:endParaRPr kumimoji="0" lang="en-US" altLang="zh-CN" sz="1500" b="1" i="0" u="none" strike="noStrike" cap="none" normalizeH="0" baseline="-25000" dirty="0">
                        <a:ln>
                          <a:noFill/>
                        </a:ln>
                        <a:solidFill>
                          <a:schemeClr val="tx1"/>
                        </a:solidFill>
                        <a:effectLst/>
                        <a:latin typeface="Arial" charset="0"/>
                        <a:ea typeface="宋体" pitchFamily="2" charset="-122"/>
                      </a:endParaRPr>
                    </a:p>
                  </a:txBody>
                  <a:tcPr marL="45720" marR="457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1188">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R-type</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dirty="0">
                          <a:ln>
                            <a:noFill/>
                          </a:ln>
                          <a:solidFill>
                            <a:schemeClr val="tx1"/>
                          </a:solidFill>
                          <a:effectLst/>
                          <a:latin typeface="Arial" charset="0"/>
                          <a:ea typeface="宋体" pitchFamily="2" charset="-122"/>
                        </a:rPr>
                        <a:t>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7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dirty="0" err="1">
                          <a:ln>
                            <a:noFill/>
                          </a:ln>
                          <a:solidFill>
                            <a:schemeClr val="tx1"/>
                          </a:solidFill>
                          <a:effectLst/>
                          <a:latin typeface="Arial" charset="0"/>
                          <a:ea typeface="宋体" pitchFamily="2" charset="-122"/>
                        </a:rPr>
                        <a:t>lw</a:t>
                      </a:r>
                      <a:endParaRPr kumimoji="0" lang="en-US" altLang="zh-CN" sz="2000" b="1"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dirty="0">
                          <a:ln>
                            <a:noFill/>
                          </a:ln>
                          <a:solidFill>
                            <a:schemeClr val="tx1"/>
                          </a:solidFill>
                          <a:effectLst/>
                          <a:latin typeface="Arial" charset="0"/>
                          <a:ea typeface="宋体" pitchFamily="2" charset="-122"/>
                        </a:rPr>
                        <a:t>100011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7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dirty="0" err="1">
                          <a:ln>
                            <a:noFill/>
                          </a:ln>
                          <a:solidFill>
                            <a:schemeClr val="tx1"/>
                          </a:solidFill>
                          <a:effectLst/>
                          <a:latin typeface="Arial" charset="0"/>
                          <a:ea typeface="宋体" pitchFamily="2" charset="-122"/>
                        </a:rPr>
                        <a:t>sw</a:t>
                      </a:r>
                      <a:endParaRPr kumimoji="0" lang="en-US" altLang="zh-CN" sz="2000" b="1"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dirty="0">
                          <a:ln>
                            <a:noFill/>
                          </a:ln>
                          <a:solidFill>
                            <a:schemeClr val="tx1"/>
                          </a:solidFill>
                          <a:effectLst/>
                          <a:latin typeface="Arial" charset="0"/>
                          <a:ea typeface="宋体" pitchFamily="2" charset="-122"/>
                        </a:rPr>
                        <a:t>101011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4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dirty="0" err="1">
                          <a:ln>
                            <a:noFill/>
                          </a:ln>
                          <a:solidFill>
                            <a:schemeClr val="tx1"/>
                          </a:solidFill>
                          <a:effectLst/>
                          <a:latin typeface="Arial" charset="0"/>
                          <a:ea typeface="宋体" pitchFamily="2" charset="-122"/>
                        </a:rPr>
                        <a:t>beq</a:t>
                      </a:r>
                      <a:endParaRPr kumimoji="0" lang="en-US" altLang="zh-CN" sz="2000" b="1"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dirty="0">
                          <a:ln>
                            <a:noFill/>
                          </a:ln>
                          <a:solidFill>
                            <a:schemeClr val="tx1"/>
                          </a:solidFill>
                          <a:effectLst/>
                          <a:latin typeface="Arial" charset="0"/>
                          <a:ea typeface="宋体" pitchFamily="2" charset="-122"/>
                        </a:rPr>
                        <a:t>000100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70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j</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500" b="0" i="0" u="none" strike="noStrike" cap="none" normalizeH="0" baseline="0" dirty="0">
                          <a:ln>
                            <a:noFill/>
                          </a:ln>
                          <a:solidFill>
                            <a:schemeClr val="tx1"/>
                          </a:solidFill>
                          <a:effectLst/>
                          <a:latin typeface="Arial" charset="0"/>
                          <a:ea typeface="宋体" pitchFamily="2" charset="-122"/>
                        </a:rPr>
                        <a:t>000010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2"/>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a:ln>
                            <a:noFill/>
                          </a:ln>
                          <a:solidFill>
                            <a:schemeClr val="accent1"/>
                          </a:solidFill>
                          <a:effectLst/>
                          <a:latin typeface="Arial" charset="0"/>
                          <a:ea typeface="宋体" pitchFamily="2" charset="-122"/>
                        </a:rPr>
                        <a:t>XX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600" b="0" i="0" u="none" strike="noStrike" cap="none" normalizeH="0" baseline="0" dirty="0">
                          <a:ln>
                            <a:noFill/>
                          </a:ln>
                          <a:solidFill>
                            <a:schemeClr val="accent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86516" name="Rectangle 84"/>
          <p:cNvSpPr>
            <a:spLocks noChangeArrowheads="1"/>
          </p:cNvSpPr>
          <p:nvPr/>
        </p:nvSpPr>
        <p:spPr bwMode="auto">
          <a:xfrm>
            <a:off x="457200" y="5181600"/>
            <a:ext cx="8305800" cy="806450"/>
          </a:xfrm>
          <a:prstGeom prst="rect">
            <a:avLst/>
          </a:prstGeom>
          <a:noFill/>
          <a:ln w="12700">
            <a:noFill/>
            <a:miter lim="800000"/>
            <a:headEnd/>
            <a:tailEnd/>
          </a:ln>
          <a:effectLst/>
        </p:spPr>
        <p:txBody>
          <a:bodyPr lIns="63500" tIns="25400" rIns="63500" bIns="25400">
            <a:spAutoFit/>
          </a:bodyPr>
          <a:lstStyle/>
          <a:p>
            <a:pPr marL="287338" indent="-287338" algn="just">
              <a:lnSpc>
                <a:spcPct val="95000"/>
              </a:lnSpc>
              <a:spcBef>
                <a:spcPct val="20000"/>
              </a:spcBef>
              <a:buClr>
                <a:schemeClr val="accent1"/>
              </a:buClr>
              <a:buSzPct val="75000"/>
              <a:buFont typeface="Wingdings" pitchFamily="2" charset="2"/>
              <a:buChar char="q"/>
            </a:pPr>
            <a:r>
              <a:rPr lang="en-US" altLang="zh-CN" sz="2600" dirty="0">
                <a:solidFill>
                  <a:schemeClr val="tx1"/>
                </a:solidFill>
                <a:ea typeface="宋体" pitchFamily="2" charset="-122"/>
              </a:rPr>
              <a:t>Setting of the </a:t>
            </a:r>
            <a:r>
              <a:rPr lang="en-US" altLang="zh-CN" sz="2600" dirty="0" err="1">
                <a:solidFill>
                  <a:schemeClr val="tx1"/>
                </a:solidFill>
                <a:ea typeface="宋体" pitchFamily="2" charset="-122"/>
              </a:rPr>
              <a:t>MemRd</a:t>
            </a:r>
            <a:r>
              <a:rPr lang="en-US" altLang="zh-CN" sz="2600" dirty="0">
                <a:solidFill>
                  <a:schemeClr val="tx1"/>
                </a:solidFill>
                <a:ea typeface="宋体" pitchFamily="2" charset="-122"/>
              </a:rPr>
              <a:t> signal (for R-type, </a:t>
            </a:r>
            <a:r>
              <a:rPr lang="en-US" altLang="zh-CN" sz="2600" dirty="0" err="1">
                <a:solidFill>
                  <a:schemeClr val="tx1"/>
                </a:solidFill>
                <a:ea typeface="宋体" pitchFamily="2" charset="-122"/>
              </a:rPr>
              <a:t>sw</a:t>
            </a:r>
            <a:r>
              <a:rPr lang="en-US" altLang="zh-CN" sz="2600" dirty="0">
                <a:solidFill>
                  <a:schemeClr val="tx1"/>
                </a:solidFill>
                <a:ea typeface="宋体" pitchFamily="2" charset="-122"/>
              </a:rPr>
              <a:t>, </a:t>
            </a:r>
            <a:r>
              <a:rPr lang="en-US" altLang="zh-CN" sz="2600" dirty="0" err="1">
                <a:solidFill>
                  <a:schemeClr val="tx1"/>
                </a:solidFill>
                <a:ea typeface="宋体" pitchFamily="2" charset="-122"/>
              </a:rPr>
              <a:t>beq</a:t>
            </a:r>
            <a:r>
              <a:rPr lang="en-US" altLang="zh-CN" sz="2600" dirty="0">
                <a:solidFill>
                  <a:schemeClr val="tx1"/>
                </a:solidFill>
                <a:ea typeface="宋体" pitchFamily="2" charset="-122"/>
              </a:rPr>
              <a:t>) depends on the memory design</a:t>
            </a:r>
          </a:p>
        </p:txBody>
      </p:sp>
    </p:spTree>
    <p:extLst>
      <p:ext uri="{BB962C8B-B14F-4D97-AF65-F5344CB8AC3E}">
        <p14:creationId xmlns:p14="http://schemas.microsoft.com/office/powerpoint/2010/main" val="1010355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a:noFill/>
          <a:ln/>
        </p:spPr>
        <p:txBody>
          <a:bodyPr lIns="90488" tIns="44450" rIns="90488" bIns="44450" anchor="ctr"/>
          <a:lstStyle/>
          <a:p>
            <a:r>
              <a:rPr lang="en-US" altLang="zh-CN">
                <a:ea typeface="宋体" pitchFamily="2" charset="-122"/>
              </a:rPr>
              <a:t>Single Cycle Implementation Cycle Time</a:t>
            </a:r>
          </a:p>
        </p:txBody>
      </p:sp>
      <p:sp>
        <p:nvSpPr>
          <p:cNvPr id="750595" name="Rectangle 3"/>
          <p:cNvSpPr>
            <a:spLocks noGrp="1" noChangeArrowheads="1"/>
          </p:cNvSpPr>
          <p:nvPr>
            <p:ph type="body" idx="1"/>
          </p:nvPr>
        </p:nvSpPr>
        <p:spPr>
          <a:xfrm>
            <a:off x="685800" y="914400"/>
            <a:ext cx="7848600" cy="4281685"/>
          </a:xfrm>
          <a:noFill/>
          <a:ln/>
        </p:spPr>
        <p:txBody>
          <a:bodyPr lIns="90488" tIns="44450" rIns="90488" bIns="44450"/>
          <a:lstStyle/>
          <a:p>
            <a:pPr marL="342900" indent="-342900"/>
            <a:r>
              <a:rPr lang="en-US" altLang="zh-CN" dirty="0">
                <a:ea typeface="宋体" pitchFamily="2" charset="-122"/>
              </a:rPr>
              <a:t>Unfortunately, though simple, the single cycle approach is not used because it is </a:t>
            </a:r>
            <a:r>
              <a:rPr lang="en-US" altLang="zh-CN">
                <a:ea typeface="宋体" pitchFamily="2" charset="-122"/>
              </a:rPr>
              <a:t>very slow</a:t>
            </a:r>
          </a:p>
          <a:p>
            <a:pPr marL="342900" indent="-342900"/>
            <a:endParaRPr lang="en-US" altLang="zh-CN" dirty="0">
              <a:ea typeface="宋体" pitchFamily="2" charset="-122"/>
            </a:endParaRPr>
          </a:p>
          <a:p>
            <a:pPr marL="342900" indent="-342900"/>
            <a:r>
              <a:rPr lang="en-US" altLang="zh-CN" dirty="0">
                <a:ea typeface="宋体" pitchFamily="2" charset="-122"/>
              </a:rPr>
              <a:t>Clock cycle must have the same length for every instruction</a:t>
            </a:r>
          </a:p>
          <a:p>
            <a:pPr marL="342900" indent="-342900">
              <a:buFont typeface="Wingdings" pitchFamily="2" charset="2"/>
              <a:buNone/>
            </a:pPr>
            <a:endParaRPr lang="en-US" altLang="zh-CN" dirty="0">
              <a:ea typeface="宋体" pitchFamily="2" charset="-122"/>
            </a:endParaRPr>
          </a:p>
          <a:p>
            <a:pPr marL="342900" indent="-342900"/>
            <a:r>
              <a:rPr lang="en-US" altLang="zh-CN" dirty="0">
                <a:ea typeface="宋体" pitchFamily="2" charset="-122"/>
              </a:rPr>
              <a:t>What is the longest (slowest) path (slowest instruction)?</a:t>
            </a:r>
          </a:p>
          <a:p>
            <a:pPr marL="342900" indent="-342900"/>
            <a:endParaRPr lang="zh-CN" altLang="en-US" dirty="0">
              <a:ea typeface="宋体" pitchFamily="2" charset="-122"/>
            </a:endParaRPr>
          </a:p>
        </p:txBody>
      </p:sp>
    </p:spTree>
    <p:extLst>
      <p:ext uri="{BB962C8B-B14F-4D97-AF65-F5344CB8AC3E}">
        <p14:creationId xmlns:p14="http://schemas.microsoft.com/office/powerpoint/2010/main" val="889857515"/>
      </p:ext>
    </p:extLst>
  </p:cSld>
  <p:clrMapOvr>
    <a:masterClrMapping/>
  </p:clrMapOvr>
  <p:transition advTm="2000"/>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2642" name="Rectangle 2"/>
          <p:cNvSpPr>
            <a:spLocks noGrp="1" noChangeArrowheads="1"/>
          </p:cNvSpPr>
          <p:nvPr>
            <p:ph type="title"/>
          </p:nvPr>
        </p:nvSpPr>
        <p:spPr/>
        <p:txBody>
          <a:bodyPr/>
          <a:lstStyle/>
          <a:p>
            <a:r>
              <a:rPr lang="en-US" altLang="zh-CN">
                <a:ea typeface="宋体" pitchFamily="2" charset="-122"/>
              </a:rPr>
              <a:t>Instruction Critical Paths</a:t>
            </a:r>
          </a:p>
        </p:txBody>
      </p:sp>
      <p:graphicFrame>
        <p:nvGraphicFramePr>
          <p:cNvPr id="752704" name="Group 64"/>
          <p:cNvGraphicFramePr>
            <a:graphicFrameLocks noGrp="1"/>
          </p:cNvGraphicFramePr>
          <p:nvPr>
            <p:ph type="tbl" idx="1"/>
          </p:nvPr>
        </p:nvGraphicFramePr>
        <p:xfrm>
          <a:off x="609600" y="3352800"/>
          <a:ext cx="7848600" cy="2976374"/>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tblGrid>
              <a:tr h="449263">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Instr.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I Mem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Reg Rd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ALU 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D Mem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Reg Wr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Total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R-type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load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9263">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store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85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beq</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9263">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jump</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52701" name="Rectangle 61"/>
          <p:cNvSpPr>
            <a:spLocks noChangeArrowheads="1"/>
          </p:cNvSpPr>
          <p:nvPr/>
        </p:nvSpPr>
        <p:spPr bwMode="auto">
          <a:xfrm>
            <a:off x="609600" y="762000"/>
            <a:ext cx="7848600" cy="2311400"/>
          </a:xfrm>
          <a:prstGeom prst="rect">
            <a:avLst/>
          </a:prstGeom>
          <a:noFill/>
          <a:ln w="12700">
            <a:noFill/>
            <a:miter lim="800000"/>
            <a:headEnd/>
            <a:tailEnd/>
          </a:ln>
          <a:effectLst/>
        </p:spPr>
        <p:txBody>
          <a:bodyPr>
            <a:spAutoFit/>
          </a:bodyPr>
          <a:lstStyle/>
          <a:p>
            <a:pPr>
              <a:lnSpc>
                <a:spcPct val="90000"/>
              </a:lnSpc>
              <a:spcBef>
                <a:spcPct val="50000"/>
              </a:spcBef>
              <a:buClr>
                <a:schemeClr val="accent1"/>
              </a:buClr>
              <a:buSzPct val="75000"/>
              <a:buFont typeface="Wingdings" pitchFamily="2" charset="2"/>
              <a:buChar char="q"/>
            </a:pPr>
            <a:r>
              <a:rPr lang="zh-CN" altLang="en-US" sz="2400">
                <a:solidFill>
                  <a:schemeClr val="tx1"/>
                </a:solidFill>
                <a:ea typeface="宋体" pitchFamily="2" charset="-122"/>
              </a:rPr>
              <a:t>  </a:t>
            </a:r>
            <a:r>
              <a:rPr lang="en-US" altLang="zh-CN" sz="2400">
                <a:solidFill>
                  <a:schemeClr val="tx1"/>
                </a:solidFill>
                <a:ea typeface="宋体" pitchFamily="2" charset="-122"/>
              </a:rPr>
              <a:t>Calculate cycle time assuming negligible delays (for muxes, control unit, sign extend, PC access, shift left 2, wires) except:</a:t>
            </a:r>
          </a:p>
          <a:p>
            <a:pPr lvl="1">
              <a:lnSpc>
                <a:spcPct val="85000"/>
              </a:lnSpc>
              <a:spcBef>
                <a:spcPct val="50000"/>
              </a:spcBef>
              <a:buClr>
                <a:schemeClr val="accent1"/>
              </a:buClr>
              <a:buSzPct val="75000"/>
              <a:buFont typeface="Monotype Sorts" pitchFamily="2" charset="2"/>
              <a:buChar char="l"/>
            </a:pPr>
            <a:r>
              <a:rPr lang="en-US" altLang="zh-CN" sz="2000">
                <a:solidFill>
                  <a:schemeClr val="tx1"/>
                </a:solidFill>
                <a:ea typeface="宋体" pitchFamily="2" charset="-122"/>
              </a:rPr>
              <a:t> Instruction and Data Memory (4 ns)</a:t>
            </a:r>
          </a:p>
          <a:p>
            <a:pPr lvl="1">
              <a:lnSpc>
                <a:spcPct val="85000"/>
              </a:lnSpc>
              <a:spcBef>
                <a:spcPct val="50000"/>
              </a:spcBef>
              <a:buClr>
                <a:schemeClr val="accent1"/>
              </a:buClr>
              <a:buSzPct val="75000"/>
              <a:buFont typeface="Monotype Sorts" pitchFamily="2" charset="2"/>
              <a:buChar char="l"/>
            </a:pPr>
            <a:r>
              <a:rPr lang="en-US" altLang="zh-CN" sz="2000">
                <a:solidFill>
                  <a:schemeClr val="tx1"/>
                </a:solidFill>
                <a:ea typeface="宋体" pitchFamily="2" charset="-122"/>
              </a:rPr>
              <a:t> ALU and adders (2 ns)</a:t>
            </a:r>
          </a:p>
          <a:p>
            <a:pPr lvl="1">
              <a:lnSpc>
                <a:spcPct val="85000"/>
              </a:lnSpc>
              <a:spcBef>
                <a:spcPct val="50000"/>
              </a:spcBef>
              <a:buClr>
                <a:schemeClr val="accent1"/>
              </a:buClr>
              <a:buSzPct val="75000"/>
              <a:buFont typeface="Monotype Sorts" pitchFamily="2" charset="2"/>
              <a:buChar char="l"/>
            </a:pPr>
            <a:r>
              <a:rPr lang="en-US" altLang="zh-CN" sz="2000">
                <a:solidFill>
                  <a:schemeClr val="tx1"/>
                </a:solidFill>
                <a:ea typeface="宋体" pitchFamily="2" charset="-122"/>
              </a:rPr>
              <a:t> Register File access (reads or writes) (1 ns)</a:t>
            </a:r>
          </a:p>
        </p:txBody>
      </p:sp>
    </p:spTree>
    <p:extLst>
      <p:ext uri="{BB962C8B-B14F-4D97-AF65-F5344CB8AC3E}">
        <p14:creationId xmlns:p14="http://schemas.microsoft.com/office/powerpoint/2010/main" val="61348105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666" name="Rectangle 2"/>
          <p:cNvSpPr>
            <a:spLocks noGrp="1" noChangeArrowheads="1"/>
          </p:cNvSpPr>
          <p:nvPr>
            <p:ph type="title" sz="quarter"/>
          </p:nvPr>
        </p:nvSpPr>
        <p:spPr/>
        <p:txBody>
          <a:bodyPr/>
          <a:lstStyle/>
          <a:p>
            <a:r>
              <a:rPr lang="en-US" altLang="zh-CN">
                <a:ea typeface="宋体" pitchFamily="2" charset="-122"/>
              </a:rPr>
              <a:t>Instruction Critical Paths</a:t>
            </a:r>
          </a:p>
        </p:txBody>
      </p:sp>
      <p:graphicFrame>
        <p:nvGraphicFramePr>
          <p:cNvPr id="753836" name="Group 172"/>
          <p:cNvGraphicFramePr>
            <a:graphicFrameLocks noGrp="1"/>
          </p:cNvGraphicFramePr>
          <p:nvPr>
            <p:ph sz="quarter" idx="1"/>
          </p:nvPr>
        </p:nvGraphicFramePr>
        <p:xfrm>
          <a:off x="533400" y="3352800"/>
          <a:ext cx="7848600" cy="2950972"/>
        </p:xfrm>
        <a:graphic>
          <a:graphicData uri="http://schemas.openxmlformats.org/drawingml/2006/table">
            <a:tbl>
              <a:tblPr/>
              <a:tblGrid>
                <a:gridCol w="838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843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tblGrid>
              <a:tr h="44450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Instr.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I Mem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Reg Rd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ALU 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D Mem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Reg Wr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Total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450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R-type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450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load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accent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450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store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450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beq</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4500">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jump</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53842" name="Group 178"/>
          <p:cNvGraphicFramePr>
            <a:graphicFrameLocks noGrp="1"/>
          </p:cNvGraphicFramePr>
          <p:nvPr>
            <p:ph sz="quarter" idx="2"/>
          </p:nvPr>
        </p:nvGraphicFramePr>
        <p:xfrm>
          <a:off x="1371600" y="3810000"/>
          <a:ext cx="7010400" cy="685800"/>
        </p:xfrm>
        <a:graphic>
          <a:graphicData uri="http://schemas.openxmlformats.org/drawingml/2006/table">
            <a:tbl>
              <a:tblPr/>
              <a:tblGrid>
                <a:gridCol w="11176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685800">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53847" name="Group 183"/>
          <p:cNvGraphicFramePr>
            <a:graphicFrameLocks noGrp="1"/>
          </p:cNvGraphicFramePr>
          <p:nvPr>
            <p:ph sz="quarter" idx="3"/>
          </p:nvPr>
        </p:nvGraphicFramePr>
        <p:xfrm>
          <a:off x="1371600" y="4522788"/>
          <a:ext cx="7010400" cy="430213"/>
        </p:xfrm>
        <a:graphic>
          <a:graphicData uri="http://schemas.openxmlformats.org/drawingml/2006/table">
            <a:tbl>
              <a:tblPr/>
              <a:tblGrid>
                <a:gridCol w="11176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430213">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accent1"/>
                          </a:solidFill>
                          <a:effectLst/>
                          <a:latin typeface="Arial" charset="0"/>
                          <a:ea typeface="宋体" pitchFamily="2" charset="-122"/>
                        </a:rPr>
                        <a:t>12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53757" name="Rectangle 93"/>
          <p:cNvSpPr>
            <a:spLocks noChangeArrowheads="1"/>
          </p:cNvSpPr>
          <p:nvPr/>
        </p:nvSpPr>
        <p:spPr bwMode="auto">
          <a:xfrm>
            <a:off x="609600" y="685800"/>
            <a:ext cx="7848600" cy="2311400"/>
          </a:xfrm>
          <a:prstGeom prst="rect">
            <a:avLst/>
          </a:prstGeom>
          <a:noFill/>
          <a:ln w="12700">
            <a:noFill/>
            <a:miter lim="800000"/>
            <a:headEnd/>
            <a:tailEnd/>
          </a:ln>
          <a:effectLst/>
        </p:spPr>
        <p:txBody>
          <a:bodyPr>
            <a:spAutoFit/>
          </a:bodyPr>
          <a:lstStyle/>
          <a:p>
            <a:pPr>
              <a:lnSpc>
                <a:spcPct val="90000"/>
              </a:lnSpc>
              <a:spcBef>
                <a:spcPct val="50000"/>
              </a:spcBef>
              <a:buClr>
                <a:schemeClr val="accent1"/>
              </a:buClr>
              <a:buSzPct val="75000"/>
              <a:buFont typeface="Wingdings" pitchFamily="2" charset="2"/>
              <a:buChar char="q"/>
            </a:pPr>
            <a:r>
              <a:rPr lang="zh-CN" altLang="en-US" sz="2400">
                <a:solidFill>
                  <a:schemeClr val="tx1"/>
                </a:solidFill>
                <a:ea typeface="宋体" pitchFamily="2" charset="-122"/>
              </a:rPr>
              <a:t>  </a:t>
            </a:r>
            <a:r>
              <a:rPr lang="en-US" altLang="zh-CN" sz="2400">
                <a:solidFill>
                  <a:schemeClr val="tx1"/>
                </a:solidFill>
                <a:ea typeface="宋体" pitchFamily="2" charset="-122"/>
              </a:rPr>
              <a:t>Calculate cycle time assuming negligible delays (for muxes, control unit, sign extend, PC access, shift left 2, wires, setup and hold times) except:</a:t>
            </a:r>
          </a:p>
          <a:p>
            <a:pPr lvl="1">
              <a:lnSpc>
                <a:spcPct val="85000"/>
              </a:lnSpc>
              <a:spcBef>
                <a:spcPct val="50000"/>
              </a:spcBef>
              <a:buClr>
                <a:schemeClr val="accent1"/>
              </a:buClr>
              <a:buSzPct val="75000"/>
              <a:buFont typeface="Monotype Sorts" pitchFamily="2" charset="2"/>
              <a:buChar char="l"/>
            </a:pPr>
            <a:r>
              <a:rPr lang="en-US" altLang="zh-CN" sz="2000">
                <a:solidFill>
                  <a:schemeClr val="tx1"/>
                </a:solidFill>
                <a:ea typeface="宋体" pitchFamily="2" charset="-122"/>
              </a:rPr>
              <a:t> Instruction and Data Memory (4 ns)</a:t>
            </a:r>
          </a:p>
          <a:p>
            <a:pPr lvl="1">
              <a:lnSpc>
                <a:spcPct val="85000"/>
              </a:lnSpc>
              <a:spcBef>
                <a:spcPct val="50000"/>
              </a:spcBef>
              <a:buClr>
                <a:schemeClr val="accent1"/>
              </a:buClr>
              <a:buSzPct val="75000"/>
              <a:buFont typeface="Monotype Sorts" pitchFamily="2" charset="2"/>
              <a:buChar char="l"/>
            </a:pPr>
            <a:r>
              <a:rPr lang="en-US" altLang="zh-CN" sz="2000">
                <a:solidFill>
                  <a:schemeClr val="tx1"/>
                </a:solidFill>
                <a:ea typeface="宋体" pitchFamily="2" charset="-122"/>
              </a:rPr>
              <a:t> ALU and adders (2 ns)</a:t>
            </a:r>
          </a:p>
          <a:p>
            <a:pPr lvl="1">
              <a:lnSpc>
                <a:spcPct val="85000"/>
              </a:lnSpc>
              <a:spcBef>
                <a:spcPct val="50000"/>
              </a:spcBef>
              <a:buClr>
                <a:schemeClr val="accent1"/>
              </a:buClr>
              <a:buSzPct val="75000"/>
              <a:buFont typeface="Monotype Sorts" pitchFamily="2" charset="2"/>
              <a:buChar char="l"/>
            </a:pPr>
            <a:r>
              <a:rPr lang="en-US" altLang="zh-CN" sz="2000">
                <a:solidFill>
                  <a:schemeClr val="tx1"/>
                </a:solidFill>
                <a:ea typeface="宋体" pitchFamily="2" charset="-122"/>
              </a:rPr>
              <a:t> Register File access (reads or writes) (1 ns)</a:t>
            </a:r>
          </a:p>
        </p:txBody>
      </p:sp>
      <p:graphicFrame>
        <p:nvGraphicFramePr>
          <p:cNvPr id="753852" name="Group 188"/>
          <p:cNvGraphicFramePr>
            <a:graphicFrameLocks noGrp="1"/>
          </p:cNvGraphicFramePr>
          <p:nvPr>
            <p:ph sz="quarter" idx="4"/>
          </p:nvPr>
        </p:nvGraphicFramePr>
        <p:xfrm>
          <a:off x="1371600" y="4953000"/>
          <a:ext cx="7010400" cy="457200"/>
        </p:xfrm>
        <a:graphic>
          <a:graphicData uri="http://schemas.openxmlformats.org/drawingml/2006/table">
            <a:tbl>
              <a:tblPr/>
              <a:tblGrid>
                <a:gridCol w="11176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457200">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53864" name="Group 200"/>
          <p:cNvGraphicFramePr>
            <a:graphicFrameLocks noGrp="1"/>
          </p:cNvGraphicFramePr>
          <p:nvPr/>
        </p:nvGraphicFramePr>
        <p:xfrm>
          <a:off x="1371600" y="5410200"/>
          <a:ext cx="7010400" cy="430213"/>
        </p:xfrm>
        <a:graphic>
          <a:graphicData uri="http://schemas.openxmlformats.org/drawingml/2006/table">
            <a:tbl>
              <a:tblPr/>
              <a:tblGrid>
                <a:gridCol w="1119188">
                  <a:extLst>
                    <a:ext uri="{9D8B030D-6E8A-4147-A177-3AD203B41FA5}">
                      <a16:colId xmlns:a16="http://schemas.microsoft.com/office/drawing/2014/main" val="20000"/>
                    </a:ext>
                  </a:extLst>
                </a:gridCol>
                <a:gridCol w="1395412">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430213">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53863" name="Group 199"/>
          <p:cNvGraphicFramePr>
            <a:graphicFrameLocks noGrp="1"/>
          </p:cNvGraphicFramePr>
          <p:nvPr/>
        </p:nvGraphicFramePr>
        <p:xfrm>
          <a:off x="1371600" y="5867400"/>
          <a:ext cx="7010400" cy="409956"/>
        </p:xfrm>
        <a:graphic>
          <a:graphicData uri="http://schemas.openxmlformats.org/drawingml/2006/table">
            <a:tbl>
              <a:tblPr/>
              <a:tblGrid>
                <a:gridCol w="1143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381000">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551588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538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538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7538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538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7538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a:lstStyle/>
          <a:p>
            <a:r>
              <a:rPr lang="en-US"/>
              <a:t>Single Cycle Disadvantages &amp; Advantages</a:t>
            </a:r>
          </a:p>
        </p:txBody>
      </p:sp>
      <p:sp>
        <p:nvSpPr>
          <p:cNvPr id="777219" name="Rectangle 3"/>
          <p:cNvSpPr>
            <a:spLocks noGrp="1" noChangeArrowheads="1"/>
          </p:cNvSpPr>
          <p:nvPr>
            <p:ph type="body" idx="1"/>
          </p:nvPr>
        </p:nvSpPr>
        <p:spPr>
          <a:xfrm>
            <a:off x="609600" y="777875"/>
            <a:ext cx="8001000" cy="5049587"/>
          </a:xfrm>
        </p:spPr>
        <p:txBody>
          <a:bodyPr/>
          <a:lstStyle/>
          <a:p>
            <a:pPr>
              <a:spcBef>
                <a:spcPct val="20000"/>
              </a:spcBef>
            </a:pPr>
            <a:r>
              <a:rPr lang="en-US" dirty="0"/>
              <a:t>Uses the clock cycle inefficiently – the clock cycle must be timed to accommodate the </a:t>
            </a:r>
            <a:r>
              <a:rPr lang="en-US">
                <a:solidFill>
                  <a:schemeClr val="accent1"/>
                </a:solidFill>
              </a:rPr>
              <a:t>slowest</a:t>
            </a:r>
            <a:r>
              <a:rPr lang="en-US"/>
              <a:t> instruction</a:t>
            </a:r>
            <a:endParaRPr lang="en-US" dirty="0"/>
          </a:p>
          <a:p>
            <a:pPr lvl="1">
              <a:spcBef>
                <a:spcPct val="20000"/>
              </a:spcBef>
            </a:pPr>
            <a:r>
              <a:rPr lang="en-US" dirty="0"/>
              <a:t>especially problematic for more complex instructions like floating point multiply</a:t>
            </a:r>
          </a:p>
          <a:p>
            <a:pPr lvl="1">
              <a:spcBef>
                <a:spcPct val="20000"/>
              </a:spcBef>
            </a:pPr>
            <a:endParaRPr lang="en-US" dirty="0"/>
          </a:p>
          <a:p>
            <a:pPr>
              <a:spcBef>
                <a:spcPct val="20000"/>
              </a:spcBef>
            </a:pPr>
            <a:endParaRPr lang="en-US" dirty="0"/>
          </a:p>
          <a:p>
            <a:pPr>
              <a:spcBef>
                <a:spcPct val="20000"/>
              </a:spcBef>
            </a:pPr>
            <a:endParaRPr lang="en-US" dirty="0"/>
          </a:p>
          <a:p>
            <a:pPr lvl="1">
              <a:spcBef>
                <a:spcPct val="20000"/>
              </a:spcBef>
            </a:pPr>
            <a:endParaRPr lang="en-US" dirty="0"/>
          </a:p>
          <a:p>
            <a:pPr>
              <a:spcBef>
                <a:spcPct val="20000"/>
              </a:spcBef>
            </a:pPr>
            <a:endParaRPr lang="en-US" dirty="0"/>
          </a:p>
          <a:p>
            <a:pPr>
              <a:spcBef>
                <a:spcPct val="20000"/>
              </a:spcBef>
            </a:pPr>
            <a:r>
              <a:rPr lang="en-US" dirty="0"/>
              <a:t>May be wasteful of area since some functional units (e.g., adders) must be duplicated since they can not be shared during a clock cycle</a:t>
            </a:r>
          </a:p>
          <a:p>
            <a:pPr>
              <a:spcBef>
                <a:spcPct val="20000"/>
              </a:spcBef>
              <a:buFont typeface="Wingdings" pitchFamily="2" charset="2"/>
              <a:buNone/>
            </a:pPr>
            <a:r>
              <a:rPr lang="en-US" dirty="0"/>
              <a:t>but</a:t>
            </a:r>
          </a:p>
          <a:p>
            <a:pPr>
              <a:spcBef>
                <a:spcPct val="20000"/>
              </a:spcBef>
            </a:pPr>
            <a:r>
              <a:rPr lang="en-US" dirty="0"/>
              <a:t>It is simple and easy to understand</a:t>
            </a:r>
          </a:p>
        </p:txBody>
      </p:sp>
      <p:grpSp>
        <p:nvGrpSpPr>
          <p:cNvPr id="2" name="Group 4"/>
          <p:cNvGrpSpPr>
            <a:grpSpLocks/>
          </p:cNvGrpSpPr>
          <p:nvPr/>
        </p:nvGrpSpPr>
        <p:grpSpPr bwMode="auto">
          <a:xfrm>
            <a:off x="360363" y="2479675"/>
            <a:ext cx="8148637" cy="1289050"/>
            <a:chOff x="227" y="1562"/>
            <a:chExt cx="5133" cy="812"/>
          </a:xfrm>
        </p:grpSpPr>
        <p:sp>
          <p:nvSpPr>
            <p:cNvPr id="777221" name="Line 5"/>
            <p:cNvSpPr>
              <a:spLocks noChangeShapeType="1"/>
            </p:cNvSpPr>
            <p:nvPr/>
          </p:nvSpPr>
          <p:spPr bwMode="auto">
            <a:xfrm>
              <a:off x="296" y="1762"/>
              <a:ext cx="224" cy="0"/>
            </a:xfrm>
            <a:prstGeom prst="line">
              <a:avLst/>
            </a:prstGeom>
            <a:noFill/>
            <a:ln w="25400">
              <a:solidFill>
                <a:schemeClr val="tx1"/>
              </a:solidFill>
              <a:round/>
              <a:headEnd/>
              <a:tailEnd/>
            </a:ln>
            <a:effectLst/>
          </p:spPr>
          <p:txBody>
            <a:bodyPr wrap="none" anchor="ctr"/>
            <a:lstStyle/>
            <a:p>
              <a:endParaRPr lang="en-US"/>
            </a:p>
          </p:txBody>
        </p:sp>
        <p:sp>
          <p:nvSpPr>
            <p:cNvPr id="777222" name="Line 6"/>
            <p:cNvSpPr>
              <a:spLocks noChangeShapeType="1"/>
            </p:cNvSpPr>
            <p:nvPr/>
          </p:nvSpPr>
          <p:spPr bwMode="auto">
            <a:xfrm>
              <a:off x="528" y="1770"/>
              <a:ext cx="0" cy="128"/>
            </a:xfrm>
            <a:prstGeom prst="line">
              <a:avLst/>
            </a:prstGeom>
            <a:noFill/>
            <a:ln w="25400">
              <a:solidFill>
                <a:schemeClr val="tx1"/>
              </a:solidFill>
              <a:round/>
              <a:headEnd/>
              <a:tailEnd/>
            </a:ln>
            <a:effectLst/>
          </p:spPr>
          <p:txBody>
            <a:bodyPr wrap="none" anchor="ctr"/>
            <a:lstStyle/>
            <a:p>
              <a:endParaRPr lang="en-US"/>
            </a:p>
          </p:txBody>
        </p:sp>
        <p:sp>
          <p:nvSpPr>
            <p:cNvPr id="777223" name="Line 7"/>
            <p:cNvSpPr>
              <a:spLocks noChangeShapeType="1"/>
            </p:cNvSpPr>
            <p:nvPr/>
          </p:nvSpPr>
          <p:spPr bwMode="auto">
            <a:xfrm>
              <a:off x="2784" y="1770"/>
              <a:ext cx="0" cy="128"/>
            </a:xfrm>
            <a:prstGeom prst="line">
              <a:avLst/>
            </a:prstGeom>
            <a:noFill/>
            <a:ln w="25400">
              <a:solidFill>
                <a:schemeClr val="tx1"/>
              </a:solidFill>
              <a:round/>
              <a:headEnd/>
              <a:tailEnd/>
            </a:ln>
            <a:effectLst/>
          </p:spPr>
          <p:txBody>
            <a:bodyPr wrap="none" anchor="ctr"/>
            <a:lstStyle/>
            <a:p>
              <a:endParaRPr lang="en-US"/>
            </a:p>
          </p:txBody>
        </p:sp>
        <p:sp>
          <p:nvSpPr>
            <p:cNvPr id="777224" name="Line 8"/>
            <p:cNvSpPr>
              <a:spLocks noChangeShapeType="1"/>
            </p:cNvSpPr>
            <p:nvPr/>
          </p:nvSpPr>
          <p:spPr bwMode="auto">
            <a:xfrm>
              <a:off x="5136" y="1770"/>
              <a:ext cx="0" cy="128"/>
            </a:xfrm>
            <a:prstGeom prst="line">
              <a:avLst/>
            </a:prstGeom>
            <a:noFill/>
            <a:ln w="25400">
              <a:solidFill>
                <a:schemeClr val="tx1"/>
              </a:solidFill>
              <a:round/>
              <a:headEnd/>
              <a:tailEnd/>
            </a:ln>
            <a:effectLst/>
          </p:spPr>
          <p:txBody>
            <a:bodyPr wrap="none" anchor="ctr"/>
            <a:lstStyle/>
            <a:p>
              <a:endParaRPr lang="en-US"/>
            </a:p>
          </p:txBody>
        </p:sp>
        <p:sp>
          <p:nvSpPr>
            <p:cNvPr id="777225" name="Line 9"/>
            <p:cNvSpPr>
              <a:spLocks noChangeShapeType="1"/>
            </p:cNvSpPr>
            <p:nvPr/>
          </p:nvSpPr>
          <p:spPr bwMode="auto">
            <a:xfrm>
              <a:off x="536" y="1906"/>
              <a:ext cx="1184" cy="0"/>
            </a:xfrm>
            <a:prstGeom prst="line">
              <a:avLst/>
            </a:prstGeom>
            <a:noFill/>
            <a:ln w="25400">
              <a:solidFill>
                <a:schemeClr val="tx1"/>
              </a:solidFill>
              <a:round/>
              <a:headEnd/>
              <a:tailEnd/>
            </a:ln>
            <a:effectLst/>
          </p:spPr>
          <p:txBody>
            <a:bodyPr wrap="none" anchor="ctr"/>
            <a:lstStyle/>
            <a:p>
              <a:endParaRPr lang="en-US"/>
            </a:p>
          </p:txBody>
        </p:sp>
        <p:sp>
          <p:nvSpPr>
            <p:cNvPr id="777226" name="Line 10"/>
            <p:cNvSpPr>
              <a:spLocks noChangeShapeType="1"/>
            </p:cNvSpPr>
            <p:nvPr/>
          </p:nvSpPr>
          <p:spPr bwMode="auto">
            <a:xfrm>
              <a:off x="1736" y="1762"/>
              <a:ext cx="1040" cy="0"/>
            </a:xfrm>
            <a:prstGeom prst="line">
              <a:avLst/>
            </a:prstGeom>
            <a:noFill/>
            <a:ln w="25400">
              <a:solidFill>
                <a:schemeClr val="tx1"/>
              </a:solidFill>
              <a:round/>
              <a:headEnd/>
              <a:tailEnd/>
            </a:ln>
            <a:effectLst/>
          </p:spPr>
          <p:txBody>
            <a:bodyPr wrap="none" anchor="ctr"/>
            <a:lstStyle/>
            <a:p>
              <a:endParaRPr lang="en-US"/>
            </a:p>
          </p:txBody>
        </p:sp>
        <p:sp>
          <p:nvSpPr>
            <p:cNvPr id="777227" name="Line 11"/>
            <p:cNvSpPr>
              <a:spLocks noChangeShapeType="1"/>
            </p:cNvSpPr>
            <p:nvPr/>
          </p:nvSpPr>
          <p:spPr bwMode="auto">
            <a:xfrm>
              <a:off x="1728" y="1770"/>
              <a:ext cx="0" cy="128"/>
            </a:xfrm>
            <a:prstGeom prst="line">
              <a:avLst/>
            </a:prstGeom>
            <a:noFill/>
            <a:ln w="25400">
              <a:solidFill>
                <a:schemeClr val="tx1"/>
              </a:solidFill>
              <a:round/>
              <a:headEnd/>
              <a:tailEnd/>
            </a:ln>
            <a:effectLst/>
          </p:spPr>
          <p:txBody>
            <a:bodyPr wrap="none" anchor="ctr"/>
            <a:lstStyle/>
            <a:p>
              <a:endParaRPr lang="en-US"/>
            </a:p>
          </p:txBody>
        </p:sp>
        <p:sp>
          <p:nvSpPr>
            <p:cNvPr id="777228" name="Line 12"/>
            <p:cNvSpPr>
              <a:spLocks noChangeShapeType="1"/>
            </p:cNvSpPr>
            <p:nvPr/>
          </p:nvSpPr>
          <p:spPr bwMode="auto">
            <a:xfrm>
              <a:off x="2792" y="1906"/>
              <a:ext cx="1184" cy="0"/>
            </a:xfrm>
            <a:prstGeom prst="line">
              <a:avLst/>
            </a:prstGeom>
            <a:noFill/>
            <a:ln w="25400">
              <a:solidFill>
                <a:schemeClr val="tx1"/>
              </a:solidFill>
              <a:round/>
              <a:headEnd/>
              <a:tailEnd/>
            </a:ln>
            <a:effectLst/>
          </p:spPr>
          <p:txBody>
            <a:bodyPr wrap="none" anchor="ctr"/>
            <a:lstStyle/>
            <a:p>
              <a:endParaRPr lang="en-US"/>
            </a:p>
          </p:txBody>
        </p:sp>
        <p:sp>
          <p:nvSpPr>
            <p:cNvPr id="777229" name="Line 13"/>
            <p:cNvSpPr>
              <a:spLocks noChangeShapeType="1"/>
            </p:cNvSpPr>
            <p:nvPr/>
          </p:nvSpPr>
          <p:spPr bwMode="auto">
            <a:xfrm>
              <a:off x="3992" y="1762"/>
              <a:ext cx="1136" cy="0"/>
            </a:xfrm>
            <a:prstGeom prst="line">
              <a:avLst/>
            </a:prstGeom>
            <a:noFill/>
            <a:ln w="25400">
              <a:solidFill>
                <a:schemeClr val="tx1"/>
              </a:solidFill>
              <a:round/>
              <a:headEnd/>
              <a:tailEnd/>
            </a:ln>
            <a:effectLst/>
          </p:spPr>
          <p:txBody>
            <a:bodyPr wrap="none" anchor="ctr"/>
            <a:lstStyle/>
            <a:p>
              <a:endParaRPr lang="en-US"/>
            </a:p>
          </p:txBody>
        </p:sp>
        <p:sp>
          <p:nvSpPr>
            <p:cNvPr id="777230" name="Line 14"/>
            <p:cNvSpPr>
              <a:spLocks noChangeShapeType="1"/>
            </p:cNvSpPr>
            <p:nvPr/>
          </p:nvSpPr>
          <p:spPr bwMode="auto">
            <a:xfrm>
              <a:off x="3984" y="1770"/>
              <a:ext cx="0" cy="128"/>
            </a:xfrm>
            <a:prstGeom prst="line">
              <a:avLst/>
            </a:prstGeom>
            <a:noFill/>
            <a:ln w="25400">
              <a:solidFill>
                <a:schemeClr val="tx1"/>
              </a:solidFill>
              <a:round/>
              <a:headEnd/>
              <a:tailEnd/>
            </a:ln>
            <a:effectLst/>
          </p:spPr>
          <p:txBody>
            <a:bodyPr wrap="none" anchor="ctr"/>
            <a:lstStyle/>
            <a:p>
              <a:endParaRPr lang="en-US"/>
            </a:p>
          </p:txBody>
        </p:sp>
        <p:sp>
          <p:nvSpPr>
            <p:cNvPr id="777231" name="Line 15"/>
            <p:cNvSpPr>
              <a:spLocks noChangeShapeType="1"/>
            </p:cNvSpPr>
            <p:nvPr/>
          </p:nvSpPr>
          <p:spPr bwMode="auto">
            <a:xfrm>
              <a:off x="5136" y="1906"/>
              <a:ext cx="224" cy="0"/>
            </a:xfrm>
            <a:prstGeom prst="line">
              <a:avLst/>
            </a:prstGeom>
            <a:noFill/>
            <a:ln w="25400">
              <a:solidFill>
                <a:schemeClr val="tx1"/>
              </a:solidFill>
              <a:round/>
              <a:headEnd/>
              <a:tailEnd/>
            </a:ln>
            <a:effectLst/>
          </p:spPr>
          <p:txBody>
            <a:bodyPr wrap="none" anchor="ctr"/>
            <a:lstStyle/>
            <a:p>
              <a:endParaRPr lang="en-US"/>
            </a:p>
          </p:txBody>
        </p:sp>
        <p:sp>
          <p:nvSpPr>
            <p:cNvPr id="777232" name="Rectangle 16"/>
            <p:cNvSpPr>
              <a:spLocks noChangeArrowheads="1"/>
            </p:cNvSpPr>
            <p:nvPr/>
          </p:nvSpPr>
          <p:spPr bwMode="auto">
            <a:xfrm>
              <a:off x="227" y="1758"/>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Clk</a:t>
              </a:r>
            </a:p>
          </p:txBody>
        </p:sp>
        <p:sp>
          <p:nvSpPr>
            <p:cNvPr id="777233" name="Rectangle 17"/>
            <p:cNvSpPr>
              <a:spLocks noChangeArrowheads="1"/>
            </p:cNvSpPr>
            <p:nvPr/>
          </p:nvSpPr>
          <p:spPr bwMode="auto">
            <a:xfrm>
              <a:off x="536" y="2176"/>
              <a:ext cx="2240" cy="176"/>
            </a:xfrm>
            <a:prstGeom prst="rect">
              <a:avLst/>
            </a:prstGeom>
            <a:noFill/>
            <a:ln w="25400">
              <a:solidFill>
                <a:schemeClr val="tx1"/>
              </a:solidFill>
              <a:miter lim="800000"/>
              <a:headEnd/>
              <a:tailEnd/>
            </a:ln>
            <a:effectLst/>
          </p:spPr>
          <p:txBody>
            <a:bodyPr wrap="none" anchor="ctr"/>
            <a:lstStyle/>
            <a:p>
              <a:endParaRPr lang="en-US"/>
            </a:p>
          </p:txBody>
        </p:sp>
        <p:sp>
          <p:nvSpPr>
            <p:cNvPr id="777234" name="Rectangle 18"/>
            <p:cNvSpPr>
              <a:spLocks noChangeArrowheads="1"/>
            </p:cNvSpPr>
            <p:nvPr/>
          </p:nvSpPr>
          <p:spPr bwMode="auto">
            <a:xfrm>
              <a:off x="2792" y="2176"/>
              <a:ext cx="2336" cy="176"/>
            </a:xfrm>
            <a:prstGeom prst="rect">
              <a:avLst/>
            </a:prstGeom>
            <a:noFill/>
            <a:ln w="25400">
              <a:solidFill>
                <a:schemeClr val="tx1"/>
              </a:solidFill>
              <a:miter lim="800000"/>
              <a:headEnd/>
              <a:tailEnd/>
            </a:ln>
            <a:effectLst/>
          </p:spPr>
          <p:txBody>
            <a:bodyPr wrap="none" anchor="ctr"/>
            <a:lstStyle/>
            <a:p>
              <a:endParaRPr lang="en-US"/>
            </a:p>
          </p:txBody>
        </p:sp>
        <p:sp>
          <p:nvSpPr>
            <p:cNvPr id="777235" name="Rectangle 19"/>
            <p:cNvSpPr>
              <a:spLocks noChangeArrowheads="1"/>
            </p:cNvSpPr>
            <p:nvPr/>
          </p:nvSpPr>
          <p:spPr bwMode="auto">
            <a:xfrm>
              <a:off x="1379" y="2164"/>
              <a:ext cx="250"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lw</a:t>
              </a:r>
            </a:p>
          </p:txBody>
        </p:sp>
        <p:sp>
          <p:nvSpPr>
            <p:cNvPr id="777236" name="Rectangle 20"/>
            <p:cNvSpPr>
              <a:spLocks noChangeArrowheads="1"/>
            </p:cNvSpPr>
            <p:nvPr/>
          </p:nvSpPr>
          <p:spPr bwMode="auto">
            <a:xfrm>
              <a:off x="3779" y="2164"/>
              <a:ext cx="28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sw</a:t>
              </a:r>
            </a:p>
          </p:txBody>
        </p:sp>
        <p:sp>
          <p:nvSpPr>
            <p:cNvPr id="777237" name="Line 21"/>
            <p:cNvSpPr>
              <a:spLocks noChangeShapeType="1"/>
            </p:cNvSpPr>
            <p:nvPr/>
          </p:nvSpPr>
          <p:spPr bwMode="auto">
            <a:xfrm flipV="1">
              <a:off x="4704" y="2160"/>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777238" name="Rectangle 22"/>
            <p:cNvSpPr>
              <a:spLocks noChangeArrowheads="1"/>
            </p:cNvSpPr>
            <p:nvPr/>
          </p:nvSpPr>
          <p:spPr bwMode="auto">
            <a:xfrm>
              <a:off x="4691" y="2164"/>
              <a:ext cx="491" cy="210"/>
            </a:xfrm>
            <a:prstGeom prst="rect">
              <a:avLst/>
            </a:prstGeom>
            <a:noFill/>
            <a:ln w="12700">
              <a:noFill/>
              <a:miter lim="800000"/>
              <a:headEnd/>
              <a:tailEnd/>
            </a:ln>
            <a:effectLst/>
          </p:spPr>
          <p:txBody>
            <a:bodyPr wrap="none" lIns="90488" tIns="44450" rIns="90488" bIns="44450">
              <a:spAutoFit/>
            </a:bodyPr>
            <a:lstStyle/>
            <a:p>
              <a:r>
                <a:rPr lang="en-US" sz="1600" b="1"/>
                <a:t>Waste</a:t>
              </a:r>
            </a:p>
          </p:txBody>
        </p:sp>
        <p:sp>
          <p:nvSpPr>
            <p:cNvPr id="777239" name="Line 23"/>
            <p:cNvSpPr>
              <a:spLocks noChangeShapeType="1"/>
            </p:cNvSpPr>
            <p:nvPr/>
          </p:nvSpPr>
          <p:spPr bwMode="auto">
            <a:xfrm flipV="1">
              <a:off x="528" y="1562"/>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777240" name="Rectangle 24"/>
            <p:cNvSpPr>
              <a:spLocks noChangeArrowheads="1"/>
            </p:cNvSpPr>
            <p:nvPr/>
          </p:nvSpPr>
          <p:spPr bwMode="auto">
            <a:xfrm>
              <a:off x="1392" y="1566"/>
              <a:ext cx="56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1</a:t>
              </a:r>
            </a:p>
          </p:txBody>
        </p:sp>
        <p:sp>
          <p:nvSpPr>
            <p:cNvPr id="777241" name="Line 25"/>
            <p:cNvSpPr>
              <a:spLocks noChangeShapeType="1"/>
            </p:cNvSpPr>
            <p:nvPr/>
          </p:nvSpPr>
          <p:spPr bwMode="auto">
            <a:xfrm flipV="1">
              <a:off x="2784" y="1562"/>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777242" name="Line 26"/>
            <p:cNvSpPr>
              <a:spLocks noChangeShapeType="1"/>
            </p:cNvSpPr>
            <p:nvPr/>
          </p:nvSpPr>
          <p:spPr bwMode="auto">
            <a:xfrm flipV="1">
              <a:off x="5136" y="1562"/>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777243" name="Rectangle 27"/>
            <p:cNvSpPr>
              <a:spLocks noChangeArrowheads="1"/>
            </p:cNvSpPr>
            <p:nvPr/>
          </p:nvSpPr>
          <p:spPr bwMode="auto">
            <a:xfrm>
              <a:off x="3696" y="1566"/>
              <a:ext cx="56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2</a:t>
              </a:r>
            </a:p>
          </p:txBody>
        </p:sp>
        <p:sp>
          <p:nvSpPr>
            <p:cNvPr id="777244" name="Line 28"/>
            <p:cNvSpPr>
              <a:spLocks noChangeShapeType="1"/>
            </p:cNvSpPr>
            <p:nvPr/>
          </p:nvSpPr>
          <p:spPr bwMode="auto">
            <a:xfrm>
              <a:off x="536" y="1666"/>
              <a:ext cx="896" cy="0"/>
            </a:xfrm>
            <a:prstGeom prst="line">
              <a:avLst/>
            </a:prstGeom>
            <a:noFill/>
            <a:ln w="25400">
              <a:solidFill>
                <a:schemeClr val="tx1"/>
              </a:solidFill>
              <a:round/>
              <a:headEnd type="triangle" w="med" len="med"/>
              <a:tailEnd/>
            </a:ln>
            <a:effectLst/>
          </p:spPr>
          <p:txBody>
            <a:bodyPr wrap="none" anchor="ctr"/>
            <a:lstStyle/>
            <a:p>
              <a:endParaRPr lang="en-US"/>
            </a:p>
          </p:txBody>
        </p:sp>
        <p:sp>
          <p:nvSpPr>
            <p:cNvPr id="777245" name="Line 29"/>
            <p:cNvSpPr>
              <a:spLocks noChangeShapeType="1"/>
            </p:cNvSpPr>
            <p:nvPr/>
          </p:nvSpPr>
          <p:spPr bwMode="auto">
            <a:xfrm>
              <a:off x="2792" y="1666"/>
              <a:ext cx="896" cy="0"/>
            </a:xfrm>
            <a:prstGeom prst="line">
              <a:avLst/>
            </a:prstGeom>
            <a:noFill/>
            <a:ln w="25400">
              <a:solidFill>
                <a:schemeClr val="tx1"/>
              </a:solidFill>
              <a:round/>
              <a:headEnd type="triangle" w="med" len="med"/>
              <a:tailEnd/>
            </a:ln>
            <a:effectLst/>
          </p:spPr>
          <p:txBody>
            <a:bodyPr wrap="none" anchor="ctr"/>
            <a:lstStyle/>
            <a:p>
              <a:endParaRPr lang="en-US"/>
            </a:p>
          </p:txBody>
        </p:sp>
        <p:sp>
          <p:nvSpPr>
            <p:cNvPr id="777246" name="Line 30"/>
            <p:cNvSpPr>
              <a:spLocks noChangeShapeType="1"/>
            </p:cNvSpPr>
            <p:nvPr/>
          </p:nvSpPr>
          <p:spPr bwMode="auto">
            <a:xfrm flipH="1">
              <a:off x="4216" y="1666"/>
              <a:ext cx="928" cy="0"/>
            </a:xfrm>
            <a:prstGeom prst="line">
              <a:avLst/>
            </a:prstGeom>
            <a:noFill/>
            <a:ln w="25400">
              <a:solidFill>
                <a:schemeClr val="tx1"/>
              </a:solidFill>
              <a:round/>
              <a:headEnd type="triangle" w="med" len="med"/>
              <a:tailEnd/>
            </a:ln>
            <a:effectLst/>
          </p:spPr>
          <p:txBody>
            <a:bodyPr wrap="none" anchor="ctr"/>
            <a:lstStyle/>
            <a:p>
              <a:endParaRPr lang="en-US"/>
            </a:p>
          </p:txBody>
        </p:sp>
        <p:sp>
          <p:nvSpPr>
            <p:cNvPr id="777247" name="Line 31"/>
            <p:cNvSpPr>
              <a:spLocks noChangeShapeType="1"/>
            </p:cNvSpPr>
            <p:nvPr/>
          </p:nvSpPr>
          <p:spPr bwMode="auto">
            <a:xfrm flipH="1">
              <a:off x="1872" y="1680"/>
              <a:ext cx="928" cy="0"/>
            </a:xfrm>
            <a:prstGeom prst="line">
              <a:avLst/>
            </a:prstGeom>
            <a:noFill/>
            <a:ln w="25400">
              <a:solidFill>
                <a:schemeClr val="tx1"/>
              </a:solidFill>
              <a:round/>
              <a:headEnd type="triangle" w="med" len="med"/>
              <a:tailEnd/>
            </a:ln>
            <a:effectLst/>
          </p:spPr>
          <p:txBody>
            <a:bodyPr wrap="none" anchor="ctr"/>
            <a:lstStyle/>
            <a:p>
              <a:endParaRPr lang="en-US"/>
            </a:p>
          </p:txBody>
        </p:sp>
      </p:grpSp>
    </p:spTree>
    <p:extLst>
      <p:ext uri="{BB962C8B-B14F-4D97-AF65-F5344CB8AC3E}">
        <p14:creationId xmlns:p14="http://schemas.microsoft.com/office/powerpoint/2010/main" val="59861392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6690" name="Rectangle 2"/>
          <p:cNvSpPr>
            <a:spLocks noGrp="1" noChangeArrowheads="1"/>
          </p:cNvSpPr>
          <p:nvPr>
            <p:ph type="title"/>
          </p:nvPr>
        </p:nvSpPr>
        <p:spPr/>
        <p:txBody>
          <a:bodyPr/>
          <a:lstStyle/>
          <a:p>
            <a:r>
              <a:rPr lang="en-US" dirty="0"/>
              <a:t>How Can We Make It Faster?</a:t>
            </a:r>
          </a:p>
        </p:txBody>
      </p:sp>
      <p:sp>
        <p:nvSpPr>
          <p:cNvPr id="1266693" name="Rectangle 5"/>
          <p:cNvSpPr>
            <a:spLocks noChangeArrowheads="1"/>
          </p:cNvSpPr>
          <p:nvPr/>
        </p:nvSpPr>
        <p:spPr bwMode="auto">
          <a:xfrm>
            <a:off x="571472" y="4357694"/>
            <a:ext cx="8358246" cy="1768689"/>
          </a:xfrm>
          <a:prstGeom prst="rect">
            <a:avLst/>
          </a:prstGeom>
          <a:noFill/>
          <a:ln w="12700">
            <a:noFill/>
            <a:miter lim="800000"/>
            <a:headEnd/>
            <a:tailEnd/>
          </a:ln>
          <a:effectLst/>
        </p:spPr>
        <p:txBody>
          <a:bodyPr wrap="square" lIns="63500" tIns="25400" rIns="63500" bIns="25400">
            <a:spAutoFit/>
          </a:bodyPr>
          <a:lstStyle/>
          <a:p>
            <a:pPr marL="287338" indent="-287338">
              <a:spcBef>
                <a:spcPct val="65000"/>
              </a:spcBef>
              <a:buClr>
                <a:schemeClr val="accent1"/>
              </a:buClr>
              <a:buSzPct val="75000"/>
              <a:buFont typeface="Wingdings" pitchFamily="2" charset="2"/>
              <a:buChar char="q"/>
            </a:pPr>
            <a:r>
              <a:rPr lang="en-US" sz="2400" dirty="0">
                <a:solidFill>
                  <a:schemeClr val="tx1"/>
                </a:solidFill>
              </a:rPr>
              <a:t>Fetch and execute more than one instruction at a time (out-of-order (superscalar) and VLIW)</a:t>
            </a:r>
          </a:p>
          <a:p>
            <a:pPr marL="287338" indent="-287338">
              <a:spcBef>
                <a:spcPct val="65000"/>
              </a:spcBef>
              <a:buClr>
                <a:schemeClr val="accent1"/>
              </a:buClr>
              <a:buSzPct val="75000"/>
              <a:buFont typeface="Wingdings" pitchFamily="2" charset="2"/>
              <a:buChar char="q"/>
            </a:pPr>
            <a:r>
              <a:rPr lang="en-US" sz="2400" dirty="0">
                <a:solidFill>
                  <a:schemeClr val="tx1"/>
                </a:solidFill>
              </a:rPr>
              <a:t>Fetch and execute instructions from more than one instruction stream (multithreading (</a:t>
            </a:r>
            <a:r>
              <a:rPr lang="en-US" sz="2400" dirty="0" err="1">
                <a:solidFill>
                  <a:schemeClr val="tx1"/>
                </a:solidFill>
              </a:rPr>
              <a:t>hyperthreading</a:t>
            </a:r>
            <a:r>
              <a:rPr lang="en-US" sz="2400" dirty="0">
                <a:solidFill>
                  <a:schemeClr val="tx1"/>
                </a:solidFill>
              </a:rPr>
              <a:t>))</a:t>
            </a:r>
          </a:p>
        </p:txBody>
      </p:sp>
      <p:sp>
        <p:nvSpPr>
          <p:cNvPr id="6" name="Content Placeholder 5"/>
          <p:cNvSpPr>
            <a:spLocks noGrp="1"/>
          </p:cNvSpPr>
          <p:nvPr>
            <p:ph idx="1"/>
          </p:nvPr>
        </p:nvSpPr>
        <p:spPr>
          <a:xfrm>
            <a:off x="533400" y="857232"/>
            <a:ext cx="8153400" cy="3424527"/>
          </a:xfrm>
        </p:spPr>
        <p:txBody>
          <a:bodyPr/>
          <a:lstStyle/>
          <a:p>
            <a:r>
              <a:rPr lang="en-US" dirty="0"/>
              <a:t>Start fetching and executing the next instruction before the current one has completed</a:t>
            </a:r>
          </a:p>
          <a:p>
            <a:pPr lvl="1"/>
            <a:r>
              <a:rPr lang="en-US" dirty="0">
                <a:solidFill>
                  <a:srgbClr val="FF0000"/>
                </a:solidFill>
              </a:rPr>
              <a:t>Pipelining</a:t>
            </a:r>
            <a:r>
              <a:rPr lang="en-US" dirty="0"/>
              <a:t> – (all?) modern processors are pipelined for performance</a:t>
            </a:r>
          </a:p>
          <a:p>
            <a:r>
              <a:rPr lang="en-US" dirty="0"/>
              <a:t>Under </a:t>
            </a:r>
            <a:r>
              <a:rPr lang="en-US" i="1" dirty="0"/>
              <a:t>ideal</a:t>
            </a:r>
            <a:r>
              <a:rPr lang="en-US" dirty="0"/>
              <a:t> conditions and with a large number of instructions, the speedup from pipelining is approximately equal to the number of pipe stages</a:t>
            </a:r>
          </a:p>
          <a:p>
            <a:pPr lvl="1"/>
            <a:r>
              <a:rPr lang="en-US" dirty="0"/>
              <a:t>A five stage pipeline is nearly five times faster because its clock cycle can be nearly five times faster</a:t>
            </a:r>
          </a:p>
        </p:txBody>
      </p:sp>
    </p:spTree>
    <p:extLst>
      <p:ext uri="{BB962C8B-B14F-4D97-AF65-F5344CB8AC3E}">
        <p14:creationId xmlns:p14="http://schemas.microsoft.com/office/powerpoint/2010/main" val="138770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6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669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3986" name="Rectangle 2"/>
          <p:cNvSpPr>
            <a:spLocks noGrp="1" noChangeArrowheads="1"/>
          </p:cNvSpPr>
          <p:nvPr>
            <p:ph type="title"/>
          </p:nvPr>
        </p:nvSpPr>
        <p:spPr>
          <a:xfrm>
            <a:off x="533400" y="304800"/>
            <a:ext cx="6610784" cy="426142"/>
          </a:xfrm>
          <a:noFill/>
          <a:ln/>
        </p:spPr>
        <p:txBody>
          <a:bodyPr wrap="none"/>
          <a:lstStyle/>
          <a:p>
            <a:r>
              <a:rPr lang="en-US" dirty="0"/>
              <a:t>The Five “Stages” of Load Instruction</a:t>
            </a:r>
          </a:p>
        </p:txBody>
      </p:sp>
      <p:sp>
        <p:nvSpPr>
          <p:cNvPr id="1193987" name="Rectangle 3"/>
          <p:cNvSpPr>
            <a:spLocks noGrp="1" noChangeArrowheads="1"/>
          </p:cNvSpPr>
          <p:nvPr>
            <p:ph type="body" idx="1"/>
          </p:nvPr>
        </p:nvSpPr>
        <p:spPr>
          <a:xfrm>
            <a:off x="785786" y="3500438"/>
            <a:ext cx="7581900" cy="2646363"/>
          </a:xfrm>
          <a:noFill/>
          <a:ln/>
        </p:spPr>
        <p:txBody>
          <a:bodyPr/>
          <a:lstStyle/>
          <a:p>
            <a:r>
              <a:rPr lang="en-US" dirty="0" err="1"/>
              <a:t>IFetch</a:t>
            </a:r>
            <a:r>
              <a:rPr lang="en-US" dirty="0"/>
              <a:t>: Instruction Fetch and Update PC</a:t>
            </a:r>
          </a:p>
          <a:p>
            <a:r>
              <a:rPr lang="en-US" dirty="0"/>
              <a:t>Dec: Registers Fetch and Instruction Decode</a:t>
            </a:r>
          </a:p>
          <a:p>
            <a:r>
              <a:rPr lang="en-US" dirty="0"/>
              <a:t>Exec: Execute R-type; calculate memory address</a:t>
            </a:r>
          </a:p>
          <a:p>
            <a:r>
              <a:rPr lang="en-US" dirty="0" err="1"/>
              <a:t>Mem</a:t>
            </a:r>
            <a:r>
              <a:rPr lang="en-US" dirty="0"/>
              <a:t>: Read/write the data from/to the Data Memory</a:t>
            </a:r>
          </a:p>
          <a:p>
            <a:r>
              <a:rPr lang="en-US" dirty="0"/>
              <a:t>WB: Write the result data into the register file</a:t>
            </a:r>
          </a:p>
        </p:txBody>
      </p:sp>
      <p:grpSp>
        <p:nvGrpSpPr>
          <p:cNvPr id="60" name="Group 59"/>
          <p:cNvGrpSpPr/>
          <p:nvPr/>
        </p:nvGrpSpPr>
        <p:grpSpPr>
          <a:xfrm>
            <a:off x="1905000" y="984250"/>
            <a:ext cx="5003800" cy="635000"/>
            <a:chOff x="1905000" y="984250"/>
            <a:chExt cx="5003800" cy="635000"/>
          </a:xfrm>
        </p:grpSpPr>
        <p:grpSp>
          <p:nvGrpSpPr>
            <p:cNvPr id="2" name="Group 4"/>
            <p:cNvGrpSpPr>
              <a:grpSpLocks/>
            </p:cNvGrpSpPr>
            <p:nvPr/>
          </p:nvGrpSpPr>
          <p:grpSpPr bwMode="auto">
            <a:xfrm>
              <a:off x="2273300" y="1365250"/>
              <a:ext cx="825500" cy="254000"/>
              <a:chOff x="1248" y="712"/>
              <a:chExt cx="520" cy="160"/>
            </a:xfrm>
          </p:grpSpPr>
          <p:sp>
            <p:nvSpPr>
              <p:cNvPr id="1193989" name="Line 5"/>
              <p:cNvSpPr>
                <a:spLocks noChangeShapeType="1"/>
              </p:cNvSpPr>
              <p:nvPr/>
            </p:nvSpPr>
            <p:spPr bwMode="auto">
              <a:xfrm>
                <a:off x="1256" y="864"/>
                <a:ext cx="272" cy="0"/>
              </a:xfrm>
              <a:prstGeom prst="line">
                <a:avLst/>
              </a:prstGeom>
              <a:noFill/>
              <a:ln w="25400">
                <a:solidFill>
                  <a:schemeClr val="tx1"/>
                </a:solidFill>
                <a:round/>
                <a:headEnd/>
                <a:tailEnd/>
              </a:ln>
              <a:effectLst/>
            </p:spPr>
            <p:txBody>
              <a:bodyPr wrap="none" anchor="ctr"/>
              <a:lstStyle/>
              <a:p>
                <a:endParaRPr lang="en-US"/>
              </a:p>
            </p:txBody>
          </p:sp>
          <p:sp>
            <p:nvSpPr>
              <p:cNvPr id="1193990" name="Line 6"/>
              <p:cNvSpPr>
                <a:spLocks noChangeShapeType="1"/>
              </p:cNvSpPr>
              <p:nvPr/>
            </p:nvSpPr>
            <p:spPr bwMode="auto">
              <a:xfrm>
                <a:off x="1248" y="728"/>
                <a:ext cx="0" cy="128"/>
              </a:xfrm>
              <a:prstGeom prst="line">
                <a:avLst/>
              </a:prstGeom>
              <a:noFill/>
              <a:ln w="25400">
                <a:solidFill>
                  <a:schemeClr val="tx1"/>
                </a:solidFill>
                <a:round/>
                <a:headEnd/>
                <a:tailEnd/>
              </a:ln>
              <a:effectLst/>
            </p:spPr>
            <p:txBody>
              <a:bodyPr wrap="none" anchor="ctr"/>
              <a:lstStyle/>
              <a:p>
                <a:endParaRPr lang="en-US"/>
              </a:p>
            </p:txBody>
          </p:sp>
          <p:sp>
            <p:nvSpPr>
              <p:cNvPr id="1193991" name="Line 7"/>
              <p:cNvSpPr>
                <a:spLocks noChangeShapeType="1"/>
              </p:cNvSpPr>
              <p:nvPr/>
            </p:nvSpPr>
            <p:spPr bwMode="auto">
              <a:xfrm flipV="1">
                <a:off x="1536" y="712"/>
                <a:ext cx="0" cy="160"/>
              </a:xfrm>
              <a:prstGeom prst="line">
                <a:avLst/>
              </a:prstGeom>
              <a:noFill/>
              <a:ln w="25400">
                <a:solidFill>
                  <a:schemeClr val="tx1"/>
                </a:solidFill>
                <a:round/>
                <a:headEnd/>
                <a:tailEnd/>
              </a:ln>
              <a:effectLst/>
            </p:spPr>
            <p:txBody>
              <a:bodyPr wrap="none" anchor="ctr"/>
              <a:lstStyle/>
              <a:p>
                <a:endParaRPr lang="en-US"/>
              </a:p>
            </p:txBody>
          </p:sp>
          <p:sp>
            <p:nvSpPr>
              <p:cNvPr id="1193992" name="Line 8"/>
              <p:cNvSpPr>
                <a:spLocks noChangeShapeType="1"/>
              </p:cNvSpPr>
              <p:nvPr/>
            </p:nvSpPr>
            <p:spPr bwMode="auto">
              <a:xfrm>
                <a:off x="1544"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3" name="Group 9"/>
            <p:cNvGrpSpPr>
              <a:grpSpLocks/>
            </p:cNvGrpSpPr>
            <p:nvPr/>
          </p:nvGrpSpPr>
          <p:grpSpPr bwMode="auto">
            <a:xfrm>
              <a:off x="3111500" y="1365250"/>
              <a:ext cx="825500" cy="254000"/>
              <a:chOff x="1776" y="712"/>
              <a:chExt cx="520" cy="160"/>
            </a:xfrm>
          </p:grpSpPr>
          <p:sp>
            <p:nvSpPr>
              <p:cNvPr id="1193994" name="Line 10"/>
              <p:cNvSpPr>
                <a:spLocks noChangeShapeType="1"/>
              </p:cNvSpPr>
              <p:nvPr/>
            </p:nvSpPr>
            <p:spPr bwMode="auto">
              <a:xfrm>
                <a:off x="1784" y="864"/>
                <a:ext cx="272" cy="0"/>
              </a:xfrm>
              <a:prstGeom prst="line">
                <a:avLst/>
              </a:prstGeom>
              <a:noFill/>
              <a:ln w="25400">
                <a:solidFill>
                  <a:schemeClr val="tx1"/>
                </a:solidFill>
                <a:round/>
                <a:headEnd/>
                <a:tailEnd/>
              </a:ln>
              <a:effectLst/>
            </p:spPr>
            <p:txBody>
              <a:bodyPr wrap="none" anchor="ctr"/>
              <a:lstStyle/>
              <a:p>
                <a:endParaRPr lang="en-US"/>
              </a:p>
            </p:txBody>
          </p:sp>
          <p:sp>
            <p:nvSpPr>
              <p:cNvPr id="1193995" name="Line 11"/>
              <p:cNvSpPr>
                <a:spLocks noChangeShapeType="1"/>
              </p:cNvSpPr>
              <p:nvPr/>
            </p:nvSpPr>
            <p:spPr bwMode="auto">
              <a:xfrm>
                <a:off x="1776" y="728"/>
                <a:ext cx="0" cy="128"/>
              </a:xfrm>
              <a:prstGeom prst="line">
                <a:avLst/>
              </a:prstGeom>
              <a:noFill/>
              <a:ln w="25400">
                <a:solidFill>
                  <a:schemeClr val="tx1"/>
                </a:solidFill>
                <a:round/>
                <a:headEnd/>
                <a:tailEnd/>
              </a:ln>
              <a:effectLst/>
            </p:spPr>
            <p:txBody>
              <a:bodyPr wrap="none" anchor="ctr"/>
              <a:lstStyle/>
              <a:p>
                <a:endParaRPr lang="en-US"/>
              </a:p>
            </p:txBody>
          </p:sp>
          <p:sp>
            <p:nvSpPr>
              <p:cNvPr id="1193996" name="Line 12"/>
              <p:cNvSpPr>
                <a:spLocks noChangeShapeType="1"/>
              </p:cNvSpPr>
              <p:nvPr/>
            </p:nvSpPr>
            <p:spPr bwMode="auto">
              <a:xfrm flipV="1">
                <a:off x="2064" y="712"/>
                <a:ext cx="0" cy="160"/>
              </a:xfrm>
              <a:prstGeom prst="line">
                <a:avLst/>
              </a:prstGeom>
              <a:noFill/>
              <a:ln w="25400">
                <a:solidFill>
                  <a:schemeClr val="tx1"/>
                </a:solidFill>
                <a:round/>
                <a:headEnd/>
                <a:tailEnd/>
              </a:ln>
              <a:effectLst/>
            </p:spPr>
            <p:txBody>
              <a:bodyPr wrap="none" anchor="ctr"/>
              <a:lstStyle/>
              <a:p>
                <a:endParaRPr lang="en-US"/>
              </a:p>
            </p:txBody>
          </p:sp>
          <p:sp>
            <p:nvSpPr>
              <p:cNvPr id="1193997" name="Line 13"/>
              <p:cNvSpPr>
                <a:spLocks noChangeShapeType="1"/>
              </p:cNvSpPr>
              <p:nvPr/>
            </p:nvSpPr>
            <p:spPr bwMode="auto">
              <a:xfrm>
                <a:off x="2072"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4" name="Group 14"/>
            <p:cNvGrpSpPr>
              <a:grpSpLocks/>
            </p:cNvGrpSpPr>
            <p:nvPr/>
          </p:nvGrpSpPr>
          <p:grpSpPr bwMode="auto">
            <a:xfrm>
              <a:off x="3949700" y="1365250"/>
              <a:ext cx="825500" cy="254000"/>
              <a:chOff x="2304" y="712"/>
              <a:chExt cx="520" cy="160"/>
            </a:xfrm>
          </p:grpSpPr>
          <p:sp>
            <p:nvSpPr>
              <p:cNvPr id="1193999" name="Line 15"/>
              <p:cNvSpPr>
                <a:spLocks noChangeShapeType="1"/>
              </p:cNvSpPr>
              <p:nvPr/>
            </p:nvSpPr>
            <p:spPr bwMode="auto">
              <a:xfrm>
                <a:off x="2312" y="864"/>
                <a:ext cx="272" cy="0"/>
              </a:xfrm>
              <a:prstGeom prst="line">
                <a:avLst/>
              </a:prstGeom>
              <a:noFill/>
              <a:ln w="25400">
                <a:solidFill>
                  <a:schemeClr val="tx1"/>
                </a:solidFill>
                <a:round/>
                <a:headEnd/>
                <a:tailEnd/>
              </a:ln>
              <a:effectLst/>
            </p:spPr>
            <p:txBody>
              <a:bodyPr wrap="none" anchor="ctr"/>
              <a:lstStyle/>
              <a:p>
                <a:endParaRPr lang="en-US"/>
              </a:p>
            </p:txBody>
          </p:sp>
          <p:sp>
            <p:nvSpPr>
              <p:cNvPr id="1194000" name="Line 16"/>
              <p:cNvSpPr>
                <a:spLocks noChangeShapeType="1"/>
              </p:cNvSpPr>
              <p:nvPr/>
            </p:nvSpPr>
            <p:spPr bwMode="auto">
              <a:xfrm>
                <a:off x="2304" y="728"/>
                <a:ext cx="0" cy="128"/>
              </a:xfrm>
              <a:prstGeom prst="line">
                <a:avLst/>
              </a:prstGeom>
              <a:noFill/>
              <a:ln w="25400">
                <a:solidFill>
                  <a:schemeClr val="tx1"/>
                </a:solidFill>
                <a:round/>
                <a:headEnd/>
                <a:tailEnd/>
              </a:ln>
              <a:effectLst/>
            </p:spPr>
            <p:txBody>
              <a:bodyPr wrap="none" anchor="ctr"/>
              <a:lstStyle/>
              <a:p>
                <a:endParaRPr lang="en-US"/>
              </a:p>
            </p:txBody>
          </p:sp>
          <p:sp>
            <p:nvSpPr>
              <p:cNvPr id="1194001" name="Line 17"/>
              <p:cNvSpPr>
                <a:spLocks noChangeShapeType="1"/>
              </p:cNvSpPr>
              <p:nvPr/>
            </p:nvSpPr>
            <p:spPr bwMode="auto">
              <a:xfrm flipV="1">
                <a:off x="2592" y="712"/>
                <a:ext cx="0" cy="160"/>
              </a:xfrm>
              <a:prstGeom prst="line">
                <a:avLst/>
              </a:prstGeom>
              <a:noFill/>
              <a:ln w="25400">
                <a:solidFill>
                  <a:schemeClr val="tx1"/>
                </a:solidFill>
                <a:round/>
                <a:headEnd/>
                <a:tailEnd/>
              </a:ln>
              <a:effectLst/>
            </p:spPr>
            <p:txBody>
              <a:bodyPr wrap="none" anchor="ctr"/>
              <a:lstStyle/>
              <a:p>
                <a:endParaRPr lang="en-US"/>
              </a:p>
            </p:txBody>
          </p:sp>
          <p:sp>
            <p:nvSpPr>
              <p:cNvPr id="1194002" name="Line 18"/>
              <p:cNvSpPr>
                <a:spLocks noChangeShapeType="1"/>
              </p:cNvSpPr>
              <p:nvPr/>
            </p:nvSpPr>
            <p:spPr bwMode="auto">
              <a:xfrm>
                <a:off x="2600"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5" name="Group 19"/>
            <p:cNvGrpSpPr>
              <a:grpSpLocks/>
            </p:cNvGrpSpPr>
            <p:nvPr/>
          </p:nvGrpSpPr>
          <p:grpSpPr bwMode="auto">
            <a:xfrm>
              <a:off x="4787900" y="1365250"/>
              <a:ext cx="825500" cy="254000"/>
              <a:chOff x="2832" y="712"/>
              <a:chExt cx="520" cy="160"/>
            </a:xfrm>
          </p:grpSpPr>
          <p:sp>
            <p:nvSpPr>
              <p:cNvPr id="1194004" name="Line 20"/>
              <p:cNvSpPr>
                <a:spLocks noChangeShapeType="1"/>
              </p:cNvSpPr>
              <p:nvPr/>
            </p:nvSpPr>
            <p:spPr bwMode="auto">
              <a:xfrm>
                <a:off x="2840" y="864"/>
                <a:ext cx="272" cy="0"/>
              </a:xfrm>
              <a:prstGeom prst="line">
                <a:avLst/>
              </a:prstGeom>
              <a:noFill/>
              <a:ln w="25400">
                <a:solidFill>
                  <a:schemeClr val="tx1"/>
                </a:solidFill>
                <a:round/>
                <a:headEnd/>
                <a:tailEnd/>
              </a:ln>
              <a:effectLst/>
            </p:spPr>
            <p:txBody>
              <a:bodyPr wrap="none" anchor="ctr"/>
              <a:lstStyle/>
              <a:p>
                <a:endParaRPr lang="en-US"/>
              </a:p>
            </p:txBody>
          </p:sp>
          <p:sp>
            <p:nvSpPr>
              <p:cNvPr id="1194005" name="Line 21"/>
              <p:cNvSpPr>
                <a:spLocks noChangeShapeType="1"/>
              </p:cNvSpPr>
              <p:nvPr/>
            </p:nvSpPr>
            <p:spPr bwMode="auto">
              <a:xfrm>
                <a:off x="2832" y="728"/>
                <a:ext cx="0" cy="128"/>
              </a:xfrm>
              <a:prstGeom prst="line">
                <a:avLst/>
              </a:prstGeom>
              <a:noFill/>
              <a:ln w="25400">
                <a:solidFill>
                  <a:schemeClr val="tx1"/>
                </a:solidFill>
                <a:round/>
                <a:headEnd/>
                <a:tailEnd/>
              </a:ln>
              <a:effectLst/>
            </p:spPr>
            <p:txBody>
              <a:bodyPr wrap="none" anchor="ctr"/>
              <a:lstStyle/>
              <a:p>
                <a:endParaRPr lang="en-US"/>
              </a:p>
            </p:txBody>
          </p:sp>
          <p:sp>
            <p:nvSpPr>
              <p:cNvPr id="1194006" name="Line 22"/>
              <p:cNvSpPr>
                <a:spLocks noChangeShapeType="1"/>
              </p:cNvSpPr>
              <p:nvPr/>
            </p:nvSpPr>
            <p:spPr bwMode="auto">
              <a:xfrm flipV="1">
                <a:off x="3120" y="712"/>
                <a:ext cx="0" cy="160"/>
              </a:xfrm>
              <a:prstGeom prst="line">
                <a:avLst/>
              </a:prstGeom>
              <a:noFill/>
              <a:ln w="25400">
                <a:solidFill>
                  <a:schemeClr val="tx1"/>
                </a:solidFill>
                <a:round/>
                <a:headEnd/>
                <a:tailEnd/>
              </a:ln>
              <a:effectLst/>
            </p:spPr>
            <p:txBody>
              <a:bodyPr wrap="none" anchor="ctr"/>
              <a:lstStyle/>
              <a:p>
                <a:endParaRPr lang="en-US"/>
              </a:p>
            </p:txBody>
          </p:sp>
          <p:sp>
            <p:nvSpPr>
              <p:cNvPr id="1194007" name="Line 23"/>
              <p:cNvSpPr>
                <a:spLocks noChangeShapeType="1"/>
              </p:cNvSpPr>
              <p:nvPr/>
            </p:nvSpPr>
            <p:spPr bwMode="auto">
              <a:xfrm>
                <a:off x="3128"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6" name="Group 24"/>
            <p:cNvGrpSpPr>
              <a:grpSpLocks/>
            </p:cNvGrpSpPr>
            <p:nvPr/>
          </p:nvGrpSpPr>
          <p:grpSpPr bwMode="auto">
            <a:xfrm>
              <a:off x="5626100" y="1365250"/>
              <a:ext cx="825500" cy="254000"/>
              <a:chOff x="3360" y="712"/>
              <a:chExt cx="520" cy="160"/>
            </a:xfrm>
          </p:grpSpPr>
          <p:sp>
            <p:nvSpPr>
              <p:cNvPr id="1194009" name="Line 25"/>
              <p:cNvSpPr>
                <a:spLocks noChangeShapeType="1"/>
              </p:cNvSpPr>
              <p:nvPr/>
            </p:nvSpPr>
            <p:spPr bwMode="auto">
              <a:xfrm>
                <a:off x="3368" y="864"/>
                <a:ext cx="272" cy="0"/>
              </a:xfrm>
              <a:prstGeom prst="line">
                <a:avLst/>
              </a:prstGeom>
              <a:noFill/>
              <a:ln w="25400">
                <a:solidFill>
                  <a:schemeClr val="tx1"/>
                </a:solidFill>
                <a:round/>
                <a:headEnd/>
                <a:tailEnd/>
              </a:ln>
              <a:effectLst/>
            </p:spPr>
            <p:txBody>
              <a:bodyPr wrap="none" anchor="ctr"/>
              <a:lstStyle/>
              <a:p>
                <a:endParaRPr lang="en-US"/>
              </a:p>
            </p:txBody>
          </p:sp>
          <p:sp>
            <p:nvSpPr>
              <p:cNvPr id="1194010" name="Line 26"/>
              <p:cNvSpPr>
                <a:spLocks noChangeShapeType="1"/>
              </p:cNvSpPr>
              <p:nvPr/>
            </p:nvSpPr>
            <p:spPr bwMode="auto">
              <a:xfrm>
                <a:off x="3360" y="728"/>
                <a:ext cx="0" cy="128"/>
              </a:xfrm>
              <a:prstGeom prst="line">
                <a:avLst/>
              </a:prstGeom>
              <a:noFill/>
              <a:ln w="25400">
                <a:solidFill>
                  <a:schemeClr val="tx1"/>
                </a:solidFill>
                <a:round/>
                <a:headEnd/>
                <a:tailEnd/>
              </a:ln>
              <a:effectLst/>
            </p:spPr>
            <p:txBody>
              <a:bodyPr wrap="none" anchor="ctr"/>
              <a:lstStyle/>
              <a:p>
                <a:endParaRPr lang="en-US"/>
              </a:p>
            </p:txBody>
          </p:sp>
          <p:sp>
            <p:nvSpPr>
              <p:cNvPr id="1194011" name="Line 27"/>
              <p:cNvSpPr>
                <a:spLocks noChangeShapeType="1"/>
              </p:cNvSpPr>
              <p:nvPr/>
            </p:nvSpPr>
            <p:spPr bwMode="auto">
              <a:xfrm flipV="1">
                <a:off x="3648" y="712"/>
                <a:ext cx="0" cy="160"/>
              </a:xfrm>
              <a:prstGeom prst="line">
                <a:avLst/>
              </a:prstGeom>
              <a:noFill/>
              <a:ln w="25400">
                <a:solidFill>
                  <a:schemeClr val="tx1"/>
                </a:solidFill>
                <a:round/>
                <a:headEnd/>
                <a:tailEnd/>
              </a:ln>
              <a:effectLst/>
            </p:spPr>
            <p:txBody>
              <a:bodyPr wrap="none" anchor="ctr"/>
              <a:lstStyle/>
              <a:p>
                <a:endParaRPr lang="en-US"/>
              </a:p>
            </p:txBody>
          </p:sp>
          <p:sp>
            <p:nvSpPr>
              <p:cNvPr id="1194012" name="Line 28"/>
              <p:cNvSpPr>
                <a:spLocks noChangeShapeType="1"/>
              </p:cNvSpPr>
              <p:nvPr/>
            </p:nvSpPr>
            <p:spPr bwMode="auto">
              <a:xfrm>
                <a:off x="3656" y="720"/>
                <a:ext cx="224" cy="0"/>
              </a:xfrm>
              <a:prstGeom prst="line">
                <a:avLst/>
              </a:prstGeom>
              <a:noFill/>
              <a:ln w="25400">
                <a:solidFill>
                  <a:schemeClr val="tx1"/>
                </a:solidFill>
                <a:round/>
                <a:headEnd/>
                <a:tailEnd/>
              </a:ln>
              <a:effectLst/>
            </p:spPr>
            <p:txBody>
              <a:bodyPr wrap="none" anchor="ctr"/>
              <a:lstStyle/>
              <a:p>
                <a:endParaRPr lang="en-US"/>
              </a:p>
            </p:txBody>
          </p:sp>
        </p:grpSp>
        <p:sp>
          <p:nvSpPr>
            <p:cNvPr id="1194013" name="Line 29"/>
            <p:cNvSpPr>
              <a:spLocks noChangeShapeType="1"/>
            </p:cNvSpPr>
            <p:nvPr/>
          </p:nvSpPr>
          <p:spPr bwMode="auto">
            <a:xfrm>
              <a:off x="6477000" y="1606550"/>
              <a:ext cx="431800" cy="0"/>
            </a:xfrm>
            <a:prstGeom prst="line">
              <a:avLst/>
            </a:prstGeom>
            <a:noFill/>
            <a:ln w="25400">
              <a:solidFill>
                <a:schemeClr val="tx1"/>
              </a:solidFill>
              <a:round/>
              <a:headEnd/>
              <a:tailEnd/>
            </a:ln>
            <a:effectLst/>
          </p:spPr>
          <p:txBody>
            <a:bodyPr wrap="none" anchor="ctr"/>
            <a:lstStyle/>
            <a:p>
              <a:endParaRPr lang="en-US"/>
            </a:p>
          </p:txBody>
        </p:sp>
        <p:sp>
          <p:nvSpPr>
            <p:cNvPr id="1194014" name="Line 30"/>
            <p:cNvSpPr>
              <a:spLocks noChangeShapeType="1"/>
            </p:cNvSpPr>
            <p:nvPr/>
          </p:nvSpPr>
          <p:spPr bwMode="auto">
            <a:xfrm>
              <a:off x="6464300" y="1390650"/>
              <a:ext cx="0" cy="203200"/>
            </a:xfrm>
            <a:prstGeom prst="line">
              <a:avLst/>
            </a:prstGeom>
            <a:noFill/>
            <a:ln w="25400">
              <a:solidFill>
                <a:schemeClr val="tx1"/>
              </a:solidFill>
              <a:round/>
              <a:headEnd/>
              <a:tailEnd/>
            </a:ln>
            <a:effectLst/>
          </p:spPr>
          <p:txBody>
            <a:bodyPr wrap="none" anchor="ctr"/>
            <a:lstStyle/>
            <a:p>
              <a:endParaRPr lang="en-US"/>
            </a:p>
          </p:txBody>
        </p:sp>
        <p:sp>
          <p:nvSpPr>
            <p:cNvPr id="1194015" name="Line 31"/>
            <p:cNvSpPr>
              <a:spLocks noChangeShapeType="1"/>
            </p:cNvSpPr>
            <p:nvPr/>
          </p:nvSpPr>
          <p:spPr bwMode="auto">
            <a:xfrm>
              <a:off x="1905000" y="1377950"/>
              <a:ext cx="355600" cy="0"/>
            </a:xfrm>
            <a:prstGeom prst="line">
              <a:avLst/>
            </a:prstGeom>
            <a:noFill/>
            <a:ln w="25400">
              <a:solidFill>
                <a:schemeClr val="tx1"/>
              </a:solidFill>
              <a:round/>
              <a:headEnd/>
              <a:tailEnd/>
            </a:ln>
            <a:effectLst/>
          </p:spPr>
          <p:txBody>
            <a:bodyPr wrap="none" anchor="ctr"/>
            <a:lstStyle/>
            <a:p>
              <a:endParaRPr lang="en-US"/>
            </a:p>
          </p:txBody>
        </p:sp>
        <p:sp>
          <p:nvSpPr>
            <p:cNvPr id="1194016" name="Line 32"/>
            <p:cNvSpPr>
              <a:spLocks noChangeShapeType="1"/>
            </p:cNvSpPr>
            <p:nvPr/>
          </p:nvSpPr>
          <p:spPr bwMode="auto">
            <a:xfrm flipV="1">
              <a:off x="2273300" y="9842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4017" name="Line 33"/>
            <p:cNvSpPr>
              <a:spLocks noChangeShapeType="1"/>
            </p:cNvSpPr>
            <p:nvPr/>
          </p:nvSpPr>
          <p:spPr bwMode="auto">
            <a:xfrm flipV="1">
              <a:off x="3111500" y="9842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4018" name="Rectangle 34"/>
            <p:cNvSpPr>
              <a:spLocks noChangeArrowheads="1"/>
            </p:cNvSpPr>
            <p:nvPr/>
          </p:nvSpPr>
          <p:spPr bwMode="auto">
            <a:xfrm>
              <a:off x="2286000" y="990600"/>
              <a:ext cx="892175" cy="333375"/>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Cycle 1</a:t>
              </a:r>
            </a:p>
          </p:txBody>
        </p:sp>
        <p:sp>
          <p:nvSpPr>
            <p:cNvPr id="1194019" name="Rectangle 35"/>
            <p:cNvSpPr>
              <a:spLocks noChangeArrowheads="1"/>
            </p:cNvSpPr>
            <p:nvPr/>
          </p:nvSpPr>
          <p:spPr bwMode="auto">
            <a:xfrm>
              <a:off x="3048000" y="990600"/>
              <a:ext cx="892175" cy="333375"/>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Cycle 2</a:t>
              </a:r>
            </a:p>
          </p:txBody>
        </p:sp>
        <p:sp>
          <p:nvSpPr>
            <p:cNvPr id="1194020" name="Line 36"/>
            <p:cNvSpPr>
              <a:spLocks noChangeShapeType="1"/>
            </p:cNvSpPr>
            <p:nvPr/>
          </p:nvSpPr>
          <p:spPr bwMode="auto">
            <a:xfrm flipV="1">
              <a:off x="3949700" y="9842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4021" name="Line 37"/>
            <p:cNvSpPr>
              <a:spLocks noChangeShapeType="1"/>
            </p:cNvSpPr>
            <p:nvPr/>
          </p:nvSpPr>
          <p:spPr bwMode="auto">
            <a:xfrm flipV="1">
              <a:off x="4787900" y="9842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4022" name="Line 38"/>
            <p:cNvSpPr>
              <a:spLocks noChangeShapeType="1"/>
            </p:cNvSpPr>
            <p:nvPr/>
          </p:nvSpPr>
          <p:spPr bwMode="auto">
            <a:xfrm flipV="1">
              <a:off x="5626100" y="9842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4023" name="Line 39"/>
            <p:cNvSpPr>
              <a:spLocks noChangeShapeType="1"/>
            </p:cNvSpPr>
            <p:nvPr/>
          </p:nvSpPr>
          <p:spPr bwMode="auto">
            <a:xfrm flipV="1">
              <a:off x="6464300" y="9842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4024" name="Rectangle 40"/>
            <p:cNvSpPr>
              <a:spLocks noChangeArrowheads="1"/>
            </p:cNvSpPr>
            <p:nvPr/>
          </p:nvSpPr>
          <p:spPr bwMode="auto">
            <a:xfrm>
              <a:off x="3962400" y="990600"/>
              <a:ext cx="892175" cy="333375"/>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Cycle 3</a:t>
              </a:r>
            </a:p>
          </p:txBody>
        </p:sp>
        <p:sp>
          <p:nvSpPr>
            <p:cNvPr id="1194025" name="Rectangle 41"/>
            <p:cNvSpPr>
              <a:spLocks noChangeArrowheads="1"/>
            </p:cNvSpPr>
            <p:nvPr/>
          </p:nvSpPr>
          <p:spPr bwMode="auto">
            <a:xfrm>
              <a:off x="4767263" y="99060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4</a:t>
              </a:r>
            </a:p>
          </p:txBody>
        </p:sp>
        <p:sp>
          <p:nvSpPr>
            <p:cNvPr id="1194026" name="Rectangle 42"/>
            <p:cNvSpPr>
              <a:spLocks noChangeArrowheads="1"/>
            </p:cNvSpPr>
            <p:nvPr/>
          </p:nvSpPr>
          <p:spPr bwMode="auto">
            <a:xfrm>
              <a:off x="5605463" y="99060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5</a:t>
              </a:r>
            </a:p>
          </p:txBody>
        </p:sp>
      </p:grpSp>
      <p:grpSp>
        <p:nvGrpSpPr>
          <p:cNvPr id="7" name="Group 43"/>
          <p:cNvGrpSpPr>
            <a:grpSpLocks/>
          </p:cNvGrpSpPr>
          <p:nvPr/>
        </p:nvGrpSpPr>
        <p:grpSpPr bwMode="auto">
          <a:xfrm>
            <a:off x="2286000" y="2660647"/>
            <a:ext cx="4165600" cy="333375"/>
            <a:chOff x="1256" y="1004"/>
            <a:chExt cx="2624" cy="210"/>
          </a:xfrm>
        </p:grpSpPr>
        <p:grpSp>
          <p:nvGrpSpPr>
            <p:cNvPr id="8" name="Group 44"/>
            <p:cNvGrpSpPr>
              <a:grpSpLocks/>
            </p:cNvGrpSpPr>
            <p:nvPr/>
          </p:nvGrpSpPr>
          <p:grpSpPr bwMode="auto">
            <a:xfrm>
              <a:off x="1256" y="1004"/>
              <a:ext cx="528" cy="210"/>
              <a:chOff x="1256" y="1004"/>
              <a:chExt cx="528" cy="210"/>
            </a:xfrm>
          </p:grpSpPr>
          <p:sp>
            <p:nvSpPr>
              <p:cNvPr id="1194029" name="Rectangle 45"/>
              <p:cNvSpPr>
                <a:spLocks noChangeArrowheads="1"/>
              </p:cNvSpPr>
              <p:nvPr/>
            </p:nvSpPr>
            <p:spPr bwMode="auto">
              <a:xfrm>
                <a:off x="1256"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4030" name="Rectangle 46"/>
              <p:cNvSpPr>
                <a:spLocks noChangeArrowheads="1"/>
              </p:cNvSpPr>
              <p:nvPr/>
            </p:nvSpPr>
            <p:spPr bwMode="auto">
              <a:xfrm>
                <a:off x="1293" y="1004"/>
                <a:ext cx="491"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IFetch</a:t>
                </a:r>
              </a:p>
            </p:txBody>
          </p:sp>
        </p:grpSp>
        <p:grpSp>
          <p:nvGrpSpPr>
            <p:cNvPr id="9" name="Group 47"/>
            <p:cNvGrpSpPr>
              <a:grpSpLocks/>
            </p:cNvGrpSpPr>
            <p:nvPr/>
          </p:nvGrpSpPr>
          <p:grpSpPr bwMode="auto">
            <a:xfrm>
              <a:off x="1784" y="1004"/>
              <a:ext cx="512" cy="210"/>
              <a:chOff x="1784" y="1004"/>
              <a:chExt cx="512" cy="210"/>
            </a:xfrm>
          </p:grpSpPr>
          <p:sp>
            <p:nvSpPr>
              <p:cNvPr id="1194032" name="Rectangle 48"/>
              <p:cNvSpPr>
                <a:spLocks noChangeArrowheads="1"/>
              </p:cNvSpPr>
              <p:nvPr/>
            </p:nvSpPr>
            <p:spPr bwMode="auto">
              <a:xfrm>
                <a:off x="1784"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4033" name="Rectangle 49"/>
              <p:cNvSpPr>
                <a:spLocks noChangeArrowheads="1"/>
              </p:cNvSpPr>
              <p:nvPr/>
            </p:nvSpPr>
            <p:spPr bwMode="auto">
              <a:xfrm>
                <a:off x="1808" y="1004"/>
                <a:ext cx="348" cy="210"/>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Dec</a:t>
                </a:r>
              </a:p>
            </p:txBody>
          </p:sp>
        </p:grpSp>
        <p:grpSp>
          <p:nvGrpSpPr>
            <p:cNvPr id="10" name="Group 50"/>
            <p:cNvGrpSpPr>
              <a:grpSpLocks/>
            </p:cNvGrpSpPr>
            <p:nvPr/>
          </p:nvGrpSpPr>
          <p:grpSpPr bwMode="auto">
            <a:xfrm>
              <a:off x="2312" y="1004"/>
              <a:ext cx="512" cy="210"/>
              <a:chOff x="2312" y="1004"/>
              <a:chExt cx="512" cy="210"/>
            </a:xfrm>
          </p:grpSpPr>
          <p:sp>
            <p:nvSpPr>
              <p:cNvPr id="1194035" name="Rectangle 51"/>
              <p:cNvSpPr>
                <a:spLocks noChangeArrowheads="1"/>
              </p:cNvSpPr>
              <p:nvPr/>
            </p:nvSpPr>
            <p:spPr bwMode="auto">
              <a:xfrm>
                <a:off x="2312"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4036" name="Rectangle 52"/>
              <p:cNvSpPr>
                <a:spLocks noChangeArrowheads="1"/>
              </p:cNvSpPr>
              <p:nvPr/>
            </p:nvSpPr>
            <p:spPr bwMode="auto">
              <a:xfrm>
                <a:off x="2387" y="1004"/>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11" name="Group 53"/>
            <p:cNvGrpSpPr>
              <a:grpSpLocks/>
            </p:cNvGrpSpPr>
            <p:nvPr/>
          </p:nvGrpSpPr>
          <p:grpSpPr bwMode="auto">
            <a:xfrm>
              <a:off x="2840" y="1004"/>
              <a:ext cx="512" cy="210"/>
              <a:chOff x="2840" y="1004"/>
              <a:chExt cx="512" cy="210"/>
            </a:xfrm>
          </p:grpSpPr>
          <p:sp>
            <p:nvSpPr>
              <p:cNvPr id="1194038" name="Rectangle 54"/>
              <p:cNvSpPr>
                <a:spLocks noChangeArrowheads="1"/>
              </p:cNvSpPr>
              <p:nvPr/>
            </p:nvSpPr>
            <p:spPr bwMode="auto">
              <a:xfrm>
                <a:off x="2840"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4039" name="Rectangle 55"/>
              <p:cNvSpPr>
                <a:spLocks noChangeArrowheads="1"/>
              </p:cNvSpPr>
              <p:nvPr/>
            </p:nvSpPr>
            <p:spPr bwMode="auto">
              <a:xfrm>
                <a:off x="2915" y="1004"/>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grpSp>
          <p:nvGrpSpPr>
            <p:cNvPr id="12" name="Group 56"/>
            <p:cNvGrpSpPr>
              <a:grpSpLocks/>
            </p:cNvGrpSpPr>
            <p:nvPr/>
          </p:nvGrpSpPr>
          <p:grpSpPr bwMode="auto">
            <a:xfrm>
              <a:off x="3368" y="1004"/>
              <a:ext cx="512" cy="210"/>
              <a:chOff x="3368" y="1004"/>
              <a:chExt cx="512" cy="210"/>
            </a:xfrm>
          </p:grpSpPr>
          <p:sp>
            <p:nvSpPr>
              <p:cNvPr id="1194041" name="Rectangle 57"/>
              <p:cNvSpPr>
                <a:spLocks noChangeArrowheads="1"/>
              </p:cNvSpPr>
              <p:nvPr/>
            </p:nvSpPr>
            <p:spPr bwMode="auto">
              <a:xfrm>
                <a:off x="3368"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4042" name="Rectangle 58"/>
              <p:cNvSpPr>
                <a:spLocks noChangeArrowheads="1"/>
              </p:cNvSpPr>
              <p:nvPr/>
            </p:nvSpPr>
            <p:spPr bwMode="auto">
              <a:xfrm>
                <a:off x="3443" y="1004"/>
                <a:ext cx="327"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WB</a:t>
                </a:r>
              </a:p>
            </p:txBody>
          </p:sp>
        </p:grpSp>
      </p:grpSp>
      <p:sp>
        <p:nvSpPr>
          <p:cNvPr id="1194043" name="Rectangle 59"/>
          <p:cNvSpPr>
            <a:spLocks noChangeArrowheads="1"/>
          </p:cNvSpPr>
          <p:nvPr/>
        </p:nvSpPr>
        <p:spPr bwMode="auto">
          <a:xfrm>
            <a:off x="1282700" y="2666997"/>
            <a:ext cx="3968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lw</a:t>
            </a:r>
          </a:p>
        </p:txBody>
      </p:sp>
      <p:cxnSp>
        <p:nvCxnSpPr>
          <p:cNvPr id="63" name="Straight Connector 62"/>
          <p:cNvCxnSpPr/>
          <p:nvPr/>
        </p:nvCxnSpPr>
        <p:spPr bwMode="auto">
          <a:xfrm>
            <a:off x="1927206" y="2214554"/>
            <a:ext cx="357190" cy="1588"/>
          </a:xfrm>
          <a:prstGeom prst="line">
            <a:avLst/>
          </a:prstGeom>
          <a:noFill/>
          <a:ln w="19050" cap="flat" cmpd="sng" algn="ctr">
            <a:solidFill>
              <a:schemeClr val="tx1"/>
            </a:solidFill>
            <a:prstDash val="solid"/>
            <a:round/>
            <a:headEnd type="none" w="med" len="med"/>
            <a:tailEnd type="none" w="med" len="med"/>
          </a:ln>
          <a:effectLst/>
        </p:spPr>
      </p:cxnSp>
      <p:cxnSp>
        <p:nvCxnSpPr>
          <p:cNvPr id="65" name="Straight Connector 64"/>
          <p:cNvCxnSpPr/>
          <p:nvPr/>
        </p:nvCxnSpPr>
        <p:spPr bwMode="auto">
          <a:xfrm rot="5400000">
            <a:off x="4249735" y="2320917"/>
            <a:ext cx="214314" cy="1588"/>
          </a:xfrm>
          <a:prstGeom prst="line">
            <a:avLst/>
          </a:prstGeom>
          <a:noFill/>
          <a:ln w="19050" cap="flat" cmpd="sng" algn="ctr">
            <a:solidFill>
              <a:schemeClr val="tx1"/>
            </a:solidFill>
            <a:prstDash val="solid"/>
            <a:round/>
            <a:headEnd type="none" w="med" len="med"/>
            <a:tailEnd type="none" w="med" len="med"/>
          </a:ln>
          <a:effectLst/>
        </p:spPr>
      </p:cxnSp>
      <p:cxnSp>
        <p:nvCxnSpPr>
          <p:cNvPr id="66" name="Straight Connector 65"/>
          <p:cNvCxnSpPr/>
          <p:nvPr/>
        </p:nvCxnSpPr>
        <p:spPr bwMode="auto">
          <a:xfrm>
            <a:off x="2284396" y="2428868"/>
            <a:ext cx="2071702" cy="1588"/>
          </a:xfrm>
          <a:prstGeom prst="line">
            <a:avLst/>
          </a:prstGeom>
          <a:noFill/>
          <a:ln w="19050" cap="flat" cmpd="sng" algn="ctr">
            <a:solidFill>
              <a:schemeClr val="tx1"/>
            </a:solidFill>
            <a:prstDash val="solid"/>
            <a:round/>
            <a:headEnd type="none" w="med" len="med"/>
            <a:tailEnd type="none" w="med" len="med"/>
          </a:ln>
          <a:effectLst/>
        </p:spPr>
      </p:cxnSp>
      <p:cxnSp>
        <p:nvCxnSpPr>
          <p:cNvPr id="68" name="Straight Connector 67"/>
          <p:cNvCxnSpPr/>
          <p:nvPr/>
        </p:nvCxnSpPr>
        <p:spPr bwMode="auto">
          <a:xfrm rot="5400000">
            <a:off x="6321437" y="2320917"/>
            <a:ext cx="214314" cy="1588"/>
          </a:xfrm>
          <a:prstGeom prst="line">
            <a:avLst/>
          </a:prstGeom>
          <a:noFill/>
          <a:ln w="19050" cap="flat" cmpd="sng" algn="ctr">
            <a:solidFill>
              <a:schemeClr val="tx1"/>
            </a:solidFill>
            <a:prstDash val="solid"/>
            <a:round/>
            <a:headEnd type="none" w="med" len="med"/>
            <a:tailEnd type="none" w="med" len="med"/>
          </a:ln>
          <a:effectLst/>
        </p:spPr>
      </p:cxnSp>
      <p:cxnSp>
        <p:nvCxnSpPr>
          <p:cNvPr id="69" name="Straight Connector 68"/>
          <p:cNvCxnSpPr/>
          <p:nvPr/>
        </p:nvCxnSpPr>
        <p:spPr bwMode="auto">
          <a:xfrm rot="5400000">
            <a:off x="2178033" y="2320917"/>
            <a:ext cx="214314" cy="1588"/>
          </a:xfrm>
          <a:prstGeom prst="line">
            <a:avLst/>
          </a:prstGeom>
          <a:noFill/>
          <a:ln w="19050" cap="flat" cmpd="sng" algn="ctr">
            <a:solidFill>
              <a:schemeClr val="tx1"/>
            </a:solidFill>
            <a:prstDash val="solid"/>
            <a:round/>
            <a:headEnd type="none" w="med" len="med"/>
            <a:tailEnd type="none" w="med" len="med"/>
          </a:ln>
          <a:effectLst/>
        </p:spPr>
      </p:cxnSp>
      <p:cxnSp>
        <p:nvCxnSpPr>
          <p:cNvPr id="71" name="Straight Connector 70"/>
          <p:cNvCxnSpPr/>
          <p:nvPr/>
        </p:nvCxnSpPr>
        <p:spPr bwMode="auto">
          <a:xfrm>
            <a:off x="4356098" y="2214554"/>
            <a:ext cx="2071702" cy="1588"/>
          </a:xfrm>
          <a:prstGeom prst="line">
            <a:avLst/>
          </a:prstGeom>
          <a:noFill/>
          <a:ln w="19050" cap="flat" cmpd="sng" algn="ctr">
            <a:solidFill>
              <a:schemeClr val="tx1"/>
            </a:solidFill>
            <a:prstDash val="solid"/>
            <a:round/>
            <a:headEnd type="none" w="med" len="med"/>
            <a:tailEnd type="none" w="med" len="med"/>
          </a:ln>
          <a:effectLst/>
        </p:spPr>
      </p:cxnSp>
      <p:cxnSp>
        <p:nvCxnSpPr>
          <p:cNvPr id="72" name="Straight Connector 71"/>
          <p:cNvCxnSpPr/>
          <p:nvPr/>
        </p:nvCxnSpPr>
        <p:spPr bwMode="auto">
          <a:xfrm>
            <a:off x="6429388" y="2428868"/>
            <a:ext cx="357190" cy="1588"/>
          </a:xfrm>
          <a:prstGeom prst="line">
            <a:avLst/>
          </a:prstGeom>
          <a:noFill/>
          <a:ln w="19050" cap="flat" cmpd="sng" algn="ctr">
            <a:solidFill>
              <a:schemeClr val="tx1"/>
            </a:solidFill>
            <a:prstDash val="solid"/>
            <a:round/>
            <a:headEnd type="none" w="med" len="med"/>
            <a:tailEnd type="none" w="med" len="med"/>
          </a:ln>
          <a:effectLst/>
        </p:spPr>
      </p:cxnSp>
      <p:sp>
        <p:nvSpPr>
          <p:cNvPr id="73" name="Rectangle 34"/>
          <p:cNvSpPr>
            <a:spLocks noChangeArrowheads="1"/>
          </p:cNvSpPr>
          <p:nvPr/>
        </p:nvSpPr>
        <p:spPr bwMode="auto">
          <a:xfrm>
            <a:off x="3857620" y="1857364"/>
            <a:ext cx="1344921" cy="335989"/>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Clock Cycle</a:t>
            </a:r>
          </a:p>
        </p:txBody>
      </p:sp>
    </p:spTree>
    <p:extLst>
      <p:ext uri="{BB962C8B-B14F-4D97-AF65-F5344CB8AC3E}">
        <p14:creationId xmlns:p14="http://schemas.microsoft.com/office/powerpoint/2010/main" val="14441049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en-US"/>
              <a:t>Pipeline Performance</a:t>
            </a:r>
            <a:endParaRPr lang="en-AU"/>
          </a:p>
        </p:txBody>
      </p:sp>
      <p:sp>
        <p:nvSpPr>
          <p:cNvPr id="35844" name="Rectangle 3"/>
          <p:cNvSpPr>
            <a:spLocks noGrp="1" noChangeArrowheads="1"/>
          </p:cNvSpPr>
          <p:nvPr>
            <p:ph type="body" idx="1"/>
          </p:nvPr>
        </p:nvSpPr>
        <p:spPr>
          <a:xfrm>
            <a:off x="684213" y="1125538"/>
            <a:ext cx="8270875" cy="2533650"/>
          </a:xfrm>
        </p:spPr>
        <p:txBody>
          <a:bodyPr/>
          <a:lstStyle/>
          <a:p>
            <a:pPr eaLnBrk="1" hangingPunct="1"/>
            <a:r>
              <a:rPr lang="en-US" sz="2800"/>
              <a:t>Assume time for stages is</a:t>
            </a:r>
          </a:p>
          <a:p>
            <a:pPr lvl="1" eaLnBrk="1" hangingPunct="1"/>
            <a:r>
              <a:rPr lang="en-US" sz="2400"/>
              <a:t>100ps for register read or write</a:t>
            </a:r>
          </a:p>
          <a:p>
            <a:pPr lvl="1" eaLnBrk="1" hangingPunct="1"/>
            <a:r>
              <a:rPr lang="en-US" sz="2400"/>
              <a:t>200ps for other stages</a:t>
            </a:r>
          </a:p>
          <a:p>
            <a:pPr eaLnBrk="1" hangingPunct="1"/>
            <a:r>
              <a:rPr lang="en-US" sz="2800"/>
              <a:t>Compare pipelined datapath with single-cycle datapath</a:t>
            </a:r>
          </a:p>
        </p:txBody>
      </p:sp>
      <p:graphicFrame>
        <p:nvGraphicFramePr>
          <p:cNvPr id="327684" name="Group 4"/>
          <p:cNvGraphicFramePr>
            <a:graphicFrameLocks noGrp="1"/>
          </p:cNvGraphicFramePr>
          <p:nvPr/>
        </p:nvGraphicFramePr>
        <p:xfrm>
          <a:off x="395288" y="3846513"/>
          <a:ext cx="8353425" cy="2246391"/>
        </p:xfrm>
        <a:graphic>
          <a:graphicData uri="http://schemas.openxmlformats.org/drawingml/2006/table">
            <a:tbl>
              <a:tblPr/>
              <a:tblGrid>
                <a:gridCol w="1193800">
                  <a:extLst>
                    <a:ext uri="{9D8B030D-6E8A-4147-A177-3AD203B41FA5}">
                      <a16:colId xmlns:a16="http://schemas.microsoft.com/office/drawing/2014/main" val="20000"/>
                    </a:ext>
                  </a:extLst>
                </a:gridCol>
                <a:gridCol w="1192212">
                  <a:extLst>
                    <a:ext uri="{9D8B030D-6E8A-4147-A177-3AD203B41FA5}">
                      <a16:colId xmlns:a16="http://schemas.microsoft.com/office/drawing/2014/main" val="20001"/>
                    </a:ext>
                  </a:extLst>
                </a:gridCol>
                <a:gridCol w="1195388">
                  <a:extLst>
                    <a:ext uri="{9D8B030D-6E8A-4147-A177-3AD203B41FA5}">
                      <a16:colId xmlns:a16="http://schemas.microsoft.com/office/drawing/2014/main" val="20002"/>
                    </a:ext>
                  </a:extLst>
                </a:gridCol>
                <a:gridCol w="1190625">
                  <a:extLst>
                    <a:ext uri="{9D8B030D-6E8A-4147-A177-3AD203B41FA5}">
                      <a16:colId xmlns:a16="http://schemas.microsoft.com/office/drawing/2014/main" val="20003"/>
                    </a:ext>
                  </a:extLst>
                </a:gridCol>
                <a:gridCol w="1195387">
                  <a:extLst>
                    <a:ext uri="{9D8B030D-6E8A-4147-A177-3AD203B41FA5}">
                      <a16:colId xmlns:a16="http://schemas.microsoft.com/office/drawing/2014/main" val="20004"/>
                    </a:ext>
                  </a:extLst>
                </a:gridCol>
                <a:gridCol w="1192213">
                  <a:extLst>
                    <a:ext uri="{9D8B030D-6E8A-4147-A177-3AD203B41FA5}">
                      <a16:colId xmlns:a16="http://schemas.microsoft.com/office/drawing/2014/main" val="20005"/>
                    </a:ext>
                  </a:extLst>
                </a:gridCol>
                <a:gridCol w="1193800">
                  <a:extLst>
                    <a:ext uri="{9D8B030D-6E8A-4147-A177-3AD203B41FA5}">
                      <a16:colId xmlns:a16="http://schemas.microsoft.com/office/drawing/2014/main" val="20006"/>
                    </a:ext>
                  </a:extLst>
                </a:gridCol>
              </a:tblGrid>
              <a:tr h="63998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Instr</a:t>
                      </a:r>
                      <a:endParaRPr kumimoji="0" lang="en-AU" sz="1800" b="0" i="0" u="none" strike="noStrike" cap="none" normalizeH="0" baseline="0">
                        <a:ln>
                          <a:noFill/>
                        </a:ln>
                        <a:solidFill>
                          <a:schemeClr val="tx1"/>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Instr fetch</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Register read</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ALU op</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Memory access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Register write</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Total time</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99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lw</a:t>
                      </a:r>
                      <a:endParaRPr kumimoji="0" lang="en-AU" sz="1800" b="0" i="0" u="none" strike="noStrike" cap="none" normalizeH="0" baseline="0">
                        <a:ln>
                          <a:noFill/>
                        </a:ln>
                        <a:solidFill>
                          <a:schemeClr val="tx1"/>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100 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100 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800ps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475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sw</a:t>
                      </a:r>
                      <a:endParaRPr kumimoji="0" lang="en-AU" sz="1800" b="0" i="0" u="none" strike="noStrike" cap="none" normalizeH="0" baseline="0">
                        <a:ln>
                          <a:noFill/>
                        </a:ln>
                        <a:solidFill>
                          <a:schemeClr val="tx1"/>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100 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700ps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99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R-format</a:t>
                      </a:r>
                      <a:endParaRPr kumimoji="0" lang="en-AU" sz="1800" b="0" i="0" u="none" strike="noStrike" cap="none" normalizeH="0" baseline="0">
                        <a:ln>
                          <a:noFill/>
                        </a:ln>
                        <a:solidFill>
                          <a:schemeClr val="tx1"/>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100 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100 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600ps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5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beq</a:t>
                      </a:r>
                      <a:endParaRPr kumimoji="0" lang="en-AU" sz="1800" b="0" i="0" u="none" strike="noStrike" cap="none" normalizeH="0" baseline="0">
                        <a:ln>
                          <a:noFill/>
                        </a:ln>
                        <a:solidFill>
                          <a:schemeClr val="tx1"/>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100 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200ps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Arial" charset="0"/>
                        </a:rPr>
                        <a:t>500ps</a:t>
                      </a:r>
                      <a:endParaRPr kumimoji="0" lang="en-AU" sz="18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24356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7" name="Picture 6" descr="f04-2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557338"/>
            <a:ext cx="6621463"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Rectangle 2"/>
          <p:cNvSpPr>
            <a:spLocks noGrp="1" noChangeArrowheads="1"/>
          </p:cNvSpPr>
          <p:nvPr>
            <p:ph type="title"/>
          </p:nvPr>
        </p:nvSpPr>
        <p:spPr/>
        <p:txBody>
          <a:bodyPr/>
          <a:lstStyle/>
          <a:p>
            <a:pPr eaLnBrk="1" hangingPunct="1"/>
            <a:r>
              <a:rPr lang="en-US"/>
              <a:t>Pipeline Performance</a:t>
            </a:r>
            <a:endParaRPr lang="en-AU"/>
          </a:p>
        </p:txBody>
      </p:sp>
      <p:sp>
        <p:nvSpPr>
          <p:cNvPr id="36869" name="Text Box 4"/>
          <p:cNvSpPr txBox="1">
            <a:spLocks noChangeArrowheads="1"/>
          </p:cNvSpPr>
          <p:nvPr/>
        </p:nvSpPr>
        <p:spPr bwMode="auto">
          <a:xfrm>
            <a:off x="3132138" y="1196975"/>
            <a:ext cx="2676525" cy="376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lgn="l"/>
            <a:r>
              <a:rPr lang="en-US" sz="1800"/>
              <a:t>Single-cycle (T</a:t>
            </a:r>
            <a:r>
              <a:rPr lang="en-US" sz="1800" baseline="-25000"/>
              <a:t>c</a:t>
            </a:r>
            <a:r>
              <a:rPr lang="en-US" sz="1800"/>
              <a:t>= 800ps)</a:t>
            </a:r>
            <a:endParaRPr lang="en-AU" sz="1800"/>
          </a:p>
        </p:txBody>
      </p:sp>
      <p:sp>
        <p:nvSpPr>
          <p:cNvPr id="36870" name="Text Box 5"/>
          <p:cNvSpPr txBox="1">
            <a:spLocks noChangeArrowheads="1"/>
          </p:cNvSpPr>
          <p:nvPr/>
        </p:nvSpPr>
        <p:spPr bwMode="auto">
          <a:xfrm>
            <a:off x="3276600" y="3644900"/>
            <a:ext cx="2384425" cy="376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lgn="l"/>
            <a:r>
              <a:rPr lang="en-US" sz="1800"/>
              <a:t>Pipelined (T</a:t>
            </a:r>
            <a:r>
              <a:rPr lang="en-US" sz="1800" baseline="-25000"/>
              <a:t>c</a:t>
            </a:r>
            <a:r>
              <a:rPr lang="en-US" sz="1800"/>
              <a:t>= 200ps)</a:t>
            </a:r>
            <a:endParaRPr lang="en-AU" sz="1800"/>
          </a:p>
        </p:txBody>
      </p:sp>
    </p:spTree>
    <p:extLst>
      <p:ext uri="{BB962C8B-B14F-4D97-AF65-F5344CB8AC3E}">
        <p14:creationId xmlns:p14="http://schemas.microsoft.com/office/powerpoint/2010/main" val="1521616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t>Pipeline Speedup</a:t>
            </a:r>
            <a:endParaRPr lang="en-AU"/>
          </a:p>
        </p:txBody>
      </p:sp>
      <p:sp>
        <p:nvSpPr>
          <p:cNvPr id="37892" name="Rectangle 3"/>
          <p:cNvSpPr>
            <a:spLocks noGrp="1" noChangeArrowheads="1"/>
          </p:cNvSpPr>
          <p:nvPr>
            <p:ph type="body" idx="1"/>
          </p:nvPr>
        </p:nvSpPr>
        <p:spPr>
          <a:xfrm>
            <a:off x="685800" y="914400"/>
            <a:ext cx="7848600" cy="4040080"/>
          </a:xfrm>
        </p:spPr>
        <p:txBody>
          <a:bodyPr/>
          <a:lstStyle/>
          <a:p>
            <a:pPr eaLnBrk="1" hangingPunct="1"/>
            <a:r>
              <a:rPr lang="en-US" dirty="0"/>
              <a:t>If all stages are balanced</a:t>
            </a:r>
          </a:p>
          <a:p>
            <a:pPr lvl="1" eaLnBrk="1" hangingPunct="1"/>
            <a:r>
              <a:rPr lang="en-US" sz="2400" dirty="0"/>
              <a:t>i.e., all take the same time</a:t>
            </a:r>
          </a:p>
          <a:p>
            <a:pPr lvl="1" eaLnBrk="1" hangingPunct="1">
              <a:lnSpc>
                <a:spcPct val="110000"/>
              </a:lnSpc>
            </a:pPr>
            <a:r>
              <a:rPr lang="en-US" sz="2400" dirty="0">
                <a:solidFill>
                  <a:srgbClr val="00B0F0"/>
                </a:solidFill>
              </a:rPr>
              <a:t>Time between instructions </a:t>
            </a:r>
            <a:r>
              <a:rPr lang="en-US" sz="2400" baseline="-25000" dirty="0">
                <a:solidFill>
                  <a:srgbClr val="00B0F0"/>
                </a:solidFill>
              </a:rPr>
              <a:t>pipelined</a:t>
            </a:r>
            <a:br>
              <a:rPr lang="en-US" sz="2400" dirty="0">
                <a:solidFill>
                  <a:srgbClr val="00B0F0"/>
                </a:solidFill>
              </a:rPr>
            </a:br>
            <a:r>
              <a:rPr lang="en-US" sz="2400" dirty="0"/>
              <a:t>= Time between instructions </a:t>
            </a:r>
            <a:r>
              <a:rPr lang="en-US" sz="2400" baseline="-25000" dirty="0" err="1"/>
              <a:t>nonpipelined</a:t>
            </a:r>
            <a:br>
              <a:rPr lang="en-US" sz="2400" dirty="0"/>
            </a:br>
            <a:r>
              <a:rPr lang="en-US" sz="2400" dirty="0"/>
              <a:t>		Number of stages</a:t>
            </a:r>
          </a:p>
          <a:p>
            <a:pPr eaLnBrk="1" hangingPunct="1"/>
            <a:r>
              <a:rPr lang="en-US" dirty="0"/>
              <a:t>If not balanced, speedup is less</a:t>
            </a:r>
          </a:p>
          <a:p>
            <a:pPr eaLnBrk="1" hangingPunct="1"/>
            <a:r>
              <a:rPr lang="en-US" dirty="0"/>
              <a:t>Speedup due to increased throughput</a:t>
            </a:r>
          </a:p>
          <a:p>
            <a:pPr lvl="1" eaLnBrk="1" hangingPunct="1"/>
            <a:r>
              <a:rPr lang="en-US" sz="2400" dirty="0"/>
              <a:t>Latency (time for each instruction) does not decrease</a:t>
            </a:r>
            <a:endParaRPr lang="en-AU" sz="2400" dirty="0"/>
          </a:p>
        </p:txBody>
      </p:sp>
      <p:sp>
        <p:nvSpPr>
          <p:cNvPr id="37893" name="Line 4"/>
          <p:cNvSpPr>
            <a:spLocks noChangeShapeType="1"/>
          </p:cNvSpPr>
          <p:nvPr/>
        </p:nvSpPr>
        <p:spPr bwMode="auto">
          <a:xfrm>
            <a:off x="1691680" y="2708920"/>
            <a:ext cx="55451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3550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title"/>
          </p:nvPr>
        </p:nvSpPr>
        <p:spPr/>
        <p:txBody>
          <a:bodyPr/>
          <a:lstStyle/>
          <a:p>
            <a:r>
              <a:rPr lang="en-US"/>
              <a:t>A Pipelined MIPS Processor</a:t>
            </a:r>
          </a:p>
        </p:txBody>
      </p:sp>
      <p:sp>
        <p:nvSpPr>
          <p:cNvPr id="1198083" name="Rectangle 3"/>
          <p:cNvSpPr>
            <a:spLocks noGrp="1" noChangeArrowheads="1"/>
          </p:cNvSpPr>
          <p:nvPr>
            <p:ph type="body" idx="1"/>
          </p:nvPr>
        </p:nvSpPr>
        <p:spPr>
          <a:xfrm>
            <a:off x="457200" y="838200"/>
            <a:ext cx="8305800" cy="2205732"/>
          </a:xfrm>
        </p:spPr>
        <p:txBody>
          <a:bodyPr/>
          <a:lstStyle/>
          <a:p>
            <a:r>
              <a:rPr lang="en-US" dirty="0"/>
              <a:t>Start the </a:t>
            </a:r>
            <a:r>
              <a:rPr lang="en-US" dirty="0">
                <a:solidFill>
                  <a:schemeClr val="accent1"/>
                </a:solidFill>
              </a:rPr>
              <a:t>next</a:t>
            </a:r>
            <a:r>
              <a:rPr lang="en-US" dirty="0"/>
              <a:t> instruction before the current one has completed</a:t>
            </a:r>
          </a:p>
          <a:p>
            <a:pPr lvl="1"/>
            <a:r>
              <a:rPr lang="en-US" dirty="0"/>
              <a:t>improves </a:t>
            </a:r>
            <a:r>
              <a:rPr lang="en-US" dirty="0">
                <a:solidFill>
                  <a:schemeClr val="accent1"/>
                </a:solidFill>
              </a:rPr>
              <a:t>throughput</a:t>
            </a:r>
            <a:r>
              <a:rPr lang="en-US" dirty="0"/>
              <a:t> - total amount of work done in a given time</a:t>
            </a:r>
          </a:p>
          <a:p>
            <a:pPr lvl="1"/>
            <a:r>
              <a:rPr lang="en-US" dirty="0"/>
              <a:t>instruction </a:t>
            </a:r>
            <a:r>
              <a:rPr lang="en-US" dirty="0">
                <a:solidFill>
                  <a:schemeClr val="accent1"/>
                </a:solidFill>
              </a:rPr>
              <a:t>latency</a:t>
            </a:r>
            <a:r>
              <a:rPr lang="en-US" dirty="0"/>
              <a:t> (aka execution time, delay time, response time – the time from the start of an instruction to its completion) is </a:t>
            </a:r>
            <a:r>
              <a:rPr lang="en-US" i="1" dirty="0"/>
              <a:t>not</a:t>
            </a:r>
            <a:r>
              <a:rPr lang="en-US" dirty="0"/>
              <a:t> reduced</a:t>
            </a:r>
          </a:p>
        </p:txBody>
      </p:sp>
      <p:grpSp>
        <p:nvGrpSpPr>
          <p:cNvPr id="108" name="Group 107"/>
          <p:cNvGrpSpPr/>
          <p:nvPr/>
        </p:nvGrpSpPr>
        <p:grpSpPr>
          <a:xfrm>
            <a:off x="596900" y="3063887"/>
            <a:ext cx="7708900" cy="2151063"/>
            <a:chOff x="596900" y="2895600"/>
            <a:chExt cx="7708900" cy="2151063"/>
          </a:xfrm>
        </p:grpSpPr>
        <p:grpSp>
          <p:nvGrpSpPr>
            <p:cNvPr id="2" name="Group 4"/>
            <p:cNvGrpSpPr>
              <a:grpSpLocks/>
            </p:cNvGrpSpPr>
            <p:nvPr/>
          </p:nvGrpSpPr>
          <p:grpSpPr bwMode="auto">
            <a:xfrm>
              <a:off x="1587500" y="3276600"/>
              <a:ext cx="825500" cy="254000"/>
              <a:chOff x="1248" y="712"/>
              <a:chExt cx="520" cy="160"/>
            </a:xfrm>
          </p:grpSpPr>
          <p:sp>
            <p:nvSpPr>
              <p:cNvPr id="1198085" name="Line 5"/>
              <p:cNvSpPr>
                <a:spLocks noChangeShapeType="1"/>
              </p:cNvSpPr>
              <p:nvPr/>
            </p:nvSpPr>
            <p:spPr bwMode="auto">
              <a:xfrm>
                <a:off x="1256" y="864"/>
                <a:ext cx="272" cy="0"/>
              </a:xfrm>
              <a:prstGeom prst="line">
                <a:avLst/>
              </a:prstGeom>
              <a:noFill/>
              <a:ln w="25400">
                <a:solidFill>
                  <a:schemeClr val="tx1"/>
                </a:solidFill>
                <a:round/>
                <a:headEnd/>
                <a:tailEnd/>
              </a:ln>
              <a:effectLst/>
            </p:spPr>
            <p:txBody>
              <a:bodyPr wrap="none" anchor="ctr"/>
              <a:lstStyle/>
              <a:p>
                <a:endParaRPr lang="en-US"/>
              </a:p>
            </p:txBody>
          </p:sp>
          <p:sp>
            <p:nvSpPr>
              <p:cNvPr id="1198086" name="Line 6"/>
              <p:cNvSpPr>
                <a:spLocks noChangeShapeType="1"/>
              </p:cNvSpPr>
              <p:nvPr/>
            </p:nvSpPr>
            <p:spPr bwMode="auto">
              <a:xfrm>
                <a:off x="1248" y="728"/>
                <a:ext cx="0" cy="128"/>
              </a:xfrm>
              <a:prstGeom prst="line">
                <a:avLst/>
              </a:prstGeom>
              <a:noFill/>
              <a:ln w="25400">
                <a:solidFill>
                  <a:schemeClr val="tx1"/>
                </a:solidFill>
                <a:round/>
                <a:headEnd/>
                <a:tailEnd/>
              </a:ln>
              <a:effectLst/>
            </p:spPr>
            <p:txBody>
              <a:bodyPr wrap="none" anchor="ctr"/>
              <a:lstStyle/>
              <a:p>
                <a:endParaRPr lang="en-US"/>
              </a:p>
            </p:txBody>
          </p:sp>
          <p:sp>
            <p:nvSpPr>
              <p:cNvPr id="1198087" name="Line 7"/>
              <p:cNvSpPr>
                <a:spLocks noChangeShapeType="1"/>
              </p:cNvSpPr>
              <p:nvPr/>
            </p:nvSpPr>
            <p:spPr bwMode="auto">
              <a:xfrm flipV="1">
                <a:off x="1536" y="712"/>
                <a:ext cx="0" cy="160"/>
              </a:xfrm>
              <a:prstGeom prst="line">
                <a:avLst/>
              </a:prstGeom>
              <a:noFill/>
              <a:ln w="25400">
                <a:solidFill>
                  <a:schemeClr val="tx1"/>
                </a:solidFill>
                <a:round/>
                <a:headEnd/>
                <a:tailEnd/>
              </a:ln>
              <a:effectLst/>
            </p:spPr>
            <p:txBody>
              <a:bodyPr wrap="none" anchor="ctr"/>
              <a:lstStyle/>
              <a:p>
                <a:endParaRPr lang="en-US"/>
              </a:p>
            </p:txBody>
          </p:sp>
          <p:sp>
            <p:nvSpPr>
              <p:cNvPr id="1198088" name="Line 8"/>
              <p:cNvSpPr>
                <a:spLocks noChangeShapeType="1"/>
              </p:cNvSpPr>
              <p:nvPr/>
            </p:nvSpPr>
            <p:spPr bwMode="auto">
              <a:xfrm>
                <a:off x="1544"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3" name="Group 9"/>
            <p:cNvGrpSpPr>
              <a:grpSpLocks/>
            </p:cNvGrpSpPr>
            <p:nvPr/>
          </p:nvGrpSpPr>
          <p:grpSpPr bwMode="auto">
            <a:xfrm>
              <a:off x="2425700" y="3276600"/>
              <a:ext cx="825500" cy="254000"/>
              <a:chOff x="1776" y="712"/>
              <a:chExt cx="520" cy="160"/>
            </a:xfrm>
          </p:grpSpPr>
          <p:sp>
            <p:nvSpPr>
              <p:cNvPr id="1198090" name="Line 10"/>
              <p:cNvSpPr>
                <a:spLocks noChangeShapeType="1"/>
              </p:cNvSpPr>
              <p:nvPr/>
            </p:nvSpPr>
            <p:spPr bwMode="auto">
              <a:xfrm>
                <a:off x="1784" y="864"/>
                <a:ext cx="272" cy="0"/>
              </a:xfrm>
              <a:prstGeom prst="line">
                <a:avLst/>
              </a:prstGeom>
              <a:noFill/>
              <a:ln w="25400">
                <a:solidFill>
                  <a:schemeClr val="tx1"/>
                </a:solidFill>
                <a:round/>
                <a:headEnd/>
                <a:tailEnd/>
              </a:ln>
              <a:effectLst/>
            </p:spPr>
            <p:txBody>
              <a:bodyPr wrap="none" anchor="ctr"/>
              <a:lstStyle/>
              <a:p>
                <a:endParaRPr lang="en-US"/>
              </a:p>
            </p:txBody>
          </p:sp>
          <p:sp>
            <p:nvSpPr>
              <p:cNvPr id="1198091" name="Line 11"/>
              <p:cNvSpPr>
                <a:spLocks noChangeShapeType="1"/>
              </p:cNvSpPr>
              <p:nvPr/>
            </p:nvSpPr>
            <p:spPr bwMode="auto">
              <a:xfrm>
                <a:off x="1776" y="728"/>
                <a:ext cx="0" cy="128"/>
              </a:xfrm>
              <a:prstGeom prst="line">
                <a:avLst/>
              </a:prstGeom>
              <a:noFill/>
              <a:ln w="25400">
                <a:solidFill>
                  <a:schemeClr val="tx1"/>
                </a:solidFill>
                <a:round/>
                <a:headEnd/>
                <a:tailEnd/>
              </a:ln>
              <a:effectLst/>
            </p:spPr>
            <p:txBody>
              <a:bodyPr wrap="none" anchor="ctr"/>
              <a:lstStyle/>
              <a:p>
                <a:endParaRPr lang="en-US"/>
              </a:p>
            </p:txBody>
          </p:sp>
          <p:sp>
            <p:nvSpPr>
              <p:cNvPr id="1198092" name="Line 12"/>
              <p:cNvSpPr>
                <a:spLocks noChangeShapeType="1"/>
              </p:cNvSpPr>
              <p:nvPr/>
            </p:nvSpPr>
            <p:spPr bwMode="auto">
              <a:xfrm flipV="1">
                <a:off x="2064" y="712"/>
                <a:ext cx="0" cy="160"/>
              </a:xfrm>
              <a:prstGeom prst="line">
                <a:avLst/>
              </a:prstGeom>
              <a:noFill/>
              <a:ln w="25400">
                <a:solidFill>
                  <a:schemeClr val="tx1"/>
                </a:solidFill>
                <a:round/>
                <a:headEnd/>
                <a:tailEnd/>
              </a:ln>
              <a:effectLst/>
            </p:spPr>
            <p:txBody>
              <a:bodyPr wrap="none" anchor="ctr"/>
              <a:lstStyle/>
              <a:p>
                <a:endParaRPr lang="en-US"/>
              </a:p>
            </p:txBody>
          </p:sp>
          <p:sp>
            <p:nvSpPr>
              <p:cNvPr id="1198093" name="Line 13"/>
              <p:cNvSpPr>
                <a:spLocks noChangeShapeType="1"/>
              </p:cNvSpPr>
              <p:nvPr/>
            </p:nvSpPr>
            <p:spPr bwMode="auto">
              <a:xfrm>
                <a:off x="2072"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4" name="Group 14"/>
            <p:cNvGrpSpPr>
              <a:grpSpLocks/>
            </p:cNvGrpSpPr>
            <p:nvPr/>
          </p:nvGrpSpPr>
          <p:grpSpPr bwMode="auto">
            <a:xfrm>
              <a:off x="3263900" y="3276600"/>
              <a:ext cx="825500" cy="254000"/>
              <a:chOff x="2304" y="712"/>
              <a:chExt cx="520" cy="160"/>
            </a:xfrm>
          </p:grpSpPr>
          <p:sp>
            <p:nvSpPr>
              <p:cNvPr id="1198095" name="Line 15"/>
              <p:cNvSpPr>
                <a:spLocks noChangeShapeType="1"/>
              </p:cNvSpPr>
              <p:nvPr/>
            </p:nvSpPr>
            <p:spPr bwMode="auto">
              <a:xfrm>
                <a:off x="2312" y="864"/>
                <a:ext cx="272" cy="0"/>
              </a:xfrm>
              <a:prstGeom prst="line">
                <a:avLst/>
              </a:prstGeom>
              <a:noFill/>
              <a:ln w="25400">
                <a:solidFill>
                  <a:schemeClr val="tx1"/>
                </a:solidFill>
                <a:round/>
                <a:headEnd/>
                <a:tailEnd/>
              </a:ln>
              <a:effectLst/>
            </p:spPr>
            <p:txBody>
              <a:bodyPr wrap="none" anchor="ctr"/>
              <a:lstStyle/>
              <a:p>
                <a:endParaRPr lang="en-US"/>
              </a:p>
            </p:txBody>
          </p:sp>
          <p:sp>
            <p:nvSpPr>
              <p:cNvPr id="1198096" name="Line 16"/>
              <p:cNvSpPr>
                <a:spLocks noChangeShapeType="1"/>
              </p:cNvSpPr>
              <p:nvPr/>
            </p:nvSpPr>
            <p:spPr bwMode="auto">
              <a:xfrm>
                <a:off x="2304" y="728"/>
                <a:ext cx="0" cy="128"/>
              </a:xfrm>
              <a:prstGeom prst="line">
                <a:avLst/>
              </a:prstGeom>
              <a:noFill/>
              <a:ln w="25400">
                <a:solidFill>
                  <a:schemeClr val="tx1"/>
                </a:solidFill>
                <a:round/>
                <a:headEnd/>
                <a:tailEnd/>
              </a:ln>
              <a:effectLst/>
            </p:spPr>
            <p:txBody>
              <a:bodyPr wrap="none" anchor="ctr"/>
              <a:lstStyle/>
              <a:p>
                <a:endParaRPr lang="en-US"/>
              </a:p>
            </p:txBody>
          </p:sp>
          <p:sp>
            <p:nvSpPr>
              <p:cNvPr id="1198097" name="Line 17"/>
              <p:cNvSpPr>
                <a:spLocks noChangeShapeType="1"/>
              </p:cNvSpPr>
              <p:nvPr/>
            </p:nvSpPr>
            <p:spPr bwMode="auto">
              <a:xfrm flipV="1">
                <a:off x="2592" y="712"/>
                <a:ext cx="0" cy="160"/>
              </a:xfrm>
              <a:prstGeom prst="line">
                <a:avLst/>
              </a:prstGeom>
              <a:noFill/>
              <a:ln w="25400">
                <a:solidFill>
                  <a:schemeClr val="tx1"/>
                </a:solidFill>
                <a:round/>
                <a:headEnd/>
                <a:tailEnd/>
              </a:ln>
              <a:effectLst/>
            </p:spPr>
            <p:txBody>
              <a:bodyPr wrap="none" anchor="ctr"/>
              <a:lstStyle/>
              <a:p>
                <a:endParaRPr lang="en-US"/>
              </a:p>
            </p:txBody>
          </p:sp>
          <p:sp>
            <p:nvSpPr>
              <p:cNvPr id="1198098" name="Line 18"/>
              <p:cNvSpPr>
                <a:spLocks noChangeShapeType="1"/>
              </p:cNvSpPr>
              <p:nvPr/>
            </p:nvSpPr>
            <p:spPr bwMode="auto">
              <a:xfrm>
                <a:off x="2600"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5" name="Group 19"/>
            <p:cNvGrpSpPr>
              <a:grpSpLocks/>
            </p:cNvGrpSpPr>
            <p:nvPr/>
          </p:nvGrpSpPr>
          <p:grpSpPr bwMode="auto">
            <a:xfrm>
              <a:off x="4102100" y="3276600"/>
              <a:ext cx="825500" cy="254000"/>
              <a:chOff x="2832" y="712"/>
              <a:chExt cx="520" cy="160"/>
            </a:xfrm>
          </p:grpSpPr>
          <p:sp>
            <p:nvSpPr>
              <p:cNvPr id="1198100" name="Line 20"/>
              <p:cNvSpPr>
                <a:spLocks noChangeShapeType="1"/>
              </p:cNvSpPr>
              <p:nvPr/>
            </p:nvSpPr>
            <p:spPr bwMode="auto">
              <a:xfrm>
                <a:off x="2840" y="864"/>
                <a:ext cx="272" cy="0"/>
              </a:xfrm>
              <a:prstGeom prst="line">
                <a:avLst/>
              </a:prstGeom>
              <a:noFill/>
              <a:ln w="25400">
                <a:solidFill>
                  <a:schemeClr val="tx1"/>
                </a:solidFill>
                <a:round/>
                <a:headEnd/>
                <a:tailEnd/>
              </a:ln>
              <a:effectLst/>
            </p:spPr>
            <p:txBody>
              <a:bodyPr wrap="none" anchor="ctr"/>
              <a:lstStyle/>
              <a:p>
                <a:endParaRPr lang="en-US"/>
              </a:p>
            </p:txBody>
          </p:sp>
          <p:sp>
            <p:nvSpPr>
              <p:cNvPr id="1198101" name="Line 21"/>
              <p:cNvSpPr>
                <a:spLocks noChangeShapeType="1"/>
              </p:cNvSpPr>
              <p:nvPr/>
            </p:nvSpPr>
            <p:spPr bwMode="auto">
              <a:xfrm>
                <a:off x="2832" y="728"/>
                <a:ext cx="0" cy="128"/>
              </a:xfrm>
              <a:prstGeom prst="line">
                <a:avLst/>
              </a:prstGeom>
              <a:noFill/>
              <a:ln w="25400">
                <a:solidFill>
                  <a:schemeClr val="tx1"/>
                </a:solidFill>
                <a:round/>
                <a:headEnd/>
                <a:tailEnd/>
              </a:ln>
              <a:effectLst/>
            </p:spPr>
            <p:txBody>
              <a:bodyPr wrap="none" anchor="ctr"/>
              <a:lstStyle/>
              <a:p>
                <a:endParaRPr lang="en-US"/>
              </a:p>
            </p:txBody>
          </p:sp>
          <p:sp>
            <p:nvSpPr>
              <p:cNvPr id="1198102" name="Line 22"/>
              <p:cNvSpPr>
                <a:spLocks noChangeShapeType="1"/>
              </p:cNvSpPr>
              <p:nvPr/>
            </p:nvSpPr>
            <p:spPr bwMode="auto">
              <a:xfrm flipV="1">
                <a:off x="3120" y="712"/>
                <a:ext cx="0" cy="160"/>
              </a:xfrm>
              <a:prstGeom prst="line">
                <a:avLst/>
              </a:prstGeom>
              <a:noFill/>
              <a:ln w="25400">
                <a:solidFill>
                  <a:schemeClr val="tx1"/>
                </a:solidFill>
                <a:round/>
                <a:headEnd/>
                <a:tailEnd/>
              </a:ln>
              <a:effectLst/>
            </p:spPr>
            <p:txBody>
              <a:bodyPr wrap="none" anchor="ctr"/>
              <a:lstStyle/>
              <a:p>
                <a:endParaRPr lang="en-US"/>
              </a:p>
            </p:txBody>
          </p:sp>
          <p:sp>
            <p:nvSpPr>
              <p:cNvPr id="1198103" name="Line 23"/>
              <p:cNvSpPr>
                <a:spLocks noChangeShapeType="1"/>
              </p:cNvSpPr>
              <p:nvPr/>
            </p:nvSpPr>
            <p:spPr bwMode="auto">
              <a:xfrm>
                <a:off x="3128"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6" name="Group 24"/>
            <p:cNvGrpSpPr>
              <a:grpSpLocks/>
            </p:cNvGrpSpPr>
            <p:nvPr/>
          </p:nvGrpSpPr>
          <p:grpSpPr bwMode="auto">
            <a:xfrm>
              <a:off x="4940300" y="3276600"/>
              <a:ext cx="825500" cy="254000"/>
              <a:chOff x="3360" y="712"/>
              <a:chExt cx="520" cy="160"/>
            </a:xfrm>
          </p:grpSpPr>
          <p:sp>
            <p:nvSpPr>
              <p:cNvPr id="1198105" name="Line 25"/>
              <p:cNvSpPr>
                <a:spLocks noChangeShapeType="1"/>
              </p:cNvSpPr>
              <p:nvPr/>
            </p:nvSpPr>
            <p:spPr bwMode="auto">
              <a:xfrm>
                <a:off x="3368" y="864"/>
                <a:ext cx="272" cy="0"/>
              </a:xfrm>
              <a:prstGeom prst="line">
                <a:avLst/>
              </a:prstGeom>
              <a:noFill/>
              <a:ln w="25400">
                <a:solidFill>
                  <a:schemeClr val="tx1"/>
                </a:solidFill>
                <a:round/>
                <a:headEnd/>
                <a:tailEnd/>
              </a:ln>
              <a:effectLst/>
            </p:spPr>
            <p:txBody>
              <a:bodyPr wrap="none" anchor="ctr"/>
              <a:lstStyle/>
              <a:p>
                <a:endParaRPr lang="en-US"/>
              </a:p>
            </p:txBody>
          </p:sp>
          <p:sp>
            <p:nvSpPr>
              <p:cNvPr id="1198106" name="Line 26"/>
              <p:cNvSpPr>
                <a:spLocks noChangeShapeType="1"/>
              </p:cNvSpPr>
              <p:nvPr/>
            </p:nvSpPr>
            <p:spPr bwMode="auto">
              <a:xfrm>
                <a:off x="3360" y="728"/>
                <a:ext cx="0" cy="128"/>
              </a:xfrm>
              <a:prstGeom prst="line">
                <a:avLst/>
              </a:prstGeom>
              <a:noFill/>
              <a:ln w="25400">
                <a:solidFill>
                  <a:schemeClr val="tx1"/>
                </a:solidFill>
                <a:round/>
                <a:headEnd/>
                <a:tailEnd/>
              </a:ln>
              <a:effectLst/>
            </p:spPr>
            <p:txBody>
              <a:bodyPr wrap="none" anchor="ctr"/>
              <a:lstStyle/>
              <a:p>
                <a:endParaRPr lang="en-US"/>
              </a:p>
            </p:txBody>
          </p:sp>
          <p:sp>
            <p:nvSpPr>
              <p:cNvPr id="1198107" name="Line 27"/>
              <p:cNvSpPr>
                <a:spLocks noChangeShapeType="1"/>
              </p:cNvSpPr>
              <p:nvPr/>
            </p:nvSpPr>
            <p:spPr bwMode="auto">
              <a:xfrm flipV="1">
                <a:off x="3648" y="712"/>
                <a:ext cx="0" cy="160"/>
              </a:xfrm>
              <a:prstGeom prst="line">
                <a:avLst/>
              </a:prstGeom>
              <a:noFill/>
              <a:ln w="25400">
                <a:solidFill>
                  <a:schemeClr val="tx1"/>
                </a:solidFill>
                <a:round/>
                <a:headEnd/>
                <a:tailEnd/>
              </a:ln>
              <a:effectLst/>
            </p:spPr>
            <p:txBody>
              <a:bodyPr wrap="none" anchor="ctr"/>
              <a:lstStyle/>
              <a:p>
                <a:endParaRPr lang="en-US"/>
              </a:p>
            </p:txBody>
          </p:sp>
          <p:sp>
            <p:nvSpPr>
              <p:cNvPr id="1198108" name="Line 28"/>
              <p:cNvSpPr>
                <a:spLocks noChangeShapeType="1"/>
              </p:cNvSpPr>
              <p:nvPr/>
            </p:nvSpPr>
            <p:spPr bwMode="auto">
              <a:xfrm>
                <a:off x="3656" y="720"/>
                <a:ext cx="224" cy="0"/>
              </a:xfrm>
              <a:prstGeom prst="line">
                <a:avLst/>
              </a:prstGeom>
              <a:noFill/>
              <a:ln w="25400">
                <a:solidFill>
                  <a:schemeClr val="tx1"/>
                </a:solidFill>
                <a:round/>
                <a:headEnd/>
                <a:tailEnd/>
              </a:ln>
              <a:effectLst/>
            </p:spPr>
            <p:txBody>
              <a:bodyPr wrap="none" anchor="ctr"/>
              <a:lstStyle/>
              <a:p>
                <a:endParaRPr lang="en-US"/>
              </a:p>
            </p:txBody>
          </p:sp>
        </p:grpSp>
        <p:sp>
          <p:nvSpPr>
            <p:cNvPr id="1198109" name="Line 29"/>
            <p:cNvSpPr>
              <a:spLocks noChangeShapeType="1"/>
            </p:cNvSpPr>
            <p:nvPr/>
          </p:nvSpPr>
          <p:spPr bwMode="auto">
            <a:xfrm>
              <a:off x="1219200" y="3289300"/>
              <a:ext cx="355600" cy="0"/>
            </a:xfrm>
            <a:prstGeom prst="line">
              <a:avLst/>
            </a:prstGeom>
            <a:noFill/>
            <a:ln w="25400">
              <a:solidFill>
                <a:schemeClr val="tx1"/>
              </a:solidFill>
              <a:round/>
              <a:headEnd/>
              <a:tailEnd/>
            </a:ln>
            <a:effectLst/>
          </p:spPr>
          <p:txBody>
            <a:bodyPr wrap="none" anchor="ctr"/>
            <a:lstStyle/>
            <a:p>
              <a:endParaRPr lang="en-US"/>
            </a:p>
          </p:txBody>
        </p:sp>
        <p:sp>
          <p:nvSpPr>
            <p:cNvPr id="1198110" name="Line 30"/>
            <p:cNvSpPr>
              <a:spLocks noChangeShapeType="1"/>
            </p:cNvSpPr>
            <p:nvPr/>
          </p:nvSpPr>
          <p:spPr bwMode="auto">
            <a:xfrm flipV="1">
              <a:off x="1587500" y="289560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11" name="Line 31"/>
            <p:cNvSpPr>
              <a:spLocks noChangeShapeType="1"/>
            </p:cNvSpPr>
            <p:nvPr/>
          </p:nvSpPr>
          <p:spPr bwMode="auto">
            <a:xfrm flipV="1">
              <a:off x="2425700" y="289560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12" name="Rectangle 32"/>
            <p:cNvSpPr>
              <a:spLocks noChangeArrowheads="1"/>
            </p:cNvSpPr>
            <p:nvPr/>
          </p:nvSpPr>
          <p:spPr bwMode="auto">
            <a:xfrm>
              <a:off x="1524000"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1</a:t>
              </a:r>
            </a:p>
          </p:txBody>
        </p:sp>
        <p:sp>
          <p:nvSpPr>
            <p:cNvPr id="1198113" name="Rectangle 33"/>
            <p:cNvSpPr>
              <a:spLocks noChangeArrowheads="1"/>
            </p:cNvSpPr>
            <p:nvPr/>
          </p:nvSpPr>
          <p:spPr bwMode="auto">
            <a:xfrm>
              <a:off x="2405063"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2</a:t>
              </a:r>
            </a:p>
          </p:txBody>
        </p:sp>
        <p:sp>
          <p:nvSpPr>
            <p:cNvPr id="1198114" name="Line 34"/>
            <p:cNvSpPr>
              <a:spLocks noChangeShapeType="1"/>
            </p:cNvSpPr>
            <p:nvPr/>
          </p:nvSpPr>
          <p:spPr bwMode="auto">
            <a:xfrm flipV="1">
              <a:off x="3263900" y="289560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15" name="Line 35"/>
            <p:cNvSpPr>
              <a:spLocks noChangeShapeType="1"/>
            </p:cNvSpPr>
            <p:nvPr/>
          </p:nvSpPr>
          <p:spPr bwMode="auto">
            <a:xfrm flipV="1">
              <a:off x="4102100" y="289560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16" name="Line 36"/>
            <p:cNvSpPr>
              <a:spLocks noChangeShapeType="1"/>
            </p:cNvSpPr>
            <p:nvPr/>
          </p:nvSpPr>
          <p:spPr bwMode="auto">
            <a:xfrm flipV="1">
              <a:off x="4940300" y="289560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17" name="Line 37"/>
            <p:cNvSpPr>
              <a:spLocks noChangeShapeType="1"/>
            </p:cNvSpPr>
            <p:nvPr/>
          </p:nvSpPr>
          <p:spPr bwMode="auto">
            <a:xfrm flipV="1">
              <a:off x="5778500" y="289560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18" name="Rectangle 38"/>
            <p:cNvSpPr>
              <a:spLocks noChangeArrowheads="1"/>
            </p:cNvSpPr>
            <p:nvPr/>
          </p:nvSpPr>
          <p:spPr bwMode="auto">
            <a:xfrm>
              <a:off x="3319463"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3</a:t>
              </a:r>
            </a:p>
          </p:txBody>
        </p:sp>
        <p:sp>
          <p:nvSpPr>
            <p:cNvPr id="1198119" name="Rectangle 39"/>
            <p:cNvSpPr>
              <a:spLocks noChangeArrowheads="1"/>
            </p:cNvSpPr>
            <p:nvPr/>
          </p:nvSpPr>
          <p:spPr bwMode="auto">
            <a:xfrm>
              <a:off x="4081463"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4</a:t>
              </a:r>
            </a:p>
          </p:txBody>
        </p:sp>
        <p:sp>
          <p:nvSpPr>
            <p:cNvPr id="1198120" name="Rectangle 40"/>
            <p:cNvSpPr>
              <a:spLocks noChangeArrowheads="1"/>
            </p:cNvSpPr>
            <p:nvPr/>
          </p:nvSpPr>
          <p:spPr bwMode="auto">
            <a:xfrm>
              <a:off x="4919663"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5</a:t>
              </a:r>
            </a:p>
          </p:txBody>
        </p:sp>
        <p:grpSp>
          <p:nvGrpSpPr>
            <p:cNvPr id="7" name="Group 42"/>
            <p:cNvGrpSpPr>
              <a:grpSpLocks/>
            </p:cNvGrpSpPr>
            <p:nvPr/>
          </p:nvGrpSpPr>
          <p:grpSpPr bwMode="auto">
            <a:xfrm>
              <a:off x="1600200" y="3740150"/>
              <a:ext cx="838200" cy="333375"/>
              <a:chOff x="1256" y="1004"/>
              <a:chExt cx="528" cy="210"/>
            </a:xfrm>
          </p:grpSpPr>
          <p:sp>
            <p:nvSpPr>
              <p:cNvPr id="1198123" name="Rectangle 43"/>
              <p:cNvSpPr>
                <a:spLocks noChangeArrowheads="1"/>
              </p:cNvSpPr>
              <p:nvPr/>
            </p:nvSpPr>
            <p:spPr bwMode="auto">
              <a:xfrm>
                <a:off x="1256"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24" name="Rectangle 44"/>
              <p:cNvSpPr>
                <a:spLocks noChangeArrowheads="1"/>
              </p:cNvSpPr>
              <p:nvPr/>
            </p:nvSpPr>
            <p:spPr bwMode="auto">
              <a:xfrm>
                <a:off x="1293" y="1004"/>
                <a:ext cx="491"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IFetch</a:t>
                </a:r>
              </a:p>
            </p:txBody>
          </p:sp>
        </p:grpSp>
        <p:sp>
          <p:nvSpPr>
            <p:cNvPr id="1198126" name="Rectangle 46"/>
            <p:cNvSpPr>
              <a:spLocks noChangeArrowheads="1"/>
            </p:cNvSpPr>
            <p:nvPr/>
          </p:nvSpPr>
          <p:spPr bwMode="auto">
            <a:xfrm>
              <a:off x="2438400" y="3759200"/>
              <a:ext cx="812800" cy="279400"/>
            </a:xfrm>
            <a:prstGeom prst="rect">
              <a:avLst/>
            </a:prstGeom>
            <a:noFill/>
            <a:ln w="25400">
              <a:solidFill>
                <a:schemeClr val="tx1"/>
              </a:solidFill>
              <a:miter lim="800000"/>
              <a:headEnd/>
              <a:tailEnd/>
            </a:ln>
            <a:effectLst/>
          </p:spPr>
          <p:txBody>
            <a:bodyPr wrap="none" anchor="ctr"/>
            <a:lstStyle/>
            <a:p>
              <a:endParaRPr lang="en-US"/>
            </a:p>
          </p:txBody>
        </p:sp>
        <p:sp>
          <p:nvSpPr>
            <p:cNvPr id="1198127" name="Rectangle 47"/>
            <p:cNvSpPr>
              <a:spLocks noChangeArrowheads="1"/>
            </p:cNvSpPr>
            <p:nvPr/>
          </p:nvSpPr>
          <p:spPr bwMode="auto">
            <a:xfrm>
              <a:off x="2571750" y="3740150"/>
              <a:ext cx="552450"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Dec</a:t>
              </a:r>
            </a:p>
          </p:txBody>
        </p:sp>
        <p:grpSp>
          <p:nvGrpSpPr>
            <p:cNvPr id="8" name="Group 48"/>
            <p:cNvGrpSpPr>
              <a:grpSpLocks/>
            </p:cNvGrpSpPr>
            <p:nvPr/>
          </p:nvGrpSpPr>
          <p:grpSpPr bwMode="auto">
            <a:xfrm>
              <a:off x="3276600" y="3740150"/>
              <a:ext cx="812800" cy="333375"/>
              <a:chOff x="2312" y="1004"/>
              <a:chExt cx="512" cy="210"/>
            </a:xfrm>
          </p:grpSpPr>
          <p:sp>
            <p:nvSpPr>
              <p:cNvPr id="1198129" name="Rectangle 49"/>
              <p:cNvSpPr>
                <a:spLocks noChangeArrowheads="1"/>
              </p:cNvSpPr>
              <p:nvPr/>
            </p:nvSpPr>
            <p:spPr bwMode="auto">
              <a:xfrm>
                <a:off x="2312"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30" name="Rectangle 50"/>
              <p:cNvSpPr>
                <a:spLocks noChangeArrowheads="1"/>
              </p:cNvSpPr>
              <p:nvPr/>
            </p:nvSpPr>
            <p:spPr bwMode="auto">
              <a:xfrm>
                <a:off x="2387" y="1004"/>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9" name="Group 51"/>
            <p:cNvGrpSpPr>
              <a:grpSpLocks/>
            </p:cNvGrpSpPr>
            <p:nvPr/>
          </p:nvGrpSpPr>
          <p:grpSpPr bwMode="auto">
            <a:xfrm>
              <a:off x="4114800" y="3740150"/>
              <a:ext cx="812800" cy="333375"/>
              <a:chOff x="2840" y="1004"/>
              <a:chExt cx="512" cy="210"/>
            </a:xfrm>
          </p:grpSpPr>
          <p:sp>
            <p:nvSpPr>
              <p:cNvPr id="1198132" name="Rectangle 52"/>
              <p:cNvSpPr>
                <a:spLocks noChangeArrowheads="1"/>
              </p:cNvSpPr>
              <p:nvPr/>
            </p:nvSpPr>
            <p:spPr bwMode="auto">
              <a:xfrm>
                <a:off x="2840"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33" name="Rectangle 53"/>
              <p:cNvSpPr>
                <a:spLocks noChangeArrowheads="1"/>
              </p:cNvSpPr>
              <p:nvPr/>
            </p:nvSpPr>
            <p:spPr bwMode="auto">
              <a:xfrm>
                <a:off x="2915" y="1004"/>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grpSp>
          <p:nvGrpSpPr>
            <p:cNvPr id="10" name="Group 54"/>
            <p:cNvGrpSpPr>
              <a:grpSpLocks/>
            </p:cNvGrpSpPr>
            <p:nvPr/>
          </p:nvGrpSpPr>
          <p:grpSpPr bwMode="auto">
            <a:xfrm>
              <a:off x="4953000" y="3740150"/>
              <a:ext cx="812800" cy="333375"/>
              <a:chOff x="3368" y="1004"/>
              <a:chExt cx="512" cy="210"/>
            </a:xfrm>
          </p:grpSpPr>
          <p:sp>
            <p:nvSpPr>
              <p:cNvPr id="1198135" name="Rectangle 55"/>
              <p:cNvSpPr>
                <a:spLocks noChangeArrowheads="1"/>
              </p:cNvSpPr>
              <p:nvPr/>
            </p:nvSpPr>
            <p:spPr bwMode="auto">
              <a:xfrm>
                <a:off x="3368"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36" name="Rectangle 56"/>
              <p:cNvSpPr>
                <a:spLocks noChangeArrowheads="1"/>
              </p:cNvSpPr>
              <p:nvPr/>
            </p:nvSpPr>
            <p:spPr bwMode="auto">
              <a:xfrm>
                <a:off x="3443" y="1004"/>
                <a:ext cx="327"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WB</a:t>
                </a:r>
              </a:p>
            </p:txBody>
          </p:sp>
        </p:grpSp>
        <p:sp>
          <p:nvSpPr>
            <p:cNvPr id="1198137" name="Rectangle 57"/>
            <p:cNvSpPr>
              <a:spLocks noChangeArrowheads="1"/>
            </p:cNvSpPr>
            <p:nvPr/>
          </p:nvSpPr>
          <p:spPr bwMode="auto">
            <a:xfrm>
              <a:off x="596900" y="3746500"/>
              <a:ext cx="454025" cy="363538"/>
            </a:xfrm>
            <a:prstGeom prst="rect">
              <a:avLst/>
            </a:prstGeom>
            <a:noFill/>
            <a:ln w="12700">
              <a:noFill/>
              <a:miter lim="800000"/>
              <a:headEnd/>
              <a:tailEnd/>
            </a:ln>
            <a:effectLst/>
          </p:spPr>
          <p:txBody>
            <a:bodyPr wrap="none" lIns="90488" tIns="44450" rIns="90488" bIns="44450">
              <a:spAutoFit/>
            </a:bodyPr>
            <a:lstStyle/>
            <a:p>
              <a:r>
                <a:rPr lang="en-US" b="1">
                  <a:solidFill>
                    <a:schemeClr val="tx1"/>
                  </a:solidFill>
                  <a:latin typeface="Courier New" pitchFamily="49" charset="0"/>
                </a:rPr>
                <a:t>lw</a:t>
              </a:r>
            </a:p>
          </p:txBody>
        </p:sp>
        <p:grpSp>
          <p:nvGrpSpPr>
            <p:cNvPr id="11" name="Group 58"/>
            <p:cNvGrpSpPr>
              <a:grpSpLocks/>
            </p:cNvGrpSpPr>
            <p:nvPr/>
          </p:nvGrpSpPr>
          <p:grpSpPr bwMode="auto">
            <a:xfrm>
              <a:off x="5791200" y="3282950"/>
              <a:ext cx="825500" cy="254000"/>
              <a:chOff x="3360" y="712"/>
              <a:chExt cx="520" cy="160"/>
            </a:xfrm>
          </p:grpSpPr>
          <p:sp>
            <p:nvSpPr>
              <p:cNvPr id="1198139" name="Line 59"/>
              <p:cNvSpPr>
                <a:spLocks noChangeShapeType="1"/>
              </p:cNvSpPr>
              <p:nvPr/>
            </p:nvSpPr>
            <p:spPr bwMode="auto">
              <a:xfrm>
                <a:off x="3368" y="864"/>
                <a:ext cx="272" cy="0"/>
              </a:xfrm>
              <a:prstGeom prst="line">
                <a:avLst/>
              </a:prstGeom>
              <a:noFill/>
              <a:ln w="25400">
                <a:solidFill>
                  <a:schemeClr val="tx1"/>
                </a:solidFill>
                <a:round/>
                <a:headEnd/>
                <a:tailEnd/>
              </a:ln>
              <a:effectLst/>
            </p:spPr>
            <p:txBody>
              <a:bodyPr wrap="none" anchor="ctr"/>
              <a:lstStyle/>
              <a:p>
                <a:endParaRPr lang="en-US"/>
              </a:p>
            </p:txBody>
          </p:sp>
          <p:sp>
            <p:nvSpPr>
              <p:cNvPr id="1198140" name="Line 60"/>
              <p:cNvSpPr>
                <a:spLocks noChangeShapeType="1"/>
              </p:cNvSpPr>
              <p:nvPr/>
            </p:nvSpPr>
            <p:spPr bwMode="auto">
              <a:xfrm>
                <a:off x="3360" y="728"/>
                <a:ext cx="0" cy="128"/>
              </a:xfrm>
              <a:prstGeom prst="line">
                <a:avLst/>
              </a:prstGeom>
              <a:noFill/>
              <a:ln w="25400">
                <a:solidFill>
                  <a:schemeClr val="tx1"/>
                </a:solidFill>
                <a:round/>
                <a:headEnd/>
                <a:tailEnd/>
              </a:ln>
              <a:effectLst/>
            </p:spPr>
            <p:txBody>
              <a:bodyPr wrap="none" anchor="ctr"/>
              <a:lstStyle/>
              <a:p>
                <a:endParaRPr lang="en-US"/>
              </a:p>
            </p:txBody>
          </p:sp>
          <p:sp>
            <p:nvSpPr>
              <p:cNvPr id="1198141" name="Line 61"/>
              <p:cNvSpPr>
                <a:spLocks noChangeShapeType="1"/>
              </p:cNvSpPr>
              <p:nvPr/>
            </p:nvSpPr>
            <p:spPr bwMode="auto">
              <a:xfrm flipV="1">
                <a:off x="3648" y="712"/>
                <a:ext cx="0" cy="160"/>
              </a:xfrm>
              <a:prstGeom prst="line">
                <a:avLst/>
              </a:prstGeom>
              <a:noFill/>
              <a:ln w="25400">
                <a:solidFill>
                  <a:schemeClr val="tx1"/>
                </a:solidFill>
                <a:round/>
                <a:headEnd/>
                <a:tailEnd/>
              </a:ln>
              <a:effectLst/>
            </p:spPr>
            <p:txBody>
              <a:bodyPr wrap="none" anchor="ctr"/>
              <a:lstStyle/>
              <a:p>
                <a:endParaRPr lang="en-US"/>
              </a:p>
            </p:txBody>
          </p:sp>
          <p:sp>
            <p:nvSpPr>
              <p:cNvPr id="1198142" name="Line 62"/>
              <p:cNvSpPr>
                <a:spLocks noChangeShapeType="1"/>
              </p:cNvSpPr>
              <p:nvPr/>
            </p:nvSpPr>
            <p:spPr bwMode="auto">
              <a:xfrm>
                <a:off x="3656"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12" name="Group 63"/>
            <p:cNvGrpSpPr>
              <a:grpSpLocks/>
            </p:cNvGrpSpPr>
            <p:nvPr/>
          </p:nvGrpSpPr>
          <p:grpSpPr bwMode="auto">
            <a:xfrm>
              <a:off x="6629400" y="3282950"/>
              <a:ext cx="825500" cy="254000"/>
              <a:chOff x="3360" y="712"/>
              <a:chExt cx="520" cy="160"/>
            </a:xfrm>
          </p:grpSpPr>
          <p:sp>
            <p:nvSpPr>
              <p:cNvPr id="1198144" name="Line 64"/>
              <p:cNvSpPr>
                <a:spLocks noChangeShapeType="1"/>
              </p:cNvSpPr>
              <p:nvPr/>
            </p:nvSpPr>
            <p:spPr bwMode="auto">
              <a:xfrm>
                <a:off x="3368" y="864"/>
                <a:ext cx="272" cy="0"/>
              </a:xfrm>
              <a:prstGeom prst="line">
                <a:avLst/>
              </a:prstGeom>
              <a:noFill/>
              <a:ln w="25400">
                <a:solidFill>
                  <a:schemeClr val="tx1"/>
                </a:solidFill>
                <a:round/>
                <a:headEnd/>
                <a:tailEnd/>
              </a:ln>
              <a:effectLst/>
            </p:spPr>
            <p:txBody>
              <a:bodyPr wrap="none" anchor="ctr"/>
              <a:lstStyle/>
              <a:p>
                <a:endParaRPr lang="en-US"/>
              </a:p>
            </p:txBody>
          </p:sp>
          <p:sp>
            <p:nvSpPr>
              <p:cNvPr id="1198145" name="Line 65"/>
              <p:cNvSpPr>
                <a:spLocks noChangeShapeType="1"/>
              </p:cNvSpPr>
              <p:nvPr/>
            </p:nvSpPr>
            <p:spPr bwMode="auto">
              <a:xfrm>
                <a:off x="3360" y="728"/>
                <a:ext cx="0" cy="128"/>
              </a:xfrm>
              <a:prstGeom prst="line">
                <a:avLst/>
              </a:prstGeom>
              <a:noFill/>
              <a:ln w="25400">
                <a:solidFill>
                  <a:schemeClr val="tx1"/>
                </a:solidFill>
                <a:round/>
                <a:headEnd/>
                <a:tailEnd/>
              </a:ln>
              <a:effectLst/>
            </p:spPr>
            <p:txBody>
              <a:bodyPr wrap="none" anchor="ctr"/>
              <a:lstStyle/>
              <a:p>
                <a:endParaRPr lang="en-US"/>
              </a:p>
            </p:txBody>
          </p:sp>
          <p:sp>
            <p:nvSpPr>
              <p:cNvPr id="1198146" name="Line 66"/>
              <p:cNvSpPr>
                <a:spLocks noChangeShapeType="1"/>
              </p:cNvSpPr>
              <p:nvPr/>
            </p:nvSpPr>
            <p:spPr bwMode="auto">
              <a:xfrm flipV="1">
                <a:off x="3648" y="712"/>
                <a:ext cx="0" cy="160"/>
              </a:xfrm>
              <a:prstGeom prst="line">
                <a:avLst/>
              </a:prstGeom>
              <a:noFill/>
              <a:ln w="25400">
                <a:solidFill>
                  <a:schemeClr val="tx1"/>
                </a:solidFill>
                <a:round/>
                <a:headEnd/>
                <a:tailEnd/>
              </a:ln>
              <a:effectLst/>
            </p:spPr>
            <p:txBody>
              <a:bodyPr wrap="none" anchor="ctr"/>
              <a:lstStyle/>
              <a:p>
                <a:endParaRPr lang="en-US"/>
              </a:p>
            </p:txBody>
          </p:sp>
          <p:sp>
            <p:nvSpPr>
              <p:cNvPr id="1198147" name="Line 67"/>
              <p:cNvSpPr>
                <a:spLocks noChangeShapeType="1"/>
              </p:cNvSpPr>
              <p:nvPr/>
            </p:nvSpPr>
            <p:spPr bwMode="auto">
              <a:xfrm>
                <a:off x="3656" y="720"/>
                <a:ext cx="224" cy="0"/>
              </a:xfrm>
              <a:prstGeom prst="line">
                <a:avLst/>
              </a:prstGeom>
              <a:noFill/>
              <a:ln w="25400">
                <a:solidFill>
                  <a:schemeClr val="tx1"/>
                </a:solidFill>
                <a:round/>
                <a:headEnd/>
                <a:tailEnd/>
              </a:ln>
              <a:effectLst/>
            </p:spPr>
            <p:txBody>
              <a:bodyPr wrap="none" anchor="ctr"/>
              <a:lstStyle/>
              <a:p>
                <a:endParaRPr lang="en-US"/>
              </a:p>
            </p:txBody>
          </p:sp>
        </p:grpSp>
        <p:grpSp>
          <p:nvGrpSpPr>
            <p:cNvPr id="13" name="Group 68"/>
            <p:cNvGrpSpPr>
              <a:grpSpLocks/>
            </p:cNvGrpSpPr>
            <p:nvPr/>
          </p:nvGrpSpPr>
          <p:grpSpPr bwMode="auto">
            <a:xfrm>
              <a:off x="7467600" y="3282950"/>
              <a:ext cx="825500" cy="254000"/>
              <a:chOff x="3360" y="712"/>
              <a:chExt cx="520" cy="160"/>
            </a:xfrm>
          </p:grpSpPr>
          <p:sp>
            <p:nvSpPr>
              <p:cNvPr id="1198149" name="Line 69"/>
              <p:cNvSpPr>
                <a:spLocks noChangeShapeType="1"/>
              </p:cNvSpPr>
              <p:nvPr/>
            </p:nvSpPr>
            <p:spPr bwMode="auto">
              <a:xfrm>
                <a:off x="3368" y="864"/>
                <a:ext cx="272" cy="0"/>
              </a:xfrm>
              <a:prstGeom prst="line">
                <a:avLst/>
              </a:prstGeom>
              <a:noFill/>
              <a:ln w="25400">
                <a:solidFill>
                  <a:schemeClr val="tx1"/>
                </a:solidFill>
                <a:round/>
                <a:headEnd/>
                <a:tailEnd/>
              </a:ln>
              <a:effectLst/>
            </p:spPr>
            <p:txBody>
              <a:bodyPr wrap="none" anchor="ctr"/>
              <a:lstStyle/>
              <a:p>
                <a:endParaRPr lang="en-US"/>
              </a:p>
            </p:txBody>
          </p:sp>
          <p:sp>
            <p:nvSpPr>
              <p:cNvPr id="1198150" name="Line 70"/>
              <p:cNvSpPr>
                <a:spLocks noChangeShapeType="1"/>
              </p:cNvSpPr>
              <p:nvPr/>
            </p:nvSpPr>
            <p:spPr bwMode="auto">
              <a:xfrm>
                <a:off x="3360" y="728"/>
                <a:ext cx="0" cy="128"/>
              </a:xfrm>
              <a:prstGeom prst="line">
                <a:avLst/>
              </a:prstGeom>
              <a:noFill/>
              <a:ln w="25400">
                <a:solidFill>
                  <a:schemeClr val="tx1"/>
                </a:solidFill>
                <a:round/>
                <a:headEnd/>
                <a:tailEnd/>
              </a:ln>
              <a:effectLst/>
            </p:spPr>
            <p:txBody>
              <a:bodyPr wrap="none" anchor="ctr"/>
              <a:lstStyle/>
              <a:p>
                <a:endParaRPr lang="en-US"/>
              </a:p>
            </p:txBody>
          </p:sp>
          <p:sp>
            <p:nvSpPr>
              <p:cNvPr id="1198151" name="Line 71"/>
              <p:cNvSpPr>
                <a:spLocks noChangeShapeType="1"/>
              </p:cNvSpPr>
              <p:nvPr/>
            </p:nvSpPr>
            <p:spPr bwMode="auto">
              <a:xfrm flipV="1">
                <a:off x="3648" y="712"/>
                <a:ext cx="0" cy="160"/>
              </a:xfrm>
              <a:prstGeom prst="line">
                <a:avLst/>
              </a:prstGeom>
              <a:noFill/>
              <a:ln w="25400">
                <a:solidFill>
                  <a:schemeClr val="tx1"/>
                </a:solidFill>
                <a:round/>
                <a:headEnd/>
                <a:tailEnd/>
              </a:ln>
              <a:effectLst/>
            </p:spPr>
            <p:txBody>
              <a:bodyPr wrap="none" anchor="ctr"/>
              <a:lstStyle/>
              <a:p>
                <a:endParaRPr lang="en-US"/>
              </a:p>
            </p:txBody>
          </p:sp>
          <p:sp>
            <p:nvSpPr>
              <p:cNvPr id="1198152" name="Line 72"/>
              <p:cNvSpPr>
                <a:spLocks noChangeShapeType="1"/>
              </p:cNvSpPr>
              <p:nvPr/>
            </p:nvSpPr>
            <p:spPr bwMode="auto">
              <a:xfrm>
                <a:off x="3656" y="720"/>
                <a:ext cx="224" cy="0"/>
              </a:xfrm>
              <a:prstGeom prst="line">
                <a:avLst/>
              </a:prstGeom>
              <a:noFill/>
              <a:ln w="25400">
                <a:solidFill>
                  <a:schemeClr val="tx1"/>
                </a:solidFill>
                <a:round/>
                <a:headEnd/>
                <a:tailEnd/>
              </a:ln>
              <a:effectLst/>
            </p:spPr>
            <p:txBody>
              <a:bodyPr wrap="none" anchor="ctr"/>
              <a:lstStyle/>
              <a:p>
                <a:endParaRPr lang="en-US"/>
              </a:p>
            </p:txBody>
          </p:sp>
        </p:grpSp>
        <p:sp>
          <p:nvSpPr>
            <p:cNvPr id="1198153" name="Rectangle 73"/>
            <p:cNvSpPr>
              <a:spLocks noChangeArrowheads="1"/>
            </p:cNvSpPr>
            <p:nvPr/>
          </p:nvSpPr>
          <p:spPr bwMode="auto">
            <a:xfrm>
              <a:off x="6553200"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7</a:t>
              </a:r>
            </a:p>
          </p:txBody>
        </p:sp>
        <p:sp>
          <p:nvSpPr>
            <p:cNvPr id="1198154" name="Line 74"/>
            <p:cNvSpPr>
              <a:spLocks noChangeShapeType="1"/>
            </p:cNvSpPr>
            <p:nvPr/>
          </p:nvSpPr>
          <p:spPr bwMode="auto">
            <a:xfrm flipV="1">
              <a:off x="6629400" y="29019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55" name="Line 75"/>
            <p:cNvSpPr>
              <a:spLocks noChangeShapeType="1"/>
            </p:cNvSpPr>
            <p:nvPr/>
          </p:nvSpPr>
          <p:spPr bwMode="auto">
            <a:xfrm flipV="1">
              <a:off x="7467600" y="29019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56" name="Line 76"/>
            <p:cNvSpPr>
              <a:spLocks noChangeShapeType="1"/>
            </p:cNvSpPr>
            <p:nvPr/>
          </p:nvSpPr>
          <p:spPr bwMode="auto">
            <a:xfrm flipV="1">
              <a:off x="8305800" y="2901950"/>
              <a:ext cx="0" cy="330200"/>
            </a:xfrm>
            <a:prstGeom prst="line">
              <a:avLst/>
            </a:prstGeom>
            <a:noFill/>
            <a:ln w="25400">
              <a:solidFill>
                <a:schemeClr val="tx1"/>
              </a:solidFill>
              <a:prstDash val="sysDot"/>
              <a:round/>
              <a:headEnd/>
              <a:tailEnd/>
            </a:ln>
            <a:effectLst/>
          </p:spPr>
          <p:txBody>
            <a:bodyPr wrap="none" anchor="ctr"/>
            <a:lstStyle/>
            <a:p>
              <a:endParaRPr lang="en-US"/>
            </a:p>
          </p:txBody>
        </p:sp>
        <p:sp>
          <p:nvSpPr>
            <p:cNvPr id="1198157" name="Rectangle 77"/>
            <p:cNvSpPr>
              <a:spLocks noChangeArrowheads="1"/>
            </p:cNvSpPr>
            <p:nvPr/>
          </p:nvSpPr>
          <p:spPr bwMode="auto">
            <a:xfrm>
              <a:off x="5715000"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6</a:t>
              </a:r>
            </a:p>
          </p:txBody>
        </p:sp>
        <p:sp>
          <p:nvSpPr>
            <p:cNvPr id="1198158" name="Rectangle 78"/>
            <p:cNvSpPr>
              <a:spLocks noChangeArrowheads="1"/>
            </p:cNvSpPr>
            <p:nvPr/>
          </p:nvSpPr>
          <p:spPr bwMode="auto">
            <a:xfrm>
              <a:off x="7391400" y="2901950"/>
              <a:ext cx="8921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Cycle 8</a:t>
              </a:r>
            </a:p>
          </p:txBody>
        </p:sp>
        <p:sp>
          <p:nvSpPr>
            <p:cNvPr id="1198159" name="Rectangle 79"/>
            <p:cNvSpPr>
              <a:spLocks noChangeArrowheads="1"/>
            </p:cNvSpPr>
            <p:nvPr/>
          </p:nvSpPr>
          <p:spPr bwMode="auto">
            <a:xfrm>
              <a:off x="609600" y="4225925"/>
              <a:ext cx="454025" cy="363538"/>
            </a:xfrm>
            <a:prstGeom prst="rect">
              <a:avLst/>
            </a:prstGeom>
            <a:noFill/>
            <a:ln w="12700">
              <a:noFill/>
              <a:miter lim="800000"/>
              <a:headEnd/>
              <a:tailEnd/>
            </a:ln>
            <a:effectLst/>
          </p:spPr>
          <p:txBody>
            <a:bodyPr wrap="none" lIns="90488" tIns="44450" rIns="90488" bIns="44450">
              <a:spAutoFit/>
            </a:bodyPr>
            <a:lstStyle/>
            <a:p>
              <a:r>
                <a:rPr lang="en-US" b="1" dirty="0" err="1">
                  <a:solidFill>
                    <a:schemeClr val="tx1"/>
                  </a:solidFill>
                  <a:latin typeface="Courier New" pitchFamily="49" charset="0"/>
                </a:rPr>
                <a:t>sw</a:t>
              </a:r>
              <a:endParaRPr lang="en-US" b="1" dirty="0">
                <a:solidFill>
                  <a:schemeClr val="tx1"/>
                </a:solidFill>
                <a:latin typeface="Courier New" pitchFamily="49" charset="0"/>
              </a:endParaRPr>
            </a:p>
          </p:txBody>
        </p:sp>
        <p:grpSp>
          <p:nvGrpSpPr>
            <p:cNvPr id="14" name="Group 81"/>
            <p:cNvGrpSpPr>
              <a:grpSpLocks/>
            </p:cNvGrpSpPr>
            <p:nvPr/>
          </p:nvGrpSpPr>
          <p:grpSpPr bwMode="auto">
            <a:xfrm>
              <a:off x="2438400" y="4197350"/>
              <a:ext cx="838200" cy="333375"/>
              <a:chOff x="1256" y="1004"/>
              <a:chExt cx="528" cy="210"/>
            </a:xfrm>
          </p:grpSpPr>
          <p:sp>
            <p:nvSpPr>
              <p:cNvPr id="1198162" name="Rectangle 82"/>
              <p:cNvSpPr>
                <a:spLocks noChangeArrowheads="1"/>
              </p:cNvSpPr>
              <p:nvPr/>
            </p:nvSpPr>
            <p:spPr bwMode="auto">
              <a:xfrm>
                <a:off x="1256"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63" name="Rectangle 83"/>
              <p:cNvSpPr>
                <a:spLocks noChangeArrowheads="1"/>
              </p:cNvSpPr>
              <p:nvPr/>
            </p:nvSpPr>
            <p:spPr bwMode="auto">
              <a:xfrm>
                <a:off x="1293" y="1004"/>
                <a:ext cx="491"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IFetch</a:t>
                </a:r>
              </a:p>
            </p:txBody>
          </p:sp>
        </p:grpSp>
        <p:sp>
          <p:nvSpPr>
            <p:cNvPr id="1198165" name="Rectangle 85"/>
            <p:cNvSpPr>
              <a:spLocks noChangeArrowheads="1"/>
            </p:cNvSpPr>
            <p:nvPr/>
          </p:nvSpPr>
          <p:spPr bwMode="auto">
            <a:xfrm>
              <a:off x="3276600" y="4216400"/>
              <a:ext cx="812800" cy="279400"/>
            </a:xfrm>
            <a:prstGeom prst="rect">
              <a:avLst/>
            </a:prstGeom>
            <a:noFill/>
            <a:ln w="25400">
              <a:solidFill>
                <a:schemeClr val="tx1"/>
              </a:solidFill>
              <a:miter lim="800000"/>
              <a:headEnd/>
              <a:tailEnd/>
            </a:ln>
            <a:effectLst/>
          </p:spPr>
          <p:txBody>
            <a:bodyPr wrap="none" anchor="ctr"/>
            <a:lstStyle/>
            <a:p>
              <a:endParaRPr lang="en-US"/>
            </a:p>
          </p:txBody>
        </p:sp>
        <p:sp>
          <p:nvSpPr>
            <p:cNvPr id="1198166" name="Rectangle 86"/>
            <p:cNvSpPr>
              <a:spLocks noChangeArrowheads="1"/>
            </p:cNvSpPr>
            <p:nvPr/>
          </p:nvSpPr>
          <p:spPr bwMode="auto">
            <a:xfrm>
              <a:off x="3409950" y="4197350"/>
              <a:ext cx="552450" cy="333375"/>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Dec</a:t>
              </a:r>
            </a:p>
          </p:txBody>
        </p:sp>
        <p:grpSp>
          <p:nvGrpSpPr>
            <p:cNvPr id="15" name="Group 87"/>
            <p:cNvGrpSpPr>
              <a:grpSpLocks/>
            </p:cNvGrpSpPr>
            <p:nvPr/>
          </p:nvGrpSpPr>
          <p:grpSpPr bwMode="auto">
            <a:xfrm>
              <a:off x="4114800" y="4197350"/>
              <a:ext cx="812800" cy="333375"/>
              <a:chOff x="2312" y="1004"/>
              <a:chExt cx="512" cy="210"/>
            </a:xfrm>
          </p:grpSpPr>
          <p:sp>
            <p:nvSpPr>
              <p:cNvPr id="1198168" name="Rectangle 88"/>
              <p:cNvSpPr>
                <a:spLocks noChangeArrowheads="1"/>
              </p:cNvSpPr>
              <p:nvPr/>
            </p:nvSpPr>
            <p:spPr bwMode="auto">
              <a:xfrm>
                <a:off x="2312"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69" name="Rectangle 89"/>
              <p:cNvSpPr>
                <a:spLocks noChangeArrowheads="1"/>
              </p:cNvSpPr>
              <p:nvPr/>
            </p:nvSpPr>
            <p:spPr bwMode="auto">
              <a:xfrm>
                <a:off x="2387" y="1004"/>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16" name="Group 90"/>
            <p:cNvGrpSpPr>
              <a:grpSpLocks/>
            </p:cNvGrpSpPr>
            <p:nvPr/>
          </p:nvGrpSpPr>
          <p:grpSpPr bwMode="auto">
            <a:xfrm>
              <a:off x="4953000" y="4197350"/>
              <a:ext cx="812800" cy="333375"/>
              <a:chOff x="2840" y="1004"/>
              <a:chExt cx="512" cy="210"/>
            </a:xfrm>
          </p:grpSpPr>
          <p:sp>
            <p:nvSpPr>
              <p:cNvPr id="1198171" name="Rectangle 91"/>
              <p:cNvSpPr>
                <a:spLocks noChangeArrowheads="1"/>
              </p:cNvSpPr>
              <p:nvPr/>
            </p:nvSpPr>
            <p:spPr bwMode="auto">
              <a:xfrm>
                <a:off x="2840"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72" name="Rectangle 92"/>
              <p:cNvSpPr>
                <a:spLocks noChangeArrowheads="1"/>
              </p:cNvSpPr>
              <p:nvPr/>
            </p:nvSpPr>
            <p:spPr bwMode="auto">
              <a:xfrm>
                <a:off x="2915" y="1004"/>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grpSp>
          <p:nvGrpSpPr>
            <p:cNvPr id="17" name="Group 93"/>
            <p:cNvGrpSpPr>
              <a:grpSpLocks/>
            </p:cNvGrpSpPr>
            <p:nvPr/>
          </p:nvGrpSpPr>
          <p:grpSpPr bwMode="auto">
            <a:xfrm>
              <a:off x="5791200" y="4197350"/>
              <a:ext cx="812800" cy="333375"/>
              <a:chOff x="3368" y="1004"/>
              <a:chExt cx="512" cy="210"/>
            </a:xfrm>
          </p:grpSpPr>
          <p:sp>
            <p:nvSpPr>
              <p:cNvPr id="1198174" name="Rectangle 94"/>
              <p:cNvSpPr>
                <a:spLocks noChangeArrowheads="1"/>
              </p:cNvSpPr>
              <p:nvPr/>
            </p:nvSpPr>
            <p:spPr bwMode="auto">
              <a:xfrm>
                <a:off x="3368"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75" name="Rectangle 95"/>
              <p:cNvSpPr>
                <a:spLocks noChangeArrowheads="1"/>
              </p:cNvSpPr>
              <p:nvPr/>
            </p:nvSpPr>
            <p:spPr bwMode="auto">
              <a:xfrm>
                <a:off x="3443" y="1004"/>
                <a:ext cx="327" cy="210"/>
              </a:xfrm>
              <a:prstGeom prst="rect">
                <a:avLst/>
              </a:prstGeom>
              <a:noFill/>
              <a:ln w="12700">
                <a:noFill/>
                <a:miter lim="800000"/>
                <a:headEnd/>
                <a:tailEnd/>
              </a:ln>
              <a:effectLst/>
            </p:spPr>
            <p:txBody>
              <a:bodyPr wrap="none" lIns="90488" tIns="44450" rIns="90488" bIns="44450">
                <a:spAutoFit/>
              </a:bodyPr>
              <a:lstStyle/>
              <a:p>
                <a:r>
                  <a:rPr lang="en-US" sz="1600" b="1"/>
                  <a:t>WB</a:t>
                </a:r>
              </a:p>
            </p:txBody>
          </p:sp>
        </p:grpSp>
        <p:sp>
          <p:nvSpPr>
            <p:cNvPr id="1198176" name="Rectangle 96"/>
            <p:cNvSpPr>
              <a:spLocks noChangeArrowheads="1"/>
            </p:cNvSpPr>
            <p:nvPr/>
          </p:nvSpPr>
          <p:spPr bwMode="auto">
            <a:xfrm>
              <a:off x="609600" y="4683125"/>
              <a:ext cx="892175" cy="363538"/>
            </a:xfrm>
            <a:prstGeom prst="rect">
              <a:avLst/>
            </a:prstGeom>
            <a:noFill/>
            <a:ln w="12700">
              <a:noFill/>
              <a:miter lim="800000"/>
              <a:headEnd/>
              <a:tailEnd/>
            </a:ln>
            <a:effectLst/>
          </p:spPr>
          <p:txBody>
            <a:bodyPr wrap="none" lIns="90488" tIns="44450" rIns="90488" bIns="44450">
              <a:spAutoFit/>
            </a:bodyPr>
            <a:lstStyle/>
            <a:p>
              <a:r>
                <a:rPr lang="en-US" b="1" dirty="0">
                  <a:solidFill>
                    <a:schemeClr val="tx1"/>
                  </a:solidFill>
                </a:rPr>
                <a:t>R-type</a:t>
              </a:r>
            </a:p>
          </p:txBody>
        </p:sp>
        <p:grpSp>
          <p:nvGrpSpPr>
            <p:cNvPr id="18" name="Group 98"/>
            <p:cNvGrpSpPr>
              <a:grpSpLocks/>
            </p:cNvGrpSpPr>
            <p:nvPr/>
          </p:nvGrpSpPr>
          <p:grpSpPr bwMode="auto">
            <a:xfrm>
              <a:off x="3276600" y="4654550"/>
              <a:ext cx="838200" cy="333375"/>
              <a:chOff x="1256" y="1004"/>
              <a:chExt cx="528" cy="210"/>
            </a:xfrm>
          </p:grpSpPr>
          <p:sp>
            <p:nvSpPr>
              <p:cNvPr id="1198179" name="Rectangle 99"/>
              <p:cNvSpPr>
                <a:spLocks noChangeArrowheads="1"/>
              </p:cNvSpPr>
              <p:nvPr/>
            </p:nvSpPr>
            <p:spPr bwMode="auto">
              <a:xfrm>
                <a:off x="1256"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80" name="Rectangle 100"/>
              <p:cNvSpPr>
                <a:spLocks noChangeArrowheads="1"/>
              </p:cNvSpPr>
              <p:nvPr/>
            </p:nvSpPr>
            <p:spPr bwMode="auto">
              <a:xfrm>
                <a:off x="1293" y="1004"/>
                <a:ext cx="491"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IFetch</a:t>
                </a:r>
              </a:p>
            </p:txBody>
          </p:sp>
        </p:grpSp>
        <p:sp>
          <p:nvSpPr>
            <p:cNvPr id="1198182" name="Rectangle 102"/>
            <p:cNvSpPr>
              <a:spLocks noChangeArrowheads="1"/>
            </p:cNvSpPr>
            <p:nvPr/>
          </p:nvSpPr>
          <p:spPr bwMode="auto">
            <a:xfrm>
              <a:off x="4114800" y="4673600"/>
              <a:ext cx="812800" cy="279400"/>
            </a:xfrm>
            <a:prstGeom prst="rect">
              <a:avLst/>
            </a:prstGeom>
            <a:noFill/>
            <a:ln w="25400">
              <a:solidFill>
                <a:schemeClr val="tx1"/>
              </a:solidFill>
              <a:miter lim="800000"/>
              <a:headEnd/>
              <a:tailEnd/>
            </a:ln>
            <a:effectLst/>
          </p:spPr>
          <p:txBody>
            <a:bodyPr wrap="none" anchor="ctr"/>
            <a:lstStyle/>
            <a:p>
              <a:endParaRPr lang="en-US"/>
            </a:p>
          </p:txBody>
        </p:sp>
        <p:sp>
          <p:nvSpPr>
            <p:cNvPr id="1198183" name="Rectangle 103"/>
            <p:cNvSpPr>
              <a:spLocks noChangeArrowheads="1"/>
            </p:cNvSpPr>
            <p:nvPr/>
          </p:nvSpPr>
          <p:spPr bwMode="auto">
            <a:xfrm>
              <a:off x="4248150" y="4654550"/>
              <a:ext cx="552450"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Dec</a:t>
              </a:r>
            </a:p>
          </p:txBody>
        </p:sp>
        <p:grpSp>
          <p:nvGrpSpPr>
            <p:cNvPr id="19" name="Group 104"/>
            <p:cNvGrpSpPr>
              <a:grpSpLocks/>
            </p:cNvGrpSpPr>
            <p:nvPr/>
          </p:nvGrpSpPr>
          <p:grpSpPr bwMode="auto">
            <a:xfrm>
              <a:off x="4953000" y="4654550"/>
              <a:ext cx="812800" cy="333375"/>
              <a:chOff x="2312" y="1004"/>
              <a:chExt cx="512" cy="210"/>
            </a:xfrm>
          </p:grpSpPr>
          <p:sp>
            <p:nvSpPr>
              <p:cNvPr id="1198185" name="Rectangle 105"/>
              <p:cNvSpPr>
                <a:spLocks noChangeArrowheads="1"/>
              </p:cNvSpPr>
              <p:nvPr/>
            </p:nvSpPr>
            <p:spPr bwMode="auto">
              <a:xfrm>
                <a:off x="2312"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86" name="Rectangle 106"/>
              <p:cNvSpPr>
                <a:spLocks noChangeArrowheads="1"/>
              </p:cNvSpPr>
              <p:nvPr/>
            </p:nvSpPr>
            <p:spPr bwMode="auto">
              <a:xfrm>
                <a:off x="2387" y="1004"/>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20" name="Group 107"/>
            <p:cNvGrpSpPr>
              <a:grpSpLocks/>
            </p:cNvGrpSpPr>
            <p:nvPr/>
          </p:nvGrpSpPr>
          <p:grpSpPr bwMode="auto">
            <a:xfrm>
              <a:off x="5791200" y="4654550"/>
              <a:ext cx="812800" cy="333375"/>
              <a:chOff x="2840" y="1004"/>
              <a:chExt cx="512" cy="210"/>
            </a:xfrm>
          </p:grpSpPr>
          <p:sp>
            <p:nvSpPr>
              <p:cNvPr id="1198188" name="Rectangle 108"/>
              <p:cNvSpPr>
                <a:spLocks noChangeArrowheads="1"/>
              </p:cNvSpPr>
              <p:nvPr/>
            </p:nvSpPr>
            <p:spPr bwMode="auto">
              <a:xfrm>
                <a:off x="2840"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89" name="Rectangle 109"/>
              <p:cNvSpPr>
                <a:spLocks noChangeArrowheads="1"/>
              </p:cNvSpPr>
              <p:nvPr/>
            </p:nvSpPr>
            <p:spPr bwMode="auto">
              <a:xfrm>
                <a:off x="2915" y="1004"/>
                <a:ext cx="406" cy="210"/>
              </a:xfrm>
              <a:prstGeom prst="rect">
                <a:avLst/>
              </a:prstGeom>
              <a:noFill/>
              <a:ln w="12700">
                <a:noFill/>
                <a:miter lim="800000"/>
                <a:headEnd/>
                <a:tailEnd/>
              </a:ln>
              <a:effectLst/>
            </p:spPr>
            <p:txBody>
              <a:bodyPr wrap="none" lIns="90488" tIns="44450" rIns="90488" bIns="44450">
                <a:spAutoFit/>
              </a:bodyPr>
              <a:lstStyle/>
              <a:p>
                <a:r>
                  <a:rPr lang="en-US" sz="1600" b="1"/>
                  <a:t>Mem</a:t>
                </a:r>
              </a:p>
            </p:txBody>
          </p:sp>
        </p:grpSp>
        <p:grpSp>
          <p:nvGrpSpPr>
            <p:cNvPr id="21" name="Group 110"/>
            <p:cNvGrpSpPr>
              <a:grpSpLocks/>
            </p:cNvGrpSpPr>
            <p:nvPr/>
          </p:nvGrpSpPr>
          <p:grpSpPr bwMode="auto">
            <a:xfrm>
              <a:off x="6629400" y="4654550"/>
              <a:ext cx="812800" cy="333375"/>
              <a:chOff x="3368" y="1004"/>
              <a:chExt cx="512" cy="210"/>
            </a:xfrm>
          </p:grpSpPr>
          <p:sp>
            <p:nvSpPr>
              <p:cNvPr id="1198191" name="Rectangle 111"/>
              <p:cNvSpPr>
                <a:spLocks noChangeArrowheads="1"/>
              </p:cNvSpPr>
              <p:nvPr/>
            </p:nvSpPr>
            <p:spPr bwMode="auto">
              <a:xfrm>
                <a:off x="3368" y="1016"/>
                <a:ext cx="512" cy="176"/>
              </a:xfrm>
              <a:prstGeom prst="rect">
                <a:avLst/>
              </a:prstGeom>
              <a:noFill/>
              <a:ln w="25400">
                <a:solidFill>
                  <a:schemeClr val="tx1"/>
                </a:solidFill>
                <a:miter lim="800000"/>
                <a:headEnd/>
                <a:tailEnd/>
              </a:ln>
              <a:effectLst/>
            </p:spPr>
            <p:txBody>
              <a:bodyPr wrap="none" anchor="ctr"/>
              <a:lstStyle/>
              <a:p>
                <a:endParaRPr lang="en-US"/>
              </a:p>
            </p:txBody>
          </p:sp>
          <p:sp>
            <p:nvSpPr>
              <p:cNvPr id="1198192" name="Rectangle 112"/>
              <p:cNvSpPr>
                <a:spLocks noChangeArrowheads="1"/>
              </p:cNvSpPr>
              <p:nvPr/>
            </p:nvSpPr>
            <p:spPr bwMode="auto">
              <a:xfrm>
                <a:off x="3443" y="1004"/>
                <a:ext cx="327"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WB</a:t>
                </a:r>
              </a:p>
            </p:txBody>
          </p:sp>
        </p:grpSp>
      </p:grpSp>
      <p:sp>
        <p:nvSpPr>
          <p:cNvPr id="1198193" name="Rectangle 113"/>
          <p:cNvSpPr>
            <a:spLocks noChangeArrowheads="1"/>
          </p:cNvSpPr>
          <p:nvPr/>
        </p:nvSpPr>
        <p:spPr bwMode="auto">
          <a:xfrm>
            <a:off x="457200" y="5334000"/>
            <a:ext cx="8305800" cy="1214692"/>
          </a:xfrm>
          <a:prstGeom prst="rect">
            <a:avLst/>
          </a:prstGeom>
          <a:noFill/>
          <a:ln w="12700">
            <a:noFill/>
            <a:miter lim="800000"/>
            <a:headEnd/>
            <a:tailEnd/>
          </a:ln>
          <a:effectLst/>
        </p:spPr>
        <p:txBody>
          <a:bodyPr lIns="63500" tIns="25400" rIns="63500" bIns="25400">
            <a:spAutoFit/>
          </a:bodyPr>
          <a:lstStyle/>
          <a:p>
            <a:pPr marL="1146175" lvl="2" indent="-176213">
              <a:lnSpc>
                <a:spcPct val="85000"/>
              </a:lnSpc>
              <a:spcBef>
                <a:spcPct val="40000"/>
              </a:spcBef>
              <a:buClr>
                <a:schemeClr val="accent1"/>
              </a:buClr>
              <a:buSzPct val="100000"/>
              <a:buFontTx/>
              <a:buChar char="-"/>
            </a:pPr>
            <a:r>
              <a:rPr lang="en-US" dirty="0">
                <a:solidFill>
                  <a:schemeClr val="tx1"/>
                </a:solidFill>
              </a:rPr>
              <a:t>clock cycle (pipeline stage time) is limited by the </a:t>
            </a:r>
            <a:r>
              <a:rPr lang="en-US" b="1" dirty="0">
                <a:solidFill>
                  <a:schemeClr val="tx1"/>
                </a:solidFill>
              </a:rPr>
              <a:t>slowest</a:t>
            </a:r>
            <a:r>
              <a:rPr lang="en-US" dirty="0">
                <a:solidFill>
                  <a:schemeClr val="tx1"/>
                </a:solidFill>
              </a:rPr>
              <a:t> stage</a:t>
            </a:r>
          </a:p>
          <a:p>
            <a:pPr marL="1603375" lvl="3" indent="-176213">
              <a:lnSpc>
                <a:spcPct val="85000"/>
              </a:lnSpc>
              <a:spcBef>
                <a:spcPct val="40000"/>
              </a:spcBef>
              <a:buClr>
                <a:schemeClr val="accent1"/>
              </a:buClr>
              <a:buSzPct val="100000"/>
              <a:buFontTx/>
              <a:buChar char="-"/>
            </a:pPr>
            <a:r>
              <a:rPr lang="en-US" dirty="0">
                <a:solidFill>
                  <a:schemeClr val="tx1"/>
                </a:solidFill>
              </a:rPr>
              <a:t>for some stages don’t need the whole clock cycle (e.g., WB)</a:t>
            </a:r>
          </a:p>
          <a:p>
            <a:pPr marL="1603375" lvl="3" indent="-176213">
              <a:lnSpc>
                <a:spcPct val="85000"/>
              </a:lnSpc>
              <a:spcBef>
                <a:spcPct val="40000"/>
              </a:spcBef>
              <a:buClr>
                <a:schemeClr val="accent1"/>
              </a:buClr>
              <a:buSzPct val="100000"/>
              <a:buFontTx/>
              <a:buChar char="-"/>
            </a:pPr>
            <a:r>
              <a:rPr lang="en-US" dirty="0">
                <a:solidFill>
                  <a:schemeClr val="tx1"/>
                </a:solidFill>
              </a:rPr>
              <a:t>for some instructions, some stages are </a:t>
            </a:r>
            <a:r>
              <a:rPr lang="en-US" dirty="0"/>
              <a:t>wasted</a:t>
            </a:r>
            <a:r>
              <a:rPr lang="en-US" dirty="0">
                <a:solidFill>
                  <a:schemeClr val="tx1"/>
                </a:solidFill>
              </a:rPr>
              <a:t> cycles (i.e., nothing is done during that cycle for that instruction)</a:t>
            </a:r>
          </a:p>
        </p:txBody>
      </p:sp>
    </p:spTree>
    <p:extLst>
      <p:ext uri="{BB962C8B-B14F-4D97-AF65-F5344CB8AC3E}">
        <p14:creationId xmlns:p14="http://schemas.microsoft.com/office/powerpoint/2010/main" val="414160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9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130" name="Rectangle 2"/>
          <p:cNvSpPr>
            <a:spLocks noGrp="1" noChangeArrowheads="1"/>
          </p:cNvSpPr>
          <p:nvPr>
            <p:ph type="title"/>
          </p:nvPr>
        </p:nvSpPr>
        <p:spPr>
          <a:xfrm>
            <a:off x="652463" y="304800"/>
            <a:ext cx="5001369" cy="426142"/>
          </a:xfrm>
          <a:noFill/>
          <a:ln/>
        </p:spPr>
        <p:txBody>
          <a:bodyPr wrap="none"/>
          <a:lstStyle/>
          <a:p>
            <a:r>
              <a:rPr lang="en-US" dirty="0"/>
              <a:t>Single Cycle versus Pipeline</a:t>
            </a:r>
          </a:p>
        </p:txBody>
      </p:sp>
      <p:grpSp>
        <p:nvGrpSpPr>
          <p:cNvPr id="2" name="Group 195"/>
          <p:cNvGrpSpPr>
            <a:grpSpLocks/>
          </p:cNvGrpSpPr>
          <p:nvPr/>
        </p:nvGrpSpPr>
        <p:grpSpPr bwMode="auto">
          <a:xfrm>
            <a:off x="714375" y="2714608"/>
            <a:ext cx="5910261" cy="1731963"/>
            <a:chOff x="114" y="2959"/>
            <a:chExt cx="3723" cy="1091"/>
          </a:xfrm>
        </p:grpSpPr>
        <p:sp>
          <p:nvSpPr>
            <p:cNvPr id="1200211" name="Rectangle 83"/>
            <p:cNvSpPr>
              <a:spLocks noChangeArrowheads="1"/>
            </p:cNvSpPr>
            <p:nvPr/>
          </p:nvSpPr>
          <p:spPr bwMode="auto">
            <a:xfrm>
              <a:off x="182" y="3264"/>
              <a:ext cx="268"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latin typeface="Courier New" pitchFamily="49" charset="0"/>
                </a:rPr>
                <a:t>lw</a:t>
              </a:r>
            </a:p>
          </p:txBody>
        </p:sp>
        <p:grpSp>
          <p:nvGrpSpPr>
            <p:cNvPr id="3" name="Group 84"/>
            <p:cNvGrpSpPr>
              <a:grpSpLocks/>
            </p:cNvGrpSpPr>
            <p:nvPr/>
          </p:nvGrpSpPr>
          <p:grpSpPr bwMode="auto">
            <a:xfrm>
              <a:off x="474" y="3260"/>
              <a:ext cx="2398" cy="212"/>
              <a:chOff x="474" y="3260"/>
              <a:chExt cx="2398" cy="212"/>
            </a:xfrm>
          </p:grpSpPr>
          <p:grpSp>
            <p:nvGrpSpPr>
              <p:cNvPr id="4" name="Group 85"/>
              <p:cNvGrpSpPr>
                <a:grpSpLocks/>
              </p:cNvGrpSpPr>
              <p:nvPr/>
            </p:nvGrpSpPr>
            <p:grpSpPr bwMode="auto">
              <a:xfrm>
                <a:off x="474" y="3260"/>
                <a:ext cx="491" cy="210"/>
                <a:chOff x="474" y="3260"/>
                <a:chExt cx="491" cy="210"/>
              </a:xfrm>
            </p:grpSpPr>
            <p:sp>
              <p:nvSpPr>
                <p:cNvPr id="1200214" name="Rectangle 86"/>
                <p:cNvSpPr>
                  <a:spLocks noChangeArrowheads="1"/>
                </p:cNvSpPr>
                <p:nvPr/>
              </p:nvSpPr>
              <p:spPr bwMode="auto">
                <a:xfrm>
                  <a:off x="488" y="3272"/>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15" name="Rectangle 87"/>
                <p:cNvSpPr>
                  <a:spLocks noChangeArrowheads="1"/>
                </p:cNvSpPr>
                <p:nvPr/>
              </p:nvSpPr>
              <p:spPr bwMode="auto">
                <a:xfrm>
                  <a:off x="474" y="3260"/>
                  <a:ext cx="491"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rPr>
                    <a:t>IFetch</a:t>
                  </a:r>
                  <a:endParaRPr lang="en-US" sz="1600" b="1" dirty="0">
                    <a:solidFill>
                      <a:schemeClr val="tx1"/>
                    </a:solidFill>
                  </a:endParaRPr>
                </a:p>
              </p:txBody>
            </p:sp>
          </p:grpSp>
          <p:grpSp>
            <p:nvGrpSpPr>
              <p:cNvPr id="5" name="Group 88"/>
              <p:cNvGrpSpPr>
                <a:grpSpLocks/>
              </p:cNvGrpSpPr>
              <p:nvPr/>
            </p:nvGrpSpPr>
            <p:grpSpPr bwMode="auto">
              <a:xfrm>
                <a:off x="968" y="3260"/>
                <a:ext cx="464" cy="210"/>
                <a:chOff x="968" y="3260"/>
                <a:chExt cx="464" cy="210"/>
              </a:xfrm>
            </p:grpSpPr>
            <p:sp>
              <p:nvSpPr>
                <p:cNvPr id="1200217" name="Rectangle 89"/>
                <p:cNvSpPr>
                  <a:spLocks noChangeArrowheads="1"/>
                </p:cNvSpPr>
                <p:nvPr/>
              </p:nvSpPr>
              <p:spPr bwMode="auto">
                <a:xfrm>
                  <a:off x="968" y="3272"/>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18" name="Rectangle 90"/>
                <p:cNvSpPr>
                  <a:spLocks noChangeArrowheads="1"/>
                </p:cNvSpPr>
                <p:nvPr/>
              </p:nvSpPr>
              <p:spPr bwMode="auto">
                <a:xfrm>
                  <a:off x="1043" y="3260"/>
                  <a:ext cx="348"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Dec</a:t>
                  </a:r>
                </a:p>
              </p:txBody>
            </p:sp>
          </p:grpSp>
          <p:grpSp>
            <p:nvGrpSpPr>
              <p:cNvPr id="6" name="Group 91"/>
              <p:cNvGrpSpPr>
                <a:grpSpLocks/>
              </p:cNvGrpSpPr>
              <p:nvPr/>
            </p:nvGrpSpPr>
            <p:grpSpPr bwMode="auto">
              <a:xfrm>
                <a:off x="1448" y="3260"/>
                <a:ext cx="464" cy="210"/>
                <a:chOff x="1448" y="3260"/>
                <a:chExt cx="464" cy="210"/>
              </a:xfrm>
            </p:grpSpPr>
            <p:sp>
              <p:nvSpPr>
                <p:cNvPr id="1200220" name="Rectangle 92"/>
                <p:cNvSpPr>
                  <a:spLocks noChangeArrowheads="1"/>
                </p:cNvSpPr>
                <p:nvPr/>
              </p:nvSpPr>
              <p:spPr bwMode="auto">
                <a:xfrm>
                  <a:off x="1448" y="3272"/>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21" name="Rectangle 93"/>
                <p:cNvSpPr>
                  <a:spLocks noChangeArrowheads="1"/>
                </p:cNvSpPr>
                <p:nvPr/>
              </p:nvSpPr>
              <p:spPr bwMode="auto">
                <a:xfrm>
                  <a:off x="1475" y="3260"/>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7" name="Group 94"/>
              <p:cNvGrpSpPr>
                <a:grpSpLocks/>
              </p:cNvGrpSpPr>
              <p:nvPr/>
            </p:nvGrpSpPr>
            <p:grpSpPr bwMode="auto">
              <a:xfrm>
                <a:off x="1928" y="3260"/>
                <a:ext cx="464" cy="210"/>
                <a:chOff x="1928" y="3260"/>
                <a:chExt cx="464" cy="210"/>
              </a:xfrm>
            </p:grpSpPr>
            <p:sp>
              <p:nvSpPr>
                <p:cNvPr id="1200223" name="Rectangle 95"/>
                <p:cNvSpPr>
                  <a:spLocks noChangeArrowheads="1"/>
                </p:cNvSpPr>
                <p:nvPr/>
              </p:nvSpPr>
              <p:spPr bwMode="auto">
                <a:xfrm>
                  <a:off x="1928" y="3272"/>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24" name="Rectangle 96"/>
                <p:cNvSpPr>
                  <a:spLocks noChangeArrowheads="1"/>
                </p:cNvSpPr>
                <p:nvPr/>
              </p:nvSpPr>
              <p:spPr bwMode="auto">
                <a:xfrm>
                  <a:off x="1955" y="3260"/>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grpSp>
            <p:nvGrpSpPr>
              <p:cNvPr id="8" name="Group 97"/>
              <p:cNvGrpSpPr>
                <a:grpSpLocks/>
              </p:cNvGrpSpPr>
              <p:nvPr/>
            </p:nvGrpSpPr>
            <p:grpSpPr bwMode="auto">
              <a:xfrm>
                <a:off x="2408" y="3260"/>
                <a:ext cx="464" cy="212"/>
                <a:chOff x="2408" y="3260"/>
                <a:chExt cx="464" cy="212"/>
              </a:xfrm>
            </p:grpSpPr>
            <p:sp>
              <p:nvSpPr>
                <p:cNvPr id="1200226" name="Rectangle 98"/>
                <p:cNvSpPr>
                  <a:spLocks noChangeArrowheads="1"/>
                </p:cNvSpPr>
                <p:nvPr/>
              </p:nvSpPr>
              <p:spPr bwMode="auto">
                <a:xfrm>
                  <a:off x="2408" y="3272"/>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27" name="Rectangle 99"/>
                <p:cNvSpPr>
                  <a:spLocks noChangeArrowheads="1"/>
                </p:cNvSpPr>
                <p:nvPr/>
              </p:nvSpPr>
              <p:spPr bwMode="auto">
                <a:xfrm>
                  <a:off x="2483" y="3260"/>
                  <a:ext cx="330" cy="212"/>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WB</a:t>
                  </a:r>
                </a:p>
              </p:txBody>
            </p:sp>
          </p:grpSp>
        </p:grpSp>
        <p:sp>
          <p:nvSpPr>
            <p:cNvPr id="1200243" name="Rectangle 115"/>
            <p:cNvSpPr>
              <a:spLocks noChangeArrowheads="1"/>
            </p:cNvSpPr>
            <p:nvPr/>
          </p:nvSpPr>
          <p:spPr bwMode="auto">
            <a:xfrm>
              <a:off x="114" y="2959"/>
              <a:ext cx="3723" cy="250"/>
            </a:xfrm>
            <a:prstGeom prst="rect">
              <a:avLst/>
            </a:prstGeom>
            <a:noFill/>
            <a:ln w="12700">
              <a:noFill/>
              <a:miter lim="800000"/>
              <a:headEnd/>
              <a:tailEnd/>
            </a:ln>
            <a:effectLst/>
          </p:spPr>
          <p:txBody>
            <a:bodyPr wrap="none" lIns="90488" tIns="44450" rIns="90488" bIns="44450">
              <a:spAutoFit/>
            </a:bodyPr>
            <a:lstStyle/>
            <a:p>
              <a:r>
                <a:rPr lang="en-US" sz="2000" b="1" dirty="0">
                  <a:solidFill>
                    <a:schemeClr val="tx1"/>
                  </a:solidFill>
                </a:rPr>
                <a:t>Pipeline Implementation (clock cycle = 200 </a:t>
              </a:r>
              <a:r>
                <a:rPr lang="en-US" sz="2000" b="1" dirty="0" err="1">
                  <a:solidFill>
                    <a:schemeClr val="tx1"/>
                  </a:solidFill>
                </a:rPr>
                <a:t>ps</a:t>
              </a:r>
              <a:r>
                <a:rPr lang="en-US" sz="2000" b="1" dirty="0">
                  <a:solidFill>
                    <a:schemeClr val="tx1"/>
                  </a:solidFill>
                </a:rPr>
                <a:t>):</a:t>
              </a:r>
            </a:p>
          </p:txBody>
        </p:sp>
        <p:grpSp>
          <p:nvGrpSpPr>
            <p:cNvPr id="9" name="Group 116"/>
            <p:cNvGrpSpPr>
              <a:grpSpLocks/>
            </p:cNvGrpSpPr>
            <p:nvPr/>
          </p:nvGrpSpPr>
          <p:grpSpPr bwMode="auto">
            <a:xfrm>
              <a:off x="968" y="3548"/>
              <a:ext cx="2384" cy="210"/>
              <a:chOff x="968" y="3548"/>
              <a:chExt cx="2384" cy="210"/>
            </a:xfrm>
          </p:grpSpPr>
          <p:grpSp>
            <p:nvGrpSpPr>
              <p:cNvPr id="10" name="Group 117"/>
              <p:cNvGrpSpPr>
                <a:grpSpLocks/>
              </p:cNvGrpSpPr>
              <p:nvPr/>
            </p:nvGrpSpPr>
            <p:grpSpPr bwMode="auto">
              <a:xfrm>
                <a:off x="968" y="3548"/>
                <a:ext cx="492" cy="210"/>
                <a:chOff x="968" y="3548"/>
                <a:chExt cx="492" cy="210"/>
              </a:xfrm>
            </p:grpSpPr>
            <p:sp>
              <p:nvSpPr>
                <p:cNvPr id="1200246" name="Rectangle 118"/>
                <p:cNvSpPr>
                  <a:spLocks noChangeArrowheads="1"/>
                </p:cNvSpPr>
                <p:nvPr/>
              </p:nvSpPr>
              <p:spPr bwMode="auto">
                <a:xfrm>
                  <a:off x="968" y="3560"/>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47" name="Rectangle 119"/>
                <p:cNvSpPr>
                  <a:spLocks noChangeArrowheads="1"/>
                </p:cNvSpPr>
                <p:nvPr/>
              </p:nvSpPr>
              <p:spPr bwMode="auto">
                <a:xfrm>
                  <a:off x="969" y="3548"/>
                  <a:ext cx="491"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rPr>
                    <a:t>IFetch</a:t>
                  </a:r>
                  <a:endParaRPr lang="en-US" sz="1600" b="1" dirty="0">
                    <a:solidFill>
                      <a:schemeClr val="tx1"/>
                    </a:solidFill>
                  </a:endParaRPr>
                </a:p>
              </p:txBody>
            </p:sp>
          </p:grpSp>
          <p:grpSp>
            <p:nvGrpSpPr>
              <p:cNvPr id="11" name="Group 120"/>
              <p:cNvGrpSpPr>
                <a:grpSpLocks/>
              </p:cNvGrpSpPr>
              <p:nvPr/>
            </p:nvGrpSpPr>
            <p:grpSpPr bwMode="auto">
              <a:xfrm>
                <a:off x="1448" y="3548"/>
                <a:ext cx="464" cy="210"/>
                <a:chOff x="1448" y="3548"/>
                <a:chExt cx="464" cy="210"/>
              </a:xfrm>
            </p:grpSpPr>
            <p:sp>
              <p:nvSpPr>
                <p:cNvPr id="1200249" name="Rectangle 121"/>
                <p:cNvSpPr>
                  <a:spLocks noChangeArrowheads="1"/>
                </p:cNvSpPr>
                <p:nvPr/>
              </p:nvSpPr>
              <p:spPr bwMode="auto">
                <a:xfrm>
                  <a:off x="1448" y="3560"/>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50" name="Rectangle 122"/>
                <p:cNvSpPr>
                  <a:spLocks noChangeArrowheads="1"/>
                </p:cNvSpPr>
                <p:nvPr/>
              </p:nvSpPr>
              <p:spPr bwMode="auto">
                <a:xfrm>
                  <a:off x="1523" y="3548"/>
                  <a:ext cx="348"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Dec</a:t>
                  </a:r>
                </a:p>
              </p:txBody>
            </p:sp>
          </p:grpSp>
          <p:grpSp>
            <p:nvGrpSpPr>
              <p:cNvPr id="12" name="Group 123"/>
              <p:cNvGrpSpPr>
                <a:grpSpLocks/>
              </p:cNvGrpSpPr>
              <p:nvPr/>
            </p:nvGrpSpPr>
            <p:grpSpPr bwMode="auto">
              <a:xfrm>
                <a:off x="1928" y="3548"/>
                <a:ext cx="464" cy="210"/>
                <a:chOff x="1928" y="3548"/>
                <a:chExt cx="464" cy="210"/>
              </a:xfrm>
            </p:grpSpPr>
            <p:sp>
              <p:nvSpPr>
                <p:cNvPr id="1200252" name="Rectangle 124"/>
                <p:cNvSpPr>
                  <a:spLocks noChangeArrowheads="1"/>
                </p:cNvSpPr>
                <p:nvPr/>
              </p:nvSpPr>
              <p:spPr bwMode="auto">
                <a:xfrm>
                  <a:off x="1928" y="3560"/>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53" name="Rectangle 125"/>
                <p:cNvSpPr>
                  <a:spLocks noChangeArrowheads="1"/>
                </p:cNvSpPr>
                <p:nvPr/>
              </p:nvSpPr>
              <p:spPr bwMode="auto">
                <a:xfrm>
                  <a:off x="1955" y="3548"/>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13" name="Group 126"/>
              <p:cNvGrpSpPr>
                <a:grpSpLocks/>
              </p:cNvGrpSpPr>
              <p:nvPr/>
            </p:nvGrpSpPr>
            <p:grpSpPr bwMode="auto">
              <a:xfrm>
                <a:off x="2408" y="3548"/>
                <a:ext cx="464" cy="210"/>
                <a:chOff x="2408" y="3548"/>
                <a:chExt cx="464" cy="210"/>
              </a:xfrm>
            </p:grpSpPr>
            <p:sp>
              <p:nvSpPr>
                <p:cNvPr id="1200255" name="Rectangle 127"/>
                <p:cNvSpPr>
                  <a:spLocks noChangeArrowheads="1"/>
                </p:cNvSpPr>
                <p:nvPr/>
              </p:nvSpPr>
              <p:spPr bwMode="auto">
                <a:xfrm>
                  <a:off x="2408" y="3560"/>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56" name="Rectangle 128"/>
                <p:cNvSpPr>
                  <a:spLocks noChangeArrowheads="1"/>
                </p:cNvSpPr>
                <p:nvPr/>
              </p:nvSpPr>
              <p:spPr bwMode="auto">
                <a:xfrm>
                  <a:off x="2435" y="3548"/>
                  <a:ext cx="406"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rPr>
                    <a:t>Mem</a:t>
                  </a:r>
                  <a:endParaRPr lang="en-US" sz="1600" b="1" dirty="0">
                    <a:solidFill>
                      <a:schemeClr val="tx1"/>
                    </a:solidFill>
                  </a:endParaRPr>
                </a:p>
              </p:txBody>
            </p:sp>
          </p:grpSp>
          <p:grpSp>
            <p:nvGrpSpPr>
              <p:cNvPr id="14" name="Group 129"/>
              <p:cNvGrpSpPr>
                <a:grpSpLocks/>
              </p:cNvGrpSpPr>
              <p:nvPr/>
            </p:nvGrpSpPr>
            <p:grpSpPr bwMode="auto">
              <a:xfrm>
                <a:off x="2888" y="3548"/>
                <a:ext cx="464" cy="210"/>
                <a:chOff x="2888" y="3548"/>
                <a:chExt cx="464" cy="210"/>
              </a:xfrm>
            </p:grpSpPr>
            <p:sp>
              <p:nvSpPr>
                <p:cNvPr id="1200258" name="Rectangle 130"/>
                <p:cNvSpPr>
                  <a:spLocks noChangeArrowheads="1"/>
                </p:cNvSpPr>
                <p:nvPr/>
              </p:nvSpPr>
              <p:spPr bwMode="auto">
                <a:xfrm>
                  <a:off x="2888" y="3560"/>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59" name="Rectangle 131"/>
                <p:cNvSpPr>
                  <a:spLocks noChangeArrowheads="1"/>
                </p:cNvSpPr>
                <p:nvPr/>
              </p:nvSpPr>
              <p:spPr bwMode="auto">
                <a:xfrm>
                  <a:off x="2963" y="3548"/>
                  <a:ext cx="327" cy="210"/>
                </a:xfrm>
                <a:prstGeom prst="rect">
                  <a:avLst/>
                </a:prstGeom>
                <a:noFill/>
                <a:ln w="12700">
                  <a:noFill/>
                  <a:miter lim="800000"/>
                  <a:headEnd/>
                  <a:tailEnd/>
                </a:ln>
                <a:effectLst/>
              </p:spPr>
              <p:txBody>
                <a:bodyPr wrap="none" lIns="90488" tIns="44450" rIns="90488" bIns="44450">
                  <a:spAutoFit/>
                </a:bodyPr>
                <a:lstStyle/>
                <a:p>
                  <a:r>
                    <a:rPr lang="en-US" sz="1600" b="1"/>
                    <a:t>WB</a:t>
                  </a:r>
                </a:p>
              </p:txBody>
            </p:sp>
          </p:grpSp>
        </p:grpSp>
        <p:sp>
          <p:nvSpPr>
            <p:cNvPr id="1200260" name="Rectangle 132"/>
            <p:cNvSpPr>
              <a:spLocks noChangeArrowheads="1"/>
            </p:cNvSpPr>
            <p:nvPr/>
          </p:nvSpPr>
          <p:spPr bwMode="auto">
            <a:xfrm>
              <a:off x="579" y="3552"/>
              <a:ext cx="268"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latin typeface="Courier New" pitchFamily="49" charset="0"/>
                </a:rPr>
                <a:t>sw</a:t>
              </a:r>
            </a:p>
          </p:txBody>
        </p:sp>
        <p:grpSp>
          <p:nvGrpSpPr>
            <p:cNvPr id="15" name="Group 162"/>
            <p:cNvGrpSpPr>
              <a:grpSpLocks/>
            </p:cNvGrpSpPr>
            <p:nvPr/>
          </p:nvGrpSpPr>
          <p:grpSpPr bwMode="auto">
            <a:xfrm>
              <a:off x="1419" y="3836"/>
              <a:ext cx="2413" cy="212"/>
              <a:chOff x="1467" y="3836"/>
              <a:chExt cx="2413" cy="212"/>
            </a:xfrm>
          </p:grpSpPr>
          <p:grpSp>
            <p:nvGrpSpPr>
              <p:cNvPr id="16" name="Group 163"/>
              <p:cNvGrpSpPr>
                <a:grpSpLocks/>
              </p:cNvGrpSpPr>
              <p:nvPr/>
            </p:nvGrpSpPr>
            <p:grpSpPr bwMode="auto">
              <a:xfrm>
                <a:off x="1467" y="3836"/>
                <a:ext cx="493" cy="210"/>
                <a:chOff x="1467" y="3836"/>
                <a:chExt cx="493" cy="210"/>
              </a:xfrm>
            </p:grpSpPr>
            <p:sp>
              <p:nvSpPr>
                <p:cNvPr id="1200292" name="Rectangle 164"/>
                <p:cNvSpPr>
                  <a:spLocks noChangeArrowheads="1"/>
                </p:cNvSpPr>
                <p:nvPr/>
              </p:nvSpPr>
              <p:spPr bwMode="auto">
                <a:xfrm>
                  <a:off x="1496" y="3848"/>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93" name="Rectangle 165"/>
                <p:cNvSpPr>
                  <a:spLocks noChangeArrowheads="1"/>
                </p:cNvSpPr>
                <p:nvPr/>
              </p:nvSpPr>
              <p:spPr bwMode="auto">
                <a:xfrm>
                  <a:off x="1467" y="3836"/>
                  <a:ext cx="491"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rPr>
                    <a:t>IFetch</a:t>
                  </a:r>
                  <a:endParaRPr lang="en-US" sz="1600" b="1" dirty="0">
                    <a:solidFill>
                      <a:schemeClr val="tx1"/>
                    </a:solidFill>
                  </a:endParaRPr>
                </a:p>
              </p:txBody>
            </p:sp>
          </p:grpSp>
          <p:grpSp>
            <p:nvGrpSpPr>
              <p:cNvPr id="17" name="Group 166"/>
              <p:cNvGrpSpPr>
                <a:grpSpLocks/>
              </p:cNvGrpSpPr>
              <p:nvPr/>
            </p:nvGrpSpPr>
            <p:grpSpPr bwMode="auto">
              <a:xfrm>
                <a:off x="1976" y="3836"/>
                <a:ext cx="464" cy="210"/>
                <a:chOff x="1976" y="3836"/>
                <a:chExt cx="464" cy="210"/>
              </a:xfrm>
            </p:grpSpPr>
            <p:sp>
              <p:nvSpPr>
                <p:cNvPr id="1200295" name="Rectangle 167"/>
                <p:cNvSpPr>
                  <a:spLocks noChangeArrowheads="1"/>
                </p:cNvSpPr>
                <p:nvPr/>
              </p:nvSpPr>
              <p:spPr bwMode="auto">
                <a:xfrm>
                  <a:off x="1976" y="3848"/>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96" name="Rectangle 168"/>
                <p:cNvSpPr>
                  <a:spLocks noChangeArrowheads="1"/>
                </p:cNvSpPr>
                <p:nvPr/>
              </p:nvSpPr>
              <p:spPr bwMode="auto">
                <a:xfrm>
                  <a:off x="2051" y="3836"/>
                  <a:ext cx="348"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Dec</a:t>
                  </a:r>
                </a:p>
              </p:txBody>
            </p:sp>
          </p:grpSp>
          <p:grpSp>
            <p:nvGrpSpPr>
              <p:cNvPr id="18" name="Group 169"/>
              <p:cNvGrpSpPr>
                <a:grpSpLocks/>
              </p:cNvGrpSpPr>
              <p:nvPr/>
            </p:nvGrpSpPr>
            <p:grpSpPr bwMode="auto">
              <a:xfrm>
                <a:off x="2456" y="3836"/>
                <a:ext cx="464" cy="210"/>
                <a:chOff x="2456" y="3836"/>
                <a:chExt cx="464" cy="210"/>
              </a:xfrm>
            </p:grpSpPr>
            <p:sp>
              <p:nvSpPr>
                <p:cNvPr id="1200298" name="Rectangle 170"/>
                <p:cNvSpPr>
                  <a:spLocks noChangeArrowheads="1"/>
                </p:cNvSpPr>
                <p:nvPr/>
              </p:nvSpPr>
              <p:spPr bwMode="auto">
                <a:xfrm>
                  <a:off x="2456" y="3848"/>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299" name="Rectangle 171"/>
                <p:cNvSpPr>
                  <a:spLocks noChangeArrowheads="1"/>
                </p:cNvSpPr>
                <p:nvPr/>
              </p:nvSpPr>
              <p:spPr bwMode="auto">
                <a:xfrm>
                  <a:off x="2483" y="3836"/>
                  <a:ext cx="4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Exec</a:t>
                  </a:r>
                </a:p>
              </p:txBody>
            </p:sp>
          </p:grpSp>
          <p:grpSp>
            <p:nvGrpSpPr>
              <p:cNvPr id="19" name="Group 172"/>
              <p:cNvGrpSpPr>
                <a:grpSpLocks/>
              </p:cNvGrpSpPr>
              <p:nvPr/>
            </p:nvGrpSpPr>
            <p:grpSpPr bwMode="auto">
              <a:xfrm>
                <a:off x="2936" y="3836"/>
                <a:ext cx="464" cy="210"/>
                <a:chOff x="2936" y="3836"/>
                <a:chExt cx="464" cy="210"/>
              </a:xfrm>
            </p:grpSpPr>
            <p:sp>
              <p:nvSpPr>
                <p:cNvPr id="1200301" name="Rectangle 173"/>
                <p:cNvSpPr>
                  <a:spLocks noChangeArrowheads="1"/>
                </p:cNvSpPr>
                <p:nvPr/>
              </p:nvSpPr>
              <p:spPr bwMode="auto">
                <a:xfrm>
                  <a:off x="2936" y="3848"/>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302" name="Rectangle 174"/>
                <p:cNvSpPr>
                  <a:spLocks noChangeArrowheads="1"/>
                </p:cNvSpPr>
                <p:nvPr/>
              </p:nvSpPr>
              <p:spPr bwMode="auto">
                <a:xfrm>
                  <a:off x="2963" y="3836"/>
                  <a:ext cx="406" cy="210"/>
                </a:xfrm>
                <a:prstGeom prst="rect">
                  <a:avLst/>
                </a:prstGeom>
                <a:noFill/>
                <a:ln w="12700">
                  <a:noFill/>
                  <a:miter lim="800000"/>
                  <a:headEnd/>
                  <a:tailEnd/>
                </a:ln>
                <a:effectLst/>
              </p:spPr>
              <p:txBody>
                <a:bodyPr wrap="none" lIns="90488" tIns="44450" rIns="90488" bIns="44450">
                  <a:spAutoFit/>
                </a:bodyPr>
                <a:lstStyle/>
                <a:p>
                  <a:r>
                    <a:rPr lang="en-US" sz="1600" b="1"/>
                    <a:t>Mem</a:t>
                  </a:r>
                </a:p>
              </p:txBody>
            </p:sp>
          </p:grpSp>
          <p:grpSp>
            <p:nvGrpSpPr>
              <p:cNvPr id="20" name="Group 175"/>
              <p:cNvGrpSpPr>
                <a:grpSpLocks/>
              </p:cNvGrpSpPr>
              <p:nvPr/>
            </p:nvGrpSpPr>
            <p:grpSpPr bwMode="auto">
              <a:xfrm>
                <a:off x="3416" y="3836"/>
                <a:ext cx="464" cy="212"/>
                <a:chOff x="3416" y="3836"/>
                <a:chExt cx="464" cy="212"/>
              </a:xfrm>
            </p:grpSpPr>
            <p:sp>
              <p:nvSpPr>
                <p:cNvPr id="1200304" name="Rectangle 176"/>
                <p:cNvSpPr>
                  <a:spLocks noChangeArrowheads="1"/>
                </p:cNvSpPr>
                <p:nvPr/>
              </p:nvSpPr>
              <p:spPr bwMode="auto">
                <a:xfrm>
                  <a:off x="3416" y="3848"/>
                  <a:ext cx="464" cy="176"/>
                </a:xfrm>
                <a:prstGeom prst="rect">
                  <a:avLst/>
                </a:prstGeom>
                <a:noFill/>
                <a:ln w="25400">
                  <a:solidFill>
                    <a:schemeClr val="tx1"/>
                  </a:solidFill>
                  <a:miter lim="800000"/>
                  <a:headEnd/>
                  <a:tailEnd/>
                </a:ln>
                <a:effectLst/>
              </p:spPr>
              <p:txBody>
                <a:bodyPr wrap="none" anchor="ctr"/>
                <a:lstStyle/>
                <a:p>
                  <a:endParaRPr lang="en-US"/>
                </a:p>
              </p:txBody>
            </p:sp>
            <p:sp>
              <p:nvSpPr>
                <p:cNvPr id="1200305" name="Rectangle 177"/>
                <p:cNvSpPr>
                  <a:spLocks noChangeArrowheads="1"/>
                </p:cNvSpPr>
                <p:nvPr/>
              </p:nvSpPr>
              <p:spPr bwMode="auto">
                <a:xfrm>
                  <a:off x="3491" y="3836"/>
                  <a:ext cx="330" cy="212"/>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WB</a:t>
                  </a:r>
                </a:p>
              </p:txBody>
            </p:sp>
          </p:grpSp>
        </p:grpSp>
        <p:sp>
          <p:nvSpPr>
            <p:cNvPr id="1200306" name="Rectangle 178"/>
            <p:cNvSpPr>
              <a:spLocks noChangeArrowheads="1"/>
            </p:cNvSpPr>
            <p:nvPr/>
          </p:nvSpPr>
          <p:spPr bwMode="auto">
            <a:xfrm>
              <a:off x="960" y="3840"/>
              <a:ext cx="512"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R-type</a:t>
              </a:r>
            </a:p>
          </p:txBody>
        </p:sp>
      </p:grpSp>
      <p:grpSp>
        <p:nvGrpSpPr>
          <p:cNvPr id="21" name="Group 197"/>
          <p:cNvGrpSpPr>
            <a:grpSpLocks/>
          </p:cNvGrpSpPr>
          <p:nvPr/>
        </p:nvGrpSpPr>
        <p:grpSpPr bwMode="auto">
          <a:xfrm>
            <a:off x="714375" y="785794"/>
            <a:ext cx="7286625" cy="1644650"/>
            <a:chOff x="110" y="492"/>
            <a:chExt cx="5202" cy="1036"/>
          </a:xfrm>
        </p:grpSpPr>
        <p:sp>
          <p:nvSpPr>
            <p:cNvPr id="1200264" name="Line 136"/>
            <p:cNvSpPr>
              <a:spLocks noChangeShapeType="1"/>
            </p:cNvSpPr>
            <p:nvPr/>
          </p:nvSpPr>
          <p:spPr bwMode="auto">
            <a:xfrm>
              <a:off x="248" y="938"/>
              <a:ext cx="224" cy="0"/>
            </a:xfrm>
            <a:prstGeom prst="line">
              <a:avLst/>
            </a:prstGeom>
            <a:noFill/>
            <a:ln w="25400">
              <a:solidFill>
                <a:schemeClr val="tx1"/>
              </a:solidFill>
              <a:round/>
              <a:headEnd/>
              <a:tailEnd/>
            </a:ln>
            <a:effectLst/>
          </p:spPr>
          <p:txBody>
            <a:bodyPr wrap="none" anchor="ctr"/>
            <a:lstStyle/>
            <a:p>
              <a:endParaRPr lang="en-US"/>
            </a:p>
          </p:txBody>
        </p:sp>
        <p:sp>
          <p:nvSpPr>
            <p:cNvPr id="1200265" name="Line 137"/>
            <p:cNvSpPr>
              <a:spLocks noChangeShapeType="1"/>
            </p:cNvSpPr>
            <p:nvPr/>
          </p:nvSpPr>
          <p:spPr bwMode="auto">
            <a:xfrm>
              <a:off x="480" y="946"/>
              <a:ext cx="0" cy="128"/>
            </a:xfrm>
            <a:prstGeom prst="line">
              <a:avLst/>
            </a:prstGeom>
            <a:noFill/>
            <a:ln w="25400">
              <a:solidFill>
                <a:schemeClr val="tx1"/>
              </a:solidFill>
              <a:round/>
              <a:headEnd/>
              <a:tailEnd/>
            </a:ln>
            <a:effectLst/>
          </p:spPr>
          <p:txBody>
            <a:bodyPr wrap="none" anchor="ctr"/>
            <a:lstStyle/>
            <a:p>
              <a:endParaRPr lang="en-US"/>
            </a:p>
          </p:txBody>
        </p:sp>
        <p:sp>
          <p:nvSpPr>
            <p:cNvPr id="1200268" name="Line 140"/>
            <p:cNvSpPr>
              <a:spLocks noChangeShapeType="1"/>
            </p:cNvSpPr>
            <p:nvPr/>
          </p:nvSpPr>
          <p:spPr bwMode="auto">
            <a:xfrm>
              <a:off x="2736" y="946"/>
              <a:ext cx="0" cy="128"/>
            </a:xfrm>
            <a:prstGeom prst="line">
              <a:avLst/>
            </a:prstGeom>
            <a:noFill/>
            <a:ln w="25400">
              <a:solidFill>
                <a:schemeClr val="tx1"/>
              </a:solidFill>
              <a:round/>
              <a:headEnd/>
              <a:tailEnd/>
            </a:ln>
            <a:effectLst/>
          </p:spPr>
          <p:txBody>
            <a:bodyPr wrap="none" anchor="ctr"/>
            <a:lstStyle/>
            <a:p>
              <a:endParaRPr lang="en-US"/>
            </a:p>
          </p:txBody>
        </p:sp>
        <p:sp>
          <p:nvSpPr>
            <p:cNvPr id="1200270" name="Line 142"/>
            <p:cNvSpPr>
              <a:spLocks noChangeShapeType="1"/>
            </p:cNvSpPr>
            <p:nvPr/>
          </p:nvSpPr>
          <p:spPr bwMode="auto">
            <a:xfrm>
              <a:off x="5088" y="946"/>
              <a:ext cx="0" cy="128"/>
            </a:xfrm>
            <a:prstGeom prst="line">
              <a:avLst/>
            </a:prstGeom>
            <a:noFill/>
            <a:ln w="25400">
              <a:solidFill>
                <a:schemeClr val="tx1"/>
              </a:solidFill>
              <a:round/>
              <a:headEnd/>
              <a:tailEnd/>
            </a:ln>
            <a:effectLst/>
          </p:spPr>
          <p:txBody>
            <a:bodyPr wrap="none" anchor="ctr"/>
            <a:lstStyle/>
            <a:p>
              <a:endParaRPr lang="en-US"/>
            </a:p>
          </p:txBody>
        </p:sp>
        <p:sp>
          <p:nvSpPr>
            <p:cNvPr id="1200271" name="Line 143"/>
            <p:cNvSpPr>
              <a:spLocks noChangeShapeType="1"/>
            </p:cNvSpPr>
            <p:nvPr/>
          </p:nvSpPr>
          <p:spPr bwMode="auto">
            <a:xfrm>
              <a:off x="488" y="1082"/>
              <a:ext cx="1184" cy="0"/>
            </a:xfrm>
            <a:prstGeom prst="line">
              <a:avLst/>
            </a:prstGeom>
            <a:noFill/>
            <a:ln w="25400">
              <a:solidFill>
                <a:schemeClr val="tx1"/>
              </a:solidFill>
              <a:round/>
              <a:headEnd/>
              <a:tailEnd/>
            </a:ln>
            <a:effectLst/>
          </p:spPr>
          <p:txBody>
            <a:bodyPr wrap="none" anchor="ctr"/>
            <a:lstStyle/>
            <a:p>
              <a:endParaRPr lang="en-US"/>
            </a:p>
          </p:txBody>
        </p:sp>
        <p:sp>
          <p:nvSpPr>
            <p:cNvPr id="1200272" name="Line 144"/>
            <p:cNvSpPr>
              <a:spLocks noChangeShapeType="1"/>
            </p:cNvSpPr>
            <p:nvPr/>
          </p:nvSpPr>
          <p:spPr bwMode="auto">
            <a:xfrm>
              <a:off x="1688" y="938"/>
              <a:ext cx="1040" cy="0"/>
            </a:xfrm>
            <a:prstGeom prst="line">
              <a:avLst/>
            </a:prstGeom>
            <a:noFill/>
            <a:ln w="25400">
              <a:solidFill>
                <a:schemeClr val="tx1"/>
              </a:solidFill>
              <a:round/>
              <a:headEnd/>
              <a:tailEnd/>
            </a:ln>
            <a:effectLst/>
          </p:spPr>
          <p:txBody>
            <a:bodyPr wrap="none" anchor="ctr"/>
            <a:lstStyle/>
            <a:p>
              <a:endParaRPr lang="en-US"/>
            </a:p>
          </p:txBody>
        </p:sp>
        <p:sp>
          <p:nvSpPr>
            <p:cNvPr id="1200273" name="Line 145"/>
            <p:cNvSpPr>
              <a:spLocks noChangeShapeType="1"/>
            </p:cNvSpPr>
            <p:nvPr/>
          </p:nvSpPr>
          <p:spPr bwMode="auto">
            <a:xfrm>
              <a:off x="1680" y="946"/>
              <a:ext cx="0" cy="128"/>
            </a:xfrm>
            <a:prstGeom prst="line">
              <a:avLst/>
            </a:prstGeom>
            <a:noFill/>
            <a:ln w="25400">
              <a:solidFill>
                <a:schemeClr val="tx1"/>
              </a:solidFill>
              <a:round/>
              <a:headEnd/>
              <a:tailEnd/>
            </a:ln>
            <a:effectLst/>
          </p:spPr>
          <p:txBody>
            <a:bodyPr wrap="none" anchor="ctr"/>
            <a:lstStyle/>
            <a:p>
              <a:endParaRPr lang="en-US"/>
            </a:p>
          </p:txBody>
        </p:sp>
        <p:sp>
          <p:nvSpPr>
            <p:cNvPr id="1200274" name="Line 146"/>
            <p:cNvSpPr>
              <a:spLocks noChangeShapeType="1"/>
            </p:cNvSpPr>
            <p:nvPr/>
          </p:nvSpPr>
          <p:spPr bwMode="auto">
            <a:xfrm>
              <a:off x="2744" y="1082"/>
              <a:ext cx="1184" cy="0"/>
            </a:xfrm>
            <a:prstGeom prst="line">
              <a:avLst/>
            </a:prstGeom>
            <a:noFill/>
            <a:ln w="25400">
              <a:solidFill>
                <a:schemeClr val="tx1"/>
              </a:solidFill>
              <a:round/>
              <a:headEnd/>
              <a:tailEnd/>
            </a:ln>
            <a:effectLst/>
          </p:spPr>
          <p:txBody>
            <a:bodyPr wrap="none" anchor="ctr"/>
            <a:lstStyle/>
            <a:p>
              <a:endParaRPr lang="en-US"/>
            </a:p>
          </p:txBody>
        </p:sp>
        <p:sp>
          <p:nvSpPr>
            <p:cNvPr id="1200275" name="Line 147"/>
            <p:cNvSpPr>
              <a:spLocks noChangeShapeType="1"/>
            </p:cNvSpPr>
            <p:nvPr/>
          </p:nvSpPr>
          <p:spPr bwMode="auto">
            <a:xfrm>
              <a:off x="3944" y="938"/>
              <a:ext cx="1136" cy="0"/>
            </a:xfrm>
            <a:prstGeom prst="line">
              <a:avLst/>
            </a:prstGeom>
            <a:noFill/>
            <a:ln w="25400">
              <a:solidFill>
                <a:schemeClr val="tx1"/>
              </a:solidFill>
              <a:round/>
              <a:headEnd/>
              <a:tailEnd/>
            </a:ln>
            <a:effectLst/>
          </p:spPr>
          <p:txBody>
            <a:bodyPr wrap="none" anchor="ctr"/>
            <a:lstStyle/>
            <a:p>
              <a:endParaRPr lang="en-US"/>
            </a:p>
          </p:txBody>
        </p:sp>
        <p:sp>
          <p:nvSpPr>
            <p:cNvPr id="1200276" name="Line 148"/>
            <p:cNvSpPr>
              <a:spLocks noChangeShapeType="1"/>
            </p:cNvSpPr>
            <p:nvPr/>
          </p:nvSpPr>
          <p:spPr bwMode="auto">
            <a:xfrm>
              <a:off x="3936" y="946"/>
              <a:ext cx="0" cy="128"/>
            </a:xfrm>
            <a:prstGeom prst="line">
              <a:avLst/>
            </a:prstGeom>
            <a:noFill/>
            <a:ln w="25400">
              <a:solidFill>
                <a:schemeClr val="tx1"/>
              </a:solidFill>
              <a:round/>
              <a:headEnd/>
              <a:tailEnd/>
            </a:ln>
            <a:effectLst/>
          </p:spPr>
          <p:txBody>
            <a:bodyPr wrap="none" anchor="ctr"/>
            <a:lstStyle/>
            <a:p>
              <a:endParaRPr lang="en-US"/>
            </a:p>
          </p:txBody>
        </p:sp>
        <p:sp>
          <p:nvSpPr>
            <p:cNvPr id="1200277" name="Line 149"/>
            <p:cNvSpPr>
              <a:spLocks noChangeShapeType="1"/>
            </p:cNvSpPr>
            <p:nvPr/>
          </p:nvSpPr>
          <p:spPr bwMode="auto">
            <a:xfrm>
              <a:off x="5088" y="1082"/>
              <a:ext cx="224" cy="0"/>
            </a:xfrm>
            <a:prstGeom prst="line">
              <a:avLst/>
            </a:prstGeom>
            <a:noFill/>
            <a:ln w="25400">
              <a:solidFill>
                <a:schemeClr val="tx1"/>
              </a:solidFill>
              <a:round/>
              <a:headEnd/>
              <a:tailEnd/>
            </a:ln>
            <a:effectLst/>
          </p:spPr>
          <p:txBody>
            <a:bodyPr wrap="none" anchor="ctr"/>
            <a:lstStyle/>
            <a:p>
              <a:endParaRPr lang="en-US"/>
            </a:p>
          </p:txBody>
        </p:sp>
        <p:sp>
          <p:nvSpPr>
            <p:cNvPr id="1200278" name="Rectangle 150"/>
            <p:cNvSpPr>
              <a:spLocks noChangeArrowheads="1"/>
            </p:cNvSpPr>
            <p:nvPr/>
          </p:nvSpPr>
          <p:spPr bwMode="auto">
            <a:xfrm>
              <a:off x="179" y="934"/>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Clk</a:t>
              </a:r>
            </a:p>
          </p:txBody>
        </p:sp>
        <p:sp>
          <p:nvSpPr>
            <p:cNvPr id="1200279" name="Rectangle 151"/>
            <p:cNvSpPr>
              <a:spLocks noChangeArrowheads="1"/>
            </p:cNvSpPr>
            <p:nvPr/>
          </p:nvSpPr>
          <p:spPr bwMode="auto">
            <a:xfrm>
              <a:off x="110" y="492"/>
              <a:ext cx="4606" cy="250"/>
            </a:xfrm>
            <a:prstGeom prst="rect">
              <a:avLst/>
            </a:prstGeom>
            <a:noFill/>
            <a:ln w="12700">
              <a:noFill/>
              <a:miter lim="800000"/>
              <a:headEnd/>
              <a:tailEnd/>
            </a:ln>
            <a:effectLst/>
          </p:spPr>
          <p:txBody>
            <a:bodyPr wrap="none" lIns="90488" tIns="44450" rIns="90488" bIns="44450">
              <a:spAutoFit/>
            </a:bodyPr>
            <a:lstStyle/>
            <a:p>
              <a:r>
                <a:rPr lang="en-US" sz="2000" b="1" dirty="0">
                  <a:solidFill>
                    <a:schemeClr val="tx1"/>
                  </a:solidFill>
                </a:rPr>
                <a:t>Single Cycle Implementation (clock cycle = 800 </a:t>
              </a:r>
              <a:r>
                <a:rPr lang="en-US" sz="2000" b="1" dirty="0" err="1">
                  <a:solidFill>
                    <a:schemeClr val="tx1"/>
                  </a:solidFill>
                </a:rPr>
                <a:t>ps</a:t>
              </a:r>
              <a:r>
                <a:rPr lang="en-US" sz="2000" b="1" dirty="0">
                  <a:solidFill>
                    <a:schemeClr val="tx1"/>
                  </a:solidFill>
                </a:rPr>
                <a:t>):</a:t>
              </a:r>
            </a:p>
          </p:txBody>
        </p:sp>
        <p:sp>
          <p:nvSpPr>
            <p:cNvPr id="1200280" name="Rectangle 152"/>
            <p:cNvSpPr>
              <a:spLocks noChangeArrowheads="1"/>
            </p:cNvSpPr>
            <p:nvPr/>
          </p:nvSpPr>
          <p:spPr bwMode="auto">
            <a:xfrm>
              <a:off x="488" y="1330"/>
              <a:ext cx="2240" cy="176"/>
            </a:xfrm>
            <a:prstGeom prst="rect">
              <a:avLst/>
            </a:prstGeom>
            <a:noFill/>
            <a:ln w="25400">
              <a:solidFill>
                <a:schemeClr val="tx1"/>
              </a:solidFill>
              <a:miter lim="800000"/>
              <a:headEnd/>
              <a:tailEnd/>
            </a:ln>
            <a:effectLst/>
          </p:spPr>
          <p:txBody>
            <a:bodyPr wrap="none" anchor="ctr"/>
            <a:lstStyle/>
            <a:p>
              <a:endParaRPr lang="en-US"/>
            </a:p>
          </p:txBody>
        </p:sp>
        <p:sp>
          <p:nvSpPr>
            <p:cNvPr id="1200281" name="Rectangle 153"/>
            <p:cNvSpPr>
              <a:spLocks noChangeArrowheads="1"/>
            </p:cNvSpPr>
            <p:nvPr/>
          </p:nvSpPr>
          <p:spPr bwMode="auto">
            <a:xfrm>
              <a:off x="2744" y="1330"/>
              <a:ext cx="2336" cy="176"/>
            </a:xfrm>
            <a:prstGeom prst="rect">
              <a:avLst/>
            </a:prstGeom>
            <a:noFill/>
            <a:ln w="25400">
              <a:solidFill>
                <a:schemeClr val="tx1"/>
              </a:solidFill>
              <a:miter lim="800000"/>
              <a:headEnd/>
              <a:tailEnd/>
            </a:ln>
            <a:effectLst/>
          </p:spPr>
          <p:txBody>
            <a:bodyPr wrap="none" anchor="ctr"/>
            <a:lstStyle/>
            <a:p>
              <a:endParaRPr lang="en-US"/>
            </a:p>
          </p:txBody>
        </p:sp>
        <p:sp>
          <p:nvSpPr>
            <p:cNvPr id="1200282" name="Rectangle 154"/>
            <p:cNvSpPr>
              <a:spLocks noChangeArrowheads="1"/>
            </p:cNvSpPr>
            <p:nvPr/>
          </p:nvSpPr>
          <p:spPr bwMode="auto">
            <a:xfrm>
              <a:off x="1331" y="1318"/>
              <a:ext cx="268"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latin typeface="Courier New" pitchFamily="49" charset="0"/>
                </a:rPr>
                <a:t>lw</a:t>
              </a:r>
              <a:endParaRPr lang="en-US" sz="1600" b="1" dirty="0">
                <a:solidFill>
                  <a:schemeClr val="tx1"/>
                </a:solidFill>
                <a:latin typeface="Courier New" pitchFamily="49" charset="0"/>
              </a:endParaRPr>
            </a:p>
          </p:txBody>
        </p:sp>
        <p:sp>
          <p:nvSpPr>
            <p:cNvPr id="1200283" name="Rectangle 155"/>
            <p:cNvSpPr>
              <a:spLocks noChangeArrowheads="1"/>
            </p:cNvSpPr>
            <p:nvPr/>
          </p:nvSpPr>
          <p:spPr bwMode="auto">
            <a:xfrm>
              <a:off x="3731" y="1318"/>
              <a:ext cx="268"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latin typeface="Courier New" pitchFamily="49" charset="0"/>
                </a:rPr>
                <a:t>sw</a:t>
              </a:r>
            </a:p>
          </p:txBody>
        </p:sp>
        <p:sp>
          <p:nvSpPr>
            <p:cNvPr id="1200284" name="Line 156"/>
            <p:cNvSpPr>
              <a:spLocks noChangeShapeType="1"/>
            </p:cNvSpPr>
            <p:nvPr/>
          </p:nvSpPr>
          <p:spPr bwMode="auto">
            <a:xfrm flipV="1">
              <a:off x="4656" y="1314"/>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1200285" name="Rectangle 157"/>
            <p:cNvSpPr>
              <a:spLocks noChangeArrowheads="1"/>
            </p:cNvSpPr>
            <p:nvPr/>
          </p:nvSpPr>
          <p:spPr bwMode="auto">
            <a:xfrm>
              <a:off x="4598" y="1318"/>
              <a:ext cx="491" cy="210"/>
            </a:xfrm>
            <a:prstGeom prst="rect">
              <a:avLst/>
            </a:prstGeom>
            <a:noFill/>
            <a:ln w="12700">
              <a:noFill/>
              <a:miter lim="800000"/>
              <a:headEnd/>
              <a:tailEnd/>
            </a:ln>
            <a:effectLst/>
          </p:spPr>
          <p:txBody>
            <a:bodyPr wrap="none" lIns="90488" tIns="44450" rIns="90488" bIns="44450">
              <a:spAutoFit/>
            </a:bodyPr>
            <a:lstStyle/>
            <a:p>
              <a:r>
                <a:rPr lang="en-US" sz="1600" b="1" dirty="0"/>
                <a:t>Waste</a:t>
              </a:r>
            </a:p>
          </p:txBody>
        </p:sp>
        <p:sp>
          <p:nvSpPr>
            <p:cNvPr id="1200307" name="Line 179"/>
            <p:cNvSpPr>
              <a:spLocks noChangeShapeType="1"/>
            </p:cNvSpPr>
            <p:nvPr/>
          </p:nvSpPr>
          <p:spPr bwMode="auto">
            <a:xfrm flipV="1">
              <a:off x="480" y="738"/>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1200308" name="Rectangle 180"/>
            <p:cNvSpPr>
              <a:spLocks noChangeArrowheads="1"/>
            </p:cNvSpPr>
            <p:nvPr/>
          </p:nvSpPr>
          <p:spPr bwMode="auto">
            <a:xfrm>
              <a:off x="1341" y="742"/>
              <a:ext cx="562" cy="210"/>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Cycle 1</a:t>
              </a:r>
            </a:p>
          </p:txBody>
        </p:sp>
        <p:sp>
          <p:nvSpPr>
            <p:cNvPr id="1200309" name="Line 181"/>
            <p:cNvSpPr>
              <a:spLocks noChangeShapeType="1"/>
            </p:cNvSpPr>
            <p:nvPr/>
          </p:nvSpPr>
          <p:spPr bwMode="auto">
            <a:xfrm flipV="1">
              <a:off x="2736" y="738"/>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1200310" name="Line 182"/>
            <p:cNvSpPr>
              <a:spLocks noChangeShapeType="1"/>
            </p:cNvSpPr>
            <p:nvPr/>
          </p:nvSpPr>
          <p:spPr bwMode="auto">
            <a:xfrm flipV="1">
              <a:off x="5088" y="738"/>
              <a:ext cx="0" cy="208"/>
            </a:xfrm>
            <a:prstGeom prst="line">
              <a:avLst/>
            </a:prstGeom>
            <a:noFill/>
            <a:ln w="25400">
              <a:solidFill>
                <a:schemeClr val="tx1"/>
              </a:solidFill>
              <a:prstDash val="sysDot"/>
              <a:round/>
              <a:headEnd/>
              <a:tailEnd/>
            </a:ln>
            <a:effectLst/>
          </p:spPr>
          <p:txBody>
            <a:bodyPr wrap="none" anchor="ctr"/>
            <a:lstStyle/>
            <a:p>
              <a:endParaRPr lang="en-US"/>
            </a:p>
          </p:txBody>
        </p:sp>
        <p:sp>
          <p:nvSpPr>
            <p:cNvPr id="1200311" name="Rectangle 183"/>
            <p:cNvSpPr>
              <a:spLocks noChangeArrowheads="1"/>
            </p:cNvSpPr>
            <p:nvPr/>
          </p:nvSpPr>
          <p:spPr bwMode="auto">
            <a:xfrm>
              <a:off x="3571" y="742"/>
              <a:ext cx="562" cy="210"/>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Cycle 2</a:t>
              </a:r>
            </a:p>
          </p:txBody>
        </p:sp>
        <p:sp>
          <p:nvSpPr>
            <p:cNvPr id="1200312" name="Line 184"/>
            <p:cNvSpPr>
              <a:spLocks noChangeShapeType="1"/>
            </p:cNvSpPr>
            <p:nvPr/>
          </p:nvSpPr>
          <p:spPr bwMode="auto">
            <a:xfrm>
              <a:off x="488" y="842"/>
              <a:ext cx="896" cy="0"/>
            </a:xfrm>
            <a:prstGeom prst="line">
              <a:avLst/>
            </a:prstGeom>
            <a:noFill/>
            <a:ln w="25400">
              <a:solidFill>
                <a:schemeClr val="tx1"/>
              </a:solidFill>
              <a:round/>
              <a:headEnd type="triangle" w="med" len="med"/>
              <a:tailEnd/>
            </a:ln>
            <a:effectLst/>
          </p:spPr>
          <p:txBody>
            <a:bodyPr wrap="none" anchor="ctr"/>
            <a:lstStyle/>
            <a:p>
              <a:endParaRPr lang="en-US"/>
            </a:p>
          </p:txBody>
        </p:sp>
        <p:sp>
          <p:nvSpPr>
            <p:cNvPr id="1200313" name="Line 185"/>
            <p:cNvSpPr>
              <a:spLocks noChangeShapeType="1"/>
            </p:cNvSpPr>
            <p:nvPr/>
          </p:nvSpPr>
          <p:spPr bwMode="auto">
            <a:xfrm>
              <a:off x="2744" y="842"/>
              <a:ext cx="896" cy="0"/>
            </a:xfrm>
            <a:prstGeom prst="line">
              <a:avLst/>
            </a:prstGeom>
            <a:noFill/>
            <a:ln w="25400">
              <a:solidFill>
                <a:schemeClr val="tx1"/>
              </a:solidFill>
              <a:round/>
              <a:headEnd type="triangle" w="med" len="med"/>
              <a:tailEnd/>
            </a:ln>
            <a:effectLst/>
          </p:spPr>
          <p:txBody>
            <a:bodyPr wrap="none" anchor="ctr"/>
            <a:lstStyle/>
            <a:p>
              <a:endParaRPr lang="en-US"/>
            </a:p>
          </p:txBody>
        </p:sp>
        <p:sp>
          <p:nvSpPr>
            <p:cNvPr id="1200314" name="Line 186"/>
            <p:cNvSpPr>
              <a:spLocks noChangeShapeType="1"/>
            </p:cNvSpPr>
            <p:nvPr/>
          </p:nvSpPr>
          <p:spPr bwMode="auto">
            <a:xfrm flipH="1">
              <a:off x="4168" y="842"/>
              <a:ext cx="928" cy="0"/>
            </a:xfrm>
            <a:prstGeom prst="line">
              <a:avLst/>
            </a:prstGeom>
            <a:noFill/>
            <a:ln w="25400">
              <a:solidFill>
                <a:schemeClr val="tx1"/>
              </a:solidFill>
              <a:round/>
              <a:headEnd type="triangle" w="med" len="med"/>
              <a:tailEnd/>
            </a:ln>
            <a:effectLst/>
          </p:spPr>
          <p:txBody>
            <a:bodyPr wrap="none" anchor="ctr"/>
            <a:lstStyle/>
            <a:p>
              <a:endParaRPr lang="en-US"/>
            </a:p>
          </p:txBody>
        </p:sp>
        <p:sp>
          <p:nvSpPr>
            <p:cNvPr id="1200315" name="Line 187"/>
            <p:cNvSpPr>
              <a:spLocks noChangeShapeType="1"/>
            </p:cNvSpPr>
            <p:nvPr/>
          </p:nvSpPr>
          <p:spPr bwMode="auto">
            <a:xfrm flipH="1">
              <a:off x="1960" y="842"/>
              <a:ext cx="688" cy="0"/>
            </a:xfrm>
            <a:prstGeom prst="line">
              <a:avLst/>
            </a:prstGeom>
            <a:noFill/>
            <a:ln w="25400">
              <a:solidFill>
                <a:schemeClr val="tx1"/>
              </a:solidFill>
              <a:round/>
              <a:headEnd type="triangle" w="med" len="med"/>
              <a:tailEnd/>
            </a:ln>
            <a:effectLst/>
          </p:spPr>
          <p:txBody>
            <a:bodyPr wrap="none" anchor="ctr"/>
            <a:lstStyle/>
            <a:p>
              <a:endParaRPr lang="en-US"/>
            </a:p>
          </p:txBody>
        </p:sp>
      </p:grpSp>
      <p:grpSp>
        <p:nvGrpSpPr>
          <p:cNvPr id="22" name="Group 197"/>
          <p:cNvGrpSpPr/>
          <p:nvPr/>
        </p:nvGrpSpPr>
        <p:grpSpPr>
          <a:xfrm>
            <a:off x="5867400" y="1592244"/>
            <a:ext cx="1828800" cy="2971800"/>
            <a:chOff x="5334000" y="1981200"/>
            <a:chExt cx="2743200" cy="3810000"/>
          </a:xfrm>
        </p:grpSpPr>
        <p:grpSp>
          <p:nvGrpSpPr>
            <p:cNvPr id="23" name="Group 183"/>
            <p:cNvGrpSpPr>
              <a:grpSpLocks/>
            </p:cNvGrpSpPr>
            <p:nvPr/>
          </p:nvGrpSpPr>
          <p:grpSpPr bwMode="auto">
            <a:xfrm>
              <a:off x="5334000" y="1981200"/>
              <a:ext cx="2743200" cy="3810000"/>
              <a:chOff x="3360" y="1344"/>
              <a:chExt cx="1728" cy="2400"/>
            </a:xfrm>
          </p:grpSpPr>
          <p:sp>
            <p:nvSpPr>
              <p:cNvPr id="192" name="Line 186"/>
              <p:cNvSpPr>
                <a:spLocks noChangeShapeType="1"/>
              </p:cNvSpPr>
              <p:nvPr/>
            </p:nvSpPr>
            <p:spPr bwMode="auto">
              <a:xfrm flipV="1">
                <a:off x="3360" y="1344"/>
                <a:ext cx="0" cy="2400"/>
              </a:xfrm>
              <a:prstGeom prst="line">
                <a:avLst/>
              </a:prstGeom>
              <a:noFill/>
              <a:ln w="25400">
                <a:solidFill>
                  <a:schemeClr val="accent2"/>
                </a:solidFill>
                <a:prstDash val="sysDot"/>
                <a:round/>
                <a:headEnd/>
                <a:tailEnd/>
              </a:ln>
              <a:effectLst/>
            </p:spPr>
            <p:txBody>
              <a:bodyPr wrap="none" anchor="ctr"/>
              <a:lstStyle/>
              <a:p>
                <a:endParaRPr lang="en-US"/>
              </a:p>
            </p:txBody>
          </p:sp>
          <p:sp>
            <p:nvSpPr>
              <p:cNvPr id="195" name="Line 186"/>
              <p:cNvSpPr>
                <a:spLocks noChangeShapeType="1"/>
              </p:cNvSpPr>
              <p:nvPr/>
            </p:nvSpPr>
            <p:spPr bwMode="auto">
              <a:xfrm flipV="1">
                <a:off x="5088" y="1344"/>
                <a:ext cx="0" cy="2400"/>
              </a:xfrm>
              <a:prstGeom prst="line">
                <a:avLst/>
              </a:prstGeom>
              <a:noFill/>
              <a:ln w="25400">
                <a:solidFill>
                  <a:schemeClr val="accent2"/>
                </a:solidFill>
                <a:prstDash val="sysDot"/>
                <a:round/>
                <a:headEnd/>
                <a:tailEnd/>
              </a:ln>
              <a:effectLst/>
            </p:spPr>
            <p:txBody>
              <a:bodyPr wrap="none" anchor="ctr"/>
              <a:lstStyle/>
              <a:p>
                <a:endParaRPr lang="en-US"/>
              </a:p>
            </p:txBody>
          </p:sp>
        </p:grpSp>
        <p:cxnSp>
          <p:nvCxnSpPr>
            <p:cNvPr id="197" name="Straight Arrow Connector 196"/>
            <p:cNvCxnSpPr/>
            <p:nvPr/>
          </p:nvCxnSpPr>
          <p:spPr bwMode="auto">
            <a:xfrm>
              <a:off x="5334000" y="3968078"/>
              <a:ext cx="2743200" cy="1588"/>
            </a:xfrm>
            <a:prstGeom prst="straightConnector1">
              <a:avLst/>
            </a:prstGeom>
            <a:noFill/>
            <a:ln w="12700" cap="flat" cmpd="sng" algn="ctr">
              <a:solidFill>
                <a:schemeClr val="tx1"/>
              </a:solidFill>
              <a:prstDash val="solid"/>
              <a:round/>
              <a:headEnd type="arrow"/>
              <a:tailEnd type="arrow"/>
            </a:ln>
            <a:effectLst/>
          </p:spPr>
        </p:cxnSp>
      </p:grpSp>
      <p:sp>
        <p:nvSpPr>
          <p:cNvPr id="199" name="Rectangle 5"/>
          <p:cNvSpPr>
            <a:spLocks noChangeArrowheads="1"/>
          </p:cNvSpPr>
          <p:nvPr/>
        </p:nvSpPr>
        <p:spPr bwMode="auto">
          <a:xfrm>
            <a:off x="609600" y="4786322"/>
            <a:ext cx="8153400" cy="1682512"/>
          </a:xfrm>
          <a:prstGeom prst="rect">
            <a:avLst/>
          </a:prstGeom>
          <a:noFill/>
          <a:ln w="12700">
            <a:noFill/>
            <a:miter lim="800000"/>
            <a:headEnd/>
            <a:tailEnd/>
          </a:ln>
          <a:effectLst/>
        </p:spPr>
        <p:txBody>
          <a:bodyPr lIns="63500" tIns="25400" rIns="63500" bIns="25400">
            <a:spAutoFit/>
          </a:bodyPr>
          <a:lstStyle/>
          <a:p>
            <a:pPr marL="287338" indent="-287338">
              <a:spcBef>
                <a:spcPts val="1200"/>
              </a:spcBef>
              <a:buClr>
                <a:schemeClr val="accent1"/>
              </a:buClr>
              <a:buSzPct val="75000"/>
              <a:buFont typeface="Wingdings" pitchFamily="2" charset="2"/>
              <a:buChar char="q"/>
            </a:pPr>
            <a:r>
              <a:rPr lang="en-US" sz="2400" dirty="0">
                <a:solidFill>
                  <a:schemeClr val="tx1"/>
                </a:solidFill>
              </a:rPr>
              <a:t>To complete an entire instruction in the pipelined case takes 1000 </a:t>
            </a:r>
            <a:r>
              <a:rPr lang="en-US" sz="2400" dirty="0" err="1">
                <a:solidFill>
                  <a:schemeClr val="tx1"/>
                </a:solidFill>
              </a:rPr>
              <a:t>ps</a:t>
            </a:r>
            <a:r>
              <a:rPr lang="en-US" sz="2400" dirty="0">
                <a:solidFill>
                  <a:schemeClr val="tx1"/>
                </a:solidFill>
              </a:rPr>
              <a:t> (as compared to 800 </a:t>
            </a:r>
            <a:r>
              <a:rPr lang="en-US" sz="2400" dirty="0" err="1">
                <a:solidFill>
                  <a:schemeClr val="tx1"/>
                </a:solidFill>
              </a:rPr>
              <a:t>ps</a:t>
            </a:r>
            <a:r>
              <a:rPr lang="en-US" sz="2400" dirty="0">
                <a:solidFill>
                  <a:schemeClr val="tx1"/>
                </a:solidFill>
              </a:rPr>
              <a:t> for the single cycle case).  Why ?</a:t>
            </a:r>
          </a:p>
          <a:p>
            <a:pPr marL="287338" indent="-287338">
              <a:spcBef>
                <a:spcPts val="1200"/>
              </a:spcBef>
              <a:buClr>
                <a:schemeClr val="accent1"/>
              </a:buClr>
              <a:buSzPct val="75000"/>
              <a:buFont typeface="Wingdings" pitchFamily="2" charset="2"/>
              <a:buChar char="q"/>
            </a:pPr>
            <a:r>
              <a:rPr lang="en-US" sz="2400" dirty="0">
                <a:solidFill>
                  <a:schemeClr val="tx1"/>
                </a:solidFill>
              </a:rPr>
              <a:t>How long does each take to complete 1,000,000 adds ?</a:t>
            </a:r>
            <a:endParaRPr lang="en-US" sz="2000" dirty="0">
              <a:solidFill>
                <a:schemeClr val="tx1"/>
              </a:solidFill>
            </a:endParaRPr>
          </a:p>
        </p:txBody>
      </p:sp>
      <p:sp>
        <p:nvSpPr>
          <p:cNvPr id="91" name="TextBox 90"/>
          <p:cNvSpPr txBox="1"/>
          <p:nvPr/>
        </p:nvSpPr>
        <p:spPr>
          <a:xfrm>
            <a:off x="6400800" y="3131106"/>
            <a:ext cx="877163" cy="369332"/>
          </a:xfrm>
          <a:prstGeom prst="rect">
            <a:avLst/>
          </a:prstGeom>
          <a:noFill/>
        </p:spPr>
        <p:txBody>
          <a:bodyPr wrap="none" rtlCol="0">
            <a:spAutoFit/>
          </a:bodyPr>
          <a:lstStyle/>
          <a:p>
            <a:r>
              <a:rPr lang="en-US" dirty="0">
                <a:solidFill>
                  <a:schemeClr val="tx1"/>
                </a:solidFill>
              </a:rPr>
              <a:t>400 </a:t>
            </a:r>
            <a:r>
              <a:rPr lang="en-US" dirty="0" err="1">
                <a:solidFill>
                  <a:schemeClr val="tx1"/>
                </a:solidFill>
              </a:rPr>
              <a:t>ps</a:t>
            </a:r>
            <a:endParaRPr lang="en-US" dirty="0">
              <a:solidFill>
                <a:schemeClr val="tx1"/>
              </a:solidFill>
            </a:endParaRPr>
          </a:p>
        </p:txBody>
      </p:sp>
    </p:spTree>
    <p:extLst>
      <p:ext uri="{BB962C8B-B14F-4D97-AF65-F5344CB8AC3E}">
        <p14:creationId xmlns:p14="http://schemas.microsoft.com/office/powerpoint/2010/main" val="16715529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a:noFill/>
          <a:ln/>
        </p:spPr>
        <p:txBody>
          <a:bodyPr lIns="90488" tIns="44450" rIns="90488" bIns="44450" anchor="ctr"/>
          <a:lstStyle/>
          <a:p>
            <a:r>
              <a:rPr lang="en-US"/>
              <a:t>Pipelining the MIPS ISA</a:t>
            </a:r>
          </a:p>
        </p:txBody>
      </p:sp>
      <p:sp>
        <p:nvSpPr>
          <p:cNvPr id="986115" name="Rectangle 3"/>
          <p:cNvSpPr>
            <a:spLocks noGrp="1" noChangeArrowheads="1"/>
          </p:cNvSpPr>
          <p:nvPr>
            <p:ph type="body" idx="1"/>
          </p:nvPr>
        </p:nvSpPr>
        <p:spPr>
          <a:xfrm>
            <a:off x="533400" y="762000"/>
            <a:ext cx="8153400" cy="5072671"/>
          </a:xfrm>
          <a:noFill/>
          <a:ln/>
        </p:spPr>
        <p:txBody>
          <a:bodyPr lIns="90488" tIns="44450" rIns="90488" bIns="44450"/>
          <a:lstStyle/>
          <a:p>
            <a:pPr marL="342900" indent="-342900">
              <a:spcBef>
                <a:spcPts val="600"/>
              </a:spcBef>
            </a:pPr>
            <a:r>
              <a:rPr lang="en-US" sz="3200" dirty="0"/>
              <a:t>What makes it easy</a:t>
            </a:r>
          </a:p>
          <a:p>
            <a:pPr marL="742950" lvl="1" indent="-285750">
              <a:spcBef>
                <a:spcPts val="600"/>
              </a:spcBef>
            </a:pPr>
            <a:r>
              <a:rPr lang="en-US" sz="2400" dirty="0"/>
              <a:t>all instructions are the same length (32 bits)</a:t>
            </a:r>
          </a:p>
          <a:p>
            <a:pPr marL="1143000" lvl="2" indent="-228600">
              <a:spcBef>
                <a:spcPts val="600"/>
              </a:spcBef>
            </a:pPr>
            <a:r>
              <a:rPr lang="en-US" sz="2000" dirty="0"/>
              <a:t>can fetch in the 1</a:t>
            </a:r>
            <a:r>
              <a:rPr lang="en-US" sz="2000" baseline="30000" dirty="0"/>
              <a:t>st</a:t>
            </a:r>
            <a:r>
              <a:rPr lang="en-US" sz="2000" dirty="0"/>
              <a:t> stage and decode in the 2</a:t>
            </a:r>
            <a:r>
              <a:rPr lang="en-US" sz="2000" baseline="30000" dirty="0"/>
              <a:t>nd</a:t>
            </a:r>
            <a:r>
              <a:rPr lang="en-US" sz="2000" dirty="0"/>
              <a:t> stage</a:t>
            </a:r>
          </a:p>
          <a:p>
            <a:pPr marL="742950" lvl="1" indent="-285750">
              <a:spcBef>
                <a:spcPts val="600"/>
              </a:spcBef>
            </a:pPr>
            <a:r>
              <a:rPr lang="en-US" sz="2400" dirty="0"/>
              <a:t>few instruction formats (three) with </a:t>
            </a:r>
            <a:r>
              <a:rPr lang="en-US" sz="2400" dirty="0">
                <a:solidFill>
                  <a:schemeClr val="accent1"/>
                </a:solidFill>
              </a:rPr>
              <a:t>symmetry</a:t>
            </a:r>
            <a:r>
              <a:rPr lang="en-US" sz="2400" dirty="0"/>
              <a:t> across formats</a:t>
            </a:r>
          </a:p>
          <a:p>
            <a:pPr marL="1143000" lvl="2" indent="-228600">
              <a:spcBef>
                <a:spcPts val="600"/>
              </a:spcBef>
            </a:pPr>
            <a:r>
              <a:rPr lang="en-US" sz="2000" dirty="0"/>
              <a:t>can begin reading register file in 2</a:t>
            </a:r>
            <a:r>
              <a:rPr lang="en-US" sz="2000" baseline="30000" dirty="0"/>
              <a:t>nd</a:t>
            </a:r>
            <a:r>
              <a:rPr lang="en-US" sz="2000" dirty="0"/>
              <a:t> stage</a:t>
            </a:r>
          </a:p>
          <a:p>
            <a:pPr marL="742950" lvl="1" indent="-285750">
              <a:spcBef>
                <a:spcPts val="600"/>
              </a:spcBef>
            </a:pPr>
            <a:r>
              <a:rPr lang="en-US" sz="2400" dirty="0"/>
              <a:t>memory operations can occur only in loads and stores</a:t>
            </a:r>
          </a:p>
          <a:p>
            <a:pPr marL="1143000" lvl="2" indent="-228600">
              <a:spcBef>
                <a:spcPts val="600"/>
              </a:spcBef>
            </a:pPr>
            <a:r>
              <a:rPr lang="en-US" sz="2000" dirty="0"/>
              <a:t>can use the execute stage to calculate memory addresses</a:t>
            </a:r>
          </a:p>
          <a:p>
            <a:pPr marL="742950" lvl="1" indent="-285750">
              <a:spcBef>
                <a:spcPts val="600"/>
              </a:spcBef>
            </a:pPr>
            <a:r>
              <a:rPr lang="en-US" sz="2400" dirty="0"/>
              <a:t>each MIPS instruction writes at most one result (i.e., changes the machine state) and does so near the end of the pipeline (MEM and WB)</a:t>
            </a:r>
          </a:p>
          <a:p>
            <a:pPr marL="742950" lvl="1" indent="-285750">
              <a:spcBef>
                <a:spcPts val="600"/>
              </a:spcBef>
            </a:pPr>
            <a:r>
              <a:rPr lang="en-US" sz="2400" dirty="0"/>
              <a:t>operands must be aligned in memory so a single data transfer takes only one data memory access</a:t>
            </a:r>
          </a:p>
        </p:txBody>
      </p:sp>
    </p:spTree>
    <p:extLst>
      <p:ext uri="{BB962C8B-B14F-4D97-AF65-F5344CB8AC3E}">
        <p14:creationId xmlns:p14="http://schemas.microsoft.com/office/powerpoint/2010/main" val="17236509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86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611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8611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8611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861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8611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8611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8611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861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5" grpId="0"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6274" name="Rectangle 2"/>
          <p:cNvSpPr>
            <a:spLocks noGrp="1" noChangeArrowheads="1"/>
          </p:cNvSpPr>
          <p:nvPr>
            <p:ph type="title"/>
          </p:nvPr>
        </p:nvSpPr>
        <p:spPr>
          <a:xfrm>
            <a:off x="652463" y="304800"/>
            <a:ext cx="7135812" cy="422275"/>
          </a:xfrm>
          <a:noFill/>
          <a:ln/>
        </p:spPr>
        <p:txBody>
          <a:bodyPr wrap="none"/>
          <a:lstStyle/>
          <a:p>
            <a:r>
              <a:rPr lang="en-US"/>
              <a:t>Graphically Representing MIPS Pipeline</a:t>
            </a:r>
          </a:p>
        </p:txBody>
      </p:sp>
      <p:sp>
        <p:nvSpPr>
          <p:cNvPr id="1206275" name="Rectangle 3"/>
          <p:cNvSpPr>
            <a:spLocks noGrp="1" noChangeArrowheads="1"/>
          </p:cNvSpPr>
          <p:nvPr>
            <p:ph type="body" idx="1"/>
          </p:nvPr>
        </p:nvSpPr>
        <p:spPr>
          <a:xfrm>
            <a:off x="685800" y="1143000"/>
            <a:ext cx="7848600" cy="4060825"/>
          </a:xfrm>
          <a:noFill/>
          <a:ln/>
        </p:spPr>
        <p:txBody>
          <a:bodyPr/>
          <a:lstStyle/>
          <a:p>
            <a:pPr>
              <a:buFont typeface="Wingdings" pitchFamily="2" charset="2"/>
              <a:buNone/>
            </a:pPr>
            <a:br>
              <a:rPr lang="en-US"/>
            </a:br>
            <a:br>
              <a:rPr lang="en-US"/>
            </a:br>
            <a:br>
              <a:rPr lang="en-US"/>
            </a:br>
            <a:br>
              <a:rPr lang="en-US"/>
            </a:br>
            <a:br>
              <a:rPr lang="en-US"/>
            </a:br>
            <a:br>
              <a:rPr lang="en-US"/>
            </a:br>
            <a:endParaRPr lang="en-US"/>
          </a:p>
          <a:p>
            <a:r>
              <a:rPr lang="en-US"/>
              <a:t>Can help with answering questions like:</a:t>
            </a:r>
          </a:p>
          <a:p>
            <a:pPr lvl="1"/>
            <a:r>
              <a:rPr lang="en-US"/>
              <a:t>How many cycles does it take to execute this code?</a:t>
            </a:r>
          </a:p>
          <a:p>
            <a:pPr lvl="1"/>
            <a:r>
              <a:rPr lang="en-US"/>
              <a:t>What is the ALU doing during cycle 4?</a:t>
            </a:r>
          </a:p>
          <a:p>
            <a:pPr lvl="1"/>
            <a:r>
              <a:rPr lang="en-US"/>
              <a:t>Is there a hazard, why does it occur, and how can it be fixed?</a:t>
            </a:r>
          </a:p>
        </p:txBody>
      </p:sp>
      <p:grpSp>
        <p:nvGrpSpPr>
          <p:cNvPr id="2" name="Group 4"/>
          <p:cNvGrpSpPr>
            <a:grpSpLocks/>
          </p:cNvGrpSpPr>
          <p:nvPr/>
        </p:nvGrpSpPr>
        <p:grpSpPr bwMode="auto">
          <a:xfrm>
            <a:off x="2479675" y="1828800"/>
            <a:ext cx="3355975" cy="838200"/>
            <a:chOff x="1562" y="1152"/>
            <a:chExt cx="2114" cy="528"/>
          </a:xfrm>
        </p:grpSpPr>
        <p:grpSp>
          <p:nvGrpSpPr>
            <p:cNvPr id="3" name="Group 5"/>
            <p:cNvGrpSpPr>
              <a:grpSpLocks/>
            </p:cNvGrpSpPr>
            <p:nvPr/>
          </p:nvGrpSpPr>
          <p:grpSpPr bwMode="auto">
            <a:xfrm>
              <a:off x="2487" y="1152"/>
              <a:ext cx="223" cy="481"/>
              <a:chOff x="2207" y="1413"/>
              <a:chExt cx="223" cy="481"/>
            </a:xfrm>
          </p:grpSpPr>
          <p:sp>
            <p:nvSpPr>
              <p:cNvPr id="1206278" name="Freeform 6"/>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6279" name="Rectangle 7"/>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8"/>
            <p:cNvGrpSpPr>
              <a:grpSpLocks/>
            </p:cNvGrpSpPr>
            <p:nvPr/>
          </p:nvGrpSpPr>
          <p:grpSpPr bwMode="auto">
            <a:xfrm>
              <a:off x="1562" y="1248"/>
              <a:ext cx="349" cy="289"/>
              <a:chOff x="1282" y="1509"/>
              <a:chExt cx="349" cy="289"/>
            </a:xfrm>
          </p:grpSpPr>
          <p:sp>
            <p:nvSpPr>
              <p:cNvPr id="1206281" name="Rectangle 9"/>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5" name="Group 10"/>
              <p:cNvGrpSpPr>
                <a:grpSpLocks/>
              </p:cNvGrpSpPr>
              <p:nvPr/>
            </p:nvGrpSpPr>
            <p:grpSpPr bwMode="auto">
              <a:xfrm>
                <a:off x="1291" y="1509"/>
                <a:ext cx="340" cy="289"/>
                <a:chOff x="1291" y="1509"/>
                <a:chExt cx="340" cy="289"/>
              </a:xfrm>
            </p:grpSpPr>
            <p:sp>
              <p:nvSpPr>
                <p:cNvPr id="1206283" name="Freeform 11"/>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6284" name="Freeform 12"/>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06285" name="Rectangle 13"/>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14"/>
            <p:cNvGrpSpPr>
              <a:grpSpLocks/>
            </p:cNvGrpSpPr>
            <p:nvPr/>
          </p:nvGrpSpPr>
          <p:grpSpPr bwMode="auto">
            <a:xfrm>
              <a:off x="2031" y="1248"/>
              <a:ext cx="296" cy="289"/>
              <a:chOff x="1751" y="1509"/>
              <a:chExt cx="296" cy="289"/>
            </a:xfrm>
          </p:grpSpPr>
          <p:sp>
            <p:nvSpPr>
              <p:cNvPr id="1206287" name="Freeform 15"/>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6288" name="Freeform 16"/>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6289" name="Line 17"/>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06290" name="Freeform 18"/>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6291" name="Line 19"/>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06292" name="Rectangle 20"/>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7" name="Group 21"/>
            <p:cNvGrpSpPr>
              <a:grpSpLocks/>
            </p:cNvGrpSpPr>
            <p:nvPr/>
          </p:nvGrpSpPr>
          <p:grpSpPr bwMode="auto">
            <a:xfrm>
              <a:off x="2880" y="1248"/>
              <a:ext cx="325" cy="289"/>
              <a:chOff x="2600" y="1509"/>
              <a:chExt cx="325" cy="289"/>
            </a:xfrm>
          </p:grpSpPr>
          <p:sp>
            <p:nvSpPr>
              <p:cNvPr id="1206294" name="Freeform 22"/>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6295" name="Freeform 23"/>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6296" name="Rectangle 24"/>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25"/>
            <p:cNvGrpSpPr>
              <a:grpSpLocks/>
            </p:cNvGrpSpPr>
            <p:nvPr/>
          </p:nvGrpSpPr>
          <p:grpSpPr bwMode="auto">
            <a:xfrm>
              <a:off x="3348" y="1248"/>
              <a:ext cx="284" cy="289"/>
              <a:chOff x="3068" y="1509"/>
              <a:chExt cx="284" cy="289"/>
            </a:xfrm>
          </p:grpSpPr>
          <p:sp>
            <p:nvSpPr>
              <p:cNvPr id="1206298" name="Freeform 26"/>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6299" name="Freeform 27"/>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6300" name="Line 28"/>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06301" name="Line 29"/>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06302" name="Line 30"/>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06303" name="Line 31"/>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06304" name="Line 32"/>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06305" name="Line 33"/>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06306" name="Line 34"/>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06307" name="Line 35"/>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06308" name="Line 36"/>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96247733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7298" name="Rectangle 2" descr="20%"/>
          <p:cNvSpPr>
            <a:spLocks noChangeArrowheads="1"/>
          </p:cNvSpPr>
          <p:nvPr/>
        </p:nvSpPr>
        <p:spPr bwMode="auto">
          <a:xfrm>
            <a:off x="4686300" y="1643063"/>
            <a:ext cx="685800" cy="4267200"/>
          </a:xfrm>
          <a:prstGeom prst="rect">
            <a:avLst/>
          </a:prstGeom>
          <a:pattFill prst="pct20">
            <a:fgClr>
              <a:schemeClr val="accent1"/>
            </a:fgClr>
            <a:bgClr>
              <a:schemeClr val="bg1"/>
            </a:bgClr>
          </a:pattFill>
          <a:ln w="12700">
            <a:noFill/>
            <a:miter lim="800000"/>
            <a:headEnd/>
            <a:tailEnd/>
          </a:ln>
          <a:effectLst/>
        </p:spPr>
        <p:txBody>
          <a:bodyPr wrap="none" anchor="ctr"/>
          <a:lstStyle/>
          <a:p>
            <a:endParaRPr lang="en-US"/>
          </a:p>
        </p:txBody>
      </p:sp>
      <p:sp>
        <p:nvSpPr>
          <p:cNvPr id="1207299" name="Rectangle 3"/>
          <p:cNvSpPr>
            <a:spLocks noGrp="1" noChangeArrowheads="1"/>
          </p:cNvSpPr>
          <p:nvPr>
            <p:ph type="title"/>
          </p:nvPr>
        </p:nvSpPr>
        <p:spPr>
          <a:xfrm>
            <a:off x="652463" y="304800"/>
            <a:ext cx="5622925" cy="422275"/>
          </a:xfrm>
          <a:noFill/>
          <a:ln/>
        </p:spPr>
        <p:txBody>
          <a:bodyPr wrap="none"/>
          <a:lstStyle/>
          <a:p>
            <a:r>
              <a:rPr lang="en-US"/>
              <a:t>Why Pipeline? For Performance!</a:t>
            </a:r>
          </a:p>
        </p:txBody>
      </p:sp>
      <p:sp>
        <p:nvSpPr>
          <p:cNvPr id="1207300" name="Rectangle 4"/>
          <p:cNvSpPr>
            <a:spLocks noChangeArrowheads="1"/>
          </p:cNvSpPr>
          <p:nvPr/>
        </p:nvSpPr>
        <p:spPr bwMode="auto">
          <a:xfrm>
            <a:off x="328613" y="1906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07301" name="Line 5"/>
          <p:cNvSpPr>
            <a:spLocks noChangeShapeType="1"/>
          </p:cNvSpPr>
          <p:nvPr/>
        </p:nvSpPr>
        <p:spPr bwMode="auto">
          <a:xfrm>
            <a:off x="1447800" y="13001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07302" name="Rectangle 6"/>
          <p:cNvSpPr>
            <a:spLocks noChangeArrowheads="1"/>
          </p:cNvSpPr>
          <p:nvPr/>
        </p:nvSpPr>
        <p:spPr bwMode="auto">
          <a:xfrm>
            <a:off x="3581400" y="838200"/>
            <a:ext cx="2124075" cy="363538"/>
          </a:xfrm>
          <a:prstGeom prst="rect">
            <a:avLst/>
          </a:prstGeom>
          <a:noFill/>
          <a:ln w="12700">
            <a:noFill/>
            <a:miter lim="800000"/>
            <a:headEnd/>
            <a:tailEnd/>
          </a:ln>
          <a:effectLst/>
        </p:spPr>
        <p:txBody>
          <a:bodyPr wrap="none" lIns="90488" tIns="44450" rIns="90488" bIns="44450">
            <a:spAutoFit/>
          </a:bodyPr>
          <a:lstStyle/>
          <a:p>
            <a:r>
              <a:rPr lang="en-US" i="1">
                <a:solidFill>
                  <a:schemeClr val="tx1"/>
                </a:solidFill>
              </a:rPr>
              <a:t>Time (clock cycles)</a:t>
            </a:r>
          </a:p>
        </p:txBody>
      </p:sp>
      <p:sp>
        <p:nvSpPr>
          <p:cNvPr id="1207303" name="Rectangle 7"/>
          <p:cNvSpPr>
            <a:spLocks noChangeArrowheads="1"/>
          </p:cNvSpPr>
          <p:nvPr/>
        </p:nvSpPr>
        <p:spPr bwMode="auto">
          <a:xfrm>
            <a:off x="762000" y="1752600"/>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0</a:t>
            </a:r>
          </a:p>
        </p:txBody>
      </p:sp>
      <p:sp>
        <p:nvSpPr>
          <p:cNvPr id="1207304" name="Rectangle 8"/>
          <p:cNvSpPr>
            <a:spLocks noChangeArrowheads="1"/>
          </p:cNvSpPr>
          <p:nvPr/>
        </p:nvSpPr>
        <p:spPr bwMode="auto">
          <a:xfrm>
            <a:off x="762000" y="2590800"/>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1</a:t>
            </a:r>
          </a:p>
        </p:txBody>
      </p:sp>
      <p:sp>
        <p:nvSpPr>
          <p:cNvPr id="1207305" name="Rectangle 9"/>
          <p:cNvSpPr>
            <a:spLocks noChangeArrowheads="1"/>
          </p:cNvSpPr>
          <p:nvPr/>
        </p:nvSpPr>
        <p:spPr bwMode="auto">
          <a:xfrm>
            <a:off x="762000" y="3471863"/>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2</a:t>
            </a:r>
          </a:p>
        </p:txBody>
      </p:sp>
      <p:sp>
        <p:nvSpPr>
          <p:cNvPr id="1207306" name="Rectangle 10"/>
          <p:cNvSpPr>
            <a:spLocks noChangeArrowheads="1"/>
          </p:cNvSpPr>
          <p:nvPr/>
        </p:nvSpPr>
        <p:spPr bwMode="auto">
          <a:xfrm>
            <a:off x="762000" y="5181600"/>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4</a:t>
            </a:r>
          </a:p>
        </p:txBody>
      </p:sp>
      <p:sp>
        <p:nvSpPr>
          <p:cNvPr id="1207307" name="Line 11"/>
          <p:cNvSpPr>
            <a:spLocks noChangeShapeType="1"/>
          </p:cNvSpPr>
          <p:nvPr/>
        </p:nvSpPr>
        <p:spPr bwMode="auto">
          <a:xfrm>
            <a:off x="26289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08" name="Line 12"/>
          <p:cNvSpPr>
            <a:spLocks noChangeShapeType="1"/>
          </p:cNvSpPr>
          <p:nvPr/>
        </p:nvSpPr>
        <p:spPr bwMode="auto">
          <a:xfrm>
            <a:off x="33147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09" name="Line 13"/>
          <p:cNvSpPr>
            <a:spLocks noChangeShapeType="1"/>
          </p:cNvSpPr>
          <p:nvPr/>
        </p:nvSpPr>
        <p:spPr bwMode="auto">
          <a:xfrm>
            <a:off x="40005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10" name="Line 14"/>
          <p:cNvSpPr>
            <a:spLocks noChangeShapeType="1"/>
          </p:cNvSpPr>
          <p:nvPr/>
        </p:nvSpPr>
        <p:spPr bwMode="auto">
          <a:xfrm>
            <a:off x="46863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11" name="Line 15"/>
          <p:cNvSpPr>
            <a:spLocks noChangeShapeType="1"/>
          </p:cNvSpPr>
          <p:nvPr/>
        </p:nvSpPr>
        <p:spPr bwMode="auto">
          <a:xfrm>
            <a:off x="53721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12" name="Line 16"/>
          <p:cNvSpPr>
            <a:spLocks noChangeShapeType="1"/>
          </p:cNvSpPr>
          <p:nvPr/>
        </p:nvSpPr>
        <p:spPr bwMode="auto">
          <a:xfrm>
            <a:off x="60579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13" name="Line 17"/>
          <p:cNvSpPr>
            <a:spLocks noChangeShapeType="1"/>
          </p:cNvSpPr>
          <p:nvPr/>
        </p:nvSpPr>
        <p:spPr bwMode="auto">
          <a:xfrm>
            <a:off x="67437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14" name="Line 18"/>
          <p:cNvSpPr>
            <a:spLocks noChangeShapeType="1"/>
          </p:cNvSpPr>
          <p:nvPr/>
        </p:nvSpPr>
        <p:spPr bwMode="auto">
          <a:xfrm>
            <a:off x="74295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07315" name="Rectangle 19"/>
          <p:cNvSpPr>
            <a:spLocks noChangeArrowheads="1"/>
          </p:cNvSpPr>
          <p:nvPr/>
        </p:nvSpPr>
        <p:spPr bwMode="auto">
          <a:xfrm>
            <a:off x="762000" y="4310063"/>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3</a:t>
            </a:r>
          </a:p>
        </p:txBody>
      </p:sp>
      <p:sp>
        <p:nvSpPr>
          <p:cNvPr id="1207316" name="Line 20"/>
          <p:cNvSpPr>
            <a:spLocks noChangeShapeType="1"/>
          </p:cNvSpPr>
          <p:nvPr/>
        </p:nvSpPr>
        <p:spPr bwMode="auto">
          <a:xfrm>
            <a:off x="685800" y="18288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2" name="Group 21"/>
          <p:cNvGrpSpPr>
            <a:grpSpLocks/>
          </p:cNvGrpSpPr>
          <p:nvPr/>
        </p:nvGrpSpPr>
        <p:grpSpPr bwMode="auto">
          <a:xfrm>
            <a:off x="2057400" y="1676400"/>
            <a:ext cx="3355975" cy="838200"/>
            <a:chOff x="1562" y="1152"/>
            <a:chExt cx="2114" cy="528"/>
          </a:xfrm>
        </p:grpSpPr>
        <p:grpSp>
          <p:nvGrpSpPr>
            <p:cNvPr id="3" name="Group 22"/>
            <p:cNvGrpSpPr>
              <a:grpSpLocks/>
            </p:cNvGrpSpPr>
            <p:nvPr/>
          </p:nvGrpSpPr>
          <p:grpSpPr bwMode="auto">
            <a:xfrm>
              <a:off x="2487" y="1152"/>
              <a:ext cx="223" cy="481"/>
              <a:chOff x="2207" y="1413"/>
              <a:chExt cx="223" cy="481"/>
            </a:xfrm>
          </p:grpSpPr>
          <p:sp>
            <p:nvSpPr>
              <p:cNvPr id="1207319" name="Freeform 2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20" name="Rectangle 2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25"/>
            <p:cNvGrpSpPr>
              <a:grpSpLocks/>
            </p:cNvGrpSpPr>
            <p:nvPr/>
          </p:nvGrpSpPr>
          <p:grpSpPr bwMode="auto">
            <a:xfrm>
              <a:off x="1562" y="1248"/>
              <a:ext cx="349" cy="289"/>
              <a:chOff x="1282" y="1509"/>
              <a:chExt cx="349" cy="289"/>
            </a:xfrm>
          </p:grpSpPr>
          <p:sp>
            <p:nvSpPr>
              <p:cNvPr id="1207322" name="Rectangle 26"/>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5" name="Group 27"/>
              <p:cNvGrpSpPr>
                <a:grpSpLocks/>
              </p:cNvGrpSpPr>
              <p:nvPr/>
            </p:nvGrpSpPr>
            <p:grpSpPr bwMode="auto">
              <a:xfrm>
                <a:off x="1291" y="1509"/>
                <a:ext cx="340" cy="289"/>
                <a:chOff x="1291" y="1509"/>
                <a:chExt cx="340" cy="289"/>
              </a:xfrm>
            </p:grpSpPr>
            <p:sp>
              <p:nvSpPr>
                <p:cNvPr id="1207324" name="Freeform 2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25" name="Freeform 2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07326" name="Rectangle 3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31"/>
            <p:cNvGrpSpPr>
              <a:grpSpLocks/>
            </p:cNvGrpSpPr>
            <p:nvPr/>
          </p:nvGrpSpPr>
          <p:grpSpPr bwMode="auto">
            <a:xfrm>
              <a:off x="2031" y="1248"/>
              <a:ext cx="296" cy="289"/>
              <a:chOff x="1751" y="1509"/>
              <a:chExt cx="296" cy="289"/>
            </a:xfrm>
          </p:grpSpPr>
          <p:sp>
            <p:nvSpPr>
              <p:cNvPr id="1207328" name="Freeform 3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29" name="Freeform 3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30" name="Line 3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07331" name="Freeform 3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32" name="Line 3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07333" name="Rectangle 37"/>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7" name="Group 38"/>
            <p:cNvGrpSpPr>
              <a:grpSpLocks/>
            </p:cNvGrpSpPr>
            <p:nvPr/>
          </p:nvGrpSpPr>
          <p:grpSpPr bwMode="auto">
            <a:xfrm>
              <a:off x="2880" y="1248"/>
              <a:ext cx="325" cy="289"/>
              <a:chOff x="2600" y="1509"/>
              <a:chExt cx="325" cy="289"/>
            </a:xfrm>
          </p:grpSpPr>
          <p:sp>
            <p:nvSpPr>
              <p:cNvPr id="1207335" name="Freeform 3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36" name="Freeform 4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37" name="Rectangle 4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2"/>
            <p:cNvGrpSpPr>
              <a:grpSpLocks/>
            </p:cNvGrpSpPr>
            <p:nvPr/>
          </p:nvGrpSpPr>
          <p:grpSpPr bwMode="auto">
            <a:xfrm>
              <a:off x="3348" y="1248"/>
              <a:ext cx="284" cy="289"/>
              <a:chOff x="3068" y="1509"/>
              <a:chExt cx="284" cy="289"/>
            </a:xfrm>
          </p:grpSpPr>
          <p:sp>
            <p:nvSpPr>
              <p:cNvPr id="1207339" name="Freeform 4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40" name="Freeform 4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41" name="Line 4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07342" name="Line 4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07343" name="Line 4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07344" name="Line 4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07345" name="Line 4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07346" name="Line 5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07347" name="Line 5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07348" name="Line 5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07349" name="Line 5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9" name="Group 54"/>
          <p:cNvGrpSpPr>
            <a:grpSpLocks/>
          </p:cNvGrpSpPr>
          <p:nvPr/>
        </p:nvGrpSpPr>
        <p:grpSpPr bwMode="auto">
          <a:xfrm>
            <a:off x="2743200" y="2514600"/>
            <a:ext cx="3355975" cy="838200"/>
            <a:chOff x="1562" y="1152"/>
            <a:chExt cx="2114" cy="528"/>
          </a:xfrm>
        </p:grpSpPr>
        <p:grpSp>
          <p:nvGrpSpPr>
            <p:cNvPr id="10" name="Group 55"/>
            <p:cNvGrpSpPr>
              <a:grpSpLocks/>
            </p:cNvGrpSpPr>
            <p:nvPr/>
          </p:nvGrpSpPr>
          <p:grpSpPr bwMode="auto">
            <a:xfrm>
              <a:off x="2487" y="1152"/>
              <a:ext cx="223" cy="481"/>
              <a:chOff x="2207" y="1413"/>
              <a:chExt cx="223" cy="481"/>
            </a:xfrm>
          </p:grpSpPr>
          <p:sp>
            <p:nvSpPr>
              <p:cNvPr id="1207352" name="Freeform 56"/>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53" name="Rectangle 57"/>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1" name="Group 58"/>
            <p:cNvGrpSpPr>
              <a:grpSpLocks/>
            </p:cNvGrpSpPr>
            <p:nvPr/>
          </p:nvGrpSpPr>
          <p:grpSpPr bwMode="auto">
            <a:xfrm>
              <a:off x="1562" y="1248"/>
              <a:ext cx="349" cy="289"/>
              <a:chOff x="1282" y="1509"/>
              <a:chExt cx="349" cy="289"/>
            </a:xfrm>
          </p:grpSpPr>
          <p:sp>
            <p:nvSpPr>
              <p:cNvPr id="1207355" name="Rectangle 59"/>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 name="Group 60"/>
              <p:cNvGrpSpPr>
                <a:grpSpLocks/>
              </p:cNvGrpSpPr>
              <p:nvPr/>
            </p:nvGrpSpPr>
            <p:grpSpPr bwMode="auto">
              <a:xfrm>
                <a:off x="1291" y="1509"/>
                <a:ext cx="340" cy="289"/>
                <a:chOff x="1291" y="1509"/>
                <a:chExt cx="340" cy="289"/>
              </a:xfrm>
            </p:grpSpPr>
            <p:sp>
              <p:nvSpPr>
                <p:cNvPr id="1207357" name="Freeform 61"/>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58" name="Freeform 62"/>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07359" name="Rectangle 63"/>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64"/>
            <p:cNvGrpSpPr>
              <a:grpSpLocks/>
            </p:cNvGrpSpPr>
            <p:nvPr/>
          </p:nvGrpSpPr>
          <p:grpSpPr bwMode="auto">
            <a:xfrm>
              <a:off x="2031" y="1248"/>
              <a:ext cx="296" cy="289"/>
              <a:chOff x="1751" y="1509"/>
              <a:chExt cx="296" cy="289"/>
            </a:xfrm>
          </p:grpSpPr>
          <p:sp>
            <p:nvSpPr>
              <p:cNvPr id="1207361" name="Freeform 65"/>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62" name="Freeform 66"/>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63" name="Line 67"/>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07364" name="Freeform 68"/>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65" name="Line 69"/>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07366" name="Rectangle 70"/>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4" name="Group 71"/>
            <p:cNvGrpSpPr>
              <a:grpSpLocks/>
            </p:cNvGrpSpPr>
            <p:nvPr/>
          </p:nvGrpSpPr>
          <p:grpSpPr bwMode="auto">
            <a:xfrm>
              <a:off x="2880" y="1248"/>
              <a:ext cx="325" cy="289"/>
              <a:chOff x="2600" y="1509"/>
              <a:chExt cx="325" cy="289"/>
            </a:xfrm>
          </p:grpSpPr>
          <p:sp>
            <p:nvSpPr>
              <p:cNvPr id="1207368" name="Freeform 72"/>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69" name="Freeform 73"/>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70" name="Rectangle 74"/>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5"/>
            <p:cNvGrpSpPr>
              <a:grpSpLocks/>
            </p:cNvGrpSpPr>
            <p:nvPr/>
          </p:nvGrpSpPr>
          <p:grpSpPr bwMode="auto">
            <a:xfrm>
              <a:off x="3348" y="1248"/>
              <a:ext cx="284" cy="289"/>
              <a:chOff x="3068" y="1509"/>
              <a:chExt cx="284" cy="289"/>
            </a:xfrm>
          </p:grpSpPr>
          <p:sp>
            <p:nvSpPr>
              <p:cNvPr id="1207372" name="Freeform 76"/>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73" name="Freeform 77"/>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74" name="Line 78"/>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07375" name="Line 79"/>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07376" name="Line 80"/>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07377" name="Line 81"/>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07378" name="Line 82"/>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07379" name="Line 83"/>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07380" name="Line 84"/>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07381" name="Line 85"/>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07382" name="Line 86"/>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6" name="Group 87"/>
          <p:cNvGrpSpPr>
            <a:grpSpLocks/>
          </p:cNvGrpSpPr>
          <p:nvPr/>
        </p:nvGrpSpPr>
        <p:grpSpPr bwMode="auto">
          <a:xfrm>
            <a:off x="3429000" y="3352800"/>
            <a:ext cx="3355975" cy="838200"/>
            <a:chOff x="1562" y="1152"/>
            <a:chExt cx="2114" cy="528"/>
          </a:xfrm>
        </p:grpSpPr>
        <p:grpSp>
          <p:nvGrpSpPr>
            <p:cNvPr id="17" name="Group 88"/>
            <p:cNvGrpSpPr>
              <a:grpSpLocks/>
            </p:cNvGrpSpPr>
            <p:nvPr/>
          </p:nvGrpSpPr>
          <p:grpSpPr bwMode="auto">
            <a:xfrm>
              <a:off x="2487" y="1152"/>
              <a:ext cx="223" cy="481"/>
              <a:chOff x="2207" y="1413"/>
              <a:chExt cx="223" cy="481"/>
            </a:xfrm>
          </p:grpSpPr>
          <p:sp>
            <p:nvSpPr>
              <p:cNvPr id="1207385" name="Freeform 8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86" name="Rectangle 9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8" name="Group 91"/>
            <p:cNvGrpSpPr>
              <a:grpSpLocks/>
            </p:cNvGrpSpPr>
            <p:nvPr/>
          </p:nvGrpSpPr>
          <p:grpSpPr bwMode="auto">
            <a:xfrm>
              <a:off x="1562" y="1248"/>
              <a:ext cx="349" cy="289"/>
              <a:chOff x="1282" y="1509"/>
              <a:chExt cx="349" cy="289"/>
            </a:xfrm>
          </p:grpSpPr>
          <p:sp>
            <p:nvSpPr>
              <p:cNvPr id="1207388" name="Rectangle 9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9" name="Group 93"/>
              <p:cNvGrpSpPr>
                <a:grpSpLocks/>
              </p:cNvGrpSpPr>
              <p:nvPr/>
            </p:nvGrpSpPr>
            <p:grpSpPr bwMode="auto">
              <a:xfrm>
                <a:off x="1291" y="1509"/>
                <a:ext cx="340" cy="289"/>
                <a:chOff x="1291" y="1509"/>
                <a:chExt cx="340" cy="289"/>
              </a:xfrm>
            </p:grpSpPr>
            <p:sp>
              <p:nvSpPr>
                <p:cNvPr id="1207390" name="Freeform 9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91" name="Freeform 9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07392" name="Rectangle 9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97"/>
            <p:cNvGrpSpPr>
              <a:grpSpLocks/>
            </p:cNvGrpSpPr>
            <p:nvPr/>
          </p:nvGrpSpPr>
          <p:grpSpPr bwMode="auto">
            <a:xfrm>
              <a:off x="2031" y="1248"/>
              <a:ext cx="296" cy="289"/>
              <a:chOff x="1751" y="1509"/>
              <a:chExt cx="296" cy="289"/>
            </a:xfrm>
          </p:grpSpPr>
          <p:sp>
            <p:nvSpPr>
              <p:cNvPr id="1207394" name="Freeform 9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95" name="Freeform 9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396" name="Line 10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07397" name="Freeform 10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398" name="Line 10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07399" name="Rectangle 10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1" name="Group 104"/>
            <p:cNvGrpSpPr>
              <a:grpSpLocks/>
            </p:cNvGrpSpPr>
            <p:nvPr/>
          </p:nvGrpSpPr>
          <p:grpSpPr bwMode="auto">
            <a:xfrm>
              <a:off x="2880" y="1248"/>
              <a:ext cx="325" cy="289"/>
              <a:chOff x="2600" y="1509"/>
              <a:chExt cx="325" cy="289"/>
            </a:xfrm>
          </p:grpSpPr>
          <p:sp>
            <p:nvSpPr>
              <p:cNvPr id="1207401" name="Freeform 10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02" name="Freeform 10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03" name="Rectangle 10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08"/>
            <p:cNvGrpSpPr>
              <a:grpSpLocks/>
            </p:cNvGrpSpPr>
            <p:nvPr/>
          </p:nvGrpSpPr>
          <p:grpSpPr bwMode="auto">
            <a:xfrm>
              <a:off x="3348" y="1248"/>
              <a:ext cx="284" cy="289"/>
              <a:chOff x="3068" y="1509"/>
              <a:chExt cx="284" cy="289"/>
            </a:xfrm>
          </p:grpSpPr>
          <p:sp>
            <p:nvSpPr>
              <p:cNvPr id="1207405" name="Freeform 10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06" name="Freeform 11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07" name="Line 11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07408" name="Line 11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07409" name="Line 11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07410" name="Line 11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07411" name="Line 11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07412" name="Line 11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07413" name="Line 11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07414" name="Line 11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07415" name="Line 11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3" name="Group 120"/>
          <p:cNvGrpSpPr>
            <a:grpSpLocks/>
          </p:cNvGrpSpPr>
          <p:nvPr/>
        </p:nvGrpSpPr>
        <p:grpSpPr bwMode="auto">
          <a:xfrm>
            <a:off x="4114800" y="4191000"/>
            <a:ext cx="3355975" cy="838200"/>
            <a:chOff x="1562" y="1152"/>
            <a:chExt cx="2114" cy="528"/>
          </a:xfrm>
        </p:grpSpPr>
        <p:grpSp>
          <p:nvGrpSpPr>
            <p:cNvPr id="24" name="Group 121"/>
            <p:cNvGrpSpPr>
              <a:grpSpLocks/>
            </p:cNvGrpSpPr>
            <p:nvPr/>
          </p:nvGrpSpPr>
          <p:grpSpPr bwMode="auto">
            <a:xfrm>
              <a:off x="2487" y="1152"/>
              <a:ext cx="223" cy="481"/>
              <a:chOff x="2207" y="1413"/>
              <a:chExt cx="223" cy="481"/>
            </a:xfrm>
          </p:grpSpPr>
          <p:sp>
            <p:nvSpPr>
              <p:cNvPr id="1207418" name="Freeform 12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19" name="Rectangle 12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5" name="Group 124"/>
            <p:cNvGrpSpPr>
              <a:grpSpLocks/>
            </p:cNvGrpSpPr>
            <p:nvPr/>
          </p:nvGrpSpPr>
          <p:grpSpPr bwMode="auto">
            <a:xfrm>
              <a:off x="1562" y="1248"/>
              <a:ext cx="349" cy="289"/>
              <a:chOff x="1282" y="1509"/>
              <a:chExt cx="349" cy="289"/>
            </a:xfrm>
          </p:grpSpPr>
          <p:sp>
            <p:nvSpPr>
              <p:cNvPr id="1207421" name="Rectangle 12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6" name="Group 126"/>
              <p:cNvGrpSpPr>
                <a:grpSpLocks/>
              </p:cNvGrpSpPr>
              <p:nvPr/>
            </p:nvGrpSpPr>
            <p:grpSpPr bwMode="auto">
              <a:xfrm>
                <a:off x="1291" y="1509"/>
                <a:ext cx="340" cy="289"/>
                <a:chOff x="1291" y="1509"/>
                <a:chExt cx="340" cy="289"/>
              </a:xfrm>
            </p:grpSpPr>
            <p:sp>
              <p:nvSpPr>
                <p:cNvPr id="1207423" name="Freeform 12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24" name="Freeform 12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07425" name="Rectangle 12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30"/>
            <p:cNvGrpSpPr>
              <a:grpSpLocks/>
            </p:cNvGrpSpPr>
            <p:nvPr/>
          </p:nvGrpSpPr>
          <p:grpSpPr bwMode="auto">
            <a:xfrm>
              <a:off x="2031" y="1248"/>
              <a:ext cx="296" cy="289"/>
              <a:chOff x="1751" y="1509"/>
              <a:chExt cx="296" cy="289"/>
            </a:xfrm>
          </p:grpSpPr>
          <p:sp>
            <p:nvSpPr>
              <p:cNvPr id="1207427" name="Freeform 13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28" name="Freeform 13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29" name="Line 13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07430" name="Freeform 13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31" name="Line 13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07432" name="Rectangle 13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8" name="Group 137"/>
            <p:cNvGrpSpPr>
              <a:grpSpLocks/>
            </p:cNvGrpSpPr>
            <p:nvPr/>
          </p:nvGrpSpPr>
          <p:grpSpPr bwMode="auto">
            <a:xfrm>
              <a:off x="2880" y="1248"/>
              <a:ext cx="325" cy="289"/>
              <a:chOff x="2600" y="1509"/>
              <a:chExt cx="325" cy="289"/>
            </a:xfrm>
          </p:grpSpPr>
          <p:sp>
            <p:nvSpPr>
              <p:cNvPr id="1207434" name="Freeform 13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35" name="Freeform 13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36" name="Rectangle 14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41"/>
            <p:cNvGrpSpPr>
              <a:grpSpLocks/>
            </p:cNvGrpSpPr>
            <p:nvPr/>
          </p:nvGrpSpPr>
          <p:grpSpPr bwMode="auto">
            <a:xfrm>
              <a:off x="3348" y="1248"/>
              <a:ext cx="284" cy="289"/>
              <a:chOff x="3068" y="1509"/>
              <a:chExt cx="284" cy="289"/>
            </a:xfrm>
          </p:grpSpPr>
          <p:sp>
            <p:nvSpPr>
              <p:cNvPr id="1207438" name="Freeform 14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39" name="Freeform 14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40" name="Line 14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07441" name="Line 14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07442" name="Line 14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07443" name="Line 14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07444" name="Line 14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07445" name="Line 14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07446" name="Line 15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07447" name="Line 15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07448" name="Line 15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30" name="Group 153"/>
          <p:cNvGrpSpPr>
            <a:grpSpLocks/>
          </p:cNvGrpSpPr>
          <p:nvPr/>
        </p:nvGrpSpPr>
        <p:grpSpPr bwMode="auto">
          <a:xfrm>
            <a:off x="4800600" y="5029200"/>
            <a:ext cx="3355975" cy="838200"/>
            <a:chOff x="1562" y="1152"/>
            <a:chExt cx="2114" cy="528"/>
          </a:xfrm>
        </p:grpSpPr>
        <p:grpSp>
          <p:nvGrpSpPr>
            <p:cNvPr id="31" name="Group 154"/>
            <p:cNvGrpSpPr>
              <a:grpSpLocks/>
            </p:cNvGrpSpPr>
            <p:nvPr/>
          </p:nvGrpSpPr>
          <p:grpSpPr bwMode="auto">
            <a:xfrm>
              <a:off x="2487" y="1152"/>
              <a:ext cx="223" cy="481"/>
              <a:chOff x="2207" y="1413"/>
              <a:chExt cx="223" cy="481"/>
            </a:xfrm>
          </p:grpSpPr>
          <p:sp>
            <p:nvSpPr>
              <p:cNvPr id="1207451" name="Freeform 15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52" name="Rectangle 15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07360" name="Group 157"/>
            <p:cNvGrpSpPr>
              <a:grpSpLocks/>
            </p:cNvGrpSpPr>
            <p:nvPr/>
          </p:nvGrpSpPr>
          <p:grpSpPr bwMode="auto">
            <a:xfrm>
              <a:off x="1562" y="1248"/>
              <a:ext cx="349" cy="289"/>
              <a:chOff x="1282" y="1509"/>
              <a:chExt cx="349" cy="289"/>
            </a:xfrm>
          </p:grpSpPr>
          <p:sp>
            <p:nvSpPr>
              <p:cNvPr id="1207454" name="Rectangle 15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07367" name="Group 159"/>
              <p:cNvGrpSpPr>
                <a:grpSpLocks/>
              </p:cNvGrpSpPr>
              <p:nvPr/>
            </p:nvGrpSpPr>
            <p:grpSpPr bwMode="auto">
              <a:xfrm>
                <a:off x="1291" y="1509"/>
                <a:ext cx="340" cy="289"/>
                <a:chOff x="1291" y="1509"/>
                <a:chExt cx="340" cy="289"/>
              </a:xfrm>
            </p:grpSpPr>
            <p:sp>
              <p:nvSpPr>
                <p:cNvPr id="1207456" name="Freeform 16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57" name="Freeform 16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07458" name="Rectangle 16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07371" name="Group 163"/>
            <p:cNvGrpSpPr>
              <a:grpSpLocks/>
            </p:cNvGrpSpPr>
            <p:nvPr/>
          </p:nvGrpSpPr>
          <p:grpSpPr bwMode="auto">
            <a:xfrm>
              <a:off x="2031" y="1248"/>
              <a:ext cx="296" cy="289"/>
              <a:chOff x="1751" y="1509"/>
              <a:chExt cx="296" cy="289"/>
            </a:xfrm>
          </p:grpSpPr>
          <p:sp>
            <p:nvSpPr>
              <p:cNvPr id="1207460" name="Freeform 16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61" name="Freeform 16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62" name="Line 16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07463" name="Freeform 16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64" name="Line 16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07465" name="Rectangle 16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07383" name="Group 170"/>
            <p:cNvGrpSpPr>
              <a:grpSpLocks/>
            </p:cNvGrpSpPr>
            <p:nvPr/>
          </p:nvGrpSpPr>
          <p:grpSpPr bwMode="auto">
            <a:xfrm>
              <a:off x="2880" y="1248"/>
              <a:ext cx="325" cy="289"/>
              <a:chOff x="2600" y="1509"/>
              <a:chExt cx="325" cy="289"/>
            </a:xfrm>
          </p:grpSpPr>
          <p:sp>
            <p:nvSpPr>
              <p:cNvPr id="1207467" name="Freeform 17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68" name="Freeform 17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69" name="Rectangle 17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07384" name="Group 174"/>
            <p:cNvGrpSpPr>
              <a:grpSpLocks/>
            </p:cNvGrpSpPr>
            <p:nvPr/>
          </p:nvGrpSpPr>
          <p:grpSpPr bwMode="auto">
            <a:xfrm>
              <a:off x="3348" y="1248"/>
              <a:ext cx="284" cy="289"/>
              <a:chOff x="3068" y="1509"/>
              <a:chExt cx="284" cy="289"/>
            </a:xfrm>
          </p:grpSpPr>
          <p:sp>
            <p:nvSpPr>
              <p:cNvPr id="1207471" name="Freeform 17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07472" name="Freeform 17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07473" name="Line 17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07474" name="Line 17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07475" name="Line 17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07476" name="Line 18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07477" name="Line 18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07478" name="Line 18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07479" name="Line 18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07480" name="Line 18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07481" name="Line 18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07482" name="Rectangle 186"/>
          <p:cNvSpPr>
            <a:spLocks noChangeArrowheads="1"/>
          </p:cNvSpPr>
          <p:nvPr/>
        </p:nvSpPr>
        <p:spPr bwMode="auto">
          <a:xfrm>
            <a:off x="6629400" y="1524000"/>
            <a:ext cx="2057400" cy="1936428"/>
          </a:xfrm>
          <a:prstGeom prst="rect">
            <a:avLst/>
          </a:prstGeom>
          <a:noFill/>
          <a:ln w="12700">
            <a:noFill/>
            <a:miter lim="800000"/>
            <a:headEnd/>
            <a:tailEnd/>
          </a:ln>
          <a:effectLst/>
        </p:spPr>
        <p:txBody>
          <a:bodyPr lIns="90488" tIns="44450" rIns="90488" bIns="44450">
            <a:spAutoFit/>
          </a:bodyPr>
          <a:lstStyle/>
          <a:p>
            <a:pPr algn="r"/>
            <a:r>
              <a:rPr lang="en-US" sz="2000" dirty="0"/>
              <a:t>Once the pipeline is full, one instruction is completed every clock cycle</a:t>
            </a:r>
          </a:p>
        </p:txBody>
      </p:sp>
      <p:grpSp>
        <p:nvGrpSpPr>
          <p:cNvPr id="1207387" name="Group 187"/>
          <p:cNvGrpSpPr>
            <a:grpSpLocks/>
          </p:cNvGrpSpPr>
          <p:nvPr/>
        </p:nvGrpSpPr>
        <p:grpSpPr bwMode="auto">
          <a:xfrm>
            <a:off x="1981200" y="5486400"/>
            <a:ext cx="2733675" cy="515938"/>
            <a:chOff x="1248" y="3456"/>
            <a:chExt cx="1722" cy="325"/>
          </a:xfrm>
        </p:grpSpPr>
        <p:sp>
          <p:nvSpPr>
            <p:cNvPr id="1207484" name="Line 188"/>
            <p:cNvSpPr>
              <a:spLocks noChangeShapeType="1"/>
            </p:cNvSpPr>
            <p:nvPr/>
          </p:nvSpPr>
          <p:spPr bwMode="auto">
            <a:xfrm>
              <a:off x="1248" y="3456"/>
              <a:ext cx="1680" cy="0"/>
            </a:xfrm>
            <a:prstGeom prst="line">
              <a:avLst/>
            </a:prstGeom>
            <a:noFill/>
            <a:ln w="12700">
              <a:solidFill>
                <a:schemeClr val="accent1"/>
              </a:solidFill>
              <a:round/>
              <a:headEnd type="triangle" w="med" len="med"/>
              <a:tailEnd type="triangle" w="med" len="med"/>
            </a:ln>
            <a:effectLst/>
          </p:spPr>
          <p:txBody>
            <a:bodyPr/>
            <a:lstStyle/>
            <a:p>
              <a:endParaRPr lang="en-US"/>
            </a:p>
          </p:txBody>
        </p:sp>
        <p:sp>
          <p:nvSpPr>
            <p:cNvPr id="1207485" name="Rectangle 189"/>
            <p:cNvSpPr>
              <a:spLocks noChangeArrowheads="1"/>
            </p:cNvSpPr>
            <p:nvPr/>
          </p:nvSpPr>
          <p:spPr bwMode="auto">
            <a:xfrm>
              <a:off x="1296" y="3552"/>
              <a:ext cx="1674" cy="229"/>
            </a:xfrm>
            <a:prstGeom prst="rect">
              <a:avLst/>
            </a:prstGeom>
            <a:noFill/>
            <a:ln w="12700">
              <a:noFill/>
              <a:miter lim="800000"/>
              <a:headEnd/>
              <a:tailEnd/>
            </a:ln>
            <a:effectLst/>
          </p:spPr>
          <p:txBody>
            <a:bodyPr wrap="none" lIns="90488" tIns="44450" rIns="90488" bIns="44450">
              <a:spAutoFit/>
            </a:bodyPr>
            <a:lstStyle/>
            <a:p>
              <a:r>
                <a:rPr lang="en-US" b="1"/>
                <a:t>Time to fill the pipeline</a:t>
              </a:r>
            </a:p>
          </p:txBody>
        </p:sp>
      </p:grpSp>
    </p:spTree>
    <p:extLst>
      <p:ext uri="{BB962C8B-B14F-4D97-AF65-F5344CB8AC3E}">
        <p14:creationId xmlns:p14="http://schemas.microsoft.com/office/powerpoint/2010/main" val="1551846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729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207482"/>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0"/>
                                          </p:stCondLst>
                                        </p:cTn>
                                        <p:tgtEl>
                                          <p:spTgt spid="1207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7298" grpId="0" animBg="1"/>
      <p:bldP spid="120748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a:xfrm>
            <a:off x="533400" y="304800"/>
            <a:ext cx="5983288" cy="422275"/>
          </a:xfrm>
          <a:noFill/>
          <a:ln/>
        </p:spPr>
        <p:txBody>
          <a:bodyPr wrap="none"/>
          <a:lstStyle/>
          <a:p>
            <a:r>
              <a:rPr lang="en-US" dirty="0"/>
              <a:t>Can Pipelining Get Us Into Trouble?</a:t>
            </a:r>
          </a:p>
        </p:txBody>
      </p:sp>
      <p:sp>
        <p:nvSpPr>
          <p:cNvPr id="991235" name="Rectangle 3"/>
          <p:cNvSpPr>
            <a:spLocks noGrp="1" noChangeArrowheads="1"/>
          </p:cNvSpPr>
          <p:nvPr>
            <p:ph type="body" idx="1"/>
          </p:nvPr>
        </p:nvSpPr>
        <p:spPr>
          <a:xfrm>
            <a:off x="685800" y="893763"/>
            <a:ext cx="7848600" cy="3856037"/>
          </a:xfrm>
          <a:noFill/>
          <a:ln/>
        </p:spPr>
        <p:txBody>
          <a:bodyPr/>
          <a:lstStyle/>
          <a:p>
            <a:pPr>
              <a:lnSpc>
                <a:spcPct val="100000"/>
              </a:lnSpc>
              <a:spcBef>
                <a:spcPct val="30000"/>
              </a:spcBef>
            </a:pPr>
            <a:r>
              <a:rPr lang="en-US" dirty="0"/>
              <a:t>Yes:</a:t>
            </a:r>
            <a:r>
              <a:rPr lang="en-US" dirty="0">
                <a:solidFill>
                  <a:schemeClr val="hlink"/>
                </a:solidFill>
              </a:rPr>
              <a:t>  </a:t>
            </a:r>
            <a:r>
              <a:rPr lang="en-US" dirty="0">
                <a:solidFill>
                  <a:schemeClr val="accent1"/>
                </a:solidFill>
              </a:rPr>
              <a:t>Pipeline Hazards</a:t>
            </a:r>
          </a:p>
          <a:p>
            <a:pPr lvl="1">
              <a:lnSpc>
                <a:spcPct val="100000"/>
              </a:lnSpc>
              <a:spcBef>
                <a:spcPct val="30000"/>
              </a:spcBef>
            </a:pPr>
            <a:r>
              <a:rPr lang="en-US" dirty="0">
                <a:solidFill>
                  <a:schemeClr val="accent1"/>
                </a:solidFill>
              </a:rPr>
              <a:t>structural hazards</a:t>
            </a:r>
            <a:r>
              <a:rPr lang="en-US" dirty="0"/>
              <a:t>: attempt to use the same resource by two different instructions at the same time</a:t>
            </a:r>
          </a:p>
          <a:p>
            <a:pPr lvl="1">
              <a:lnSpc>
                <a:spcPct val="100000"/>
              </a:lnSpc>
              <a:spcBef>
                <a:spcPct val="30000"/>
              </a:spcBef>
            </a:pPr>
            <a:r>
              <a:rPr lang="en-US" dirty="0">
                <a:solidFill>
                  <a:schemeClr val="accent1"/>
                </a:solidFill>
              </a:rPr>
              <a:t>data hazards</a:t>
            </a:r>
            <a:r>
              <a:rPr lang="en-US" dirty="0"/>
              <a:t>: attempt to use data before it is ready</a:t>
            </a:r>
          </a:p>
          <a:p>
            <a:pPr lvl="2">
              <a:lnSpc>
                <a:spcPct val="100000"/>
              </a:lnSpc>
              <a:spcBef>
                <a:spcPct val="30000"/>
              </a:spcBef>
            </a:pPr>
            <a:r>
              <a:rPr lang="en-US" dirty="0"/>
              <a:t>An instruction’s source operand(s) are produced by a prior instruction still in the pipeline</a:t>
            </a:r>
          </a:p>
          <a:p>
            <a:pPr lvl="1">
              <a:lnSpc>
                <a:spcPct val="100000"/>
              </a:lnSpc>
              <a:spcBef>
                <a:spcPct val="30000"/>
              </a:spcBef>
            </a:pPr>
            <a:r>
              <a:rPr lang="en-US" dirty="0">
                <a:solidFill>
                  <a:schemeClr val="accent1"/>
                </a:solidFill>
              </a:rPr>
              <a:t>control hazards</a:t>
            </a:r>
            <a:r>
              <a:rPr lang="en-US" dirty="0"/>
              <a:t>: attempt to make a decision about program control flow before the condition has been evaluated and the new PC target address calculated</a:t>
            </a:r>
          </a:p>
          <a:p>
            <a:pPr lvl="2">
              <a:lnSpc>
                <a:spcPct val="100000"/>
              </a:lnSpc>
              <a:spcBef>
                <a:spcPct val="30000"/>
              </a:spcBef>
            </a:pPr>
            <a:r>
              <a:rPr lang="en-US" dirty="0"/>
              <a:t>branch and jump instructions, exceptions</a:t>
            </a:r>
          </a:p>
        </p:txBody>
      </p:sp>
      <p:sp>
        <p:nvSpPr>
          <p:cNvPr id="991236" name="Rectangle 4"/>
          <p:cNvSpPr>
            <a:spLocks noChangeArrowheads="1"/>
          </p:cNvSpPr>
          <p:nvPr/>
        </p:nvSpPr>
        <p:spPr bwMode="auto">
          <a:xfrm>
            <a:off x="685800" y="4857760"/>
            <a:ext cx="7848600" cy="1231900"/>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600" dirty="0">
                <a:solidFill>
                  <a:schemeClr val="tx1"/>
                </a:solidFill>
              </a:rPr>
              <a:t>Can usually resolve hazards by </a:t>
            </a:r>
            <a:r>
              <a:rPr lang="en-US" sz="2600" dirty="0">
                <a:solidFill>
                  <a:schemeClr val="accent2"/>
                </a:solidFill>
              </a:rPr>
              <a:t>waiting</a:t>
            </a:r>
            <a:endParaRPr lang="en-US" sz="2600" dirty="0">
              <a:solidFill>
                <a:schemeClr val="bg2"/>
              </a:solidFill>
            </a:endParaRPr>
          </a:p>
          <a:p>
            <a:pPr marL="741363" lvl="1" indent="-246063">
              <a:lnSpc>
                <a:spcPct val="95000"/>
              </a:lnSpc>
              <a:spcBef>
                <a:spcPct val="25000"/>
              </a:spcBef>
              <a:buClr>
                <a:schemeClr val="accent1"/>
              </a:buClr>
              <a:buSzPct val="75000"/>
              <a:buFont typeface="Monotype Sorts" pitchFamily="2" charset="2"/>
              <a:buChar char="l"/>
            </a:pPr>
            <a:r>
              <a:rPr lang="en-US" sz="2200" dirty="0">
                <a:solidFill>
                  <a:schemeClr val="tx1"/>
                </a:solidFill>
              </a:rPr>
              <a:t>pipeline control must </a:t>
            </a:r>
            <a:r>
              <a:rPr lang="en-US" sz="2200" dirty="0"/>
              <a:t>detect</a:t>
            </a:r>
            <a:r>
              <a:rPr lang="en-US" sz="2200" dirty="0">
                <a:solidFill>
                  <a:schemeClr val="tx1"/>
                </a:solidFill>
              </a:rPr>
              <a:t> hazards</a:t>
            </a:r>
          </a:p>
          <a:p>
            <a:pPr marL="741363" lvl="1" indent="-246063">
              <a:lnSpc>
                <a:spcPct val="95000"/>
              </a:lnSpc>
              <a:spcBef>
                <a:spcPct val="25000"/>
              </a:spcBef>
              <a:buClr>
                <a:schemeClr val="accent1"/>
              </a:buClr>
              <a:buSzPct val="75000"/>
              <a:buFont typeface="Monotype Sorts" pitchFamily="2" charset="2"/>
              <a:buChar char="l"/>
            </a:pPr>
            <a:r>
              <a:rPr lang="en-US" sz="2200" dirty="0">
                <a:solidFill>
                  <a:schemeClr val="tx1"/>
                </a:solidFill>
              </a:rPr>
              <a:t>and take action to </a:t>
            </a:r>
            <a:r>
              <a:rPr lang="en-US" sz="2200" dirty="0"/>
              <a:t>resolve</a:t>
            </a:r>
            <a:r>
              <a:rPr lang="en-US" sz="2200" dirty="0">
                <a:solidFill>
                  <a:schemeClr val="tx1"/>
                </a:solidFill>
              </a:rPr>
              <a:t> hazards</a:t>
            </a:r>
          </a:p>
        </p:txBody>
      </p:sp>
    </p:spTree>
    <p:extLst>
      <p:ext uri="{BB962C8B-B14F-4D97-AF65-F5344CB8AC3E}">
        <p14:creationId xmlns:p14="http://schemas.microsoft.com/office/powerpoint/2010/main" val="16026867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912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12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9123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9123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9123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9123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9123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91236">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912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35" grpId="0" build="p" bldLvl="2"/>
      <p:bldP spid="99123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394" name="Rectangle 2"/>
          <p:cNvSpPr>
            <a:spLocks noChangeArrowheads="1"/>
          </p:cNvSpPr>
          <p:nvPr/>
        </p:nvSpPr>
        <p:spPr bwMode="auto">
          <a:xfrm>
            <a:off x="4114800" y="4219556"/>
            <a:ext cx="533400" cy="457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11395" name="Rectangle 3"/>
          <p:cNvSpPr>
            <a:spLocks noChangeArrowheads="1"/>
          </p:cNvSpPr>
          <p:nvPr/>
        </p:nvSpPr>
        <p:spPr bwMode="auto">
          <a:xfrm>
            <a:off x="4114800" y="1704956"/>
            <a:ext cx="533400" cy="457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11396" name="Rectangle 4"/>
          <p:cNvSpPr>
            <a:spLocks noChangeArrowheads="1"/>
          </p:cNvSpPr>
          <p:nvPr/>
        </p:nvSpPr>
        <p:spPr bwMode="auto">
          <a:xfrm>
            <a:off x="328613" y="1782744"/>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11397" name="Line 5"/>
          <p:cNvSpPr>
            <a:spLocks noChangeShapeType="1"/>
          </p:cNvSpPr>
          <p:nvPr/>
        </p:nvSpPr>
        <p:spPr bwMode="auto">
          <a:xfrm>
            <a:off x="1447800" y="1176319"/>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11398" name="Rectangle 6"/>
          <p:cNvSpPr>
            <a:spLocks noChangeArrowheads="1"/>
          </p:cNvSpPr>
          <p:nvPr/>
        </p:nvSpPr>
        <p:spPr bwMode="auto">
          <a:xfrm>
            <a:off x="3581400" y="785794"/>
            <a:ext cx="2124075" cy="363538"/>
          </a:xfrm>
          <a:prstGeom prst="rect">
            <a:avLst/>
          </a:prstGeom>
          <a:noFill/>
          <a:ln w="12700">
            <a:noFill/>
            <a:miter lim="800000"/>
            <a:headEnd/>
            <a:tailEnd/>
          </a:ln>
          <a:effectLst/>
        </p:spPr>
        <p:txBody>
          <a:bodyPr wrap="none" lIns="90488" tIns="44450" rIns="90488" bIns="44450">
            <a:spAutoFit/>
          </a:bodyPr>
          <a:lstStyle/>
          <a:p>
            <a:r>
              <a:rPr lang="en-US" i="1" dirty="0">
                <a:solidFill>
                  <a:schemeClr val="tx1"/>
                </a:solidFill>
              </a:rPr>
              <a:t>Time (clock cycles)</a:t>
            </a:r>
          </a:p>
        </p:txBody>
      </p:sp>
      <p:sp>
        <p:nvSpPr>
          <p:cNvPr id="1211399" name="Rectangle 7"/>
          <p:cNvSpPr>
            <a:spLocks noChangeArrowheads="1"/>
          </p:cNvSpPr>
          <p:nvPr/>
        </p:nvSpPr>
        <p:spPr bwMode="auto">
          <a:xfrm>
            <a:off x="762000" y="1628756"/>
            <a:ext cx="546100"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a:t>
            </a:r>
          </a:p>
        </p:txBody>
      </p:sp>
      <p:sp>
        <p:nvSpPr>
          <p:cNvPr id="1211400" name="Rectangle 8"/>
          <p:cNvSpPr>
            <a:spLocks noChangeArrowheads="1"/>
          </p:cNvSpPr>
          <p:nvPr/>
        </p:nvSpPr>
        <p:spPr bwMode="auto">
          <a:xfrm>
            <a:off x="762000" y="2466956"/>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1</a:t>
            </a:r>
          </a:p>
        </p:txBody>
      </p:sp>
      <p:sp>
        <p:nvSpPr>
          <p:cNvPr id="1211401" name="Rectangle 9"/>
          <p:cNvSpPr>
            <a:spLocks noChangeArrowheads="1"/>
          </p:cNvSpPr>
          <p:nvPr/>
        </p:nvSpPr>
        <p:spPr bwMode="auto">
          <a:xfrm>
            <a:off x="762000" y="3348019"/>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2</a:t>
            </a:r>
          </a:p>
        </p:txBody>
      </p:sp>
      <p:sp>
        <p:nvSpPr>
          <p:cNvPr id="1211402" name="Rectangle 10"/>
          <p:cNvSpPr>
            <a:spLocks noChangeArrowheads="1"/>
          </p:cNvSpPr>
          <p:nvPr/>
        </p:nvSpPr>
        <p:spPr bwMode="auto">
          <a:xfrm>
            <a:off x="762000" y="5057756"/>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4</a:t>
            </a:r>
          </a:p>
        </p:txBody>
      </p:sp>
      <p:sp>
        <p:nvSpPr>
          <p:cNvPr id="1211403" name="Line 11"/>
          <p:cNvSpPr>
            <a:spLocks noChangeShapeType="1"/>
          </p:cNvSpPr>
          <p:nvPr/>
        </p:nvSpPr>
        <p:spPr bwMode="auto">
          <a:xfrm>
            <a:off x="26289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04" name="Line 12"/>
          <p:cNvSpPr>
            <a:spLocks noChangeShapeType="1"/>
          </p:cNvSpPr>
          <p:nvPr/>
        </p:nvSpPr>
        <p:spPr bwMode="auto">
          <a:xfrm>
            <a:off x="33147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05" name="Line 13"/>
          <p:cNvSpPr>
            <a:spLocks noChangeShapeType="1"/>
          </p:cNvSpPr>
          <p:nvPr/>
        </p:nvSpPr>
        <p:spPr bwMode="auto">
          <a:xfrm>
            <a:off x="40005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06" name="Line 14"/>
          <p:cNvSpPr>
            <a:spLocks noChangeShapeType="1"/>
          </p:cNvSpPr>
          <p:nvPr/>
        </p:nvSpPr>
        <p:spPr bwMode="auto">
          <a:xfrm>
            <a:off x="46863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07" name="Line 15"/>
          <p:cNvSpPr>
            <a:spLocks noChangeShapeType="1"/>
          </p:cNvSpPr>
          <p:nvPr/>
        </p:nvSpPr>
        <p:spPr bwMode="auto">
          <a:xfrm>
            <a:off x="53721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08" name="Line 16"/>
          <p:cNvSpPr>
            <a:spLocks noChangeShapeType="1"/>
          </p:cNvSpPr>
          <p:nvPr/>
        </p:nvSpPr>
        <p:spPr bwMode="auto">
          <a:xfrm>
            <a:off x="60579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09" name="Line 17"/>
          <p:cNvSpPr>
            <a:spLocks noChangeShapeType="1"/>
          </p:cNvSpPr>
          <p:nvPr/>
        </p:nvSpPr>
        <p:spPr bwMode="auto">
          <a:xfrm>
            <a:off x="67437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10" name="Line 18"/>
          <p:cNvSpPr>
            <a:spLocks noChangeShapeType="1"/>
          </p:cNvSpPr>
          <p:nvPr/>
        </p:nvSpPr>
        <p:spPr bwMode="auto">
          <a:xfrm>
            <a:off x="7429500" y="1303319"/>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1411" name="Rectangle 19"/>
          <p:cNvSpPr>
            <a:spLocks noChangeArrowheads="1"/>
          </p:cNvSpPr>
          <p:nvPr/>
        </p:nvSpPr>
        <p:spPr bwMode="auto">
          <a:xfrm>
            <a:off x="762000" y="4186219"/>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3</a:t>
            </a:r>
          </a:p>
        </p:txBody>
      </p:sp>
      <p:sp>
        <p:nvSpPr>
          <p:cNvPr id="1211412" name="Line 20"/>
          <p:cNvSpPr>
            <a:spLocks noChangeShapeType="1"/>
          </p:cNvSpPr>
          <p:nvPr/>
        </p:nvSpPr>
        <p:spPr bwMode="auto">
          <a:xfrm>
            <a:off x="685800" y="1704956"/>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2" name="Group 21"/>
          <p:cNvGrpSpPr>
            <a:grpSpLocks/>
          </p:cNvGrpSpPr>
          <p:nvPr/>
        </p:nvGrpSpPr>
        <p:grpSpPr bwMode="auto">
          <a:xfrm>
            <a:off x="1939925" y="1552556"/>
            <a:ext cx="3473450" cy="838200"/>
            <a:chOff x="1488" y="1152"/>
            <a:chExt cx="2188" cy="528"/>
          </a:xfrm>
        </p:grpSpPr>
        <p:grpSp>
          <p:nvGrpSpPr>
            <p:cNvPr id="3" name="Group 22"/>
            <p:cNvGrpSpPr>
              <a:grpSpLocks/>
            </p:cNvGrpSpPr>
            <p:nvPr/>
          </p:nvGrpSpPr>
          <p:grpSpPr bwMode="auto">
            <a:xfrm>
              <a:off x="2487" y="1152"/>
              <a:ext cx="223" cy="481"/>
              <a:chOff x="2207" y="1413"/>
              <a:chExt cx="223" cy="481"/>
            </a:xfrm>
          </p:grpSpPr>
          <p:sp>
            <p:nvSpPr>
              <p:cNvPr id="1211415" name="Freeform 2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16" name="Rectangle 2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25"/>
            <p:cNvGrpSpPr>
              <a:grpSpLocks/>
            </p:cNvGrpSpPr>
            <p:nvPr/>
          </p:nvGrpSpPr>
          <p:grpSpPr bwMode="auto">
            <a:xfrm>
              <a:off x="1488" y="1248"/>
              <a:ext cx="423" cy="289"/>
              <a:chOff x="1208" y="1509"/>
              <a:chExt cx="423" cy="289"/>
            </a:xfrm>
          </p:grpSpPr>
          <p:sp>
            <p:nvSpPr>
              <p:cNvPr id="1211418" name="Rectangle 26"/>
              <p:cNvSpPr>
                <a:spLocks noChangeArrowheads="1"/>
              </p:cNvSpPr>
              <p:nvPr/>
            </p:nvSpPr>
            <p:spPr bwMode="auto">
              <a:xfrm>
                <a:off x="1208" y="1511"/>
                <a:ext cx="406"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Mem</a:t>
                </a:r>
              </a:p>
            </p:txBody>
          </p:sp>
          <p:grpSp>
            <p:nvGrpSpPr>
              <p:cNvPr id="5" name="Group 27"/>
              <p:cNvGrpSpPr>
                <a:grpSpLocks/>
              </p:cNvGrpSpPr>
              <p:nvPr/>
            </p:nvGrpSpPr>
            <p:grpSpPr bwMode="auto">
              <a:xfrm>
                <a:off x="1291" y="1509"/>
                <a:ext cx="340" cy="289"/>
                <a:chOff x="1291" y="1509"/>
                <a:chExt cx="340" cy="289"/>
              </a:xfrm>
            </p:grpSpPr>
            <p:sp>
              <p:nvSpPr>
                <p:cNvPr id="1211420" name="Freeform 2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21" name="Freeform 2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1422" name="Rectangle 3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31"/>
            <p:cNvGrpSpPr>
              <a:grpSpLocks/>
            </p:cNvGrpSpPr>
            <p:nvPr/>
          </p:nvGrpSpPr>
          <p:grpSpPr bwMode="auto">
            <a:xfrm>
              <a:off x="2031" y="1248"/>
              <a:ext cx="296" cy="289"/>
              <a:chOff x="1751" y="1509"/>
              <a:chExt cx="296" cy="289"/>
            </a:xfrm>
          </p:grpSpPr>
          <p:sp>
            <p:nvSpPr>
              <p:cNvPr id="1211424" name="Freeform 3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25" name="Freeform 3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26" name="Line 3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1427" name="Freeform 3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28" name="Line 3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1429" name="Rectangle 37"/>
            <p:cNvSpPr>
              <a:spLocks noChangeArrowheads="1"/>
            </p:cNvSpPr>
            <p:nvPr/>
          </p:nvSpPr>
          <p:spPr bwMode="auto">
            <a:xfrm>
              <a:off x="2829" y="1250"/>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nvGrpSpPr>
            <p:cNvPr id="7" name="Group 38"/>
            <p:cNvGrpSpPr>
              <a:grpSpLocks/>
            </p:cNvGrpSpPr>
            <p:nvPr/>
          </p:nvGrpSpPr>
          <p:grpSpPr bwMode="auto">
            <a:xfrm>
              <a:off x="2880" y="1248"/>
              <a:ext cx="325" cy="289"/>
              <a:chOff x="2600" y="1509"/>
              <a:chExt cx="325" cy="289"/>
            </a:xfrm>
          </p:grpSpPr>
          <p:sp>
            <p:nvSpPr>
              <p:cNvPr id="1211431" name="Freeform 3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32" name="Freeform 4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33" name="Rectangle 4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2"/>
            <p:cNvGrpSpPr>
              <a:grpSpLocks/>
            </p:cNvGrpSpPr>
            <p:nvPr/>
          </p:nvGrpSpPr>
          <p:grpSpPr bwMode="auto">
            <a:xfrm>
              <a:off x="3348" y="1248"/>
              <a:ext cx="284" cy="289"/>
              <a:chOff x="3068" y="1509"/>
              <a:chExt cx="284" cy="289"/>
            </a:xfrm>
          </p:grpSpPr>
          <p:sp>
            <p:nvSpPr>
              <p:cNvPr id="1211435" name="Freeform 4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36" name="Freeform 4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37" name="Line 4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1438" name="Line 4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1439" name="Line 4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1440" name="Line 4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1441" name="Line 4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1442" name="Line 5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1443" name="Line 5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1444" name="Line 5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1445" name="Line 5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9" name="Group 54"/>
          <p:cNvGrpSpPr>
            <a:grpSpLocks/>
          </p:cNvGrpSpPr>
          <p:nvPr/>
        </p:nvGrpSpPr>
        <p:grpSpPr bwMode="auto">
          <a:xfrm>
            <a:off x="2625725" y="2390756"/>
            <a:ext cx="3473450" cy="838200"/>
            <a:chOff x="1488" y="1152"/>
            <a:chExt cx="2188" cy="528"/>
          </a:xfrm>
        </p:grpSpPr>
        <p:grpSp>
          <p:nvGrpSpPr>
            <p:cNvPr id="10" name="Group 55"/>
            <p:cNvGrpSpPr>
              <a:grpSpLocks/>
            </p:cNvGrpSpPr>
            <p:nvPr/>
          </p:nvGrpSpPr>
          <p:grpSpPr bwMode="auto">
            <a:xfrm>
              <a:off x="2487" y="1152"/>
              <a:ext cx="223" cy="481"/>
              <a:chOff x="2207" y="1413"/>
              <a:chExt cx="223" cy="481"/>
            </a:xfrm>
          </p:grpSpPr>
          <p:sp>
            <p:nvSpPr>
              <p:cNvPr id="1211448" name="Freeform 56"/>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49" name="Rectangle 57"/>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1" name="Group 58"/>
            <p:cNvGrpSpPr>
              <a:grpSpLocks/>
            </p:cNvGrpSpPr>
            <p:nvPr/>
          </p:nvGrpSpPr>
          <p:grpSpPr bwMode="auto">
            <a:xfrm>
              <a:off x="1488" y="1248"/>
              <a:ext cx="423" cy="289"/>
              <a:chOff x="1208" y="1509"/>
              <a:chExt cx="423" cy="289"/>
            </a:xfrm>
          </p:grpSpPr>
          <p:sp>
            <p:nvSpPr>
              <p:cNvPr id="1211451" name="Rectangle 59"/>
              <p:cNvSpPr>
                <a:spLocks noChangeArrowheads="1"/>
              </p:cNvSpPr>
              <p:nvPr/>
            </p:nvSpPr>
            <p:spPr bwMode="auto">
              <a:xfrm>
                <a:off x="1208" y="1511"/>
                <a:ext cx="406"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Mem</a:t>
                </a:r>
              </a:p>
            </p:txBody>
          </p:sp>
          <p:grpSp>
            <p:nvGrpSpPr>
              <p:cNvPr id="12" name="Group 60"/>
              <p:cNvGrpSpPr>
                <a:grpSpLocks/>
              </p:cNvGrpSpPr>
              <p:nvPr/>
            </p:nvGrpSpPr>
            <p:grpSpPr bwMode="auto">
              <a:xfrm>
                <a:off x="1291" y="1509"/>
                <a:ext cx="340" cy="289"/>
                <a:chOff x="1291" y="1509"/>
                <a:chExt cx="340" cy="289"/>
              </a:xfrm>
            </p:grpSpPr>
            <p:sp>
              <p:nvSpPr>
                <p:cNvPr id="1211453" name="Freeform 61"/>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54" name="Freeform 62"/>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1455" name="Rectangle 63"/>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64"/>
            <p:cNvGrpSpPr>
              <a:grpSpLocks/>
            </p:cNvGrpSpPr>
            <p:nvPr/>
          </p:nvGrpSpPr>
          <p:grpSpPr bwMode="auto">
            <a:xfrm>
              <a:off x="2031" y="1248"/>
              <a:ext cx="296" cy="289"/>
              <a:chOff x="1751" y="1509"/>
              <a:chExt cx="296" cy="289"/>
            </a:xfrm>
          </p:grpSpPr>
          <p:sp>
            <p:nvSpPr>
              <p:cNvPr id="1211457" name="Freeform 65"/>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58" name="Freeform 66"/>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59" name="Line 67"/>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1460" name="Freeform 68"/>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61" name="Line 69"/>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1462" name="Rectangle 70"/>
            <p:cNvSpPr>
              <a:spLocks noChangeArrowheads="1"/>
            </p:cNvSpPr>
            <p:nvPr/>
          </p:nvSpPr>
          <p:spPr bwMode="auto">
            <a:xfrm>
              <a:off x="2829" y="1250"/>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nvGrpSpPr>
            <p:cNvPr id="14" name="Group 71"/>
            <p:cNvGrpSpPr>
              <a:grpSpLocks/>
            </p:cNvGrpSpPr>
            <p:nvPr/>
          </p:nvGrpSpPr>
          <p:grpSpPr bwMode="auto">
            <a:xfrm>
              <a:off x="2880" y="1248"/>
              <a:ext cx="325" cy="289"/>
              <a:chOff x="2600" y="1509"/>
              <a:chExt cx="325" cy="289"/>
            </a:xfrm>
          </p:grpSpPr>
          <p:sp>
            <p:nvSpPr>
              <p:cNvPr id="1211464" name="Freeform 72"/>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65" name="Freeform 73"/>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66" name="Rectangle 74"/>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5"/>
            <p:cNvGrpSpPr>
              <a:grpSpLocks/>
            </p:cNvGrpSpPr>
            <p:nvPr/>
          </p:nvGrpSpPr>
          <p:grpSpPr bwMode="auto">
            <a:xfrm>
              <a:off x="3348" y="1248"/>
              <a:ext cx="284" cy="289"/>
              <a:chOff x="3068" y="1509"/>
              <a:chExt cx="284" cy="289"/>
            </a:xfrm>
          </p:grpSpPr>
          <p:sp>
            <p:nvSpPr>
              <p:cNvPr id="1211468" name="Freeform 76"/>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69" name="Freeform 77"/>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70" name="Line 78"/>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1471" name="Line 79"/>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1472" name="Line 80"/>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1473" name="Line 81"/>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1474" name="Line 82"/>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1475" name="Line 83"/>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1476" name="Line 84"/>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1477" name="Line 85"/>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1478" name="Line 86"/>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6" name="Group 87"/>
          <p:cNvGrpSpPr>
            <a:grpSpLocks/>
          </p:cNvGrpSpPr>
          <p:nvPr/>
        </p:nvGrpSpPr>
        <p:grpSpPr bwMode="auto">
          <a:xfrm>
            <a:off x="3311525" y="3228956"/>
            <a:ext cx="3473450" cy="838200"/>
            <a:chOff x="1488" y="1152"/>
            <a:chExt cx="2188" cy="528"/>
          </a:xfrm>
        </p:grpSpPr>
        <p:grpSp>
          <p:nvGrpSpPr>
            <p:cNvPr id="17" name="Group 88"/>
            <p:cNvGrpSpPr>
              <a:grpSpLocks/>
            </p:cNvGrpSpPr>
            <p:nvPr/>
          </p:nvGrpSpPr>
          <p:grpSpPr bwMode="auto">
            <a:xfrm>
              <a:off x="2487" y="1152"/>
              <a:ext cx="223" cy="481"/>
              <a:chOff x="2207" y="1413"/>
              <a:chExt cx="223" cy="481"/>
            </a:xfrm>
          </p:grpSpPr>
          <p:sp>
            <p:nvSpPr>
              <p:cNvPr id="1211481" name="Freeform 8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82" name="Rectangle 9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8" name="Group 91"/>
            <p:cNvGrpSpPr>
              <a:grpSpLocks/>
            </p:cNvGrpSpPr>
            <p:nvPr/>
          </p:nvGrpSpPr>
          <p:grpSpPr bwMode="auto">
            <a:xfrm>
              <a:off x="1488" y="1248"/>
              <a:ext cx="423" cy="289"/>
              <a:chOff x="1208" y="1509"/>
              <a:chExt cx="423" cy="289"/>
            </a:xfrm>
          </p:grpSpPr>
          <p:sp>
            <p:nvSpPr>
              <p:cNvPr id="1211484" name="Rectangle 92"/>
              <p:cNvSpPr>
                <a:spLocks noChangeArrowheads="1"/>
              </p:cNvSpPr>
              <p:nvPr/>
            </p:nvSpPr>
            <p:spPr bwMode="auto">
              <a:xfrm>
                <a:off x="1208" y="1511"/>
                <a:ext cx="406"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Mem</a:t>
                </a:r>
              </a:p>
            </p:txBody>
          </p:sp>
          <p:grpSp>
            <p:nvGrpSpPr>
              <p:cNvPr id="19" name="Group 93"/>
              <p:cNvGrpSpPr>
                <a:grpSpLocks/>
              </p:cNvGrpSpPr>
              <p:nvPr/>
            </p:nvGrpSpPr>
            <p:grpSpPr bwMode="auto">
              <a:xfrm>
                <a:off x="1291" y="1509"/>
                <a:ext cx="340" cy="289"/>
                <a:chOff x="1291" y="1509"/>
                <a:chExt cx="340" cy="289"/>
              </a:xfrm>
            </p:grpSpPr>
            <p:sp>
              <p:nvSpPr>
                <p:cNvPr id="1211486" name="Freeform 9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87" name="Freeform 9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1488" name="Rectangle 9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97"/>
            <p:cNvGrpSpPr>
              <a:grpSpLocks/>
            </p:cNvGrpSpPr>
            <p:nvPr/>
          </p:nvGrpSpPr>
          <p:grpSpPr bwMode="auto">
            <a:xfrm>
              <a:off x="2031" y="1248"/>
              <a:ext cx="296" cy="289"/>
              <a:chOff x="1751" y="1509"/>
              <a:chExt cx="296" cy="289"/>
            </a:xfrm>
          </p:grpSpPr>
          <p:sp>
            <p:nvSpPr>
              <p:cNvPr id="1211490" name="Freeform 9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91" name="Freeform 9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92" name="Line 10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1493" name="Freeform 10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94" name="Line 10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1495" name="Rectangle 103"/>
            <p:cNvSpPr>
              <a:spLocks noChangeArrowheads="1"/>
            </p:cNvSpPr>
            <p:nvPr/>
          </p:nvSpPr>
          <p:spPr bwMode="auto">
            <a:xfrm>
              <a:off x="2829" y="1250"/>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nvGrpSpPr>
            <p:cNvPr id="21" name="Group 104"/>
            <p:cNvGrpSpPr>
              <a:grpSpLocks/>
            </p:cNvGrpSpPr>
            <p:nvPr/>
          </p:nvGrpSpPr>
          <p:grpSpPr bwMode="auto">
            <a:xfrm>
              <a:off x="2880" y="1248"/>
              <a:ext cx="325" cy="289"/>
              <a:chOff x="2600" y="1509"/>
              <a:chExt cx="325" cy="289"/>
            </a:xfrm>
          </p:grpSpPr>
          <p:sp>
            <p:nvSpPr>
              <p:cNvPr id="1211497" name="Freeform 10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498" name="Freeform 10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499" name="Rectangle 10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08"/>
            <p:cNvGrpSpPr>
              <a:grpSpLocks/>
            </p:cNvGrpSpPr>
            <p:nvPr/>
          </p:nvGrpSpPr>
          <p:grpSpPr bwMode="auto">
            <a:xfrm>
              <a:off x="3348" y="1248"/>
              <a:ext cx="284" cy="289"/>
              <a:chOff x="3068" y="1509"/>
              <a:chExt cx="284" cy="289"/>
            </a:xfrm>
          </p:grpSpPr>
          <p:sp>
            <p:nvSpPr>
              <p:cNvPr id="1211501" name="Freeform 10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02" name="Freeform 11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03" name="Line 11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1504" name="Line 11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1505" name="Line 11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1506" name="Line 11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1507" name="Line 11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1508" name="Line 11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1509" name="Line 11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1510" name="Line 11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1511" name="Line 11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3" name="Group 120"/>
          <p:cNvGrpSpPr>
            <a:grpSpLocks/>
          </p:cNvGrpSpPr>
          <p:nvPr/>
        </p:nvGrpSpPr>
        <p:grpSpPr bwMode="auto">
          <a:xfrm>
            <a:off x="3997325" y="4067156"/>
            <a:ext cx="3473450" cy="838200"/>
            <a:chOff x="1488" y="1152"/>
            <a:chExt cx="2188" cy="528"/>
          </a:xfrm>
        </p:grpSpPr>
        <p:grpSp>
          <p:nvGrpSpPr>
            <p:cNvPr id="24" name="Group 121"/>
            <p:cNvGrpSpPr>
              <a:grpSpLocks/>
            </p:cNvGrpSpPr>
            <p:nvPr/>
          </p:nvGrpSpPr>
          <p:grpSpPr bwMode="auto">
            <a:xfrm>
              <a:off x="2487" y="1152"/>
              <a:ext cx="223" cy="481"/>
              <a:chOff x="2207" y="1413"/>
              <a:chExt cx="223" cy="481"/>
            </a:xfrm>
          </p:grpSpPr>
          <p:sp>
            <p:nvSpPr>
              <p:cNvPr id="1211514" name="Freeform 12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15" name="Rectangle 12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5" name="Group 124"/>
            <p:cNvGrpSpPr>
              <a:grpSpLocks/>
            </p:cNvGrpSpPr>
            <p:nvPr/>
          </p:nvGrpSpPr>
          <p:grpSpPr bwMode="auto">
            <a:xfrm>
              <a:off x="1488" y="1248"/>
              <a:ext cx="423" cy="289"/>
              <a:chOff x="1208" y="1509"/>
              <a:chExt cx="423" cy="289"/>
            </a:xfrm>
          </p:grpSpPr>
          <p:sp>
            <p:nvSpPr>
              <p:cNvPr id="1211517" name="Rectangle 125"/>
              <p:cNvSpPr>
                <a:spLocks noChangeArrowheads="1"/>
              </p:cNvSpPr>
              <p:nvPr/>
            </p:nvSpPr>
            <p:spPr bwMode="auto">
              <a:xfrm>
                <a:off x="1208" y="1511"/>
                <a:ext cx="406"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Mem</a:t>
                </a:r>
              </a:p>
            </p:txBody>
          </p:sp>
          <p:grpSp>
            <p:nvGrpSpPr>
              <p:cNvPr id="26" name="Group 126"/>
              <p:cNvGrpSpPr>
                <a:grpSpLocks/>
              </p:cNvGrpSpPr>
              <p:nvPr/>
            </p:nvGrpSpPr>
            <p:grpSpPr bwMode="auto">
              <a:xfrm>
                <a:off x="1291" y="1509"/>
                <a:ext cx="340" cy="289"/>
                <a:chOff x="1291" y="1509"/>
                <a:chExt cx="340" cy="289"/>
              </a:xfrm>
            </p:grpSpPr>
            <p:sp>
              <p:nvSpPr>
                <p:cNvPr id="1211519" name="Freeform 12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20" name="Freeform 12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1521" name="Rectangle 12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30"/>
            <p:cNvGrpSpPr>
              <a:grpSpLocks/>
            </p:cNvGrpSpPr>
            <p:nvPr/>
          </p:nvGrpSpPr>
          <p:grpSpPr bwMode="auto">
            <a:xfrm>
              <a:off x="2031" y="1248"/>
              <a:ext cx="296" cy="289"/>
              <a:chOff x="1751" y="1509"/>
              <a:chExt cx="296" cy="289"/>
            </a:xfrm>
          </p:grpSpPr>
          <p:sp>
            <p:nvSpPr>
              <p:cNvPr id="1211523" name="Freeform 13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24" name="Freeform 13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25" name="Line 13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1526" name="Freeform 13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27" name="Line 13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1528" name="Rectangle 136"/>
            <p:cNvSpPr>
              <a:spLocks noChangeArrowheads="1"/>
            </p:cNvSpPr>
            <p:nvPr/>
          </p:nvSpPr>
          <p:spPr bwMode="auto">
            <a:xfrm>
              <a:off x="2829" y="1250"/>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nvGrpSpPr>
            <p:cNvPr id="28" name="Group 137"/>
            <p:cNvGrpSpPr>
              <a:grpSpLocks/>
            </p:cNvGrpSpPr>
            <p:nvPr/>
          </p:nvGrpSpPr>
          <p:grpSpPr bwMode="auto">
            <a:xfrm>
              <a:off x="2880" y="1248"/>
              <a:ext cx="325" cy="289"/>
              <a:chOff x="2600" y="1509"/>
              <a:chExt cx="325" cy="289"/>
            </a:xfrm>
          </p:grpSpPr>
          <p:sp>
            <p:nvSpPr>
              <p:cNvPr id="1211530" name="Freeform 13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31" name="Freeform 13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32" name="Rectangle 14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41"/>
            <p:cNvGrpSpPr>
              <a:grpSpLocks/>
            </p:cNvGrpSpPr>
            <p:nvPr/>
          </p:nvGrpSpPr>
          <p:grpSpPr bwMode="auto">
            <a:xfrm>
              <a:off x="3348" y="1248"/>
              <a:ext cx="284" cy="289"/>
              <a:chOff x="3068" y="1509"/>
              <a:chExt cx="284" cy="289"/>
            </a:xfrm>
          </p:grpSpPr>
          <p:sp>
            <p:nvSpPr>
              <p:cNvPr id="1211534" name="Freeform 14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35" name="Freeform 14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36" name="Line 14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1537" name="Line 14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1538" name="Line 14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1539" name="Line 14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1540" name="Line 14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1541" name="Line 14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1542" name="Line 15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1543" name="Line 15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1544" name="Line 15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30" name="Group 153"/>
          <p:cNvGrpSpPr>
            <a:grpSpLocks/>
          </p:cNvGrpSpPr>
          <p:nvPr/>
        </p:nvGrpSpPr>
        <p:grpSpPr bwMode="auto">
          <a:xfrm>
            <a:off x="4683125" y="4905356"/>
            <a:ext cx="3473450" cy="838200"/>
            <a:chOff x="1488" y="1152"/>
            <a:chExt cx="2188" cy="528"/>
          </a:xfrm>
        </p:grpSpPr>
        <p:grpSp>
          <p:nvGrpSpPr>
            <p:cNvPr id="31" name="Group 154"/>
            <p:cNvGrpSpPr>
              <a:grpSpLocks/>
            </p:cNvGrpSpPr>
            <p:nvPr/>
          </p:nvGrpSpPr>
          <p:grpSpPr bwMode="auto">
            <a:xfrm>
              <a:off x="2487" y="1152"/>
              <a:ext cx="223" cy="481"/>
              <a:chOff x="2207" y="1413"/>
              <a:chExt cx="223" cy="481"/>
            </a:xfrm>
          </p:grpSpPr>
          <p:sp>
            <p:nvSpPr>
              <p:cNvPr id="1211547" name="Freeform 15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48" name="Rectangle 15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11392" name="Group 157"/>
            <p:cNvGrpSpPr>
              <a:grpSpLocks/>
            </p:cNvGrpSpPr>
            <p:nvPr/>
          </p:nvGrpSpPr>
          <p:grpSpPr bwMode="auto">
            <a:xfrm>
              <a:off x="1488" y="1248"/>
              <a:ext cx="423" cy="289"/>
              <a:chOff x="1208" y="1509"/>
              <a:chExt cx="423" cy="289"/>
            </a:xfrm>
          </p:grpSpPr>
          <p:sp>
            <p:nvSpPr>
              <p:cNvPr id="1211550" name="Rectangle 158"/>
              <p:cNvSpPr>
                <a:spLocks noChangeArrowheads="1"/>
              </p:cNvSpPr>
              <p:nvPr/>
            </p:nvSpPr>
            <p:spPr bwMode="auto">
              <a:xfrm>
                <a:off x="1208" y="1511"/>
                <a:ext cx="406"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Mem</a:t>
                </a:r>
              </a:p>
            </p:txBody>
          </p:sp>
          <p:grpSp>
            <p:nvGrpSpPr>
              <p:cNvPr id="1211393" name="Group 159"/>
              <p:cNvGrpSpPr>
                <a:grpSpLocks/>
              </p:cNvGrpSpPr>
              <p:nvPr/>
            </p:nvGrpSpPr>
            <p:grpSpPr bwMode="auto">
              <a:xfrm>
                <a:off x="1291" y="1509"/>
                <a:ext cx="340" cy="289"/>
                <a:chOff x="1291" y="1509"/>
                <a:chExt cx="340" cy="289"/>
              </a:xfrm>
            </p:grpSpPr>
            <p:sp>
              <p:nvSpPr>
                <p:cNvPr id="1211552" name="Freeform 16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53" name="Freeform 16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1554" name="Rectangle 16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11413" name="Group 163"/>
            <p:cNvGrpSpPr>
              <a:grpSpLocks/>
            </p:cNvGrpSpPr>
            <p:nvPr/>
          </p:nvGrpSpPr>
          <p:grpSpPr bwMode="auto">
            <a:xfrm>
              <a:off x="2031" y="1248"/>
              <a:ext cx="296" cy="289"/>
              <a:chOff x="1751" y="1509"/>
              <a:chExt cx="296" cy="289"/>
            </a:xfrm>
          </p:grpSpPr>
          <p:sp>
            <p:nvSpPr>
              <p:cNvPr id="1211556" name="Freeform 16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57" name="Freeform 16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58" name="Line 16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1559" name="Freeform 16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60" name="Line 16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1561" name="Rectangle 169"/>
            <p:cNvSpPr>
              <a:spLocks noChangeArrowheads="1"/>
            </p:cNvSpPr>
            <p:nvPr/>
          </p:nvSpPr>
          <p:spPr bwMode="auto">
            <a:xfrm>
              <a:off x="2829" y="1250"/>
              <a:ext cx="40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Mem</a:t>
              </a:r>
            </a:p>
          </p:txBody>
        </p:sp>
        <p:grpSp>
          <p:nvGrpSpPr>
            <p:cNvPr id="1211414" name="Group 170"/>
            <p:cNvGrpSpPr>
              <a:grpSpLocks/>
            </p:cNvGrpSpPr>
            <p:nvPr/>
          </p:nvGrpSpPr>
          <p:grpSpPr bwMode="auto">
            <a:xfrm>
              <a:off x="2880" y="1248"/>
              <a:ext cx="325" cy="289"/>
              <a:chOff x="2600" y="1509"/>
              <a:chExt cx="325" cy="289"/>
            </a:xfrm>
          </p:grpSpPr>
          <p:sp>
            <p:nvSpPr>
              <p:cNvPr id="1211563" name="Freeform 17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64" name="Freeform 17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65" name="Rectangle 17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11417" name="Group 174"/>
            <p:cNvGrpSpPr>
              <a:grpSpLocks/>
            </p:cNvGrpSpPr>
            <p:nvPr/>
          </p:nvGrpSpPr>
          <p:grpSpPr bwMode="auto">
            <a:xfrm>
              <a:off x="3348" y="1248"/>
              <a:ext cx="284" cy="289"/>
              <a:chOff x="3068" y="1509"/>
              <a:chExt cx="284" cy="289"/>
            </a:xfrm>
          </p:grpSpPr>
          <p:sp>
            <p:nvSpPr>
              <p:cNvPr id="1211567" name="Freeform 17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1568" name="Freeform 17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1569" name="Line 17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1570" name="Line 17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1571" name="Line 17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1572" name="Line 18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1573" name="Line 18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1574" name="Line 18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1575" name="Line 18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1576" name="Line 18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1577" name="Line 18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11578" name="Rectangle 186"/>
          <p:cNvSpPr>
            <a:spLocks noGrp="1" noChangeArrowheads="1"/>
          </p:cNvSpPr>
          <p:nvPr>
            <p:ph type="title"/>
          </p:nvPr>
        </p:nvSpPr>
        <p:spPr>
          <a:xfrm>
            <a:off x="533400" y="304800"/>
            <a:ext cx="8382000" cy="422275"/>
          </a:xfrm>
          <a:noFill/>
          <a:ln/>
        </p:spPr>
        <p:txBody>
          <a:bodyPr/>
          <a:lstStyle/>
          <a:p>
            <a:r>
              <a:rPr lang="en-US"/>
              <a:t>A Single Memory Would Be a Structural Hazard</a:t>
            </a:r>
          </a:p>
        </p:txBody>
      </p:sp>
      <p:grpSp>
        <p:nvGrpSpPr>
          <p:cNvPr id="1211419" name="Group 187"/>
          <p:cNvGrpSpPr>
            <a:grpSpLocks/>
          </p:cNvGrpSpPr>
          <p:nvPr/>
        </p:nvGrpSpPr>
        <p:grpSpPr bwMode="auto">
          <a:xfrm>
            <a:off x="4381500" y="1476356"/>
            <a:ext cx="4076700" cy="698500"/>
            <a:chOff x="2760" y="1008"/>
            <a:chExt cx="2568" cy="440"/>
          </a:xfrm>
        </p:grpSpPr>
        <p:sp>
          <p:nvSpPr>
            <p:cNvPr id="1211580" name="Rectangle 188"/>
            <p:cNvSpPr>
              <a:spLocks noChangeArrowheads="1"/>
            </p:cNvSpPr>
            <p:nvPr/>
          </p:nvSpPr>
          <p:spPr bwMode="auto">
            <a:xfrm>
              <a:off x="3792" y="1008"/>
              <a:ext cx="1536" cy="440"/>
            </a:xfrm>
            <a:prstGeom prst="rect">
              <a:avLst/>
            </a:prstGeom>
            <a:noFill/>
            <a:ln w="12700">
              <a:noFill/>
              <a:miter lim="800000"/>
              <a:headEnd/>
              <a:tailEnd/>
            </a:ln>
            <a:effectLst/>
          </p:spPr>
          <p:txBody>
            <a:bodyPr lIns="90488" tIns="44450" rIns="90488" bIns="44450">
              <a:spAutoFit/>
            </a:bodyPr>
            <a:lstStyle/>
            <a:p>
              <a:r>
                <a:rPr lang="en-US" sz="2000"/>
                <a:t>Reading data from memory</a:t>
              </a:r>
            </a:p>
          </p:txBody>
        </p:sp>
        <p:cxnSp>
          <p:nvCxnSpPr>
            <p:cNvPr id="1211581" name="AutoShape 189"/>
            <p:cNvCxnSpPr>
              <a:cxnSpLocks noChangeShapeType="1"/>
              <a:stCxn id="1211580" idx="1"/>
              <a:endCxn id="1211395" idx="0"/>
            </p:cNvCxnSpPr>
            <p:nvPr/>
          </p:nvCxnSpPr>
          <p:spPr bwMode="auto">
            <a:xfrm rot="10800000">
              <a:off x="2760" y="1107"/>
              <a:ext cx="1032" cy="121"/>
            </a:xfrm>
            <a:prstGeom prst="curvedConnector4">
              <a:avLst>
                <a:gd name="adj1" fmla="val 41860"/>
                <a:gd name="adj2" fmla="val 219008"/>
              </a:avLst>
            </a:prstGeom>
            <a:noFill/>
            <a:ln w="12700">
              <a:solidFill>
                <a:schemeClr val="accent1"/>
              </a:solidFill>
              <a:round/>
              <a:headEnd/>
              <a:tailEnd type="triangle" w="med" len="med"/>
            </a:ln>
            <a:effectLst/>
          </p:spPr>
        </p:cxnSp>
      </p:grpSp>
      <p:grpSp>
        <p:nvGrpSpPr>
          <p:cNvPr id="1211423" name="Group 190"/>
          <p:cNvGrpSpPr>
            <a:grpSpLocks/>
          </p:cNvGrpSpPr>
          <p:nvPr/>
        </p:nvGrpSpPr>
        <p:grpSpPr bwMode="auto">
          <a:xfrm>
            <a:off x="2057400" y="4148120"/>
            <a:ext cx="2438400" cy="1684338"/>
            <a:chOff x="1296" y="2691"/>
            <a:chExt cx="1536" cy="1061"/>
          </a:xfrm>
        </p:grpSpPr>
        <p:sp>
          <p:nvSpPr>
            <p:cNvPr id="1211583" name="Rectangle 191"/>
            <p:cNvSpPr>
              <a:spLocks noChangeArrowheads="1"/>
            </p:cNvSpPr>
            <p:nvPr/>
          </p:nvSpPr>
          <p:spPr bwMode="auto">
            <a:xfrm>
              <a:off x="1296" y="3312"/>
              <a:ext cx="1536" cy="440"/>
            </a:xfrm>
            <a:prstGeom prst="rect">
              <a:avLst/>
            </a:prstGeom>
            <a:noFill/>
            <a:ln w="12700">
              <a:noFill/>
              <a:miter lim="800000"/>
              <a:headEnd/>
              <a:tailEnd/>
            </a:ln>
            <a:effectLst/>
          </p:spPr>
          <p:txBody>
            <a:bodyPr lIns="90488" tIns="44450" rIns="90488" bIns="44450">
              <a:spAutoFit/>
            </a:bodyPr>
            <a:lstStyle/>
            <a:p>
              <a:r>
                <a:rPr lang="en-US" sz="2000"/>
                <a:t>Reading instruction from memory</a:t>
              </a:r>
            </a:p>
          </p:txBody>
        </p:sp>
        <p:cxnSp>
          <p:nvCxnSpPr>
            <p:cNvPr id="1211584" name="AutoShape 192"/>
            <p:cNvCxnSpPr>
              <a:cxnSpLocks noChangeShapeType="1"/>
              <a:stCxn id="1211583" idx="0"/>
              <a:endCxn id="1211519" idx="2"/>
            </p:cNvCxnSpPr>
            <p:nvPr/>
          </p:nvCxnSpPr>
          <p:spPr bwMode="auto">
            <a:xfrm rot="5400000" flipH="1" flipV="1">
              <a:off x="2022" y="2733"/>
              <a:ext cx="621" cy="537"/>
            </a:xfrm>
            <a:prstGeom prst="curvedConnector4">
              <a:avLst>
                <a:gd name="adj1" fmla="val 26739"/>
                <a:gd name="adj2" fmla="val 126816"/>
              </a:avLst>
            </a:prstGeom>
            <a:noFill/>
            <a:ln w="12700">
              <a:solidFill>
                <a:schemeClr val="accent1"/>
              </a:solidFill>
              <a:round/>
              <a:headEnd/>
              <a:tailEnd type="triangle" w="med" len="med"/>
            </a:ln>
            <a:effectLst/>
          </p:spPr>
        </p:cxnSp>
      </p:grpSp>
      <p:sp>
        <p:nvSpPr>
          <p:cNvPr id="1211585" name="Rectangle 193"/>
          <p:cNvSpPr>
            <a:spLocks noChangeArrowheads="1"/>
          </p:cNvSpPr>
          <p:nvPr/>
        </p:nvSpPr>
        <p:spPr bwMode="auto">
          <a:xfrm>
            <a:off x="685800" y="6097588"/>
            <a:ext cx="7848600" cy="379412"/>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a:solidFill>
                  <a:schemeClr val="tx1"/>
                </a:solidFill>
              </a:rPr>
              <a:t>Fix with separate instr and data memories (I$ and D$)</a:t>
            </a:r>
          </a:p>
        </p:txBody>
      </p:sp>
    </p:spTree>
    <p:extLst>
      <p:ext uri="{BB962C8B-B14F-4D97-AF65-F5344CB8AC3E}">
        <p14:creationId xmlns:p14="http://schemas.microsoft.com/office/powerpoint/2010/main" val="14036907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139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14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139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114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1158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4" grpId="0" animBg="1"/>
      <p:bldP spid="1211395" grpId="0" animBg="1"/>
      <p:bldP spid="1211585"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5330" name="Rectangle 2"/>
          <p:cNvSpPr>
            <a:spLocks noChangeArrowheads="1"/>
          </p:cNvSpPr>
          <p:nvPr/>
        </p:nvSpPr>
        <p:spPr bwMode="auto">
          <a:xfrm>
            <a:off x="5026025" y="4343400"/>
            <a:ext cx="457200" cy="457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995331" name="Rectangle 3"/>
          <p:cNvSpPr>
            <a:spLocks noChangeArrowheads="1"/>
          </p:cNvSpPr>
          <p:nvPr/>
        </p:nvSpPr>
        <p:spPr bwMode="auto">
          <a:xfrm>
            <a:off x="5026025" y="1828800"/>
            <a:ext cx="457200" cy="457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995332" name="Rectangle 4"/>
          <p:cNvSpPr>
            <a:spLocks noGrp="1" noChangeArrowheads="1"/>
          </p:cNvSpPr>
          <p:nvPr>
            <p:ph type="title"/>
          </p:nvPr>
        </p:nvSpPr>
        <p:spPr>
          <a:xfrm>
            <a:off x="642910" y="285728"/>
            <a:ext cx="5805488" cy="422275"/>
          </a:xfrm>
          <a:noFill/>
          <a:ln/>
        </p:spPr>
        <p:txBody>
          <a:bodyPr wrap="none"/>
          <a:lstStyle/>
          <a:p>
            <a:r>
              <a:rPr lang="en-US" dirty="0"/>
              <a:t>How About Register File Access?</a:t>
            </a:r>
          </a:p>
        </p:txBody>
      </p:sp>
      <p:sp>
        <p:nvSpPr>
          <p:cNvPr id="995333" name="Rectangle 5"/>
          <p:cNvSpPr>
            <a:spLocks noChangeArrowheads="1"/>
          </p:cNvSpPr>
          <p:nvPr/>
        </p:nvSpPr>
        <p:spPr bwMode="auto">
          <a:xfrm>
            <a:off x="328613" y="1906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995334" name="Line 6"/>
          <p:cNvSpPr>
            <a:spLocks noChangeShapeType="1"/>
          </p:cNvSpPr>
          <p:nvPr/>
        </p:nvSpPr>
        <p:spPr bwMode="auto">
          <a:xfrm>
            <a:off x="1597025" y="13001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995335" name="Rectangle 7"/>
          <p:cNvSpPr>
            <a:spLocks noChangeArrowheads="1"/>
          </p:cNvSpPr>
          <p:nvPr/>
        </p:nvSpPr>
        <p:spPr bwMode="auto">
          <a:xfrm>
            <a:off x="3730625" y="838200"/>
            <a:ext cx="2124075" cy="363538"/>
          </a:xfrm>
          <a:prstGeom prst="rect">
            <a:avLst/>
          </a:prstGeom>
          <a:noFill/>
          <a:ln w="12700">
            <a:noFill/>
            <a:miter lim="800000"/>
            <a:headEnd/>
            <a:tailEnd/>
          </a:ln>
          <a:effectLst/>
        </p:spPr>
        <p:txBody>
          <a:bodyPr wrap="none" lIns="90488" tIns="44450" rIns="90488" bIns="44450">
            <a:spAutoFit/>
          </a:bodyPr>
          <a:lstStyle/>
          <a:p>
            <a:r>
              <a:rPr lang="en-US" i="1">
                <a:solidFill>
                  <a:schemeClr val="tx1"/>
                </a:solidFill>
              </a:rPr>
              <a:t>Time (clock cycles)</a:t>
            </a:r>
          </a:p>
        </p:txBody>
      </p:sp>
      <p:sp>
        <p:nvSpPr>
          <p:cNvPr id="995336" name="Rectangle 8"/>
          <p:cNvSpPr>
            <a:spLocks noChangeArrowheads="1"/>
          </p:cNvSpPr>
          <p:nvPr/>
        </p:nvSpPr>
        <p:spPr bwMode="auto">
          <a:xfrm>
            <a:off x="762000" y="1752600"/>
            <a:ext cx="145891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995337" name="Rectangle 9"/>
          <p:cNvSpPr>
            <a:spLocks noChangeArrowheads="1"/>
          </p:cNvSpPr>
          <p:nvPr/>
        </p:nvSpPr>
        <p:spPr bwMode="auto">
          <a:xfrm>
            <a:off x="762000" y="2590800"/>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1</a:t>
            </a:r>
          </a:p>
        </p:txBody>
      </p:sp>
      <p:sp>
        <p:nvSpPr>
          <p:cNvPr id="995338" name="Rectangle 10"/>
          <p:cNvSpPr>
            <a:spLocks noChangeArrowheads="1"/>
          </p:cNvSpPr>
          <p:nvPr/>
        </p:nvSpPr>
        <p:spPr bwMode="auto">
          <a:xfrm>
            <a:off x="762000" y="3471863"/>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2</a:t>
            </a:r>
          </a:p>
        </p:txBody>
      </p:sp>
      <p:sp>
        <p:nvSpPr>
          <p:cNvPr id="995339" name="Line 11"/>
          <p:cNvSpPr>
            <a:spLocks noChangeShapeType="1"/>
          </p:cNvSpPr>
          <p:nvPr/>
        </p:nvSpPr>
        <p:spPr bwMode="auto">
          <a:xfrm>
            <a:off x="27781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0" name="Line 12"/>
          <p:cNvSpPr>
            <a:spLocks noChangeShapeType="1"/>
          </p:cNvSpPr>
          <p:nvPr/>
        </p:nvSpPr>
        <p:spPr bwMode="auto">
          <a:xfrm>
            <a:off x="34639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1" name="Line 13"/>
          <p:cNvSpPr>
            <a:spLocks noChangeShapeType="1"/>
          </p:cNvSpPr>
          <p:nvPr/>
        </p:nvSpPr>
        <p:spPr bwMode="auto">
          <a:xfrm>
            <a:off x="41497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2" name="Line 14"/>
          <p:cNvSpPr>
            <a:spLocks noChangeShapeType="1"/>
          </p:cNvSpPr>
          <p:nvPr/>
        </p:nvSpPr>
        <p:spPr bwMode="auto">
          <a:xfrm>
            <a:off x="48355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3" name="Line 15"/>
          <p:cNvSpPr>
            <a:spLocks noChangeShapeType="1"/>
          </p:cNvSpPr>
          <p:nvPr/>
        </p:nvSpPr>
        <p:spPr bwMode="auto">
          <a:xfrm>
            <a:off x="55213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4" name="Line 16"/>
          <p:cNvSpPr>
            <a:spLocks noChangeShapeType="1"/>
          </p:cNvSpPr>
          <p:nvPr/>
        </p:nvSpPr>
        <p:spPr bwMode="auto">
          <a:xfrm>
            <a:off x="62071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5" name="Line 17"/>
          <p:cNvSpPr>
            <a:spLocks noChangeShapeType="1"/>
          </p:cNvSpPr>
          <p:nvPr/>
        </p:nvSpPr>
        <p:spPr bwMode="auto">
          <a:xfrm>
            <a:off x="68929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6" name="Line 18"/>
          <p:cNvSpPr>
            <a:spLocks noChangeShapeType="1"/>
          </p:cNvSpPr>
          <p:nvPr/>
        </p:nvSpPr>
        <p:spPr bwMode="auto">
          <a:xfrm>
            <a:off x="7578725"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995347" name="Rectangle 19"/>
          <p:cNvSpPr>
            <a:spLocks noChangeArrowheads="1"/>
          </p:cNvSpPr>
          <p:nvPr/>
        </p:nvSpPr>
        <p:spPr bwMode="auto">
          <a:xfrm>
            <a:off x="762000" y="4310063"/>
            <a:ext cx="2006600"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$2,</a:t>
            </a:r>
            <a:r>
              <a:rPr lang="en-US" sz="2400" b="1">
                <a:latin typeface="Courier New" pitchFamily="49" charset="0"/>
              </a:rPr>
              <a:t>$1</a:t>
            </a:r>
            <a:r>
              <a:rPr lang="en-US" sz="2400" b="1">
                <a:solidFill>
                  <a:schemeClr val="tx1"/>
                </a:solidFill>
                <a:latin typeface="Courier New" pitchFamily="49" charset="0"/>
              </a:rPr>
              <a:t>,</a:t>
            </a:r>
          </a:p>
        </p:txBody>
      </p:sp>
      <p:sp>
        <p:nvSpPr>
          <p:cNvPr id="995348" name="Line 20"/>
          <p:cNvSpPr>
            <a:spLocks noChangeShapeType="1"/>
          </p:cNvSpPr>
          <p:nvPr/>
        </p:nvSpPr>
        <p:spPr bwMode="auto">
          <a:xfrm>
            <a:off x="685800" y="18288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2" name="Group 21"/>
          <p:cNvGrpSpPr>
            <a:grpSpLocks/>
          </p:cNvGrpSpPr>
          <p:nvPr/>
        </p:nvGrpSpPr>
        <p:grpSpPr bwMode="auto">
          <a:xfrm>
            <a:off x="2206625" y="1676400"/>
            <a:ext cx="3355975" cy="838200"/>
            <a:chOff x="1562" y="1152"/>
            <a:chExt cx="2114" cy="528"/>
          </a:xfrm>
        </p:grpSpPr>
        <p:grpSp>
          <p:nvGrpSpPr>
            <p:cNvPr id="3" name="Group 22"/>
            <p:cNvGrpSpPr>
              <a:grpSpLocks/>
            </p:cNvGrpSpPr>
            <p:nvPr/>
          </p:nvGrpSpPr>
          <p:grpSpPr bwMode="auto">
            <a:xfrm>
              <a:off x="2487" y="1152"/>
              <a:ext cx="223" cy="481"/>
              <a:chOff x="2207" y="1413"/>
              <a:chExt cx="223" cy="481"/>
            </a:xfrm>
          </p:grpSpPr>
          <p:sp>
            <p:nvSpPr>
              <p:cNvPr id="995351" name="Freeform 2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52" name="Rectangle 2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25"/>
            <p:cNvGrpSpPr>
              <a:grpSpLocks/>
            </p:cNvGrpSpPr>
            <p:nvPr/>
          </p:nvGrpSpPr>
          <p:grpSpPr bwMode="auto">
            <a:xfrm>
              <a:off x="1562" y="1248"/>
              <a:ext cx="349" cy="289"/>
              <a:chOff x="1282" y="1509"/>
              <a:chExt cx="349" cy="289"/>
            </a:xfrm>
          </p:grpSpPr>
          <p:sp>
            <p:nvSpPr>
              <p:cNvPr id="995354" name="Rectangle 26"/>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5" name="Group 27"/>
              <p:cNvGrpSpPr>
                <a:grpSpLocks/>
              </p:cNvGrpSpPr>
              <p:nvPr/>
            </p:nvGrpSpPr>
            <p:grpSpPr bwMode="auto">
              <a:xfrm>
                <a:off x="1291" y="1509"/>
                <a:ext cx="340" cy="289"/>
                <a:chOff x="1291" y="1509"/>
                <a:chExt cx="340" cy="289"/>
              </a:xfrm>
            </p:grpSpPr>
            <p:sp>
              <p:nvSpPr>
                <p:cNvPr id="995356" name="Freeform 2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57" name="Freeform 2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995358" name="Rectangle 3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31"/>
            <p:cNvGrpSpPr>
              <a:grpSpLocks/>
            </p:cNvGrpSpPr>
            <p:nvPr/>
          </p:nvGrpSpPr>
          <p:grpSpPr bwMode="auto">
            <a:xfrm>
              <a:off x="2031" y="1248"/>
              <a:ext cx="296" cy="289"/>
              <a:chOff x="1751" y="1509"/>
              <a:chExt cx="296" cy="289"/>
            </a:xfrm>
          </p:grpSpPr>
          <p:sp>
            <p:nvSpPr>
              <p:cNvPr id="995360" name="Freeform 3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61" name="Freeform 3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362" name="Line 3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995363" name="Freeform 3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64" name="Line 3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995365" name="Rectangle 37"/>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7" name="Group 38"/>
            <p:cNvGrpSpPr>
              <a:grpSpLocks/>
            </p:cNvGrpSpPr>
            <p:nvPr/>
          </p:nvGrpSpPr>
          <p:grpSpPr bwMode="auto">
            <a:xfrm>
              <a:off x="2880" y="1248"/>
              <a:ext cx="325" cy="289"/>
              <a:chOff x="2600" y="1509"/>
              <a:chExt cx="325" cy="289"/>
            </a:xfrm>
          </p:grpSpPr>
          <p:sp>
            <p:nvSpPr>
              <p:cNvPr id="995367" name="Freeform 3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68" name="Freeform 4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369" name="Rectangle 4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2"/>
            <p:cNvGrpSpPr>
              <a:grpSpLocks/>
            </p:cNvGrpSpPr>
            <p:nvPr/>
          </p:nvGrpSpPr>
          <p:grpSpPr bwMode="auto">
            <a:xfrm>
              <a:off x="3348" y="1248"/>
              <a:ext cx="284" cy="289"/>
              <a:chOff x="3068" y="1509"/>
              <a:chExt cx="284" cy="289"/>
            </a:xfrm>
          </p:grpSpPr>
          <p:sp>
            <p:nvSpPr>
              <p:cNvPr id="995371" name="Freeform 4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72" name="Freeform 4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373" name="Line 4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995374" name="Line 4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995375" name="Line 4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995376" name="Line 4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995377" name="Line 4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995378" name="Line 5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995379" name="Line 5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995380" name="Line 5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995381" name="Line 5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9" name="Group 54"/>
          <p:cNvGrpSpPr>
            <a:grpSpLocks/>
          </p:cNvGrpSpPr>
          <p:nvPr/>
        </p:nvGrpSpPr>
        <p:grpSpPr bwMode="auto">
          <a:xfrm>
            <a:off x="2892425" y="2514600"/>
            <a:ext cx="3355975" cy="838200"/>
            <a:chOff x="1562" y="1152"/>
            <a:chExt cx="2114" cy="528"/>
          </a:xfrm>
        </p:grpSpPr>
        <p:grpSp>
          <p:nvGrpSpPr>
            <p:cNvPr id="10" name="Group 55"/>
            <p:cNvGrpSpPr>
              <a:grpSpLocks/>
            </p:cNvGrpSpPr>
            <p:nvPr/>
          </p:nvGrpSpPr>
          <p:grpSpPr bwMode="auto">
            <a:xfrm>
              <a:off x="2487" y="1152"/>
              <a:ext cx="223" cy="481"/>
              <a:chOff x="2207" y="1413"/>
              <a:chExt cx="223" cy="481"/>
            </a:xfrm>
          </p:grpSpPr>
          <p:sp>
            <p:nvSpPr>
              <p:cNvPr id="995384" name="Freeform 56"/>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85" name="Rectangle 57"/>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1" name="Group 58"/>
            <p:cNvGrpSpPr>
              <a:grpSpLocks/>
            </p:cNvGrpSpPr>
            <p:nvPr/>
          </p:nvGrpSpPr>
          <p:grpSpPr bwMode="auto">
            <a:xfrm>
              <a:off x="1562" y="1248"/>
              <a:ext cx="349" cy="289"/>
              <a:chOff x="1282" y="1509"/>
              <a:chExt cx="349" cy="289"/>
            </a:xfrm>
          </p:grpSpPr>
          <p:sp>
            <p:nvSpPr>
              <p:cNvPr id="995387" name="Rectangle 59"/>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 name="Group 60"/>
              <p:cNvGrpSpPr>
                <a:grpSpLocks/>
              </p:cNvGrpSpPr>
              <p:nvPr/>
            </p:nvGrpSpPr>
            <p:grpSpPr bwMode="auto">
              <a:xfrm>
                <a:off x="1291" y="1509"/>
                <a:ext cx="340" cy="289"/>
                <a:chOff x="1291" y="1509"/>
                <a:chExt cx="340" cy="289"/>
              </a:xfrm>
            </p:grpSpPr>
            <p:sp>
              <p:nvSpPr>
                <p:cNvPr id="995389" name="Freeform 61"/>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90" name="Freeform 62"/>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995391" name="Rectangle 63"/>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64"/>
            <p:cNvGrpSpPr>
              <a:grpSpLocks/>
            </p:cNvGrpSpPr>
            <p:nvPr/>
          </p:nvGrpSpPr>
          <p:grpSpPr bwMode="auto">
            <a:xfrm>
              <a:off x="2031" y="1248"/>
              <a:ext cx="296" cy="289"/>
              <a:chOff x="1751" y="1509"/>
              <a:chExt cx="296" cy="289"/>
            </a:xfrm>
          </p:grpSpPr>
          <p:sp>
            <p:nvSpPr>
              <p:cNvPr id="995393" name="Freeform 65"/>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94" name="Freeform 66"/>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395" name="Line 67"/>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995396" name="Freeform 68"/>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397" name="Line 69"/>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995398" name="Rectangle 70"/>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4" name="Group 71"/>
            <p:cNvGrpSpPr>
              <a:grpSpLocks/>
            </p:cNvGrpSpPr>
            <p:nvPr/>
          </p:nvGrpSpPr>
          <p:grpSpPr bwMode="auto">
            <a:xfrm>
              <a:off x="2880" y="1248"/>
              <a:ext cx="325" cy="289"/>
              <a:chOff x="2600" y="1509"/>
              <a:chExt cx="325" cy="289"/>
            </a:xfrm>
          </p:grpSpPr>
          <p:sp>
            <p:nvSpPr>
              <p:cNvPr id="995400" name="Freeform 72"/>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01" name="Freeform 73"/>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02" name="Rectangle 74"/>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5"/>
            <p:cNvGrpSpPr>
              <a:grpSpLocks/>
            </p:cNvGrpSpPr>
            <p:nvPr/>
          </p:nvGrpSpPr>
          <p:grpSpPr bwMode="auto">
            <a:xfrm>
              <a:off x="3348" y="1248"/>
              <a:ext cx="284" cy="289"/>
              <a:chOff x="3068" y="1509"/>
              <a:chExt cx="284" cy="289"/>
            </a:xfrm>
          </p:grpSpPr>
          <p:sp>
            <p:nvSpPr>
              <p:cNvPr id="995404" name="Freeform 76"/>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05" name="Freeform 77"/>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06" name="Line 78"/>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995407" name="Line 79"/>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995408" name="Line 80"/>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995409" name="Line 81"/>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995410" name="Line 82"/>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995411" name="Line 83"/>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995412" name="Line 84"/>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995413" name="Line 85"/>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995414" name="Line 86"/>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6" name="Group 87"/>
          <p:cNvGrpSpPr>
            <a:grpSpLocks/>
          </p:cNvGrpSpPr>
          <p:nvPr/>
        </p:nvGrpSpPr>
        <p:grpSpPr bwMode="auto">
          <a:xfrm>
            <a:off x="3578225" y="3352800"/>
            <a:ext cx="3355975" cy="838200"/>
            <a:chOff x="1562" y="1152"/>
            <a:chExt cx="2114" cy="528"/>
          </a:xfrm>
        </p:grpSpPr>
        <p:grpSp>
          <p:nvGrpSpPr>
            <p:cNvPr id="17" name="Group 88"/>
            <p:cNvGrpSpPr>
              <a:grpSpLocks/>
            </p:cNvGrpSpPr>
            <p:nvPr/>
          </p:nvGrpSpPr>
          <p:grpSpPr bwMode="auto">
            <a:xfrm>
              <a:off x="2487" y="1152"/>
              <a:ext cx="223" cy="481"/>
              <a:chOff x="2207" y="1413"/>
              <a:chExt cx="223" cy="481"/>
            </a:xfrm>
          </p:grpSpPr>
          <p:sp>
            <p:nvSpPr>
              <p:cNvPr id="995417" name="Freeform 8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18" name="Rectangle 9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8" name="Group 91"/>
            <p:cNvGrpSpPr>
              <a:grpSpLocks/>
            </p:cNvGrpSpPr>
            <p:nvPr/>
          </p:nvGrpSpPr>
          <p:grpSpPr bwMode="auto">
            <a:xfrm>
              <a:off x="1562" y="1248"/>
              <a:ext cx="349" cy="289"/>
              <a:chOff x="1282" y="1509"/>
              <a:chExt cx="349" cy="289"/>
            </a:xfrm>
          </p:grpSpPr>
          <p:sp>
            <p:nvSpPr>
              <p:cNvPr id="995420" name="Rectangle 9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9" name="Group 93"/>
              <p:cNvGrpSpPr>
                <a:grpSpLocks/>
              </p:cNvGrpSpPr>
              <p:nvPr/>
            </p:nvGrpSpPr>
            <p:grpSpPr bwMode="auto">
              <a:xfrm>
                <a:off x="1291" y="1509"/>
                <a:ext cx="340" cy="289"/>
                <a:chOff x="1291" y="1509"/>
                <a:chExt cx="340" cy="289"/>
              </a:xfrm>
            </p:grpSpPr>
            <p:sp>
              <p:nvSpPr>
                <p:cNvPr id="995422" name="Freeform 9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23" name="Freeform 9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995424" name="Rectangle 9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97"/>
            <p:cNvGrpSpPr>
              <a:grpSpLocks/>
            </p:cNvGrpSpPr>
            <p:nvPr/>
          </p:nvGrpSpPr>
          <p:grpSpPr bwMode="auto">
            <a:xfrm>
              <a:off x="2031" y="1248"/>
              <a:ext cx="296" cy="289"/>
              <a:chOff x="1751" y="1509"/>
              <a:chExt cx="296" cy="289"/>
            </a:xfrm>
          </p:grpSpPr>
          <p:sp>
            <p:nvSpPr>
              <p:cNvPr id="995426" name="Freeform 9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27" name="Freeform 9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28" name="Line 10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995429" name="Freeform 10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30" name="Line 10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995431" name="Rectangle 10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1" name="Group 104"/>
            <p:cNvGrpSpPr>
              <a:grpSpLocks/>
            </p:cNvGrpSpPr>
            <p:nvPr/>
          </p:nvGrpSpPr>
          <p:grpSpPr bwMode="auto">
            <a:xfrm>
              <a:off x="2880" y="1248"/>
              <a:ext cx="325" cy="289"/>
              <a:chOff x="2600" y="1509"/>
              <a:chExt cx="325" cy="289"/>
            </a:xfrm>
          </p:grpSpPr>
          <p:sp>
            <p:nvSpPr>
              <p:cNvPr id="995433" name="Freeform 10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34" name="Freeform 10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35" name="Rectangle 10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08"/>
            <p:cNvGrpSpPr>
              <a:grpSpLocks/>
            </p:cNvGrpSpPr>
            <p:nvPr/>
          </p:nvGrpSpPr>
          <p:grpSpPr bwMode="auto">
            <a:xfrm>
              <a:off x="3348" y="1248"/>
              <a:ext cx="284" cy="289"/>
              <a:chOff x="3068" y="1509"/>
              <a:chExt cx="284" cy="289"/>
            </a:xfrm>
          </p:grpSpPr>
          <p:sp>
            <p:nvSpPr>
              <p:cNvPr id="995437" name="Freeform 10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38" name="Freeform 11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39" name="Line 11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995440" name="Line 11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995441" name="Line 11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995442" name="Line 11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995443" name="Line 11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995444" name="Line 11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995445" name="Line 11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995446" name="Line 11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995447" name="Line 11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3" name="Group 120"/>
          <p:cNvGrpSpPr>
            <a:grpSpLocks/>
          </p:cNvGrpSpPr>
          <p:nvPr/>
        </p:nvGrpSpPr>
        <p:grpSpPr bwMode="auto">
          <a:xfrm>
            <a:off x="4264025" y="4191000"/>
            <a:ext cx="3355975" cy="838200"/>
            <a:chOff x="1562" y="1152"/>
            <a:chExt cx="2114" cy="528"/>
          </a:xfrm>
        </p:grpSpPr>
        <p:grpSp>
          <p:nvGrpSpPr>
            <p:cNvPr id="24" name="Group 121"/>
            <p:cNvGrpSpPr>
              <a:grpSpLocks/>
            </p:cNvGrpSpPr>
            <p:nvPr/>
          </p:nvGrpSpPr>
          <p:grpSpPr bwMode="auto">
            <a:xfrm>
              <a:off x="2487" y="1152"/>
              <a:ext cx="223" cy="481"/>
              <a:chOff x="2207" y="1413"/>
              <a:chExt cx="223" cy="481"/>
            </a:xfrm>
          </p:grpSpPr>
          <p:sp>
            <p:nvSpPr>
              <p:cNvPr id="995450" name="Freeform 12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51" name="Rectangle 12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5" name="Group 124"/>
            <p:cNvGrpSpPr>
              <a:grpSpLocks/>
            </p:cNvGrpSpPr>
            <p:nvPr/>
          </p:nvGrpSpPr>
          <p:grpSpPr bwMode="auto">
            <a:xfrm>
              <a:off x="1562" y="1248"/>
              <a:ext cx="349" cy="289"/>
              <a:chOff x="1282" y="1509"/>
              <a:chExt cx="349" cy="289"/>
            </a:xfrm>
          </p:grpSpPr>
          <p:sp>
            <p:nvSpPr>
              <p:cNvPr id="995453" name="Rectangle 12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6" name="Group 126"/>
              <p:cNvGrpSpPr>
                <a:grpSpLocks/>
              </p:cNvGrpSpPr>
              <p:nvPr/>
            </p:nvGrpSpPr>
            <p:grpSpPr bwMode="auto">
              <a:xfrm>
                <a:off x="1291" y="1509"/>
                <a:ext cx="340" cy="289"/>
                <a:chOff x="1291" y="1509"/>
                <a:chExt cx="340" cy="289"/>
              </a:xfrm>
            </p:grpSpPr>
            <p:sp>
              <p:nvSpPr>
                <p:cNvPr id="995455" name="Freeform 12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56" name="Freeform 12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995457" name="Rectangle 12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30"/>
            <p:cNvGrpSpPr>
              <a:grpSpLocks/>
            </p:cNvGrpSpPr>
            <p:nvPr/>
          </p:nvGrpSpPr>
          <p:grpSpPr bwMode="auto">
            <a:xfrm>
              <a:off x="2031" y="1248"/>
              <a:ext cx="296" cy="289"/>
              <a:chOff x="1751" y="1509"/>
              <a:chExt cx="296" cy="289"/>
            </a:xfrm>
          </p:grpSpPr>
          <p:sp>
            <p:nvSpPr>
              <p:cNvPr id="995459" name="Freeform 13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60" name="Freeform 13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61" name="Line 13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995462" name="Freeform 13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63" name="Line 13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995464" name="Rectangle 13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8" name="Group 137"/>
            <p:cNvGrpSpPr>
              <a:grpSpLocks/>
            </p:cNvGrpSpPr>
            <p:nvPr/>
          </p:nvGrpSpPr>
          <p:grpSpPr bwMode="auto">
            <a:xfrm>
              <a:off x="2880" y="1248"/>
              <a:ext cx="325" cy="289"/>
              <a:chOff x="2600" y="1509"/>
              <a:chExt cx="325" cy="289"/>
            </a:xfrm>
          </p:grpSpPr>
          <p:sp>
            <p:nvSpPr>
              <p:cNvPr id="995466" name="Freeform 13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67" name="Freeform 13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68" name="Rectangle 14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41"/>
            <p:cNvGrpSpPr>
              <a:grpSpLocks/>
            </p:cNvGrpSpPr>
            <p:nvPr/>
          </p:nvGrpSpPr>
          <p:grpSpPr bwMode="auto">
            <a:xfrm>
              <a:off x="3348" y="1248"/>
              <a:ext cx="284" cy="289"/>
              <a:chOff x="3068" y="1509"/>
              <a:chExt cx="284" cy="289"/>
            </a:xfrm>
          </p:grpSpPr>
          <p:sp>
            <p:nvSpPr>
              <p:cNvPr id="995470" name="Freeform 14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995471" name="Freeform 14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995472" name="Line 14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995473" name="Line 14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995474" name="Line 14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995475" name="Line 14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995476" name="Line 14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995477" name="Line 14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995478" name="Line 15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995479" name="Line 15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995480" name="Line 15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96187378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029200" y="1676400"/>
            <a:ext cx="457200" cy="2971800"/>
            <a:chOff x="3072" y="1152"/>
            <a:chExt cx="288" cy="1872"/>
          </a:xfrm>
        </p:grpSpPr>
        <p:sp>
          <p:nvSpPr>
            <p:cNvPr id="1215491" name="Rectangle 3"/>
            <p:cNvSpPr>
              <a:spLocks noChangeArrowheads="1"/>
            </p:cNvSpPr>
            <p:nvPr/>
          </p:nvSpPr>
          <p:spPr bwMode="auto">
            <a:xfrm>
              <a:off x="3216" y="2736"/>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15492" name="Rectangle 4"/>
            <p:cNvSpPr>
              <a:spLocks noChangeArrowheads="1"/>
            </p:cNvSpPr>
            <p:nvPr/>
          </p:nvSpPr>
          <p:spPr bwMode="auto">
            <a:xfrm>
              <a:off x="3072" y="1152"/>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15493" name="Line 5"/>
            <p:cNvSpPr>
              <a:spLocks noChangeShapeType="1"/>
            </p:cNvSpPr>
            <p:nvPr/>
          </p:nvSpPr>
          <p:spPr bwMode="auto">
            <a:xfrm>
              <a:off x="3216" y="1440"/>
              <a:ext cx="0" cy="1296"/>
            </a:xfrm>
            <a:prstGeom prst="line">
              <a:avLst/>
            </a:prstGeom>
            <a:noFill/>
            <a:ln w="28575">
              <a:solidFill>
                <a:srgbClr val="009900"/>
              </a:solidFill>
              <a:round/>
              <a:headEnd/>
              <a:tailEnd type="triangle" w="med" len="med"/>
            </a:ln>
            <a:effectLst/>
          </p:spPr>
          <p:txBody>
            <a:bodyPr/>
            <a:lstStyle/>
            <a:p>
              <a:endParaRPr lang="en-US"/>
            </a:p>
          </p:txBody>
        </p:sp>
      </p:grpSp>
      <p:sp>
        <p:nvSpPr>
          <p:cNvPr id="1215494" name="Rectangle 6"/>
          <p:cNvSpPr>
            <a:spLocks noGrp="1" noChangeArrowheads="1"/>
          </p:cNvSpPr>
          <p:nvPr>
            <p:ph type="title"/>
          </p:nvPr>
        </p:nvSpPr>
        <p:spPr>
          <a:xfrm>
            <a:off x="652463" y="304800"/>
            <a:ext cx="6030912" cy="422275"/>
          </a:xfrm>
          <a:noFill/>
          <a:ln/>
        </p:spPr>
        <p:txBody>
          <a:bodyPr wrap="none"/>
          <a:lstStyle/>
          <a:p>
            <a:r>
              <a:rPr lang="en-US"/>
              <a:t>How About Register File Access?</a:t>
            </a:r>
          </a:p>
        </p:txBody>
      </p:sp>
      <p:sp>
        <p:nvSpPr>
          <p:cNvPr id="1215495" name="Rectangle 7"/>
          <p:cNvSpPr>
            <a:spLocks noChangeArrowheads="1"/>
          </p:cNvSpPr>
          <p:nvPr/>
        </p:nvSpPr>
        <p:spPr bwMode="auto">
          <a:xfrm>
            <a:off x="328613" y="17541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15496" name="Line 8"/>
          <p:cNvSpPr>
            <a:spLocks noChangeShapeType="1"/>
          </p:cNvSpPr>
          <p:nvPr/>
        </p:nvSpPr>
        <p:spPr bwMode="auto">
          <a:xfrm>
            <a:off x="1600200" y="11477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15497" name="Rectangle 9"/>
          <p:cNvSpPr>
            <a:spLocks noChangeArrowheads="1"/>
          </p:cNvSpPr>
          <p:nvPr/>
        </p:nvSpPr>
        <p:spPr bwMode="auto">
          <a:xfrm>
            <a:off x="3733800" y="685800"/>
            <a:ext cx="2124075" cy="363538"/>
          </a:xfrm>
          <a:prstGeom prst="rect">
            <a:avLst/>
          </a:prstGeom>
          <a:noFill/>
          <a:ln w="12700">
            <a:noFill/>
            <a:miter lim="800000"/>
            <a:headEnd/>
            <a:tailEnd/>
          </a:ln>
          <a:effectLst/>
        </p:spPr>
        <p:txBody>
          <a:bodyPr wrap="none" lIns="90488" tIns="44450" rIns="90488" bIns="44450">
            <a:spAutoFit/>
          </a:bodyPr>
          <a:lstStyle/>
          <a:p>
            <a:r>
              <a:rPr lang="en-US" i="1">
                <a:solidFill>
                  <a:schemeClr val="tx1"/>
                </a:solidFill>
              </a:rPr>
              <a:t>Time (clock cycles)</a:t>
            </a:r>
          </a:p>
        </p:txBody>
      </p:sp>
      <p:sp>
        <p:nvSpPr>
          <p:cNvPr id="1215499" name="Rectangle 11"/>
          <p:cNvSpPr>
            <a:spLocks noChangeArrowheads="1"/>
          </p:cNvSpPr>
          <p:nvPr/>
        </p:nvSpPr>
        <p:spPr bwMode="auto">
          <a:xfrm>
            <a:off x="762000" y="2438400"/>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1</a:t>
            </a:r>
          </a:p>
        </p:txBody>
      </p:sp>
      <p:sp>
        <p:nvSpPr>
          <p:cNvPr id="1215500" name="Rectangle 12"/>
          <p:cNvSpPr>
            <a:spLocks noChangeArrowheads="1"/>
          </p:cNvSpPr>
          <p:nvPr/>
        </p:nvSpPr>
        <p:spPr bwMode="auto">
          <a:xfrm>
            <a:off x="762000" y="3319463"/>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2</a:t>
            </a:r>
          </a:p>
        </p:txBody>
      </p:sp>
      <p:sp>
        <p:nvSpPr>
          <p:cNvPr id="1215502" name="Line 14"/>
          <p:cNvSpPr>
            <a:spLocks noChangeShapeType="1"/>
          </p:cNvSpPr>
          <p:nvPr/>
        </p:nvSpPr>
        <p:spPr bwMode="auto">
          <a:xfrm>
            <a:off x="27813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3" name="Line 15"/>
          <p:cNvSpPr>
            <a:spLocks noChangeShapeType="1"/>
          </p:cNvSpPr>
          <p:nvPr/>
        </p:nvSpPr>
        <p:spPr bwMode="auto">
          <a:xfrm>
            <a:off x="34671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4" name="Line 16"/>
          <p:cNvSpPr>
            <a:spLocks noChangeShapeType="1"/>
          </p:cNvSpPr>
          <p:nvPr/>
        </p:nvSpPr>
        <p:spPr bwMode="auto">
          <a:xfrm>
            <a:off x="41529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5" name="Line 17"/>
          <p:cNvSpPr>
            <a:spLocks noChangeShapeType="1"/>
          </p:cNvSpPr>
          <p:nvPr/>
        </p:nvSpPr>
        <p:spPr bwMode="auto">
          <a:xfrm>
            <a:off x="48387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6" name="Line 18"/>
          <p:cNvSpPr>
            <a:spLocks noChangeShapeType="1"/>
          </p:cNvSpPr>
          <p:nvPr/>
        </p:nvSpPr>
        <p:spPr bwMode="auto">
          <a:xfrm>
            <a:off x="55245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7" name="Line 19"/>
          <p:cNvSpPr>
            <a:spLocks noChangeShapeType="1"/>
          </p:cNvSpPr>
          <p:nvPr/>
        </p:nvSpPr>
        <p:spPr bwMode="auto">
          <a:xfrm>
            <a:off x="62103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8" name="Line 20"/>
          <p:cNvSpPr>
            <a:spLocks noChangeShapeType="1"/>
          </p:cNvSpPr>
          <p:nvPr/>
        </p:nvSpPr>
        <p:spPr bwMode="auto">
          <a:xfrm>
            <a:off x="68961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09" name="Line 21"/>
          <p:cNvSpPr>
            <a:spLocks noChangeShapeType="1"/>
          </p:cNvSpPr>
          <p:nvPr/>
        </p:nvSpPr>
        <p:spPr bwMode="auto">
          <a:xfrm>
            <a:off x="7581900" y="12747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5511" name="Line 23"/>
          <p:cNvSpPr>
            <a:spLocks noChangeShapeType="1"/>
          </p:cNvSpPr>
          <p:nvPr/>
        </p:nvSpPr>
        <p:spPr bwMode="auto">
          <a:xfrm>
            <a:off x="685800" y="16764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3" name="Group 24"/>
          <p:cNvGrpSpPr>
            <a:grpSpLocks/>
          </p:cNvGrpSpPr>
          <p:nvPr/>
        </p:nvGrpSpPr>
        <p:grpSpPr bwMode="auto">
          <a:xfrm>
            <a:off x="2209800" y="1524000"/>
            <a:ext cx="3355975" cy="838200"/>
            <a:chOff x="1562" y="1152"/>
            <a:chExt cx="2114" cy="528"/>
          </a:xfrm>
        </p:grpSpPr>
        <p:grpSp>
          <p:nvGrpSpPr>
            <p:cNvPr id="4" name="Group 25"/>
            <p:cNvGrpSpPr>
              <a:grpSpLocks/>
            </p:cNvGrpSpPr>
            <p:nvPr/>
          </p:nvGrpSpPr>
          <p:grpSpPr bwMode="auto">
            <a:xfrm>
              <a:off x="2487" y="1152"/>
              <a:ext cx="223" cy="481"/>
              <a:chOff x="2207" y="1413"/>
              <a:chExt cx="223" cy="481"/>
            </a:xfrm>
          </p:grpSpPr>
          <p:sp>
            <p:nvSpPr>
              <p:cNvPr id="1215514" name="Freeform 26"/>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15" name="Rectangle 27"/>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5" name="Group 28"/>
            <p:cNvGrpSpPr>
              <a:grpSpLocks/>
            </p:cNvGrpSpPr>
            <p:nvPr/>
          </p:nvGrpSpPr>
          <p:grpSpPr bwMode="auto">
            <a:xfrm>
              <a:off x="1562" y="1248"/>
              <a:ext cx="349" cy="289"/>
              <a:chOff x="1282" y="1509"/>
              <a:chExt cx="349" cy="289"/>
            </a:xfrm>
          </p:grpSpPr>
          <p:sp>
            <p:nvSpPr>
              <p:cNvPr id="1215517" name="Rectangle 29"/>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6" name="Group 30"/>
              <p:cNvGrpSpPr>
                <a:grpSpLocks/>
              </p:cNvGrpSpPr>
              <p:nvPr/>
            </p:nvGrpSpPr>
            <p:grpSpPr bwMode="auto">
              <a:xfrm>
                <a:off x="1291" y="1509"/>
                <a:ext cx="340" cy="289"/>
                <a:chOff x="1291" y="1509"/>
                <a:chExt cx="340" cy="289"/>
              </a:xfrm>
            </p:grpSpPr>
            <p:sp>
              <p:nvSpPr>
                <p:cNvPr id="1215519" name="Freeform 31"/>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20" name="Freeform 32"/>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5521" name="Rectangle 33"/>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7" name="Group 34"/>
            <p:cNvGrpSpPr>
              <a:grpSpLocks/>
            </p:cNvGrpSpPr>
            <p:nvPr/>
          </p:nvGrpSpPr>
          <p:grpSpPr bwMode="auto">
            <a:xfrm>
              <a:off x="2031" y="1248"/>
              <a:ext cx="296" cy="289"/>
              <a:chOff x="1751" y="1509"/>
              <a:chExt cx="296" cy="289"/>
            </a:xfrm>
          </p:grpSpPr>
          <p:sp>
            <p:nvSpPr>
              <p:cNvPr id="1215523" name="Freeform 35"/>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24" name="Freeform 36"/>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25" name="Line 37"/>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5526" name="Freeform 38"/>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27" name="Line 39"/>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5528" name="Rectangle 40"/>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8" name="Group 41"/>
            <p:cNvGrpSpPr>
              <a:grpSpLocks/>
            </p:cNvGrpSpPr>
            <p:nvPr/>
          </p:nvGrpSpPr>
          <p:grpSpPr bwMode="auto">
            <a:xfrm>
              <a:off x="2880" y="1248"/>
              <a:ext cx="325" cy="289"/>
              <a:chOff x="2600" y="1509"/>
              <a:chExt cx="325" cy="289"/>
            </a:xfrm>
          </p:grpSpPr>
          <p:sp>
            <p:nvSpPr>
              <p:cNvPr id="1215530" name="Freeform 42"/>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31" name="Freeform 43"/>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32" name="Rectangle 44"/>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9" name="Group 45"/>
            <p:cNvGrpSpPr>
              <a:grpSpLocks/>
            </p:cNvGrpSpPr>
            <p:nvPr/>
          </p:nvGrpSpPr>
          <p:grpSpPr bwMode="auto">
            <a:xfrm>
              <a:off x="3348" y="1248"/>
              <a:ext cx="284" cy="289"/>
              <a:chOff x="3068" y="1509"/>
              <a:chExt cx="284" cy="289"/>
            </a:xfrm>
          </p:grpSpPr>
          <p:sp>
            <p:nvSpPr>
              <p:cNvPr id="1215534" name="Freeform 46"/>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35" name="Freeform 47"/>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36" name="Line 48"/>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5537" name="Line 49"/>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5538" name="Line 50"/>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5539" name="Line 51"/>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5540" name="Line 52"/>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5541" name="Line 53"/>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5542" name="Line 54"/>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5543" name="Line 55"/>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5544" name="Line 56"/>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0" name="Group 57"/>
          <p:cNvGrpSpPr>
            <a:grpSpLocks/>
          </p:cNvGrpSpPr>
          <p:nvPr/>
        </p:nvGrpSpPr>
        <p:grpSpPr bwMode="auto">
          <a:xfrm>
            <a:off x="2895600" y="2362200"/>
            <a:ext cx="3355975" cy="838200"/>
            <a:chOff x="1562" y="1152"/>
            <a:chExt cx="2114" cy="528"/>
          </a:xfrm>
        </p:grpSpPr>
        <p:grpSp>
          <p:nvGrpSpPr>
            <p:cNvPr id="11" name="Group 58"/>
            <p:cNvGrpSpPr>
              <a:grpSpLocks/>
            </p:cNvGrpSpPr>
            <p:nvPr/>
          </p:nvGrpSpPr>
          <p:grpSpPr bwMode="auto">
            <a:xfrm>
              <a:off x="2487" y="1152"/>
              <a:ext cx="223" cy="481"/>
              <a:chOff x="2207" y="1413"/>
              <a:chExt cx="223" cy="481"/>
            </a:xfrm>
          </p:grpSpPr>
          <p:sp>
            <p:nvSpPr>
              <p:cNvPr id="1215547" name="Freeform 5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48" name="Rectangle 6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 name="Group 61"/>
            <p:cNvGrpSpPr>
              <a:grpSpLocks/>
            </p:cNvGrpSpPr>
            <p:nvPr/>
          </p:nvGrpSpPr>
          <p:grpSpPr bwMode="auto">
            <a:xfrm>
              <a:off x="1562" y="1248"/>
              <a:ext cx="349" cy="289"/>
              <a:chOff x="1282" y="1509"/>
              <a:chExt cx="349" cy="289"/>
            </a:xfrm>
          </p:grpSpPr>
          <p:sp>
            <p:nvSpPr>
              <p:cNvPr id="1215550" name="Rectangle 6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3" name="Group 63"/>
              <p:cNvGrpSpPr>
                <a:grpSpLocks/>
              </p:cNvGrpSpPr>
              <p:nvPr/>
            </p:nvGrpSpPr>
            <p:grpSpPr bwMode="auto">
              <a:xfrm>
                <a:off x="1291" y="1509"/>
                <a:ext cx="340" cy="289"/>
                <a:chOff x="1291" y="1509"/>
                <a:chExt cx="340" cy="289"/>
              </a:xfrm>
            </p:grpSpPr>
            <p:sp>
              <p:nvSpPr>
                <p:cNvPr id="1215552" name="Freeform 6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53" name="Freeform 6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5554" name="Rectangle 6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4" name="Group 67"/>
            <p:cNvGrpSpPr>
              <a:grpSpLocks/>
            </p:cNvGrpSpPr>
            <p:nvPr/>
          </p:nvGrpSpPr>
          <p:grpSpPr bwMode="auto">
            <a:xfrm>
              <a:off x="2031" y="1248"/>
              <a:ext cx="296" cy="289"/>
              <a:chOff x="1751" y="1509"/>
              <a:chExt cx="296" cy="289"/>
            </a:xfrm>
          </p:grpSpPr>
          <p:sp>
            <p:nvSpPr>
              <p:cNvPr id="1215556" name="Freeform 6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57" name="Freeform 6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58" name="Line 7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5559" name="Freeform 7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60" name="Line 7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5561" name="Rectangle 7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5" name="Group 74"/>
            <p:cNvGrpSpPr>
              <a:grpSpLocks/>
            </p:cNvGrpSpPr>
            <p:nvPr/>
          </p:nvGrpSpPr>
          <p:grpSpPr bwMode="auto">
            <a:xfrm>
              <a:off x="2880" y="1248"/>
              <a:ext cx="325" cy="289"/>
              <a:chOff x="2600" y="1509"/>
              <a:chExt cx="325" cy="289"/>
            </a:xfrm>
          </p:grpSpPr>
          <p:sp>
            <p:nvSpPr>
              <p:cNvPr id="1215563" name="Freeform 7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64" name="Freeform 7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65" name="Rectangle 7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6" name="Group 78"/>
            <p:cNvGrpSpPr>
              <a:grpSpLocks/>
            </p:cNvGrpSpPr>
            <p:nvPr/>
          </p:nvGrpSpPr>
          <p:grpSpPr bwMode="auto">
            <a:xfrm>
              <a:off x="3348" y="1248"/>
              <a:ext cx="284" cy="289"/>
              <a:chOff x="3068" y="1509"/>
              <a:chExt cx="284" cy="289"/>
            </a:xfrm>
          </p:grpSpPr>
          <p:sp>
            <p:nvSpPr>
              <p:cNvPr id="1215567" name="Freeform 7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68" name="Freeform 8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69" name="Line 8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5570" name="Line 8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5571" name="Line 8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5572" name="Line 8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5573" name="Line 8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5574" name="Line 8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5575" name="Line 8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5576" name="Line 8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5577" name="Line 8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7" name="Group 90"/>
          <p:cNvGrpSpPr>
            <a:grpSpLocks/>
          </p:cNvGrpSpPr>
          <p:nvPr/>
        </p:nvGrpSpPr>
        <p:grpSpPr bwMode="auto">
          <a:xfrm>
            <a:off x="3581400" y="3200400"/>
            <a:ext cx="3355975" cy="838200"/>
            <a:chOff x="1562" y="1152"/>
            <a:chExt cx="2114" cy="528"/>
          </a:xfrm>
        </p:grpSpPr>
        <p:grpSp>
          <p:nvGrpSpPr>
            <p:cNvPr id="18" name="Group 91"/>
            <p:cNvGrpSpPr>
              <a:grpSpLocks/>
            </p:cNvGrpSpPr>
            <p:nvPr/>
          </p:nvGrpSpPr>
          <p:grpSpPr bwMode="auto">
            <a:xfrm>
              <a:off x="2487" y="1152"/>
              <a:ext cx="223" cy="481"/>
              <a:chOff x="2207" y="1413"/>
              <a:chExt cx="223" cy="481"/>
            </a:xfrm>
          </p:grpSpPr>
          <p:sp>
            <p:nvSpPr>
              <p:cNvPr id="1215580" name="Freeform 9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81" name="Rectangle 9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9" name="Group 94"/>
            <p:cNvGrpSpPr>
              <a:grpSpLocks/>
            </p:cNvGrpSpPr>
            <p:nvPr/>
          </p:nvGrpSpPr>
          <p:grpSpPr bwMode="auto">
            <a:xfrm>
              <a:off x="1562" y="1248"/>
              <a:ext cx="349" cy="289"/>
              <a:chOff x="1282" y="1509"/>
              <a:chExt cx="349" cy="289"/>
            </a:xfrm>
          </p:grpSpPr>
          <p:sp>
            <p:nvSpPr>
              <p:cNvPr id="1215583" name="Rectangle 9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0" name="Group 96"/>
              <p:cNvGrpSpPr>
                <a:grpSpLocks/>
              </p:cNvGrpSpPr>
              <p:nvPr/>
            </p:nvGrpSpPr>
            <p:grpSpPr bwMode="auto">
              <a:xfrm>
                <a:off x="1291" y="1509"/>
                <a:ext cx="340" cy="289"/>
                <a:chOff x="1291" y="1509"/>
                <a:chExt cx="340" cy="289"/>
              </a:xfrm>
            </p:grpSpPr>
            <p:sp>
              <p:nvSpPr>
                <p:cNvPr id="1215585" name="Freeform 9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86" name="Freeform 9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5587" name="Rectangle 9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1" name="Group 100"/>
            <p:cNvGrpSpPr>
              <a:grpSpLocks/>
            </p:cNvGrpSpPr>
            <p:nvPr/>
          </p:nvGrpSpPr>
          <p:grpSpPr bwMode="auto">
            <a:xfrm>
              <a:off x="2031" y="1248"/>
              <a:ext cx="296" cy="289"/>
              <a:chOff x="1751" y="1509"/>
              <a:chExt cx="296" cy="289"/>
            </a:xfrm>
          </p:grpSpPr>
          <p:sp>
            <p:nvSpPr>
              <p:cNvPr id="1215589" name="Freeform 10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90" name="Freeform 10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91" name="Line 10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5592" name="Freeform 10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93" name="Line 10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5594" name="Rectangle 10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2" name="Group 107"/>
            <p:cNvGrpSpPr>
              <a:grpSpLocks/>
            </p:cNvGrpSpPr>
            <p:nvPr/>
          </p:nvGrpSpPr>
          <p:grpSpPr bwMode="auto">
            <a:xfrm>
              <a:off x="2880" y="1248"/>
              <a:ext cx="325" cy="289"/>
              <a:chOff x="2600" y="1509"/>
              <a:chExt cx="325" cy="289"/>
            </a:xfrm>
          </p:grpSpPr>
          <p:sp>
            <p:nvSpPr>
              <p:cNvPr id="1215596" name="Freeform 10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597" name="Freeform 10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598" name="Rectangle 11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 name="Group 111"/>
            <p:cNvGrpSpPr>
              <a:grpSpLocks/>
            </p:cNvGrpSpPr>
            <p:nvPr/>
          </p:nvGrpSpPr>
          <p:grpSpPr bwMode="auto">
            <a:xfrm>
              <a:off x="3348" y="1248"/>
              <a:ext cx="284" cy="289"/>
              <a:chOff x="3068" y="1509"/>
              <a:chExt cx="284" cy="289"/>
            </a:xfrm>
          </p:grpSpPr>
          <p:sp>
            <p:nvSpPr>
              <p:cNvPr id="1215600" name="Freeform 11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01" name="Freeform 11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602" name="Line 11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5603" name="Line 11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5604" name="Line 11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5605" name="Line 11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5606" name="Line 11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5607" name="Line 11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5608" name="Line 12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5609" name="Line 12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5610" name="Line 12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4" name="Group 123"/>
          <p:cNvGrpSpPr>
            <a:grpSpLocks/>
          </p:cNvGrpSpPr>
          <p:nvPr/>
        </p:nvGrpSpPr>
        <p:grpSpPr bwMode="auto">
          <a:xfrm>
            <a:off x="4267200" y="4038600"/>
            <a:ext cx="3355975" cy="838200"/>
            <a:chOff x="1562" y="1152"/>
            <a:chExt cx="2114" cy="528"/>
          </a:xfrm>
        </p:grpSpPr>
        <p:grpSp>
          <p:nvGrpSpPr>
            <p:cNvPr id="25" name="Group 124"/>
            <p:cNvGrpSpPr>
              <a:grpSpLocks/>
            </p:cNvGrpSpPr>
            <p:nvPr/>
          </p:nvGrpSpPr>
          <p:grpSpPr bwMode="auto">
            <a:xfrm>
              <a:off x="2487" y="1152"/>
              <a:ext cx="223" cy="481"/>
              <a:chOff x="2207" y="1413"/>
              <a:chExt cx="223" cy="481"/>
            </a:xfrm>
          </p:grpSpPr>
          <p:sp>
            <p:nvSpPr>
              <p:cNvPr id="1215613" name="Freeform 12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14" name="Rectangle 12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6" name="Group 127"/>
            <p:cNvGrpSpPr>
              <a:grpSpLocks/>
            </p:cNvGrpSpPr>
            <p:nvPr/>
          </p:nvGrpSpPr>
          <p:grpSpPr bwMode="auto">
            <a:xfrm>
              <a:off x="1562" y="1248"/>
              <a:ext cx="349" cy="289"/>
              <a:chOff x="1282" y="1509"/>
              <a:chExt cx="349" cy="289"/>
            </a:xfrm>
          </p:grpSpPr>
          <p:sp>
            <p:nvSpPr>
              <p:cNvPr id="1215616" name="Rectangle 12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7" name="Group 129"/>
              <p:cNvGrpSpPr>
                <a:grpSpLocks/>
              </p:cNvGrpSpPr>
              <p:nvPr/>
            </p:nvGrpSpPr>
            <p:grpSpPr bwMode="auto">
              <a:xfrm>
                <a:off x="1291" y="1509"/>
                <a:ext cx="340" cy="289"/>
                <a:chOff x="1291" y="1509"/>
                <a:chExt cx="340" cy="289"/>
              </a:xfrm>
            </p:grpSpPr>
            <p:sp>
              <p:nvSpPr>
                <p:cNvPr id="1215618" name="Freeform 13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19" name="Freeform 13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5620" name="Rectangle 13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8" name="Group 133"/>
            <p:cNvGrpSpPr>
              <a:grpSpLocks/>
            </p:cNvGrpSpPr>
            <p:nvPr/>
          </p:nvGrpSpPr>
          <p:grpSpPr bwMode="auto">
            <a:xfrm>
              <a:off x="2031" y="1248"/>
              <a:ext cx="296" cy="289"/>
              <a:chOff x="1751" y="1509"/>
              <a:chExt cx="296" cy="289"/>
            </a:xfrm>
          </p:grpSpPr>
          <p:sp>
            <p:nvSpPr>
              <p:cNvPr id="1215622" name="Freeform 13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23" name="Freeform 13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624" name="Line 13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5625" name="Freeform 13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26" name="Line 13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5627" name="Rectangle 13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9" name="Group 140"/>
            <p:cNvGrpSpPr>
              <a:grpSpLocks/>
            </p:cNvGrpSpPr>
            <p:nvPr/>
          </p:nvGrpSpPr>
          <p:grpSpPr bwMode="auto">
            <a:xfrm>
              <a:off x="2880" y="1248"/>
              <a:ext cx="325" cy="289"/>
              <a:chOff x="2600" y="1509"/>
              <a:chExt cx="325" cy="289"/>
            </a:xfrm>
          </p:grpSpPr>
          <p:sp>
            <p:nvSpPr>
              <p:cNvPr id="1215629" name="Freeform 14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30" name="Freeform 14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631" name="Rectangle 14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0" name="Group 144"/>
            <p:cNvGrpSpPr>
              <a:grpSpLocks/>
            </p:cNvGrpSpPr>
            <p:nvPr/>
          </p:nvGrpSpPr>
          <p:grpSpPr bwMode="auto">
            <a:xfrm>
              <a:off x="3348" y="1248"/>
              <a:ext cx="284" cy="289"/>
              <a:chOff x="3068" y="1509"/>
              <a:chExt cx="284" cy="289"/>
            </a:xfrm>
          </p:grpSpPr>
          <p:sp>
            <p:nvSpPr>
              <p:cNvPr id="1215633" name="Freeform 14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5634" name="Freeform 14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5635" name="Line 14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5636" name="Line 14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5637" name="Line 14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5638" name="Line 15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5639" name="Line 15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5640" name="Line 15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5641" name="Line 15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5642" name="Line 15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5643" name="Line 15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15677" name="Rectangle 189"/>
          <p:cNvSpPr>
            <a:spLocks noChangeArrowheads="1"/>
          </p:cNvSpPr>
          <p:nvPr/>
        </p:nvSpPr>
        <p:spPr bwMode="auto">
          <a:xfrm>
            <a:off x="6400800" y="1371600"/>
            <a:ext cx="2438400" cy="1917700"/>
          </a:xfrm>
          <a:prstGeom prst="rect">
            <a:avLst/>
          </a:prstGeom>
          <a:noFill/>
          <a:ln w="12700">
            <a:noFill/>
            <a:miter lim="800000"/>
            <a:headEnd/>
            <a:tailEnd/>
          </a:ln>
          <a:effectLst/>
        </p:spPr>
        <p:txBody>
          <a:bodyPr lIns="90488" tIns="44450" rIns="90488" bIns="44450">
            <a:spAutoFit/>
          </a:bodyPr>
          <a:lstStyle/>
          <a:p>
            <a:pPr algn="r"/>
            <a:r>
              <a:rPr lang="en-US" sz="2000"/>
              <a:t>Fix register file access hazard by doing reads in the second half of the cycle and writes in the first half</a:t>
            </a:r>
          </a:p>
        </p:txBody>
      </p:sp>
      <p:sp>
        <p:nvSpPr>
          <p:cNvPr id="1215678" name="Rectangle 190"/>
          <p:cNvSpPr>
            <a:spLocks noChangeArrowheads="1"/>
          </p:cNvSpPr>
          <p:nvPr/>
        </p:nvSpPr>
        <p:spPr bwMode="auto">
          <a:xfrm>
            <a:off x="762000" y="1600200"/>
            <a:ext cx="145891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1215679" name="Rectangle 191"/>
          <p:cNvSpPr>
            <a:spLocks noChangeArrowheads="1"/>
          </p:cNvSpPr>
          <p:nvPr/>
        </p:nvSpPr>
        <p:spPr bwMode="auto">
          <a:xfrm>
            <a:off x="762000" y="4157663"/>
            <a:ext cx="2006600"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$2,</a:t>
            </a:r>
            <a:r>
              <a:rPr lang="en-US" sz="2400" b="1">
                <a:solidFill>
                  <a:srgbClr val="009900"/>
                </a:solidFill>
                <a:latin typeface="Courier New" pitchFamily="49" charset="0"/>
              </a:rPr>
              <a:t>$1</a:t>
            </a:r>
            <a:r>
              <a:rPr lang="en-US" sz="2400" b="1">
                <a:solidFill>
                  <a:schemeClr val="tx1"/>
                </a:solidFill>
                <a:latin typeface="Courier New" pitchFamily="49" charset="0"/>
              </a:rPr>
              <a:t>,</a:t>
            </a:r>
          </a:p>
        </p:txBody>
      </p:sp>
      <p:grpSp>
        <p:nvGrpSpPr>
          <p:cNvPr id="31" name="Group 207"/>
          <p:cNvGrpSpPr>
            <a:grpSpLocks/>
          </p:cNvGrpSpPr>
          <p:nvPr/>
        </p:nvGrpSpPr>
        <p:grpSpPr bwMode="auto">
          <a:xfrm>
            <a:off x="4572000" y="5181600"/>
            <a:ext cx="1219200" cy="381000"/>
            <a:chOff x="2880" y="3552"/>
            <a:chExt cx="768" cy="240"/>
          </a:xfrm>
        </p:grpSpPr>
        <p:sp>
          <p:nvSpPr>
            <p:cNvPr id="1215684" name="Line 196"/>
            <p:cNvSpPr>
              <a:spLocks noChangeShapeType="1"/>
            </p:cNvSpPr>
            <p:nvPr/>
          </p:nvSpPr>
          <p:spPr bwMode="auto">
            <a:xfrm>
              <a:off x="3456" y="3552"/>
              <a:ext cx="0" cy="240"/>
            </a:xfrm>
            <a:prstGeom prst="line">
              <a:avLst/>
            </a:prstGeom>
            <a:noFill/>
            <a:ln w="12700">
              <a:solidFill>
                <a:schemeClr val="tx1"/>
              </a:solidFill>
              <a:round/>
              <a:headEnd/>
              <a:tailEnd type="triangle" w="med" len="med"/>
            </a:ln>
            <a:effectLst/>
          </p:spPr>
          <p:txBody>
            <a:bodyPr/>
            <a:lstStyle/>
            <a:p>
              <a:endParaRPr lang="en-US"/>
            </a:p>
          </p:txBody>
        </p:sp>
        <p:sp>
          <p:nvSpPr>
            <p:cNvPr id="1215686" name="Line 198"/>
            <p:cNvSpPr>
              <a:spLocks noChangeShapeType="1"/>
            </p:cNvSpPr>
            <p:nvPr/>
          </p:nvSpPr>
          <p:spPr bwMode="auto">
            <a:xfrm flipV="1">
              <a:off x="3264" y="3552"/>
              <a:ext cx="0" cy="240"/>
            </a:xfrm>
            <a:prstGeom prst="line">
              <a:avLst/>
            </a:prstGeom>
            <a:noFill/>
            <a:ln w="12700">
              <a:solidFill>
                <a:schemeClr val="tx1"/>
              </a:solidFill>
              <a:round/>
              <a:headEnd/>
              <a:tailEnd type="triangle" w="med" len="med"/>
            </a:ln>
            <a:effectLst/>
          </p:spPr>
          <p:txBody>
            <a:bodyPr/>
            <a:lstStyle/>
            <a:p>
              <a:endParaRPr lang="en-US"/>
            </a:p>
          </p:txBody>
        </p:sp>
        <p:sp>
          <p:nvSpPr>
            <p:cNvPr id="1215688" name="Line 200"/>
            <p:cNvSpPr>
              <a:spLocks noChangeShapeType="1"/>
            </p:cNvSpPr>
            <p:nvPr/>
          </p:nvSpPr>
          <p:spPr bwMode="auto">
            <a:xfrm>
              <a:off x="3456" y="3792"/>
              <a:ext cx="192" cy="0"/>
            </a:xfrm>
            <a:prstGeom prst="line">
              <a:avLst/>
            </a:prstGeom>
            <a:noFill/>
            <a:ln w="12700">
              <a:solidFill>
                <a:schemeClr val="tx1"/>
              </a:solidFill>
              <a:round/>
              <a:headEnd/>
              <a:tailEnd/>
            </a:ln>
            <a:effectLst/>
          </p:spPr>
          <p:txBody>
            <a:bodyPr/>
            <a:lstStyle/>
            <a:p>
              <a:endParaRPr lang="en-US"/>
            </a:p>
          </p:txBody>
        </p:sp>
        <p:sp>
          <p:nvSpPr>
            <p:cNvPr id="1215691" name="Line 203"/>
            <p:cNvSpPr>
              <a:spLocks noChangeShapeType="1"/>
            </p:cNvSpPr>
            <p:nvPr/>
          </p:nvSpPr>
          <p:spPr bwMode="auto">
            <a:xfrm>
              <a:off x="3264" y="3552"/>
              <a:ext cx="192" cy="0"/>
            </a:xfrm>
            <a:prstGeom prst="line">
              <a:avLst/>
            </a:prstGeom>
            <a:noFill/>
            <a:ln w="12700">
              <a:solidFill>
                <a:schemeClr val="tx1"/>
              </a:solidFill>
              <a:round/>
              <a:headEnd/>
              <a:tailEnd/>
            </a:ln>
            <a:effectLst/>
          </p:spPr>
          <p:txBody>
            <a:bodyPr/>
            <a:lstStyle/>
            <a:p>
              <a:endParaRPr lang="en-US"/>
            </a:p>
          </p:txBody>
        </p:sp>
        <p:sp>
          <p:nvSpPr>
            <p:cNvPr id="1215692" name="Line 204"/>
            <p:cNvSpPr>
              <a:spLocks noChangeShapeType="1"/>
            </p:cNvSpPr>
            <p:nvPr/>
          </p:nvSpPr>
          <p:spPr bwMode="auto">
            <a:xfrm>
              <a:off x="3072" y="3792"/>
              <a:ext cx="192" cy="0"/>
            </a:xfrm>
            <a:prstGeom prst="line">
              <a:avLst/>
            </a:prstGeom>
            <a:noFill/>
            <a:ln w="12700">
              <a:solidFill>
                <a:schemeClr val="tx1"/>
              </a:solidFill>
              <a:round/>
              <a:headEnd/>
              <a:tailEnd/>
            </a:ln>
            <a:effectLst/>
          </p:spPr>
          <p:txBody>
            <a:bodyPr/>
            <a:lstStyle/>
            <a:p>
              <a:endParaRPr lang="en-US"/>
            </a:p>
          </p:txBody>
        </p:sp>
        <p:sp>
          <p:nvSpPr>
            <p:cNvPr id="1215693" name="Line 205"/>
            <p:cNvSpPr>
              <a:spLocks noChangeShapeType="1"/>
            </p:cNvSpPr>
            <p:nvPr/>
          </p:nvSpPr>
          <p:spPr bwMode="auto">
            <a:xfrm>
              <a:off x="3072" y="3552"/>
              <a:ext cx="0" cy="240"/>
            </a:xfrm>
            <a:prstGeom prst="line">
              <a:avLst/>
            </a:prstGeom>
            <a:noFill/>
            <a:ln w="12700">
              <a:solidFill>
                <a:schemeClr val="tx1"/>
              </a:solidFill>
              <a:round/>
              <a:headEnd/>
              <a:tailEnd type="triangle" w="med" len="med"/>
            </a:ln>
            <a:effectLst/>
          </p:spPr>
          <p:txBody>
            <a:bodyPr/>
            <a:lstStyle/>
            <a:p>
              <a:endParaRPr lang="en-US"/>
            </a:p>
          </p:txBody>
        </p:sp>
        <p:sp>
          <p:nvSpPr>
            <p:cNvPr id="1215694" name="Line 206"/>
            <p:cNvSpPr>
              <a:spLocks noChangeShapeType="1"/>
            </p:cNvSpPr>
            <p:nvPr/>
          </p:nvSpPr>
          <p:spPr bwMode="auto">
            <a:xfrm>
              <a:off x="2880" y="3552"/>
              <a:ext cx="192" cy="0"/>
            </a:xfrm>
            <a:prstGeom prst="line">
              <a:avLst/>
            </a:prstGeom>
            <a:noFill/>
            <a:ln w="12700">
              <a:solidFill>
                <a:schemeClr val="tx1"/>
              </a:solidFill>
              <a:round/>
              <a:headEnd/>
              <a:tailEnd/>
            </a:ln>
            <a:effectLst/>
          </p:spPr>
          <p:txBody>
            <a:bodyPr/>
            <a:lstStyle/>
            <a:p>
              <a:endParaRPr lang="en-US"/>
            </a:p>
          </p:txBody>
        </p:sp>
      </p:grpSp>
      <p:grpSp>
        <p:nvGrpSpPr>
          <p:cNvPr id="1215648" name="Group 214"/>
          <p:cNvGrpSpPr>
            <a:grpSpLocks/>
          </p:cNvGrpSpPr>
          <p:nvPr/>
        </p:nvGrpSpPr>
        <p:grpSpPr bwMode="auto">
          <a:xfrm>
            <a:off x="990600" y="5410200"/>
            <a:ext cx="4191000" cy="1079500"/>
            <a:chOff x="624" y="3408"/>
            <a:chExt cx="2640" cy="680"/>
          </a:xfrm>
        </p:grpSpPr>
        <p:sp>
          <p:nvSpPr>
            <p:cNvPr id="1215697" name="Rectangle 209"/>
            <p:cNvSpPr>
              <a:spLocks noChangeArrowheads="1"/>
            </p:cNvSpPr>
            <p:nvPr/>
          </p:nvSpPr>
          <p:spPr bwMode="auto">
            <a:xfrm>
              <a:off x="624" y="3648"/>
              <a:ext cx="1872" cy="440"/>
            </a:xfrm>
            <a:prstGeom prst="rect">
              <a:avLst/>
            </a:prstGeom>
            <a:noFill/>
            <a:ln w="12700">
              <a:noFill/>
              <a:miter lim="800000"/>
              <a:headEnd/>
              <a:tailEnd/>
            </a:ln>
            <a:effectLst/>
          </p:spPr>
          <p:txBody>
            <a:bodyPr lIns="90488" tIns="44450" rIns="90488" bIns="44450">
              <a:spAutoFit/>
            </a:bodyPr>
            <a:lstStyle/>
            <a:p>
              <a:r>
                <a:rPr lang="en-US" sz="2000"/>
                <a:t>clock edge that controls register writing</a:t>
              </a:r>
            </a:p>
          </p:txBody>
        </p:sp>
        <p:sp>
          <p:nvSpPr>
            <p:cNvPr id="1215698" name="Line 210"/>
            <p:cNvSpPr>
              <a:spLocks noChangeShapeType="1"/>
            </p:cNvSpPr>
            <p:nvPr/>
          </p:nvSpPr>
          <p:spPr bwMode="auto">
            <a:xfrm flipV="1">
              <a:off x="2544" y="3408"/>
              <a:ext cx="720" cy="432"/>
            </a:xfrm>
            <a:prstGeom prst="line">
              <a:avLst/>
            </a:prstGeom>
            <a:noFill/>
            <a:ln w="12700">
              <a:solidFill>
                <a:schemeClr val="accent1"/>
              </a:solidFill>
              <a:round/>
              <a:headEnd/>
              <a:tailEnd type="triangle" w="med" len="med"/>
            </a:ln>
            <a:effectLst/>
          </p:spPr>
          <p:txBody>
            <a:bodyPr/>
            <a:lstStyle/>
            <a:p>
              <a:endParaRPr lang="en-US"/>
            </a:p>
          </p:txBody>
        </p:sp>
      </p:grpSp>
      <p:grpSp>
        <p:nvGrpSpPr>
          <p:cNvPr id="1215649" name="Group 213"/>
          <p:cNvGrpSpPr>
            <a:grpSpLocks/>
          </p:cNvGrpSpPr>
          <p:nvPr/>
        </p:nvGrpSpPr>
        <p:grpSpPr bwMode="auto">
          <a:xfrm>
            <a:off x="4876800" y="5334000"/>
            <a:ext cx="3200400" cy="1384300"/>
            <a:chOff x="3072" y="3360"/>
            <a:chExt cx="2016" cy="872"/>
          </a:xfrm>
        </p:grpSpPr>
        <p:sp>
          <p:nvSpPr>
            <p:cNvPr id="1215696" name="Rectangle 208"/>
            <p:cNvSpPr>
              <a:spLocks noChangeArrowheads="1"/>
            </p:cNvSpPr>
            <p:nvPr/>
          </p:nvSpPr>
          <p:spPr bwMode="auto">
            <a:xfrm>
              <a:off x="3216" y="3600"/>
              <a:ext cx="1872" cy="632"/>
            </a:xfrm>
            <a:prstGeom prst="rect">
              <a:avLst/>
            </a:prstGeom>
            <a:noFill/>
            <a:ln w="12700">
              <a:noFill/>
              <a:miter lim="800000"/>
              <a:headEnd/>
              <a:tailEnd/>
            </a:ln>
            <a:effectLst/>
          </p:spPr>
          <p:txBody>
            <a:bodyPr lIns="90488" tIns="44450" rIns="90488" bIns="44450">
              <a:spAutoFit/>
            </a:bodyPr>
            <a:lstStyle/>
            <a:p>
              <a:r>
                <a:rPr lang="en-US" sz="2000"/>
                <a:t>clock edge that controls loading of pipeline state registers</a:t>
              </a:r>
            </a:p>
          </p:txBody>
        </p:sp>
        <p:sp>
          <p:nvSpPr>
            <p:cNvPr id="1215699" name="Line 211"/>
            <p:cNvSpPr>
              <a:spLocks noChangeShapeType="1"/>
            </p:cNvSpPr>
            <p:nvPr/>
          </p:nvSpPr>
          <p:spPr bwMode="auto">
            <a:xfrm>
              <a:off x="3456" y="3360"/>
              <a:ext cx="192" cy="288"/>
            </a:xfrm>
            <a:prstGeom prst="line">
              <a:avLst/>
            </a:prstGeom>
            <a:noFill/>
            <a:ln w="12700">
              <a:solidFill>
                <a:schemeClr val="accent1"/>
              </a:solidFill>
              <a:round/>
              <a:headEnd type="triangle" w="med" len="med"/>
              <a:tailEnd/>
            </a:ln>
            <a:effectLst/>
          </p:spPr>
          <p:txBody>
            <a:bodyPr/>
            <a:lstStyle/>
            <a:p>
              <a:endParaRPr lang="en-US"/>
            </a:p>
          </p:txBody>
        </p:sp>
        <p:sp>
          <p:nvSpPr>
            <p:cNvPr id="1215700" name="Line 212"/>
            <p:cNvSpPr>
              <a:spLocks noChangeShapeType="1"/>
            </p:cNvSpPr>
            <p:nvPr/>
          </p:nvSpPr>
          <p:spPr bwMode="auto">
            <a:xfrm>
              <a:off x="3072" y="3360"/>
              <a:ext cx="192" cy="288"/>
            </a:xfrm>
            <a:prstGeom prst="line">
              <a:avLst/>
            </a:prstGeom>
            <a:noFill/>
            <a:ln w="12700">
              <a:solidFill>
                <a:schemeClr val="accent1"/>
              </a:solidFill>
              <a:round/>
              <a:headEnd type="triangle" w="med" len="med"/>
              <a:tailEnd/>
            </a:ln>
            <a:effectLst/>
          </p:spPr>
          <p:txBody>
            <a:bodyPr/>
            <a:lstStyle/>
            <a:p>
              <a:endParaRPr lang="en-US"/>
            </a:p>
          </p:txBody>
        </p:sp>
      </p:grpSp>
    </p:spTree>
    <p:extLst>
      <p:ext uri="{BB962C8B-B14F-4D97-AF65-F5344CB8AC3E}">
        <p14:creationId xmlns:p14="http://schemas.microsoft.com/office/powerpoint/2010/main" val="3509501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21567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1000"/>
                                  </p:stCondLst>
                                  <p:childTnLst>
                                    <p:set>
                                      <p:cBhvr>
                                        <p:cTn id="16" dur="1" fill="hold">
                                          <p:stCondLst>
                                            <p:cond delay="0"/>
                                          </p:stCondLst>
                                        </p:cTn>
                                        <p:tgtEl>
                                          <p:spTgt spid="1215649"/>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2000"/>
                                  </p:stCondLst>
                                  <p:childTnLst>
                                    <p:set>
                                      <p:cBhvr>
                                        <p:cTn id="19" dur="1" fill="hold">
                                          <p:stCondLst>
                                            <p:cond delay="0"/>
                                          </p:stCondLst>
                                        </p:cTn>
                                        <p:tgtEl>
                                          <p:spTgt spid="12156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5677"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5730" name="Rectangle 2"/>
          <p:cNvSpPr>
            <a:spLocks noGrp="1" noChangeArrowheads="1"/>
          </p:cNvSpPr>
          <p:nvPr>
            <p:ph type="title"/>
          </p:nvPr>
        </p:nvSpPr>
        <p:spPr>
          <a:xfrm>
            <a:off x="652463" y="304800"/>
            <a:ext cx="7288212" cy="422275"/>
          </a:xfrm>
          <a:noFill/>
          <a:ln/>
        </p:spPr>
        <p:txBody>
          <a:bodyPr wrap="none"/>
          <a:lstStyle/>
          <a:p>
            <a:r>
              <a:rPr lang="en-US"/>
              <a:t>Register Usage Can Cause Data Hazards</a:t>
            </a:r>
          </a:p>
        </p:txBody>
      </p:sp>
      <p:sp>
        <p:nvSpPr>
          <p:cNvPr id="1225731" name="Rectangle 3"/>
          <p:cNvSpPr>
            <a:spLocks noChangeArrowheads="1"/>
          </p:cNvSpPr>
          <p:nvPr/>
        </p:nvSpPr>
        <p:spPr bwMode="auto">
          <a:xfrm>
            <a:off x="152400" y="1906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25732" name="Line 4"/>
          <p:cNvSpPr>
            <a:spLocks noChangeShapeType="1"/>
          </p:cNvSpPr>
          <p:nvPr/>
        </p:nvSpPr>
        <p:spPr bwMode="auto">
          <a:xfrm>
            <a:off x="2282825" y="12954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25733" name="Rectangle 5"/>
          <p:cNvSpPr>
            <a:spLocks noChangeArrowheads="1"/>
          </p:cNvSpPr>
          <p:nvPr/>
        </p:nvSpPr>
        <p:spPr bwMode="auto">
          <a:xfrm>
            <a:off x="585788" y="1752600"/>
            <a:ext cx="1458912"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1225734" name="Rectangle 6"/>
          <p:cNvSpPr>
            <a:spLocks noChangeArrowheads="1"/>
          </p:cNvSpPr>
          <p:nvPr/>
        </p:nvSpPr>
        <p:spPr bwMode="auto">
          <a:xfrm>
            <a:off x="585788" y="2590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sp>
        <p:nvSpPr>
          <p:cNvPr id="1225735" name="Rectangle 7"/>
          <p:cNvSpPr>
            <a:spLocks noChangeArrowheads="1"/>
          </p:cNvSpPr>
          <p:nvPr/>
        </p:nvSpPr>
        <p:spPr bwMode="auto">
          <a:xfrm>
            <a:off x="585788" y="34718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latin typeface="Courier New" pitchFamily="49" charset="0"/>
              </a:rPr>
              <a:t>$1</a:t>
            </a:r>
            <a:r>
              <a:rPr lang="en-US" sz="2400" b="1">
                <a:solidFill>
                  <a:schemeClr val="tx1"/>
                </a:solidFill>
                <a:latin typeface="Courier New" pitchFamily="49" charset="0"/>
              </a:rPr>
              <a:t>,$7</a:t>
            </a:r>
          </a:p>
        </p:txBody>
      </p:sp>
      <p:sp>
        <p:nvSpPr>
          <p:cNvPr id="1225736" name="Rectangle 8"/>
          <p:cNvSpPr>
            <a:spLocks noChangeArrowheads="1"/>
          </p:cNvSpPr>
          <p:nvPr/>
        </p:nvSpPr>
        <p:spPr bwMode="auto">
          <a:xfrm>
            <a:off x="585788" y="5181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25737" name="Line 9"/>
          <p:cNvSpPr>
            <a:spLocks noChangeShapeType="1"/>
          </p:cNvSpPr>
          <p:nvPr/>
        </p:nvSpPr>
        <p:spPr bwMode="auto">
          <a:xfrm>
            <a:off x="34639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38" name="Line 10"/>
          <p:cNvSpPr>
            <a:spLocks noChangeShapeType="1"/>
          </p:cNvSpPr>
          <p:nvPr/>
        </p:nvSpPr>
        <p:spPr bwMode="auto">
          <a:xfrm>
            <a:off x="41497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39" name="Line 11"/>
          <p:cNvSpPr>
            <a:spLocks noChangeShapeType="1"/>
          </p:cNvSpPr>
          <p:nvPr/>
        </p:nvSpPr>
        <p:spPr bwMode="auto">
          <a:xfrm>
            <a:off x="48355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40" name="Line 12"/>
          <p:cNvSpPr>
            <a:spLocks noChangeShapeType="1"/>
          </p:cNvSpPr>
          <p:nvPr/>
        </p:nvSpPr>
        <p:spPr bwMode="auto">
          <a:xfrm>
            <a:off x="55213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41" name="Line 13"/>
          <p:cNvSpPr>
            <a:spLocks noChangeShapeType="1"/>
          </p:cNvSpPr>
          <p:nvPr/>
        </p:nvSpPr>
        <p:spPr bwMode="auto">
          <a:xfrm>
            <a:off x="62071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42" name="Line 14"/>
          <p:cNvSpPr>
            <a:spLocks noChangeShapeType="1"/>
          </p:cNvSpPr>
          <p:nvPr/>
        </p:nvSpPr>
        <p:spPr bwMode="auto">
          <a:xfrm>
            <a:off x="68929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43" name="Line 15"/>
          <p:cNvSpPr>
            <a:spLocks noChangeShapeType="1"/>
          </p:cNvSpPr>
          <p:nvPr/>
        </p:nvSpPr>
        <p:spPr bwMode="auto">
          <a:xfrm>
            <a:off x="75787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44" name="Line 16"/>
          <p:cNvSpPr>
            <a:spLocks noChangeShapeType="1"/>
          </p:cNvSpPr>
          <p:nvPr/>
        </p:nvSpPr>
        <p:spPr bwMode="auto">
          <a:xfrm>
            <a:off x="8264525" y="14224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5745" name="Rectangle 17"/>
          <p:cNvSpPr>
            <a:spLocks noChangeArrowheads="1"/>
          </p:cNvSpPr>
          <p:nvPr/>
        </p:nvSpPr>
        <p:spPr bwMode="auto">
          <a:xfrm>
            <a:off x="585788" y="43100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sp>
        <p:nvSpPr>
          <p:cNvPr id="1225746" name="Line 18"/>
          <p:cNvSpPr>
            <a:spLocks noChangeShapeType="1"/>
          </p:cNvSpPr>
          <p:nvPr/>
        </p:nvSpPr>
        <p:spPr bwMode="auto">
          <a:xfrm>
            <a:off x="509588" y="18288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2" name="Group 19"/>
          <p:cNvGrpSpPr>
            <a:grpSpLocks/>
          </p:cNvGrpSpPr>
          <p:nvPr/>
        </p:nvGrpSpPr>
        <p:grpSpPr bwMode="auto">
          <a:xfrm>
            <a:off x="2892425" y="1671638"/>
            <a:ext cx="3355975" cy="838200"/>
            <a:chOff x="1562" y="1152"/>
            <a:chExt cx="2114" cy="528"/>
          </a:xfrm>
        </p:grpSpPr>
        <p:grpSp>
          <p:nvGrpSpPr>
            <p:cNvPr id="3" name="Group 20"/>
            <p:cNvGrpSpPr>
              <a:grpSpLocks/>
            </p:cNvGrpSpPr>
            <p:nvPr/>
          </p:nvGrpSpPr>
          <p:grpSpPr bwMode="auto">
            <a:xfrm>
              <a:off x="2487" y="1152"/>
              <a:ext cx="223" cy="481"/>
              <a:chOff x="2207" y="1413"/>
              <a:chExt cx="223" cy="481"/>
            </a:xfrm>
          </p:grpSpPr>
          <p:sp>
            <p:nvSpPr>
              <p:cNvPr id="1225749" name="Freeform 2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50" name="Rectangle 2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23"/>
            <p:cNvGrpSpPr>
              <a:grpSpLocks/>
            </p:cNvGrpSpPr>
            <p:nvPr/>
          </p:nvGrpSpPr>
          <p:grpSpPr bwMode="auto">
            <a:xfrm>
              <a:off x="1562" y="1248"/>
              <a:ext cx="349" cy="289"/>
              <a:chOff x="1282" y="1509"/>
              <a:chExt cx="349" cy="289"/>
            </a:xfrm>
          </p:grpSpPr>
          <p:sp>
            <p:nvSpPr>
              <p:cNvPr id="1225752" name="Rectangle 2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5" name="Group 25"/>
              <p:cNvGrpSpPr>
                <a:grpSpLocks/>
              </p:cNvGrpSpPr>
              <p:nvPr/>
            </p:nvGrpSpPr>
            <p:grpSpPr bwMode="auto">
              <a:xfrm>
                <a:off x="1291" y="1509"/>
                <a:ext cx="340" cy="289"/>
                <a:chOff x="1291" y="1509"/>
                <a:chExt cx="340" cy="289"/>
              </a:xfrm>
            </p:grpSpPr>
            <p:sp>
              <p:nvSpPr>
                <p:cNvPr id="1225754" name="Freeform 2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55" name="Freeform 2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5756" name="Rectangle 2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29"/>
            <p:cNvGrpSpPr>
              <a:grpSpLocks/>
            </p:cNvGrpSpPr>
            <p:nvPr/>
          </p:nvGrpSpPr>
          <p:grpSpPr bwMode="auto">
            <a:xfrm>
              <a:off x="2031" y="1248"/>
              <a:ext cx="296" cy="289"/>
              <a:chOff x="1751" y="1509"/>
              <a:chExt cx="296" cy="289"/>
            </a:xfrm>
          </p:grpSpPr>
          <p:sp>
            <p:nvSpPr>
              <p:cNvPr id="1225758" name="Freeform 3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59" name="Freeform 3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760" name="Line 3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5761" name="Freeform 3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62" name="Line 3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5763" name="Rectangle 3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7" name="Group 36"/>
            <p:cNvGrpSpPr>
              <a:grpSpLocks/>
            </p:cNvGrpSpPr>
            <p:nvPr/>
          </p:nvGrpSpPr>
          <p:grpSpPr bwMode="auto">
            <a:xfrm>
              <a:off x="2880" y="1248"/>
              <a:ext cx="325" cy="289"/>
              <a:chOff x="2600" y="1509"/>
              <a:chExt cx="325" cy="289"/>
            </a:xfrm>
          </p:grpSpPr>
          <p:sp>
            <p:nvSpPr>
              <p:cNvPr id="1225765" name="Freeform 3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66" name="Freeform 3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767" name="Rectangle 3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0"/>
            <p:cNvGrpSpPr>
              <a:grpSpLocks/>
            </p:cNvGrpSpPr>
            <p:nvPr/>
          </p:nvGrpSpPr>
          <p:grpSpPr bwMode="auto">
            <a:xfrm>
              <a:off x="3348" y="1248"/>
              <a:ext cx="284" cy="289"/>
              <a:chOff x="3068" y="1509"/>
              <a:chExt cx="284" cy="289"/>
            </a:xfrm>
          </p:grpSpPr>
          <p:sp>
            <p:nvSpPr>
              <p:cNvPr id="1225769" name="Freeform 4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70" name="Freeform 4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771" name="Line 4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5772" name="Line 4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5773" name="Line 4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5774" name="Line 4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5775" name="Line 4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5776" name="Line 4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5777" name="Line 4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5778" name="Line 5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5779" name="Line 5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9" name="Group 52"/>
          <p:cNvGrpSpPr>
            <a:grpSpLocks/>
          </p:cNvGrpSpPr>
          <p:nvPr/>
        </p:nvGrpSpPr>
        <p:grpSpPr bwMode="auto">
          <a:xfrm>
            <a:off x="3578225" y="2509838"/>
            <a:ext cx="3355975" cy="838200"/>
            <a:chOff x="1562" y="1152"/>
            <a:chExt cx="2114" cy="528"/>
          </a:xfrm>
        </p:grpSpPr>
        <p:grpSp>
          <p:nvGrpSpPr>
            <p:cNvPr id="10" name="Group 53"/>
            <p:cNvGrpSpPr>
              <a:grpSpLocks/>
            </p:cNvGrpSpPr>
            <p:nvPr/>
          </p:nvGrpSpPr>
          <p:grpSpPr bwMode="auto">
            <a:xfrm>
              <a:off x="2487" y="1152"/>
              <a:ext cx="223" cy="481"/>
              <a:chOff x="2207" y="1413"/>
              <a:chExt cx="223" cy="481"/>
            </a:xfrm>
          </p:grpSpPr>
          <p:sp>
            <p:nvSpPr>
              <p:cNvPr id="1225782" name="Freeform 5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83" name="Rectangle 5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1" name="Group 56"/>
            <p:cNvGrpSpPr>
              <a:grpSpLocks/>
            </p:cNvGrpSpPr>
            <p:nvPr/>
          </p:nvGrpSpPr>
          <p:grpSpPr bwMode="auto">
            <a:xfrm>
              <a:off x="1562" y="1248"/>
              <a:ext cx="349" cy="289"/>
              <a:chOff x="1282" y="1509"/>
              <a:chExt cx="349" cy="289"/>
            </a:xfrm>
          </p:grpSpPr>
          <p:sp>
            <p:nvSpPr>
              <p:cNvPr id="1225785" name="Rectangle 5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 name="Group 58"/>
              <p:cNvGrpSpPr>
                <a:grpSpLocks/>
              </p:cNvGrpSpPr>
              <p:nvPr/>
            </p:nvGrpSpPr>
            <p:grpSpPr bwMode="auto">
              <a:xfrm>
                <a:off x="1291" y="1509"/>
                <a:ext cx="340" cy="289"/>
                <a:chOff x="1291" y="1509"/>
                <a:chExt cx="340" cy="289"/>
              </a:xfrm>
            </p:grpSpPr>
            <p:sp>
              <p:nvSpPr>
                <p:cNvPr id="1225787" name="Freeform 5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88" name="Freeform 6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5789" name="Rectangle 6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62"/>
            <p:cNvGrpSpPr>
              <a:grpSpLocks/>
            </p:cNvGrpSpPr>
            <p:nvPr/>
          </p:nvGrpSpPr>
          <p:grpSpPr bwMode="auto">
            <a:xfrm>
              <a:off x="2031" y="1248"/>
              <a:ext cx="296" cy="289"/>
              <a:chOff x="1751" y="1509"/>
              <a:chExt cx="296" cy="289"/>
            </a:xfrm>
          </p:grpSpPr>
          <p:sp>
            <p:nvSpPr>
              <p:cNvPr id="1225791" name="Freeform 6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92" name="Freeform 6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793" name="Line 6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5794" name="Freeform 6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95" name="Line 6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5796" name="Rectangle 6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4" name="Group 69"/>
            <p:cNvGrpSpPr>
              <a:grpSpLocks/>
            </p:cNvGrpSpPr>
            <p:nvPr/>
          </p:nvGrpSpPr>
          <p:grpSpPr bwMode="auto">
            <a:xfrm>
              <a:off x="2880" y="1248"/>
              <a:ext cx="325" cy="289"/>
              <a:chOff x="2600" y="1509"/>
              <a:chExt cx="325" cy="289"/>
            </a:xfrm>
          </p:grpSpPr>
          <p:sp>
            <p:nvSpPr>
              <p:cNvPr id="1225798" name="Freeform 7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799" name="Freeform 7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00" name="Rectangle 7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3"/>
            <p:cNvGrpSpPr>
              <a:grpSpLocks/>
            </p:cNvGrpSpPr>
            <p:nvPr/>
          </p:nvGrpSpPr>
          <p:grpSpPr bwMode="auto">
            <a:xfrm>
              <a:off x="3348" y="1248"/>
              <a:ext cx="284" cy="289"/>
              <a:chOff x="3068" y="1509"/>
              <a:chExt cx="284" cy="289"/>
            </a:xfrm>
          </p:grpSpPr>
          <p:sp>
            <p:nvSpPr>
              <p:cNvPr id="1225802" name="Freeform 7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03" name="Freeform 7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04" name="Line 7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5805" name="Line 7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5806" name="Line 7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5807" name="Line 7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5808" name="Line 8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5809" name="Line 8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5810" name="Line 8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5811" name="Line 8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5812" name="Line 8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6" name="Group 85"/>
          <p:cNvGrpSpPr>
            <a:grpSpLocks/>
          </p:cNvGrpSpPr>
          <p:nvPr/>
        </p:nvGrpSpPr>
        <p:grpSpPr bwMode="auto">
          <a:xfrm>
            <a:off x="4264025" y="3348038"/>
            <a:ext cx="3355975" cy="838200"/>
            <a:chOff x="1562" y="1152"/>
            <a:chExt cx="2114" cy="528"/>
          </a:xfrm>
        </p:grpSpPr>
        <p:grpSp>
          <p:nvGrpSpPr>
            <p:cNvPr id="17" name="Group 86"/>
            <p:cNvGrpSpPr>
              <a:grpSpLocks/>
            </p:cNvGrpSpPr>
            <p:nvPr/>
          </p:nvGrpSpPr>
          <p:grpSpPr bwMode="auto">
            <a:xfrm>
              <a:off x="2487" y="1152"/>
              <a:ext cx="223" cy="481"/>
              <a:chOff x="2207" y="1413"/>
              <a:chExt cx="223" cy="481"/>
            </a:xfrm>
          </p:grpSpPr>
          <p:sp>
            <p:nvSpPr>
              <p:cNvPr id="1225815" name="Freeform 87"/>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16" name="Rectangle 88"/>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8" name="Group 89"/>
            <p:cNvGrpSpPr>
              <a:grpSpLocks/>
            </p:cNvGrpSpPr>
            <p:nvPr/>
          </p:nvGrpSpPr>
          <p:grpSpPr bwMode="auto">
            <a:xfrm>
              <a:off x="1562" y="1248"/>
              <a:ext cx="349" cy="289"/>
              <a:chOff x="1282" y="1509"/>
              <a:chExt cx="349" cy="289"/>
            </a:xfrm>
          </p:grpSpPr>
          <p:sp>
            <p:nvSpPr>
              <p:cNvPr id="1225818" name="Rectangle 90"/>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9" name="Group 91"/>
              <p:cNvGrpSpPr>
                <a:grpSpLocks/>
              </p:cNvGrpSpPr>
              <p:nvPr/>
            </p:nvGrpSpPr>
            <p:grpSpPr bwMode="auto">
              <a:xfrm>
                <a:off x="1291" y="1509"/>
                <a:ext cx="340" cy="289"/>
                <a:chOff x="1291" y="1509"/>
                <a:chExt cx="340" cy="289"/>
              </a:xfrm>
            </p:grpSpPr>
            <p:sp>
              <p:nvSpPr>
                <p:cNvPr id="1225820" name="Freeform 92"/>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21" name="Freeform 93"/>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5822" name="Rectangle 94"/>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95"/>
            <p:cNvGrpSpPr>
              <a:grpSpLocks/>
            </p:cNvGrpSpPr>
            <p:nvPr/>
          </p:nvGrpSpPr>
          <p:grpSpPr bwMode="auto">
            <a:xfrm>
              <a:off x="2031" y="1248"/>
              <a:ext cx="296" cy="289"/>
              <a:chOff x="1751" y="1509"/>
              <a:chExt cx="296" cy="289"/>
            </a:xfrm>
          </p:grpSpPr>
          <p:sp>
            <p:nvSpPr>
              <p:cNvPr id="1225824" name="Freeform 96"/>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25" name="Freeform 97"/>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26" name="Line 98"/>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5827" name="Freeform 99"/>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28" name="Line 100"/>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5829" name="Rectangle 101"/>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1" name="Group 102"/>
            <p:cNvGrpSpPr>
              <a:grpSpLocks/>
            </p:cNvGrpSpPr>
            <p:nvPr/>
          </p:nvGrpSpPr>
          <p:grpSpPr bwMode="auto">
            <a:xfrm>
              <a:off x="2880" y="1248"/>
              <a:ext cx="325" cy="289"/>
              <a:chOff x="2600" y="1509"/>
              <a:chExt cx="325" cy="289"/>
            </a:xfrm>
          </p:grpSpPr>
          <p:sp>
            <p:nvSpPr>
              <p:cNvPr id="1225831" name="Freeform 103"/>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32" name="Freeform 104"/>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33" name="Rectangle 105"/>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06"/>
            <p:cNvGrpSpPr>
              <a:grpSpLocks/>
            </p:cNvGrpSpPr>
            <p:nvPr/>
          </p:nvGrpSpPr>
          <p:grpSpPr bwMode="auto">
            <a:xfrm>
              <a:off x="3348" y="1248"/>
              <a:ext cx="284" cy="289"/>
              <a:chOff x="3068" y="1509"/>
              <a:chExt cx="284" cy="289"/>
            </a:xfrm>
          </p:grpSpPr>
          <p:sp>
            <p:nvSpPr>
              <p:cNvPr id="1225835" name="Freeform 107"/>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36" name="Freeform 108"/>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37" name="Line 109"/>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5838" name="Line 110"/>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5839" name="Line 111"/>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5840" name="Line 112"/>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5841" name="Line 113"/>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5842" name="Line 114"/>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5843" name="Line 115"/>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5844" name="Line 116"/>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5845" name="Line 117"/>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3" name="Group 118"/>
          <p:cNvGrpSpPr>
            <a:grpSpLocks/>
          </p:cNvGrpSpPr>
          <p:nvPr/>
        </p:nvGrpSpPr>
        <p:grpSpPr bwMode="auto">
          <a:xfrm>
            <a:off x="4949825" y="4186238"/>
            <a:ext cx="3355975" cy="838200"/>
            <a:chOff x="1562" y="1152"/>
            <a:chExt cx="2114" cy="528"/>
          </a:xfrm>
        </p:grpSpPr>
        <p:grpSp>
          <p:nvGrpSpPr>
            <p:cNvPr id="24" name="Group 119"/>
            <p:cNvGrpSpPr>
              <a:grpSpLocks/>
            </p:cNvGrpSpPr>
            <p:nvPr/>
          </p:nvGrpSpPr>
          <p:grpSpPr bwMode="auto">
            <a:xfrm>
              <a:off x="2487" y="1152"/>
              <a:ext cx="223" cy="481"/>
              <a:chOff x="2207" y="1413"/>
              <a:chExt cx="223" cy="481"/>
            </a:xfrm>
          </p:grpSpPr>
          <p:sp>
            <p:nvSpPr>
              <p:cNvPr id="1225848" name="Freeform 12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49" name="Rectangle 12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5" name="Group 122"/>
            <p:cNvGrpSpPr>
              <a:grpSpLocks/>
            </p:cNvGrpSpPr>
            <p:nvPr/>
          </p:nvGrpSpPr>
          <p:grpSpPr bwMode="auto">
            <a:xfrm>
              <a:off x="1562" y="1248"/>
              <a:ext cx="349" cy="289"/>
              <a:chOff x="1282" y="1509"/>
              <a:chExt cx="349" cy="289"/>
            </a:xfrm>
          </p:grpSpPr>
          <p:sp>
            <p:nvSpPr>
              <p:cNvPr id="1225851" name="Rectangle 12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6" name="Group 124"/>
              <p:cNvGrpSpPr>
                <a:grpSpLocks/>
              </p:cNvGrpSpPr>
              <p:nvPr/>
            </p:nvGrpSpPr>
            <p:grpSpPr bwMode="auto">
              <a:xfrm>
                <a:off x="1291" y="1509"/>
                <a:ext cx="340" cy="289"/>
                <a:chOff x="1291" y="1509"/>
                <a:chExt cx="340" cy="289"/>
              </a:xfrm>
            </p:grpSpPr>
            <p:sp>
              <p:nvSpPr>
                <p:cNvPr id="1225853" name="Freeform 12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54" name="Freeform 12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5855" name="Rectangle 12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28"/>
            <p:cNvGrpSpPr>
              <a:grpSpLocks/>
            </p:cNvGrpSpPr>
            <p:nvPr/>
          </p:nvGrpSpPr>
          <p:grpSpPr bwMode="auto">
            <a:xfrm>
              <a:off x="2031" y="1248"/>
              <a:ext cx="296" cy="289"/>
              <a:chOff x="1751" y="1509"/>
              <a:chExt cx="296" cy="289"/>
            </a:xfrm>
          </p:grpSpPr>
          <p:sp>
            <p:nvSpPr>
              <p:cNvPr id="1225857" name="Freeform 12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58" name="Freeform 13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59" name="Line 13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5860" name="Freeform 13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61" name="Line 13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5862" name="Rectangle 13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8" name="Group 135"/>
            <p:cNvGrpSpPr>
              <a:grpSpLocks/>
            </p:cNvGrpSpPr>
            <p:nvPr/>
          </p:nvGrpSpPr>
          <p:grpSpPr bwMode="auto">
            <a:xfrm>
              <a:off x="2880" y="1248"/>
              <a:ext cx="325" cy="289"/>
              <a:chOff x="2600" y="1509"/>
              <a:chExt cx="325" cy="289"/>
            </a:xfrm>
          </p:grpSpPr>
          <p:sp>
            <p:nvSpPr>
              <p:cNvPr id="1225864" name="Freeform 13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65" name="Freeform 13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66" name="Rectangle 13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39"/>
            <p:cNvGrpSpPr>
              <a:grpSpLocks/>
            </p:cNvGrpSpPr>
            <p:nvPr/>
          </p:nvGrpSpPr>
          <p:grpSpPr bwMode="auto">
            <a:xfrm>
              <a:off x="3348" y="1248"/>
              <a:ext cx="284" cy="289"/>
              <a:chOff x="3068" y="1509"/>
              <a:chExt cx="284" cy="289"/>
            </a:xfrm>
          </p:grpSpPr>
          <p:sp>
            <p:nvSpPr>
              <p:cNvPr id="1225868" name="Freeform 14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69" name="Freeform 14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70" name="Line 14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5871" name="Line 14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5872" name="Line 14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5873" name="Line 14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5874" name="Line 14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5875" name="Line 14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5876" name="Line 14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5877" name="Line 14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5878" name="Line 15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30" name="Group 151"/>
          <p:cNvGrpSpPr>
            <a:grpSpLocks/>
          </p:cNvGrpSpPr>
          <p:nvPr/>
        </p:nvGrpSpPr>
        <p:grpSpPr bwMode="auto">
          <a:xfrm>
            <a:off x="5635625" y="5024438"/>
            <a:ext cx="3355975" cy="838200"/>
            <a:chOff x="1562" y="1152"/>
            <a:chExt cx="2114" cy="528"/>
          </a:xfrm>
        </p:grpSpPr>
        <p:grpSp>
          <p:nvGrpSpPr>
            <p:cNvPr id="31" name="Group 152"/>
            <p:cNvGrpSpPr>
              <a:grpSpLocks/>
            </p:cNvGrpSpPr>
            <p:nvPr/>
          </p:nvGrpSpPr>
          <p:grpSpPr bwMode="auto">
            <a:xfrm>
              <a:off x="2487" y="1152"/>
              <a:ext cx="223" cy="481"/>
              <a:chOff x="2207" y="1413"/>
              <a:chExt cx="223" cy="481"/>
            </a:xfrm>
          </p:grpSpPr>
          <p:sp>
            <p:nvSpPr>
              <p:cNvPr id="1225881" name="Freeform 15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82" name="Rectangle 15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25728" name="Group 155"/>
            <p:cNvGrpSpPr>
              <a:grpSpLocks/>
            </p:cNvGrpSpPr>
            <p:nvPr/>
          </p:nvGrpSpPr>
          <p:grpSpPr bwMode="auto">
            <a:xfrm>
              <a:off x="1562" y="1248"/>
              <a:ext cx="349" cy="289"/>
              <a:chOff x="1282" y="1509"/>
              <a:chExt cx="349" cy="289"/>
            </a:xfrm>
          </p:grpSpPr>
          <p:sp>
            <p:nvSpPr>
              <p:cNvPr id="1225884" name="Rectangle 156"/>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25729" name="Group 157"/>
              <p:cNvGrpSpPr>
                <a:grpSpLocks/>
              </p:cNvGrpSpPr>
              <p:nvPr/>
            </p:nvGrpSpPr>
            <p:grpSpPr bwMode="auto">
              <a:xfrm>
                <a:off x="1291" y="1509"/>
                <a:ext cx="340" cy="289"/>
                <a:chOff x="1291" y="1509"/>
                <a:chExt cx="340" cy="289"/>
              </a:xfrm>
            </p:grpSpPr>
            <p:sp>
              <p:nvSpPr>
                <p:cNvPr id="1225886" name="Freeform 15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87" name="Freeform 15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5888" name="Rectangle 16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25747" name="Group 161"/>
            <p:cNvGrpSpPr>
              <a:grpSpLocks/>
            </p:cNvGrpSpPr>
            <p:nvPr/>
          </p:nvGrpSpPr>
          <p:grpSpPr bwMode="auto">
            <a:xfrm>
              <a:off x="2031" y="1248"/>
              <a:ext cx="296" cy="289"/>
              <a:chOff x="1751" y="1509"/>
              <a:chExt cx="296" cy="289"/>
            </a:xfrm>
          </p:grpSpPr>
          <p:sp>
            <p:nvSpPr>
              <p:cNvPr id="1225890" name="Freeform 16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91" name="Freeform 16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92" name="Line 16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5893" name="Freeform 16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94" name="Line 16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5895" name="Rectangle 167"/>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25748" name="Group 168"/>
            <p:cNvGrpSpPr>
              <a:grpSpLocks/>
            </p:cNvGrpSpPr>
            <p:nvPr/>
          </p:nvGrpSpPr>
          <p:grpSpPr bwMode="auto">
            <a:xfrm>
              <a:off x="2880" y="1248"/>
              <a:ext cx="325" cy="289"/>
              <a:chOff x="2600" y="1509"/>
              <a:chExt cx="325" cy="289"/>
            </a:xfrm>
          </p:grpSpPr>
          <p:sp>
            <p:nvSpPr>
              <p:cNvPr id="1225897" name="Freeform 16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898" name="Freeform 17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899" name="Rectangle 17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25751" name="Group 172"/>
            <p:cNvGrpSpPr>
              <a:grpSpLocks/>
            </p:cNvGrpSpPr>
            <p:nvPr/>
          </p:nvGrpSpPr>
          <p:grpSpPr bwMode="auto">
            <a:xfrm>
              <a:off x="3348" y="1248"/>
              <a:ext cx="284" cy="289"/>
              <a:chOff x="3068" y="1509"/>
              <a:chExt cx="284" cy="289"/>
            </a:xfrm>
          </p:grpSpPr>
          <p:sp>
            <p:nvSpPr>
              <p:cNvPr id="1225901" name="Freeform 17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5902" name="Freeform 17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5903" name="Line 17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5904" name="Line 17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5905" name="Line 17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5906" name="Line 17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5907" name="Line 17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5908" name="Line 18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5909" name="Line 18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5910" name="Line 18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5911" name="Line 18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25912" name="Rectangle 184"/>
          <p:cNvSpPr>
            <a:spLocks noGrp="1" noChangeArrowheads="1"/>
          </p:cNvSpPr>
          <p:nvPr>
            <p:ph type="body" idx="1"/>
          </p:nvPr>
        </p:nvSpPr>
        <p:spPr>
          <a:xfrm>
            <a:off x="609600" y="762000"/>
            <a:ext cx="7391400" cy="379413"/>
          </a:xfrm>
          <a:noFill/>
          <a:ln/>
        </p:spPr>
        <p:txBody>
          <a:bodyPr/>
          <a:lstStyle/>
          <a:p>
            <a:r>
              <a:rPr lang="en-US"/>
              <a:t>Dependencies backward in time cause </a:t>
            </a:r>
            <a:r>
              <a:rPr lang="en-US">
                <a:solidFill>
                  <a:schemeClr val="accent1"/>
                </a:solidFill>
              </a:rPr>
              <a:t>hazards</a:t>
            </a:r>
          </a:p>
        </p:txBody>
      </p:sp>
      <p:sp>
        <p:nvSpPr>
          <p:cNvPr id="1225914" name="Rectangle 186"/>
          <p:cNvSpPr>
            <a:spLocks noChangeArrowheads="1"/>
          </p:cNvSpPr>
          <p:nvPr/>
        </p:nvSpPr>
        <p:spPr bwMode="auto">
          <a:xfrm>
            <a:off x="762000" y="6019800"/>
            <a:ext cx="7848600" cy="379413"/>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a:solidFill>
                  <a:schemeClr val="accent2"/>
                </a:solidFill>
              </a:rPr>
              <a:t>Read before write</a:t>
            </a:r>
            <a:r>
              <a:rPr lang="en-US" sz="2400">
                <a:solidFill>
                  <a:schemeClr val="tx1"/>
                </a:solidFill>
              </a:rPr>
              <a:t> </a:t>
            </a:r>
            <a:r>
              <a:rPr lang="en-US" sz="2400"/>
              <a:t>data hazard</a:t>
            </a:r>
          </a:p>
        </p:txBody>
      </p:sp>
    </p:spTree>
    <p:extLst>
      <p:ext uri="{BB962C8B-B14F-4D97-AF65-F5344CB8AC3E}">
        <p14:creationId xmlns:p14="http://schemas.microsoft.com/office/powerpoint/2010/main" val="182269102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943600" y="2255838"/>
            <a:ext cx="914400" cy="3352800"/>
            <a:chOff x="3648" y="1440"/>
            <a:chExt cx="576" cy="2112"/>
          </a:xfrm>
        </p:grpSpPr>
        <p:sp>
          <p:nvSpPr>
            <p:cNvPr id="1227779" name="Rectangle 3"/>
            <p:cNvSpPr>
              <a:spLocks noChangeArrowheads="1"/>
            </p:cNvSpPr>
            <p:nvPr/>
          </p:nvSpPr>
          <p:spPr bwMode="auto">
            <a:xfrm>
              <a:off x="4080" y="3264"/>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27780" name="Rectangle 4"/>
            <p:cNvSpPr>
              <a:spLocks noChangeArrowheads="1"/>
            </p:cNvSpPr>
            <p:nvPr/>
          </p:nvSpPr>
          <p:spPr bwMode="auto">
            <a:xfrm>
              <a:off x="3648" y="2736"/>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27781" name="Line 5"/>
            <p:cNvSpPr>
              <a:spLocks noChangeShapeType="1"/>
            </p:cNvSpPr>
            <p:nvPr/>
          </p:nvSpPr>
          <p:spPr bwMode="auto">
            <a:xfrm>
              <a:off x="3648" y="1440"/>
              <a:ext cx="0" cy="1296"/>
            </a:xfrm>
            <a:prstGeom prst="line">
              <a:avLst/>
            </a:prstGeom>
            <a:noFill/>
            <a:ln w="28575">
              <a:solidFill>
                <a:srgbClr val="009900"/>
              </a:solidFill>
              <a:round/>
              <a:headEnd/>
              <a:tailEnd type="triangle" w="med" len="med"/>
            </a:ln>
            <a:effectLst/>
          </p:spPr>
          <p:txBody>
            <a:bodyPr/>
            <a:lstStyle/>
            <a:p>
              <a:endParaRPr lang="en-US"/>
            </a:p>
          </p:txBody>
        </p:sp>
        <p:sp>
          <p:nvSpPr>
            <p:cNvPr id="1227782" name="Line 6"/>
            <p:cNvSpPr>
              <a:spLocks noChangeShapeType="1"/>
            </p:cNvSpPr>
            <p:nvPr/>
          </p:nvSpPr>
          <p:spPr bwMode="auto">
            <a:xfrm>
              <a:off x="3648" y="1440"/>
              <a:ext cx="432" cy="1824"/>
            </a:xfrm>
            <a:prstGeom prst="line">
              <a:avLst/>
            </a:prstGeom>
            <a:noFill/>
            <a:ln w="28575">
              <a:solidFill>
                <a:srgbClr val="009900"/>
              </a:solidFill>
              <a:round/>
              <a:headEnd/>
              <a:tailEnd type="triangle" w="med" len="med"/>
            </a:ln>
            <a:effectLst/>
          </p:spPr>
          <p:txBody>
            <a:bodyPr/>
            <a:lstStyle/>
            <a:p>
              <a:endParaRPr lang="en-US"/>
            </a:p>
          </p:txBody>
        </p:sp>
      </p:grpSp>
      <p:grpSp>
        <p:nvGrpSpPr>
          <p:cNvPr id="3" name="Group 7"/>
          <p:cNvGrpSpPr>
            <a:grpSpLocks/>
          </p:cNvGrpSpPr>
          <p:nvPr/>
        </p:nvGrpSpPr>
        <p:grpSpPr bwMode="auto">
          <a:xfrm>
            <a:off x="4572000" y="1798638"/>
            <a:ext cx="1371600" cy="2133600"/>
            <a:chOff x="2784" y="1152"/>
            <a:chExt cx="864" cy="1344"/>
          </a:xfrm>
        </p:grpSpPr>
        <p:sp>
          <p:nvSpPr>
            <p:cNvPr id="1227784" name="Rectangle 8"/>
            <p:cNvSpPr>
              <a:spLocks noChangeArrowheads="1"/>
            </p:cNvSpPr>
            <p:nvPr/>
          </p:nvSpPr>
          <p:spPr bwMode="auto">
            <a:xfrm>
              <a:off x="3216" y="2208"/>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27785" name="Rectangle 9"/>
            <p:cNvSpPr>
              <a:spLocks noChangeArrowheads="1"/>
            </p:cNvSpPr>
            <p:nvPr/>
          </p:nvSpPr>
          <p:spPr bwMode="auto">
            <a:xfrm>
              <a:off x="2784" y="1680"/>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27786" name="Rectangle 10"/>
            <p:cNvSpPr>
              <a:spLocks noChangeArrowheads="1"/>
            </p:cNvSpPr>
            <p:nvPr/>
          </p:nvSpPr>
          <p:spPr bwMode="auto">
            <a:xfrm>
              <a:off x="3504" y="1152"/>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27787" name="Line 11"/>
            <p:cNvSpPr>
              <a:spLocks noChangeShapeType="1"/>
            </p:cNvSpPr>
            <p:nvPr/>
          </p:nvSpPr>
          <p:spPr bwMode="auto">
            <a:xfrm flipH="1">
              <a:off x="2832" y="1440"/>
              <a:ext cx="816" cy="240"/>
            </a:xfrm>
            <a:prstGeom prst="line">
              <a:avLst/>
            </a:prstGeom>
            <a:noFill/>
            <a:ln w="28575">
              <a:solidFill>
                <a:schemeClr val="accent1"/>
              </a:solidFill>
              <a:round/>
              <a:headEnd/>
              <a:tailEnd type="triangle" w="med" len="med"/>
            </a:ln>
            <a:effectLst/>
          </p:spPr>
          <p:txBody>
            <a:bodyPr/>
            <a:lstStyle/>
            <a:p>
              <a:endParaRPr lang="en-US"/>
            </a:p>
          </p:txBody>
        </p:sp>
        <p:sp>
          <p:nvSpPr>
            <p:cNvPr id="1227788" name="Line 12"/>
            <p:cNvSpPr>
              <a:spLocks noChangeShapeType="1"/>
            </p:cNvSpPr>
            <p:nvPr/>
          </p:nvSpPr>
          <p:spPr bwMode="auto">
            <a:xfrm flipH="1">
              <a:off x="3216" y="1440"/>
              <a:ext cx="432" cy="768"/>
            </a:xfrm>
            <a:prstGeom prst="line">
              <a:avLst/>
            </a:prstGeom>
            <a:noFill/>
            <a:ln w="28575">
              <a:solidFill>
                <a:schemeClr val="accent1"/>
              </a:solidFill>
              <a:round/>
              <a:headEnd/>
              <a:tailEnd type="triangle" w="med" len="med"/>
            </a:ln>
            <a:effectLst/>
          </p:spPr>
          <p:txBody>
            <a:bodyPr/>
            <a:lstStyle/>
            <a:p>
              <a:endParaRPr lang="en-US"/>
            </a:p>
          </p:txBody>
        </p:sp>
      </p:grpSp>
      <p:sp>
        <p:nvSpPr>
          <p:cNvPr id="1227789" name="Rectangle 13"/>
          <p:cNvSpPr>
            <a:spLocks noGrp="1" noChangeArrowheads="1"/>
          </p:cNvSpPr>
          <p:nvPr>
            <p:ph type="title"/>
          </p:nvPr>
        </p:nvSpPr>
        <p:spPr>
          <a:xfrm>
            <a:off x="652463" y="304800"/>
            <a:ext cx="7288212" cy="422275"/>
          </a:xfrm>
          <a:noFill/>
          <a:ln/>
        </p:spPr>
        <p:txBody>
          <a:bodyPr wrap="none"/>
          <a:lstStyle/>
          <a:p>
            <a:r>
              <a:rPr lang="en-US"/>
              <a:t>Register Usage Can Cause Data Hazards</a:t>
            </a:r>
          </a:p>
        </p:txBody>
      </p:sp>
      <p:sp>
        <p:nvSpPr>
          <p:cNvPr id="1227791" name="Line 15"/>
          <p:cNvSpPr>
            <a:spLocks noChangeShapeType="1"/>
          </p:cNvSpPr>
          <p:nvPr/>
        </p:nvSpPr>
        <p:spPr bwMode="auto">
          <a:xfrm>
            <a:off x="2286000" y="12700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27796" name="Line 20"/>
          <p:cNvSpPr>
            <a:spLocks noChangeShapeType="1"/>
          </p:cNvSpPr>
          <p:nvPr/>
        </p:nvSpPr>
        <p:spPr bwMode="auto">
          <a:xfrm>
            <a:off x="34671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797" name="Line 21"/>
          <p:cNvSpPr>
            <a:spLocks noChangeShapeType="1"/>
          </p:cNvSpPr>
          <p:nvPr/>
        </p:nvSpPr>
        <p:spPr bwMode="auto">
          <a:xfrm>
            <a:off x="41529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798" name="Line 22"/>
          <p:cNvSpPr>
            <a:spLocks noChangeShapeType="1"/>
          </p:cNvSpPr>
          <p:nvPr/>
        </p:nvSpPr>
        <p:spPr bwMode="auto">
          <a:xfrm>
            <a:off x="48387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799" name="Line 23"/>
          <p:cNvSpPr>
            <a:spLocks noChangeShapeType="1"/>
          </p:cNvSpPr>
          <p:nvPr/>
        </p:nvSpPr>
        <p:spPr bwMode="auto">
          <a:xfrm>
            <a:off x="55245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800" name="Line 24"/>
          <p:cNvSpPr>
            <a:spLocks noChangeShapeType="1"/>
          </p:cNvSpPr>
          <p:nvPr/>
        </p:nvSpPr>
        <p:spPr bwMode="auto">
          <a:xfrm>
            <a:off x="62103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801" name="Line 25"/>
          <p:cNvSpPr>
            <a:spLocks noChangeShapeType="1"/>
          </p:cNvSpPr>
          <p:nvPr/>
        </p:nvSpPr>
        <p:spPr bwMode="auto">
          <a:xfrm>
            <a:off x="68961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802" name="Line 26"/>
          <p:cNvSpPr>
            <a:spLocks noChangeShapeType="1"/>
          </p:cNvSpPr>
          <p:nvPr/>
        </p:nvSpPr>
        <p:spPr bwMode="auto">
          <a:xfrm>
            <a:off x="75819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27803" name="Line 27"/>
          <p:cNvSpPr>
            <a:spLocks noChangeShapeType="1"/>
          </p:cNvSpPr>
          <p:nvPr/>
        </p:nvSpPr>
        <p:spPr bwMode="auto">
          <a:xfrm>
            <a:off x="8267700"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grpSp>
        <p:nvGrpSpPr>
          <p:cNvPr id="4" name="Group 30"/>
          <p:cNvGrpSpPr>
            <a:grpSpLocks/>
          </p:cNvGrpSpPr>
          <p:nvPr/>
        </p:nvGrpSpPr>
        <p:grpSpPr bwMode="auto">
          <a:xfrm>
            <a:off x="2895600" y="1646238"/>
            <a:ext cx="3355975" cy="838200"/>
            <a:chOff x="1562" y="1152"/>
            <a:chExt cx="2114" cy="528"/>
          </a:xfrm>
        </p:grpSpPr>
        <p:grpSp>
          <p:nvGrpSpPr>
            <p:cNvPr id="5" name="Group 31"/>
            <p:cNvGrpSpPr>
              <a:grpSpLocks/>
            </p:cNvGrpSpPr>
            <p:nvPr/>
          </p:nvGrpSpPr>
          <p:grpSpPr bwMode="auto">
            <a:xfrm>
              <a:off x="2487" y="1152"/>
              <a:ext cx="223" cy="481"/>
              <a:chOff x="2207" y="1413"/>
              <a:chExt cx="223" cy="481"/>
            </a:xfrm>
          </p:grpSpPr>
          <p:sp>
            <p:nvSpPr>
              <p:cNvPr id="1227808" name="Freeform 3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09" name="Rectangle 3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6" name="Group 34"/>
            <p:cNvGrpSpPr>
              <a:grpSpLocks/>
            </p:cNvGrpSpPr>
            <p:nvPr/>
          </p:nvGrpSpPr>
          <p:grpSpPr bwMode="auto">
            <a:xfrm>
              <a:off x="1562" y="1248"/>
              <a:ext cx="349" cy="289"/>
              <a:chOff x="1282" y="1509"/>
              <a:chExt cx="349" cy="289"/>
            </a:xfrm>
          </p:grpSpPr>
          <p:sp>
            <p:nvSpPr>
              <p:cNvPr id="1227811" name="Rectangle 3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7" name="Group 36"/>
              <p:cNvGrpSpPr>
                <a:grpSpLocks/>
              </p:cNvGrpSpPr>
              <p:nvPr/>
            </p:nvGrpSpPr>
            <p:grpSpPr bwMode="auto">
              <a:xfrm>
                <a:off x="1291" y="1509"/>
                <a:ext cx="340" cy="289"/>
                <a:chOff x="1291" y="1509"/>
                <a:chExt cx="340" cy="289"/>
              </a:xfrm>
            </p:grpSpPr>
            <p:sp>
              <p:nvSpPr>
                <p:cNvPr id="1227813" name="Freeform 3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14" name="Freeform 3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7815" name="Rectangle 3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0"/>
            <p:cNvGrpSpPr>
              <a:grpSpLocks/>
            </p:cNvGrpSpPr>
            <p:nvPr/>
          </p:nvGrpSpPr>
          <p:grpSpPr bwMode="auto">
            <a:xfrm>
              <a:off x="2031" y="1248"/>
              <a:ext cx="296" cy="289"/>
              <a:chOff x="1751" y="1509"/>
              <a:chExt cx="296" cy="289"/>
            </a:xfrm>
          </p:grpSpPr>
          <p:sp>
            <p:nvSpPr>
              <p:cNvPr id="1227817" name="Freeform 4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18" name="Freeform 4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19" name="Line 4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7820" name="Freeform 4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21" name="Line 4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7822" name="Rectangle 4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9" name="Group 47"/>
            <p:cNvGrpSpPr>
              <a:grpSpLocks/>
            </p:cNvGrpSpPr>
            <p:nvPr/>
          </p:nvGrpSpPr>
          <p:grpSpPr bwMode="auto">
            <a:xfrm>
              <a:off x="2880" y="1248"/>
              <a:ext cx="325" cy="289"/>
              <a:chOff x="2600" y="1509"/>
              <a:chExt cx="325" cy="289"/>
            </a:xfrm>
          </p:grpSpPr>
          <p:sp>
            <p:nvSpPr>
              <p:cNvPr id="1227824" name="Freeform 4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25" name="Freeform 4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26" name="Rectangle 5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 name="Group 51"/>
            <p:cNvGrpSpPr>
              <a:grpSpLocks/>
            </p:cNvGrpSpPr>
            <p:nvPr/>
          </p:nvGrpSpPr>
          <p:grpSpPr bwMode="auto">
            <a:xfrm>
              <a:off x="3348" y="1248"/>
              <a:ext cx="284" cy="289"/>
              <a:chOff x="3068" y="1509"/>
              <a:chExt cx="284" cy="289"/>
            </a:xfrm>
          </p:grpSpPr>
          <p:sp>
            <p:nvSpPr>
              <p:cNvPr id="1227828" name="Freeform 5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29" name="Freeform 5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30" name="Line 5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7831" name="Line 5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7832" name="Line 5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7833" name="Line 5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7834" name="Line 5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7835" name="Line 5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7836" name="Line 6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7837" name="Line 6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7838" name="Line 6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1" name="Group 63"/>
          <p:cNvGrpSpPr>
            <a:grpSpLocks/>
          </p:cNvGrpSpPr>
          <p:nvPr/>
        </p:nvGrpSpPr>
        <p:grpSpPr bwMode="auto">
          <a:xfrm>
            <a:off x="3581400" y="2484438"/>
            <a:ext cx="3355975" cy="838200"/>
            <a:chOff x="1562" y="1152"/>
            <a:chExt cx="2114" cy="528"/>
          </a:xfrm>
        </p:grpSpPr>
        <p:grpSp>
          <p:nvGrpSpPr>
            <p:cNvPr id="12" name="Group 64"/>
            <p:cNvGrpSpPr>
              <a:grpSpLocks/>
            </p:cNvGrpSpPr>
            <p:nvPr/>
          </p:nvGrpSpPr>
          <p:grpSpPr bwMode="auto">
            <a:xfrm>
              <a:off x="2487" y="1152"/>
              <a:ext cx="223" cy="481"/>
              <a:chOff x="2207" y="1413"/>
              <a:chExt cx="223" cy="481"/>
            </a:xfrm>
          </p:grpSpPr>
          <p:sp>
            <p:nvSpPr>
              <p:cNvPr id="1227841" name="Freeform 6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42" name="Rectangle 6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3" name="Group 67"/>
            <p:cNvGrpSpPr>
              <a:grpSpLocks/>
            </p:cNvGrpSpPr>
            <p:nvPr/>
          </p:nvGrpSpPr>
          <p:grpSpPr bwMode="auto">
            <a:xfrm>
              <a:off x="1562" y="1248"/>
              <a:ext cx="349" cy="289"/>
              <a:chOff x="1282" y="1509"/>
              <a:chExt cx="349" cy="289"/>
            </a:xfrm>
          </p:grpSpPr>
          <p:sp>
            <p:nvSpPr>
              <p:cNvPr id="1227844" name="Rectangle 6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4" name="Group 69"/>
              <p:cNvGrpSpPr>
                <a:grpSpLocks/>
              </p:cNvGrpSpPr>
              <p:nvPr/>
            </p:nvGrpSpPr>
            <p:grpSpPr bwMode="auto">
              <a:xfrm>
                <a:off x="1291" y="1509"/>
                <a:ext cx="340" cy="289"/>
                <a:chOff x="1291" y="1509"/>
                <a:chExt cx="340" cy="289"/>
              </a:xfrm>
            </p:grpSpPr>
            <p:sp>
              <p:nvSpPr>
                <p:cNvPr id="1227846" name="Freeform 7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47" name="Freeform 7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7848" name="Rectangle 7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3"/>
            <p:cNvGrpSpPr>
              <a:grpSpLocks/>
            </p:cNvGrpSpPr>
            <p:nvPr/>
          </p:nvGrpSpPr>
          <p:grpSpPr bwMode="auto">
            <a:xfrm>
              <a:off x="2031" y="1248"/>
              <a:ext cx="296" cy="289"/>
              <a:chOff x="1751" y="1509"/>
              <a:chExt cx="296" cy="289"/>
            </a:xfrm>
          </p:grpSpPr>
          <p:sp>
            <p:nvSpPr>
              <p:cNvPr id="1227850" name="Freeform 7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51" name="Freeform 7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52" name="Line 7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7853" name="Freeform 7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54" name="Line 7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7855" name="Rectangle 7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6" name="Group 80"/>
            <p:cNvGrpSpPr>
              <a:grpSpLocks/>
            </p:cNvGrpSpPr>
            <p:nvPr/>
          </p:nvGrpSpPr>
          <p:grpSpPr bwMode="auto">
            <a:xfrm>
              <a:off x="2880" y="1248"/>
              <a:ext cx="325" cy="289"/>
              <a:chOff x="2600" y="1509"/>
              <a:chExt cx="325" cy="289"/>
            </a:xfrm>
          </p:grpSpPr>
          <p:sp>
            <p:nvSpPr>
              <p:cNvPr id="1227857" name="Freeform 8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58" name="Freeform 8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59" name="Rectangle 8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7" name="Group 84"/>
            <p:cNvGrpSpPr>
              <a:grpSpLocks/>
            </p:cNvGrpSpPr>
            <p:nvPr/>
          </p:nvGrpSpPr>
          <p:grpSpPr bwMode="auto">
            <a:xfrm>
              <a:off x="3348" y="1248"/>
              <a:ext cx="284" cy="289"/>
              <a:chOff x="3068" y="1509"/>
              <a:chExt cx="284" cy="289"/>
            </a:xfrm>
          </p:grpSpPr>
          <p:sp>
            <p:nvSpPr>
              <p:cNvPr id="1227861" name="Freeform 8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62" name="Freeform 8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63" name="Line 8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7864" name="Line 8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7865" name="Line 8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7866" name="Line 9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7867" name="Line 9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7868" name="Line 9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7869" name="Line 9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7870" name="Line 9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7871" name="Line 9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8" name="Group 96"/>
          <p:cNvGrpSpPr>
            <a:grpSpLocks/>
          </p:cNvGrpSpPr>
          <p:nvPr/>
        </p:nvGrpSpPr>
        <p:grpSpPr bwMode="auto">
          <a:xfrm>
            <a:off x="4267200" y="3322638"/>
            <a:ext cx="3355975" cy="838200"/>
            <a:chOff x="1562" y="1152"/>
            <a:chExt cx="2114" cy="528"/>
          </a:xfrm>
        </p:grpSpPr>
        <p:grpSp>
          <p:nvGrpSpPr>
            <p:cNvPr id="19" name="Group 97"/>
            <p:cNvGrpSpPr>
              <a:grpSpLocks/>
            </p:cNvGrpSpPr>
            <p:nvPr/>
          </p:nvGrpSpPr>
          <p:grpSpPr bwMode="auto">
            <a:xfrm>
              <a:off x="2487" y="1152"/>
              <a:ext cx="223" cy="481"/>
              <a:chOff x="2207" y="1413"/>
              <a:chExt cx="223" cy="481"/>
            </a:xfrm>
          </p:grpSpPr>
          <p:sp>
            <p:nvSpPr>
              <p:cNvPr id="1227874" name="Freeform 98"/>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75" name="Rectangle 99"/>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0" name="Group 100"/>
            <p:cNvGrpSpPr>
              <a:grpSpLocks/>
            </p:cNvGrpSpPr>
            <p:nvPr/>
          </p:nvGrpSpPr>
          <p:grpSpPr bwMode="auto">
            <a:xfrm>
              <a:off x="1562" y="1248"/>
              <a:ext cx="349" cy="289"/>
              <a:chOff x="1282" y="1509"/>
              <a:chExt cx="349" cy="289"/>
            </a:xfrm>
          </p:grpSpPr>
          <p:sp>
            <p:nvSpPr>
              <p:cNvPr id="1227877" name="Rectangle 101"/>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1" name="Group 102"/>
              <p:cNvGrpSpPr>
                <a:grpSpLocks/>
              </p:cNvGrpSpPr>
              <p:nvPr/>
            </p:nvGrpSpPr>
            <p:grpSpPr bwMode="auto">
              <a:xfrm>
                <a:off x="1291" y="1509"/>
                <a:ext cx="340" cy="289"/>
                <a:chOff x="1291" y="1509"/>
                <a:chExt cx="340" cy="289"/>
              </a:xfrm>
            </p:grpSpPr>
            <p:sp>
              <p:nvSpPr>
                <p:cNvPr id="1227879" name="Freeform 103"/>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80" name="Freeform 104"/>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7881" name="Rectangle 105"/>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06"/>
            <p:cNvGrpSpPr>
              <a:grpSpLocks/>
            </p:cNvGrpSpPr>
            <p:nvPr/>
          </p:nvGrpSpPr>
          <p:grpSpPr bwMode="auto">
            <a:xfrm>
              <a:off x="2031" y="1248"/>
              <a:ext cx="296" cy="289"/>
              <a:chOff x="1751" y="1509"/>
              <a:chExt cx="296" cy="289"/>
            </a:xfrm>
          </p:grpSpPr>
          <p:sp>
            <p:nvSpPr>
              <p:cNvPr id="1227883" name="Freeform 107"/>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84" name="Freeform 108"/>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85" name="Line 109"/>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7886" name="Freeform 110"/>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87" name="Line 111"/>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7888" name="Rectangle 112"/>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3" name="Group 113"/>
            <p:cNvGrpSpPr>
              <a:grpSpLocks/>
            </p:cNvGrpSpPr>
            <p:nvPr/>
          </p:nvGrpSpPr>
          <p:grpSpPr bwMode="auto">
            <a:xfrm>
              <a:off x="2880" y="1248"/>
              <a:ext cx="325" cy="289"/>
              <a:chOff x="2600" y="1509"/>
              <a:chExt cx="325" cy="289"/>
            </a:xfrm>
          </p:grpSpPr>
          <p:sp>
            <p:nvSpPr>
              <p:cNvPr id="1227890" name="Freeform 114"/>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91" name="Freeform 115"/>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92" name="Rectangle 116"/>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4" name="Group 117"/>
            <p:cNvGrpSpPr>
              <a:grpSpLocks/>
            </p:cNvGrpSpPr>
            <p:nvPr/>
          </p:nvGrpSpPr>
          <p:grpSpPr bwMode="auto">
            <a:xfrm>
              <a:off x="3348" y="1248"/>
              <a:ext cx="284" cy="289"/>
              <a:chOff x="3068" y="1509"/>
              <a:chExt cx="284" cy="289"/>
            </a:xfrm>
          </p:grpSpPr>
          <p:sp>
            <p:nvSpPr>
              <p:cNvPr id="1227894" name="Freeform 118"/>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895" name="Freeform 119"/>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896" name="Line 120"/>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7897" name="Line 121"/>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7898" name="Line 122"/>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7899" name="Line 123"/>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7900" name="Line 124"/>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7901" name="Line 125"/>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7902" name="Line 126"/>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7903" name="Line 127"/>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7904" name="Line 128"/>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5" name="Group 129"/>
          <p:cNvGrpSpPr>
            <a:grpSpLocks/>
          </p:cNvGrpSpPr>
          <p:nvPr/>
        </p:nvGrpSpPr>
        <p:grpSpPr bwMode="auto">
          <a:xfrm>
            <a:off x="4953000" y="4160838"/>
            <a:ext cx="3355975" cy="838200"/>
            <a:chOff x="1562" y="1152"/>
            <a:chExt cx="2114" cy="528"/>
          </a:xfrm>
        </p:grpSpPr>
        <p:grpSp>
          <p:nvGrpSpPr>
            <p:cNvPr id="26" name="Group 130"/>
            <p:cNvGrpSpPr>
              <a:grpSpLocks/>
            </p:cNvGrpSpPr>
            <p:nvPr/>
          </p:nvGrpSpPr>
          <p:grpSpPr bwMode="auto">
            <a:xfrm>
              <a:off x="2487" y="1152"/>
              <a:ext cx="223" cy="481"/>
              <a:chOff x="2207" y="1413"/>
              <a:chExt cx="223" cy="481"/>
            </a:xfrm>
          </p:grpSpPr>
          <p:sp>
            <p:nvSpPr>
              <p:cNvPr id="1227907" name="Freeform 13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08" name="Rectangle 13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7" name="Group 133"/>
            <p:cNvGrpSpPr>
              <a:grpSpLocks/>
            </p:cNvGrpSpPr>
            <p:nvPr/>
          </p:nvGrpSpPr>
          <p:grpSpPr bwMode="auto">
            <a:xfrm>
              <a:off x="1562" y="1248"/>
              <a:ext cx="349" cy="289"/>
              <a:chOff x="1282" y="1509"/>
              <a:chExt cx="349" cy="289"/>
            </a:xfrm>
          </p:grpSpPr>
          <p:sp>
            <p:nvSpPr>
              <p:cNvPr id="1227910" name="Rectangle 13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8" name="Group 135"/>
              <p:cNvGrpSpPr>
                <a:grpSpLocks/>
              </p:cNvGrpSpPr>
              <p:nvPr/>
            </p:nvGrpSpPr>
            <p:grpSpPr bwMode="auto">
              <a:xfrm>
                <a:off x="1291" y="1509"/>
                <a:ext cx="340" cy="289"/>
                <a:chOff x="1291" y="1509"/>
                <a:chExt cx="340" cy="289"/>
              </a:xfrm>
            </p:grpSpPr>
            <p:sp>
              <p:nvSpPr>
                <p:cNvPr id="1227912" name="Freeform 13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13" name="Freeform 13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7914" name="Rectangle 13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39"/>
            <p:cNvGrpSpPr>
              <a:grpSpLocks/>
            </p:cNvGrpSpPr>
            <p:nvPr/>
          </p:nvGrpSpPr>
          <p:grpSpPr bwMode="auto">
            <a:xfrm>
              <a:off x="2031" y="1248"/>
              <a:ext cx="296" cy="289"/>
              <a:chOff x="1751" y="1509"/>
              <a:chExt cx="296" cy="289"/>
            </a:xfrm>
          </p:grpSpPr>
          <p:sp>
            <p:nvSpPr>
              <p:cNvPr id="1227916" name="Freeform 14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17" name="Freeform 14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918" name="Line 14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7919" name="Freeform 14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20" name="Line 14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7921" name="Rectangle 14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30" name="Group 146"/>
            <p:cNvGrpSpPr>
              <a:grpSpLocks/>
            </p:cNvGrpSpPr>
            <p:nvPr/>
          </p:nvGrpSpPr>
          <p:grpSpPr bwMode="auto">
            <a:xfrm>
              <a:off x="2880" y="1248"/>
              <a:ext cx="325" cy="289"/>
              <a:chOff x="2600" y="1509"/>
              <a:chExt cx="325" cy="289"/>
            </a:xfrm>
          </p:grpSpPr>
          <p:sp>
            <p:nvSpPr>
              <p:cNvPr id="1227923" name="Freeform 14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24" name="Freeform 14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925" name="Rectangle 14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1" name="Group 150"/>
            <p:cNvGrpSpPr>
              <a:grpSpLocks/>
            </p:cNvGrpSpPr>
            <p:nvPr/>
          </p:nvGrpSpPr>
          <p:grpSpPr bwMode="auto">
            <a:xfrm>
              <a:off x="3348" y="1248"/>
              <a:ext cx="284" cy="289"/>
              <a:chOff x="3068" y="1509"/>
              <a:chExt cx="284" cy="289"/>
            </a:xfrm>
          </p:grpSpPr>
          <p:sp>
            <p:nvSpPr>
              <p:cNvPr id="1227927" name="Freeform 15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28" name="Freeform 15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929" name="Line 15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7930" name="Line 15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7931" name="Line 15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7932" name="Line 15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7933" name="Line 15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7934" name="Line 15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7935" name="Line 15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7936" name="Line 16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7937" name="Line 16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27972" name="Group 162"/>
          <p:cNvGrpSpPr>
            <a:grpSpLocks/>
          </p:cNvGrpSpPr>
          <p:nvPr/>
        </p:nvGrpSpPr>
        <p:grpSpPr bwMode="auto">
          <a:xfrm>
            <a:off x="5638800" y="4999038"/>
            <a:ext cx="3355975" cy="838200"/>
            <a:chOff x="1562" y="1152"/>
            <a:chExt cx="2114" cy="528"/>
          </a:xfrm>
        </p:grpSpPr>
        <p:grpSp>
          <p:nvGrpSpPr>
            <p:cNvPr id="1227980" name="Group 163"/>
            <p:cNvGrpSpPr>
              <a:grpSpLocks/>
            </p:cNvGrpSpPr>
            <p:nvPr/>
          </p:nvGrpSpPr>
          <p:grpSpPr bwMode="auto">
            <a:xfrm>
              <a:off x="2487" y="1152"/>
              <a:ext cx="223" cy="481"/>
              <a:chOff x="2207" y="1413"/>
              <a:chExt cx="223" cy="481"/>
            </a:xfrm>
          </p:grpSpPr>
          <p:sp>
            <p:nvSpPr>
              <p:cNvPr id="1227940" name="Freeform 16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41" name="Rectangle 16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27981" name="Group 166"/>
            <p:cNvGrpSpPr>
              <a:grpSpLocks/>
            </p:cNvGrpSpPr>
            <p:nvPr/>
          </p:nvGrpSpPr>
          <p:grpSpPr bwMode="auto">
            <a:xfrm>
              <a:off x="1562" y="1248"/>
              <a:ext cx="349" cy="289"/>
              <a:chOff x="1282" y="1509"/>
              <a:chExt cx="349" cy="289"/>
            </a:xfrm>
          </p:grpSpPr>
          <p:sp>
            <p:nvSpPr>
              <p:cNvPr id="1227943" name="Rectangle 16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27982" name="Group 168"/>
              <p:cNvGrpSpPr>
                <a:grpSpLocks/>
              </p:cNvGrpSpPr>
              <p:nvPr/>
            </p:nvGrpSpPr>
            <p:grpSpPr bwMode="auto">
              <a:xfrm>
                <a:off x="1291" y="1509"/>
                <a:ext cx="340" cy="289"/>
                <a:chOff x="1291" y="1509"/>
                <a:chExt cx="340" cy="289"/>
              </a:xfrm>
            </p:grpSpPr>
            <p:sp>
              <p:nvSpPr>
                <p:cNvPr id="1227945" name="Freeform 16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46" name="Freeform 17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27947" name="Rectangle 17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27983" name="Group 172"/>
            <p:cNvGrpSpPr>
              <a:grpSpLocks/>
            </p:cNvGrpSpPr>
            <p:nvPr/>
          </p:nvGrpSpPr>
          <p:grpSpPr bwMode="auto">
            <a:xfrm>
              <a:off x="2031" y="1248"/>
              <a:ext cx="296" cy="289"/>
              <a:chOff x="1751" y="1509"/>
              <a:chExt cx="296" cy="289"/>
            </a:xfrm>
          </p:grpSpPr>
          <p:sp>
            <p:nvSpPr>
              <p:cNvPr id="1227949" name="Freeform 17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50" name="Freeform 17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951" name="Line 17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27952" name="Freeform 17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53" name="Line 17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27954" name="Rectangle 17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27984" name="Group 179"/>
            <p:cNvGrpSpPr>
              <a:grpSpLocks/>
            </p:cNvGrpSpPr>
            <p:nvPr/>
          </p:nvGrpSpPr>
          <p:grpSpPr bwMode="auto">
            <a:xfrm>
              <a:off x="2880" y="1248"/>
              <a:ext cx="325" cy="289"/>
              <a:chOff x="2600" y="1509"/>
              <a:chExt cx="325" cy="289"/>
            </a:xfrm>
          </p:grpSpPr>
          <p:sp>
            <p:nvSpPr>
              <p:cNvPr id="1227956" name="Freeform 18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57" name="Freeform 18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958" name="Rectangle 18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27985" name="Group 183"/>
            <p:cNvGrpSpPr>
              <a:grpSpLocks/>
            </p:cNvGrpSpPr>
            <p:nvPr/>
          </p:nvGrpSpPr>
          <p:grpSpPr bwMode="auto">
            <a:xfrm>
              <a:off x="3348" y="1248"/>
              <a:ext cx="284" cy="289"/>
              <a:chOff x="3068" y="1509"/>
              <a:chExt cx="284" cy="289"/>
            </a:xfrm>
          </p:grpSpPr>
          <p:sp>
            <p:nvSpPr>
              <p:cNvPr id="1227960" name="Freeform 18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27961" name="Freeform 18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27962" name="Line 18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27963" name="Line 18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27964" name="Line 18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27965" name="Line 18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27966" name="Line 19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27967" name="Line 19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27968" name="Line 19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27969" name="Line 19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27970" name="Line 19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27971" name="Rectangle 195"/>
          <p:cNvSpPr>
            <a:spLocks noGrp="1" noChangeArrowheads="1"/>
          </p:cNvSpPr>
          <p:nvPr>
            <p:ph type="body" idx="1"/>
          </p:nvPr>
        </p:nvSpPr>
        <p:spPr>
          <a:xfrm>
            <a:off x="609600" y="762000"/>
            <a:ext cx="7391400" cy="379413"/>
          </a:xfrm>
          <a:noFill/>
          <a:ln/>
        </p:spPr>
        <p:txBody>
          <a:bodyPr/>
          <a:lstStyle/>
          <a:p>
            <a:r>
              <a:rPr lang="en-US"/>
              <a:t>Dependencies backward in time cause </a:t>
            </a:r>
            <a:r>
              <a:rPr lang="en-US">
                <a:solidFill>
                  <a:schemeClr val="accent1"/>
                </a:solidFill>
              </a:rPr>
              <a:t>hazards</a:t>
            </a:r>
          </a:p>
        </p:txBody>
      </p:sp>
      <p:sp>
        <p:nvSpPr>
          <p:cNvPr id="1227973" name="Rectangle 197"/>
          <p:cNvSpPr>
            <a:spLocks noChangeArrowheads="1"/>
          </p:cNvSpPr>
          <p:nvPr/>
        </p:nvSpPr>
        <p:spPr bwMode="auto">
          <a:xfrm>
            <a:off x="585788" y="1752600"/>
            <a:ext cx="1458912"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1227974" name="Rectangle 198"/>
          <p:cNvSpPr>
            <a:spLocks noChangeArrowheads="1"/>
          </p:cNvSpPr>
          <p:nvPr/>
        </p:nvSpPr>
        <p:spPr bwMode="auto">
          <a:xfrm>
            <a:off x="585788" y="2590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sp>
        <p:nvSpPr>
          <p:cNvPr id="1227975" name="Rectangle 199"/>
          <p:cNvSpPr>
            <a:spLocks noChangeArrowheads="1"/>
          </p:cNvSpPr>
          <p:nvPr/>
        </p:nvSpPr>
        <p:spPr bwMode="auto">
          <a:xfrm>
            <a:off x="585788" y="34718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latin typeface="Courier New" pitchFamily="49" charset="0"/>
              </a:rPr>
              <a:t>$1</a:t>
            </a:r>
            <a:r>
              <a:rPr lang="en-US" sz="2400" b="1">
                <a:solidFill>
                  <a:schemeClr val="tx1"/>
                </a:solidFill>
                <a:latin typeface="Courier New" pitchFamily="49" charset="0"/>
              </a:rPr>
              <a:t>,$7</a:t>
            </a:r>
          </a:p>
        </p:txBody>
      </p:sp>
      <p:sp>
        <p:nvSpPr>
          <p:cNvPr id="1227976" name="Rectangle 200"/>
          <p:cNvSpPr>
            <a:spLocks noChangeArrowheads="1"/>
          </p:cNvSpPr>
          <p:nvPr/>
        </p:nvSpPr>
        <p:spPr bwMode="auto">
          <a:xfrm>
            <a:off x="585788" y="5181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27977" name="Rectangle 201"/>
          <p:cNvSpPr>
            <a:spLocks noChangeArrowheads="1"/>
          </p:cNvSpPr>
          <p:nvPr/>
        </p:nvSpPr>
        <p:spPr bwMode="auto">
          <a:xfrm>
            <a:off x="585788" y="43100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sp>
        <p:nvSpPr>
          <p:cNvPr id="1227978" name="Line 202"/>
          <p:cNvSpPr>
            <a:spLocks noChangeShapeType="1"/>
          </p:cNvSpPr>
          <p:nvPr/>
        </p:nvSpPr>
        <p:spPr bwMode="auto">
          <a:xfrm>
            <a:off x="509588" y="1828800"/>
            <a:ext cx="0" cy="3886200"/>
          </a:xfrm>
          <a:prstGeom prst="line">
            <a:avLst/>
          </a:prstGeom>
          <a:noFill/>
          <a:ln w="28575">
            <a:solidFill>
              <a:schemeClr val="tx1"/>
            </a:solidFill>
            <a:round/>
            <a:headEnd/>
            <a:tailEnd type="triangle" w="med" len="med"/>
          </a:ln>
          <a:effectLst/>
        </p:spPr>
        <p:txBody>
          <a:bodyPr/>
          <a:lstStyle/>
          <a:p>
            <a:endParaRPr lang="en-US"/>
          </a:p>
        </p:txBody>
      </p:sp>
      <p:sp>
        <p:nvSpPr>
          <p:cNvPr id="1227979" name="Rectangle 203"/>
          <p:cNvSpPr>
            <a:spLocks noChangeArrowheads="1"/>
          </p:cNvSpPr>
          <p:nvPr/>
        </p:nvSpPr>
        <p:spPr bwMode="auto">
          <a:xfrm>
            <a:off x="762000" y="6019800"/>
            <a:ext cx="7848600" cy="379413"/>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a:solidFill>
                  <a:schemeClr val="accent2"/>
                </a:solidFill>
              </a:rPr>
              <a:t>Read before write</a:t>
            </a:r>
            <a:r>
              <a:rPr lang="en-US" sz="2400">
                <a:solidFill>
                  <a:schemeClr val="tx1"/>
                </a:solidFill>
              </a:rPr>
              <a:t> </a:t>
            </a:r>
            <a:r>
              <a:rPr lang="en-US" sz="2400"/>
              <a:t>data hazard</a:t>
            </a:r>
          </a:p>
        </p:txBody>
      </p:sp>
    </p:spTree>
    <p:extLst>
      <p:ext uri="{BB962C8B-B14F-4D97-AF65-F5344CB8AC3E}">
        <p14:creationId xmlns:p14="http://schemas.microsoft.com/office/powerpoint/2010/main" val="11432063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33" name="Rectangle 13"/>
          <p:cNvSpPr>
            <a:spLocks noGrp="1" noChangeArrowheads="1"/>
          </p:cNvSpPr>
          <p:nvPr>
            <p:ph type="title"/>
          </p:nvPr>
        </p:nvSpPr>
        <p:spPr>
          <a:xfrm>
            <a:off x="714348" y="292081"/>
            <a:ext cx="5267325" cy="422275"/>
          </a:xfrm>
          <a:noFill/>
          <a:ln/>
        </p:spPr>
        <p:txBody>
          <a:bodyPr wrap="none"/>
          <a:lstStyle/>
          <a:p>
            <a:r>
              <a:rPr lang="en-US" dirty="0"/>
              <a:t>Loads Can Cause Data Hazards</a:t>
            </a:r>
          </a:p>
        </p:txBody>
      </p:sp>
      <p:sp>
        <p:nvSpPr>
          <p:cNvPr id="1003534" name="Rectangle 14"/>
          <p:cNvSpPr>
            <a:spLocks noChangeArrowheads="1"/>
          </p:cNvSpPr>
          <p:nvPr/>
        </p:nvSpPr>
        <p:spPr bwMode="auto">
          <a:xfrm>
            <a:off x="152400" y="1906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003535" name="Line 15"/>
          <p:cNvSpPr>
            <a:spLocks noChangeShapeType="1"/>
          </p:cNvSpPr>
          <p:nvPr/>
        </p:nvSpPr>
        <p:spPr bwMode="auto">
          <a:xfrm>
            <a:off x="2282825" y="12700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003536" name="Rectangle 16"/>
          <p:cNvSpPr>
            <a:spLocks noChangeArrowheads="1"/>
          </p:cNvSpPr>
          <p:nvPr/>
        </p:nvSpPr>
        <p:spPr bwMode="auto">
          <a:xfrm>
            <a:off x="585788" y="1752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  </a:t>
            </a:r>
            <a:r>
              <a:rPr lang="en-US" sz="2400" b="1">
                <a:latin typeface="Courier New" pitchFamily="49" charset="0"/>
              </a:rPr>
              <a:t>$1</a:t>
            </a:r>
            <a:r>
              <a:rPr lang="en-US" sz="2400" b="1">
                <a:solidFill>
                  <a:schemeClr val="tx1"/>
                </a:solidFill>
                <a:latin typeface="Courier New" pitchFamily="49" charset="0"/>
              </a:rPr>
              <a:t>,4($2)</a:t>
            </a:r>
          </a:p>
        </p:txBody>
      </p:sp>
      <p:sp>
        <p:nvSpPr>
          <p:cNvPr id="1003537" name="Rectangle 17"/>
          <p:cNvSpPr>
            <a:spLocks noChangeArrowheads="1"/>
          </p:cNvSpPr>
          <p:nvPr/>
        </p:nvSpPr>
        <p:spPr bwMode="auto">
          <a:xfrm>
            <a:off x="585788" y="2590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sp>
        <p:nvSpPr>
          <p:cNvPr id="1003538" name="Rectangle 18"/>
          <p:cNvSpPr>
            <a:spLocks noChangeArrowheads="1"/>
          </p:cNvSpPr>
          <p:nvPr/>
        </p:nvSpPr>
        <p:spPr bwMode="auto">
          <a:xfrm>
            <a:off x="585788" y="34718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latin typeface="Courier New" pitchFamily="49" charset="0"/>
              </a:rPr>
              <a:t>$1</a:t>
            </a:r>
            <a:r>
              <a:rPr lang="en-US" sz="2400" b="1">
                <a:solidFill>
                  <a:schemeClr val="tx1"/>
                </a:solidFill>
                <a:latin typeface="Courier New" pitchFamily="49" charset="0"/>
              </a:rPr>
              <a:t>,$7</a:t>
            </a:r>
          </a:p>
        </p:txBody>
      </p:sp>
      <p:sp>
        <p:nvSpPr>
          <p:cNvPr id="1003539" name="Rectangle 19"/>
          <p:cNvSpPr>
            <a:spLocks noChangeArrowheads="1"/>
          </p:cNvSpPr>
          <p:nvPr/>
        </p:nvSpPr>
        <p:spPr bwMode="auto">
          <a:xfrm>
            <a:off x="585788" y="5181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003540" name="Line 20"/>
          <p:cNvSpPr>
            <a:spLocks noChangeShapeType="1"/>
          </p:cNvSpPr>
          <p:nvPr/>
        </p:nvSpPr>
        <p:spPr bwMode="auto">
          <a:xfrm>
            <a:off x="34639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1" name="Line 21"/>
          <p:cNvSpPr>
            <a:spLocks noChangeShapeType="1"/>
          </p:cNvSpPr>
          <p:nvPr/>
        </p:nvSpPr>
        <p:spPr bwMode="auto">
          <a:xfrm>
            <a:off x="41497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2" name="Line 22"/>
          <p:cNvSpPr>
            <a:spLocks noChangeShapeType="1"/>
          </p:cNvSpPr>
          <p:nvPr/>
        </p:nvSpPr>
        <p:spPr bwMode="auto">
          <a:xfrm>
            <a:off x="48355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3" name="Line 23"/>
          <p:cNvSpPr>
            <a:spLocks noChangeShapeType="1"/>
          </p:cNvSpPr>
          <p:nvPr/>
        </p:nvSpPr>
        <p:spPr bwMode="auto">
          <a:xfrm>
            <a:off x="55213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4" name="Line 24"/>
          <p:cNvSpPr>
            <a:spLocks noChangeShapeType="1"/>
          </p:cNvSpPr>
          <p:nvPr/>
        </p:nvSpPr>
        <p:spPr bwMode="auto">
          <a:xfrm>
            <a:off x="6248400" y="14478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5" name="Line 25"/>
          <p:cNvSpPr>
            <a:spLocks noChangeShapeType="1"/>
          </p:cNvSpPr>
          <p:nvPr/>
        </p:nvSpPr>
        <p:spPr bwMode="auto">
          <a:xfrm>
            <a:off x="68929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6" name="Line 26"/>
          <p:cNvSpPr>
            <a:spLocks noChangeShapeType="1"/>
          </p:cNvSpPr>
          <p:nvPr/>
        </p:nvSpPr>
        <p:spPr bwMode="auto">
          <a:xfrm>
            <a:off x="75787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7" name="Line 27"/>
          <p:cNvSpPr>
            <a:spLocks noChangeShapeType="1"/>
          </p:cNvSpPr>
          <p:nvPr/>
        </p:nvSpPr>
        <p:spPr bwMode="auto">
          <a:xfrm>
            <a:off x="82645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003548" name="Rectangle 28"/>
          <p:cNvSpPr>
            <a:spLocks noChangeArrowheads="1"/>
          </p:cNvSpPr>
          <p:nvPr/>
        </p:nvSpPr>
        <p:spPr bwMode="auto">
          <a:xfrm>
            <a:off x="585788" y="43100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sp>
        <p:nvSpPr>
          <p:cNvPr id="1003549" name="Line 29"/>
          <p:cNvSpPr>
            <a:spLocks noChangeShapeType="1"/>
          </p:cNvSpPr>
          <p:nvPr/>
        </p:nvSpPr>
        <p:spPr bwMode="auto">
          <a:xfrm>
            <a:off x="509588" y="18288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2" name="Group 30"/>
          <p:cNvGrpSpPr>
            <a:grpSpLocks/>
          </p:cNvGrpSpPr>
          <p:nvPr/>
        </p:nvGrpSpPr>
        <p:grpSpPr bwMode="auto">
          <a:xfrm>
            <a:off x="2892425" y="1646238"/>
            <a:ext cx="3355975" cy="838200"/>
            <a:chOff x="1562" y="1152"/>
            <a:chExt cx="2114" cy="528"/>
          </a:xfrm>
        </p:grpSpPr>
        <p:grpSp>
          <p:nvGrpSpPr>
            <p:cNvPr id="3" name="Group 31"/>
            <p:cNvGrpSpPr>
              <a:grpSpLocks/>
            </p:cNvGrpSpPr>
            <p:nvPr/>
          </p:nvGrpSpPr>
          <p:grpSpPr bwMode="auto">
            <a:xfrm>
              <a:off x="2487" y="1152"/>
              <a:ext cx="223" cy="481"/>
              <a:chOff x="2207" y="1413"/>
              <a:chExt cx="223" cy="481"/>
            </a:xfrm>
          </p:grpSpPr>
          <p:sp>
            <p:nvSpPr>
              <p:cNvPr id="1003552" name="Freeform 3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53" name="Rectangle 3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34"/>
            <p:cNvGrpSpPr>
              <a:grpSpLocks/>
            </p:cNvGrpSpPr>
            <p:nvPr/>
          </p:nvGrpSpPr>
          <p:grpSpPr bwMode="auto">
            <a:xfrm>
              <a:off x="1562" y="1248"/>
              <a:ext cx="349" cy="289"/>
              <a:chOff x="1282" y="1509"/>
              <a:chExt cx="349" cy="289"/>
            </a:xfrm>
          </p:grpSpPr>
          <p:sp>
            <p:nvSpPr>
              <p:cNvPr id="1003555" name="Rectangle 3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5" name="Group 36"/>
              <p:cNvGrpSpPr>
                <a:grpSpLocks/>
              </p:cNvGrpSpPr>
              <p:nvPr/>
            </p:nvGrpSpPr>
            <p:grpSpPr bwMode="auto">
              <a:xfrm>
                <a:off x="1291" y="1509"/>
                <a:ext cx="340" cy="289"/>
                <a:chOff x="1291" y="1509"/>
                <a:chExt cx="340" cy="289"/>
              </a:xfrm>
            </p:grpSpPr>
            <p:sp>
              <p:nvSpPr>
                <p:cNvPr id="1003557" name="Freeform 3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58" name="Freeform 3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03559" name="Rectangle 3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40"/>
            <p:cNvGrpSpPr>
              <a:grpSpLocks/>
            </p:cNvGrpSpPr>
            <p:nvPr/>
          </p:nvGrpSpPr>
          <p:grpSpPr bwMode="auto">
            <a:xfrm>
              <a:off x="2031" y="1248"/>
              <a:ext cx="296" cy="289"/>
              <a:chOff x="1751" y="1509"/>
              <a:chExt cx="296" cy="289"/>
            </a:xfrm>
          </p:grpSpPr>
          <p:sp>
            <p:nvSpPr>
              <p:cNvPr id="1003561" name="Freeform 4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62" name="Freeform 4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563" name="Line 4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03564" name="Freeform 4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65" name="Line 4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03566" name="Rectangle 4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7" name="Group 47"/>
            <p:cNvGrpSpPr>
              <a:grpSpLocks/>
            </p:cNvGrpSpPr>
            <p:nvPr/>
          </p:nvGrpSpPr>
          <p:grpSpPr bwMode="auto">
            <a:xfrm>
              <a:off x="2880" y="1248"/>
              <a:ext cx="325" cy="289"/>
              <a:chOff x="2600" y="1509"/>
              <a:chExt cx="325" cy="289"/>
            </a:xfrm>
          </p:grpSpPr>
          <p:sp>
            <p:nvSpPr>
              <p:cNvPr id="1003568" name="Freeform 4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69" name="Freeform 4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570" name="Rectangle 5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51"/>
            <p:cNvGrpSpPr>
              <a:grpSpLocks/>
            </p:cNvGrpSpPr>
            <p:nvPr/>
          </p:nvGrpSpPr>
          <p:grpSpPr bwMode="auto">
            <a:xfrm>
              <a:off x="3348" y="1248"/>
              <a:ext cx="284" cy="289"/>
              <a:chOff x="3068" y="1509"/>
              <a:chExt cx="284" cy="289"/>
            </a:xfrm>
          </p:grpSpPr>
          <p:sp>
            <p:nvSpPr>
              <p:cNvPr id="1003572" name="Freeform 5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73" name="Freeform 5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574" name="Line 5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03575" name="Line 5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03576" name="Line 5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03577" name="Line 5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03578" name="Line 5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03579" name="Line 5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03580" name="Line 6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03581" name="Line 6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03582" name="Line 6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9" name="Group 63"/>
          <p:cNvGrpSpPr>
            <a:grpSpLocks/>
          </p:cNvGrpSpPr>
          <p:nvPr/>
        </p:nvGrpSpPr>
        <p:grpSpPr bwMode="auto">
          <a:xfrm>
            <a:off x="3578225" y="2484438"/>
            <a:ext cx="3355975" cy="838200"/>
            <a:chOff x="1562" y="1152"/>
            <a:chExt cx="2114" cy="528"/>
          </a:xfrm>
        </p:grpSpPr>
        <p:grpSp>
          <p:nvGrpSpPr>
            <p:cNvPr id="10" name="Group 64"/>
            <p:cNvGrpSpPr>
              <a:grpSpLocks/>
            </p:cNvGrpSpPr>
            <p:nvPr/>
          </p:nvGrpSpPr>
          <p:grpSpPr bwMode="auto">
            <a:xfrm>
              <a:off x="2487" y="1152"/>
              <a:ext cx="223" cy="481"/>
              <a:chOff x="2207" y="1413"/>
              <a:chExt cx="223" cy="481"/>
            </a:xfrm>
          </p:grpSpPr>
          <p:sp>
            <p:nvSpPr>
              <p:cNvPr id="1003585" name="Freeform 6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86" name="Rectangle 6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1" name="Group 67"/>
            <p:cNvGrpSpPr>
              <a:grpSpLocks/>
            </p:cNvGrpSpPr>
            <p:nvPr/>
          </p:nvGrpSpPr>
          <p:grpSpPr bwMode="auto">
            <a:xfrm>
              <a:off x="1562" y="1248"/>
              <a:ext cx="349" cy="289"/>
              <a:chOff x="1282" y="1509"/>
              <a:chExt cx="349" cy="289"/>
            </a:xfrm>
          </p:grpSpPr>
          <p:sp>
            <p:nvSpPr>
              <p:cNvPr id="1003588" name="Rectangle 6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 name="Group 69"/>
              <p:cNvGrpSpPr>
                <a:grpSpLocks/>
              </p:cNvGrpSpPr>
              <p:nvPr/>
            </p:nvGrpSpPr>
            <p:grpSpPr bwMode="auto">
              <a:xfrm>
                <a:off x="1291" y="1509"/>
                <a:ext cx="340" cy="289"/>
                <a:chOff x="1291" y="1509"/>
                <a:chExt cx="340" cy="289"/>
              </a:xfrm>
            </p:grpSpPr>
            <p:sp>
              <p:nvSpPr>
                <p:cNvPr id="1003590" name="Freeform 7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91" name="Freeform 7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03592" name="Rectangle 7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73"/>
            <p:cNvGrpSpPr>
              <a:grpSpLocks/>
            </p:cNvGrpSpPr>
            <p:nvPr/>
          </p:nvGrpSpPr>
          <p:grpSpPr bwMode="auto">
            <a:xfrm>
              <a:off x="2031" y="1248"/>
              <a:ext cx="296" cy="289"/>
              <a:chOff x="1751" y="1509"/>
              <a:chExt cx="296" cy="289"/>
            </a:xfrm>
          </p:grpSpPr>
          <p:sp>
            <p:nvSpPr>
              <p:cNvPr id="1003594" name="Freeform 7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95" name="Freeform 7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596" name="Line 7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03597" name="Freeform 7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598" name="Line 7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03599" name="Rectangle 7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4" name="Group 80"/>
            <p:cNvGrpSpPr>
              <a:grpSpLocks/>
            </p:cNvGrpSpPr>
            <p:nvPr/>
          </p:nvGrpSpPr>
          <p:grpSpPr bwMode="auto">
            <a:xfrm>
              <a:off x="2880" y="1248"/>
              <a:ext cx="325" cy="289"/>
              <a:chOff x="2600" y="1509"/>
              <a:chExt cx="325" cy="289"/>
            </a:xfrm>
          </p:grpSpPr>
          <p:sp>
            <p:nvSpPr>
              <p:cNvPr id="1003601" name="Freeform 8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02" name="Freeform 8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03" name="Rectangle 8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84"/>
            <p:cNvGrpSpPr>
              <a:grpSpLocks/>
            </p:cNvGrpSpPr>
            <p:nvPr/>
          </p:nvGrpSpPr>
          <p:grpSpPr bwMode="auto">
            <a:xfrm>
              <a:off x="3348" y="1248"/>
              <a:ext cx="284" cy="289"/>
              <a:chOff x="3068" y="1509"/>
              <a:chExt cx="284" cy="289"/>
            </a:xfrm>
          </p:grpSpPr>
          <p:sp>
            <p:nvSpPr>
              <p:cNvPr id="1003605" name="Freeform 8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06" name="Freeform 8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07" name="Line 8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03608" name="Line 8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03609" name="Line 8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03610" name="Line 9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03611" name="Line 9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03612" name="Line 9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03613" name="Line 9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03614" name="Line 9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03615" name="Line 9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6" name="Group 96"/>
          <p:cNvGrpSpPr>
            <a:grpSpLocks/>
          </p:cNvGrpSpPr>
          <p:nvPr/>
        </p:nvGrpSpPr>
        <p:grpSpPr bwMode="auto">
          <a:xfrm>
            <a:off x="4264025" y="3322638"/>
            <a:ext cx="3355975" cy="838200"/>
            <a:chOff x="1562" y="1152"/>
            <a:chExt cx="2114" cy="528"/>
          </a:xfrm>
        </p:grpSpPr>
        <p:grpSp>
          <p:nvGrpSpPr>
            <p:cNvPr id="17" name="Group 97"/>
            <p:cNvGrpSpPr>
              <a:grpSpLocks/>
            </p:cNvGrpSpPr>
            <p:nvPr/>
          </p:nvGrpSpPr>
          <p:grpSpPr bwMode="auto">
            <a:xfrm>
              <a:off x="2487" y="1152"/>
              <a:ext cx="223" cy="481"/>
              <a:chOff x="2207" y="1413"/>
              <a:chExt cx="223" cy="481"/>
            </a:xfrm>
          </p:grpSpPr>
          <p:sp>
            <p:nvSpPr>
              <p:cNvPr id="1003618" name="Freeform 98"/>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19" name="Rectangle 99"/>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8" name="Group 100"/>
            <p:cNvGrpSpPr>
              <a:grpSpLocks/>
            </p:cNvGrpSpPr>
            <p:nvPr/>
          </p:nvGrpSpPr>
          <p:grpSpPr bwMode="auto">
            <a:xfrm>
              <a:off x="1562" y="1248"/>
              <a:ext cx="349" cy="289"/>
              <a:chOff x="1282" y="1509"/>
              <a:chExt cx="349" cy="289"/>
            </a:xfrm>
          </p:grpSpPr>
          <p:sp>
            <p:nvSpPr>
              <p:cNvPr id="1003621" name="Rectangle 101"/>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9" name="Group 102"/>
              <p:cNvGrpSpPr>
                <a:grpSpLocks/>
              </p:cNvGrpSpPr>
              <p:nvPr/>
            </p:nvGrpSpPr>
            <p:grpSpPr bwMode="auto">
              <a:xfrm>
                <a:off x="1291" y="1509"/>
                <a:ext cx="340" cy="289"/>
                <a:chOff x="1291" y="1509"/>
                <a:chExt cx="340" cy="289"/>
              </a:xfrm>
            </p:grpSpPr>
            <p:sp>
              <p:nvSpPr>
                <p:cNvPr id="1003623" name="Freeform 103"/>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24" name="Freeform 104"/>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03625" name="Rectangle 105"/>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106"/>
            <p:cNvGrpSpPr>
              <a:grpSpLocks/>
            </p:cNvGrpSpPr>
            <p:nvPr/>
          </p:nvGrpSpPr>
          <p:grpSpPr bwMode="auto">
            <a:xfrm>
              <a:off x="2031" y="1248"/>
              <a:ext cx="296" cy="289"/>
              <a:chOff x="1751" y="1509"/>
              <a:chExt cx="296" cy="289"/>
            </a:xfrm>
          </p:grpSpPr>
          <p:sp>
            <p:nvSpPr>
              <p:cNvPr id="1003627" name="Freeform 107"/>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28" name="Freeform 108"/>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29" name="Line 109"/>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03630" name="Freeform 110"/>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31" name="Line 111"/>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03632" name="Rectangle 112"/>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1" name="Group 113"/>
            <p:cNvGrpSpPr>
              <a:grpSpLocks/>
            </p:cNvGrpSpPr>
            <p:nvPr/>
          </p:nvGrpSpPr>
          <p:grpSpPr bwMode="auto">
            <a:xfrm>
              <a:off x="2880" y="1248"/>
              <a:ext cx="325" cy="289"/>
              <a:chOff x="2600" y="1509"/>
              <a:chExt cx="325" cy="289"/>
            </a:xfrm>
          </p:grpSpPr>
          <p:sp>
            <p:nvSpPr>
              <p:cNvPr id="1003634" name="Freeform 114"/>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35" name="Freeform 115"/>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36" name="Rectangle 116"/>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17"/>
            <p:cNvGrpSpPr>
              <a:grpSpLocks/>
            </p:cNvGrpSpPr>
            <p:nvPr/>
          </p:nvGrpSpPr>
          <p:grpSpPr bwMode="auto">
            <a:xfrm>
              <a:off x="3348" y="1248"/>
              <a:ext cx="284" cy="289"/>
              <a:chOff x="3068" y="1509"/>
              <a:chExt cx="284" cy="289"/>
            </a:xfrm>
          </p:grpSpPr>
          <p:sp>
            <p:nvSpPr>
              <p:cNvPr id="1003638" name="Freeform 118"/>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39" name="Freeform 119"/>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40" name="Line 120"/>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03641" name="Line 121"/>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03642" name="Line 122"/>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03643" name="Line 123"/>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03644" name="Line 124"/>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03645" name="Line 125"/>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03646" name="Line 126"/>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03647" name="Line 127"/>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03648" name="Line 128"/>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3" name="Group 129"/>
          <p:cNvGrpSpPr>
            <a:grpSpLocks/>
          </p:cNvGrpSpPr>
          <p:nvPr/>
        </p:nvGrpSpPr>
        <p:grpSpPr bwMode="auto">
          <a:xfrm>
            <a:off x="4949825" y="4160838"/>
            <a:ext cx="3355975" cy="838200"/>
            <a:chOff x="1562" y="1152"/>
            <a:chExt cx="2114" cy="528"/>
          </a:xfrm>
        </p:grpSpPr>
        <p:grpSp>
          <p:nvGrpSpPr>
            <p:cNvPr id="24" name="Group 130"/>
            <p:cNvGrpSpPr>
              <a:grpSpLocks/>
            </p:cNvGrpSpPr>
            <p:nvPr/>
          </p:nvGrpSpPr>
          <p:grpSpPr bwMode="auto">
            <a:xfrm>
              <a:off x="2487" y="1152"/>
              <a:ext cx="223" cy="481"/>
              <a:chOff x="2207" y="1413"/>
              <a:chExt cx="223" cy="481"/>
            </a:xfrm>
          </p:grpSpPr>
          <p:sp>
            <p:nvSpPr>
              <p:cNvPr id="1003651" name="Freeform 13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52" name="Rectangle 13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5" name="Group 133"/>
            <p:cNvGrpSpPr>
              <a:grpSpLocks/>
            </p:cNvGrpSpPr>
            <p:nvPr/>
          </p:nvGrpSpPr>
          <p:grpSpPr bwMode="auto">
            <a:xfrm>
              <a:off x="1562" y="1248"/>
              <a:ext cx="349" cy="289"/>
              <a:chOff x="1282" y="1509"/>
              <a:chExt cx="349" cy="289"/>
            </a:xfrm>
          </p:grpSpPr>
          <p:sp>
            <p:nvSpPr>
              <p:cNvPr id="1003654" name="Rectangle 13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6" name="Group 135"/>
              <p:cNvGrpSpPr>
                <a:grpSpLocks/>
              </p:cNvGrpSpPr>
              <p:nvPr/>
            </p:nvGrpSpPr>
            <p:grpSpPr bwMode="auto">
              <a:xfrm>
                <a:off x="1291" y="1509"/>
                <a:ext cx="340" cy="289"/>
                <a:chOff x="1291" y="1509"/>
                <a:chExt cx="340" cy="289"/>
              </a:xfrm>
            </p:grpSpPr>
            <p:sp>
              <p:nvSpPr>
                <p:cNvPr id="1003656" name="Freeform 13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57" name="Freeform 13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03658" name="Rectangle 13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39"/>
            <p:cNvGrpSpPr>
              <a:grpSpLocks/>
            </p:cNvGrpSpPr>
            <p:nvPr/>
          </p:nvGrpSpPr>
          <p:grpSpPr bwMode="auto">
            <a:xfrm>
              <a:off x="2031" y="1248"/>
              <a:ext cx="296" cy="289"/>
              <a:chOff x="1751" y="1509"/>
              <a:chExt cx="296" cy="289"/>
            </a:xfrm>
          </p:grpSpPr>
          <p:sp>
            <p:nvSpPr>
              <p:cNvPr id="1003660" name="Freeform 14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61" name="Freeform 14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62" name="Line 14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03663" name="Freeform 14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64" name="Line 14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03665" name="Rectangle 14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8" name="Group 146"/>
            <p:cNvGrpSpPr>
              <a:grpSpLocks/>
            </p:cNvGrpSpPr>
            <p:nvPr/>
          </p:nvGrpSpPr>
          <p:grpSpPr bwMode="auto">
            <a:xfrm>
              <a:off x="2880" y="1248"/>
              <a:ext cx="325" cy="289"/>
              <a:chOff x="2600" y="1509"/>
              <a:chExt cx="325" cy="289"/>
            </a:xfrm>
          </p:grpSpPr>
          <p:sp>
            <p:nvSpPr>
              <p:cNvPr id="1003667" name="Freeform 14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68" name="Freeform 14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69" name="Rectangle 14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50"/>
            <p:cNvGrpSpPr>
              <a:grpSpLocks/>
            </p:cNvGrpSpPr>
            <p:nvPr/>
          </p:nvGrpSpPr>
          <p:grpSpPr bwMode="auto">
            <a:xfrm>
              <a:off x="3348" y="1248"/>
              <a:ext cx="284" cy="289"/>
              <a:chOff x="3068" y="1509"/>
              <a:chExt cx="284" cy="289"/>
            </a:xfrm>
          </p:grpSpPr>
          <p:sp>
            <p:nvSpPr>
              <p:cNvPr id="1003671" name="Freeform 15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72" name="Freeform 15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73" name="Line 15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03674" name="Line 15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03675" name="Line 15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03676" name="Line 15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03677" name="Line 15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03678" name="Line 15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03679" name="Line 15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03680" name="Line 16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03681" name="Line 16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30" name="Group 162"/>
          <p:cNvGrpSpPr>
            <a:grpSpLocks/>
          </p:cNvGrpSpPr>
          <p:nvPr/>
        </p:nvGrpSpPr>
        <p:grpSpPr bwMode="auto">
          <a:xfrm>
            <a:off x="5635625" y="4999038"/>
            <a:ext cx="3355975" cy="838200"/>
            <a:chOff x="1562" y="1152"/>
            <a:chExt cx="2114" cy="528"/>
          </a:xfrm>
        </p:grpSpPr>
        <p:grpSp>
          <p:nvGrpSpPr>
            <p:cNvPr id="31" name="Group 163"/>
            <p:cNvGrpSpPr>
              <a:grpSpLocks/>
            </p:cNvGrpSpPr>
            <p:nvPr/>
          </p:nvGrpSpPr>
          <p:grpSpPr bwMode="auto">
            <a:xfrm>
              <a:off x="2487" y="1152"/>
              <a:ext cx="223" cy="481"/>
              <a:chOff x="2207" y="1413"/>
              <a:chExt cx="223" cy="481"/>
            </a:xfrm>
          </p:grpSpPr>
          <p:sp>
            <p:nvSpPr>
              <p:cNvPr id="1003684" name="Freeform 16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85" name="Rectangle 16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003520" name="Group 166"/>
            <p:cNvGrpSpPr>
              <a:grpSpLocks/>
            </p:cNvGrpSpPr>
            <p:nvPr/>
          </p:nvGrpSpPr>
          <p:grpSpPr bwMode="auto">
            <a:xfrm>
              <a:off x="1562" y="1248"/>
              <a:ext cx="349" cy="289"/>
              <a:chOff x="1282" y="1509"/>
              <a:chExt cx="349" cy="289"/>
            </a:xfrm>
          </p:grpSpPr>
          <p:sp>
            <p:nvSpPr>
              <p:cNvPr id="1003687" name="Rectangle 16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003521" name="Group 168"/>
              <p:cNvGrpSpPr>
                <a:grpSpLocks/>
              </p:cNvGrpSpPr>
              <p:nvPr/>
            </p:nvGrpSpPr>
            <p:grpSpPr bwMode="auto">
              <a:xfrm>
                <a:off x="1291" y="1509"/>
                <a:ext cx="340" cy="289"/>
                <a:chOff x="1291" y="1509"/>
                <a:chExt cx="340" cy="289"/>
              </a:xfrm>
            </p:grpSpPr>
            <p:sp>
              <p:nvSpPr>
                <p:cNvPr id="1003689" name="Freeform 16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90" name="Freeform 17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03691" name="Rectangle 17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03522" name="Group 172"/>
            <p:cNvGrpSpPr>
              <a:grpSpLocks/>
            </p:cNvGrpSpPr>
            <p:nvPr/>
          </p:nvGrpSpPr>
          <p:grpSpPr bwMode="auto">
            <a:xfrm>
              <a:off x="2031" y="1248"/>
              <a:ext cx="296" cy="289"/>
              <a:chOff x="1751" y="1509"/>
              <a:chExt cx="296" cy="289"/>
            </a:xfrm>
          </p:grpSpPr>
          <p:sp>
            <p:nvSpPr>
              <p:cNvPr id="1003693" name="Freeform 17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94" name="Freeform 17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695" name="Line 17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03696" name="Freeform 17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697" name="Line 17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03698" name="Rectangle 17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03523" name="Group 179"/>
            <p:cNvGrpSpPr>
              <a:grpSpLocks/>
            </p:cNvGrpSpPr>
            <p:nvPr/>
          </p:nvGrpSpPr>
          <p:grpSpPr bwMode="auto">
            <a:xfrm>
              <a:off x="2880" y="1248"/>
              <a:ext cx="325" cy="289"/>
              <a:chOff x="2600" y="1509"/>
              <a:chExt cx="325" cy="289"/>
            </a:xfrm>
          </p:grpSpPr>
          <p:sp>
            <p:nvSpPr>
              <p:cNvPr id="1003700" name="Freeform 18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701" name="Freeform 18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702" name="Rectangle 18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03524" name="Group 183"/>
            <p:cNvGrpSpPr>
              <a:grpSpLocks/>
            </p:cNvGrpSpPr>
            <p:nvPr/>
          </p:nvGrpSpPr>
          <p:grpSpPr bwMode="auto">
            <a:xfrm>
              <a:off x="3348" y="1248"/>
              <a:ext cx="284" cy="289"/>
              <a:chOff x="3068" y="1509"/>
              <a:chExt cx="284" cy="289"/>
            </a:xfrm>
          </p:grpSpPr>
          <p:sp>
            <p:nvSpPr>
              <p:cNvPr id="1003704" name="Freeform 18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03705" name="Freeform 18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03706" name="Line 18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03707" name="Line 18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03708" name="Line 18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03709" name="Line 18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03710" name="Line 19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03711" name="Line 19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03712" name="Line 19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03713" name="Line 19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03714" name="Line 19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003715" name="Rectangle 195"/>
          <p:cNvSpPr>
            <a:spLocks noGrp="1" noChangeArrowheads="1"/>
          </p:cNvSpPr>
          <p:nvPr>
            <p:ph type="body" idx="1"/>
          </p:nvPr>
        </p:nvSpPr>
        <p:spPr>
          <a:xfrm>
            <a:off x="609600" y="762000"/>
            <a:ext cx="7391400" cy="379413"/>
          </a:xfrm>
          <a:noFill/>
          <a:ln/>
        </p:spPr>
        <p:txBody>
          <a:bodyPr/>
          <a:lstStyle/>
          <a:p>
            <a:r>
              <a:rPr lang="en-US"/>
              <a:t>Dependencies backward in time cause </a:t>
            </a:r>
            <a:r>
              <a:rPr lang="en-US">
                <a:solidFill>
                  <a:schemeClr val="accent1"/>
                </a:solidFill>
              </a:rPr>
              <a:t>hazards</a:t>
            </a:r>
          </a:p>
        </p:txBody>
      </p:sp>
    </p:spTree>
    <p:extLst>
      <p:ext uri="{BB962C8B-B14F-4D97-AF65-F5344CB8AC3E}">
        <p14:creationId xmlns:p14="http://schemas.microsoft.com/office/powerpoint/2010/main" val="41835012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940425" y="2255838"/>
            <a:ext cx="914400" cy="3352800"/>
            <a:chOff x="3648" y="1440"/>
            <a:chExt cx="576" cy="2112"/>
          </a:xfrm>
        </p:grpSpPr>
        <p:sp>
          <p:nvSpPr>
            <p:cNvPr id="1233923" name="Rectangle 3"/>
            <p:cNvSpPr>
              <a:spLocks noChangeArrowheads="1"/>
            </p:cNvSpPr>
            <p:nvPr/>
          </p:nvSpPr>
          <p:spPr bwMode="auto">
            <a:xfrm>
              <a:off x="4080" y="3264"/>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33924" name="Rectangle 4"/>
            <p:cNvSpPr>
              <a:spLocks noChangeArrowheads="1"/>
            </p:cNvSpPr>
            <p:nvPr/>
          </p:nvSpPr>
          <p:spPr bwMode="auto">
            <a:xfrm>
              <a:off x="3648" y="2736"/>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33925" name="Line 5"/>
            <p:cNvSpPr>
              <a:spLocks noChangeShapeType="1"/>
            </p:cNvSpPr>
            <p:nvPr/>
          </p:nvSpPr>
          <p:spPr bwMode="auto">
            <a:xfrm>
              <a:off x="3648" y="1440"/>
              <a:ext cx="0" cy="1296"/>
            </a:xfrm>
            <a:prstGeom prst="line">
              <a:avLst/>
            </a:prstGeom>
            <a:noFill/>
            <a:ln w="28575">
              <a:solidFill>
                <a:srgbClr val="009900"/>
              </a:solidFill>
              <a:round/>
              <a:headEnd/>
              <a:tailEnd type="triangle" w="med" len="med"/>
            </a:ln>
            <a:effectLst/>
          </p:spPr>
          <p:txBody>
            <a:bodyPr/>
            <a:lstStyle/>
            <a:p>
              <a:endParaRPr lang="en-US"/>
            </a:p>
          </p:txBody>
        </p:sp>
        <p:sp>
          <p:nvSpPr>
            <p:cNvPr id="1233926" name="Line 6"/>
            <p:cNvSpPr>
              <a:spLocks noChangeShapeType="1"/>
            </p:cNvSpPr>
            <p:nvPr/>
          </p:nvSpPr>
          <p:spPr bwMode="auto">
            <a:xfrm>
              <a:off x="3648" y="1440"/>
              <a:ext cx="432" cy="1824"/>
            </a:xfrm>
            <a:prstGeom prst="line">
              <a:avLst/>
            </a:prstGeom>
            <a:noFill/>
            <a:ln w="28575">
              <a:solidFill>
                <a:srgbClr val="009900"/>
              </a:solidFill>
              <a:round/>
              <a:headEnd/>
              <a:tailEnd type="triangle" w="med" len="med"/>
            </a:ln>
            <a:effectLst/>
          </p:spPr>
          <p:txBody>
            <a:bodyPr/>
            <a:lstStyle/>
            <a:p>
              <a:endParaRPr lang="en-US"/>
            </a:p>
          </p:txBody>
        </p:sp>
      </p:grpSp>
      <p:grpSp>
        <p:nvGrpSpPr>
          <p:cNvPr id="3" name="Group 7"/>
          <p:cNvGrpSpPr>
            <a:grpSpLocks/>
          </p:cNvGrpSpPr>
          <p:nvPr/>
        </p:nvGrpSpPr>
        <p:grpSpPr bwMode="auto">
          <a:xfrm>
            <a:off x="4568825" y="1798638"/>
            <a:ext cx="1371600" cy="2133600"/>
            <a:chOff x="2784" y="1152"/>
            <a:chExt cx="864" cy="1344"/>
          </a:xfrm>
        </p:grpSpPr>
        <p:sp>
          <p:nvSpPr>
            <p:cNvPr id="1233928" name="Rectangle 8"/>
            <p:cNvSpPr>
              <a:spLocks noChangeArrowheads="1"/>
            </p:cNvSpPr>
            <p:nvPr/>
          </p:nvSpPr>
          <p:spPr bwMode="auto">
            <a:xfrm>
              <a:off x="3216" y="2208"/>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33929" name="Rectangle 9"/>
            <p:cNvSpPr>
              <a:spLocks noChangeArrowheads="1"/>
            </p:cNvSpPr>
            <p:nvPr/>
          </p:nvSpPr>
          <p:spPr bwMode="auto">
            <a:xfrm>
              <a:off x="2784" y="1680"/>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33930" name="Rectangle 10"/>
            <p:cNvSpPr>
              <a:spLocks noChangeArrowheads="1"/>
            </p:cNvSpPr>
            <p:nvPr/>
          </p:nvSpPr>
          <p:spPr bwMode="auto">
            <a:xfrm>
              <a:off x="3504" y="1152"/>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33931" name="Line 11"/>
            <p:cNvSpPr>
              <a:spLocks noChangeShapeType="1"/>
            </p:cNvSpPr>
            <p:nvPr/>
          </p:nvSpPr>
          <p:spPr bwMode="auto">
            <a:xfrm flipH="1">
              <a:off x="2832" y="1440"/>
              <a:ext cx="816" cy="240"/>
            </a:xfrm>
            <a:prstGeom prst="line">
              <a:avLst/>
            </a:prstGeom>
            <a:noFill/>
            <a:ln w="28575">
              <a:solidFill>
                <a:schemeClr val="accent1"/>
              </a:solidFill>
              <a:round/>
              <a:headEnd/>
              <a:tailEnd type="triangle" w="med" len="med"/>
            </a:ln>
            <a:effectLst/>
          </p:spPr>
          <p:txBody>
            <a:bodyPr/>
            <a:lstStyle/>
            <a:p>
              <a:endParaRPr lang="en-US"/>
            </a:p>
          </p:txBody>
        </p:sp>
        <p:sp>
          <p:nvSpPr>
            <p:cNvPr id="1233932" name="Line 12"/>
            <p:cNvSpPr>
              <a:spLocks noChangeShapeType="1"/>
            </p:cNvSpPr>
            <p:nvPr/>
          </p:nvSpPr>
          <p:spPr bwMode="auto">
            <a:xfrm flipH="1">
              <a:off x="3216" y="1440"/>
              <a:ext cx="432" cy="768"/>
            </a:xfrm>
            <a:prstGeom prst="line">
              <a:avLst/>
            </a:prstGeom>
            <a:noFill/>
            <a:ln w="28575">
              <a:solidFill>
                <a:schemeClr val="accent1"/>
              </a:solidFill>
              <a:round/>
              <a:headEnd/>
              <a:tailEnd type="triangle" w="med" len="med"/>
            </a:ln>
            <a:effectLst/>
          </p:spPr>
          <p:txBody>
            <a:bodyPr/>
            <a:lstStyle/>
            <a:p>
              <a:endParaRPr lang="en-US"/>
            </a:p>
          </p:txBody>
        </p:sp>
      </p:grpSp>
      <p:sp>
        <p:nvSpPr>
          <p:cNvPr id="1233933" name="Rectangle 13"/>
          <p:cNvSpPr>
            <a:spLocks noGrp="1" noChangeArrowheads="1"/>
          </p:cNvSpPr>
          <p:nvPr>
            <p:ph type="title"/>
          </p:nvPr>
        </p:nvSpPr>
        <p:spPr>
          <a:xfrm>
            <a:off x="652463" y="304800"/>
            <a:ext cx="5472112" cy="422275"/>
          </a:xfrm>
          <a:noFill/>
          <a:ln/>
        </p:spPr>
        <p:txBody>
          <a:bodyPr wrap="none"/>
          <a:lstStyle/>
          <a:p>
            <a:r>
              <a:rPr lang="en-US"/>
              <a:t>Loads Can Cause Data Hazards</a:t>
            </a:r>
          </a:p>
        </p:txBody>
      </p:sp>
      <p:sp>
        <p:nvSpPr>
          <p:cNvPr id="1233934" name="Rectangle 14"/>
          <p:cNvSpPr>
            <a:spLocks noChangeArrowheads="1"/>
          </p:cNvSpPr>
          <p:nvPr/>
        </p:nvSpPr>
        <p:spPr bwMode="auto">
          <a:xfrm>
            <a:off x="152400" y="1906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33935" name="Line 15"/>
          <p:cNvSpPr>
            <a:spLocks noChangeShapeType="1"/>
          </p:cNvSpPr>
          <p:nvPr/>
        </p:nvSpPr>
        <p:spPr bwMode="auto">
          <a:xfrm>
            <a:off x="2282825" y="12700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33936" name="Rectangle 16"/>
          <p:cNvSpPr>
            <a:spLocks noChangeArrowheads="1"/>
          </p:cNvSpPr>
          <p:nvPr/>
        </p:nvSpPr>
        <p:spPr bwMode="auto">
          <a:xfrm>
            <a:off x="585788" y="1752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  </a:t>
            </a:r>
            <a:r>
              <a:rPr lang="en-US" sz="2400" b="1">
                <a:latin typeface="Courier New" pitchFamily="49" charset="0"/>
              </a:rPr>
              <a:t>$1</a:t>
            </a:r>
            <a:r>
              <a:rPr lang="en-US" sz="2400" b="1">
                <a:solidFill>
                  <a:schemeClr val="tx1"/>
                </a:solidFill>
                <a:latin typeface="Courier New" pitchFamily="49" charset="0"/>
              </a:rPr>
              <a:t>,4($2)</a:t>
            </a:r>
          </a:p>
        </p:txBody>
      </p:sp>
      <p:sp>
        <p:nvSpPr>
          <p:cNvPr id="1233937" name="Rectangle 17"/>
          <p:cNvSpPr>
            <a:spLocks noChangeArrowheads="1"/>
          </p:cNvSpPr>
          <p:nvPr/>
        </p:nvSpPr>
        <p:spPr bwMode="auto">
          <a:xfrm>
            <a:off x="585788" y="2590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sp>
        <p:nvSpPr>
          <p:cNvPr id="1233938" name="Rectangle 18"/>
          <p:cNvSpPr>
            <a:spLocks noChangeArrowheads="1"/>
          </p:cNvSpPr>
          <p:nvPr/>
        </p:nvSpPr>
        <p:spPr bwMode="auto">
          <a:xfrm>
            <a:off x="585788" y="34718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latin typeface="Courier New" pitchFamily="49" charset="0"/>
              </a:rPr>
              <a:t>$1</a:t>
            </a:r>
            <a:r>
              <a:rPr lang="en-US" sz="2400" b="1">
                <a:solidFill>
                  <a:schemeClr val="tx1"/>
                </a:solidFill>
                <a:latin typeface="Courier New" pitchFamily="49" charset="0"/>
              </a:rPr>
              <a:t>,$7</a:t>
            </a:r>
          </a:p>
        </p:txBody>
      </p:sp>
      <p:sp>
        <p:nvSpPr>
          <p:cNvPr id="1233939" name="Rectangle 19"/>
          <p:cNvSpPr>
            <a:spLocks noChangeArrowheads="1"/>
          </p:cNvSpPr>
          <p:nvPr/>
        </p:nvSpPr>
        <p:spPr bwMode="auto">
          <a:xfrm>
            <a:off x="585788" y="5181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33940" name="Line 20"/>
          <p:cNvSpPr>
            <a:spLocks noChangeShapeType="1"/>
          </p:cNvSpPr>
          <p:nvPr/>
        </p:nvSpPr>
        <p:spPr bwMode="auto">
          <a:xfrm>
            <a:off x="34639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1" name="Line 21"/>
          <p:cNvSpPr>
            <a:spLocks noChangeShapeType="1"/>
          </p:cNvSpPr>
          <p:nvPr/>
        </p:nvSpPr>
        <p:spPr bwMode="auto">
          <a:xfrm>
            <a:off x="41497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2" name="Line 22"/>
          <p:cNvSpPr>
            <a:spLocks noChangeShapeType="1"/>
          </p:cNvSpPr>
          <p:nvPr/>
        </p:nvSpPr>
        <p:spPr bwMode="auto">
          <a:xfrm>
            <a:off x="48355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3" name="Line 23"/>
          <p:cNvSpPr>
            <a:spLocks noChangeShapeType="1"/>
          </p:cNvSpPr>
          <p:nvPr/>
        </p:nvSpPr>
        <p:spPr bwMode="auto">
          <a:xfrm>
            <a:off x="55213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4" name="Line 24"/>
          <p:cNvSpPr>
            <a:spLocks noChangeShapeType="1"/>
          </p:cNvSpPr>
          <p:nvPr/>
        </p:nvSpPr>
        <p:spPr bwMode="auto">
          <a:xfrm>
            <a:off x="62071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5" name="Line 25"/>
          <p:cNvSpPr>
            <a:spLocks noChangeShapeType="1"/>
          </p:cNvSpPr>
          <p:nvPr/>
        </p:nvSpPr>
        <p:spPr bwMode="auto">
          <a:xfrm>
            <a:off x="68929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6" name="Line 26"/>
          <p:cNvSpPr>
            <a:spLocks noChangeShapeType="1"/>
          </p:cNvSpPr>
          <p:nvPr/>
        </p:nvSpPr>
        <p:spPr bwMode="auto">
          <a:xfrm>
            <a:off x="75787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7" name="Line 27"/>
          <p:cNvSpPr>
            <a:spLocks noChangeShapeType="1"/>
          </p:cNvSpPr>
          <p:nvPr/>
        </p:nvSpPr>
        <p:spPr bwMode="auto">
          <a:xfrm>
            <a:off x="8264525" y="1397000"/>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3948" name="Rectangle 28"/>
          <p:cNvSpPr>
            <a:spLocks noChangeArrowheads="1"/>
          </p:cNvSpPr>
          <p:nvPr/>
        </p:nvSpPr>
        <p:spPr bwMode="auto">
          <a:xfrm>
            <a:off x="585788" y="43100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sp>
        <p:nvSpPr>
          <p:cNvPr id="1233949" name="Line 29"/>
          <p:cNvSpPr>
            <a:spLocks noChangeShapeType="1"/>
          </p:cNvSpPr>
          <p:nvPr/>
        </p:nvSpPr>
        <p:spPr bwMode="auto">
          <a:xfrm>
            <a:off x="509588" y="18288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4" name="Group 30"/>
          <p:cNvGrpSpPr>
            <a:grpSpLocks/>
          </p:cNvGrpSpPr>
          <p:nvPr/>
        </p:nvGrpSpPr>
        <p:grpSpPr bwMode="auto">
          <a:xfrm>
            <a:off x="2892425" y="1646238"/>
            <a:ext cx="3355975" cy="838200"/>
            <a:chOff x="1562" y="1152"/>
            <a:chExt cx="2114" cy="528"/>
          </a:xfrm>
        </p:grpSpPr>
        <p:grpSp>
          <p:nvGrpSpPr>
            <p:cNvPr id="5" name="Group 31"/>
            <p:cNvGrpSpPr>
              <a:grpSpLocks/>
            </p:cNvGrpSpPr>
            <p:nvPr/>
          </p:nvGrpSpPr>
          <p:grpSpPr bwMode="auto">
            <a:xfrm>
              <a:off x="2487" y="1152"/>
              <a:ext cx="223" cy="481"/>
              <a:chOff x="2207" y="1413"/>
              <a:chExt cx="223" cy="481"/>
            </a:xfrm>
          </p:grpSpPr>
          <p:sp>
            <p:nvSpPr>
              <p:cNvPr id="1233952" name="Freeform 3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53" name="Rectangle 3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6" name="Group 34"/>
            <p:cNvGrpSpPr>
              <a:grpSpLocks/>
            </p:cNvGrpSpPr>
            <p:nvPr/>
          </p:nvGrpSpPr>
          <p:grpSpPr bwMode="auto">
            <a:xfrm>
              <a:off x="1562" y="1248"/>
              <a:ext cx="349" cy="289"/>
              <a:chOff x="1282" y="1509"/>
              <a:chExt cx="349" cy="289"/>
            </a:xfrm>
          </p:grpSpPr>
          <p:sp>
            <p:nvSpPr>
              <p:cNvPr id="1233955" name="Rectangle 3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7" name="Group 36"/>
              <p:cNvGrpSpPr>
                <a:grpSpLocks/>
              </p:cNvGrpSpPr>
              <p:nvPr/>
            </p:nvGrpSpPr>
            <p:grpSpPr bwMode="auto">
              <a:xfrm>
                <a:off x="1291" y="1509"/>
                <a:ext cx="340" cy="289"/>
                <a:chOff x="1291" y="1509"/>
                <a:chExt cx="340" cy="289"/>
              </a:xfrm>
            </p:grpSpPr>
            <p:sp>
              <p:nvSpPr>
                <p:cNvPr id="1233957" name="Freeform 3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58" name="Freeform 3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3959" name="Rectangle 3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0"/>
            <p:cNvGrpSpPr>
              <a:grpSpLocks/>
            </p:cNvGrpSpPr>
            <p:nvPr/>
          </p:nvGrpSpPr>
          <p:grpSpPr bwMode="auto">
            <a:xfrm>
              <a:off x="2031" y="1248"/>
              <a:ext cx="296" cy="289"/>
              <a:chOff x="1751" y="1509"/>
              <a:chExt cx="296" cy="289"/>
            </a:xfrm>
          </p:grpSpPr>
          <p:sp>
            <p:nvSpPr>
              <p:cNvPr id="1233961" name="Freeform 4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62" name="Freeform 4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3963" name="Line 4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3964" name="Freeform 4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65" name="Line 4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3966" name="Rectangle 4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9" name="Group 47"/>
            <p:cNvGrpSpPr>
              <a:grpSpLocks/>
            </p:cNvGrpSpPr>
            <p:nvPr/>
          </p:nvGrpSpPr>
          <p:grpSpPr bwMode="auto">
            <a:xfrm>
              <a:off x="2880" y="1248"/>
              <a:ext cx="325" cy="289"/>
              <a:chOff x="2600" y="1509"/>
              <a:chExt cx="325" cy="289"/>
            </a:xfrm>
          </p:grpSpPr>
          <p:sp>
            <p:nvSpPr>
              <p:cNvPr id="1233968" name="Freeform 4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69" name="Freeform 4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3970" name="Rectangle 5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 name="Group 51"/>
            <p:cNvGrpSpPr>
              <a:grpSpLocks/>
            </p:cNvGrpSpPr>
            <p:nvPr/>
          </p:nvGrpSpPr>
          <p:grpSpPr bwMode="auto">
            <a:xfrm>
              <a:off x="3348" y="1248"/>
              <a:ext cx="284" cy="289"/>
              <a:chOff x="3068" y="1509"/>
              <a:chExt cx="284" cy="289"/>
            </a:xfrm>
          </p:grpSpPr>
          <p:sp>
            <p:nvSpPr>
              <p:cNvPr id="1233972" name="Freeform 5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73" name="Freeform 5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3974" name="Line 5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3975" name="Line 5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3976" name="Line 5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3977" name="Line 5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3978" name="Line 5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3979" name="Line 5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3980" name="Line 6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3981" name="Line 6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3982" name="Line 6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1" name="Group 63"/>
          <p:cNvGrpSpPr>
            <a:grpSpLocks/>
          </p:cNvGrpSpPr>
          <p:nvPr/>
        </p:nvGrpSpPr>
        <p:grpSpPr bwMode="auto">
          <a:xfrm>
            <a:off x="3578225" y="2484438"/>
            <a:ext cx="3355975" cy="838200"/>
            <a:chOff x="1562" y="1152"/>
            <a:chExt cx="2114" cy="528"/>
          </a:xfrm>
        </p:grpSpPr>
        <p:grpSp>
          <p:nvGrpSpPr>
            <p:cNvPr id="12" name="Group 64"/>
            <p:cNvGrpSpPr>
              <a:grpSpLocks/>
            </p:cNvGrpSpPr>
            <p:nvPr/>
          </p:nvGrpSpPr>
          <p:grpSpPr bwMode="auto">
            <a:xfrm>
              <a:off x="2487" y="1152"/>
              <a:ext cx="223" cy="481"/>
              <a:chOff x="2207" y="1413"/>
              <a:chExt cx="223" cy="481"/>
            </a:xfrm>
          </p:grpSpPr>
          <p:sp>
            <p:nvSpPr>
              <p:cNvPr id="1233985" name="Freeform 6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86" name="Rectangle 6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3" name="Group 67"/>
            <p:cNvGrpSpPr>
              <a:grpSpLocks/>
            </p:cNvGrpSpPr>
            <p:nvPr/>
          </p:nvGrpSpPr>
          <p:grpSpPr bwMode="auto">
            <a:xfrm>
              <a:off x="1562" y="1248"/>
              <a:ext cx="349" cy="289"/>
              <a:chOff x="1282" y="1509"/>
              <a:chExt cx="349" cy="289"/>
            </a:xfrm>
          </p:grpSpPr>
          <p:sp>
            <p:nvSpPr>
              <p:cNvPr id="1233988" name="Rectangle 6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4" name="Group 69"/>
              <p:cNvGrpSpPr>
                <a:grpSpLocks/>
              </p:cNvGrpSpPr>
              <p:nvPr/>
            </p:nvGrpSpPr>
            <p:grpSpPr bwMode="auto">
              <a:xfrm>
                <a:off x="1291" y="1509"/>
                <a:ext cx="340" cy="289"/>
                <a:chOff x="1291" y="1509"/>
                <a:chExt cx="340" cy="289"/>
              </a:xfrm>
            </p:grpSpPr>
            <p:sp>
              <p:nvSpPr>
                <p:cNvPr id="1233990" name="Freeform 7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91" name="Freeform 7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3992" name="Rectangle 7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3"/>
            <p:cNvGrpSpPr>
              <a:grpSpLocks/>
            </p:cNvGrpSpPr>
            <p:nvPr/>
          </p:nvGrpSpPr>
          <p:grpSpPr bwMode="auto">
            <a:xfrm>
              <a:off x="2031" y="1248"/>
              <a:ext cx="296" cy="289"/>
              <a:chOff x="1751" y="1509"/>
              <a:chExt cx="296" cy="289"/>
            </a:xfrm>
          </p:grpSpPr>
          <p:sp>
            <p:nvSpPr>
              <p:cNvPr id="1233994" name="Freeform 7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95" name="Freeform 7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3996" name="Line 7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3997" name="Freeform 7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3998" name="Line 7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3999" name="Rectangle 7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6" name="Group 80"/>
            <p:cNvGrpSpPr>
              <a:grpSpLocks/>
            </p:cNvGrpSpPr>
            <p:nvPr/>
          </p:nvGrpSpPr>
          <p:grpSpPr bwMode="auto">
            <a:xfrm>
              <a:off x="2880" y="1248"/>
              <a:ext cx="325" cy="289"/>
              <a:chOff x="2600" y="1509"/>
              <a:chExt cx="325" cy="289"/>
            </a:xfrm>
          </p:grpSpPr>
          <p:sp>
            <p:nvSpPr>
              <p:cNvPr id="1234001" name="Freeform 8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02" name="Freeform 8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03" name="Rectangle 8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7" name="Group 84"/>
            <p:cNvGrpSpPr>
              <a:grpSpLocks/>
            </p:cNvGrpSpPr>
            <p:nvPr/>
          </p:nvGrpSpPr>
          <p:grpSpPr bwMode="auto">
            <a:xfrm>
              <a:off x="3348" y="1248"/>
              <a:ext cx="284" cy="289"/>
              <a:chOff x="3068" y="1509"/>
              <a:chExt cx="284" cy="289"/>
            </a:xfrm>
          </p:grpSpPr>
          <p:sp>
            <p:nvSpPr>
              <p:cNvPr id="1234005" name="Freeform 8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06" name="Freeform 8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07" name="Line 8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4008" name="Line 8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4009" name="Line 8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4010" name="Line 9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4011" name="Line 9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4012" name="Line 9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4013" name="Line 9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4014" name="Line 9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4015" name="Line 9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8" name="Group 96"/>
          <p:cNvGrpSpPr>
            <a:grpSpLocks/>
          </p:cNvGrpSpPr>
          <p:nvPr/>
        </p:nvGrpSpPr>
        <p:grpSpPr bwMode="auto">
          <a:xfrm>
            <a:off x="4264025" y="3322638"/>
            <a:ext cx="3355975" cy="838200"/>
            <a:chOff x="1562" y="1152"/>
            <a:chExt cx="2114" cy="528"/>
          </a:xfrm>
        </p:grpSpPr>
        <p:grpSp>
          <p:nvGrpSpPr>
            <p:cNvPr id="19" name="Group 97"/>
            <p:cNvGrpSpPr>
              <a:grpSpLocks/>
            </p:cNvGrpSpPr>
            <p:nvPr/>
          </p:nvGrpSpPr>
          <p:grpSpPr bwMode="auto">
            <a:xfrm>
              <a:off x="2487" y="1152"/>
              <a:ext cx="223" cy="481"/>
              <a:chOff x="2207" y="1413"/>
              <a:chExt cx="223" cy="481"/>
            </a:xfrm>
          </p:grpSpPr>
          <p:sp>
            <p:nvSpPr>
              <p:cNvPr id="1234018" name="Freeform 98"/>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19" name="Rectangle 99"/>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0" name="Group 100"/>
            <p:cNvGrpSpPr>
              <a:grpSpLocks/>
            </p:cNvGrpSpPr>
            <p:nvPr/>
          </p:nvGrpSpPr>
          <p:grpSpPr bwMode="auto">
            <a:xfrm>
              <a:off x="1562" y="1248"/>
              <a:ext cx="349" cy="289"/>
              <a:chOff x="1282" y="1509"/>
              <a:chExt cx="349" cy="289"/>
            </a:xfrm>
          </p:grpSpPr>
          <p:sp>
            <p:nvSpPr>
              <p:cNvPr id="1234021" name="Rectangle 101"/>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1" name="Group 102"/>
              <p:cNvGrpSpPr>
                <a:grpSpLocks/>
              </p:cNvGrpSpPr>
              <p:nvPr/>
            </p:nvGrpSpPr>
            <p:grpSpPr bwMode="auto">
              <a:xfrm>
                <a:off x="1291" y="1509"/>
                <a:ext cx="340" cy="289"/>
                <a:chOff x="1291" y="1509"/>
                <a:chExt cx="340" cy="289"/>
              </a:xfrm>
            </p:grpSpPr>
            <p:sp>
              <p:nvSpPr>
                <p:cNvPr id="1234023" name="Freeform 103"/>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24" name="Freeform 104"/>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4025" name="Rectangle 105"/>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06"/>
            <p:cNvGrpSpPr>
              <a:grpSpLocks/>
            </p:cNvGrpSpPr>
            <p:nvPr/>
          </p:nvGrpSpPr>
          <p:grpSpPr bwMode="auto">
            <a:xfrm>
              <a:off x="2031" y="1248"/>
              <a:ext cx="296" cy="289"/>
              <a:chOff x="1751" y="1509"/>
              <a:chExt cx="296" cy="289"/>
            </a:xfrm>
          </p:grpSpPr>
          <p:sp>
            <p:nvSpPr>
              <p:cNvPr id="1234027" name="Freeform 107"/>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28" name="Freeform 108"/>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29" name="Line 109"/>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4030" name="Freeform 110"/>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31" name="Line 111"/>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4032" name="Rectangle 112"/>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3" name="Group 113"/>
            <p:cNvGrpSpPr>
              <a:grpSpLocks/>
            </p:cNvGrpSpPr>
            <p:nvPr/>
          </p:nvGrpSpPr>
          <p:grpSpPr bwMode="auto">
            <a:xfrm>
              <a:off x="2880" y="1248"/>
              <a:ext cx="325" cy="289"/>
              <a:chOff x="2600" y="1509"/>
              <a:chExt cx="325" cy="289"/>
            </a:xfrm>
          </p:grpSpPr>
          <p:sp>
            <p:nvSpPr>
              <p:cNvPr id="1234034" name="Freeform 114"/>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35" name="Freeform 115"/>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36" name="Rectangle 116"/>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4" name="Group 117"/>
            <p:cNvGrpSpPr>
              <a:grpSpLocks/>
            </p:cNvGrpSpPr>
            <p:nvPr/>
          </p:nvGrpSpPr>
          <p:grpSpPr bwMode="auto">
            <a:xfrm>
              <a:off x="3348" y="1248"/>
              <a:ext cx="284" cy="289"/>
              <a:chOff x="3068" y="1509"/>
              <a:chExt cx="284" cy="289"/>
            </a:xfrm>
          </p:grpSpPr>
          <p:sp>
            <p:nvSpPr>
              <p:cNvPr id="1234038" name="Freeform 118"/>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39" name="Freeform 119"/>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40" name="Line 120"/>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4041" name="Line 121"/>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4042" name="Line 122"/>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4043" name="Line 123"/>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4044" name="Line 124"/>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4045" name="Line 125"/>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4046" name="Line 126"/>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4047" name="Line 127"/>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4048" name="Line 128"/>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5" name="Group 129"/>
          <p:cNvGrpSpPr>
            <a:grpSpLocks/>
          </p:cNvGrpSpPr>
          <p:nvPr/>
        </p:nvGrpSpPr>
        <p:grpSpPr bwMode="auto">
          <a:xfrm>
            <a:off x="4949825" y="4160838"/>
            <a:ext cx="3355975" cy="838200"/>
            <a:chOff x="1562" y="1152"/>
            <a:chExt cx="2114" cy="528"/>
          </a:xfrm>
        </p:grpSpPr>
        <p:grpSp>
          <p:nvGrpSpPr>
            <p:cNvPr id="26" name="Group 130"/>
            <p:cNvGrpSpPr>
              <a:grpSpLocks/>
            </p:cNvGrpSpPr>
            <p:nvPr/>
          </p:nvGrpSpPr>
          <p:grpSpPr bwMode="auto">
            <a:xfrm>
              <a:off x="2487" y="1152"/>
              <a:ext cx="223" cy="481"/>
              <a:chOff x="2207" y="1413"/>
              <a:chExt cx="223" cy="481"/>
            </a:xfrm>
          </p:grpSpPr>
          <p:sp>
            <p:nvSpPr>
              <p:cNvPr id="1234051" name="Freeform 13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52" name="Rectangle 13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7" name="Group 133"/>
            <p:cNvGrpSpPr>
              <a:grpSpLocks/>
            </p:cNvGrpSpPr>
            <p:nvPr/>
          </p:nvGrpSpPr>
          <p:grpSpPr bwMode="auto">
            <a:xfrm>
              <a:off x="1562" y="1248"/>
              <a:ext cx="349" cy="289"/>
              <a:chOff x="1282" y="1509"/>
              <a:chExt cx="349" cy="289"/>
            </a:xfrm>
          </p:grpSpPr>
          <p:sp>
            <p:nvSpPr>
              <p:cNvPr id="1234054" name="Rectangle 13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8" name="Group 135"/>
              <p:cNvGrpSpPr>
                <a:grpSpLocks/>
              </p:cNvGrpSpPr>
              <p:nvPr/>
            </p:nvGrpSpPr>
            <p:grpSpPr bwMode="auto">
              <a:xfrm>
                <a:off x="1291" y="1509"/>
                <a:ext cx="340" cy="289"/>
                <a:chOff x="1291" y="1509"/>
                <a:chExt cx="340" cy="289"/>
              </a:xfrm>
            </p:grpSpPr>
            <p:sp>
              <p:nvSpPr>
                <p:cNvPr id="1234056" name="Freeform 13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57" name="Freeform 13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4058" name="Rectangle 13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39"/>
            <p:cNvGrpSpPr>
              <a:grpSpLocks/>
            </p:cNvGrpSpPr>
            <p:nvPr/>
          </p:nvGrpSpPr>
          <p:grpSpPr bwMode="auto">
            <a:xfrm>
              <a:off x="2031" y="1248"/>
              <a:ext cx="296" cy="289"/>
              <a:chOff x="1751" y="1509"/>
              <a:chExt cx="296" cy="289"/>
            </a:xfrm>
          </p:grpSpPr>
          <p:sp>
            <p:nvSpPr>
              <p:cNvPr id="1234060" name="Freeform 14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61" name="Freeform 14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62" name="Line 14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4063" name="Freeform 14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64" name="Line 14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4065" name="Rectangle 14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30" name="Group 146"/>
            <p:cNvGrpSpPr>
              <a:grpSpLocks/>
            </p:cNvGrpSpPr>
            <p:nvPr/>
          </p:nvGrpSpPr>
          <p:grpSpPr bwMode="auto">
            <a:xfrm>
              <a:off x="2880" y="1248"/>
              <a:ext cx="325" cy="289"/>
              <a:chOff x="2600" y="1509"/>
              <a:chExt cx="325" cy="289"/>
            </a:xfrm>
          </p:grpSpPr>
          <p:sp>
            <p:nvSpPr>
              <p:cNvPr id="1234067" name="Freeform 14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68" name="Freeform 14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69" name="Rectangle 14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1" name="Group 150"/>
            <p:cNvGrpSpPr>
              <a:grpSpLocks/>
            </p:cNvGrpSpPr>
            <p:nvPr/>
          </p:nvGrpSpPr>
          <p:grpSpPr bwMode="auto">
            <a:xfrm>
              <a:off x="3348" y="1248"/>
              <a:ext cx="284" cy="289"/>
              <a:chOff x="3068" y="1509"/>
              <a:chExt cx="284" cy="289"/>
            </a:xfrm>
          </p:grpSpPr>
          <p:sp>
            <p:nvSpPr>
              <p:cNvPr id="1234071" name="Freeform 15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72" name="Freeform 15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73" name="Line 15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4074" name="Line 15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4075" name="Line 15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4076" name="Line 15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4077" name="Line 15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4078" name="Line 15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4079" name="Line 15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4080" name="Line 16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4081" name="Line 16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34016" name="Group 162"/>
          <p:cNvGrpSpPr>
            <a:grpSpLocks/>
          </p:cNvGrpSpPr>
          <p:nvPr/>
        </p:nvGrpSpPr>
        <p:grpSpPr bwMode="auto">
          <a:xfrm>
            <a:off x="5635625" y="4999038"/>
            <a:ext cx="3355975" cy="838200"/>
            <a:chOff x="1562" y="1152"/>
            <a:chExt cx="2114" cy="528"/>
          </a:xfrm>
        </p:grpSpPr>
        <p:grpSp>
          <p:nvGrpSpPr>
            <p:cNvPr id="1234017" name="Group 163"/>
            <p:cNvGrpSpPr>
              <a:grpSpLocks/>
            </p:cNvGrpSpPr>
            <p:nvPr/>
          </p:nvGrpSpPr>
          <p:grpSpPr bwMode="auto">
            <a:xfrm>
              <a:off x="2487" y="1152"/>
              <a:ext cx="223" cy="481"/>
              <a:chOff x="2207" y="1413"/>
              <a:chExt cx="223" cy="481"/>
            </a:xfrm>
          </p:grpSpPr>
          <p:sp>
            <p:nvSpPr>
              <p:cNvPr id="1234084" name="Freeform 16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85" name="Rectangle 16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34020" name="Group 166"/>
            <p:cNvGrpSpPr>
              <a:grpSpLocks/>
            </p:cNvGrpSpPr>
            <p:nvPr/>
          </p:nvGrpSpPr>
          <p:grpSpPr bwMode="auto">
            <a:xfrm>
              <a:off x="1562" y="1248"/>
              <a:ext cx="349" cy="289"/>
              <a:chOff x="1282" y="1509"/>
              <a:chExt cx="349" cy="289"/>
            </a:xfrm>
          </p:grpSpPr>
          <p:sp>
            <p:nvSpPr>
              <p:cNvPr id="1234087" name="Rectangle 16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34022" name="Group 168"/>
              <p:cNvGrpSpPr>
                <a:grpSpLocks/>
              </p:cNvGrpSpPr>
              <p:nvPr/>
            </p:nvGrpSpPr>
            <p:grpSpPr bwMode="auto">
              <a:xfrm>
                <a:off x="1291" y="1509"/>
                <a:ext cx="340" cy="289"/>
                <a:chOff x="1291" y="1509"/>
                <a:chExt cx="340" cy="289"/>
              </a:xfrm>
            </p:grpSpPr>
            <p:sp>
              <p:nvSpPr>
                <p:cNvPr id="1234089" name="Freeform 16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90" name="Freeform 17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4091" name="Rectangle 17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34026" name="Group 172"/>
            <p:cNvGrpSpPr>
              <a:grpSpLocks/>
            </p:cNvGrpSpPr>
            <p:nvPr/>
          </p:nvGrpSpPr>
          <p:grpSpPr bwMode="auto">
            <a:xfrm>
              <a:off x="2031" y="1248"/>
              <a:ext cx="296" cy="289"/>
              <a:chOff x="1751" y="1509"/>
              <a:chExt cx="296" cy="289"/>
            </a:xfrm>
          </p:grpSpPr>
          <p:sp>
            <p:nvSpPr>
              <p:cNvPr id="1234093" name="Freeform 17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94" name="Freeform 17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095" name="Line 17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4096" name="Freeform 17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097" name="Line 17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4098" name="Rectangle 17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34033" name="Group 179"/>
            <p:cNvGrpSpPr>
              <a:grpSpLocks/>
            </p:cNvGrpSpPr>
            <p:nvPr/>
          </p:nvGrpSpPr>
          <p:grpSpPr bwMode="auto">
            <a:xfrm>
              <a:off x="2880" y="1248"/>
              <a:ext cx="325" cy="289"/>
              <a:chOff x="2600" y="1509"/>
              <a:chExt cx="325" cy="289"/>
            </a:xfrm>
          </p:grpSpPr>
          <p:sp>
            <p:nvSpPr>
              <p:cNvPr id="1234100" name="Freeform 18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101" name="Freeform 18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102" name="Rectangle 18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34037" name="Group 183"/>
            <p:cNvGrpSpPr>
              <a:grpSpLocks/>
            </p:cNvGrpSpPr>
            <p:nvPr/>
          </p:nvGrpSpPr>
          <p:grpSpPr bwMode="auto">
            <a:xfrm>
              <a:off x="3348" y="1248"/>
              <a:ext cx="284" cy="289"/>
              <a:chOff x="3068" y="1509"/>
              <a:chExt cx="284" cy="289"/>
            </a:xfrm>
          </p:grpSpPr>
          <p:sp>
            <p:nvSpPr>
              <p:cNvPr id="1234104" name="Freeform 18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4105" name="Freeform 18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4106" name="Line 18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4107" name="Line 18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4108" name="Line 18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4109" name="Line 18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4110" name="Line 19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4111" name="Line 19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4112" name="Line 19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4113" name="Line 19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4114" name="Line 19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34115" name="Rectangle 195"/>
          <p:cNvSpPr>
            <a:spLocks noGrp="1" noChangeArrowheads="1"/>
          </p:cNvSpPr>
          <p:nvPr>
            <p:ph type="body" idx="1"/>
          </p:nvPr>
        </p:nvSpPr>
        <p:spPr>
          <a:xfrm>
            <a:off x="609600" y="762000"/>
            <a:ext cx="7391400" cy="379413"/>
          </a:xfrm>
          <a:noFill/>
          <a:ln/>
        </p:spPr>
        <p:txBody>
          <a:bodyPr/>
          <a:lstStyle/>
          <a:p>
            <a:r>
              <a:rPr lang="en-US"/>
              <a:t>Dependencies backward in time cause </a:t>
            </a:r>
            <a:r>
              <a:rPr lang="en-US">
                <a:solidFill>
                  <a:schemeClr val="accent1"/>
                </a:solidFill>
              </a:rPr>
              <a:t>hazards</a:t>
            </a:r>
          </a:p>
        </p:txBody>
      </p:sp>
      <p:sp>
        <p:nvSpPr>
          <p:cNvPr id="1234117" name="Rectangle 197"/>
          <p:cNvSpPr>
            <a:spLocks noChangeArrowheads="1"/>
          </p:cNvSpPr>
          <p:nvPr/>
        </p:nvSpPr>
        <p:spPr bwMode="auto">
          <a:xfrm>
            <a:off x="762000" y="6019800"/>
            <a:ext cx="7848600" cy="379413"/>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a:solidFill>
                  <a:schemeClr val="accent2"/>
                </a:solidFill>
              </a:rPr>
              <a:t>Load-use</a:t>
            </a:r>
            <a:r>
              <a:rPr lang="en-US" sz="2400">
                <a:solidFill>
                  <a:schemeClr val="tx1"/>
                </a:solidFill>
              </a:rPr>
              <a:t> </a:t>
            </a:r>
            <a:r>
              <a:rPr lang="en-US" sz="2400"/>
              <a:t>data hazard</a:t>
            </a:r>
          </a:p>
        </p:txBody>
      </p:sp>
    </p:spTree>
    <p:extLst>
      <p:ext uri="{BB962C8B-B14F-4D97-AF65-F5344CB8AC3E}">
        <p14:creationId xmlns:p14="http://schemas.microsoft.com/office/powerpoint/2010/main" val="10877659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3"/>
          <p:cNvGrpSpPr>
            <a:grpSpLocks/>
          </p:cNvGrpSpPr>
          <p:nvPr/>
        </p:nvGrpSpPr>
        <p:grpSpPr bwMode="auto">
          <a:xfrm>
            <a:off x="762000" y="2286000"/>
            <a:ext cx="6019800" cy="685800"/>
            <a:chOff x="480" y="1344"/>
            <a:chExt cx="3792" cy="432"/>
          </a:xfrm>
        </p:grpSpPr>
        <p:sp>
          <p:nvSpPr>
            <p:cNvPr id="1231996" name="Rectangle 124"/>
            <p:cNvSpPr>
              <a:spLocks noChangeArrowheads="1"/>
            </p:cNvSpPr>
            <p:nvPr/>
          </p:nvSpPr>
          <p:spPr bwMode="auto">
            <a:xfrm>
              <a:off x="480" y="1440"/>
              <a:ext cx="456"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stall</a:t>
              </a:r>
            </a:p>
          </p:txBody>
        </p:sp>
        <p:sp>
          <p:nvSpPr>
            <p:cNvPr id="1231997" name="AutoShape 125" descr="Shingle"/>
            <p:cNvSpPr>
              <a:spLocks noChangeArrowheads="1"/>
            </p:cNvSpPr>
            <p:nvPr/>
          </p:nvSpPr>
          <p:spPr bwMode="auto">
            <a:xfrm>
              <a:off x="2112"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1998" name="AutoShape 126" descr="Shingle"/>
            <p:cNvSpPr>
              <a:spLocks noChangeArrowheads="1"/>
            </p:cNvSpPr>
            <p:nvPr/>
          </p:nvSpPr>
          <p:spPr bwMode="auto">
            <a:xfrm>
              <a:off x="2544"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1999" name="AutoShape 127" descr="Shingle"/>
            <p:cNvSpPr>
              <a:spLocks noChangeArrowheads="1"/>
            </p:cNvSpPr>
            <p:nvPr/>
          </p:nvSpPr>
          <p:spPr bwMode="auto">
            <a:xfrm>
              <a:off x="2976"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2000" name="AutoShape 128" descr="Shingle"/>
            <p:cNvSpPr>
              <a:spLocks noChangeArrowheads="1"/>
            </p:cNvSpPr>
            <p:nvPr/>
          </p:nvSpPr>
          <p:spPr bwMode="auto">
            <a:xfrm>
              <a:off x="3408"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2001" name="AutoShape 129" descr="Shingle"/>
            <p:cNvSpPr>
              <a:spLocks noChangeArrowheads="1"/>
            </p:cNvSpPr>
            <p:nvPr/>
          </p:nvSpPr>
          <p:spPr bwMode="auto">
            <a:xfrm>
              <a:off x="3840" y="134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3" name="Group 130"/>
          <p:cNvGrpSpPr>
            <a:grpSpLocks/>
          </p:cNvGrpSpPr>
          <p:nvPr/>
        </p:nvGrpSpPr>
        <p:grpSpPr bwMode="auto">
          <a:xfrm>
            <a:off x="762000" y="3124200"/>
            <a:ext cx="6705600" cy="609600"/>
            <a:chOff x="480" y="1872"/>
            <a:chExt cx="4224" cy="384"/>
          </a:xfrm>
        </p:grpSpPr>
        <p:sp>
          <p:nvSpPr>
            <p:cNvPr id="1232003" name="Rectangle 131"/>
            <p:cNvSpPr>
              <a:spLocks noChangeArrowheads="1"/>
            </p:cNvSpPr>
            <p:nvPr/>
          </p:nvSpPr>
          <p:spPr bwMode="auto">
            <a:xfrm>
              <a:off x="480" y="1968"/>
              <a:ext cx="456"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stall</a:t>
              </a:r>
            </a:p>
          </p:txBody>
        </p:sp>
        <p:sp>
          <p:nvSpPr>
            <p:cNvPr id="1232004" name="AutoShape 132" descr="Shingle"/>
            <p:cNvSpPr>
              <a:spLocks noChangeArrowheads="1"/>
            </p:cNvSpPr>
            <p:nvPr/>
          </p:nvSpPr>
          <p:spPr bwMode="auto">
            <a:xfrm>
              <a:off x="2544" y="187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2005" name="AutoShape 133" descr="Shingle"/>
            <p:cNvSpPr>
              <a:spLocks noChangeArrowheads="1"/>
            </p:cNvSpPr>
            <p:nvPr/>
          </p:nvSpPr>
          <p:spPr bwMode="auto">
            <a:xfrm>
              <a:off x="2976" y="187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2006" name="AutoShape 134" descr="Shingle"/>
            <p:cNvSpPr>
              <a:spLocks noChangeArrowheads="1"/>
            </p:cNvSpPr>
            <p:nvPr/>
          </p:nvSpPr>
          <p:spPr bwMode="auto">
            <a:xfrm>
              <a:off x="3408" y="187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2007" name="AutoShape 135" descr="Shingle"/>
            <p:cNvSpPr>
              <a:spLocks noChangeArrowheads="1"/>
            </p:cNvSpPr>
            <p:nvPr/>
          </p:nvSpPr>
          <p:spPr bwMode="auto">
            <a:xfrm>
              <a:off x="3840" y="187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32008" name="AutoShape 136" descr="Shingle"/>
            <p:cNvSpPr>
              <a:spLocks noChangeArrowheads="1"/>
            </p:cNvSpPr>
            <p:nvPr/>
          </p:nvSpPr>
          <p:spPr bwMode="auto">
            <a:xfrm>
              <a:off x="4272" y="187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4" name="Group 2"/>
          <p:cNvGrpSpPr>
            <a:grpSpLocks/>
          </p:cNvGrpSpPr>
          <p:nvPr/>
        </p:nvGrpSpPr>
        <p:grpSpPr bwMode="auto">
          <a:xfrm>
            <a:off x="5562600" y="1600200"/>
            <a:ext cx="1143000" cy="3886200"/>
            <a:chOff x="3504" y="912"/>
            <a:chExt cx="720" cy="2448"/>
          </a:xfrm>
        </p:grpSpPr>
        <p:sp>
          <p:nvSpPr>
            <p:cNvPr id="1231875" name="Rectangle 3"/>
            <p:cNvSpPr>
              <a:spLocks noChangeArrowheads="1"/>
            </p:cNvSpPr>
            <p:nvPr/>
          </p:nvSpPr>
          <p:spPr bwMode="auto">
            <a:xfrm>
              <a:off x="4080" y="3072"/>
              <a:ext cx="144" cy="288"/>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31876" name="Rectangle 4"/>
            <p:cNvSpPr>
              <a:spLocks noChangeArrowheads="1"/>
            </p:cNvSpPr>
            <p:nvPr/>
          </p:nvSpPr>
          <p:spPr bwMode="auto">
            <a:xfrm>
              <a:off x="3648" y="2544"/>
              <a:ext cx="144" cy="288"/>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31877" name="Rectangle 5"/>
            <p:cNvSpPr>
              <a:spLocks noChangeArrowheads="1"/>
            </p:cNvSpPr>
            <p:nvPr/>
          </p:nvSpPr>
          <p:spPr bwMode="auto">
            <a:xfrm>
              <a:off x="3504" y="912"/>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31878" name="Line 6"/>
            <p:cNvSpPr>
              <a:spLocks noChangeShapeType="1"/>
            </p:cNvSpPr>
            <p:nvPr/>
          </p:nvSpPr>
          <p:spPr bwMode="auto">
            <a:xfrm>
              <a:off x="3648" y="1200"/>
              <a:ext cx="0" cy="1344"/>
            </a:xfrm>
            <a:prstGeom prst="line">
              <a:avLst/>
            </a:prstGeom>
            <a:noFill/>
            <a:ln w="28575">
              <a:solidFill>
                <a:srgbClr val="009900"/>
              </a:solidFill>
              <a:round/>
              <a:headEnd/>
              <a:tailEnd type="triangle" w="med" len="med"/>
            </a:ln>
            <a:effectLst/>
          </p:spPr>
          <p:txBody>
            <a:bodyPr/>
            <a:lstStyle/>
            <a:p>
              <a:endParaRPr lang="en-US"/>
            </a:p>
          </p:txBody>
        </p:sp>
        <p:sp>
          <p:nvSpPr>
            <p:cNvPr id="1231879" name="Line 7"/>
            <p:cNvSpPr>
              <a:spLocks noChangeShapeType="1"/>
            </p:cNvSpPr>
            <p:nvPr/>
          </p:nvSpPr>
          <p:spPr bwMode="auto">
            <a:xfrm>
              <a:off x="3648" y="1200"/>
              <a:ext cx="432" cy="1872"/>
            </a:xfrm>
            <a:prstGeom prst="line">
              <a:avLst/>
            </a:prstGeom>
            <a:noFill/>
            <a:ln w="28575">
              <a:solidFill>
                <a:srgbClr val="009900"/>
              </a:solidFill>
              <a:round/>
              <a:headEnd/>
              <a:tailEnd type="triangle" w="med" len="med"/>
            </a:ln>
            <a:effectLst/>
          </p:spPr>
          <p:txBody>
            <a:bodyPr/>
            <a:lstStyle/>
            <a:p>
              <a:endParaRPr lang="en-US"/>
            </a:p>
          </p:txBody>
        </p:sp>
      </p:grpSp>
      <p:sp>
        <p:nvSpPr>
          <p:cNvPr id="1231880" name="Rectangle 8"/>
          <p:cNvSpPr>
            <a:spLocks noGrp="1" noChangeArrowheads="1"/>
          </p:cNvSpPr>
          <p:nvPr>
            <p:ph type="title"/>
          </p:nvPr>
        </p:nvSpPr>
        <p:spPr>
          <a:xfrm>
            <a:off x="652463" y="304800"/>
            <a:ext cx="5721350" cy="422275"/>
          </a:xfrm>
          <a:noFill/>
          <a:ln/>
        </p:spPr>
        <p:txBody>
          <a:bodyPr wrap="none"/>
          <a:lstStyle/>
          <a:p>
            <a:r>
              <a:rPr lang="en-US"/>
              <a:t>One Way to “Fix” a Data Hazard</a:t>
            </a:r>
          </a:p>
        </p:txBody>
      </p:sp>
      <p:sp>
        <p:nvSpPr>
          <p:cNvPr id="1231881" name="Rectangle 9"/>
          <p:cNvSpPr>
            <a:spLocks noChangeArrowheads="1"/>
          </p:cNvSpPr>
          <p:nvPr/>
        </p:nvSpPr>
        <p:spPr bwMode="auto">
          <a:xfrm>
            <a:off x="328613" y="16779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31882" name="Line 10"/>
          <p:cNvSpPr>
            <a:spLocks noChangeShapeType="1"/>
          </p:cNvSpPr>
          <p:nvPr/>
        </p:nvSpPr>
        <p:spPr bwMode="auto">
          <a:xfrm>
            <a:off x="2133600" y="10715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31883" name="Rectangle 11"/>
          <p:cNvSpPr>
            <a:spLocks noChangeArrowheads="1"/>
          </p:cNvSpPr>
          <p:nvPr/>
        </p:nvSpPr>
        <p:spPr bwMode="auto">
          <a:xfrm>
            <a:off x="762000" y="1524000"/>
            <a:ext cx="145891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1231884" name="Line 12"/>
          <p:cNvSpPr>
            <a:spLocks noChangeShapeType="1"/>
          </p:cNvSpPr>
          <p:nvPr/>
        </p:nvSpPr>
        <p:spPr bwMode="auto">
          <a:xfrm>
            <a:off x="33147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85" name="Line 13"/>
          <p:cNvSpPr>
            <a:spLocks noChangeShapeType="1"/>
          </p:cNvSpPr>
          <p:nvPr/>
        </p:nvSpPr>
        <p:spPr bwMode="auto">
          <a:xfrm>
            <a:off x="40005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86" name="Line 14"/>
          <p:cNvSpPr>
            <a:spLocks noChangeShapeType="1"/>
          </p:cNvSpPr>
          <p:nvPr/>
        </p:nvSpPr>
        <p:spPr bwMode="auto">
          <a:xfrm>
            <a:off x="46863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87" name="Line 15"/>
          <p:cNvSpPr>
            <a:spLocks noChangeShapeType="1"/>
          </p:cNvSpPr>
          <p:nvPr/>
        </p:nvSpPr>
        <p:spPr bwMode="auto">
          <a:xfrm>
            <a:off x="53721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88" name="Line 16"/>
          <p:cNvSpPr>
            <a:spLocks noChangeShapeType="1"/>
          </p:cNvSpPr>
          <p:nvPr/>
        </p:nvSpPr>
        <p:spPr bwMode="auto">
          <a:xfrm>
            <a:off x="60579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89" name="Line 17"/>
          <p:cNvSpPr>
            <a:spLocks noChangeShapeType="1"/>
          </p:cNvSpPr>
          <p:nvPr/>
        </p:nvSpPr>
        <p:spPr bwMode="auto">
          <a:xfrm>
            <a:off x="67437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90" name="Line 18"/>
          <p:cNvSpPr>
            <a:spLocks noChangeShapeType="1"/>
          </p:cNvSpPr>
          <p:nvPr/>
        </p:nvSpPr>
        <p:spPr bwMode="auto">
          <a:xfrm>
            <a:off x="74295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91" name="Line 19"/>
          <p:cNvSpPr>
            <a:spLocks noChangeShapeType="1"/>
          </p:cNvSpPr>
          <p:nvPr/>
        </p:nvSpPr>
        <p:spPr bwMode="auto">
          <a:xfrm>
            <a:off x="8115300" y="11985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31892" name="Line 20"/>
          <p:cNvSpPr>
            <a:spLocks noChangeShapeType="1"/>
          </p:cNvSpPr>
          <p:nvPr/>
        </p:nvSpPr>
        <p:spPr bwMode="auto">
          <a:xfrm>
            <a:off x="685800" y="1600200"/>
            <a:ext cx="0" cy="4495800"/>
          </a:xfrm>
          <a:prstGeom prst="line">
            <a:avLst/>
          </a:prstGeom>
          <a:noFill/>
          <a:ln w="28575">
            <a:solidFill>
              <a:schemeClr val="tx1"/>
            </a:solidFill>
            <a:round/>
            <a:headEnd/>
            <a:tailEnd type="triangle" w="med" len="med"/>
          </a:ln>
          <a:effectLst/>
        </p:spPr>
        <p:txBody>
          <a:bodyPr/>
          <a:lstStyle/>
          <a:p>
            <a:endParaRPr lang="en-US"/>
          </a:p>
        </p:txBody>
      </p:sp>
      <p:grpSp>
        <p:nvGrpSpPr>
          <p:cNvPr id="5" name="Group 21"/>
          <p:cNvGrpSpPr>
            <a:grpSpLocks/>
          </p:cNvGrpSpPr>
          <p:nvPr/>
        </p:nvGrpSpPr>
        <p:grpSpPr bwMode="auto">
          <a:xfrm>
            <a:off x="2743200" y="1447800"/>
            <a:ext cx="3355975" cy="838200"/>
            <a:chOff x="1562" y="1152"/>
            <a:chExt cx="2114" cy="528"/>
          </a:xfrm>
        </p:grpSpPr>
        <p:grpSp>
          <p:nvGrpSpPr>
            <p:cNvPr id="6" name="Group 22"/>
            <p:cNvGrpSpPr>
              <a:grpSpLocks/>
            </p:cNvGrpSpPr>
            <p:nvPr/>
          </p:nvGrpSpPr>
          <p:grpSpPr bwMode="auto">
            <a:xfrm>
              <a:off x="2487" y="1152"/>
              <a:ext cx="223" cy="481"/>
              <a:chOff x="2207" y="1413"/>
              <a:chExt cx="223" cy="481"/>
            </a:xfrm>
          </p:grpSpPr>
          <p:sp>
            <p:nvSpPr>
              <p:cNvPr id="1231895" name="Freeform 2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896" name="Rectangle 2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7" name="Group 25"/>
            <p:cNvGrpSpPr>
              <a:grpSpLocks/>
            </p:cNvGrpSpPr>
            <p:nvPr/>
          </p:nvGrpSpPr>
          <p:grpSpPr bwMode="auto">
            <a:xfrm>
              <a:off x="1562" y="1248"/>
              <a:ext cx="349" cy="289"/>
              <a:chOff x="1282" y="1509"/>
              <a:chExt cx="349" cy="289"/>
            </a:xfrm>
          </p:grpSpPr>
          <p:sp>
            <p:nvSpPr>
              <p:cNvPr id="1231898" name="Rectangle 26"/>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8" name="Group 27"/>
              <p:cNvGrpSpPr>
                <a:grpSpLocks/>
              </p:cNvGrpSpPr>
              <p:nvPr/>
            </p:nvGrpSpPr>
            <p:grpSpPr bwMode="auto">
              <a:xfrm>
                <a:off x="1291" y="1509"/>
                <a:ext cx="340" cy="289"/>
                <a:chOff x="1291" y="1509"/>
                <a:chExt cx="340" cy="289"/>
              </a:xfrm>
            </p:grpSpPr>
            <p:sp>
              <p:nvSpPr>
                <p:cNvPr id="1231900" name="Freeform 2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01" name="Freeform 2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1902" name="Rectangle 3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9" name="Group 31"/>
            <p:cNvGrpSpPr>
              <a:grpSpLocks/>
            </p:cNvGrpSpPr>
            <p:nvPr/>
          </p:nvGrpSpPr>
          <p:grpSpPr bwMode="auto">
            <a:xfrm>
              <a:off x="2031" y="1248"/>
              <a:ext cx="296" cy="289"/>
              <a:chOff x="1751" y="1509"/>
              <a:chExt cx="296" cy="289"/>
            </a:xfrm>
          </p:grpSpPr>
          <p:sp>
            <p:nvSpPr>
              <p:cNvPr id="1231904" name="Freeform 3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05" name="Freeform 3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06" name="Line 3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1907" name="Freeform 3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08" name="Line 3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1909" name="Rectangle 37"/>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 name="Group 38"/>
            <p:cNvGrpSpPr>
              <a:grpSpLocks/>
            </p:cNvGrpSpPr>
            <p:nvPr/>
          </p:nvGrpSpPr>
          <p:grpSpPr bwMode="auto">
            <a:xfrm>
              <a:off x="2880" y="1248"/>
              <a:ext cx="325" cy="289"/>
              <a:chOff x="2600" y="1509"/>
              <a:chExt cx="325" cy="289"/>
            </a:xfrm>
          </p:grpSpPr>
          <p:sp>
            <p:nvSpPr>
              <p:cNvPr id="1231911" name="Freeform 3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12" name="Freeform 4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13" name="Rectangle 4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1" name="Group 42"/>
            <p:cNvGrpSpPr>
              <a:grpSpLocks/>
            </p:cNvGrpSpPr>
            <p:nvPr/>
          </p:nvGrpSpPr>
          <p:grpSpPr bwMode="auto">
            <a:xfrm>
              <a:off x="3348" y="1248"/>
              <a:ext cx="284" cy="289"/>
              <a:chOff x="3068" y="1509"/>
              <a:chExt cx="284" cy="289"/>
            </a:xfrm>
          </p:grpSpPr>
          <p:sp>
            <p:nvSpPr>
              <p:cNvPr id="1231915" name="Freeform 4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16" name="Freeform 4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17" name="Line 4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1918" name="Line 4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1919" name="Line 4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1920" name="Line 4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1921" name="Line 4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1922" name="Line 5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1923" name="Line 5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1924" name="Line 5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1925" name="Line 5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 name="Group 54"/>
          <p:cNvGrpSpPr>
            <a:grpSpLocks/>
          </p:cNvGrpSpPr>
          <p:nvPr/>
        </p:nvGrpSpPr>
        <p:grpSpPr bwMode="auto">
          <a:xfrm>
            <a:off x="762000" y="4038600"/>
            <a:ext cx="8080375" cy="1676400"/>
            <a:chOff x="480" y="2448"/>
            <a:chExt cx="5090" cy="1056"/>
          </a:xfrm>
        </p:grpSpPr>
        <p:sp>
          <p:nvSpPr>
            <p:cNvPr id="1231927" name="Rectangle 55"/>
            <p:cNvSpPr>
              <a:spLocks noChangeArrowheads="1"/>
            </p:cNvSpPr>
            <p:nvPr/>
          </p:nvSpPr>
          <p:spPr bwMode="auto">
            <a:xfrm>
              <a:off x="480" y="2496"/>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31928" name="Rectangle 56"/>
            <p:cNvSpPr>
              <a:spLocks noChangeArrowheads="1"/>
            </p:cNvSpPr>
            <p:nvPr/>
          </p:nvSpPr>
          <p:spPr bwMode="auto">
            <a:xfrm>
              <a:off x="504" y="3051"/>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solidFill>
                    <a:srgbClr val="009900"/>
                  </a:solidFill>
                  <a:latin typeface="Courier New" pitchFamily="49" charset="0"/>
                </a:rPr>
                <a:t>,$1</a:t>
              </a:r>
              <a:r>
                <a:rPr lang="en-US" sz="2400" b="1">
                  <a:solidFill>
                    <a:schemeClr val="tx1"/>
                  </a:solidFill>
                  <a:latin typeface="Courier New" pitchFamily="49" charset="0"/>
                </a:rPr>
                <a:t>,$7</a:t>
              </a:r>
            </a:p>
          </p:txBody>
        </p:sp>
        <p:grpSp>
          <p:nvGrpSpPr>
            <p:cNvPr id="13" name="Group 57"/>
            <p:cNvGrpSpPr>
              <a:grpSpLocks/>
            </p:cNvGrpSpPr>
            <p:nvPr/>
          </p:nvGrpSpPr>
          <p:grpSpPr bwMode="auto">
            <a:xfrm>
              <a:off x="3024" y="2448"/>
              <a:ext cx="2114" cy="528"/>
              <a:chOff x="1562" y="1152"/>
              <a:chExt cx="2114" cy="528"/>
            </a:xfrm>
          </p:grpSpPr>
          <p:grpSp>
            <p:nvGrpSpPr>
              <p:cNvPr id="14" name="Group 58"/>
              <p:cNvGrpSpPr>
                <a:grpSpLocks/>
              </p:cNvGrpSpPr>
              <p:nvPr/>
            </p:nvGrpSpPr>
            <p:grpSpPr bwMode="auto">
              <a:xfrm>
                <a:off x="2487" y="1152"/>
                <a:ext cx="223" cy="481"/>
                <a:chOff x="2207" y="1413"/>
                <a:chExt cx="223" cy="481"/>
              </a:xfrm>
            </p:grpSpPr>
            <p:sp>
              <p:nvSpPr>
                <p:cNvPr id="1231931" name="Freeform 5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32" name="Rectangle 6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5" name="Group 61"/>
              <p:cNvGrpSpPr>
                <a:grpSpLocks/>
              </p:cNvGrpSpPr>
              <p:nvPr/>
            </p:nvGrpSpPr>
            <p:grpSpPr bwMode="auto">
              <a:xfrm>
                <a:off x="1562" y="1248"/>
                <a:ext cx="349" cy="289"/>
                <a:chOff x="1282" y="1509"/>
                <a:chExt cx="349" cy="289"/>
              </a:xfrm>
            </p:grpSpPr>
            <p:sp>
              <p:nvSpPr>
                <p:cNvPr id="1231934" name="Rectangle 6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6" name="Group 63"/>
                <p:cNvGrpSpPr>
                  <a:grpSpLocks/>
                </p:cNvGrpSpPr>
                <p:nvPr/>
              </p:nvGrpSpPr>
              <p:grpSpPr bwMode="auto">
                <a:xfrm>
                  <a:off x="1291" y="1509"/>
                  <a:ext cx="340" cy="289"/>
                  <a:chOff x="1291" y="1509"/>
                  <a:chExt cx="340" cy="289"/>
                </a:xfrm>
              </p:grpSpPr>
              <p:sp>
                <p:nvSpPr>
                  <p:cNvPr id="1231936" name="Freeform 6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37" name="Freeform 6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1938" name="Rectangle 6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7" name="Group 67"/>
              <p:cNvGrpSpPr>
                <a:grpSpLocks/>
              </p:cNvGrpSpPr>
              <p:nvPr/>
            </p:nvGrpSpPr>
            <p:grpSpPr bwMode="auto">
              <a:xfrm>
                <a:off x="2031" y="1248"/>
                <a:ext cx="296" cy="289"/>
                <a:chOff x="1751" y="1509"/>
                <a:chExt cx="296" cy="289"/>
              </a:xfrm>
            </p:grpSpPr>
            <p:sp>
              <p:nvSpPr>
                <p:cNvPr id="1231940" name="Freeform 6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41" name="Freeform 6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42" name="Line 7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1943" name="Freeform 7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44" name="Line 7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1945" name="Rectangle 7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8" name="Group 74"/>
              <p:cNvGrpSpPr>
                <a:grpSpLocks/>
              </p:cNvGrpSpPr>
              <p:nvPr/>
            </p:nvGrpSpPr>
            <p:grpSpPr bwMode="auto">
              <a:xfrm>
                <a:off x="2880" y="1248"/>
                <a:ext cx="325" cy="289"/>
                <a:chOff x="2600" y="1509"/>
                <a:chExt cx="325" cy="289"/>
              </a:xfrm>
            </p:grpSpPr>
            <p:sp>
              <p:nvSpPr>
                <p:cNvPr id="1231947" name="Freeform 7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48" name="Freeform 7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49" name="Rectangle 7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9" name="Group 78"/>
              <p:cNvGrpSpPr>
                <a:grpSpLocks/>
              </p:cNvGrpSpPr>
              <p:nvPr/>
            </p:nvGrpSpPr>
            <p:grpSpPr bwMode="auto">
              <a:xfrm>
                <a:off x="3348" y="1248"/>
                <a:ext cx="284" cy="289"/>
                <a:chOff x="3068" y="1509"/>
                <a:chExt cx="284" cy="289"/>
              </a:xfrm>
            </p:grpSpPr>
            <p:sp>
              <p:nvSpPr>
                <p:cNvPr id="1231951" name="Freeform 7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52" name="Freeform 8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53" name="Line 8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1954" name="Line 8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1955" name="Line 8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1956" name="Line 8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1957" name="Line 8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1958" name="Line 8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1959" name="Line 8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1960" name="Line 8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1961" name="Line 8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0" name="Group 90"/>
            <p:cNvGrpSpPr>
              <a:grpSpLocks/>
            </p:cNvGrpSpPr>
            <p:nvPr/>
          </p:nvGrpSpPr>
          <p:grpSpPr bwMode="auto">
            <a:xfrm>
              <a:off x="3456" y="2976"/>
              <a:ext cx="2114" cy="528"/>
              <a:chOff x="1562" y="1152"/>
              <a:chExt cx="2114" cy="528"/>
            </a:xfrm>
          </p:grpSpPr>
          <p:grpSp>
            <p:nvGrpSpPr>
              <p:cNvPr id="21" name="Group 91"/>
              <p:cNvGrpSpPr>
                <a:grpSpLocks/>
              </p:cNvGrpSpPr>
              <p:nvPr/>
            </p:nvGrpSpPr>
            <p:grpSpPr bwMode="auto">
              <a:xfrm>
                <a:off x="2487" y="1152"/>
                <a:ext cx="223" cy="481"/>
                <a:chOff x="2207" y="1413"/>
                <a:chExt cx="223" cy="481"/>
              </a:xfrm>
            </p:grpSpPr>
            <p:sp>
              <p:nvSpPr>
                <p:cNvPr id="1231964" name="Freeform 9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65" name="Rectangle 9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2" name="Group 94"/>
              <p:cNvGrpSpPr>
                <a:grpSpLocks/>
              </p:cNvGrpSpPr>
              <p:nvPr/>
            </p:nvGrpSpPr>
            <p:grpSpPr bwMode="auto">
              <a:xfrm>
                <a:off x="1562" y="1248"/>
                <a:ext cx="349" cy="289"/>
                <a:chOff x="1282" y="1509"/>
                <a:chExt cx="349" cy="289"/>
              </a:xfrm>
            </p:grpSpPr>
            <p:sp>
              <p:nvSpPr>
                <p:cNvPr id="1231967" name="Rectangle 9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3" name="Group 96"/>
                <p:cNvGrpSpPr>
                  <a:grpSpLocks/>
                </p:cNvGrpSpPr>
                <p:nvPr/>
              </p:nvGrpSpPr>
              <p:grpSpPr bwMode="auto">
                <a:xfrm>
                  <a:off x="1291" y="1509"/>
                  <a:ext cx="340" cy="289"/>
                  <a:chOff x="1291" y="1509"/>
                  <a:chExt cx="340" cy="289"/>
                </a:xfrm>
              </p:grpSpPr>
              <p:sp>
                <p:nvSpPr>
                  <p:cNvPr id="1231969" name="Freeform 9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70" name="Freeform 9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31971" name="Rectangle 9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4" name="Group 100"/>
              <p:cNvGrpSpPr>
                <a:grpSpLocks/>
              </p:cNvGrpSpPr>
              <p:nvPr/>
            </p:nvGrpSpPr>
            <p:grpSpPr bwMode="auto">
              <a:xfrm>
                <a:off x="2031" y="1248"/>
                <a:ext cx="296" cy="289"/>
                <a:chOff x="1751" y="1509"/>
                <a:chExt cx="296" cy="289"/>
              </a:xfrm>
            </p:grpSpPr>
            <p:sp>
              <p:nvSpPr>
                <p:cNvPr id="1231973" name="Freeform 10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74" name="Freeform 10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75" name="Line 10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31976" name="Freeform 10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77" name="Line 10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31978" name="Rectangle 10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5" name="Group 107"/>
              <p:cNvGrpSpPr>
                <a:grpSpLocks/>
              </p:cNvGrpSpPr>
              <p:nvPr/>
            </p:nvGrpSpPr>
            <p:grpSpPr bwMode="auto">
              <a:xfrm>
                <a:off x="2880" y="1248"/>
                <a:ext cx="325" cy="289"/>
                <a:chOff x="2600" y="1509"/>
                <a:chExt cx="325" cy="289"/>
              </a:xfrm>
            </p:grpSpPr>
            <p:sp>
              <p:nvSpPr>
                <p:cNvPr id="1231980" name="Freeform 10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81" name="Freeform 10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82" name="Rectangle 11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6" name="Group 111"/>
              <p:cNvGrpSpPr>
                <a:grpSpLocks/>
              </p:cNvGrpSpPr>
              <p:nvPr/>
            </p:nvGrpSpPr>
            <p:grpSpPr bwMode="auto">
              <a:xfrm>
                <a:off x="3348" y="1248"/>
                <a:ext cx="284" cy="289"/>
                <a:chOff x="3068" y="1509"/>
                <a:chExt cx="284" cy="289"/>
              </a:xfrm>
            </p:grpSpPr>
            <p:sp>
              <p:nvSpPr>
                <p:cNvPr id="1231984" name="Freeform 11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31985" name="Freeform 11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31986" name="Line 11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31987" name="Line 11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31988" name="Line 11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31989" name="Line 11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31990" name="Line 11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31991" name="Line 11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31992" name="Line 12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31993" name="Line 12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31994" name="Line 12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sp>
        <p:nvSpPr>
          <p:cNvPr id="1232009" name="Rectangle 137"/>
          <p:cNvSpPr>
            <a:spLocks noChangeArrowheads="1"/>
          </p:cNvSpPr>
          <p:nvPr/>
        </p:nvSpPr>
        <p:spPr bwMode="auto">
          <a:xfrm>
            <a:off x="6781800" y="1143000"/>
            <a:ext cx="1981200" cy="1628651"/>
          </a:xfrm>
          <a:prstGeom prst="rect">
            <a:avLst/>
          </a:prstGeom>
          <a:noFill/>
          <a:ln w="12700">
            <a:noFill/>
            <a:miter lim="800000"/>
            <a:headEnd/>
            <a:tailEnd/>
          </a:ln>
          <a:effectLst/>
        </p:spPr>
        <p:txBody>
          <a:bodyPr lIns="90488" tIns="44450" rIns="90488" bIns="44450">
            <a:spAutoFit/>
          </a:bodyPr>
          <a:lstStyle/>
          <a:p>
            <a:pPr algn="r"/>
            <a:r>
              <a:rPr lang="en-US" sz="2000" dirty="0"/>
              <a:t>Can fix data hazard by waiting – </a:t>
            </a:r>
            <a:r>
              <a:rPr lang="en-US" sz="2000" dirty="0">
                <a:solidFill>
                  <a:schemeClr val="accent2"/>
                </a:solidFill>
              </a:rPr>
              <a:t>stall</a:t>
            </a:r>
            <a:r>
              <a:rPr lang="en-US" sz="2000" dirty="0"/>
              <a:t> – but impacts performance</a:t>
            </a:r>
          </a:p>
        </p:txBody>
      </p:sp>
    </p:spTree>
    <p:extLst>
      <p:ext uri="{BB962C8B-B14F-4D97-AF65-F5344CB8AC3E}">
        <p14:creationId xmlns:p14="http://schemas.microsoft.com/office/powerpoint/2010/main" val="8533925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50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4168" name="Rectangle 8"/>
          <p:cNvSpPr>
            <a:spLocks noGrp="1" noChangeArrowheads="1"/>
          </p:cNvSpPr>
          <p:nvPr>
            <p:ph type="title"/>
          </p:nvPr>
        </p:nvSpPr>
        <p:spPr>
          <a:xfrm>
            <a:off x="652463" y="304800"/>
            <a:ext cx="6180137" cy="422275"/>
          </a:xfrm>
          <a:noFill/>
          <a:ln/>
        </p:spPr>
        <p:txBody>
          <a:bodyPr wrap="none"/>
          <a:lstStyle/>
          <a:p>
            <a:r>
              <a:rPr lang="en-US"/>
              <a:t>Another Way to “Fix” a Data Hazard</a:t>
            </a:r>
          </a:p>
        </p:txBody>
      </p:sp>
      <p:sp>
        <p:nvSpPr>
          <p:cNvPr id="1244169" name="Rectangle 9"/>
          <p:cNvSpPr>
            <a:spLocks noChangeArrowheads="1"/>
          </p:cNvSpPr>
          <p:nvPr/>
        </p:nvSpPr>
        <p:spPr bwMode="auto">
          <a:xfrm>
            <a:off x="304800" y="1525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44170" name="Line 10"/>
          <p:cNvSpPr>
            <a:spLocks noChangeShapeType="1"/>
          </p:cNvSpPr>
          <p:nvPr/>
        </p:nvSpPr>
        <p:spPr bwMode="auto">
          <a:xfrm>
            <a:off x="2133600" y="9191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44171" name="Rectangle 11"/>
          <p:cNvSpPr>
            <a:spLocks noChangeArrowheads="1"/>
          </p:cNvSpPr>
          <p:nvPr/>
        </p:nvSpPr>
        <p:spPr bwMode="auto">
          <a:xfrm>
            <a:off x="738188" y="1371600"/>
            <a:ext cx="1458912"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1244172" name="Line 12"/>
          <p:cNvSpPr>
            <a:spLocks noChangeShapeType="1"/>
          </p:cNvSpPr>
          <p:nvPr/>
        </p:nvSpPr>
        <p:spPr bwMode="auto">
          <a:xfrm>
            <a:off x="3290888"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3" name="Line 13"/>
          <p:cNvSpPr>
            <a:spLocks noChangeShapeType="1"/>
          </p:cNvSpPr>
          <p:nvPr/>
        </p:nvSpPr>
        <p:spPr bwMode="auto">
          <a:xfrm>
            <a:off x="40005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4" name="Line 14"/>
          <p:cNvSpPr>
            <a:spLocks noChangeShapeType="1"/>
          </p:cNvSpPr>
          <p:nvPr/>
        </p:nvSpPr>
        <p:spPr bwMode="auto">
          <a:xfrm>
            <a:off x="46863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5" name="Line 15"/>
          <p:cNvSpPr>
            <a:spLocks noChangeShapeType="1"/>
          </p:cNvSpPr>
          <p:nvPr/>
        </p:nvSpPr>
        <p:spPr bwMode="auto">
          <a:xfrm>
            <a:off x="53721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6" name="Line 16"/>
          <p:cNvSpPr>
            <a:spLocks noChangeShapeType="1"/>
          </p:cNvSpPr>
          <p:nvPr/>
        </p:nvSpPr>
        <p:spPr bwMode="auto">
          <a:xfrm>
            <a:off x="60579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7" name="Line 17"/>
          <p:cNvSpPr>
            <a:spLocks noChangeShapeType="1"/>
          </p:cNvSpPr>
          <p:nvPr/>
        </p:nvSpPr>
        <p:spPr bwMode="auto">
          <a:xfrm>
            <a:off x="67437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8" name="Line 18"/>
          <p:cNvSpPr>
            <a:spLocks noChangeShapeType="1"/>
          </p:cNvSpPr>
          <p:nvPr/>
        </p:nvSpPr>
        <p:spPr bwMode="auto">
          <a:xfrm>
            <a:off x="74295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79" name="Line 19"/>
          <p:cNvSpPr>
            <a:spLocks noChangeShapeType="1"/>
          </p:cNvSpPr>
          <p:nvPr/>
        </p:nvSpPr>
        <p:spPr bwMode="auto">
          <a:xfrm>
            <a:off x="81153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4180" name="Line 20"/>
          <p:cNvSpPr>
            <a:spLocks noChangeShapeType="1"/>
          </p:cNvSpPr>
          <p:nvPr/>
        </p:nvSpPr>
        <p:spPr bwMode="auto">
          <a:xfrm>
            <a:off x="661988" y="1447800"/>
            <a:ext cx="0" cy="4495800"/>
          </a:xfrm>
          <a:prstGeom prst="line">
            <a:avLst/>
          </a:prstGeom>
          <a:noFill/>
          <a:ln w="28575">
            <a:solidFill>
              <a:schemeClr val="tx1"/>
            </a:solidFill>
            <a:round/>
            <a:headEnd/>
            <a:tailEnd type="triangle" w="med" len="med"/>
          </a:ln>
          <a:effectLst/>
        </p:spPr>
        <p:txBody>
          <a:bodyPr/>
          <a:lstStyle/>
          <a:p>
            <a:endParaRPr lang="en-US"/>
          </a:p>
        </p:txBody>
      </p:sp>
      <p:grpSp>
        <p:nvGrpSpPr>
          <p:cNvPr id="2" name="Group 21"/>
          <p:cNvGrpSpPr>
            <a:grpSpLocks/>
          </p:cNvGrpSpPr>
          <p:nvPr/>
        </p:nvGrpSpPr>
        <p:grpSpPr bwMode="auto">
          <a:xfrm>
            <a:off x="2743200" y="1295400"/>
            <a:ext cx="3355975" cy="838200"/>
            <a:chOff x="1562" y="1152"/>
            <a:chExt cx="2114" cy="528"/>
          </a:xfrm>
        </p:grpSpPr>
        <p:grpSp>
          <p:nvGrpSpPr>
            <p:cNvPr id="3" name="Group 22"/>
            <p:cNvGrpSpPr>
              <a:grpSpLocks/>
            </p:cNvGrpSpPr>
            <p:nvPr/>
          </p:nvGrpSpPr>
          <p:grpSpPr bwMode="auto">
            <a:xfrm>
              <a:off x="2487" y="1152"/>
              <a:ext cx="223" cy="481"/>
              <a:chOff x="2207" y="1413"/>
              <a:chExt cx="223" cy="481"/>
            </a:xfrm>
          </p:grpSpPr>
          <p:sp>
            <p:nvSpPr>
              <p:cNvPr id="1244183" name="Freeform 2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184" name="Rectangle 2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4" name="Group 25"/>
            <p:cNvGrpSpPr>
              <a:grpSpLocks/>
            </p:cNvGrpSpPr>
            <p:nvPr/>
          </p:nvGrpSpPr>
          <p:grpSpPr bwMode="auto">
            <a:xfrm>
              <a:off x="1562" y="1248"/>
              <a:ext cx="349" cy="289"/>
              <a:chOff x="1282" y="1509"/>
              <a:chExt cx="349" cy="289"/>
            </a:xfrm>
          </p:grpSpPr>
          <p:sp>
            <p:nvSpPr>
              <p:cNvPr id="1244186" name="Rectangle 26"/>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5" name="Group 27"/>
              <p:cNvGrpSpPr>
                <a:grpSpLocks/>
              </p:cNvGrpSpPr>
              <p:nvPr/>
            </p:nvGrpSpPr>
            <p:grpSpPr bwMode="auto">
              <a:xfrm>
                <a:off x="1291" y="1509"/>
                <a:ext cx="340" cy="289"/>
                <a:chOff x="1291" y="1509"/>
                <a:chExt cx="340" cy="289"/>
              </a:xfrm>
            </p:grpSpPr>
            <p:sp>
              <p:nvSpPr>
                <p:cNvPr id="1244188" name="Freeform 2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189" name="Freeform 2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4190" name="Rectangle 3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6" name="Group 31"/>
            <p:cNvGrpSpPr>
              <a:grpSpLocks/>
            </p:cNvGrpSpPr>
            <p:nvPr/>
          </p:nvGrpSpPr>
          <p:grpSpPr bwMode="auto">
            <a:xfrm>
              <a:off x="2031" y="1248"/>
              <a:ext cx="296" cy="289"/>
              <a:chOff x="1751" y="1509"/>
              <a:chExt cx="296" cy="289"/>
            </a:xfrm>
          </p:grpSpPr>
          <p:sp>
            <p:nvSpPr>
              <p:cNvPr id="1244192" name="Freeform 3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193" name="Freeform 3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194" name="Line 3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4195" name="Freeform 3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196" name="Line 3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4197" name="Rectangle 37"/>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7" name="Group 38"/>
            <p:cNvGrpSpPr>
              <a:grpSpLocks/>
            </p:cNvGrpSpPr>
            <p:nvPr/>
          </p:nvGrpSpPr>
          <p:grpSpPr bwMode="auto">
            <a:xfrm>
              <a:off x="2880" y="1248"/>
              <a:ext cx="325" cy="289"/>
              <a:chOff x="2600" y="1509"/>
              <a:chExt cx="325" cy="289"/>
            </a:xfrm>
          </p:grpSpPr>
          <p:sp>
            <p:nvSpPr>
              <p:cNvPr id="1244199" name="Freeform 3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00" name="Freeform 4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01" name="Rectangle 4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2"/>
            <p:cNvGrpSpPr>
              <a:grpSpLocks/>
            </p:cNvGrpSpPr>
            <p:nvPr/>
          </p:nvGrpSpPr>
          <p:grpSpPr bwMode="auto">
            <a:xfrm>
              <a:off x="3348" y="1248"/>
              <a:ext cx="284" cy="289"/>
              <a:chOff x="3068" y="1509"/>
              <a:chExt cx="284" cy="289"/>
            </a:xfrm>
          </p:grpSpPr>
          <p:sp>
            <p:nvSpPr>
              <p:cNvPr id="1244203" name="Freeform 4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04" name="Freeform 4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05" name="Line 4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4206" name="Line 4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4207" name="Line 4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4208" name="Line 4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4209" name="Line 4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4210" name="Line 5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4211" name="Line 5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4212" name="Line 5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4213" name="Line 5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44215" name="Rectangle 55"/>
          <p:cNvSpPr>
            <a:spLocks noChangeArrowheads="1"/>
          </p:cNvSpPr>
          <p:nvPr/>
        </p:nvSpPr>
        <p:spPr bwMode="auto">
          <a:xfrm>
            <a:off x="738188" y="23622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44216" name="Rectangle 56"/>
          <p:cNvSpPr>
            <a:spLocks noChangeArrowheads="1"/>
          </p:cNvSpPr>
          <p:nvPr/>
        </p:nvSpPr>
        <p:spPr bwMode="auto">
          <a:xfrm>
            <a:off x="738188" y="34290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solidFill>
                  <a:srgbClr val="009900"/>
                </a:solidFill>
                <a:latin typeface="Courier New" pitchFamily="49" charset="0"/>
              </a:rPr>
              <a:t>,$1</a:t>
            </a:r>
            <a:r>
              <a:rPr lang="en-US" sz="2400" b="1">
                <a:solidFill>
                  <a:schemeClr val="tx1"/>
                </a:solidFill>
                <a:latin typeface="Courier New" pitchFamily="49" charset="0"/>
              </a:rPr>
              <a:t>,$7</a:t>
            </a:r>
          </a:p>
        </p:txBody>
      </p:sp>
      <p:grpSp>
        <p:nvGrpSpPr>
          <p:cNvPr id="9" name="Group 57"/>
          <p:cNvGrpSpPr>
            <a:grpSpLocks/>
          </p:cNvGrpSpPr>
          <p:nvPr/>
        </p:nvGrpSpPr>
        <p:grpSpPr bwMode="auto">
          <a:xfrm>
            <a:off x="3429000" y="2209800"/>
            <a:ext cx="3355975" cy="838200"/>
            <a:chOff x="1562" y="1152"/>
            <a:chExt cx="2114" cy="528"/>
          </a:xfrm>
        </p:grpSpPr>
        <p:grpSp>
          <p:nvGrpSpPr>
            <p:cNvPr id="10" name="Group 58"/>
            <p:cNvGrpSpPr>
              <a:grpSpLocks/>
            </p:cNvGrpSpPr>
            <p:nvPr/>
          </p:nvGrpSpPr>
          <p:grpSpPr bwMode="auto">
            <a:xfrm>
              <a:off x="2487" y="1152"/>
              <a:ext cx="223" cy="481"/>
              <a:chOff x="2207" y="1413"/>
              <a:chExt cx="223" cy="481"/>
            </a:xfrm>
          </p:grpSpPr>
          <p:sp>
            <p:nvSpPr>
              <p:cNvPr id="1244219" name="Freeform 5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20" name="Rectangle 6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1" name="Group 61"/>
            <p:cNvGrpSpPr>
              <a:grpSpLocks/>
            </p:cNvGrpSpPr>
            <p:nvPr/>
          </p:nvGrpSpPr>
          <p:grpSpPr bwMode="auto">
            <a:xfrm>
              <a:off x="1562" y="1248"/>
              <a:ext cx="349" cy="289"/>
              <a:chOff x="1282" y="1509"/>
              <a:chExt cx="349" cy="289"/>
            </a:xfrm>
          </p:grpSpPr>
          <p:sp>
            <p:nvSpPr>
              <p:cNvPr id="1244222" name="Rectangle 6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 name="Group 63"/>
              <p:cNvGrpSpPr>
                <a:grpSpLocks/>
              </p:cNvGrpSpPr>
              <p:nvPr/>
            </p:nvGrpSpPr>
            <p:grpSpPr bwMode="auto">
              <a:xfrm>
                <a:off x="1291" y="1509"/>
                <a:ext cx="340" cy="289"/>
                <a:chOff x="1291" y="1509"/>
                <a:chExt cx="340" cy="289"/>
              </a:xfrm>
            </p:grpSpPr>
            <p:sp>
              <p:nvSpPr>
                <p:cNvPr id="1244224" name="Freeform 6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25" name="Freeform 6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4226" name="Rectangle 6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67"/>
            <p:cNvGrpSpPr>
              <a:grpSpLocks/>
            </p:cNvGrpSpPr>
            <p:nvPr/>
          </p:nvGrpSpPr>
          <p:grpSpPr bwMode="auto">
            <a:xfrm>
              <a:off x="2031" y="1248"/>
              <a:ext cx="296" cy="289"/>
              <a:chOff x="1751" y="1509"/>
              <a:chExt cx="296" cy="289"/>
            </a:xfrm>
          </p:grpSpPr>
          <p:sp>
            <p:nvSpPr>
              <p:cNvPr id="1244228" name="Freeform 6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29" name="Freeform 6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30" name="Line 7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4231" name="Freeform 7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32" name="Line 7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4233" name="Rectangle 7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4" name="Group 74"/>
            <p:cNvGrpSpPr>
              <a:grpSpLocks/>
            </p:cNvGrpSpPr>
            <p:nvPr/>
          </p:nvGrpSpPr>
          <p:grpSpPr bwMode="auto">
            <a:xfrm>
              <a:off x="2880" y="1248"/>
              <a:ext cx="325" cy="289"/>
              <a:chOff x="2600" y="1509"/>
              <a:chExt cx="325" cy="289"/>
            </a:xfrm>
          </p:grpSpPr>
          <p:sp>
            <p:nvSpPr>
              <p:cNvPr id="1244235" name="Freeform 7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36" name="Freeform 7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37" name="Rectangle 7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8"/>
            <p:cNvGrpSpPr>
              <a:grpSpLocks/>
            </p:cNvGrpSpPr>
            <p:nvPr/>
          </p:nvGrpSpPr>
          <p:grpSpPr bwMode="auto">
            <a:xfrm>
              <a:off x="3348" y="1248"/>
              <a:ext cx="284" cy="289"/>
              <a:chOff x="3068" y="1509"/>
              <a:chExt cx="284" cy="289"/>
            </a:xfrm>
          </p:grpSpPr>
          <p:sp>
            <p:nvSpPr>
              <p:cNvPr id="1244239" name="Freeform 7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40" name="Freeform 8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41" name="Line 8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4242" name="Line 8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4243" name="Line 8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4244" name="Line 8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4245" name="Line 8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4246" name="Line 8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4247" name="Line 8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4248" name="Line 8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4249" name="Line 8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6" name="Group 90"/>
          <p:cNvGrpSpPr>
            <a:grpSpLocks/>
          </p:cNvGrpSpPr>
          <p:nvPr/>
        </p:nvGrpSpPr>
        <p:grpSpPr bwMode="auto">
          <a:xfrm>
            <a:off x="4114800" y="3200400"/>
            <a:ext cx="3355975" cy="838200"/>
            <a:chOff x="1562" y="1152"/>
            <a:chExt cx="2114" cy="528"/>
          </a:xfrm>
        </p:grpSpPr>
        <p:grpSp>
          <p:nvGrpSpPr>
            <p:cNvPr id="17" name="Group 91"/>
            <p:cNvGrpSpPr>
              <a:grpSpLocks/>
            </p:cNvGrpSpPr>
            <p:nvPr/>
          </p:nvGrpSpPr>
          <p:grpSpPr bwMode="auto">
            <a:xfrm>
              <a:off x="2487" y="1152"/>
              <a:ext cx="223" cy="481"/>
              <a:chOff x="2207" y="1413"/>
              <a:chExt cx="223" cy="481"/>
            </a:xfrm>
          </p:grpSpPr>
          <p:sp>
            <p:nvSpPr>
              <p:cNvPr id="1244252" name="Freeform 9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53" name="Rectangle 9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8" name="Group 94"/>
            <p:cNvGrpSpPr>
              <a:grpSpLocks/>
            </p:cNvGrpSpPr>
            <p:nvPr/>
          </p:nvGrpSpPr>
          <p:grpSpPr bwMode="auto">
            <a:xfrm>
              <a:off x="1562" y="1248"/>
              <a:ext cx="349" cy="289"/>
              <a:chOff x="1282" y="1509"/>
              <a:chExt cx="349" cy="289"/>
            </a:xfrm>
          </p:grpSpPr>
          <p:sp>
            <p:nvSpPr>
              <p:cNvPr id="1244255" name="Rectangle 9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9" name="Group 96"/>
              <p:cNvGrpSpPr>
                <a:grpSpLocks/>
              </p:cNvGrpSpPr>
              <p:nvPr/>
            </p:nvGrpSpPr>
            <p:grpSpPr bwMode="auto">
              <a:xfrm>
                <a:off x="1291" y="1509"/>
                <a:ext cx="340" cy="289"/>
                <a:chOff x="1291" y="1509"/>
                <a:chExt cx="340" cy="289"/>
              </a:xfrm>
            </p:grpSpPr>
            <p:sp>
              <p:nvSpPr>
                <p:cNvPr id="1244257" name="Freeform 9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58" name="Freeform 9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4259" name="Rectangle 9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100"/>
            <p:cNvGrpSpPr>
              <a:grpSpLocks/>
            </p:cNvGrpSpPr>
            <p:nvPr/>
          </p:nvGrpSpPr>
          <p:grpSpPr bwMode="auto">
            <a:xfrm>
              <a:off x="2031" y="1248"/>
              <a:ext cx="296" cy="289"/>
              <a:chOff x="1751" y="1509"/>
              <a:chExt cx="296" cy="289"/>
            </a:xfrm>
          </p:grpSpPr>
          <p:sp>
            <p:nvSpPr>
              <p:cNvPr id="1244261" name="Freeform 10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62" name="Freeform 10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63" name="Line 10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4264" name="Freeform 10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65" name="Line 10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4266" name="Rectangle 10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1" name="Group 107"/>
            <p:cNvGrpSpPr>
              <a:grpSpLocks/>
            </p:cNvGrpSpPr>
            <p:nvPr/>
          </p:nvGrpSpPr>
          <p:grpSpPr bwMode="auto">
            <a:xfrm>
              <a:off x="2880" y="1248"/>
              <a:ext cx="325" cy="289"/>
              <a:chOff x="2600" y="1509"/>
              <a:chExt cx="325" cy="289"/>
            </a:xfrm>
          </p:grpSpPr>
          <p:sp>
            <p:nvSpPr>
              <p:cNvPr id="1244268" name="Freeform 10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69" name="Freeform 10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70" name="Rectangle 11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 name="Group 111"/>
            <p:cNvGrpSpPr>
              <a:grpSpLocks/>
            </p:cNvGrpSpPr>
            <p:nvPr/>
          </p:nvGrpSpPr>
          <p:grpSpPr bwMode="auto">
            <a:xfrm>
              <a:off x="3348" y="1248"/>
              <a:ext cx="284" cy="289"/>
              <a:chOff x="3068" y="1509"/>
              <a:chExt cx="284" cy="289"/>
            </a:xfrm>
          </p:grpSpPr>
          <p:sp>
            <p:nvSpPr>
              <p:cNvPr id="1244272" name="Freeform 11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273" name="Freeform 11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274" name="Line 11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4275" name="Line 11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4276" name="Line 11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4277" name="Line 11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4278" name="Line 11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4279" name="Line 11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4280" name="Line 12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4281" name="Line 12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4282" name="Line 12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44297" name="Rectangle 137"/>
          <p:cNvSpPr>
            <a:spLocks noChangeArrowheads="1"/>
          </p:cNvSpPr>
          <p:nvPr/>
        </p:nvSpPr>
        <p:spPr bwMode="auto">
          <a:xfrm>
            <a:off x="6705600" y="990600"/>
            <a:ext cx="2286000" cy="1917700"/>
          </a:xfrm>
          <a:prstGeom prst="rect">
            <a:avLst/>
          </a:prstGeom>
          <a:noFill/>
          <a:ln w="12700">
            <a:noFill/>
            <a:miter lim="800000"/>
            <a:headEnd/>
            <a:tailEnd/>
          </a:ln>
          <a:effectLst/>
        </p:spPr>
        <p:txBody>
          <a:bodyPr lIns="90488" tIns="44450" rIns="90488" bIns="44450">
            <a:spAutoFit/>
          </a:bodyPr>
          <a:lstStyle/>
          <a:p>
            <a:pPr algn="r"/>
            <a:r>
              <a:rPr lang="en-US" sz="2000"/>
              <a:t>Fix data hazards by </a:t>
            </a:r>
            <a:r>
              <a:rPr lang="en-US" sz="2000" b="1"/>
              <a:t>forwarding</a:t>
            </a:r>
            <a:r>
              <a:rPr lang="en-US" sz="2000"/>
              <a:t> results as soon as they are </a:t>
            </a:r>
            <a:r>
              <a:rPr lang="en-US" sz="2000" b="1"/>
              <a:t>available</a:t>
            </a:r>
            <a:r>
              <a:rPr lang="en-US" sz="2000"/>
              <a:t> to where they are </a:t>
            </a:r>
            <a:r>
              <a:rPr lang="en-US" sz="2000" b="1"/>
              <a:t>needed</a:t>
            </a:r>
            <a:endParaRPr lang="en-US" sz="2000"/>
          </a:p>
        </p:txBody>
      </p:sp>
      <p:sp>
        <p:nvSpPr>
          <p:cNvPr id="1244298" name="Rectangle 138"/>
          <p:cNvSpPr>
            <a:spLocks noChangeArrowheads="1"/>
          </p:cNvSpPr>
          <p:nvPr/>
        </p:nvSpPr>
        <p:spPr bwMode="auto">
          <a:xfrm>
            <a:off x="738188" y="5181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44299" name="Rectangle 139"/>
          <p:cNvSpPr>
            <a:spLocks noChangeArrowheads="1"/>
          </p:cNvSpPr>
          <p:nvPr/>
        </p:nvSpPr>
        <p:spPr bwMode="auto">
          <a:xfrm>
            <a:off x="738188" y="43100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grpSp>
        <p:nvGrpSpPr>
          <p:cNvPr id="23" name="Group 140"/>
          <p:cNvGrpSpPr>
            <a:grpSpLocks/>
          </p:cNvGrpSpPr>
          <p:nvPr/>
        </p:nvGrpSpPr>
        <p:grpSpPr bwMode="auto">
          <a:xfrm>
            <a:off x="4800600" y="4191000"/>
            <a:ext cx="3355975" cy="838200"/>
            <a:chOff x="1562" y="1152"/>
            <a:chExt cx="2114" cy="528"/>
          </a:xfrm>
        </p:grpSpPr>
        <p:grpSp>
          <p:nvGrpSpPr>
            <p:cNvPr id="24" name="Group 141"/>
            <p:cNvGrpSpPr>
              <a:grpSpLocks/>
            </p:cNvGrpSpPr>
            <p:nvPr/>
          </p:nvGrpSpPr>
          <p:grpSpPr bwMode="auto">
            <a:xfrm>
              <a:off x="2487" y="1152"/>
              <a:ext cx="223" cy="481"/>
              <a:chOff x="2207" y="1413"/>
              <a:chExt cx="223" cy="481"/>
            </a:xfrm>
          </p:grpSpPr>
          <p:sp>
            <p:nvSpPr>
              <p:cNvPr id="1244302" name="Freeform 14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03" name="Rectangle 14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5" name="Group 144"/>
            <p:cNvGrpSpPr>
              <a:grpSpLocks/>
            </p:cNvGrpSpPr>
            <p:nvPr/>
          </p:nvGrpSpPr>
          <p:grpSpPr bwMode="auto">
            <a:xfrm>
              <a:off x="1562" y="1248"/>
              <a:ext cx="349" cy="289"/>
              <a:chOff x="1282" y="1509"/>
              <a:chExt cx="349" cy="289"/>
            </a:xfrm>
          </p:grpSpPr>
          <p:sp>
            <p:nvSpPr>
              <p:cNvPr id="1244305" name="Rectangle 14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6" name="Group 146"/>
              <p:cNvGrpSpPr>
                <a:grpSpLocks/>
              </p:cNvGrpSpPr>
              <p:nvPr/>
            </p:nvGrpSpPr>
            <p:grpSpPr bwMode="auto">
              <a:xfrm>
                <a:off x="1291" y="1509"/>
                <a:ext cx="340" cy="289"/>
                <a:chOff x="1291" y="1509"/>
                <a:chExt cx="340" cy="289"/>
              </a:xfrm>
            </p:grpSpPr>
            <p:sp>
              <p:nvSpPr>
                <p:cNvPr id="1244307" name="Freeform 14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08" name="Freeform 14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4309" name="Rectangle 14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50"/>
            <p:cNvGrpSpPr>
              <a:grpSpLocks/>
            </p:cNvGrpSpPr>
            <p:nvPr/>
          </p:nvGrpSpPr>
          <p:grpSpPr bwMode="auto">
            <a:xfrm>
              <a:off x="2031" y="1248"/>
              <a:ext cx="296" cy="289"/>
              <a:chOff x="1751" y="1509"/>
              <a:chExt cx="296" cy="289"/>
            </a:xfrm>
          </p:grpSpPr>
          <p:sp>
            <p:nvSpPr>
              <p:cNvPr id="1244311" name="Freeform 15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12" name="Freeform 15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313" name="Line 15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4314" name="Freeform 15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15" name="Line 15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4316" name="Rectangle 15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8" name="Group 157"/>
            <p:cNvGrpSpPr>
              <a:grpSpLocks/>
            </p:cNvGrpSpPr>
            <p:nvPr/>
          </p:nvGrpSpPr>
          <p:grpSpPr bwMode="auto">
            <a:xfrm>
              <a:off x="2880" y="1248"/>
              <a:ext cx="325" cy="289"/>
              <a:chOff x="2600" y="1509"/>
              <a:chExt cx="325" cy="289"/>
            </a:xfrm>
          </p:grpSpPr>
          <p:sp>
            <p:nvSpPr>
              <p:cNvPr id="1244318" name="Freeform 15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19" name="Freeform 15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320" name="Rectangle 16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9" name="Group 161"/>
            <p:cNvGrpSpPr>
              <a:grpSpLocks/>
            </p:cNvGrpSpPr>
            <p:nvPr/>
          </p:nvGrpSpPr>
          <p:grpSpPr bwMode="auto">
            <a:xfrm>
              <a:off x="3348" y="1248"/>
              <a:ext cx="284" cy="289"/>
              <a:chOff x="3068" y="1509"/>
              <a:chExt cx="284" cy="289"/>
            </a:xfrm>
          </p:grpSpPr>
          <p:sp>
            <p:nvSpPr>
              <p:cNvPr id="1244322" name="Freeform 16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23" name="Freeform 16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324" name="Line 16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4325" name="Line 16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4326" name="Line 16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4327" name="Line 16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4328" name="Line 16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4329" name="Line 16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4330" name="Line 17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4331" name="Line 17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4332" name="Line 17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30" name="Group 173"/>
          <p:cNvGrpSpPr>
            <a:grpSpLocks/>
          </p:cNvGrpSpPr>
          <p:nvPr/>
        </p:nvGrpSpPr>
        <p:grpSpPr bwMode="auto">
          <a:xfrm>
            <a:off x="5486400" y="5029200"/>
            <a:ext cx="3355975" cy="838200"/>
            <a:chOff x="1562" y="1152"/>
            <a:chExt cx="2114" cy="528"/>
          </a:xfrm>
        </p:grpSpPr>
        <p:grpSp>
          <p:nvGrpSpPr>
            <p:cNvPr id="31" name="Group 174"/>
            <p:cNvGrpSpPr>
              <a:grpSpLocks/>
            </p:cNvGrpSpPr>
            <p:nvPr/>
          </p:nvGrpSpPr>
          <p:grpSpPr bwMode="auto">
            <a:xfrm>
              <a:off x="2487" y="1152"/>
              <a:ext cx="223" cy="481"/>
              <a:chOff x="2207" y="1413"/>
              <a:chExt cx="223" cy="481"/>
            </a:xfrm>
          </p:grpSpPr>
          <p:sp>
            <p:nvSpPr>
              <p:cNvPr id="1244335" name="Freeform 17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36" name="Rectangle 17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44321" name="Group 177"/>
            <p:cNvGrpSpPr>
              <a:grpSpLocks/>
            </p:cNvGrpSpPr>
            <p:nvPr/>
          </p:nvGrpSpPr>
          <p:grpSpPr bwMode="auto">
            <a:xfrm>
              <a:off x="1562" y="1248"/>
              <a:ext cx="349" cy="289"/>
              <a:chOff x="1282" y="1509"/>
              <a:chExt cx="349" cy="289"/>
            </a:xfrm>
          </p:grpSpPr>
          <p:sp>
            <p:nvSpPr>
              <p:cNvPr id="1244338" name="Rectangle 17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44333" name="Group 179"/>
              <p:cNvGrpSpPr>
                <a:grpSpLocks/>
              </p:cNvGrpSpPr>
              <p:nvPr/>
            </p:nvGrpSpPr>
            <p:grpSpPr bwMode="auto">
              <a:xfrm>
                <a:off x="1291" y="1509"/>
                <a:ext cx="340" cy="289"/>
                <a:chOff x="1291" y="1509"/>
                <a:chExt cx="340" cy="289"/>
              </a:xfrm>
            </p:grpSpPr>
            <p:sp>
              <p:nvSpPr>
                <p:cNvPr id="1244340" name="Freeform 18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41" name="Freeform 18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4342" name="Rectangle 18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4334" name="Group 183"/>
            <p:cNvGrpSpPr>
              <a:grpSpLocks/>
            </p:cNvGrpSpPr>
            <p:nvPr/>
          </p:nvGrpSpPr>
          <p:grpSpPr bwMode="auto">
            <a:xfrm>
              <a:off x="2031" y="1248"/>
              <a:ext cx="296" cy="289"/>
              <a:chOff x="1751" y="1509"/>
              <a:chExt cx="296" cy="289"/>
            </a:xfrm>
          </p:grpSpPr>
          <p:sp>
            <p:nvSpPr>
              <p:cNvPr id="1244344" name="Freeform 18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45" name="Freeform 18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346" name="Line 18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4347" name="Freeform 18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48" name="Line 18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4349" name="Rectangle 18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44337" name="Group 190"/>
            <p:cNvGrpSpPr>
              <a:grpSpLocks/>
            </p:cNvGrpSpPr>
            <p:nvPr/>
          </p:nvGrpSpPr>
          <p:grpSpPr bwMode="auto">
            <a:xfrm>
              <a:off x="2880" y="1248"/>
              <a:ext cx="325" cy="289"/>
              <a:chOff x="2600" y="1509"/>
              <a:chExt cx="325" cy="289"/>
            </a:xfrm>
          </p:grpSpPr>
          <p:sp>
            <p:nvSpPr>
              <p:cNvPr id="1244351" name="Freeform 19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52" name="Freeform 19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353" name="Rectangle 19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4339" name="Group 194"/>
            <p:cNvGrpSpPr>
              <a:grpSpLocks/>
            </p:cNvGrpSpPr>
            <p:nvPr/>
          </p:nvGrpSpPr>
          <p:grpSpPr bwMode="auto">
            <a:xfrm>
              <a:off x="3348" y="1248"/>
              <a:ext cx="284" cy="289"/>
              <a:chOff x="3068" y="1509"/>
              <a:chExt cx="284" cy="289"/>
            </a:xfrm>
          </p:grpSpPr>
          <p:sp>
            <p:nvSpPr>
              <p:cNvPr id="1244355" name="Freeform 19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4356" name="Freeform 19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4357" name="Line 19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4358" name="Line 19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4359" name="Line 19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4360" name="Line 20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4361" name="Line 20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4362" name="Line 20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4363" name="Line 20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4364" name="Line 20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4365" name="Line 20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34675667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6"/>
          <p:cNvGrpSpPr/>
          <p:nvPr/>
        </p:nvGrpSpPr>
        <p:grpSpPr>
          <a:xfrm>
            <a:off x="4495800" y="1447800"/>
            <a:ext cx="533400" cy="1371600"/>
            <a:chOff x="4495800" y="1447800"/>
            <a:chExt cx="533400" cy="1371600"/>
          </a:xfrm>
        </p:grpSpPr>
        <p:sp>
          <p:nvSpPr>
            <p:cNvPr id="1246397" name="Rectangle 189"/>
            <p:cNvSpPr>
              <a:spLocks noChangeArrowheads="1"/>
            </p:cNvSpPr>
            <p:nvPr/>
          </p:nvSpPr>
          <p:spPr bwMode="auto">
            <a:xfrm>
              <a:off x="4876800" y="2362200"/>
              <a:ext cx="152400" cy="457200"/>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46398" name="Rectangle 190"/>
            <p:cNvSpPr>
              <a:spLocks noChangeArrowheads="1"/>
            </p:cNvSpPr>
            <p:nvPr/>
          </p:nvSpPr>
          <p:spPr bwMode="auto">
            <a:xfrm>
              <a:off x="4495800" y="1447800"/>
              <a:ext cx="152400" cy="457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46399" name="Line 191"/>
            <p:cNvSpPr>
              <a:spLocks noChangeShapeType="1"/>
            </p:cNvSpPr>
            <p:nvPr/>
          </p:nvSpPr>
          <p:spPr bwMode="auto">
            <a:xfrm>
              <a:off x="4648200" y="1676400"/>
              <a:ext cx="228600" cy="914400"/>
            </a:xfrm>
            <a:prstGeom prst="line">
              <a:avLst/>
            </a:prstGeom>
            <a:noFill/>
            <a:ln w="28575">
              <a:solidFill>
                <a:srgbClr val="009900"/>
              </a:solidFill>
              <a:round/>
              <a:headEnd/>
              <a:tailEnd type="triangle" w="med" len="med"/>
            </a:ln>
            <a:effectLst/>
          </p:spPr>
          <p:txBody>
            <a:bodyPr/>
            <a:lstStyle/>
            <a:p>
              <a:endParaRPr lang="en-US"/>
            </a:p>
          </p:txBody>
        </p:sp>
      </p:grpSp>
      <p:grpSp>
        <p:nvGrpSpPr>
          <p:cNvPr id="3" name="Group 197"/>
          <p:cNvGrpSpPr/>
          <p:nvPr/>
        </p:nvGrpSpPr>
        <p:grpSpPr>
          <a:xfrm>
            <a:off x="4648200" y="1676400"/>
            <a:ext cx="990600" cy="2133600"/>
            <a:chOff x="4648200" y="1676400"/>
            <a:chExt cx="990600" cy="2133600"/>
          </a:xfrm>
        </p:grpSpPr>
        <p:sp>
          <p:nvSpPr>
            <p:cNvPr id="1246396" name="Rectangle 188"/>
            <p:cNvSpPr>
              <a:spLocks noChangeArrowheads="1"/>
            </p:cNvSpPr>
            <p:nvPr/>
          </p:nvSpPr>
          <p:spPr bwMode="auto">
            <a:xfrm>
              <a:off x="5486400" y="3352800"/>
              <a:ext cx="152400" cy="457200"/>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46400" name="Line 192"/>
            <p:cNvSpPr>
              <a:spLocks noChangeShapeType="1"/>
            </p:cNvSpPr>
            <p:nvPr/>
          </p:nvSpPr>
          <p:spPr bwMode="auto">
            <a:xfrm>
              <a:off x="4648200" y="1676400"/>
              <a:ext cx="838200" cy="1981200"/>
            </a:xfrm>
            <a:prstGeom prst="line">
              <a:avLst/>
            </a:prstGeom>
            <a:noFill/>
            <a:ln w="28575">
              <a:solidFill>
                <a:srgbClr val="009900"/>
              </a:solidFill>
              <a:round/>
              <a:headEnd/>
              <a:tailEnd type="triangle" w="med" len="med"/>
            </a:ln>
            <a:effectLst/>
          </p:spPr>
          <p:txBody>
            <a:bodyPr/>
            <a:lstStyle/>
            <a:p>
              <a:endParaRPr lang="en-US"/>
            </a:p>
          </p:txBody>
        </p:sp>
      </p:grpSp>
      <p:sp>
        <p:nvSpPr>
          <p:cNvPr id="1246210" name="Rectangle 2"/>
          <p:cNvSpPr>
            <a:spLocks noGrp="1" noChangeArrowheads="1"/>
          </p:cNvSpPr>
          <p:nvPr>
            <p:ph type="title"/>
          </p:nvPr>
        </p:nvSpPr>
        <p:spPr>
          <a:xfrm>
            <a:off x="652463" y="304800"/>
            <a:ext cx="6180137" cy="422275"/>
          </a:xfrm>
          <a:noFill/>
          <a:ln/>
        </p:spPr>
        <p:txBody>
          <a:bodyPr wrap="none"/>
          <a:lstStyle/>
          <a:p>
            <a:r>
              <a:rPr lang="en-US"/>
              <a:t>Another Way to “Fix” a Data Hazard</a:t>
            </a:r>
          </a:p>
        </p:txBody>
      </p:sp>
      <p:sp>
        <p:nvSpPr>
          <p:cNvPr id="1246212" name="Line 4"/>
          <p:cNvSpPr>
            <a:spLocks noChangeShapeType="1"/>
          </p:cNvSpPr>
          <p:nvPr/>
        </p:nvSpPr>
        <p:spPr bwMode="auto">
          <a:xfrm>
            <a:off x="2133600" y="9191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46214" name="Line 6"/>
          <p:cNvSpPr>
            <a:spLocks noChangeShapeType="1"/>
          </p:cNvSpPr>
          <p:nvPr/>
        </p:nvSpPr>
        <p:spPr bwMode="auto">
          <a:xfrm>
            <a:off x="33147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6215" name="Line 7"/>
          <p:cNvSpPr>
            <a:spLocks noChangeShapeType="1"/>
          </p:cNvSpPr>
          <p:nvPr/>
        </p:nvSpPr>
        <p:spPr bwMode="auto">
          <a:xfrm>
            <a:off x="40005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6216" name="Line 8"/>
          <p:cNvSpPr>
            <a:spLocks noChangeShapeType="1"/>
          </p:cNvSpPr>
          <p:nvPr/>
        </p:nvSpPr>
        <p:spPr bwMode="auto">
          <a:xfrm>
            <a:off x="46863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6217" name="Line 9"/>
          <p:cNvSpPr>
            <a:spLocks noChangeShapeType="1"/>
          </p:cNvSpPr>
          <p:nvPr/>
        </p:nvSpPr>
        <p:spPr bwMode="auto">
          <a:xfrm>
            <a:off x="53721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grpSp>
        <p:nvGrpSpPr>
          <p:cNvPr id="4" name="Group 207"/>
          <p:cNvGrpSpPr>
            <a:grpSpLocks/>
          </p:cNvGrpSpPr>
          <p:nvPr/>
        </p:nvGrpSpPr>
        <p:grpSpPr bwMode="auto">
          <a:xfrm>
            <a:off x="5562600" y="1447800"/>
            <a:ext cx="1143000" cy="4191000"/>
            <a:chOff x="3504" y="912"/>
            <a:chExt cx="720" cy="2640"/>
          </a:xfrm>
        </p:grpSpPr>
        <p:sp>
          <p:nvSpPr>
            <p:cNvPr id="1246403" name="Rectangle 195"/>
            <p:cNvSpPr>
              <a:spLocks noChangeArrowheads="1"/>
            </p:cNvSpPr>
            <p:nvPr/>
          </p:nvSpPr>
          <p:spPr bwMode="auto">
            <a:xfrm>
              <a:off x="3504" y="912"/>
              <a:ext cx="144" cy="288"/>
            </a:xfrm>
            <a:prstGeom prst="rect">
              <a:avLst/>
            </a:prstGeom>
            <a:solidFill>
              <a:schemeClr val="accent1"/>
            </a:solidFill>
            <a:ln w="12700">
              <a:solidFill>
                <a:schemeClr val="accent1"/>
              </a:solidFill>
              <a:miter lim="800000"/>
              <a:headEnd/>
              <a:tailEnd/>
            </a:ln>
            <a:effectLst/>
          </p:spPr>
          <p:txBody>
            <a:bodyPr wrap="none" anchor="ctr"/>
            <a:lstStyle/>
            <a:p>
              <a:endParaRPr lang="en-US"/>
            </a:p>
          </p:txBody>
        </p:sp>
        <p:sp>
          <p:nvSpPr>
            <p:cNvPr id="1246394" name="Rectangle 186"/>
            <p:cNvSpPr>
              <a:spLocks noChangeArrowheads="1"/>
            </p:cNvSpPr>
            <p:nvPr/>
          </p:nvSpPr>
          <p:spPr bwMode="auto">
            <a:xfrm>
              <a:off x="4080" y="3264"/>
              <a:ext cx="144" cy="288"/>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46395" name="Rectangle 187"/>
            <p:cNvSpPr>
              <a:spLocks noChangeArrowheads="1"/>
            </p:cNvSpPr>
            <p:nvPr/>
          </p:nvSpPr>
          <p:spPr bwMode="auto">
            <a:xfrm>
              <a:off x="3648" y="2736"/>
              <a:ext cx="144" cy="288"/>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46401" name="Line 193"/>
            <p:cNvSpPr>
              <a:spLocks noChangeShapeType="1"/>
            </p:cNvSpPr>
            <p:nvPr/>
          </p:nvSpPr>
          <p:spPr bwMode="auto">
            <a:xfrm>
              <a:off x="3600" y="1200"/>
              <a:ext cx="45" cy="1545"/>
            </a:xfrm>
            <a:prstGeom prst="line">
              <a:avLst/>
            </a:prstGeom>
            <a:noFill/>
            <a:ln w="28575">
              <a:solidFill>
                <a:srgbClr val="009900"/>
              </a:solidFill>
              <a:round/>
              <a:headEnd/>
              <a:tailEnd type="triangle" w="med" len="med"/>
            </a:ln>
            <a:effectLst/>
          </p:spPr>
          <p:txBody>
            <a:bodyPr/>
            <a:lstStyle/>
            <a:p>
              <a:endParaRPr lang="en-US"/>
            </a:p>
          </p:txBody>
        </p:sp>
        <p:sp>
          <p:nvSpPr>
            <p:cNvPr id="201" name="Line 193"/>
            <p:cNvSpPr>
              <a:spLocks noChangeShapeType="1"/>
            </p:cNvSpPr>
            <p:nvPr/>
          </p:nvSpPr>
          <p:spPr bwMode="auto">
            <a:xfrm>
              <a:off x="3600" y="1215"/>
              <a:ext cx="540" cy="2070"/>
            </a:xfrm>
            <a:prstGeom prst="line">
              <a:avLst/>
            </a:prstGeom>
            <a:noFill/>
            <a:ln w="28575">
              <a:solidFill>
                <a:srgbClr val="009900"/>
              </a:solidFill>
              <a:round/>
              <a:headEnd/>
              <a:tailEnd type="triangle" w="med" len="med"/>
            </a:ln>
            <a:effectLst/>
          </p:spPr>
          <p:txBody>
            <a:bodyPr/>
            <a:lstStyle/>
            <a:p>
              <a:endParaRPr lang="en-US"/>
            </a:p>
          </p:txBody>
        </p:sp>
      </p:grpSp>
      <p:sp>
        <p:nvSpPr>
          <p:cNvPr id="1246218" name="Line 10"/>
          <p:cNvSpPr>
            <a:spLocks noChangeShapeType="1"/>
          </p:cNvSpPr>
          <p:nvPr/>
        </p:nvSpPr>
        <p:spPr bwMode="auto">
          <a:xfrm>
            <a:off x="60579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6219" name="Line 11"/>
          <p:cNvSpPr>
            <a:spLocks noChangeShapeType="1"/>
          </p:cNvSpPr>
          <p:nvPr/>
        </p:nvSpPr>
        <p:spPr bwMode="auto">
          <a:xfrm>
            <a:off x="67437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6220" name="Line 12"/>
          <p:cNvSpPr>
            <a:spLocks noChangeShapeType="1"/>
          </p:cNvSpPr>
          <p:nvPr/>
        </p:nvSpPr>
        <p:spPr bwMode="auto">
          <a:xfrm>
            <a:off x="74295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46221" name="Line 13"/>
          <p:cNvSpPr>
            <a:spLocks noChangeShapeType="1"/>
          </p:cNvSpPr>
          <p:nvPr/>
        </p:nvSpPr>
        <p:spPr bwMode="auto">
          <a:xfrm>
            <a:off x="8115300" y="1046163"/>
            <a:ext cx="0" cy="4470400"/>
          </a:xfrm>
          <a:prstGeom prst="line">
            <a:avLst/>
          </a:prstGeom>
          <a:noFill/>
          <a:ln w="25400">
            <a:solidFill>
              <a:schemeClr val="tx1"/>
            </a:solidFill>
            <a:prstDash val="sysDot"/>
            <a:round/>
            <a:headEnd/>
            <a:tailEnd/>
          </a:ln>
          <a:effectLst/>
        </p:spPr>
        <p:txBody>
          <a:bodyPr wrap="none" anchor="ctr"/>
          <a:lstStyle/>
          <a:p>
            <a:endParaRPr lang="en-US"/>
          </a:p>
        </p:txBody>
      </p:sp>
      <p:grpSp>
        <p:nvGrpSpPr>
          <p:cNvPr id="5" name="Group 15"/>
          <p:cNvGrpSpPr>
            <a:grpSpLocks/>
          </p:cNvGrpSpPr>
          <p:nvPr/>
        </p:nvGrpSpPr>
        <p:grpSpPr bwMode="auto">
          <a:xfrm>
            <a:off x="2743200" y="1295400"/>
            <a:ext cx="3355975" cy="838200"/>
            <a:chOff x="1562" y="1152"/>
            <a:chExt cx="2114" cy="528"/>
          </a:xfrm>
        </p:grpSpPr>
        <p:grpSp>
          <p:nvGrpSpPr>
            <p:cNvPr id="6" name="Group 16"/>
            <p:cNvGrpSpPr>
              <a:grpSpLocks/>
            </p:cNvGrpSpPr>
            <p:nvPr/>
          </p:nvGrpSpPr>
          <p:grpSpPr bwMode="auto">
            <a:xfrm>
              <a:off x="2487" y="1152"/>
              <a:ext cx="223" cy="481"/>
              <a:chOff x="2207" y="1413"/>
              <a:chExt cx="223" cy="481"/>
            </a:xfrm>
          </p:grpSpPr>
          <p:sp>
            <p:nvSpPr>
              <p:cNvPr id="1246225" name="Freeform 17"/>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26" name="Rectangle 18"/>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7" name="Group 19"/>
            <p:cNvGrpSpPr>
              <a:grpSpLocks/>
            </p:cNvGrpSpPr>
            <p:nvPr/>
          </p:nvGrpSpPr>
          <p:grpSpPr bwMode="auto">
            <a:xfrm>
              <a:off x="1562" y="1248"/>
              <a:ext cx="349" cy="289"/>
              <a:chOff x="1282" y="1509"/>
              <a:chExt cx="349" cy="289"/>
            </a:xfrm>
          </p:grpSpPr>
          <p:sp>
            <p:nvSpPr>
              <p:cNvPr id="1246228" name="Rectangle 20"/>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8" name="Group 21"/>
              <p:cNvGrpSpPr>
                <a:grpSpLocks/>
              </p:cNvGrpSpPr>
              <p:nvPr/>
            </p:nvGrpSpPr>
            <p:grpSpPr bwMode="auto">
              <a:xfrm>
                <a:off x="1291" y="1509"/>
                <a:ext cx="340" cy="289"/>
                <a:chOff x="1291" y="1509"/>
                <a:chExt cx="340" cy="289"/>
              </a:xfrm>
            </p:grpSpPr>
            <p:sp>
              <p:nvSpPr>
                <p:cNvPr id="1246230" name="Freeform 22"/>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31" name="Freeform 23"/>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6232" name="Rectangle 24"/>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9" name="Group 25"/>
            <p:cNvGrpSpPr>
              <a:grpSpLocks/>
            </p:cNvGrpSpPr>
            <p:nvPr/>
          </p:nvGrpSpPr>
          <p:grpSpPr bwMode="auto">
            <a:xfrm>
              <a:off x="2031" y="1248"/>
              <a:ext cx="296" cy="289"/>
              <a:chOff x="1751" y="1509"/>
              <a:chExt cx="296" cy="289"/>
            </a:xfrm>
          </p:grpSpPr>
          <p:sp>
            <p:nvSpPr>
              <p:cNvPr id="1246234" name="Freeform 26"/>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35" name="Freeform 27"/>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236" name="Line 28"/>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6237" name="Freeform 29"/>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38" name="Line 30"/>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6239" name="Rectangle 31"/>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 name="Group 32"/>
            <p:cNvGrpSpPr>
              <a:grpSpLocks/>
            </p:cNvGrpSpPr>
            <p:nvPr/>
          </p:nvGrpSpPr>
          <p:grpSpPr bwMode="auto">
            <a:xfrm>
              <a:off x="2880" y="1248"/>
              <a:ext cx="325" cy="289"/>
              <a:chOff x="2600" y="1509"/>
              <a:chExt cx="325" cy="289"/>
            </a:xfrm>
          </p:grpSpPr>
          <p:sp>
            <p:nvSpPr>
              <p:cNvPr id="1246241" name="Freeform 33"/>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42" name="Freeform 34"/>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243" name="Rectangle 35"/>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1" name="Group 36"/>
            <p:cNvGrpSpPr>
              <a:grpSpLocks/>
            </p:cNvGrpSpPr>
            <p:nvPr/>
          </p:nvGrpSpPr>
          <p:grpSpPr bwMode="auto">
            <a:xfrm>
              <a:off x="3348" y="1248"/>
              <a:ext cx="284" cy="289"/>
              <a:chOff x="3068" y="1509"/>
              <a:chExt cx="284" cy="289"/>
            </a:xfrm>
          </p:grpSpPr>
          <p:sp>
            <p:nvSpPr>
              <p:cNvPr id="1246245" name="Freeform 37"/>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46" name="Freeform 38"/>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247" name="Line 39"/>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6248" name="Line 40"/>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6249" name="Line 41"/>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6250" name="Line 42"/>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6251" name="Line 43"/>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6252" name="Line 44"/>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6253" name="Line 45"/>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6254" name="Line 46"/>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6255" name="Line 47"/>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 name="Group 50"/>
          <p:cNvGrpSpPr>
            <a:grpSpLocks/>
          </p:cNvGrpSpPr>
          <p:nvPr/>
        </p:nvGrpSpPr>
        <p:grpSpPr bwMode="auto">
          <a:xfrm>
            <a:off x="3429000" y="2209800"/>
            <a:ext cx="3355975" cy="3433763"/>
            <a:chOff x="1562" y="1152"/>
            <a:chExt cx="2114" cy="2163"/>
          </a:xfrm>
        </p:grpSpPr>
        <p:grpSp>
          <p:nvGrpSpPr>
            <p:cNvPr id="13" name="Group 51"/>
            <p:cNvGrpSpPr>
              <a:grpSpLocks/>
            </p:cNvGrpSpPr>
            <p:nvPr/>
          </p:nvGrpSpPr>
          <p:grpSpPr bwMode="auto">
            <a:xfrm>
              <a:off x="2487" y="1152"/>
              <a:ext cx="223" cy="481"/>
              <a:chOff x="2207" y="1413"/>
              <a:chExt cx="223" cy="481"/>
            </a:xfrm>
          </p:grpSpPr>
          <p:sp>
            <p:nvSpPr>
              <p:cNvPr id="1246260" name="Freeform 5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61" name="Rectangle 5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4" name="Group 54"/>
            <p:cNvGrpSpPr>
              <a:grpSpLocks/>
            </p:cNvGrpSpPr>
            <p:nvPr/>
          </p:nvGrpSpPr>
          <p:grpSpPr bwMode="auto">
            <a:xfrm>
              <a:off x="1562" y="1248"/>
              <a:ext cx="349" cy="289"/>
              <a:chOff x="1282" y="1509"/>
              <a:chExt cx="349" cy="289"/>
            </a:xfrm>
          </p:grpSpPr>
          <p:sp>
            <p:nvSpPr>
              <p:cNvPr id="1246263" name="Rectangle 5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5" name="Group 56"/>
              <p:cNvGrpSpPr>
                <a:grpSpLocks/>
              </p:cNvGrpSpPr>
              <p:nvPr/>
            </p:nvGrpSpPr>
            <p:grpSpPr bwMode="auto">
              <a:xfrm>
                <a:off x="1291" y="1509"/>
                <a:ext cx="340" cy="289"/>
                <a:chOff x="1291" y="1509"/>
                <a:chExt cx="340" cy="289"/>
              </a:xfrm>
            </p:grpSpPr>
            <p:sp>
              <p:nvSpPr>
                <p:cNvPr id="1246265" name="Freeform 5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66" name="Freeform 5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6267" name="Rectangle 5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6" name="Group 60"/>
            <p:cNvGrpSpPr>
              <a:grpSpLocks/>
            </p:cNvGrpSpPr>
            <p:nvPr/>
          </p:nvGrpSpPr>
          <p:grpSpPr bwMode="auto">
            <a:xfrm>
              <a:off x="2031" y="1248"/>
              <a:ext cx="1601" cy="2067"/>
              <a:chOff x="1751" y="1509"/>
              <a:chExt cx="1601" cy="2067"/>
            </a:xfrm>
          </p:grpSpPr>
          <p:sp>
            <p:nvSpPr>
              <p:cNvPr id="1246269" name="Freeform 6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70" name="Freeform 6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202" name="Freeform 62"/>
              <p:cNvSpPr>
                <a:spLocks/>
              </p:cNvSpPr>
              <p:nvPr/>
            </p:nvSpPr>
            <p:spPr bwMode="auto">
              <a:xfrm>
                <a:off x="3204" y="3287"/>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271" name="Line 6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6272" name="Freeform 6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73" name="Line 6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6274" name="Rectangle 6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7" name="Group 67"/>
            <p:cNvGrpSpPr>
              <a:grpSpLocks/>
            </p:cNvGrpSpPr>
            <p:nvPr/>
          </p:nvGrpSpPr>
          <p:grpSpPr bwMode="auto">
            <a:xfrm>
              <a:off x="2880" y="1248"/>
              <a:ext cx="325" cy="289"/>
              <a:chOff x="2600" y="1509"/>
              <a:chExt cx="325" cy="289"/>
            </a:xfrm>
          </p:grpSpPr>
          <p:sp>
            <p:nvSpPr>
              <p:cNvPr id="1246276" name="Freeform 6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77" name="Freeform 6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278" name="Rectangle 7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8" name="Group 71"/>
            <p:cNvGrpSpPr>
              <a:grpSpLocks/>
            </p:cNvGrpSpPr>
            <p:nvPr/>
          </p:nvGrpSpPr>
          <p:grpSpPr bwMode="auto">
            <a:xfrm>
              <a:off x="3348" y="1248"/>
              <a:ext cx="284" cy="289"/>
              <a:chOff x="3068" y="1509"/>
              <a:chExt cx="284" cy="289"/>
            </a:xfrm>
          </p:grpSpPr>
          <p:sp>
            <p:nvSpPr>
              <p:cNvPr id="1246280" name="Freeform 7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81" name="Freeform 7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282" name="Line 7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6283" name="Line 7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6284" name="Line 7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6285" name="Line 7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6286" name="Line 7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6287" name="Line 7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6288" name="Line 8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6289" name="Line 8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6290" name="Line 8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9" name="Group 83"/>
          <p:cNvGrpSpPr>
            <a:grpSpLocks/>
          </p:cNvGrpSpPr>
          <p:nvPr/>
        </p:nvGrpSpPr>
        <p:grpSpPr bwMode="auto">
          <a:xfrm>
            <a:off x="4114800" y="3200400"/>
            <a:ext cx="3355975" cy="838200"/>
            <a:chOff x="1562" y="1152"/>
            <a:chExt cx="2114" cy="528"/>
          </a:xfrm>
        </p:grpSpPr>
        <p:grpSp>
          <p:nvGrpSpPr>
            <p:cNvPr id="20" name="Group 84"/>
            <p:cNvGrpSpPr>
              <a:grpSpLocks/>
            </p:cNvGrpSpPr>
            <p:nvPr/>
          </p:nvGrpSpPr>
          <p:grpSpPr bwMode="auto">
            <a:xfrm>
              <a:off x="2487" y="1152"/>
              <a:ext cx="223" cy="481"/>
              <a:chOff x="2207" y="1413"/>
              <a:chExt cx="223" cy="481"/>
            </a:xfrm>
          </p:grpSpPr>
          <p:sp>
            <p:nvSpPr>
              <p:cNvPr id="1246293" name="Freeform 8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94" name="Rectangle 8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1" name="Group 87"/>
            <p:cNvGrpSpPr>
              <a:grpSpLocks/>
            </p:cNvGrpSpPr>
            <p:nvPr/>
          </p:nvGrpSpPr>
          <p:grpSpPr bwMode="auto">
            <a:xfrm>
              <a:off x="1562" y="1248"/>
              <a:ext cx="349" cy="289"/>
              <a:chOff x="1282" y="1509"/>
              <a:chExt cx="349" cy="289"/>
            </a:xfrm>
          </p:grpSpPr>
          <p:sp>
            <p:nvSpPr>
              <p:cNvPr id="1246296" name="Rectangle 8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2" name="Group 89"/>
              <p:cNvGrpSpPr>
                <a:grpSpLocks/>
              </p:cNvGrpSpPr>
              <p:nvPr/>
            </p:nvGrpSpPr>
            <p:grpSpPr bwMode="auto">
              <a:xfrm>
                <a:off x="1291" y="1509"/>
                <a:ext cx="340" cy="289"/>
                <a:chOff x="1291" y="1509"/>
                <a:chExt cx="340" cy="289"/>
              </a:xfrm>
            </p:grpSpPr>
            <p:sp>
              <p:nvSpPr>
                <p:cNvPr id="1246298" name="Freeform 9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299" name="Freeform 9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6300" name="Rectangle 9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 name="Group 93"/>
            <p:cNvGrpSpPr>
              <a:grpSpLocks/>
            </p:cNvGrpSpPr>
            <p:nvPr/>
          </p:nvGrpSpPr>
          <p:grpSpPr bwMode="auto">
            <a:xfrm>
              <a:off x="2031" y="1248"/>
              <a:ext cx="296" cy="289"/>
              <a:chOff x="1751" y="1509"/>
              <a:chExt cx="296" cy="289"/>
            </a:xfrm>
          </p:grpSpPr>
          <p:sp>
            <p:nvSpPr>
              <p:cNvPr id="1246302" name="Freeform 9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03" name="Freeform 9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04" name="Line 9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6305" name="Freeform 9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06" name="Line 9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6307" name="Rectangle 9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4" name="Group 100"/>
            <p:cNvGrpSpPr>
              <a:grpSpLocks/>
            </p:cNvGrpSpPr>
            <p:nvPr/>
          </p:nvGrpSpPr>
          <p:grpSpPr bwMode="auto">
            <a:xfrm>
              <a:off x="2880" y="1248"/>
              <a:ext cx="325" cy="289"/>
              <a:chOff x="2600" y="1509"/>
              <a:chExt cx="325" cy="289"/>
            </a:xfrm>
          </p:grpSpPr>
          <p:sp>
            <p:nvSpPr>
              <p:cNvPr id="1246309" name="Freeform 10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10" name="Freeform 10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11" name="Rectangle 10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5" name="Group 104"/>
            <p:cNvGrpSpPr>
              <a:grpSpLocks/>
            </p:cNvGrpSpPr>
            <p:nvPr/>
          </p:nvGrpSpPr>
          <p:grpSpPr bwMode="auto">
            <a:xfrm>
              <a:off x="3348" y="1248"/>
              <a:ext cx="284" cy="289"/>
              <a:chOff x="3068" y="1509"/>
              <a:chExt cx="284" cy="289"/>
            </a:xfrm>
          </p:grpSpPr>
          <p:sp>
            <p:nvSpPr>
              <p:cNvPr id="1246313" name="Freeform 10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14" name="Freeform 10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15" name="Line 10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6316" name="Line 10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6317" name="Line 10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6318" name="Line 11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6319" name="Line 11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6320" name="Line 11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6321" name="Line 11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6322" name="Line 11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6323" name="Line 11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46324" name="Rectangle 116"/>
          <p:cNvSpPr>
            <a:spLocks noChangeArrowheads="1"/>
          </p:cNvSpPr>
          <p:nvPr/>
        </p:nvSpPr>
        <p:spPr bwMode="auto">
          <a:xfrm>
            <a:off x="6705600" y="990600"/>
            <a:ext cx="2286000" cy="1917700"/>
          </a:xfrm>
          <a:prstGeom prst="rect">
            <a:avLst/>
          </a:prstGeom>
          <a:noFill/>
          <a:ln w="12700">
            <a:noFill/>
            <a:miter lim="800000"/>
            <a:headEnd/>
            <a:tailEnd/>
          </a:ln>
          <a:effectLst/>
        </p:spPr>
        <p:txBody>
          <a:bodyPr lIns="90488" tIns="44450" rIns="90488" bIns="44450">
            <a:spAutoFit/>
          </a:bodyPr>
          <a:lstStyle/>
          <a:p>
            <a:pPr algn="r"/>
            <a:r>
              <a:rPr lang="en-US" sz="2000" dirty="0"/>
              <a:t>Fix data hazards by </a:t>
            </a:r>
            <a:r>
              <a:rPr lang="en-US" sz="2000" b="1" dirty="0"/>
              <a:t>forwarding</a:t>
            </a:r>
            <a:r>
              <a:rPr lang="en-US" sz="2000" dirty="0"/>
              <a:t> results as soon as they are </a:t>
            </a:r>
            <a:r>
              <a:rPr lang="en-US" sz="2000" b="1" dirty="0"/>
              <a:t>available</a:t>
            </a:r>
            <a:r>
              <a:rPr lang="en-US" sz="2000" dirty="0"/>
              <a:t> to where they are </a:t>
            </a:r>
            <a:r>
              <a:rPr lang="en-US" sz="2000" b="1" dirty="0"/>
              <a:t>needed</a:t>
            </a:r>
            <a:endParaRPr lang="en-US" sz="2000" dirty="0"/>
          </a:p>
        </p:txBody>
      </p:sp>
      <p:grpSp>
        <p:nvGrpSpPr>
          <p:cNvPr id="26" name="Group 119"/>
          <p:cNvGrpSpPr>
            <a:grpSpLocks/>
          </p:cNvGrpSpPr>
          <p:nvPr/>
        </p:nvGrpSpPr>
        <p:grpSpPr bwMode="auto">
          <a:xfrm>
            <a:off x="4800600" y="4191000"/>
            <a:ext cx="3355975" cy="838200"/>
            <a:chOff x="1562" y="1152"/>
            <a:chExt cx="2114" cy="528"/>
          </a:xfrm>
        </p:grpSpPr>
        <p:grpSp>
          <p:nvGrpSpPr>
            <p:cNvPr id="27" name="Group 120"/>
            <p:cNvGrpSpPr>
              <a:grpSpLocks/>
            </p:cNvGrpSpPr>
            <p:nvPr/>
          </p:nvGrpSpPr>
          <p:grpSpPr bwMode="auto">
            <a:xfrm>
              <a:off x="2487" y="1152"/>
              <a:ext cx="223" cy="481"/>
              <a:chOff x="2207" y="1413"/>
              <a:chExt cx="223" cy="481"/>
            </a:xfrm>
          </p:grpSpPr>
          <p:sp>
            <p:nvSpPr>
              <p:cNvPr id="1246329" name="Freeform 12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30" name="Rectangle 12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8" name="Group 123"/>
            <p:cNvGrpSpPr>
              <a:grpSpLocks/>
            </p:cNvGrpSpPr>
            <p:nvPr/>
          </p:nvGrpSpPr>
          <p:grpSpPr bwMode="auto">
            <a:xfrm>
              <a:off x="1562" y="1248"/>
              <a:ext cx="349" cy="289"/>
              <a:chOff x="1282" y="1509"/>
              <a:chExt cx="349" cy="289"/>
            </a:xfrm>
          </p:grpSpPr>
          <p:sp>
            <p:nvSpPr>
              <p:cNvPr id="1246332" name="Rectangle 12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9" name="Group 125"/>
              <p:cNvGrpSpPr>
                <a:grpSpLocks/>
              </p:cNvGrpSpPr>
              <p:nvPr/>
            </p:nvGrpSpPr>
            <p:grpSpPr bwMode="auto">
              <a:xfrm>
                <a:off x="1291" y="1509"/>
                <a:ext cx="340" cy="289"/>
                <a:chOff x="1291" y="1509"/>
                <a:chExt cx="340" cy="289"/>
              </a:xfrm>
            </p:grpSpPr>
            <p:sp>
              <p:nvSpPr>
                <p:cNvPr id="1246334" name="Freeform 12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35" name="Freeform 12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6336" name="Rectangle 12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0" name="Group 129"/>
            <p:cNvGrpSpPr>
              <a:grpSpLocks/>
            </p:cNvGrpSpPr>
            <p:nvPr/>
          </p:nvGrpSpPr>
          <p:grpSpPr bwMode="auto">
            <a:xfrm>
              <a:off x="2031" y="1248"/>
              <a:ext cx="296" cy="289"/>
              <a:chOff x="1751" y="1509"/>
              <a:chExt cx="296" cy="289"/>
            </a:xfrm>
          </p:grpSpPr>
          <p:sp>
            <p:nvSpPr>
              <p:cNvPr id="1246338" name="Freeform 13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39" name="Freeform 13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40" name="Line 13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6341" name="Freeform 13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42" name="Line 13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6343" name="Rectangle 13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31" name="Group 136"/>
            <p:cNvGrpSpPr>
              <a:grpSpLocks/>
            </p:cNvGrpSpPr>
            <p:nvPr/>
          </p:nvGrpSpPr>
          <p:grpSpPr bwMode="auto">
            <a:xfrm>
              <a:off x="2880" y="1248"/>
              <a:ext cx="325" cy="289"/>
              <a:chOff x="2600" y="1509"/>
              <a:chExt cx="325" cy="289"/>
            </a:xfrm>
          </p:grpSpPr>
          <p:sp>
            <p:nvSpPr>
              <p:cNvPr id="1246345" name="Freeform 13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46" name="Freeform 13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47" name="Rectangle 13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6337" name="Group 140"/>
            <p:cNvGrpSpPr>
              <a:grpSpLocks/>
            </p:cNvGrpSpPr>
            <p:nvPr/>
          </p:nvGrpSpPr>
          <p:grpSpPr bwMode="auto">
            <a:xfrm>
              <a:off x="3348" y="1248"/>
              <a:ext cx="284" cy="289"/>
              <a:chOff x="3068" y="1509"/>
              <a:chExt cx="284" cy="289"/>
            </a:xfrm>
          </p:grpSpPr>
          <p:sp>
            <p:nvSpPr>
              <p:cNvPr id="1246349" name="Freeform 14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50" name="Freeform 14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51" name="Line 14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6352" name="Line 14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6353" name="Line 14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6354" name="Line 14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6355" name="Line 14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6356" name="Line 14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6357" name="Line 14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6358" name="Line 15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6359" name="Line 15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46344" name="Group 152"/>
          <p:cNvGrpSpPr>
            <a:grpSpLocks/>
          </p:cNvGrpSpPr>
          <p:nvPr/>
        </p:nvGrpSpPr>
        <p:grpSpPr bwMode="auto">
          <a:xfrm>
            <a:off x="5486400" y="5029200"/>
            <a:ext cx="3355975" cy="838200"/>
            <a:chOff x="1562" y="1152"/>
            <a:chExt cx="2114" cy="528"/>
          </a:xfrm>
        </p:grpSpPr>
        <p:grpSp>
          <p:nvGrpSpPr>
            <p:cNvPr id="1246348" name="Group 153"/>
            <p:cNvGrpSpPr>
              <a:grpSpLocks/>
            </p:cNvGrpSpPr>
            <p:nvPr/>
          </p:nvGrpSpPr>
          <p:grpSpPr bwMode="auto">
            <a:xfrm>
              <a:off x="2487" y="1152"/>
              <a:ext cx="223" cy="481"/>
              <a:chOff x="2207" y="1413"/>
              <a:chExt cx="223" cy="481"/>
            </a:xfrm>
          </p:grpSpPr>
          <p:sp>
            <p:nvSpPr>
              <p:cNvPr id="1246362" name="Freeform 15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63" name="Rectangle 15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46360" name="Group 156"/>
            <p:cNvGrpSpPr>
              <a:grpSpLocks/>
            </p:cNvGrpSpPr>
            <p:nvPr/>
          </p:nvGrpSpPr>
          <p:grpSpPr bwMode="auto">
            <a:xfrm>
              <a:off x="1562" y="1248"/>
              <a:ext cx="349" cy="289"/>
              <a:chOff x="1282" y="1509"/>
              <a:chExt cx="349" cy="289"/>
            </a:xfrm>
          </p:grpSpPr>
          <p:sp>
            <p:nvSpPr>
              <p:cNvPr id="1246365" name="Rectangle 15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46361" name="Group 158"/>
              <p:cNvGrpSpPr>
                <a:grpSpLocks/>
              </p:cNvGrpSpPr>
              <p:nvPr/>
            </p:nvGrpSpPr>
            <p:grpSpPr bwMode="auto">
              <a:xfrm>
                <a:off x="1291" y="1509"/>
                <a:ext cx="340" cy="289"/>
                <a:chOff x="1291" y="1509"/>
                <a:chExt cx="340" cy="289"/>
              </a:xfrm>
            </p:grpSpPr>
            <p:sp>
              <p:nvSpPr>
                <p:cNvPr id="1246367" name="Freeform 15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68" name="Freeform 16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6369" name="Rectangle 16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rPr>
                <a:t>Reg</a:t>
              </a:r>
              <a:endParaRPr lang="en-US" sz="1600" b="1" dirty="0">
                <a:solidFill>
                  <a:schemeClr val="tx1"/>
                </a:solidFill>
              </a:endParaRPr>
            </a:p>
          </p:txBody>
        </p:sp>
        <p:sp>
          <p:nvSpPr>
            <p:cNvPr id="1246371" name="Freeform 163"/>
            <p:cNvSpPr>
              <a:spLocks/>
            </p:cNvSpPr>
            <p:nvPr/>
          </p:nvSpPr>
          <p:spPr bwMode="auto">
            <a:xfrm>
              <a:off x="2031" y="1248"/>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73" name="Line 16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6374" name="Freeform 16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75" name="Line 16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6376" name="Rectangle 16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46364" name="Group 169"/>
            <p:cNvGrpSpPr>
              <a:grpSpLocks/>
            </p:cNvGrpSpPr>
            <p:nvPr/>
          </p:nvGrpSpPr>
          <p:grpSpPr bwMode="auto">
            <a:xfrm>
              <a:off x="2880" y="1248"/>
              <a:ext cx="325" cy="289"/>
              <a:chOff x="2600" y="1509"/>
              <a:chExt cx="325" cy="289"/>
            </a:xfrm>
          </p:grpSpPr>
          <p:sp>
            <p:nvSpPr>
              <p:cNvPr id="1246378" name="Freeform 17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79" name="Freeform 17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80" name="Rectangle 17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6366" name="Group 173"/>
            <p:cNvGrpSpPr>
              <a:grpSpLocks/>
            </p:cNvGrpSpPr>
            <p:nvPr/>
          </p:nvGrpSpPr>
          <p:grpSpPr bwMode="auto">
            <a:xfrm>
              <a:off x="3348" y="1248"/>
              <a:ext cx="284" cy="289"/>
              <a:chOff x="3068" y="1509"/>
              <a:chExt cx="284" cy="289"/>
            </a:xfrm>
          </p:grpSpPr>
          <p:sp>
            <p:nvSpPr>
              <p:cNvPr id="1246382" name="Freeform 17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6383" name="Freeform 17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6384" name="Line 17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6385" name="Line 17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6386" name="Line 17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6387" name="Line 17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6388" name="Line 18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6389" name="Line 18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6390" name="Line 18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6391" name="Line 18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6392" name="Line 18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46406" name="Rectangle 198"/>
          <p:cNvSpPr>
            <a:spLocks noChangeArrowheads="1"/>
          </p:cNvSpPr>
          <p:nvPr/>
        </p:nvSpPr>
        <p:spPr bwMode="auto">
          <a:xfrm>
            <a:off x="304800" y="16017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46407" name="Rectangle 199"/>
          <p:cNvSpPr>
            <a:spLocks noChangeArrowheads="1"/>
          </p:cNvSpPr>
          <p:nvPr/>
        </p:nvSpPr>
        <p:spPr bwMode="auto">
          <a:xfrm>
            <a:off x="738188" y="1447800"/>
            <a:ext cx="1458912"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add </a:t>
            </a:r>
            <a:r>
              <a:rPr lang="en-US" sz="2400" b="1">
                <a:latin typeface="Courier New" pitchFamily="49" charset="0"/>
              </a:rPr>
              <a:t>$1</a:t>
            </a:r>
            <a:r>
              <a:rPr lang="en-US" sz="2400" b="1">
                <a:solidFill>
                  <a:schemeClr val="tx1"/>
                </a:solidFill>
                <a:latin typeface="Courier New" pitchFamily="49" charset="0"/>
              </a:rPr>
              <a:t>,</a:t>
            </a:r>
          </a:p>
        </p:txBody>
      </p:sp>
      <p:sp>
        <p:nvSpPr>
          <p:cNvPr id="1246408" name="Line 200"/>
          <p:cNvSpPr>
            <a:spLocks noChangeShapeType="1"/>
          </p:cNvSpPr>
          <p:nvPr/>
        </p:nvSpPr>
        <p:spPr bwMode="auto">
          <a:xfrm>
            <a:off x="661988" y="1524000"/>
            <a:ext cx="0" cy="4495800"/>
          </a:xfrm>
          <a:prstGeom prst="line">
            <a:avLst/>
          </a:prstGeom>
          <a:noFill/>
          <a:ln w="28575">
            <a:solidFill>
              <a:schemeClr val="tx1"/>
            </a:solidFill>
            <a:round/>
            <a:headEnd/>
            <a:tailEnd type="triangle" w="med" len="med"/>
          </a:ln>
          <a:effectLst/>
        </p:spPr>
        <p:txBody>
          <a:bodyPr/>
          <a:lstStyle/>
          <a:p>
            <a:endParaRPr lang="en-US"/>
          </a:p>
        </p:txBody>
      </p:sp>
      <p:sp>
        <p:nvSpPr>
          <p:cNvPr id="1246409" name="Rectangle 201"/>
          <p:cNvSpPr>
            <a:spLocks noChangeArrowheads="1"/>
          </p:cNvSpPr>
          <p:nvPr/>
        </p:nvSpPr>
        <p:spPr bwMode="auto">
          <a:xfrm>
            <a:off x="738188" y="24384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46410" name="Rectangle 202"/>
          <p:cNvSpPr>
            <a:spLocks noChangeArrowheads="1"/>
          </p:cNvSpPr>
          <p:nvPr/>
        </p:nvSpPr>
        <p:spPr bwMode="auto">
          <a:xfrm>
            <a:off x="738188" y="35052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solidFill>
                  <a:srgbClr val="009900"/>
                </a:solidFill>
                <a:latin typeface="Courier New" pitchFamily="49" charset="0"/>
              </a:rPr>
              <a:t>,$1</a:t>
            </a:r>
            <a:r>
              <a:rPr lang="en-US" sz="2400" b="1">
                <a:solidFill>
                  <a:schemeClr val="tx1"/>
                </a:solidFill>
                <a:latin typeface="Courier New" pitchFamily="49" charset="0"/>
              </a:rPr>
              <a:t>,$7</a:t>
            </a:r>
          </a:p>
        </p:txBody>
      </p:sp>
      <p:sp>
        <p:nvSpPr>
          <p:cNvPr id="1246411" name="Rectangle 203"/>
          <p:cNvSpPr>
            <a:spLocks noChangeArrowheads="1"/>
          </p:cNvSpPr>
          <p:nvPr/>
        </p:nvSpPr>
        <p:spPr bwMode="auto">
          <a:xfrm>
            <a:off x="738188" y="5257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46412" name="Rectangle 204"/>
          <p:cNvSpPr>
            <a:spLocks noChangeArrowheads="1"/>
          </p:cNvSpPr>
          <p:nvPr/>
        </p:nvSpPr>
        <p:spPr bwMode="auto">
          <a:xfrm>
            <a:off x="738188" y="4386263"/>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spTree>
    <p:extLst>
      <p:ext uri="{BB962C8B-B14F-4D97-AF65-F5344CB8AC3E}">
        <p14:creationId xmlns:p14="http://schemas.microsoft.com/office/powerpoint/2010/main" val="4220771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a:grpSpLocks/>
          </p:cNvGrpSpPr>
          <p:nvPr/>
        </p:nvGrpSpPr>
        <p:grpSpPr bwMode="auto">
          <a:xfrm>
            <a:off x="5651500" y="3600447"/>
            <a:ext cx="381000" cy="1524000"/>
            <a:chOff x="2880" y="1824"/>
            <a:chExt cx="240" cy="960"/>
          </a:xfrm>
        </p:grpSpPr>
        <p:sp>
          <p:nvSpPr>
            <p:cNvPr id="1274891" name="Rectangle 11"/>
            <p:cNvSpPr>
              <a:spLocks noChangeArrowheads="1"/>
            </p:cNvSpPr>
            <p:nvPr/>
          </p:nvSpPr>
          <p:spPr bwMode="auto">
            <a:xfrm>
              <a:off x="3024" y="2496"/>
              <a:ext cx="96" cy="288"/>
            </a:xfrm>
            <a:prstGeom prst="rect">
              <a:avLst/>
            </a:prstGeom>
            <a:solidFill>
              <a:srgbClr val="009900"/>
            </a:solidFill>
            <a:ln w="12700">
              <a:solidFill>
                <a:schemeClr val="tx1"/>
              </a:solidFill>
              <a:miter lim="800000"/>
              <a:headEnd/>
              <a:tailEnd/>
            </a:ln>
            <a:effectLst/>
          </p:spPr>
          <p:txBody>
            <a:bodyPr wrap="none" anchor="ctr"/>
            <a:lstStyle/>
            <a:p>
              <a:endParaRPr lang="en-US"/>
            </a:p>
          </p:txBody>
        </p:sp>
        <p:sp>
          <p:nvSpPr>
            <p:cNvPr id="1274892" name="Rectangle 12"/>
            <p:cNvSpPr>
              <a:spLocks noChangeArrowheads="1"/>
            </p:cNvSpPr>
            <p:nvPr/>
          </p:nvSpPr>
          <p:spPr bwMode="auto">
            <a:xfrm>
              <a:off x="2880" y="1824"/>
              <a:ext cx="96"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74893" name="Line 13"/>
            <p:cNvSpPr>
              <a:spLocks noChangeShapeType="1"/>
            </p:cNvSpPr>
            <p:nvPr/>
          </p:nvSpPr>
          <p:spPr bwMode="auto">
            <a:xfrm>
              <a:off x="2928" y="2112"/>
              <a:ext cx="96" cy="384"/>
            </a:xfrm>
            <a:prstGeom prst="line">
              <a:avLst/>
            </a:prstGeom>
            <a:noFill/>
            <a:ln w="28575">
              <a:solidFill>
                <a:srgbClr val="009900"/>
              </a:solidFill>
              <a:round/>
              <a:headEnd/>
              <a:tailEnd type="triangle" w="med" len="med"/>
            </a:ln>
            <a:effectLst/>
          </p:spPr>
          <p:txBody>
            <a:bodyPr/>
            <a:lstStyle/>
            <a:p>
              <a:endParaRPr lang="en-US"/>
            </a:p>
          </p:txBody>
        </p:sp>
      </p:grpSp>
      <p:sp>
        <p:nvSpPr>
          <p:cNvPr id="1274894" name="Rectangle 14"/>
          <p:cNvSpPr>
            <a:spLocks noGrp="1" noChangeArrowheads="1"/>
          </p:cNvSpPr>
          <p:nvPr>
            <p:ph type="title"/>
          </p:nvPr>
        </p:nvSpPr>
        <p:spPr>
          <a:xfrm>
            <a:off x="652463" y="304800"/>
            <a:ext cx="4718050" cy="422275"/>
          </a:xfrm>
          <a:noFill/>
          <a:ln/>
        </p:spPr>
        <p:txBody>
          <a:bodyPr wrap="none"/>
          <a:lstStyle/>
          <a:p>
            <a:r>
              <a:rPr lang="en-US"/>
              <a:t>Memory-to-Memory Copies</a:t>
            </a:r>
          </a:p>
        </p:txBody>
      </p:sp>
      <p:sp>
        <p:nvSpPr>
          <p:cNvPr id="1274895" name="Rectangle 15"/>
          <p:cNvSpPr>
            <a:spLocks noChangeArrowheads="1"/>
          </p:cNvSpPr>
          <p:nvPr/>
        </p:nvSpPr>
        <p:spPr bwMode="auto">
          <a:xfrm>
            <a:off x="304800" y="3219447"/>
            <a:ext cx="358775" cy="2813050"/>
          </a:xfrm>
          <a:prstGeom prst="rect">
            <a:avLst/>
          </a:prstGeom>
          <a:noFill/>
          <a:ln w="12700">
            <a:noFill/>
            <a:miter lim="800000"/>
            <a:headEnd/>
            <a:tailEnd/>
          </a:ln>
          <a:effectLst/>
        </p:spPr>
        <p:txBody>
          <a:bodyPr wrap="none" lIns="90488" tIns="44450" rIns="90488" bIns="44450">
            <a:spAutoFit/>
          </a:bodyPr>
          <a:lstStyle/>
          <a:p>
            <a:pPr algn="ctr">
              <a:lnSpc>
                <a:spcPct val="90000"/>
              </a:lnSpc>
            </a:pPr>
            <a:r>
              <a:rPr lang="en-US" i="1">
                <a:solidFill>
                  <a:schemeClr val="tx1"/>
                </a:solidFill>
              </a:rPr>
              <a:t>I</a:t>
            </a:r>
          </a:p>
          <a:p>
            <a:pPr algn="ctr">
              <a:lnSpc>
                <a:spcPct val="90000"/>
              </a:lnSpc>
            </a:pPr>
            <a:r>
              <a:rPr lang="en-US" i="1">
                <a:solidFill>
                  <a:schemeClr val="tx1"/>
                </a:solidFill>
              </a:rPr>
              <a:t>n</a:t>
            </a:r>
          </a:p>
          <a:p>
            <a:pPr algn="ctr">
              <a:lnSpc>
                <a:spcPct val="90000"/>
              </a:lnSpc>
            </a:pPr>
            <a:r>
              <a:rPr lang="en-US" i="1">
                <a:solidFill>
                  <a:schemeClr val="tx1"/>
                </a:solidFill>
              </a:rPr>
              <a:t>s</a:t>
            </a:r>
          </a:p>
          <a:p>
            <a:pPr algn="ctr">
              <a:lnSpc>
                <a:spcPct val="90000"/>
              </a:lnSpc>
            </a:pPr>
            <a:r>
              <a:rPr lang="en-US" i="1">
                <a:solidFill>
                  <a:schemeClr val="tx1"/>
                </a:solidFill>
              </a:rPr>
              <a:t>t</a:t>
            </a:r>
          </a:p>
          <a:p>
            <a:pPr algn="ctr">
              <a:lnSpc>
                <a:spcPct val="90000"/>
              </a:lnSpc>
            </a:pPr>
            <a:r>
              <a:rPr lang="en-US" i="1">
                <a:solidFill>
                  <a:schemeClr val="tx1"/>
                </a:solidFill>
              </a:rPr>
              <a:t>r.</a:t>
            </a:r>
          </a:p>
          <a:p>
            <a:pPr algn="ctr">
              <a:lnSpc>
                <a:spcPct val="90000"/>
              </a:lnSpc>
            </a:pPr>
            <a:endParaRPr lang="en-US" i="1">
              <a:solidFill>
                <a:schemeClr val="tx1"/>
              </a:solidFill>
            </a:endParaRPr>
          </a:p>
          <a:p>
            <a:pPr algn="ctr">
              <a:lnSpc>
                <a:spcPct val="90000"/>
              </a:lnSpc>
            </a:pPr>
            <a:r>
              <a:rPr lang="en-US" i="1">
                <a:solidFill>
                  <a:schemeClr val="tx1"/>
                </a:solidFill>
              </a:rPr>
              <a:t>O</a:t>
            </a:r>
          </a:p>
          <a:p>
            <a:pPr algn="ctr">
              <a:lnSpc>
                <a:spcPct val="90000"/>
              </a:lnSpc>
            </a:pPr>
            <a:r>
              <a:rPr lang="en-US" i="1">
                <a:solidFill>
                  <a:schemeClr val="tx1"/>
                </a:solidFill>
              </a:rPr>
              <a:t>r</a:t>
            </a:r>
          </a:p>
          <a:p>
            <a:pPr algn="ctr">
              <a:lnSpc>
                <a:spcPct val="90000"/>
              </a:lnSpc>
            </a:pPr>
            <a:r>
              <a:rPr lang="en-US" i="1">
                <a:solidFill>
                  <a:schemeClr val="tx1"/>
                </a:solidFill>
              </a:rPr>
              <a:t>d</a:t>
            </a:r>
          </a:p>
          <a:p>
            <a:pPr algn="ctr">
              <a:lnSpc>
                <a:spcPct val="90000"/>
              </a:lnSpc>
            </a:pPr>
            <a:r>
              <a:rPr lang="en-US" i="1">
                <a:solidFill>
                  <a:schemeClr val="tx1"/>
                </a:solidFill>
              </a:rPr>
              <a:t>e</a:t>
            </a:r>
          </a:p>
          <a:p>
            <a:pPr algn="ctr">
              <a:lnSpc>
                <a:spcPct val="90000"/>
              </a:lnSpc>
            </a:pPr>
            <a:r>
              <a:rPr lang="en-US" i="1">
                <a:solidFill>
                  <a:schemeClr val="tx1"/>
                </a:solidFill>
              </a:rPr>
              <a:t>r</a:t>
            </a:r>
          </a:p>
        </p:txBody>
      </p:sp>
      <p:sp>
        <p:nvSpPr>
          <p:cNvPr id="1274896" name="Line 16"/>
          <p:cNvSpPr>
            <a:spLocks noChangeShapeType="1"/>
          </p:cNvSpPr>
          <p:nvPr/>
        </p:nvSpPr>
        <p:spPr bwMode="auto">
          <a:xfrm>
            <a:off x="2527300" y="307181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74897" name="Rectangle 17"/>
          <p:cNvSpPr>
            <a:spLocks noChangeArrowheads="1"/>
          </p:cNvSpPr>
          <p:nvPr/>
        </p:nvSpPr>
        <p:spPr bwMode="auto">
          <a:xfrm>
            <a:off x="762000" y="3524247"/>
            <a:ext cx="218916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 </a:t>
            </a:r>
            <a:r>
              <a:rPr lang="en-US" sz="2400" b="1">
                <a:latin typeface="Courier New" pitchFamily="49" charset="0"/>
              </a:rPr>
              <a:t>$1</a:t>
            </a:r>
            <a:r>
              <a:rPr lang="en-US" sz="2400" b="1">
                <a:solidFill>
                  <a:schemeClr val="tx1"/>
                </a:solidFill>
                <a:latin typeface="Courier New" pitchFamily="49" charset="0"/>
              </a:rPr>
              <a:t>,4($2)</a:t>
            </a:r>
          </a:p>
        </p:txBody>
      </p:sp>
      <p:grpSp>
        <p:nvGrpSpPr>
          <p:cNvPr id="3" name="Group 18"/>
          <p:cNvGrpSpPr>
            <a:grpSpLocks/>
          </p:cNvGrpSpPr>
          <p:nvPr/>
        </p:nvGrpSpPr>
        <p:grpSpPr bwMode="auto">
          <a:xfrm>
            <a:off x="3708400" y="3198810"/>
            <a:ext cx="4800600" cy="2382837"/>
            <a:chOff x="2088" y="659"/>
            <a:chExt cx="3024" cy="2816"/>
          </a:xfrm>
        </p:grpSpPr>
        <p:sp>
          <p:nvSpPr>
            <p:cNvPr id="1274899" name="Line 19"/>
            <p:cNvSpPr>
              <a:spLocks noChangeShapeType="1"/>
            </p:cNvSpPr>
            <p:nvPr/>
          </p:nvSpPr>
          <p:spPr bwMode="auto">
            <a:xfrm>
              <a:off x="2088"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0" name="Line 20"/>
            <p:cNvSpPr>
              <a:spLocks noChangeShapeType="1"/>
            </p:cNvSpPr>
            <p:nvPr/>
          </p:nvSpPr>
          <p:spPr bwMode="auto">
            <a:xfrm>
              <a:off x="2520"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1" name="Line 21"/>
            <p:cNvSpPr>
              <a:spLocks noChangeShapeType="1"/>
            </p:cNvSpPr>
            <p:nvPr/>
          </p:nvSpPr>
          <p:spPr bwMode="auto">
            <a:xfrm>
              <a:off x="2952"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2" name="Line 22"/>
            <p:cNvSpPr>
              <a:spLocks noChangeShapeType="1"/>
            </p:cNvSpPr>
            <p:nvPr/>
          </p:nvSpPr>
          <p:spPr bwMode="auto">
            <a:xfrm>
              <a:off x="3384"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3" name="Line 23"/>
            <p:cNvSpPr>
              <a:spLocks noChangeShapeType="1"/>
            </p:cNvSpPr>
            <p:nvPr/>
          </p:nvSpPr>
          <p:spPr bwMode="auto">
            <a:xfrm>
              <a:off x="3816"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4" name="Line 24"/>
            <p:cNvSpPr>
              <a:spLocks noChangeShapeType="1"/>
            </p:cNvSpPr>
            <p:nvPr/>
          </p:nvSpPr>
          <p:spPr bwMode="auto">
            <a:xfrm>
              <a:off x="4248"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5" name="Line 25"/>
            <p:cNvSpPr>
              <a:spLocks noChangeShapeType="1"/>
            </p:cNvSpPr>
            <p:nvPr/>
          </p:nvSpPr>
          <p:spPr bwMode="auto">
            <a:xfrm>
              <a:off x="4680" y="659"/>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74906" name="Line 26"/>
            <p:cNvSpPr>
              <a:spLocks noChangeShapeType="1"/>
            </p:cNvSpPr>
            <p:nvPr/>
          </p:nvSpPr>
          <p:spPr bwMode="auto">
            <a:xfrm>
              <a:off x="5112" y="659"/>
              <a:ext cx="0" cy="2816"/>
            </a:xfrm>
            <a:prstGeom prst="line">
              <a:avLst/>
            </a:prstGeom>
            <a:noFill/>
            <a:ln w="25400">
              <a:solidFill>
                <a:schemeClr val="tx1"/>
              </a:solidFill>
              <a:prstDash val="sysDot"/>
              <a:round/>
              <a:headEnd/>
              <a:tailEnd/>
            </a:ln>
            <a:effectLst/>
          </p:spPr>
          <p:txBody>
            <a:bodyPr wrap="none" anchor="ctr"/>
            <a:lstStyle/>
            <a:p>
              <a:endParaRPr lang="en-US"/>
            </a:p>
          </p:txBody>
        </p:sp>
      </p:grpSp>
      <p:sp>
        <p:nvSpPr>
          <p:cNvPr id="1274907" name="Line 27"/>
          <p:cNvSpPr>
            <a:spLocks noChangeShapeType="1"/>
          </p:cNvSpPr>
          <p:nvPr/>
        </p:nvSpPr>
        <p:spPr bwMode="auto">
          <a:xfrm>
            <a:off x="685800" y="3219447"/>
            <a:ext cx="0" cy="2514600"/>
          </a:xfrm>
          <a:prstGeom prst="line">
            <a:avLst/>
          </a:prstGeom>
          <a:noFill/>
          <a:ln w="28575">
            <a:solidFill>
              <a:schemeClr val="tx1"/>
            </a:solidFill>
            <a:round/>
            <a:headEnd/>
            <a:tailEnd type="triangle" w="med" len="med"/>
          </a:ln>
          <a:effectLst/>
        </p:spPr>
        <p:txBody>
          <a:bodyPr/>
          <a:lstStyle/>
          <a:p>
            <a:endParaRPr lang="en-US"/>
          </a:p>
        </p:txBody>
      </p:sp>
      <p:grpSp>
        <p:nvGrpSpPr>
          <p:cNvPr id="4" name="Group 28"/>
          <p:cNvGrpSpPr>
            <a:grpSpLocks/>
          </p:cNvGrpSpPr>
          <p:nvPr/>
        </p:nvGrpSpPr>
        <p:grpSpPr bwMode="auto">
          <a:xfrm>
            <a:off x="3136900" y="3448047"/>
            <a:ext cx="3355975" cy="838200"/>
            <a:chOff x="1562" y="1152"/>
            <a:chExt cx="2114" cy="528"/>
          </a:xfrm>
        </p:grpSpPr>
        <p:grpSp>
          <p:nvGrpSpPr>
            <p:cNvPr id="5" name="Group 29"/>
            <p:cNvGrpSpPr>
              <a:grpSpLocks/>
            </p:cNvGrpSpPr>
            <p:nvPr/>
          </p:nvGrpSpPr>
          <p:grpSpPr bwMode="auto">
            <a:xfrm>
              <a:off x="2487" y="1152"/>
              <a:ext cx="223" cy="481"/>
              <a:chOff x="2207" y="1413"/>
              <a:chExt cx="223" cy="481"/>
            </a:xfrm>
          </p:grpSpPr>
          <p:sp>
            <p:nvSpPr>
              <p:cNvPr id="1274910" name="Freeform 3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11" name="Rectangle 3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6" name="Group 32"/>
            <p:cNvGrpSpPr>
              <a:grpSpLocks/>
            </p:cNvGrpSpPr>
            <p:nvPr/>
          </p:nvGrpSpPr>
          <p:grpSpPr bwMode="auto">
            <a:xfrm>
              <a:off x="1562" y="1248"/>
              <a:ext cx="349" cy="289"/>
              <a:chOff x="1282" y="1509"/>
              <a:chExt cx="349" cy="289"/>
            </a:xfrm>
          </p:grpSpPr>
          <p:sp>
            <p:nvSpPr>
              <p:cNvPr id="1274913" name="Rectangle 3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7" name="Group 34"/>
              <p:cNvGrpSpPr>
                <a:grpSpLocks/>
              </p:cNvGrpSpPr>
              <p:nvPr/>
            </p:nvGrpSpPr>
            <p:grpSpPr bwMode="auto">
              <a:xfrm>
                <a:off x="1291" y="1509"/>
                <a:ext cx="340" cy="289"/>
                <a:chOff x="1291" y="1509"/>
                <a:chExt cx="340" cy="289"/>
              </a:xfrm>
            </p:grpSpPr>
            <p:sp>
              <p:nvSpPr>
                <p:cNvPr id="1274915" name="Freeform 3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16" name="Freeform 3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74917" name="Rectangle 3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38"/>
            <p:cNvGrpSpPr>
              <a:grpSpLocks/>
            </p:cNvGrpSpPr>
            <p:nvPr/>
          </p:nvGrpSpPr>
          <p:grpSpPr bwMode="auto">
            <a:xfrm>
              <a:off x="2031" y="1248"/>
              <a:ext cx="296" cy="289"/>
              <a:chOff x="1751" y="1509"/>
              <a:chExt cx="296" cy="289"/>
            </a:xfrm>
          </p:grpSpPr>
          <p:sp>
            <p:nvSpPr>
              <p:cNvPr id="1274919" name="Freeform 3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20" name="Freeform 4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74921" name="Line 4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74922" name="Freeform 4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23" name="Line 4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74924" name="Rectangle 4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9" name="Group 45"/>
            <p:cNvGrpSpPr>
              <a:grpSpLocks/>
            </p:cNvGrpSpPr>
            <p:nvPr/>
          </p:nvGrpSpPr>
          <p:grpSpPr bwMode="auto">
            <a:xfrm>
              <a:off x="2880" y="1248"/>
              <a:ext cx="325" cy="289"/>
              <a:chOff x="2600" y="1509"/>
              <a:chExt cx="325" cy="289"/>
            </a:xfrm>
          </p:grpSpPr>
          <p:sp>
            <p:nvSpPr>
              <p:cNvPr id="1274926" name="Freeform 4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27" name="Freeform 4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74928" name="Rectangle 4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 name="Group 49"/>
            <p:cNvGrpSpPr>
              <a:grpSpLocks/>
            </p:cNvGrpSpPr>
            <p:nvPr/>
          </p:nvGrpSpPr>
          <p:grpSpPr bwMode="auto">
            <a:xfrm>
              <a:off x="3348" y="1248"/>
              <a:ext cx="284" cy="289"/>
              <a:chOff x="3068" y="1509"/>
              <a:chExt cx="284" cy="289"/>
            </a:xfrm>
          </p:grpSpPr>
          <p:sp>
            <p:nvSpPr>
              <p:cNvPr id="1274930" name="Freeform 5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31" name="Freeform 5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74932" name="Line 5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74933" name="Line 5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74934" name="Line 5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74935" name="Line 5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74936" name="Line 5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74937" name="Line 5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74938" name="Line 5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74939" name="Line 5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74940" name="Line 6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74941" name="Rectangle 61"/>
          <p:cNvSpPr>
            <a:spLocks noChangeArrowheads="1"/>
          </p:cNvSpPr>
          <p:nvPr/>
        </p:nvSpPr>
        <p:spPr bwMode="auto">
          <a:xfrm>
            <a:off x="762000" y="4667247"/>
            <a:ext cx="218916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sw </a:t>
            </a:r>
            <a:r>
              <a:rPr lang="en-US" sz="2400" b="1">
                <a:latin typeface="Courier New" pitchFamily="49" charset="0"/>
              </a:rPr>
              <a:t>$1</a:t>
            </a:r>
            <a:r>
              <a:rPr lang="en-US" sz="2400" b="1">
                <a:solidFill>
                  <a:schemeClr val="tx1"/>
                </a:solidFill>
                <a:latin typeface="Courier New" pitchFamily="49" charset="0"/>
              </a:rPr>
              <a:t>,4($3)</a:t>
            </a:r>
          </a:p>
        </p:txBody>
      </p:sp>
      <p:grpSp>
        <p:nvGrpSpPr>
          <p:cNvPr id="11" name="Group 63"/>
          <p:cNvGrpSpPr>
            <a:grpSpLocks/>
          </p:cNvGrpSpPr>
          <p:nvPr/>
        </p:nvGrpSpPr>
        <p:grpSpPr bwMode="auto">
          <a:xfrm>
            <a:off x="3822700" y="4514847"/>
            <a:ext cx="3355975" cy="838200"/>
            <a:chOff x="1562" y="1152"/>
            <a:chExt cx="2114" cy="528"/>
          </a:xfrm>
        </p:grpSpPr>
        <p:grpSp>
          <p:nvGrpSpPr>
            <p:cNvPr id="12" name="Group 64"/>
            <p:cNvGrpSpPr>
              <a:grpSpLocks/>
            </p:cNvGrpSpPr>
            <p:nvPr/>
          </p:nvGrpSpPr>
          <p:grpSpPr bwMode="auto">
            <a:xfrm>
              <a:off x="2487" y="1152"/>
              <a:ext cx="223" cy="481"/>
              <a:chOff x="2207" y="1413"/>
              <a:chExt cx="223" cy="481"/>
            </a:xfrm>
          </p:grpSpPr>
          <p:sp>
            <p:nvSpPr>
              <p:cNvPr id="1274945" name="Freeform 6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46" name="Rectangle 6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3" name="Group 67"/>
            <p:cNvGrpSpPr>
              <a:grpSpLocks/>
            </p:cNvGrpSpPr>
            <p:nvPr/>
          </p:nvGrpSpPr>
          <p:grpSpPr bwMode="auto">
            <a:xfrm>
              <a:off x="1562" y="1248"/>
              <a:ext cx="349" cy="289"/>
              <a:chOff x="1282" y="1509"/>
              <a:chExt cx="349" cy="289"/>
            </a:xfrm>
          </p:grpSpPr>
          <p:sp>
            <p:nvSpPr>
              <p:cNvPr id="1274948" name="Rectangle 6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4" name="Group 69"/>
              <p:cNvGrpSpPr>
                <a:grpSpLocks/>
              </p:cNvGrpSpPr>
              <p:nvPr/>
            </p:nvGrpSpPr>
            <p:grpSpPr bwMode="auto">
              <a:xfrm>
                <a:off x="1291" y="1509"/>
                <a:ext cx="340" cy="289"/>
                <a:chOff x="1291" y="1509"/>
                <a:chExt cx="340" cy="289"/>
              </a:xfrm>
            </p:grpSpPr>
            <p:sp>
              <p:nvSpPr>
                <p:cNvPr id="1274950" name="Freeform 7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51" name="Freeform 7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74952" name="Rectangle 7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3"/>
            <p:cNvGrpSpPr>
              <a:grpSpLocks/>
            </p:cNvGrpSpPr>
            <p:nvPr/>
          </p:nvGrpSpPr>
          <p:grpSpPr bwMode="auto">
            <a:xfrm>
              <a:off x="2031" y="1248"/>
              <a:ext cx="296" cy="289"/>
              <a:chOff x="1751" y="1509"/>
              <a:chExt cx="296" cy="289"/>
            </a:xfrm>
          </p:grpSpPr>
          <p:sp>
            <p:nvSpPr>
              <p:cNvPr id="1274954" name="Freeform 7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55" name="Freeform 7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74956" name="Line 7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74957" name="Freeform 7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58" name="Line 7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74959" name="Rectangle 7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6" name="Group 80"/>
            <p:cNvGrpSpPr>
              <a:grpSpLocks/>
            </p:cNvGrpSpPr>
            <p:nvPr/>
          </p:nvGrpSpPr>
          <p:grpSpPr bwMode="auto">
            <a:xfrm>
              <a:off x="2880" y="1248"/>
              <a:ext cx="325" cy="289"/>
              <a:chOff x="2600" y="1509"/>
              <a:chExt cx="325" cy="289"/>
            </a:xfrm>
          </p:grpSpPr>
          <p:sp>
            <p:nvSpPr>
              <p:cNvPr id="1274961" name="Freeform 8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62" name="Freeform 8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74963" name="Rectangle 8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7" name="Group 84"/>
            <p:cNvGrpSpPr>
              <a:grpSpLocks/>
            </p:cNvGrpSpPr>
            <p:nvPr/>
          </p:nvGrpSpPr>
          <p:grpSpPr bwMode="auto">
            <a:xfrm>
              <a:off x="3348" y="1248"/>
              <a:ext cx="284" cy="289"/>
              <a:chOff x="3068" y="1509"/>
              <a:chExt cx="284" cy="289"/>
            </a:xfrm>
          </p:grpSpPr>
          <p:sp>
            <p:nvSpPr>
              <p:cNvPr id="1274965" name="Freeform 8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74966" name="Freeform 8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74967" name="Line 8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74968" name="Line 8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74969" name="Line 8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74970" name="Line 9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74971" name="Line 9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74972" name="Line 9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74973" name="Line 9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74974" name="Line 9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74975" name="Line 9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75009" name="Rectangle 129"/>
          <p:cNvSpPr>
            <a:spLocks noGrp="1" noChangeArrowheads="1"/>
          </p:cNvSpPr>
          <p:nvPr>
            <p:ph type="body" idx="1"/>
          </p:nvPr>
        </p:nvSpPr>
        <p:spPr>
          <a:xfrm>
            <a:off x="381000" y="838200"/>
            <a:ext cx="8153400" cy="1528624"/>
          </a:xfrm>
          <a:noFill/>
          <a:ln/>
        </p:spPr>
        <p:txBody>
          <a:bodyPr/>
          <a:lstStyle/>
          <a:p>
            <a:pPr marL="342900" indent="-342900">
              <a:lnSpc>
                <a:spcPct val="100000"/>
              </a:lnSpc>
              <a:spcBef>
                <a:spcPct val="30000"/>
              </a:spcBef>
            </a:pPr>
            <a:r>
              <a:rPr lang="en-US" dirty="0"/>
              <a:t>For loads immediately followed by stores (memory-to-memory copies) can avoid a stall by adding forwarding hardware from the MEM/WB register to the data memory input.</a:t>
            </a:r>
          </a:p>
        </p:txBody>
      </p:sp>
    </p:spTree>
    <p:extLst>
      <p:ext uri="{BB962C8B-B14F-4D97-AF65-F5344CB8AC3E}">
        <p14:creationId xmlns:p14="http://schemas.microsoft.com/office/powerpoint/2010/main" val="141204762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8269" name="Rectangle 13"/>
          <p:cNvSpPr>
            <a:spLocks noGrp="1" noChangeArrowheads="1"/>
          </p:cNvSpPr>
          <p:nvPr>
            <p:ph type="title"/>
          </p:nvPr>
        </p:nvSpPr>
        <p:spPr>
          <a:xfrm>
            <a:off x="652463" y="304800"/>
            <a:ext cx="6911975" cy="422275"/>
          </a:xfrm>
          <a:noFill/>
          <a:ln/>
        </p:spPr>
        <p:txBody>
          <a:bodyPr wrap="none"/>
          <a:lstStyle/>
          <a:p>
            <a:r>
              <a:rPr lang="en-US"/>
              <a:t>Forwarding with Load-use Data Hazards</a:t>
            </a:r>
          </a:p>
        </p:txBody>
      </p:sp>
      <p:sp>
        <p:nvSpPr>
          <p:cNvPr id="1248270" name="Rectangle 14"/>
          <p:cNvSpPr>
            <a:spLocks noChangeArrowheads="1"/>
          </p:cNvSpPr>
          <p:nvPr/>
        </p:nvSpPr>
        <p:spPr bwMode="auto">
          <a:xfrm>
            <a:off x="228600" y="1393825"/>
            <a:ext cx="358775" cy="3109913"/>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48271" name="Line 15"/>
          <p:cNvSpPr>
            <a:spLocks noChangeShapeType="1"/>
          </p:cNvSpPr>
          <p:nvPr/>
        </p:nvSpPr>
        <p:spPr bwMode="auto">
          <a:xfrm>
            <a:off x="2133600" y="9144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48272" name="Rectangle 16"/>
          <p:cNvSpPr>
            <a:spLocks noChangeArrowheads="1"/>
          </p:cNvSpPr>
          <p:nvPr/>
        </p:nvSpPr>
        <p:spPr bwMode="auto">
          <a:xfrm>
            <a:off x="661988" y="1320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  </a:t>
            </a:r>
            <a:r>
              <a:rPr lang="en-US" sz="2400" b="1">
                <a:latin typeface="Courier New" pitchFamily="49" charset="0"/>
              </a:rPr>
              <a:t>$1</a:t>
            </a:r>
            <a:r>
              <a:rPr lang="en-US" sz="2400" b="1">
                <a:solidFill>
                  <a:schemeClr val="tx1"/>
                </a:solidFill>
                <a:latin typeface="Courier New" pitchFamily="49" charset="0"/>
              </a:rPr>
              <a:t>,4($2)</a:t>
            </a:r>
          </a:p>
        </p:txBody>
      </p:sp>
      <p:grpSp>
        <p:nvGrpSpPr>
          <p:cNvPr id="2" name="Group 202"/>
          <p:cNvGrpSpPr>
            <a:grpSpLocks/>
          </p:cNvGrpSpPr>
          <p:nvPr/>
        </p:nvGrpSpPr>
        <p:grpSpPr bwMode="auto">
          <a:xfrm>
            <a:off x="3314700" y="914400"/>
            <a:ext cx="4800600" cy="5207000"/>
            <a:chOff x="2088" y="656"/>
            <a:chExt cx="3024" cy="2816"/>
          </a:xfrm>
        </p:grpSpPr>
        <p:sp>
          <p:nvSpPr>
            <p:cNvPr id="1248276" name="Line 20"/>
            <p:cNvSpPr>
              <a:spLocks noChangeShapeType="1"/>
            </p:cNvSpPr>
            <p:nvPr/>
          </p:nvSpPr>
          <p:spPr bwMode="auto">
            <a:xfrm>
              <a:off x="2088"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77" name="Line 21"/>
            <p:cNvSpPr>
              <a:spLocks noChangeShapeType="1"/>
            </p:cNvSpPr>
            <p:nvPr/>
          </p:nvSpPr>
          <p:spPr bwMode="auto">
            <a:xfrm>
              <a:off x="2520"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78" name="Line 22"/>
            <p:cNvSpPr>
              <a:spLocks noChangeShapeType="1"/>
            </p:cNvSpPr>
            <p:nvPr/>
          </p:nvSpPr>
          <p:spPr bwMode="auto">
            <a:xfrm>
              <a:off x="2952"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79" name="Line 23"/>
            <p:cNvSpPr>
              <a:spLocks noChangeShapeType="1"/>
            </p:cNvSpPr>
            <p:nvPr/>
          </p:nvSpPr>
          <p:spPr bwMode="auto">
            <a:xfrm>
              <a:off x="3384"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80" name="Line 24"/>
            <p:cNvSpPr>
              <a:spLocks noChangeShapeType="1"/>
            </p:cNvSpPr>
            <p:nvPr/>
          </p:nvSpPr>
          <p:spPr bwMode="auto">
            <a:xfrm>
              <a:off x="3816"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81" name="Line 25"/>
            <p:cNvSpPr>
              <a:spLocks noChangeShapeType="1"/>
            </p:cNvSpPr>
            <p:nvPr/>
          </p:nvSpPr>
          <p:spPr bwMode="auto">
            <a:xfrm>
              <a:off x="4248"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82" name="Line 26"/>
            <p:cNvSpPr>
              <a:spLocks noChangeShapeType="1"/>
            </p:cNvSpPr>
            <p:nvPr/>
          </p:nvSpPr>
          <p:spPr bwMode="auto">
            <a:xfrm>
              <a:off x="4680"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48283" name="Line 27"/>
            <p:cNvSpPr>
              <a:spLocks noChangeShapeType="1"/>
            </p:cNvSpPr>
            <p:nvPr/>
          </p:nvSpPr>
          <p:spPr bwMode="auto">
            <a:xfrm>
              <a:off x="5112" y="656"/>
              <a:ext cx="0" cy="2816"/>
            </a:xfrm>
            <a:prstGeom prst="line">
              <a:avLst/>
            </a:prstGeom>
            <a:noFill/>
            <a:ln w="25400">
              <a:solidFill>
                <a:schemeClr val="tx1"/>
              </a:solidFill>
              <a:prstDash val="sysDot"/>
              <a:round/>
              <a:headEnd/>
              <a:tailEnd/>
            </a:ln>
            <a:effectLst/>
          </p:spPr>
          <p:txBody>
            <a:bodyPr wrap="none" anchor="ctr"/>
            <a:lstStyle/>
            <a:p>
              <a:endParaRPr lang="en-US"/>
            </a:p>
          </p:txBody>
        </p:sp>
      </p:grpSp>
      <p:grpSp>
        <p:nvGrpSpPr>
          <p:cNvPr id="3" name="Group 248"/>
          <p:cNvGrpSpPr>
            <a:grpSpLocks/>
          </p:cNvGrpSpPr>
          <p:nvPr/>
        </p:nvGrpSpPr>
        <p:grpSpPr bwMode="auto">
          <a:xfrm>
            <a:off x="661988" y="2895600"/>
            <a:ext cx="2371725" cy="2163763"/>
            <a:chOff x="480" y="2299"/>
            <a:chExt cx="1494" cy="1363"/>
          </a:xfrm>
        </p:grpSpPr>
        <p:sp>
          <p:nvSpPr>
            <p:cNvPr id="1248274" name="Rectangle 18"/>
            <p:cNvSpPr>
              <a:spLocks noChangeArrowheads="1"/>
            </p:cNvSpPr>
            <p:nvPr/>
          </p:nvSpPr>
          <p:spPr bwMode="auto">
            <a:xfrm>
              <a:off x="480" y="2299"/>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solidFill>
                    <a:srgbClr val="009900"/>
                  </a:solidFill>
                  <a:latin typeface="Courier New" pitchFamily="49" charset="0"/>
                </a:rPr>
                <a:t>$1</a:t>
              </a:r>
              <a:r>
                <a:rPr lang="en-US" sz="2400" b="1">
                  <a:solidFill>
                    <a:schemeClr val="tx1"/>
                  </a:solidFill>
                  <a:latin typeface="Courier New" pitchFamily="49" charset="0"/>
                </a:rPr>
                <a:t>,$7</a:t>
              </a:r>
            </a:p>
          </p:txBody>
        </p:sp>
        <p:sp>
          <p:nvSpPr>
            <p:cNvPr id="1248275" name="Rectangle 19"/>
            <p:cNvSpPr>
              <a:spLocks noChangeArrowheads="1"/>
            </p:cNvSpPr>
            <p:nvPr/>
          </p:nvSpPr>
          <p:spPr bwMode="auto">
            <a:xfrm>
              <a:off x="480" y="3376"/>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48284" name="Rectangle 28"/>
            <p:cNvSpPr>
              <a:spLocks noChangeArrowheads="1"/>
            </p:cNvSpPr>
            <p:nvPr/>
          </p:nvSpPr>
          <p:spPr bwMode="auto">
            <a:xfrm>
              <a:off x="480" y="2827"/>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grpSp>
      <p:sp>
        <p:nvSpPr>
          <p:cNvPr id="1248285" name="Line 29"/>
          <p:cNvSpPr>
            <a:spLocks noChangeShapeType="1"/>
          </p:cNvSpPr>
          <p:nvPr/>
        </p:nvSpPr>
        <p:spPr bwMode="auto">
          <a:xfrm>
            <a:off x="585788" y="1316038"/>
            <a:ext cx="0" cy="4805362"/>
          </a:xfrm>
          <a:prstGeom prst="line">
            <a:avLst/>
          </a:prstGeom>
          <a:noFill/>
          <a:ln w="28575">
            <a:solidFill>
              <a:schemeClr val="tx1"/>
            </a:solidFill>
            <a:round/>
            <a:headEnd/>
            <a:tailEnd type="triangle" w="med" len="med"/>
          </a:ln>
          <a:effectLst/>
        </p:spPr>
        <p:txBody>
          <a:bodyPr/>
          <a:lstStyle/>
          <a:p>
            <a:endParaRPr lang="en-US"/>
          </a:p>
        </p:txBody>
      </p:sp>
      <p:grpSp>
        <p:nvGrpSpPr>
          <p:cNvPr id="4" name="Group 30"/>
          <p:cNvGrpSpPr>
            <a:grpSpLocks/>
          </p:cNvGrpSpPr>
          <p:nvPr/>
        </p:nvGrpSpPr>
        <p:grpSpPr bwMode="auto">
          <a:xfrm>
            <a:off x="2743200" y="1092200"/>
            <a:ext cx="3355975" cy="838200"/>
            <a:chOff x="1562" y="1152"/>
            <a:chExt cx="2114" cy="528"/>
          </a:xfrm>
        </p:grpSpPr>
        <p:grpSp>
          <p:nvGrpSpPr>
            <p:cNvPr id="5" name="Group 31"/>
            <p:cNvGrpSpPr>
              <a:grpSpLocks/>
            </p:cNvGrpSpPr>
            <p:nvPr/>
          </p:nvGrpSpPr>
          <p:grpSpPr bwMode="auto">
            <a:xfrm>
              <a:off x="2487" y="1152"/>
              <a:ext cx="223" cy="481"/>
              <a:chOff x="2207" y="1413"/>
              <a:chExt cx="223" cy="481"/>
            </a:xfrm>
          </p:grpSpPr>
          <p:sp>
            <p:nvSpPr>
              <p:cNvPr id="1248288" name="Freeform 3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289" name="Rectangle 3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6" name="Group 34"/>
            <p:cNvGrpSpPr>
              <a:grpSpLocks/>
            </p:cNvGrpSpPr>
            <p:nvPr/>
          </p:nvGrpSpPr>
          <p:grpSpPr bwMode="auto">
            <a:xfrm>
              <a:off x="1562" y="1248"/>
              <a:ext cx="349" cy="289"/>
              <a:chOff x="1282" y="1509"/>
              <a:chExt cx="349" cy="289"/>
            </a:xfrm>
          </p:grpSpPr>
          <p:sp>
            <p:nvSpPr>
              <p:cNvPr id="1248291" name="Rectangle 3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7" name="Group 36"/>
              <p:cNvGrpSpPr>
                <a:grpSpLocks/>
              </p:cNvGrpSpPr>
              <p:nvPr/>
            </p:nvGrpSpPr>
            <p:grpSpPr bwMode="auto">
              <a:xfrm>
                <a:off x="1291" y="1509"/>
                <a:ext cx="340" cy="289"/>
                <a:chOff x="1291" y="1509"/>
                <a:chExt cx="340" cy="289"/>
              </a:xfrm>
            </p:grpSpPr>
            <p:sp>
              <p:nvSpPr>
                <p:cNvPr id="1248293" name="Freeform 3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294" name="Freeform 3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8295" name="Rectangle 3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8" name="Group 40"/>
            <p:cNvGrpSpPr>
              <a:grpSpLocks/>
            </p:cNvGrpSpPr>
            <p:nvPr/>
          </p:nvGrpSpPr>
          <p:grpSpPr bwMode="auto">
            <a:xfrm>
              <a:off x="2031" y="1248"/>
              <a:ext cx="296" cy="289"/>
              <a:chOff x="1751" y="1509"/>
              <a:chExt cx="296" cy="289"/>
            </a:xfrm>
          </p:grpSpPr>
          <p:sp>
            <p:nvSpPr>
              <p:cNvPr id="1248297" name="Freeform 4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298" name="Freeform 4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299" name="Line 4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8300" name="Freeform 4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01" name="Line 4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8302" name="Rectangle 4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9" name="Group 47"/>
            <p:cNvGrpSpPr>
              <a:grpSpLocks/>
            </p:cNvGrpSpPr>
            <p:nvPr/>
          </p:nvGrpSpPr>
          <p:grpSpPr bwMode="auto">
            <a:xfrm>
              <a:off x="2880" y="1248"/>
              <a:ext cx="325" cy="289"/>
              <a:chOff x="2600" y="1509"/>
              <a:chExt cx="325" cy="289"/>
            </a:xfrm>
          </p:grpSpPr>
          <p:sp>
            <p:nvSpPr>
              <p:cNvPr id="1248304" name="Freeform 4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05" name="Freeform 4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06" name="Rectangle 5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 name="Group 51"/>
            <p:cNvGrpSpPr>
              <a:grpSpLocks/>
            </p:cNvGrpSpPr>
            <p:nvPr/>
          </p:nvGrpSpPr>
          <p:grpSpPr bwMode="auto">
            <a:xfrm>
              <a:off x="3348" y="1248"/>
              <a:ext cx="284" cy="289"/>
              <a:chOff x="3068" y="1509"/>
              <a:chExt cx="284" cy="289"/>
            </a:xfrm>
          </p:grpSpPr>
          <p:sp>
            <p:nvSpPr>
              <p:cNvPr id="1248308" name="Freeform 5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09" name="Freeform 5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10" name="Line 5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8311" name="Line 5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8312" name="Line 5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8313" name="Line 5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8314" name="Line 5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8315" name="Line 5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8316" name="Line 6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8317" name="Line 6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8318" name="Line 6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1" name="Group 253"/>
          <p:cNvGrpSpPr>
            <a:grpSpLocks/>
          </p:cNvGrpSpPr>
          <p:nvPr/>
        </p:nvGrpSpPr>
        <p:grpSpPr bwMode="auto">
          <a:xfrm>
            <a:off x="6172200" y="5334000"/>
            <a:ext cx="2822575" cy="838200"/>
            <a:chOff x="3888" y="3328"/>
            <a:chExt cx="1778" cy="528"/>
          </a:xfrm>
        </p:grpSpPr>
        <p:grpSp>
          <p:nvGrpSpPr>
            <p:cNvPr id="12" name="Group 64"/>
            <p:cNvGrpSpPr>
              <a:grpSpLocks/>
            </p:cNvGrpSpPr>
            <p:nvPr/>
          </p:nvGrpSpPr>
          <p:grpSpPr bwMode="auto">
            <a:xfrm>
              <a:off x="4813" y="3328"/>
              <a:ext cx="223" cy="481"/>
              <a:chOff x="2207" y="1413"/>
              <a:chExt cx="223" cy="481"/>
            </a:xfrm>
          </p:grpSpPr>
          <p:sp>
            <p:nvSpPr>
              <p:cNvPr id="1248321" name="Freeform 6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22" name="Rectangle 6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3" name="Group 67"/>
            <p:cNvGrpSpPr>
              <a:grpSpLocks/>
            </p:cNvGrpSpPr>
            <p:nvPr/>
          </p:nvGrpSpPr>
          <p:grpSpPr bwMode="auto">
            <a:xfrm>
              <a:off x="3888" y="3424"/>
              <a:ext cx="349" cy="289"/>
              <a:chOff x="1282" y="1509"/>
              <a:chExt cx="349" cy="289"/>
            </a:xfrm>
          </p:grpSpPr>
          <p:sp>
            <p:nvSpPr>
              <p:cNvPr id="1248324" name="Rectangle 6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4" name="Group 69"/>
              <p:cNvGrpSpPr>
                <a:grpSpLocks/>
              </p:cNvGrpSpPr>
              <p:nvPr/>
            </p:nvGrpSpPr>
            <p:grpSpPr bwMode="auto">
              <a:xfrm>
                <a:off x="1291" y="1509"/>
                <a:ext cx="340" cy="289"/>
                <a:chOff x="1291" y="1509"/>
                <a:chExt cx="340" cy="289"/>
              </a:xfrm>
            </p:grpSpPr>
            <p:sp>
              <p:nvSpPr>
                <p:cNvPr id="1248326" name="Freeform 7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27" name="Freeform 7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8328" name="Rectangle 72"/>
            <p:cNvSpPr>
              <a:spLocks noChangeArrowheads="1"/>
            </p:cNvSpPr>
            <p:nvPr/>
          </p:nvSpPr>
          <p:spPr bwMode="auto">
            <a:xfrm>
              <a:off x="4338" y="3431"/>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5" name="Group 73"/>
            <p:cNvGrpSpPr>
              <a:grpSpLocks/>
            </p:cNvGrpSpPr>
            <p:nvPr/>
          </p:nvGrpSpPr>
          <p:grpSpPr bwMode="auto">
            <a:xfrm>
              <a:off x="4368" y="3408"/>
              <a:ext cx="296" cy="289"/>
              <a:chOff x="1751" y="1509"/>
              <a:chExt cx="296" cy="289"/>
            </a:xfrm>
          </p:grpSpPr>
          <p:sp>
            <p:nvSpPr>
              <p:cNvPr id="1248330" name="Freeform 7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31" name="Freeform 7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32" name="Line 76"/>
            <p:cNvSpPr>
              <a:spLocks noChangeShapeType="1"/>
            </p:cNvSpPr>
            <p:nvPr/>
          </p:nvSpPr>
          <p:spPr bwMode="auto">
            <a:xfrm>
              <a:off x="4242" y="3568"/>
              <a:ext cx="116" cy="0"/>
            </a:xfrm>
            <a:prstGeom prst="line">
              <a:avLst/>
            </a:prstGeom>
            <a:noFill/>
            <a:ln w="25400">
              <a:solidFill>
                <a:schemeClr val="tx1"/>
              </a:solidFill>
              <a:round/>
              <a:headEnd/>
              <a:tailEnd/>
            </a:ln>
            <a:effectLst/>
          </p:spPr>
          <p:txBody>
            <a:bodyPr wrap="none" anchor="ctr"/>
            <a:lstStyle/>
            <a:p>
              <a:endParaRPr lang="en-US"/>
            </a:p>
          </p:txBody>
        </p:sp>
        <p:sp>
          <p:nvSpPr>
            <p:cNvPr id="1248333" name="Freeform 77"/>
            <p:cNvSpPr>
              <a:spLocks/>
            </p:cNvSpPr>
            <p:nvPr/>
          </p:nvSpPr>
          <p:spPr bwMode="auto">
            <a:xfrm>
              <a:off x="4310" y="3472"/>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34" name="Line 78"/>
            <p:cNvSpPr>
              <a:spLocks noChangeShapeType="1"/>
            </p:cNvSpPr>
            <p:nvPr/>
          </p:nvSpPr>
          <p:spPr bwMode="auto">
            <a:xfrm>
              <a:off x="4658" y="3472"/>
              <a:ext cx="157" cy="0"/>
            </a:xfrm>
            <a:prstGeom prst="line">
              <a:avLst/>
            </a:prstGeom>
            <a:noFill/>
            <a:ln w="25400">
              <a:solidFill>
                <a:schemeClr val="tx1"/>
              </a:solidFill>
              <a:round/>
              <a:headEnd/>
              <a:tailEnd/>
            </a:ln>
            <a:effectLst/>
          </p:spPr>
          <p:txBody>
            <a:bodyPr wrap="none" anchor="ctr"/>
            <a:lstStyle/>
            <a:p>
              <a:endParaRPr lang="en-US"/>
            </a:p>
          </p:txBody>
        </p:sp>
        <p:sp>
          <p:nvSpPr>
            <p:cNvPr id="1248335" name="Rectangle 79"/>
            <p:cNvSpPr>
              <a:spLocks noChangeArrowheads="1"/>
            </p:cNvSpPr>
            <p:nvPr/>
          </p:nvSpPr>
          <p:spPr bwMode="auto">
            <a:xfrm>
              <a:off x="5155" y="3426"/>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6" name="Group 80"/>
            <p:cNvGrpSpPr>
              <a:grpSpLocks/>
            </p:cNvGrpSpPr>
            <p:nvPr/>
          </p:nvGrpSpPr>
          <p:grpSpPr bwMode="auto">
            <a:xfrm>
              <a:off x="5206" y="3424"/>
              <a:ext cx="325" cy="289"/>
              <a:chOff x="2600" y="1509"/>
              <a:chExt cx="325" cy="289"/>
            </a:xfrm>
          </p:grpSpPr>
          <p:sp>
            <p:nvSpPr>
              <p:cNvPr id="1248337" name="Freeform 8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38" name="Freeform 8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43" name="Line 87"/>
            <p:cNvSpPr>
              <a:spLocks noChangeShapeType="1"/>
            </p:cNvSpPr>
            <p:nvPr/>
          </p:nvSpPr>
          <p:spPr bwMode="auto">
            <a:xfrm>
              <a:off x="5527" y="3568"/>
              <a:ext cx="139" cy="0"/>
            </a:xfrm>
            <a:prstGeom prst="line">
              <a:avLst/>
            </a:prstGeom>
            <a:noFill/>
            <a:ln w="25400">
              <a:solidFill>
                <a:schemeClr val="tx1"/>
              </a:solidFill>
              <a:round/>
              <a:headEnd/>
              <a:tailEnd/>
            </a:ln>
            <a:effectLst/>
          </p:spPr>
          <p:txBody>
            <a:bodyPr wrap="none" anchor="ctr"/>
            <a:lstStyle/>
            <a:p>
              <a:endParaRPr lang="en-US"/>
            </a:p>
          </p:txBody>
        </p:sp>
        <p:sp>
          <p:nvSpPr>
            <p:cNvPr id="1248344" name="Line 88"/>
            <p:cNvSpPr>
              <a:spLocks noChangeShapeType="1"/>
            </p:cNvSpPr>
            <p:nvPr/>
          </p:nvSpPr>
          <p:spPr bwMode="auto">
            <a:xfrm>
              <a:off x="5043" y="3568"/>
              <a:ext cx="155" cy="0"/>
            </a:xfrm>
            <a:prstGeom prst="line">
              <a:avLst/>
            </a:prstGeom>
            <a:noFill/>
            <a:ln w="25400">
              <a:solidFill>
                <a:schemeClr val="tx1"/>
              </a:solidFill>
              <a:round/>
              <a:headEnd/>
              <a:tailEnd/>
            </a:ln>
            <a:effectLst/>
          </p:spPr>
          <p:txBody>
            <a:bodyPr wrap="none" anchor="ctr"/>
            <a:lstStyle/>
            <a:p>
              <a:endParaRPr lang="en-US"/>
            </a:p>
          </p:txBody>
        </p:sp>
        <p:sp>
          <p:nvSpPr>
            <p:cNvPr id="1248345" name="Line 89"/>
            <p:cNvSpPr>
              <a:spLocks noChangeShapeType="1"/>
            </p:cNvSpPr>
            <p:nvPr/>
          </p:nvSpPr>
          <p:spPr bwMode="auto">
            <a:xfrm>
              <a:off x="4658" y="3664"/>
              <a:ext cx="157" cy="0"/>
            </a:xfrm>
            <a:prstGeom prst="line">
              <a:avLst/>
            </a:prstGeom>
            <a:noFill/>
            <a:ln w="25400">
              <a:solidFill>
                <a:schemeClr val="tx1"/>
              </a:solidFill>
              <a:round/>
              <a:headEnd/>
              <a:tailEnd/>
            </a:ln>
            <a:effectLst/>
          </p:spPr>
          <p:txBody>
            <a:bodyPr wrap="none" anchor="ctr"/>
            <a:lstStyle/>
            <a:p>
              <a:endParaRPr lang="en-US"/>
            </a:p>
          </p:txBody>
        </p:sp>
        <p:sp>
          <p:nvSpPr>
            <p:cNvPr id="1248346" name="Line 90"/>
            <p:cNvSpPr>
              <a:spLocks noChangeShapeType="1"/>
            </p:cNvSpPr>
            <p:nvPr/>
          </p:nvSpPr>
          <p:spPr bwMode="auto">
            <a:xfrm>
              <a:off x="4742" y="3664"/>
              <a:ext cx="0" cy="192"/>
            </a:xfrm>
            <a:prstGeom prst="line">
              <a:avLst/>
            </a:prstGeom>
            <a:noFill/>
            <a:ln w="28575">
              <a:solidFill>
                <a:schemeClr val="tx1"/>
              </a:solidFill>
              <a:round/>
              <a:headEnd/>
              <a:tailEnd/>
            </a:ln>
            <a:effectLst/>
          </p:spPr>
          <p:txBody>
            <a:bodyPr/>
            <a:lstStyle/>
            <a:p>
              <a:endParaRPr lang="en-US"/>
            </a:p>
          </p:txBody>
        </p:sp>
        <p:sp>
          <p:nvSpPr>
            <p:cNvPr id="1248347" name="Line 91"/>
            <p:cNvSpPr>
              <a:spLocks noChangeShapeType="1"/>
            </p:cNvSpPr>
            <p:nvPr/>
          </p:nvSpPr>
          <p:spPr bwMode="auto">
            <a:xfrm>
              <a:off x="4742" y="3856"/>
              <a:ext cx="336" cy="0"/>
            </a:xfrm>
            <a:prstGeom prst="line">
              <a:avLst/>
            </a:prstGeom>
            <a:noFill/>
            <a:ln w="28575">
              <a:solidFill>
                <a:schemeClr val="tx1"/>
              </a:solidFill>
              <a:round/>
              <a:headEnd/>
              <a:tailEnd/>
            </a:ln>
            <a:effectLst/>
          </p:spPr>
          <p:txBody>
            <a:bodyPr/>
            <a:lstStyle/>
            <a:p>
              <a:endParaRPr lang="en-US"/>
            </a:p>
          </p:txBody>
        </p:sp>
        <p:sp>
          <p:nvSpPr>
            <p:cNvPr id="1248348" name="Line 92"/>
            <p:cNvSpPr>
              <a:spLocks noChangeShapeType="1"/>
            </p:cNvSpPr>
            <p:nvPr/>
          </p:nvSpPr>
          <p:spPr bwMode="auto">
            <a:xfrm>
              <a:off x="5078" y="3568"/>
              <a:ext cx="0" cy="288"/>
            </a:xfrm>
            <a:prstGeom prst="line">
              <a:avLst/>
            </a:prstGeom>
            <a:noFill/>
            <a:ln w="28575">
              <a:solidFill>
                <a:schemeClr val="tx1"/>
              </a:solidFill>
              <a:round/>
              <a:headEnd/>
              <a:tailEnd/>
            </a:ln>
            <a:effectLst/>
          </p:spPr>
          <p:txBody>
            <a:bodyPr/>
            <a:lstStyle/>
            <a:p>
              <a:endParaRPr lang="en-US"/>
            </a:p>
          </p:txBody>
        </p:sp>
        <p:sp>
          <p:nvSpPr>
            <p:cNvPr id="1248349" name="Line 93"/>
            <p:cNvSpPr>
              <a:spLocks noChangeShapeType="1"/>
            </p:cNvSpPr>
            <p:nvPr/>
          </p:nvSpPr>
          <p:spPr bwMode="auto">
            <a:xfrm flipH="1">
              <a:off x="5158" y="3568"/>
              <a:ext cx="0" cy="240"/>
            </a:xfrm>
            <a:prstGeom prst="line">
              <a:avLst/>
            </a:prstGeom>
            <a:noFill/>
            <a:ln w="28575">
              <a:solidFill>
                <a:schemeClr val="tx1"/>
              </a:solidFill>
              <a:round/>
              <a:headEnd/>
              <a:tailEnd/>
            </a:ln>
            <a:effectLst/>
          </p:spPr>
          <p:txBody>
            <a:bodyPr/>
            <a:lstStyle/>
            <a:p>
              <a:endParaRPr lang="en-US"/>
            </a:p>
          </p:txBody>
        </p:sp>
        <p:sp>
          <p:nvSpPr>
            <p:cNvPr id="1248350" name="Line 94"/>
            <p:cNvSpPr>
              <a:spLocks noChangeShapeType="1"/>
            </p:cNvSpPr>
            <p:nvPr/>
          </p:nvSpPr>
          <p:spPr bwMode="auto">
            <a:xfrm>
              <a:off x="5158" y="3808"/>
              <a:ext cx="432" cy="0"/>
            </a:xfrm>
            <a:prstGeom prst="line">
              <a:avLst/>
            </a:prstGeom>
            <a:noFill/>
            <a:ln w="28575">
              <a:solidFill>
                <a:schemeClr val="tx1"/>
              </a:solidFill>
              <a:round/>
              <a:headEnd/>
              <a:tailEnd/>
            </a:ln>
            <a:effectLst/>
          </p:spPr>
          <p:txBody>
            <a:bodyPr/>
            <a:lstStyle/>
            <a:p>
              <a:endParaRPr lang="en-US"/>
            </a:p>
          </p:txBody>
        </p:sp>
        <p:sp>
          <p:nvSpPr>
            <p:cNvPr id="1248351" name="Line 95"/>
            <p:cNvSpPr>
              <a:spLocks noChangeShapeType="1"/>
            </p:cNvSpPr>
            <p:nvPr/>
          </p:nvSpPr>
          <p:spPr bwMode="auto">
            <a:xfrm>
              <a:off x="5590" y="3568"/>
              <a:ext cx="0" cy="240"/>
            </a:xfrm>
            <a:prstGeom prst="line">
              <a:avLst/>
            </a:prstGeom>
            <a:noFill/>
            <a:ln w="28575">
              <a:solidFill>
                <a:schemeClr val="tx1"/>
              </a:solidFill>
              <a:round/>
              <a:headEnd/>
              <a:tailEnd/>
            </a:ln>
            <a:effectLst/>
          </p:spPr>
          <p:txBody>
            <a:bodyPr/>
            <a:lstStyle/>
            <a:p>
              <a:endParaRPr lang="en-US"/>
            </a:p>
          </p:txBody>
        </p:sp>
      </p:grpSp>
      <p:grpSp>
        <p:nvGrpSpPr>
          <p:cNvPr id="17" name="Group 96"/>
          <p:cNvGrpSpPr>
            <a:grpSpLocks/>
          </p:cNvGrpSpPr>
          <p:nvPr/>
        </p:nvGrpSpPr>
        <p:grpSpPr bwMode="auto">
          <a:xfrm>
            <a:off x="4114800" y="2667000"/>
            <a:ext cx="3355975" cy="838200"/>
            <a:chOff x="1562" y="1152"/>
            <a:chExt cx="2114" cy="528"/>
          </a:xfrm>
        </p:grpSpPr>
        <p:grpSp>
          <p:nvGrpSpPr>
            <p:cNvPr id="18" name="Group 97"/>
            <p:cNvGrpSpPr>
              <a:grpSpLocks/>
            </p:cNvGrpSpPr>
            <p:nvPr/>
          </p:nvGrpSpPr>
          <p:grpSpPr bwMode="auto">
            <a:xfrm>
              <a:off x="2487" y="1152"/>
              <a:ext cx="223" cy="481"/>
              <a:chOff x="2207" y="1413"/>
              <a:chExt cx="223" cy="481"/>
            </a:xfrm>
          </p:grpSpPr>
          <p:sp>
            <p:nvSpPr>
              <p:cNvPr id="1248354" name="Freeform 98"/>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55" name="Rectangle 99"/>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9" name="Group 100"/>
            <p:cNvGrpSpPr>
              <a:grpSpLocks/>
            </p:cNvGrpSpPr>
            <p:nvPr/>
          </p:nvGrpSpPr>
          <p:grpSpPr bwMode="auto">
            <a:xfrm>
              <a:off x="1562" y="1248"/>
              <a:ext cx="349" cy="289"/>
              <a:chOff x="1282" y="1509"/>
              <a:chExt cx="349" cy="289"/>
            </a:xfrm>
          </p:grpSpPr>
          <p:sp>
            <p:nvSpPr>
              <p:cNvPr id="1248357" name="Rectangle 101"/>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0" name="Group 102"/>
              <p:cNvGrpSpPr>
                <a:grpSpLocks/>
              </p:cNvGrpSpPr>
              <p:nvPr/>
            </p:nvGrpSpPr>
            <p:grpSpPr bwMode="auto">
              <a:xfrm>
                <a:off x="1291" y="1509"/>
                <a:ext cx="340" cy="289"/>
                <a:chOff x="1291" y="1509"/>
                <a:chExt cx="340" cy="289"/>
              </a:xfrm>
            </p:grpSpPr>
            <p:sp>
              <p:nvSpPr>
                <p:cNvPr id="1248359" name="Freeform 103"/>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60" name="Freeform 104"/>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8361" name="Rectangle 105"/>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1" name="Group 106"/>
            <p:cNvGrpSpPr>
              <a:grpSpLocks/>
            </p:cNvGrpSpPr>
            <p:nvPr/>
          </p:nvGrpSpPr>
          <p:grpSpPr bwMode="auto">
            <a:xfrm>
              <a:off x="2031" y="1248"/>
              <a:ext cx="296" cy="289"/>
              <a:chOff x="1751" y="1509"/>
              <a:chExt cx="296" cy="289"/>
            </a:xfrm>
          </p:grpSpPr>
          <p:sp>
            <p:nvSpPr>
              <p:cNvPr id="1248363" name="Freeform 107"/>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64" name="Freeform 108"/>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65" name="Line 109"/>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8366" name="Freeform 110"/>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67" name="Line 111"/>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8368" name="Rectangle 112"/>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2" name="Group 113"/>
            <p:cNvGrpSpPr>
              <a:grpSpLocks/>
            </p:cNvGrpSpPr>
            <p:nvPr/>
          </p:nvGrpSpPr>
          <p:grpSpPr bwMode="auto">
            <a:xfrm>
              <a:off x="2880" y="1248"/>
              <a:ext cx="325" cy="289"/>
              <a:chOff x="2600" y="1509"/>
              <a:chExt cx="325" cy="289"/>
            </a:xfrm>
          </p:grpSpPr>
          <p:sp>
            <p:nvSpPr>
              <p:cNvPr id="1248370" name="Freeform 114"/>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71" name="Freeform 115"/>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72" name="Rectangle 116"/>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 name="Group 117"/>
            <p:cNvGrpSpPr>
              <a:grpSpLocks/>
            </p:cNvGrpSpPr>
            <p:nvPr/>
          </p:nvGrpSpPr>
          <p:grpSpPr bwMode="auto">
            <a:xfrm>
              <a:off x="3348" y="1248"/>
              <a:ext cx="284" cy="289"/>
              <a:chOff x="3068" y="1509"/>
              <a:chExt cx="284" cy="289"/>
            </a:xfrm>
          </p:grpSpPr>
          <p:sp>
            <p:nvSpPr>
              <p:cNvPr id="1248374" name="Freeform 118"/>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75" name="Freeform 119"/>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76" name="Line 120"/>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8377" name="Line 121"/>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8378" name="Line 122"/>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8379" name="Line 123"/>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8380" name="Line 124"/>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8381" name="Line 125"/>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8382" name="Line 126"/>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8383" name="Line 127"/>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8384" name="Line 128"/>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4" name="Group 129"/>
          <p:cNvGrpSpPr>
            <a:grpSpLocks/>
          </p:cNvGrpSpPr>
          <p:nvPr/>
        </p:nvGrpSpPr>
        <p:grpSpPr bwMode="auto">
          <a:xfrm>
            <a:off x="4800600" y="3505200"/>
            <a:ext cx="3355975" cy="838200"/>
            <a:chOff x="1562" y="1152"/>
            <a:chExt cx="2114" cy="528"/>
          </a:xfrm>
        </p:grpSpPr>
        <p:grpSp>
          <p:nvGrpSpPr>
            <p:cNvPr id="25" name="Group 130"/>
            <p:cNvGrpSpPr>
              <a:grpSpLocks/>
            </p:cNvGrpSpPr>
            <p:nvPr/>
          </p:nvGrpSpPr>
          <p:grpSpPr bwMode="auto">
            <a:xfrm>
              <a:off x="2487" y="1152"/>
              <a:ext cx="223" cy="481"/>
              <a:chOff x="2207" y="1413"/>
              <a:chExt cx="223" cy="481"/>
            </a:xfrm>
          </p:grpSpPr>
          <p:sp>
            <p:nvSpPr>
              <p:cNvPr id="1248387" name="Freeform 13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88" name="Rectangle 13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6" name="Group 133"/>
            <p:cNvGrpSpPr>
              <a:grpSpLocks/>
            </p:cNvGrpSpPr>
            <p:nvPr/>
          </p:nvGrpSpPr>
          <p:grpSpPr bwMode="auto">
            <a:xfrm>
              <a:off x="1562" y="1248"/>
              <a:ext cx="349" cy="289"/>
              <a:chOff x="1282" y="1509"/>
              <a:chExt cx="349" cy="289"/>
            </a:xfrm>
          </p:grpSpPr>
          <p:sp>
            <p:nvSpPr>
              <p:cNvPr id="1248390" name="Rectangle 13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7" name="Group 135"/>
              <p:cNvGrpSpPr>
                <a:grpSpLocks/>
              </p:cNvGrpSpPr>
              <p:nvPr/>
            </p:nvGrpSpPr>
            <p:grpSpPr bwMode="auto">
              <a:xfrm>
                <a:off x="1291" y="1509"/>
                <a:ext cx="340" cy="289"/>
                <a:chOff x="1291" y="1509"/>
                <a:chExt cx="340" cy="289"/>
              </a:xfrm>
            </p:grpSpPr>
            <p:sp>
              <p:nvSpPr>
                <p:cNvPr id="1248392" name="Freeform 13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93" name="Freeform 13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8394" name="Rectangle 13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8" name="Group 139"/>
            <p:cNvGrpSpPr>
              <a:grpSpLocks/>
            </p:cNvGrpSpPr>
            <p:nvPr/>
          </p:nvGrpSpPr>
          <p:grpSpPr bwMode="auto">
            <a:xfrm>
              <a:off x="2031" y="1248"/>
              <a:ext cx="296" cy="289"/>
              <a:chOff x="1751" y="1509"/>
              <a:chExt cx="296" cy="289"/>
            </a:xfrm>
          </p:grpSpPr>
          <p:sp>
            <p:nvSpPr>
              <p:cNvPr id="1248396" name="Freeform 14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397" name="Freeform 14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398" name="Line 14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8399" name="Freeform 14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00" name="Line 14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8401" name="Rectangle 14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9" name="Group 146"/>
            <p:cNvGrpSpPr>
              <a:grpSpLocks/>
            </p:cNvGrpSpPr>
            <p:nvPr/>
          </p:nvGrpSpPr>
          <p:grpSpPr bwMode="auto">
            <a:xfrm>
              <a:off x="2880" y="1248"/>
              <a:ext cx="325" cy="289"/>
              <a:chOff x="2600" y="1509"/>
              <a:chExt cx="325" cy="289"/>
            </a:xfrm>
          </p:grpSpPr>
          <p:sp>
            <p:nvSpPr>
              <p:cNvPr id="1248403" name="Freeform 14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04" name="Freeform 14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05" name="Rectangle 14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0" name="Group 150"/>
            <p:cNvGrpSpPr>
              <a:grpSpLocks/>
            </p:cNvGrpSpPr>
            <p:nvPr/>
          </p:nvGrpSpPr>
          <p:grpSpPr bwMode="auto">
            <a:xfrm>
              <a:off x="3348" y="1248"/>
              <a:ext cx="284" cy="289"/>
              <a:chOff x="3068" y="1509"/>
              <a:chExt cx="284" cy="289"/>
            </a:xfrm>
          </p:grpSpPr>
          <p:sp>
            <p:nvSpPr>
              <p:cNvPr id="1248407" name="Freeform 15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08" name="Freeform 15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09" name="Line 15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8410" name="Line 15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8411" name="Line 15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8412" name="Line 15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8413" name="Line 15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8414" name="Line 15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8415" name="Line 15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8416" name="Line 16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8417" name="Line 16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31" name="Group 162"/>
          <p:cNvGrpSpPr>
            <a:grpSpLocks/>
          </p:cNvGrpSpPr>
          <p:nvPr/>
        </p:nvGrpSpPr>
        <p:grpSpPr bwMode="auto">
          <a:xfrm>
            <a:off x="5486400" y="4419600"/>
            <a:ext cx="3355975" cy="838200"/>
            <a:chOff x="1562" y="1152"/>
            <a:chExt cx="2114" cy="528"/>
          </a:xfrm>
        </p:grpSpPr>
        <p:grpSp>
          <p:nvGrpSpPr>
            <p:cNvPr id="1248352" name="Group 163"/>
            <p:cNvGrpSpPr>
              <a:grpSpLocks/>
            </p:cNvGrpSpPr>
            <p:nvPr/>
          </p:nvGrpSpPr>
          <p:grpSpPr bwMode="auto">
            <a:xfrm>
              <a:off x="2487" y="1152"/>
              <a:ext cx="223" cy="481"/>
              <a:chOff x="2207" y="1413"/>
              <a:chExt cx="223" cy="481"/>
            </a:xfrm>
          </p:grpSpPr>
          <p:sp>
            <p:nvSpPr>
              <p:cNvPr id="1248420" name="Freeform 16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21" name="Rectangle 16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48353" name="Group 166"/>
            <p:cNvGrpSpPr>
              <a:grpSpLocks/>
            </p:cNvGrpSpPr>
            <p:nvPr/>
          </p:nvGrpSpPr>
          <p:grpSpPr bwMode="auto">
            <a:xfrm>
              <a:off x="1562" y="1248"/>
              <a:ext cx="349" cy="289"/>
              <a:chOff x="1282" y="1509"/>
              <a:chExt cx="349" cy="289"/>
            </a:xfrm>
          </p:grpSpPr>
          <p:sp>
            <p:nvSpPr>
              <p:cNvPr id="1248423" name="Rectangle 16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48356" name="Group 168"/>
              <p:cNvGrpSpPr>
                <a:grpSpLocks/>
              </p:cNvGrpSpPr>
              <p:nvPr/>
            </p:nvGrpSpPr>
            <p:grpSpPr bwMode="auto">
              <a:xfrm>
                <a:off x="1291" y="1509"/>
                <a:ext cx="340" cy="289"/>
                <a:chOff x="1291" y="1509"/>
                <a:chExt cx="340" cy="289"/>
              </a:xfrm>
            </p:grpSpPr>
            <p:sp>
              <p:nvSpPr>
                <p:cNvPr id="1248425" name="Freeform 16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26" name="Freeform 17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8427" name="Rectangle 17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8358" name="Group 172"/>
            <p:cNvGrpSpPr>
              <a:grpSpLocks/>
            </p:cNvGrpSpPr>
            <p:nvPr/>
          </p:nvGrpSpPr>
          <p:grpSpPr bwMode="auto">
            <a:xfrm>
              <a:off x="2031" y="1248"/>
              <a:ext cx="296" cy="289"/>
              <a:chOff x="1751" y="1509"/>
              <a:chExt cx="296" cy="289"/>
            </a:xfrm>
          </p:grpSpPr>
          <p:sp>
            <p:nvSpPr>
              <p:cNvPr id="1248429" name="Freeform 17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30" name="Freeform 17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31" name="Line 17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8432" name="Freeform 17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33" name="Line 17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8434" name="Rectangle 17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48362" name="Group 179"/>
            <p:cNvGrpSpPr>
              <a:grpSpLocks/>
            </p:cNvGrpSpPr>
            <p:nvPr/>
          </p:nvGrpSpPr>
          <p:grpSpPr bwMode="auto">
            <a:xfrm>
              <a:off x="2880" y="1248"/>
              <a:ext cx="325" cy="289"/>
              <a:chOff x="2600" y="1509"/>
              <a:chExt cx="325" cy="289"/>
            </a:xfrm>
          </p:grpSpPr>
          <p:sp>
            <p:nvSpPr>
              <p:cNvPr id="1248436" name="Freeform 18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37" name="Freeform 18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38" name="Rectangle 18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8369" name="Group 183"/>
            <p:cNvGrpSpPr>
              <a:grpSpLocks/>
            </p:cNvGrpSpPr>
            <p:nvPr/>
          </p:nvGrpSpPr>
          <p:grpSpPr bwMode="auto">
            <a:xfrm>
              <a:off x="3348" y="1248"/>
              <a:ext cx="284" cy="289"/>
              <a:chOff x="3068" y="1509"/>
              <a:chExt cx="284" cy="289"/>
            </a:xfrm>
          </p:grpSpPr>
          <p:sp>
            <p:nvSpPr>
              <p:cNvPr id="1248440" name="Freeform 18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41" name="Freeform 18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42" name="Line 18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8443" name="Line 18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8444" name="Line 18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8445" name="Line 18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8446" name="Line 19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8447" name="Line 19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8448" name="Line 19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8449" name="Line 19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8450" name="Line 19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48373" name="Group 213"/>
          <p:cNvGrpSpPr>
            <a:grpSpLocks/>
          </p:cNvGrpSpPr>
          <p:nvPr/>
        </p:nvGrpSpPr>
        <p:grpSpPr bwMode="auto">
          <a:xfrm>
            <a:off x="3429000" y="1905000"/>
            <a:ext cx="3355975" cy="838200"/>
            <a:chOff x="1562" y="1152"/>
            <a:chExt cx="2114" cy="528"/>
          </a:xfrm>
        </p:grpSpPr>
        <p:grpSp>
          <p:nvGrpSpPr>
            <p:cNvPr id="1248385" name="Group 214"/>
            <p:cNvGrpSpPr>
              <a:grpSpLocks/>
            </p:cNvGrpSpPr>
            <p:nvPr/>
          </p:nvGrpSpPr>
          <p:grpSpPr bwMode="auto">
            <a:xfrm>
              <a:off x="2487" y="1152"/>
              <a:ext cx="223" cy="481"/>
              <a:chOff x="2207" y="1413"/>
              <a:chExt cx="223" cy="481"/>
            </a:xfrm>
          </p:grpSpPr>
          <p:sp>
            <p:nvSpPr>
              <p:cNvPr id="1248471" name="Freeform 21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72" name="Rectangle 21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48386" name="Group 217"/>
            <p:cNvGrpSpPr>
              <a:grpSpLocks/>
            </p:cNvGrpSpPr>
            <p:nvPr/>
          </p:nvGrpSpPr>
          <p:grpSpPr bwMode="auto">
            <a:xfrm>
              <a:off x="1562" y="1248"/>
              <a:ext cx="349" cy="289"/>
              <a:chOff x="1282" y="1509"/>
              <a:chExt cx="349" cy="289"/>
            </a:xfrm>
          </p:grpSpPr>
          <p:sp>
            <p:nvSpPr>
              <p:cNvPr id="1248474" name="Rectangle 21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248389" name="Group 219"/>
              <p:cNvGrpSpPr>
                <a:grpSpLocks/>
              </p:cNvGrpSpPr>
              <p:nvPr/>
            </p:nvGrpSpPr>
            <p:grpSpPr bwMode="auto">
              <a:xfrm>
                <a:off x="1291" y="1509"/>
                <a:ext cx="340" cy="289"/>
                <a:chOff x="1291" y="1509"/>
                <a:chExt cx="340" cy="289"/>
              </a:xfrm>
            </p:grpSpPr>
            <p:sp>
              <p:nvSpPr>
                <p:cNvPr id="1248476" name="Freeform 22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77" name="Freeform 22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48478" name="Rectangle 222"/>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8391" name="Group 223"/>
            <p:cNvGrpSpPr>
              <a:grpSpLocks/>
            </p:cNvGrpSpPr>
            <p:nvPr/>
          </p:nvGrpSpPr>
          <p:grpSpPr bwMode="auto">
            <a:xfrm>
              <a:off x="2031" y="1248"/>
              <a:ext cx="296" cy="289"/>
              <a:chOff x="1751" y="1509"/>
              <a:chExt cx="296" cy="289"/>
            </a:xfrm>
          </p:grpSpPr>
          <p:sp>
            <p:nvSpPr>
              <p:cNvPr id="1248480" name="Freeform 22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81" name="Freeform 225"/>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82" name="Line 226"/>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48483" name="Freeform 227"/>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84" name="Line 228"/>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48485" name="Rectangle 229"/>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48395" name="Group 230"/>
            <p:cNvGrpSpPr>
              <a:grpSpLocks/>
            </p:cNvGrpSpPr>
            <p:nvPr/>
          </p:nvGrpSpPr>
          <p:grpSpPr bwMode="auto">
            <a:xfrm>
              <a:off x="2880" y="1248"/>
              <a:ext cx="325" cy="289"/>
              <a:chOff x="2600" y="1509"/>
              <a:chExt cx="325" cy="289"/>
            </a:xfrm>
          </p:grpSpPr>
          <p:sp>
            <p:nvSpPr>
              <p:cNvPr id="1248487" name="Freeform 23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88" name="Freeform 23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89" name="Rectangle 233"/>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48402" name="Group 234"/>
            <p:cNvGrpSpPr>
              <a:grpSpLocks/>
            </p:cNvGrpSpPr>
            <p:nvPr/>
          </p:nvGrpSpPr>
          <p:grpSpPr bwMode="auto">
            <a:xfrm>
              <a:off x="3348" y="1248"/>
              <a:ext cx="284" cy="289"/>
              <a:chOff x="3068" y="1509"/>
              <a:chExt cx="284" cy="289"/>
            </a:xfrm>
          </p:grpSpPr>
          <p:sp>
            <p:nvSpPr>
              <p:cNvPr id="1248491" name="Freeform 235"/>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48492" name="Freeform 236"/>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48493" name="Line 237"/>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48494" name="Line 238"/>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48495" name="Line 239"/>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48496" name="Line 240"/>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48497" name="Line 241"/>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48498" name="Line 242"/>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48499" name="Line 243"/>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48500" name="Line 244"/>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48501" name="Line 245"/>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48502" name="Rectangle 246"/>
          <p:cNvSpPr>
            <a:spLocks noChangeArrowheads="1"/>
          </p:cNvSpPr>
          <p:nvPr/>
        </p:nvSpPr>
        <p:spPr bwMode="auto">
          <a:xfrm>
            <a:off x="661988" y="2060575"/>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spTree>
    <p:extLst>
      <p:ext uri="{BB962C8B-B14F-4D97-AF65-F5344CB8AC3E}">
        <p14:creationId xmlns:p14="http://schemas.microsoft.com/office/powerpoint/2010/main" val="158897558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1981200"/>
            <a:ext cx="6019800" cy="635000"/>
            <a:chOff x="480" y="1376"/>
            <a:chExt cx="3792" cy="400"/>
          </a:xfrm>
        </p:grpSpPr>
        <p:sp>
          <p:nvSpPr>
            <p:cNvPr id="1294339" name="Rectangle 3"/>
            <p:cNvSpPr>
              <a:spLocks noChangeArrowheads="1"/>
            </p:cNvSpPr>
            <p:nvPr/>
          </p:nvSpPr>
          <p:spPr bwMode="auto">
            <a:xfrm>
              <a:off x="480" y="1440"/>
              <a:ext cx="456"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stall</a:t>
              </a:r>
            </a:p>
          </p:txBody>
        </p:sp>
        <p:sp>
          <p:nvSpPr>
            <p:cNvPr id="1294341" name="AutoShape 5" descr="Shingle"/>
            <p:cNvSpPr>
              <a:spLocks noChangeArrowheads="1"/>
            </p:cNvSpPr>
            <p:nvPr/>
          </p:nvSpPr>
          <p:spPr bwMode="auto">
            <a:xfrm>
              <a:off x="2544"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94342" name="AutoShape 6" descr="Shingle"/>
            <p:cNvSpPr>
              <a:spLocks noChangeArrowheads="1"/>
            </p:cNvSpPr>
            <p:nvPr/>
          </p:nvSpPr>
          <p:spPr bwMode="auto">
            <a:xfrm>
              <a:off x="2976"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94343" name="AutoShape 7" descr="Shingle"/>
            <p:cNvSpPr>
              <a:spLocks noChangeArrowheads="1"/>
            </p:cNvSpPr>
            <p:nvPr/>
          </p:nvSpPr>
          <p:spPr bwMode="auto">
            <a:xfrm>
              <a:off x="3408"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294344" name="AutoShape 8" descr="Shingle"/>
            <p:cNvSpPr>
              <a:spLocks noChangeArrowheads="1"/>
            </p:cNvSpPr>
            <p:nvPr/>
          </p:nvSpPr>
          <p:spPr bwMode="auto">
            <a:xfrm>
              <a:off x="3840" y="1376"/>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3" name="Group 9"/>
          <p:cNvGrpSpPr>
            <a:grpSpLocks/>
          </p:cNvGrpSpPr>
          <p:nvPr/>
        </p:nvGrpSpPr>
        <p:grpSpPr bwMode="auto">
          <a:xfrm>
            <a:off x="5257800" y="1244600"/>
            <a:ext cx="381000" cy="2032000"/>
            <a:chOff x="3312" y="784"/>
            <a:chExt cx="240" cy="1248"/>
          </a:xfrm>
        </p:grpSpPr>
        <p:sp>
          <p:nvSpPr>
            <p:cNvPr id="1294346" name="Rectangle 10"/>
            <p:cNvSpPr>
              <a:spLocks noChangeArrowheads="1"/>
            </p:cNvSpPr>
            <p:nvPr/>
          </p:nvSpPr>
          <p:spPr bwMode="auto">
            <a:xfrm>
              <a:off x="3456" y="1744"/>
              <a:ext cx="96"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94347" name="Rectangle 11"/>
            <p:cNvSpPr>
              <a:spLocks noChangeArrowheads="1"/>
            </p:cNvSpPr>
            <p:nvPr/>
          </p:nvSpPr>
          <p:spPr bwMode="auto">
            <a:xfrm>
              <a:off x="3312" y="784"/>
              <a:ext cx="96"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94348" name="Line 12"/>
            <p:cNvSpPr>
              <a:spLocks noChangeShapeType="1"/>
            </p:cNvSpPr>
            <p:nvPr/>
          </p:nvSpPr>
          <p:spPr bwMode="auto">
            <a:xfrm>
              <a:off x="3360" y="1072"/>
              <a:ext cx="96" cy="672"/>
            </a:xfrm>
            <a:prstGeom prst="line">
              <a:avLst/>
            </a:prstGeom>
            <a:noFill/>
            <a:ln w="28575">
              <a:solidFill>
                <a:srgbClr val="009900"/>
              </a:solidFill>
              <a:round/>
              <a:headEnd/>
              <a:tailEnd type="triangle" w="med" len="med"/>
            </a:ln>
            <a:effectLst/>
          </p:spPr>
          <p:txBody>
            <a:bodyPr/>
            <a:lstStyle/>
            <a:p>
              <a:endParaRPr lang="en-US"/>
            </a:p>
          </p:txBody>
        </p:sp>
      </p:grpSp>
      <p:grpSp>
        <p:nvGrpSpPr>
          <p:cNvPr id="4" name="Group 13"/>
          <p:cNvGrpSpPr>
            <a:grpSpLocks/>
          </p:cNvGrpSpPr>
          <p:nvPr/>
        </p:nvGrpSpPr>
        <p:grpSpPr bwMode="auto">
          <a:xfrm>
            <a:off x="5562600" y="1244600"/>
            <a:ext cx="1143000" cy="3795346"/>
            <a:chOff x="3504" y="784"/>
            <a:chExt cx="720" cy="2352"/>
          </a:xfrm>
        </p:grpSpPr>
        <p:sp>
          <p:nvSpPr>
            <p:cNvPr id="1294350" name="Rectangle 14"/>
            <p:cNvSpPr>
              <a:spLocks noChangeArrowheads="1"/>
            </p:cNvSpPr>
            <p:nvPr/>
          </p:nvSpPr>
          <p:spPr bwMode="auto">
            <a:xfrm>
              <a:off x="4080" y="2848"/>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94351" name="Rectangle 15"/>
            <p:cNvSpPr>
              <a:spLocks noChangeArrowheads="1"/>
            </p:cNvSpPr>
            <p:nvPr/>
          </p:nvSpPr>
          <p:spPr bwMode="auto">
            <a:xfrm>
              <a:off x="3504" y="784"/>
              <a:ext cx="144"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94353" name="Rectangle 17"/>
            <p:cNvSpPr>
              <a:spLocks noChangeArrowheads="1"/>
            </p:cNvSpPr>
            <p:nvPr/>
          </p:nvSpPr>
          <p:spPr bwMode="auto">
            <a:xfrm>
              <a:off x="3648" y="2272"/>
              <a:ext cx="144"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294354" name="Line 18"/>
            <p:cNvSpPr>
              <a:spLocks noChangeShapeType="1"/>
            </p:cNvSpPr>
            <p:nvPr/>
          </p:nvSpPr>
          <p:spPr bwMode="auto">
            <a:xfrm>
              <a:off x="3648" y="1120"/>
              <a:ext cx="48" cy="1152"/>
            </a:xfrm>
            <a:prstGeom prst="line">
              <a:avLst/>
            </a:prstGeom>
            <a:noFill/>
            <a:ln w="28575">
              <a:solidFill>
                <a:srgbClr val="009900"/>
              </a:solidFill>
              <a:round/>
              <a:headEnd/>
              <a:tailEnd type="triangle" w="med" len="med"/>
            </a:ln>
            <a:effectLst/>
          </p:spPr>
          <p:txBody>
            <a:bodyPr/>
            <a:lstStyle/>
            <a:p>
              <a:endParaRPr lang="en-US"/>
            </a:p>
          </p:txBody>
        </p:sp>
        <p:sp>
          <p:nvSpPr>
            <p:cNvPr id="1294356" name="Line 20"/>
            <p:cNvSpPr>
              <a:spLocks noChangeShapeType="1"/>
            </p:cNvSpPr>
            <p:nvPr/>
          </p:nvSpPr>
          <p:spPr bwMode="auto">
            <a:xfrm>
              <a:off x="3648" y="1072"/>
              <a:ext cx="432" cy="1776"/>
            </a:xfrm>
            <a:prstGeom prst="line">
              <a:avLst/>
            </a:prstGeom>
            <a:noFill/>
            <a:ln w="28575">
              <a:solidFill>
                <a:srgbClr val="009900"/>
              </a:solidFill>
              <a:round/>
              <a:headEnd/>
              <a:tailEnd type="triangle" w="med" len="med"/>
            </a:ln>
            <a:effectLst/>
          </p:spPr>
          <p:txBody>
            <a:bodyPr/>
            <a:lstStyle/>
            <a:p>
              <a:endParaRPr lang="en-US"/>
            </a:p>
          </p:txBody>
        </p:sp>
      </p:grpSp>
      <p:sp>
        <p:nvSpPr>
          <p:cNvPr id="1294357" name="Rectangle 21"/>
          <p:cNvSpPr>
            <a:spLocks noGrp="1" noChangeArrowheads="1"/>
          </p:cNvSpPr>
          <p:nvPr>
            <p:ph type="title"/>
          </p:nvPr>
        </p:nvSpPr>
        <p:spPr>
          <a:xfrm>
            <a:off x="652463" y="304800"/>
            <a:ext cx="6911975" cy="422275"/>
          </a:xfrm>
          <a:noFill/>
          <a:ln/>
        </p:spPr>
        <p:txBody>
          <a:bodyPr wrap="none"/>
          <a:lstStyle/>
          <a:p>
            <a:r>
              <a:rPr lang="en-US"/>
              <a:t>Forwarding with Load-use Data Hazards</a:t>
            </a:r>
          </a:p>
        </p:txBody>
      </p:sp>
      <p:sp>
        <p:nvSpPr>
          <p:cNvPr id="1294358" name="Rectangle 22"/>
          <p:cNvSpPr>
            <a:spLocks noChangeArrowheads="1"/>
          </p:cNvSpPr>
          <p:nvPr/>
        </p:nvSpPr>
        <p:spPr bwMode="auto">
          <a:xfrm>
            <a:off x="228600" y="1393825"/>
            <a:ext cx="358775" cy="3109913"/>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94359" name="Line 23"/>
          <p:cNvSpPr>
            <a:spLocks noChangeShapeType="1"/>
          </p:cNvSpPr>
          <p:nvPr/>
        </p:nvSpPr>
        <p:spPr bwMode="auto">
          <a:xfrm>
            <a:off x="2133600" y="9144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94360" name="Rectangle 24"/>
          <p:cNvSpPr>
            <a:spLocks noChangeArrowheads="1"/>
          </p:cNvSpPr>
          <p:nvPr/>
        </p:nvSpPr>
        <p:spPr bwMode="auto">
          <a:xfrm>
            <a:off x="661988" y="13208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  </a:t>
            </a:r>
            <a:r>
              <a:rPr lang="en-US" sz="2400" b="1">
                <a:latin typeface="Courier New" pitchFamily="49" charset="0"/>
              </a:rPr>
              <a:t>$1</a:t>
            </a:r>
            <a:r>
              <a:rPr lang="en-US" sz="2400" b="1">
                <a:solidFill>
                  <a:schemeClr val="tx1"/>
                </a:solidFill>
                <a:latin typeface="Courier New" pitchFamily="49" charset="0"/>
              </a:rPr>
              <a:t>,4($2)</a:t>
            </a:r>
          </a:p>
        </p:txBody>
      </p:sp>
      <p:sp>
        <p:nvSpPr>
          <p:cNvPr id="1294361" name="Rectangle 25"/>
          <p:cNvSpPr>
            <a:spLocks noChangeArrowheads="1"/>
          </p:cNvSpPr>
          <p:nvPr/>
        </p:nvSpPr>
        <p:spPr bwMode="auto">
          <a:xfrm>
            <a:off x="661988" y="27940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grpSp>
        <p:nvGrpSpPr>
          <p:cNvPr id="5" name="Group 26"/>
          <p:cNvGrpSpPr>
            <a:grpSpLocks/>
          </p:cNvGrpSpPr>
          <p:nvPr/>
        </p:nvGrpSpPr>
        <p:grpSpPr bwMode="auto">
          <a:xfrm>
            <a:off x="3314700" y="914400"/>
            <a:ext cx="4800600" cy="5207000"/>
            <a:chOff x="2088" y="656"/>
            <a:chExt cx="3024" cy="2816"/>
          </a:xfrm>
        </p:grpSpPr>
        <p:sp>
          <p:nvSpPr>
            <p:cNvPr id="1294363" name="Line 27"/>
            <p:cNvSpPr>
              <a:spLocks noChangeShapeType="1"/>
            </p:cNvSpPr>
            <p:nvPr/>
          </p:nvSpPr>
          <p:spPr bwMode="auto">
            <a:xfrm>
              <a:off x="2088"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64" name="Line 28"/>
            <p:cNvSpPr>
              <a:spLocks noChangeShapeType="1"/>
            </p:cNvSpPr>
            <p:nvPr/>
          </p:nvSpPr>
          <p:spPr bwMode="auto">
            <a:xfrm>
              <a:off x="2520"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65" name="Line 29"/>
            <p:cNvSpPr>
              <a:spLocks noChangeShapeType="1"/>
            </p:cNvSpPr>
            <p:nvPr/>
          </p:nvSpPr>
          <p:spPr bwMode="auto">
            <a:xfrm>
              <a:off x="2952"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66" name="Line 30"/>
            <p:cNvSpPr>
              <a:spLocks noChangeShapeType="1"/>
            </p:cNvSpPr>
            <p:nvPr/>
          </p:nvSpPr>
          <p:spPr bwMode="auto">
            <a:xfrm>
              <a:off x="3384"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67" name="Line 31"/>
            <p:cNvSpPr>
              <a:spLocks noChangeShapeType="1"/>
            </p:cNvSpPr>
            <p:nvPr/>
          </p:nvSpPr>
          <p:spPr bwMode="auto">
            <a:xfrm>
              <a:off x="3816"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68" name="Line 32"/>
            <p:cNvSpPr>
              <a:spLocks noChangeShapeType="1"/>
            </p:cNvSpPr>
            <p:nvPr/>
          </p:nvSpPr>
          <p:spPr bwMode="auto">
            <a:xfrm>
              <a:off x="4248"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69" name="Line 33"/>
            <p:cNvSpPr>
              <a:spLocks noChangeShapeType="1"/>
            </p:cNvSpPr>
            <p:nvPr/>
          </p:nvSpPr>
          <p:spPr bwMode="auto">
            <a:xfrm>
              <a:off x="4680"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294370" name="Line 34"/>
            <p:cNvSpPr>
              <a:spLocks noChangeShapeType="1"/>
            </p:cNvSpPr>
            <p:nvPr/>
          </p:nvSpPr>
          <p:spPr bwMode="auto">
            <a:xfrm>
              <a:off x="5112" y="656"/>
              <a:ext cx="0" cy="2816"/>
            </a:xfrm>
            <a:prstGeom prst="line">
              <a:avLst/>
            </a:prstGeom>
            <a:noFill/>
            <a:ln w="25400">
              <a:solidFill>
                <a:schemeClr val="tx1"/>
              </a:solidFill>
              <a:prstDash val="sysDot"/>
              <a:round/>
              <a:headEnd/>
              <a:tailEnd/>
            </a:ln>
            <a:effectLst/>
          </p:spPr>
          <p:txBody>
            <a:bodyPr wrap="none" anchor="ctr"/>
            <a:lstStyle/>
            <a:p>
              <a:endParaRPr lang="en-US"/>
            </a:p>
          </p:txBody>
        </p:sp>
      </p:grpSp>
      <p:grpSp>
        <p:nvGrpSpPr>
          <p:cNvPr id="6" name="Group 35"/>
          <p:cNvGrpSpPr>
            <a:grpSpLocks/>
          </p:cNvGrpSpPr>
          <p:nvPr/>
        </p:nvGrpSpPr>
        <p:grpSpPr bwMode="auto">
          <a:xfrm>
            <a:off x="609600" y="3657600"/>
            <a:ext cx="2371725" cy="2163763"/>
            <a:chOff x="480" y="2299"/>
            <a:chExt cx="1494" cy="1363"/>
          </a:xfrm>
        </p:grpSpPr>
        <p:sp>
          <p:nvSpPr>
            <p:cNvPr id="1294372" name="Rectangle 36"/>
            <p:cNvSpPr>
              <a:spLocks noChangeArrowheads="1"/>
            </p:cNvSpPr>
            <p:nvPr/>
          </p:nvSpPr>
          <p:spPr bwMode="auto">
            <a:xfrm>
              <a:off x="480" y="2299"/>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solidFill>
                    <a:srgbClr val="009900"/>
                  </a:solidFill>
                  <a:latin typeface="Courier New" pitchFamily="49" charset="0"/>
                </a:rPr>
                <a:t>$1</a:t>
              </a:r>
              <a:r>
                <a:rPr lang="en-US" sz="2400" b="1">
                  <a:solidFill>
                    <a:schemeClr val="tx1"/>
                  </a:solidFill>
                  <a:latin typeface="Courier New" pitchFamily="49" charset="0"/>
                </a:rPr>
                <a:t>,$7</a:t>
              </a:r>
            </a:p>
          </p:txBody>
        </p:sp>
        <p:sp>
          <p:nvSpPr>
            <p:cNvPr id="1294373" name="Rectangle 37"/>
            <p:cNvSpPr>
              <a:spLocks noChangeArrowheads="1"/>
            </p:cNvSpPr>
            <p:nvPr/>
          </p:nvSpPr>
          <p:spPr bwMode="auto">
            <a:xfrm>
              <a:off x="480" y="3376"/>
              <a:ext cx="1494" cy="286"/>
            </a:xfrm>
            <a:prstGeom prst="rect">
              <a:avLst/>
            </a:prstGeom>
            <a:noFill/>
            <a:ln w="12700">
              <a:noFill/>
              <a:miter lim="800000"/>
              <a:headEnd/>
              <a:tailEnd/>
            </a:ln>
            <a:effectLst/>
          </p:spPr>
          <p:txBody>
            <a:bodyPr wrap="none" lIns="90488" tIns="44450" rIns="90488" bIns="44450">
              <a:spAutoFit/>
            </a:bodyPr>
            <a:lstStyle/>
            <a:p>
              <a:r>
                <a:rPr lang="en-US" sz="2400" b="1" dirty="0" err="1">
                  <a:solidFill>
                    <a:schemeClr val="tx1"/>
                  </a:solidFill>
                  <a:latin typeface="Courier New" pitchFamily="49" charset="0"/>
                </a:rPr>
                <a:t>xor</a:t>
              </a:r>
              <a:r>
                <a:rPr lang="en-US" sz="2400" b="1" dirty="0">
                  <a:solidFill>
                    <a:schemeClr val="tx1"/>
                  </a:solidFill>
                  <a:latin typeface="Courier New" pitchFamily="49" charset="0"/>
                </a:rPr>
                <a:t> $4,</a:t>
              </a:r>
              <a:r>
                <a:rPr lang="en-US" sz="2400" b="1" dirty="0">
                  <a:solidFill>
                    <a:srgbClr val="009900"/>
                  </a:solidFill>
                  <a:latin typeface="Courier New" pitchFamily="49" charset="0"/>
                </a:rPr>
                <a:t>$1</a:t>
              </a:r>
              <a:r>
                <a:rPr lang="en-US" sz="2400" b="1" dirty="0">
                  <a:solidFill>
                    <a:schemeClr val="tx1"/>
                  </a:solidFill>
                  <a:latin typeface="Courier New" pitchFamily="49" charset="0"/>
                </a:rPr>
                <a:t>,$5</a:t>
              </a:r>
            </a:p>
          </p:txBody>
        </p:sp>
        <p:sp>
          <p:nvSpPr>
            <p:cNvPr id="1294374" name="Rectangle 38"/>
            <p:cNvSpPr>
              <a:spLocks noChangeArrowheads="1"/>
            </p:cNvSpPr>
            <p:nvPr/>
          </p:nvSpPr>
          <p:spPr bwMode="auto">
            <a:xfrm>
              <a:off x="480" y="2827"/>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grpSp>
      <p:sp>
        <p:nvSpPr>
          <p:cNvPr id="1294375" name="Line 39"/>
          <p:cNvSpPr>
            <a:spLocks noChangeShapeType="1"/>
          </p:cNvSpPr>
          <p:nvPr/>
        </p:nvSpPr>
        <p:spPr bwMode="auto">
          <a:xfrm>
            <a:off x="585788" y="1316038"/>
            <a:ext cx="0" cy="4805362"/>
          </a:xfrm>
          <a:prstGeom prst="line">
            <a:avLst/>
          </a:prstGeom>
          <a:noFill/>
          <a:ln w="28575">
            <a:solidFill>
              <a:schemeClr val="tx1"/>
            </a:solidFill>
            <a:round/>
            <a:headEnd/>
            <a:tailEnd type="triangle" w="med" len="med"/>
          </a:ln>
          <a:effectLst/>
        </p:spPr>
        <p:txBody>
          <a:bodyPr/>
          <a:lstStyle/>
          <a:p>
            <a:endParaRPr lang="en-US"/>
          </a:p>
        </p:txBody>
      </p:sp>
      <p:grpSp>
        <p:nvGrpSpPr>
          <p:cNvPr id="7" name="Group 40"/>
          <p:cNvGrpSpPr>
            <a:grpSpLocks/>
          </p:cNvGrpSpPr>
          <p:nvPr/>
        </p:nvGrpSpPr>
        <p:grpSpPr bwMode="auto">
          <a:xfrm>
            <a:off x="2743200" y="1092200"/>
            <a:ext cx="3355975" cy="838200"/>
            <a:chOff x="1562" y="1152"/>
            <a:chExt cx="2114" cy="528"/>
          </a:xfrm>
        </p:grpSpPr>
        <p:grpSp>
          <p:nvGrpSpPr>
            <p:cNvPr id="8" name="Group 41"/>
            <p:cNvGrpSpPr>
              <a:grpSpLocks/>
            </p:cNvGrpSpPr>
            <p:nvPr/>
          </p:nvGrpSpPr>
          <p:grpSpPr bwMode="auto">
            <a:xfrm>
              <a:off x="2487" y="1152"/>
              <a:ext cx="223" cy="481"/>
              <a:chOff x="2207" y="1413"/>
              <a:chExt cx="223" cy="481"/>
            </a:xfrm>
          </p:grpSpPr>
          <p:sp>
            <p:nvSpPr>
              <p:cNvPr id="1294378" name="Freeform 4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379" name="Rectangle 4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9" name="Group 44"/>
            <p:cNvGrpSpPr>
              <a:grpSpLocks/>
            </p:cNvGrpSpPr>
            <p:nvPr/>
          </p:nvGrpSpPr>
          <p:grpSpPr bwMode="auto">
            <a:xfrm>
              <a:off x="1562" y="1248"/>
              <a:ext cx="349" cy="289"/>
              <a:chOff x="1282" y="1509"/>
              <a:chExt cx="349" cy="289"/>
            </a:xfrm>
          </p:grpSpPr>
          <p:sp>
            <p:nvSpPr>
              <p:cNvPr id="1294381" name="Rectangle 4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0" name="Group 46"/>
              <p:cNvGrpSpPr>
                <a:grpSpLocks/>
              </p:cNvGrpSpPr>
              <p:nvPr/>
            </p:nvGrpSpPr>
            <p:grpSpPr bwMode="auto">
              <a:xfrm>
                <a:off x="1291" y="1509"/>
                <a:ext cx="340" cy="289"/>
                <a:chOff x="1291" y="1509"/>
                <a:chExt cx="340" cy="289"/>
              </a:xfrm>
            </p:grpSpPr>
            <p:sp>
              <p:nvSpPr>
                <p:cNvPr id="1294383" name="Freeform 4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384" name="Freeform 4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94385" name="Rectangle 4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1" name="Group 50"/>
            <p:cNvGrpSpPr>
              <a:grpSpLocks/>
            </p:cNvGrpSpPr>
            <p:nvPr/>
          </p:nvGrpSpPr>
          <p:grpSpPr bwMode="auto">
            <a:xfrm>
              <a:off x="2031" y="1248"/>
              <a:ext cx="296" cy="289"/>
              <a:chOff x="1751" y="1509"/>
              <a:chExt cx="296" cy="289"/>
            </a:xfrm>
          </p:grpSpPr>
          <p:sp>
            <p:nvSpPr>
              <p:cNvPr id="1294387" name="Freeform 5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388" name="Freeform 5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389" name="Line 5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94390" name="Freeform 5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391" name="Line 5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94392" name="Rectangle 5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2" name="Group 57"/>
            <p:cNvGrpSpPr>
              <a:grpSpLocks/>
            </p:cNvGrpSpPr>
            <p:nvPr/>
          </p:nvGrpSpPr>
          <p:grpSpPr bwMode="auto">
            <a:xfrm>
              <a:off x="2880" y="1248"/>
              <a:ext cx="325" cy="289"/>
              <a:chOff x="2600" y="1509"/>
              <a:chExt cx="325" cy="289"/>
            </a:xfrm>
          </p:grpSpPr>
          <p:sp>
            <p:nvSpPr>
              <p:cNvPr id="1294394" name="Freeform 5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395" name="Freeform 5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396" name="Rectangle 6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3" name="Group 61"/>
            <p:cNvGrpSpPr>
              <a:grpSpLocks/>
            </p:cNvGrpSpPr>
            <p:nvPr/>
          </p:nvGrpSpPr>
          <p:grpSpPr bwMode="auto">
            <a:xfrm>
              <a:off x="3348" y="1248"/>
              <a:ext cx="284" cy="289"/>
              <a:chOff x="3068" y="1509"/>
              <a:chExt cx="284" cy="289"/>
            </a:xfrm>
          </p:grpSpPr>
          <p:sp>
            <p:nvSpPr>
              <p:cNvPr id="1294398" name="Freeform 6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399" name="Freeform 6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00" name="Line 6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94401" name="Line 6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94402" name="Line 6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94403" name="Line 6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94404" name="Line 6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94405" name="Line 6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94406" name="Line 7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94407" name="Line 7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94408" name="Line 7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4" name="Group 73"/>
          <p:cNvGrpSpPr>
            <a:grpSpLocks/>
          </p:cNvGrpSpPr>
          <p:nvPr/>
        </p:nvGrpSpPr>
        <p:grpSpPr bwMode="auto">
          <a:xfrm>
            <a:off x="6172200" y="5334000"/>
            <a:ext cx="2822575" cy="838200"/>
            <a:chOff x="3888" y="3328"/>
            <a:chExt cx="1778" cy="528"/>
          </a:xfrm>
        </p:grpSpPr>
        <p:grpSp>
          <p:nvGrpSpPr>
            <p:cNvPr id="15" name="Group 74"/>
            <p:cNvGrpSpPr>
              <a:grpSpLocks/>
            </p:cNvGrpSpPr>
            <p:nvPr/>
          </p:nvGrpSpPr>
          <p:grpSpPr bwMode="auto">
            <a:xfrm>
              <a:off x="4813" y="3328"/>
              <a:ext cx="223" cy="481"/>
              <a:chOff x="2207" y="1413"/>
              <a:chExt cx="223" cy="481"/>
            </a:xfrm>
          </p:grpSpPr>
          <p:sp>
            <p:nvSpPr>
              <p:cNvPr id="1294411" name="Freeform 75"/>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12" name="Rectangle 76"/>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6" name="Group 77"/>
            <p:cNvGrpSpPr>
              <a:grpSpLocks/>
            </p:cNvGrpSpPr>
            <p:nvPr/>
          </p:nvGrpSpPr>
          <p:grpSpPr bwMode="auto">
            <a:xfrm>
              <a:off x="3888" y="3424"/>
              <a:ext cx="349" cy="289"/>
              <a:chOff x="1282" y="1509"/>
              <a:chExt cx="349" cy="289"/>
            </a:xfrm>
          </p:grpSpPr>
          <p:sp>
            <p:nvSpPr>
              <p:cNvPr id="1294414" name="Rectangle 78"/>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7" name="Group 79"/>
              <p:cNvGrpSpPr>
                <a:grpSpLocks/>
              </p:cNvGrpSpPr>
              <p:nvPr/>
            </p:nvGrpSpPr>
            <p:grpSpPr bwMode="auto">
              <a:xfrm>
                <a:off x="1291" y="1509"/>
                <a:ext cx="340" cy="289"/>
                <a:chOff x="1291" y="1509"/>
                <a:chExt cx="340" cy="289"/>
              </a:xfrm>
            </p:grpSpPr>
            <p:sp>
              <p:nvSpPr>
                <p:cNvPr id="1294416" name="Freeform 80"/>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17" name="Freeform 81"/>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94418" name="Rectangle 82"/>
            <p:cNvSpPr>
              <a:spLocks noChangeArrowheads="1"/>
            </p:cNvSpPr>
            <p:nvPr/>
          </p:nvSpPr>
          <p:spPr bwMode="auto">
            <a:xfrm>
              <a:off x="4338" y="3431"/>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8" name="Group 83"/>
            <p:cNvGrpSpPr>
              <a:grpSpLocks/>
            </p:cNvGrpSpPr>
            <p:nvPr/>
          </p:nvGrpSpPr>
          <p:grpSpPr bwMode="auto">
            <a:xfrm>
              <a:off x="4368" y="3408"/>
              <a:ext cx="292" cy="289"/>
              <a:chOff x="1751" y="1509"/>
              <a:chExt cx="292" cy="289"/>
            </a:xfrm>
          </p:grpSpPr>
          <p:sp>
            <p:nvSpPr>
              <p:cNvPr id="1294420" name="Freeform 84"/>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21" name="Freeform 85"/>
              <p:cNvSpPr>
                <a:spLocks/>
              </p:cNvSpPr>
              <p:nvPr/>
            </p:nvSpPr>
            <p:spPr bwMode="auto">
              <a:xfrm>
                <a:off x="1895"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22" name="Line 86"/>
            <p:cNvSpPr>
              <a:spLocks noChangeShapeType="1"/>
            </p:cNvSpPr>
            <p:nvPr/>
          </p:nvSpPr>
          <p:spPr bwMode="auto">
            <a:xfrm>
              <a:off x="4242" y="3568"/>
              <a:ext cx="116" cy="0"/>
            </a:xfrm>
            <a:prstGeom prst="line">
              <a:avLst/>
            </a:prstGeom>
            <a:noFill/>
            <a:ln w="25400">
              <a:solidFill>
                <a:schemeClr val="tx1"/>
              </a:solidFill>
              <a:round/>
              <a:headEnd/>
              <a:tailEnd/>
            </a:ln>
            <a:effectLst/>
          </p:spPr>
          <p:txBody>
            <a:bodyPr wrap="none" anchor="ctr"/>
            <a:lstStyle/>
            <a:p>
              <a:endParaRPr lang="en-US"/>
            </a:p>
          </p:txBody>
        </p:sp>
        <p:sp>
          <p:nvSpPr>
            <p:cNvPr id="1294423" name="Freeform 87"/>
            <p:cNvSpPr>
              <a:spLocks/>
            </p:cNvSpPr>
            <p:nvPr/>
          </p:nvSpPr>
          <p:spPr bwMode="auto">
            <a:xfrm>
              <a:off x="4310" y="3472"/>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24" name="Line 88"/>
            <p:cNvSpPr>
              <a:spLocks noChangeShapeType="1"/>
            </p:cNvSpPr>
            <p:nvPr/>
          </p:nvSpPr>
          <p:spPr bwMode="auto">
            <a:xfrm>
              <a:off x="4658" y="3472"/>
              <a:ext cx="157" cy="0"/>
            </a:xfrm>
            <a:prstGeom prst="line">
              <a:avLst/>
            </a:prstGeom>
            <a:noFill/>
            <a:ln w="25400">
              <a:solidFill>
                <a:schemeClr val="tx1"/>
              </a:solidFill>
              <a:round/>
              <a:headEnd/>
              <a:tailEnd/>
            </a:ln>
            <a:effectLst/>
          </p:spPr>
          <p:txBody>
            <a:bodyPr wrap="none" anchor="ctr"/>
            <a:lstStyle/>
            <a:p>
              <a:endParaRPr lang="en-US"/>
            </a:p>
          </p:txBody>
        </p:sp>
        <p:sp>
          <p:nvSpPr>
            <p:cNvPr id="1294425" name="Rectangle 89"/>
            <p:cNvSpPr>
              <a:spLocks noChangeArrowheads="1"/>
            </p:cNvSpPr>
            <p:nvPr/>
          </p:nvSpPr>
          <p:spPr bwMode="auto">
            <a:xfrm>
              <a:off x="5155" y="3426"/>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9" name="Group 90"/>
            <p:cNvGrpSpPr>
              <a:grpSpLocks/>
            </p:cNvGrpSpPr>
            <p:nvPr/>
          </p:nvGrpSpPr>
          <p:grpSpPr bwMode="auto">
            <a:xfrm>
              <a:off x="5206" y="3424"/>
              <a:ext cx="325" cy="289"/>
              <a:chOff x="2600" y="1509"/>
              <a:chExt cx="325" cy="289"/>
            </a:xfrm>
          </p:grpSpPr>
          <p:sp>
            <p:nvSpPr>
              <p:cNvPr id="1294427" name="Freeform 91"/>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28" name="Freeform 92"/>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29" name="Line 93"/>
            <p:cNvSpPr>
              <a:spLocks noChangeShapeType="1"/>
            </p:cNvSpPr>
            <p:nvPr/>
          </p:nvSpPr>
          <p:spPr bwMode="auto">
            <a:xfrm>
              <a:off x="5527" y="3568"/>
              <a:ext cx="139" cy="0"/>
            </a:xfrm>
            <a:prstGeom prst="line">
              <a:avLst/>
            </a:prstGeom>
            <a:noFill/>
            <a:ln w="25400">
              <a:solidFill>
                <a:schemeClr val="tx1"/>
              </a:solidFill>
              <a:round/>
              <a:headEnd/>
              <a:tailEnd/>
            </a:ln>
            <a:effectLst/>
          </p:spPr>
          <p:txBody>
            <a:bodyPr wrap="none" anchor="ctr"/>
            <a:lstStyle/>
            <a:p>
              <a:endParaRPr lang="en-US"/>
            </a:p>
          </p:txBody>
        </p:sp>
        <p:sp>
          <p:nvSpPr>
            <p:cNvPr id="1294430" name="Line 94"/>
            <p:cNvSpPr>
              <a:spLocks noChangeShapeType="1"/>
            </p:cNvSpPr>
            <p:nvPr/>
          </p:nvSpPr>
          <p:spPr bwMode="auto">
            <a:xfrm>
              <a:off x="5043" y="3568"/>
              <a:ext cx="155" cy="0"/>
            </a:xfrm>
            <a:prstGeom prst="line">
              <a:avLst/>
            </a:prstGeom>
            <a:noFill/>
            <a:ln w="25400">
              <a:solidFill>
                <a:schemeClr val="tx1"/>
              </a:solidFill>
              <a:round/>
              <a:headEnd/>
              <a:tailEnd/>
            </a:ln>
            <a:effectLst/>
          </p:spPr>
          <p:txBody>
            <a:bodyPr wrap="none" anchor="ctr"/>
            <a:lstStyle/>
            <a:p>
              <a:endParaRPr lang="en-US"/>
            </a:p>
          </p:txBody>
        </p:sp>
        <p:sp>
          <p:nvSpPr>
            <p:cNvPr id="1294431" name="Line 95"/>
            <p:cNvSpPr>
              <a:spLocks noChangeShapeType="1"/>
            </p:cNvSpPr>
            <p:nvPr/>
          </p:nvSpPr>
          <p:spPr bwMode="auto">
            <a:xfrm>
              <a:off x="4658" y="3664"/>
              <a:ext cx="157" cy="0"/>
            </a:xfrm>
            <a:prstGeom prst="line">
              <a:avLst/>
            </a:prstGeom>
            <a:noFill/>
            <a:ln w="25400">
              <a:solidFill>
                <a:schemeClr val="tx1"/>
              </a:solidFill>
              <a:round/>
              <a:headEnd/>
              <a:tailEnd/>
            </a:ln>
            <a:effectLst/>
          </p:spPr>
          <p:txBody>
            <a:bodyPr wrap="none" anchor="ctr"/>
            <a:lstStyle/>
            <a:p>
              <a:endParaRPr lang="en-US"/>
            </a:p>
          </p:txBody>
        </p:sp>
        <p:sp>
          <p:nvSpPr>
            <p:cNvPr id="1294432" name="Line 96"/>
            <p:cNvSpPr>
              <a:spLocks noChangeShapeType="1"/>
            </p:cNvSpPr>
            <p:nvPr/>
          </p:nvSpPr>
          <p:spPr bwMode="auto">
            <a:xfrm>
              <a:off x="4742" y="3664"/>
              <a:ext cx="0" cy="192"/>
            </a:xfrm>
            <a:prstGeom prst="line">
              <a:avLst/>
            </a:prstGeom>
            <a:noFill/>
            <a:ln w="28575">
              <a:solidFill>
                <a:schemeClr val="tx1"/>
              </a:solidFill>
              <a:round/>
              <a:headEnd/>
              <a:tailEnd/>
            </a:ln>
            <a:effectLst/>
          </p:spPr>
          <p:txBody>
            <a:bodyPr/>
            <a:lstStyle/>
            <a:p>
              <a:endParaRPr lang="en-US"/>
            </a:p>
          </p:txBody>
        </p:sp>
        <p:sp>
          <p:nvSpPr>
            <p:cNvPr id="1294433" name="Line 97"/>
            <p:cNvSpPr>
              <a:spLocks noChangeShapeType="1"/>
            </p:cNvSpPr>
            <p:nvPr/>
          </p:nvSpPr>
          <p:spPr bwMode="auto">
            <a:xfrm>
              <a:off x="4742" y="3856"/>
              <a:ext cx="336" cy="0"/>
            </a:xfrm>
            <a:prstGeom prst="line">
              <a:avLst/>
            </a:prstGeom>
            <a:noFill/>
            <a:ln w="28575">
              <a:solidFill>
                <a:schemeClr val="tx1"/>
              </a:solidFill>
              <a:round/>
              <a:headEnd/>
              <a:tailEnd/>
            </a:ln>
            <a:effectLst/>
          </p:spPr>
          <p:txBody>
            <a:bodyPr/>
            <a:lstStyle/>
            <a:p>
              <a:endParaRPr lang="en-US"/>
            </a:p>
          </p:txBody>
        </p:sp>
        <p:sp>
          <p:nvSpPr>
            <p:cNvPr id="1294434" name="Line 98"/>
            <p:cNvSpPr>
              <a:spLocks noChangeShapeType="1"/>
            </p:cNvSpPr>
            <p:nvPr/>
          </p:nvSpPr>
          <p:spPr bwMode="auto">
            <a:xfrm>
              <a:off x="5078" y="3568"/>
              <a:ext cx="0" cy="288"/>
            </a:xfrm>
            <a:prstGeom prst="line">
              <a:avLst/>
            </a:prstGeom>
            <a:noFill/>
            <a:ln w="28575">
              <a:solidFill>
                <a:schemeClr val="tx1"/>
              </a:solidFill>
              <a:round/>
              <a:headEnd/>
              <a:tailEnd/>
            </a:ln>
            <a:effectLst/>
          </p:spPr>
          <p:txBody>
            <a:bodyPr/>
            <a:lstStyle/>
            <a:p>
              <a:endParaRPr lang="en-US"/>
            </a:p>
          </p:txBody>
        </p:sp>
        <p:sp>
          <p:nvSpPr>
            <p:cNvPr id="1294435" name="Line 99"/>
            <p:cNvSpPr>
              <a:spLocks noChangeShapeType="1"/>
            </p:cNvSpPr>
            <p:nvPr/>
          </p:nvSpPr>
          <p:spPr bwMode="auto">
            <a:xfrm flipH="1">
              <a:off x="5158" y="3568"/>
              <a:ext cx="0" cy="240"/>
            </a:xfrm>
            <a:prstGeom prst="line">
              <a:avLst/>
            </a:prstGeom>
            <a:noFill/>
            <a:ln w="28575">
              <a:solidFill>
                <a:schemeClr val="tx1"/>
              </a:solidFill>
              <a:round/>
              <a:headEnd/>
              <a:tailEnd/>
            </a:ln>
            <a:effectLst/>
          </p:spPr>
          <p:txBody>
            <a:bodyPr/>
            <a:lstStyle/>
            <a:p>
              <a:endParaRPr lang="en-US"/>
            </a:p>
          </p:txBody>
        </p:sp>
        <p:sp>
          <p:nvSpPr>
            <p:cNvPr id="1294436" name="Line 100"/>
            <p:cNvSpPr>
              <a:spLocks noChangeShapeType="1"/>
            </p:cNvSpPr>
            <p:nvPr/>
          </p:nvSpPr>
          <p:spPr bwMode="auto">
            <a:xfrm>
              <a:off x="5158" y="3808"/>
              <a:ext cx="432" cy="0"/>
            </a:xfrm>
            <a:prstGeom prst="line">
              <a:avLst/>
            </a:prstGeom>
            <a:noFill/>
            <a:ln w="28575">
              <a:solidFill>
                <a:schemeClr val="tx1"/>
              </a:solidFill>
              <a:round/>
              <a:headEnd/>
              <a:tailEnd/>
            </a:ln>
            <a:effectLst/>
          </p:spPr>
          <p:txBody>
            <a:bodyPr/>
            <a:lstStyle/>
            <a:p>
              <a:endParaRPr lang="en-US"/>
            </a:p>
          </p:txBody>
        </p:sp>
        <p:sp>
          <p:nvSpPr>
            <p:cNvPr id="1294437" name="Line 101"/>
            <p:cNvSpPr>
              <a:spLocks noChangeShapeType="1"/>
            </p:cNvSpPr>
            <p:nvPr/>
          </p:nvSpPr>
          <p:spPr bwMode="auto">
            <a:xfrm>
              <a:off x="5590" y="3568"/>
              <a:ext cx="0" cy="240"/>
            </a:xfrm>
            <a:prstGeom prst="line">
              <a:avLst/>
            </a:prstGeom>
            <a:noFill/>
            <a:ln w="28575">
              <a:solidFill>
                <a:schemeClr val="tx1"/>
              </a:solidFill>
              <a:round/>
              <a:headEnd/>
              <a:tailEnd/>
            </a:ln>
            <a:effectLst/>
          </p:spPr>
          <p:txBody>
            <a:bodyPr/>
            <a:lstStyle/>
            <a:p>
              <a:endParaRPr lang="en-US"/>
            </a:p>
          </p:txBody>
        </p:sp>
      </p:grpSp>
      <p:grpSp>
        <p:nvGrpSpPr>
          <p:cNvPr id="20" name="Group 102"/>
          <p:cNvGrpSpPr>
            <a:grpSpLocks/>
          </p:cNvGrpSpPr>
          <p:nvPr/>
        </p:nvGrpSpPr>
        <p:grpSpPr bwMode="auto">
          <a:xfrm>
            <a:off x="4114800" y="2667000"/>
            <a:ext cx="3355975" cy="838200"/>
            <a:chOff x="1562" y="1152"/>
            <a:chExt cx="2114" cy="528"/>
          </a:xfrm>
        </p:grpSpPr>
        <p:grpSp>
          <p:nvGrpSpPr>
            <p:cNvPr id="21" name="Group 103"/>
            <p:cNvGrpSpPr>
              <a:grpSpLocks/>
            </p:cNvGrpSpPr>
            <p:nvPr/>
          </p:nvGrpSpPr>
          <p:grpSpPr bwMode="auto">
            <a:xfrm>
              <a:off x="2487" y="1152"/>
              <a:ext cx="223" cy="481"/>
              <a:chOff x="2207" y="1413"/>
              <a:chExt cx="223" cy="481"/>
            </a:xfrm>
          </p:grpSpPr>
          <p:sp>
            <p:nvSpPr>
              <p:cNvPr id="1294440" name="Freeform 10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41" name="Rectangle 10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2" name="Group 106"/>
            <p:cNvGrpSpPr>
              <a:grpSpLocks/>
            </p:cNvGrpSpPr>
            <p:nvPr/>
          </p:nvGrpSpPr>
          <p:grpSpPr bwMode="auto">
            <a:xfrm>
              <a:off x="1562" y="1248"/>
              <a:ext cx="349" cy="289"/>
              <a:chOff x="1282" y="1509"/>
              <a:chExt cx="349" cy="289"/>
            </a:xfrm>
          </p:grpSpPr>
          <p:sp>
            <p:nvSpPr>
              <p:cNvPr id="1294443" name="Rectangle 10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3" name="Group 108"/>
              <p:cNvGrpSpPr>
                <a:grpSpLocks/>
              </p:cNvGrpSpPr>
              <p:nvPr/>
            </p:nvGrpSpPr>
            <p:grpSpPr bwMode="auto">
              <a:xfrm>
                <a:off x="1291" y="1509"/>
                <a:ext cx="340" cy="289"/>
                <a:chOff x="1291" y="1509"/>
                <a:chExt cx="340" cy="289"/>
              </a:xfrm>
            </p:grpSpPr>
            <p:sp>
              <p:nvSpPr>
                <p:cNvPr id="1294445" name="Freeform 10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46" name="Freeform 11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94447" name="Rectangle 11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4" name="Group 112"/>
            <p:cNvGrpSpPr>
              <a:grpSpLocks/>
            </p:cNvGrpSpPr>
            <p:nvPr/>
          </p:nvGrpSpPr>
          <p:grpSpPr bwMode="auto">
            <a:xfrm>
              <a:off x="2031" y="1248"/>
              <a:ext cx="296" cy="289"/>
              <a:chOff x="1751" y="1509"/>
              <a:chExt cx="296" cy="289"/>
            </a:xfrm>
          </p:grpSpPr>
          <p:sp>
            <p:nvSpPr>
              <p:cNvPr id="1294449" name="Freeform 11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50" name="Freeform 11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51" name="Line 11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94452" name="Freeform 11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53" name="Line 11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94454" name="Rectangle 11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5" name="Group 119"/>
            <p:cNvGrpSpPr>
              <a:grpSpLocks/>
            </p:cNvGrpSpPr>
            <p:nvPr/>
          </p:nvGrpSpPr>
          <p:grpSpPr bwMode="auto">
            <a:xfrm>
              <a:off x="2880" y="1248"/>
              <a:ext cx="325" cy="289"/>
              <a:chOff x="2600" y="1509"/>
              <a:chExt cx="325" cy="289"/>
            </a:xfrm>
          </p:grpSpPr>
          <p:sp>
            <p:nvSpPr>
              <p:cNvPr id="1294456" name="Freeform 12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57" name="Freeform 12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58" name="Rectangle 12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6" name="Group 123"/>
            <p:cNvGrpSpPr>
              <a:grpSpLocks/>
            </p:cNvGrpSpPr>
            <p:nvPr/>
          </p:nvGrpSpPr>
          <p:grpSpPr bwMode="auto">
            <a:xfrm>
              <a:off x="3348" y="1248"/>
              <a:ext cx="284" cy="289"/>
              <a:chOff x="3068" y="1509"/>
              <a:chExt cx="284" cy="289"/>
            </a:xfrm>
          </p:grpSpPr>
          <p:sp>
            <p:nvSpPr>
              <p:cNvPr id="1294460" name="Freeform 12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61" name="Freeform 12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62" name="Line 12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94463" name="Line 12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94464" name="Line 12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94465" name="Line 12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94466" name="Line 13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94467" name="Line 13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94468" name="Line 13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94469" name="Line 13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94470" name="Line 13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7" name="Group 135"/>
          <p:cNvGrpSpPr>
            <a:grpSpLocks/>
          </p:cNvGrpSpPr>
          <p:nvPr/>
        </p:nvGrpSpPr>
        <p:grpSpPr bwMode="auto">
          <a:xfrm>
            <a:off x="4800600" y="3505200"/>
            <a:ext cx="3355975" cy="838200"/>
            <a:chOff x="1562" y="1152"/>
            <a:chExt cx="2114" cy="528"/>
          </a:xfrm>
        </p:grpSpPr>
        <p:grpSp>
          <p:nvGrpSpPr>
            <p:cNvPr id="28" name="Group 136"/>
            <p:cNvGrpSpPr>
              <a:grpSpLocks/>
            </p:cNvGrpSpPr>
            <p:nvPr/>
          </p:nvGrpSpPr>
          <p:grpSpPr bwMode="auto">
            <a:xfrm>
              <a:off x="2487" y="1152"/>
              <a:ext cx="223" cy="481"/>
              <a:chOff x="2207" y="1413"/>
              <a:chExt cx="223" cy="481"/>
            </a:xfrm>
          </p:grpSpPr>
          <p:sp>
            <p:nvSpPr>
              <p:cNvPr id="1294473" name="Freeform 137"/>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74" name="Rectangle 138"/>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9" name="Group 139"/>
            <p:cNvGrpSpPr>
              <a:grpSpLocks/>
            </p:cNvGrpSpPr>
            <p:nvPr/>
          </p:nvGrpSpPr>
          <p:grpSpPr bwMode="auto">
            <a:xfrm>
              <a:off x="1562" y="1248"/>
              <a:ext cx="349" cy="289"/>
              <a:chOff x="1282" y="1509"/>
              <a:chExt cx="349" cy="289"/>
            </a:xfrm>
          </p:grpSpPr>
          <p:sp>
            <p:nvSpPr>
              <p:cNvPr id="1294476" name="Rectangle 140"/>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30" name="Group 141"/>
              <p:cNvGrpSpPr>
                <a:grpSpLocks/>
              </p:cNvGrpSpPr>
              <p:nvPr/>
            </p:nvGrpSpPr>
            <p:grpSpPr bwMode="auto">
              <a:xfrm>
                <a:off x="1291" y="1509"/>
                <a:ext cx="340" cy="289"/>
                <a:chOff x="1291" y="1509"/>
                <a:chExt cx="340" cy="289"/>
              </a:xfrm>
            </p:grpSpPr>
            <p:sp>
              <p:nvSpPr>
                <p:cNvPr id="1294478" name="Freeform 142"/>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79" name="Freeform 143"/>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94480" name="Rectangle 144"/>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1" name="Group 145"/>
            <p:cNvGrpSpPr>
              <a:grpSpLocks/>
            </p:cNvGrpSpPr>
            <p:nvPr/>
          </p:nvGrpSpPr>
          <p:grpSpPr bwMode="auto">
            <a:xfrm>
              <a:off x="2031" y="1248"/>
              <a:ext cx="296" cy="289"/>
              <a:chOff x="1751" y="1509"/>
              <a:chExt cx="296" cy="289"/>
            </a:xfrm>
          </p:grpSpPr>
          <p:sp>
            <p:nvSpPr>
              <p:cNvPr id="1294482" name="Freeform 146"/>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83" name="Freeform 147"/>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84" name="Line 148"/>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94485" name="Freeform 149"/>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86" name="Line 150"/>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94487" name="Rectangle 151"/>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24" name="Group 152"/>
            <p:cNvGrpSpPr>
              <a:grpSpLocks/>
            </p:cNvGrpSpPr>
            <p:nvPr/>
          </p:nvGrpSpPr>
          <p:grpSpPr bwMode="auto">
            <a:xfrm>
              <a:off x="2880" y="1248"/>
              <a:ext cx="325" cy="289"/>
              <a:chOff x="2600" y="1509"/>
              <a:chExt cx="325" cy="289"/>
            </a:xfrm>
          </p:grpSpPr>
          <p:sp>
            <p:nvSpPr>
              <p:cNvPr id="1294489" name="Freeform 153"/>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90" name="Freeform 154"/>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91" name="Rectangle 155"/>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25" name="Group 156"/>
            <p:cNvGrpSpPr>
              <a:grpSpLocks/>
            </p:cNvGrpSpPr>
            <p:nvPr/>
          </p:nvGrpSpPr>
          <p:grpSpPr bwMode="auto">
            <a:xfrm>
              <a:off x="3348" y="1248"/>
              <a:ext cx="284" cy="289"/>
              <a:chOff x="3068" y="1509"/>
              <a:chExt cx="284" cy="289"/>
            </a:xfrm>
          </p:grpSpPr>
          <p:sp>
            <p:nvSpPr>
              <p:cNvPr id="1294493" name="Freeform 157"/>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494" name="Freeform 158"/>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495" name="Line 159"/>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94496" name="Line 160"/>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94497" name="Line 161"/>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94498" name="Line 162"/>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94499" name="Line 163"/>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94500" name="Line 164"/>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94501" name="Line 165"/>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94502" name="Line 166"/>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94503" name="Line 167"/>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26" name="Group 168"/>
          <p:cNvGrpSpPr>
            <a:grpSpLocks/>
          </p:cNvGrpSpPr>
          <p:nvPr/>
        </p:nvGrpSpPr>
        <p:grpSpPr bwMode="auto">
          <a:xfrm>
            <a:off x="5486400" y="4419600"/>
            <a:ext cx="3355975" cy="838200"/>
            <a:chOff x="1562" y="1152"/>
            <a:chExt cx="2114" cy="528"/>
          </a:xfrm>
        </p:grpSpPr>
        <p:grpSp>
          <p:nvGrpSpPr>
            <p:cNvPr id="227" name="Group 169"/>
            <p:cNvGrpSpPr>
              <a:grpSpLocks/>
            </p:cNvGrpSpPr>
            <p:nvPr/>
          </p:nvGrpSpPr>
          <p:grpSpPr bwMode="auto">
            <a:xfrm>
              <a:off x="2487" y="1152"/>
              <a:ext cx="223" cy="481"/>
              <a:chOff x="2207" y="1413"/>
              <a:chExt cx="223" cy="481"/>
            </a:xfrm>
          </p:grpSpPr>
          <p:sp>
            <p:nvSpPr>
              <p:cNvPr id="1294506" name="Freeform 17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07" name="Rectangle 17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28" name="Group 172"/>
            <p:cNvGrpSpPr>
              <a:grpSpLocks/>
            </p:cNvGrpSpPr>
            <p:nvPr/>
          </p:nvGrpSpPr>
          <p:grpSpPr bwMode="auto">
            <a:xfrm>
              <a:off x="1562" y="1248"/>
              <a:ext cx="349" cy="289"/>
              <a:chOff x="1282" y="1509"/>
              <a:chExt cx="349" cy="289"/>
            </a:xfrm>
          </p:grpSpPr>
          <p:sp>
            <p:nvSpPr>
              <p:cNvPr id="1294509" name="Rectangle 17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29" name="Group 174"/>
              <p:cNvGrpSpPr>
                <a:grpSpLocks/>
              </p:cNvGrpSpPr>
              <p:nvPr/>
            </p:nvGrpSpPr>
            <p:grpSpPr bwMode="auto">
              <a:xfrm>
                <a:off x="1291" y="1509"/>
                <a:ext cx="340" cy="289"/>
                <a:chOff x="1291" y="1509"/>
                <a:chExt cx="340" cy="289"/>
              </a:xfrm>
            </p:grpSpPr>
            <p:sp>
              <p:nvSpPr>
                <p:cNvPr id="1294511" name="Freeform 17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12" name="Freeform 17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94513" name="Rectangle 17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0" name="Group 178"/>
            <p:cNvGrpSpPr>
              <a:grpSpLocks/>
            </p:cNvGrpSpPr>
            <p:nvPr/>
          </p:nvGrpSpPr>
          <p:grpSpPr bwMode="auto">
            <a:xfrm>
              <a:off x="2031" y="1248"/>
              <a:ext cx="296" cy="289"/>
              <a:chOff x="1751" y="1509"/>
              <a:chExt cx="296" cy="289"/>
            </a:xfrm>
          </p:grpSpPr>
          <p:sp>
            <p:nvSpPr>
              <p:cNvPr id="1294515" name="Freeform 17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16" name="Freeform 18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517" name="Line 18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94518" name="Freeform 18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19" name="Line 18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94520" name="Rectangle 18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31" name="Group 185"/>
            <p:cNvGrpSpPr>
              <a:grpSpLocks/>
            </p:cNvGrpSpPr>
            <p:nvPr/>
          </p:nvGrpSpPr>
          <p:grpSpPr bwMode="auto">
            <a:xfrm>
              <a:off x="2880" y="1248"/>
              <a:ext cx="325" cy="289"/>
              <a:chOff x="2600" y="1509"/>
              <a:chExt cx="325" cy="289"/>
            </a:xfrm>
          </p:grpSpPr>
          <p:sp>
            <p:nvSpPr>
              <p:cNvPr id="1294522" name="Freeform 18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23" name="Freeform 18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524" name="Rectangle 18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2" name="Group 189"/>
            <p:cNvGrpSpPr>
              <a:grpSpLocks/>
            </p:cNvGrpSpPr>
            <p:nvPr/>
          </p:nvGrpSpPr>
          <p:grpSpPr bwMode="auto">
            <a:xfrm>
              <a:off x="3348" y="1248"/>
              <a:ext cx="284" cy="289"/>
              <a:chOff x="3068" y="1509"/>
              <a:chExt cx="284" cy="289"/>
            </a:xfrm>
          </p:grpSpPr>
          <p:sp>
            <p:nvSpPr>
              <p:cNvPr id="1294526" name="Freeform 19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27" name="Freeform 19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528" name="Line 19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94529" name="Line 19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94530" name="Line 19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94531" name="Line 19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94532" name="Line 19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94533" name="Line 19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94534" name="Line 19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94535" name="Line 19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94536" name="Line 20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33" name="Group 201"/>
          <p:cNvGrpSpPr>
            <a:grpSpLocks/>
          </p:cNvGrpSpPr>
          <p:nvPr/>
        </p:nvGrpSpPr>
        <p:grpSpPr bwMode="auto">
          <a:xfrm>
            <a:off x="3429000" y="1905000"/>
            <a:ext cx="3355975" cy="838200"/>
            <a:chOff x="1562" y="1152"/>
            <a:chExt cx="2114" cy="528"/>
          </a:xfrm>
        </p:grpSpPr>
        <p:grpSp>
          <p:nvGrpSpPr>
            <p:cNvPr id="234" name="Group 202"/>
            <p:cNvGrpSpPr>
              <a:grpSpLocks/>
            </p:cNvGrpSpPr>
            <p:nvPr/>
          </p:nvGrpSpPr>
          <p:grpSpPr bwMode="auto">
            <a:xfrm>
              <a:off x="2487" y="1152"/>
              <a:ext cx="223" cy="481"/>
              <a:chOff x="2207" y="1413"/>
              <a:chExt cx="223" cy="481"/>
            </a:xfrm>
          </p:grpSpPr>
          <p:sp>
            <p:nvSpPr>
              <p:cNvPr id="1294539" name="Freeform 203"/>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40" name="Rectangle 204"/>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35" name="Group 205"/>
            <p:cNvGrpSpPr>
              <a:grpSpLocks/>
            </p:cNvGrpSpPr>
            <p:nvPr/>
          </p:nvGrpSpPr>
          <p:grpSpPr bwMode="auto">
            <a:xfrm>
              <a:off x="1562" y="1248"/>
              <a:ext cx="349" cy="289"/>
              <a:chOff x="1282" y="1509"/>
              <a:chExt cx="349" cy="289"/>
            </a:xfrm>
          </p:grpSpPr>
          <p:sp>
            <p:nvSpPr>
              <p:cNvPr id="1294542" name="Rectangle 206"/>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36" name="Group 207"/>
              <p:cNvGrpSpPr>
                <a:grpSpLocks/>
              </p:cNvGrpSpPr>
              <p:nvPr/>
            </p:nvGrpSpPr>
            <p:grpSpPr bwMode="auto">
              <a:xfrm>
                <a:off x="1291" y="1509"/>
                <a:ext cx="340" cy="289"/>
                <a:chOff x="1291" y="1509"/>
                <a:chExt cx="340" cy="289"/>
              </a:xfrm>
            </p:grpSpPr>
            <p:sp>
              <p:nvSpPr>
                <p:cNvPr id="1294544" name="Freeform 208"/>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45" name="Freeform 209"/>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94546" name="Rectangle 210"/>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7" name="Group 211"/>
            <p:cNvGrpSpPr>
              <a:grpSpLocks/>
            </p:cNvGrpSpPr>
            <p:nvPr/>
          </p:nvGrpSpPr>
          <p:grpSpPr bwMode="auto">
            <a:xfrm>
              <a:off x="2031" y="1248"/>
              <a:ext cx="296" cy="289"/>
              <a:chOff x="1751" y="1509"/>
              <a:chExt cx="296" cy="289"/>
            </a:xfrm>
          </p:grpSpPr>
          <p:sp>
            <p:nvSpPr>
              <p:cNvPr id="1294548" name="Freeform 212"/>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49" name="Freeform 213"/>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550" name="Line 214"/>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94551" name="Freeform 215"/>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52" name="Line 216"/>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94553" name="Rectangle 217"/>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38" name="Group 218"/>
            <p:cNvGrpSpPr>
              <a:grpSpLocks/>
            </p:cNvGrpSpPr>
            <p:nvPr/>
          </p:nvGrpSpPr>
          <p:grpSpPr bwMode="auto">
            <a:xfrm>
              <a:off x="2880" y="1248"/>
              <a:ext cx="325" cy="289"/>
              <a:chOff x="2600" y="1509"/>
              <a:chExt cx="325" cy="289"/>
            </a:xfrm>
          </p:grpSpPr>
          <p:sp>
            <p:nvSpPr>
              <p:cNvPr id="1294555" name="Freeform 219"/>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56" name="Freeform 220"/>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557" name="Rectangle 221"/>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9" name="Group 222"/>
            <p:cNvGrpSpPr>
              <a:grpSpLocks/>
            </p:cNvGrpSpPr>
            <p:nvPr/>
          </p:nvGrpSpPr>
          <p:grpSpPr bwMode="auto">
            <a:xfrm>
              <a:off x="3348" y="1248"/>
              <a:ext cx="284" cy="289"/>
              <a:chOff x="3068" y="1509"/>
              <a:chExt cx="284" cy="289"/>
            </a:xfrm>
          </p:grpSpPr>
          <p:sp>
            <p:nvSpPr>
              <p:cNvPr id="1294559" name="Freeform 223"/>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94560" name="Freeform 224"/>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94561" name="Line 225"/>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94562" name="Line 226"/>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94563" name="Line 227"/>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94564" name="Line 228"/>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94565" name="Line 229"/>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94566" name="Line 230"/>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94567" name="Line 231"/>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94568" name="Line 232"/>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94569" name="Line 233"/>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94570" name="Rectangle 234"/>
          <p:cNvSpPr>
            <a:spLocks noChangeArrowheads="1"/>
          </p:cNvSpPr>
          <p:nvPr/>
        </p:nvSpPr>
        <p:spPr bwMode="auto">
          <a:xfrm>
            <a:off x="685800" y="2133600"/>
            <a:ext cx="2371725"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sub $4,</a:t>
            </a:r>
            <a:r>
              <a:rPr lang="en-US" sz="2400" b="1">
                <a:latin typeface="Courier New" pitchFamily="49" charset="0"/>
              </a:rPr>
              <a:t>$1</a:t>
            </a:r>
            <a:r>
              <a:rPr lang="en-US" sz="2400" b="1">
                <a:solidFill>
                  <a:schemeClr val="tx1"/>
                </a:solidFill>
                <a:latin typeface="Courier New" pitchFamily="49" charset="0"/>
              </a:rPr>
              <a:t>,$5</a:t>
            </a:r>
          </a:p>
        </p:txBody>
      </p:sp>
      <p:cxnSp>
        <p:nvCxnSpPr>
          <p:cNvPr id="1294571" name="AutoShape 235"/>
          <p:cNvCxnSpPr>
            <a:cxnSpLocks noChangeShapeType="1"/>
            <a:stCxn id="1294545" idx="3"/>
            <a:endCxn id="1294445" idx="1"/>
          </p:cNvCxnSpPr>
          <p:nvPr/>
        </p:nvCxnSpPr>
        <p:spPr bwMode="auto">
          <a:xfrm rot="16200000" flipH="1">
            <a:off x="3780632" y="2458243"/>
            <a:ext cx="279400" cy="417513"/>
          </a:xfrm>
          <a:prstGeom prst="curvedConnector3">
            <a:avLst>
              <a:gd name="adj1" fmla="val 50000"/>
            </a:avLst>
          </a:prstGeom>
          <a:noFill/>
          <a:ln w="28575">
            <a:solidFill>
              <a:schemeClr val="tx1"/>
            </a:solidFill>
            <a:round/>
            <a:headEnd/>
            <a:tailEnd type="triangle" w="med" len="med"/>
          </a:ln>
          <a:effectLst/>
        </p:spPr>
      </p:cxnSp>
      <p:grpSp>
        <p:nvGrpSpPr>
          <p:cNvPr id="241" name="Group 236"/>
          <p:cNvGrpSpPr>
            <a:grpSpLocks/>
          </p:cNvGrpSpPr>
          <p:nvPr/>
        </p:nvGrpSpPr>
        <p:grpSpPr bwMode="auto">
          <a:xfrm>
            <a:off x="685800" y="2789238"/>
            <a:ext cx="2371725" cy="2163762"/>
            <a:chOff x="480" y="2299"/>
            <a:chExt cx="1494" cy="1363"/>
          </a:xfrm>
        </p:grpSpPr>
        <p:sp>
          <p:nvSpPr>
            <p:cNvPr id="1294573" name="Rectangle 237"/>
            <p:cNvSpPr>
              <a:spLocks noChangeArrowheads="1"/>
            </p:cNvSpPr>
            <p:nvPr/>
          </p:nvSpPr>
          <p:spPr bwMode="auto">
            <a:xfrm>
              <a:off x="480" y="2299"/>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and $6,</a:t>
              </a:r>
              <a:r>
                <a:rPr lang="en-US" sz="2400" b="1">
                  <a:solidFill>
                    <a:srgbClr val="009900"/>
                  </a:solidFill>
                  <a:latin typeface="Courier New" pitchFamily="49" charset="0"/>
                </a:rPr>
                <a:t>$1</a:t>
              </a:r>
              <a:r>
                <a:rPr lang="en-US" sz="2400" b="1">
                  <a:solidFill>
                    <a:schemeClr val="tx1"/>
                  </a:solidFill>
                  <a:latin typeface="Courier New" pitchFamily="49" charset="0"/>
                </a:rPr>
                <a:t>,$7</a:t>
              </a:r>
            </a:p>
          </p:txBody>
        </p:sp>
        <p:sp>
          <p:nvSpPr>
            <p:cNvPr id="1294574" name="Rectangle 238"/>
            <p:cNvSpPr>
              <a:spLocks noChangeArrowheads="1"/>
            </p:cNvSpPr>
            <p:nvPr/>
          </p:nvSpPr>
          <p:spPr bwMode="auto">
            <a:xfrm>
              <a:off x="480" y="3376"/>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xor $4,</a:t>
              </a:r>
              <a:r>
                <a:rPr lang="en-US" sz="2400" b="1">
                  <a:solidFill>
                    <a:srgbClr val="009900"/>
                  </a:solidFill>
                  <a:latin typeface="Courier New" pitchFamily="49" charset="0"/>
                </a:rPr>
                <a:t>$1</a:t>
              </a:r>
              <a:r>
                <a:rPr lang="en-US" sz="2400" b="1">
                  <a:solidFill>
                    <a:schemeClr val="tx1"/>
                  </a:solidFill>
                  <a:latin typeface="Courier New" pitchFamily="49" charset="0"/>
                </a:rPr>
                <a:t>,$5</a:t>
              </a:r>
            </a:p>
          </p:txBody>
        </p:sp>
        <p:sp>
          <p:nvSpPr>
            <p:cNvPr id="1294575" name="Rectangle 239"/>
            <p:cNvSpPr>
              <a:spLocks noChangeArrowheads="1"/>
            </p:cNvSpPr>
            <p:nvPr/>
          </p:nvSpPr>
          <p:spPr bwMode="auto">
            <a:xfrm>
              <a:off x="480" y="2827"/>
              <a:ext cx="1494"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or  $8,</a:t>
              </a:r>
              <a:r>
                <a:rPr lang="en-US" sz="2400" b="1">
                  <a:solidFill>
                    <a:srgbClr val="009900"/>
                  </a:solidFill>
                  <a:latin typeface="Courier New" pitchFamily="49" charset="0"/>
                </a:rPr>
                <a:t>$1</a:t>
              </a:r>
              <a:r>
                <a:rPr lang="en-US" sz="2400" b="1">
                  <a:solidFill>
                    <a:schemeClr val="tx1"/>
                  </a:solidFill>
                  <a:latin typeface="Courier New" pitchFamily="49" charset="0"/>
                </a:rPr>
                <a:t>,$9</a:t>
              </a:r>
            </a:p>
          </p:txBody>
        </p:sp>
      </p:grpSp>
      <p:sp>
        <p:nvSpPr>
          <p:cNvPr id="240" name="Rectangle 196"/>
          <p:cNvSpPr txBox="1">
            <a:spLocks noChangeArrowheads="1"/>
          </p:cNvSpPr>
          <p:nvPr/>
        </p:nvSpPr>
        <p:spPr bwMode="auto">
          <a:xfrm>
            <a:off x="685800" y="6249987"/>
            <a:ext cx="7391400" cy="37941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marL="342900" marR="0" lvl="0" indent="-342900" algn="l" defTabSz="914400" rtl="0" eaLnBrk="0" fontAlgn="base" latinLnBrk="0" hangingPunct="0">
              <a:lnSpc>
                <a:spcPct val="90000"/>
              </a:lnSpc>
              <a:spcBef>
                <a:spcPct val="65000"/>
              </a:spcBef>
              <a:spcAft>
                <a:spcPct val="0"/>
              </a:spcAft>
              <a:buClr>
                <a:schemeClr val="accent1"/>
              </a:buClr>
              <a:buSzPct val="75000"/>
              <a:buFont typeface="Wingdings" pitchFamily="2" charset="2"/>
              <a:buChar char="q"/>
              <a:tabLst/>
              <a:defRPr/>
            </a:pPr>
            <a:r>
              <a:rPr kumimoji="0" lang="en-US" sz="2400" b="0" i="0" u="none" strike="noStrike" kern="0" cap="none" spc="0" normalizeH="0" baseline="0" noProof="0">
                <a:ln>
                  <a:noFill/>
                </a:ln>
                <a:solidFill>
                  <a:schemeClr val="tx1"/>
                </a:solidFill>
                <a:effectLst/>
                <a:uLnTx/>
                <a:uFillTx/>
                <a:latin typeface="+mn-lt"/>
                <a:ea typeface="+mn-ea"/>
                <a:cs typeface="+mn-cs"/>
              </a:rPr>
              <a:t>Will still need </a:t>
            </a:r>
            <a:r>
              <a:rPr kumimoji="0" lang="en-US" sz="2400" b="0" i="0" u="none" strike="noStrike" kern="0" cap="none" spc="0" normalizeH="0" baseline="0" noProof="0">
                <a:ln>
                  <a:noFill/>
                </a:ln>
                <a:solidFill>
                  <a:schemeClr val="accent1"/>
                </a:solidFill>
                <a:effectLst/>
                <a:uLnTx/>
                <a:uFillTx/>
                <a:latin typeface="+mn-lt"/>
                <a:ea typeface="+mn-ea"/>
                <a:cs typeface="+mn-cs"/>
              </a:rPr>
              <a:t>one stall cycle</a:t>
            </a:r>
            <a:r>
              <a:rPr kumimoji="0" lang="en-US" sz="2400" b="0" i="0" u="none" strike="noStrike" kern="0" cap="none" spc="0" normalizeH="0" baseline="0" noProof="0">
                <a:ln>
                  <a:noFill/>
                </a:ln>
                <a:solidFill>
                  <a:schemeClr val="tx1"/>
                </a:solidFill>
                <a:effectLst/>
                <a:uLnTx/>
                <a:uFillTx/>
                <a:latin typeface="+mn-lt"/>
                <a:ea typeface="+mn-ea"/>
                <a:cs typeface="+mn-cs"/>
              </a:rPr>
              <a:t> even with forwarding</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grpSp>
        <p:nvGrpSpPr>
          <p:cNvPr id="242" name="Group 9"/>
          <p:cNvGrpSpPr>
            <a:grpSpLocks/>
          </p:cNvGrpSpPr>
          <p:nvPr/>
        </p:nvGrpSpPr>
        <p:grpSpPr bwMode="auto">
          <a:xfrm>
            <a:off x="4800600" y="1219200"/>
            <a:ext cx="609600" cy="1296051"/>
            <a:chOff x="3216" y="784"/>
            <a:chExt cx="384" cy="796"/>
          </a:xfrm>
        </p:grpSpPr>
        <p:sp>
          <p:nvSpPr>
            <p:cNvPr id="284" name="Rectangle 10"/>
            <p:cNvSpPr>
              <a:spLocks noChangeArrowheads="1"/>
            </p:cNvSpPr>
            <p:nvPr/>
          </p:nvSpPr>
          <p:spPr bwMode="auto">
            <a:xfrm flipH="1" flipV="1">
              <a:off x="3216" y="1252"/>
              <a:ext cx="96" cy="328"/>
            </a:xfrm>
            <a:prstGeom prst="rect">
              <a:avLst/>
            </a:prstGeom>
            <a:solidFill>
              <a:schemeClr val="accent1"/>
            </a:solidFill>
            <a:ln w="12700">
              <a:solidFill>
                <a:srgbClr val="009900"/>
              </a:solidFill>
              <a:miter lim="800000"/>
              <a:headEnd/>
              <a:tailEnd/>
            </a:ln>
            <a:effectLst/>
          </p:spPr>
          <p:txBody>
            <a:bodyPr wrap="none" anchor="ctr"/>
            <a:lstStyle/>
            <a:p>
              <a:endParaRPr lang="en-US"/>
            </a:p>
          </p:txBody>
        </p:sp>
        <p:sp>
          <p:nvSpPr>
            <p:cNvPr id="285" name="Rectangle 11"/>
            <p:cNvSpPr>
              <a:spLocks noChangeArrowheads="1"/>
            </p:cNvSpPr>
            <p:nvPr/>
          </p:nvSpPr>
          <p:spPr bwMode="auto">
            <a:xfrm>
              <a:off x="3504" y="784"/>
              <a:ext cx="96"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286" name="Line 12"/>
            <p:cNvSpPr>
              <a:spLocks noChangeShapeType="1"/>
            </p:cNvSpPr>
            <p:nvPr/>
          </p:nvSpPr>
          <p:spPr bwMode="auto">
            <a:xfrm flipH="1">
              <a:off x="3264" y="1065"/>
              <a:ext cx="288" cy="187"/>
            </a:xfrm>
            <a:prstGeom prst="line">
              <a:avLst/>
            </a:prstGeom>
            <a:noFill/>
            <a:ln w="28575">
              <a:solidFill>
                <a:schemeClr val="accent1"/>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18562712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wipe(up)">
                                      <p:cBhvr>
                                        <p:cTn id="7" dur="500"/>
                                        <p:tgtEl>
                                          <p:spTgt spid="242"/>
                                        </p:tgtEl>
                                      </p:cBhvr>
                                    </p:animEffect>
                                  </p:childTnLst>
                                  <p:subTnLst>
                                    <p:set>
                                      <p:cBhvr override="childStyle">
                                        <p:cTn dur="1" fill="hold" display="0" masterRel="nextClick" afterEffect="1"/>
                                        <p:tgtEl>
                                          <p:spTgt spid="242"/>
                                        </p:tgtEl>
                                        <p:attrNameLst>
                                          <p:attrName>style.visibility</p:attrName>
                                        </p:attrNameLst>
                                      </p:cBhvr>
                                      <p:to>
                                        <p:strVal val="hidden"/>
                                      </p:to>
                                    </p:set>
                                  </p:subTnLst>
                                </p:cTn>
                              </p:par>
                              <p:par>
                                <p:cTn id="8" presetID="1" presetClass="entr" presetSubtype="0" fill="hold" grpId="0" nodeType="withEffect">
                                  <p:stCondLst>
                                    <p:cond delay="0"/>
                                  </p:stCondLst>
                                  <p:childTnLst>
                                    <p:set>
                                      <p:cBhvr>
                                        <p:cTn id="9" dur="1" fill="hold">
                                          <p:stCondLst>
                                            <p:cond delay="0"/>
                                          </p:stCondLst>
                                        </p:cTn>
                                        <p:tgtEl>
                                          <p:spTgt spid="1294570"/>
                                        </p:tgtEl>
                                        <p:attrNameLst>
                                          <p:attrName>style.visibility</p:attrName>
                                        </p:attrNameLst>
                                      </p:cBhvr>
                                      <p:to>
                                        <p:strVal val="visible"/>
                                      </p:to>
                                    </p:set>
                                  </p:childTnLst>
                                  <p:subTnLst>
                                    <p:set>
                                      <p:cBhvr override="childStyle">
                                        <p:cTn dur="1" fill="hold" display="0" masterRel="nextClick" afterEffect="1"/>
                                        <p:tgtEl>
                                          <p:spTgt spid="1294570"/>
                                        </p:tgtEl>
                                        <p:attrNameLst>
                                          <p:attrName>style.visibility</p:attrName>
                                        </p:attrNameLst>
                                      </p:cBhvr>
                                      <p:to>
                                        <p:strVal val="hidden"/>
                                      </p:to>
                                    </p:set>
                                  </p:subTnLst>
                                </p:cTn>
                              </p:par>
                              <p:par>
                                <p:cTn id="10" presetID="1" presetClass="entr" presetSubtype="0" fill="hold" nodeType="withEffect">
                                  <p:stCondLst>
                                    <p:cond delay="0"/>
                                  </p:stCondLst>
                                  <p:childTnLst>
                                    <p:set>
                                      <p:cBhvr>
                                        <p:cTn id="11" dur="1" fill="hold">
                                          <p:stCondLst>
                                            <p:cond delay="0"/>
                                          </p:stCondLst>
                                        </p:cTn>
                                        <p:tgtEl>
                                          <p:spTgt spid="241"/>
                                        </p:tgtEl>
                                        <p:attrNameLst>
                                          <p:attrName>style.visibility</p:attrName>
                                        </p:attrNameLst>
                                      </p:cBhvr>
                                      <p:to>
                                        <p:strVal val="visible"/>
                                      </p:to>
                                    </p:set>
                                  </p:childTnLst>
                                  <p:subTnLst>
                                    <p:set>
                                      <p:cBhvr override="childStyle">
                                        <p:cTn dur="1" fill="hold" display="0" masterRel="nextClick" afterEffect="1"/>
                                        <p:tgtEl>
                                          <p:spTgt spid="241"/>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par>
                                <p:cTn id="16" presetID="22" presetClass="entr" presetSubtype="1" fill="hold" nodeType="withEffect">
                                  <p:stCondLst>
                                    <p:cond delay="0"/>
                                  </p:stCondLst>
                                  <p:childTnLst>
                                    <p:set>
                                      <p:cBhvr>
                                        <p:cTn id="17" dur="1" fill="hold">
                                          <p:stCondLst>
                                            <p:cond delay="0"/>
                                          </p:stCondLst>
                                        </p:cTn>
                                        <p:tgtEl>
                                          <p:spTgt spid="1294571"/>
                                        </p:tgtEl>
                                        <p:attrNameLst>
                                          <p:attrName>style.visibility</p:attrName>
                                        </p:attrNameLst>
                                      </p:cBhvr>
                                      <p:to>
                                        <p:strVal val="visible"/>
                                      </p:to>
                                    </p:set>
                                    <p:animEffect transition="in" filter="wipe(up)">
                                      <p:cBhvr>
                                        <p:cTn id="18" dur="500"/>
                                        <p:tgtEl>
                                          <p:spTgt spid="1294571"/>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1294361"/>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up)">
                                      <p:cBhvr>
                                        <p:cTn id="34" dur="500"/>
                                        <p:tgtEl>
                                          <p:spTgt spid="4"/>
                                        </p:tgtEl>
                                      </p:cBhvr>
                                    </p:animEffect>
                                  </p:childTnLst>
                                </p:cTn>
                              </p:par>
                            </p:childTnLst>
                          </p:cTn>
                        </p:par>
                        <p:par>
                          <p:cTn id="35" fill="hold">
                            <p:stCondLst>
                              <p:cond delay="500"/>
                            </p:stCondLst>
                            <p:childTnLst>
                              <p:par>
                                <p:cTn id="36" presetID="1" presetClass="entr" presetSubtype="0" fill="hold" grpId="0" nodeType="afterEffect">
                                  <p:stCondLst>
                                    <p:cond delay="500"/>
                                  </p:stCondLst>
                                  <p:childTnLst>
                                    <p:set>
                                      <p:cBhvr>
                                        <p:cTn id="37" dur="1" fill="hold">
                                          <p:stCondLst>
                                            <p:cond delay="0"/>
                                          </p:stCondLst>
                                        </p:cTn>
                                        <p:tgtEl>
                                          <p:spTgt spid="24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4361" grpId="0"/>
      <p:bldP spid="1294570" grpId="0"/>
      <p:bldP spid="240"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p:txBody>
          <a:bodyPr/>
          <a:lstStyle/>
          <a:p>
            <a:r>
              <a:rPr lang="en-US"/>
              <a:t>Control Hazards</a:t>
            </a:r>
          </a:p>
        </p:txBody>
      </p:sp>
      <p:sp>
        <p:nvSpPr>
          <p:cNvPr id="1038339" name="Rectangle 3"/>
          <p:cNvSpPr>
            <a:spLocks noGrp="1" noChangeArrowheads="1"/>
          </p:cNvSpPr>
          <p:nvPr>
            <p:ph type="body" idx="1"/>
          </p:nvPr>
        </p:nvSpPr>
        <p:spPr>
          <a:xfrm>
            <a:off x="457200" y="762000"/>
            <a:ext cx="8305800" cy="5630863"/>
          </a:xfrm>
        </p:spPr>
        <p:txBody>
          <a:bodyPr/>
          <a:lstStyle/>
          <a:p>
            <a:r>
              <a:rPr lang="en-US" dirty="0"/>
              <a:t>When the flow of instruction addresses is not sequential (i.e., PC = PC + 4)</a:t>
            </a:r>
          </a:p>
          <a:p>
            <a:pPr lvl="1"/>
            <a:r>
              <a:rPr lang="en-US" dirty="0"/>
              <a:t>Conditional branches (</a:t>
            </a:r>
            <a:r>
              <a:rPr lang="en-US" dirty="0" err="1">
                <a:latin typeface="Courier New" pitchFamily="49" charset="0"/>
              </a:rPr>
              <a:t>beq</a:t>
            </a:r>
            <a:r>
              <a:rPr lang="en-US" dirty="0"/>
              <a:t>, </a:t>
            </a:r>
            <a:r>
              <a:rPr lang="en-US" dirty="0" err="1">
                <a:latin typeface="Courier New" pitchFamily="49" charset="0"/>
              </a:rPr>
              <a:t>bne</a:t>
            </a:r>
            <a:r>
              <a:rPr lang="en-US" dirty="0"/>
              <a:t>)</a:t>
            </a:r>
          </a:p>
          <a:p>
            <a:pPr lvl="1">
              <a:lnSpc>
                <a:spcPct val="90000"/>
              </a:lnSpc>
            </a:pPr>
            <a:r>
              <a:rPr lang="en-US" dirty="0"/>
              <a:t>Unconditional branches (</a:t>
            </a:r>
            <a:r>
              <a:rPr lang="en-US" dirty="0">
                <a:latin typeface="Courier New" pitchFamily="49" charset="0"/>
              </a:rPr>
              <a:t>j, </a:t>
            </a:r>
            <a:r>
              <a:rPr lang="en-US" dirty="0" err="1">
                <a:latin typeface="Courier New" pitchFamily="49" charset="0"/>
              </a:rPr>
              <a:t>jal</a:t>
            </a:r>
            <a:r>
              <a:rPr lang="en-US" dirty="0">
                <a:latin typeface="Courier New" pitchFamily="49" charset="0"/>
              </a:rPr>
              <a:t>, </a:t>
            </a:r>
            <a:r>
              <a:rPr lang="en-US" dirty="0" err="1">
                <a:latin typeface="Courier New" pitchFamily="49" charset="0"/>
              </a:rPr>
              <a:t>jr</a:t>
            </a:r>
            <a:r>
              <a:rPr lang="en-US" dirty="0"/>
              <a:t>)</a:t>
            </a:r>
          </a:p>
          <a:p>
            <a:pPr lvl="1"/>
            <a:r>
              <a:rPr lang="en-US" dirty="0"/>
              <a:t>Exceptions</a:t>
            </a:r>
          </a:p>
          <a:p>
            <a:r>
              <a:rPr lang="en-US" dirty="0"/>
              <a:t>Possible “solutions”</a:t>
            </a:r>
          </a:p>
          <a:p>
            <a:pPr lvl="1"/>
            <a:r>
              <a:rPr lang="en-US" dirty="0"/>
              <a:t>Stall (impacts performance)</a:t>
            </a:r>
          </a:p>
          <a:p>
            <a:pPr lvl="1"/>
            <a:r>
              <a:rPr lang="en-US" dirty="0"/>
              <a:t>Move branch decision point as early in the pipeline as possible, thereby reducing the number of stall cycles</a:t>
            </a:r>
          </a:p>
          <a:p>
            <a:pPr lvl="1"/>
            <a:r>
              <a:rPr lang="en-US" dirty="0"/>
              <a:t>Delay decision (requires compiler support)</a:t>
            </a:r>
          </a:p>
          <a:p>
            <a:pPr lvl="1"/>
            <a:r>
              <a:rPr lang="en-US" dirty="0"/>
              <a:t>Predict the branch outcome and hope for the best !</a:t>
            </a:r>
          </a:p>
          <a:p>
            <a:r>
              <a:rPr lang="en-US" dirty="0"/>
              <a:t>Control hazards occur less frequently than data hazards, but there is </a:t>
            </a:r>
            <a:r>
              <a:rPr lang="en-US" i="1" dirty="0"/>
              <a:t>nothing</a:t>
            </a:r>
            <a:r>
              <a:rPr lang="en-US" dirty="0"/>
              <a:t> as effective against control hazards as forwarding is for data hazards</a:t>
            </a:r>
          </a:p>
        </p:txBody>
      </p:sp>
    </p:spTree>
    <p:extLst>
      <p:ext uri="{BB962C8B-B14F-4D97-AF65-F5344CB8AC3E}">
        <p14:creationId xmlns:p14="http://schemas.microsoft.com/office/powerpoint/2010/main" val="4011528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383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83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383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833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383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833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833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3833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38339">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383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3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3352800"/>
            <a:ext cx="6019800" cy="609600"/>
            <a:chOff x="480" y="1824"/>
            <a:chExt cx="3792" cy="384"/>
          </a:xfrm>
        </p:grpSpPr>
        <p:sp>
          <p:nvSpPr>
            <p:cNvPr id="1039363" name="Rectangle 3"/>
            <p:cNvSpPr>
              <a:spLocks noChangeArrowheads="1"/>
            </p:cNvSpPr>
            <p:nvPr/>
          </p:nvSpPr>
          <p:spPr bwMode="auto">
            <a:xfrm>
              <a:off x="480" y="1824"/>
              <a:ext cx="520" cy="286"/>
            </a:xfrm>
            <a:prstGeom prst="rect">
              <a:avLst/>
            </a:prstGeom>
            <a:noFill/>
            <a:ln w="12700">
              <a:noFill/>
              <a:miter lim="800000"/>
              <a:headEnd/>
              <a:tailEnd/>
            </a:ln>
            <a:effectLst/>
          </p:spPr>
          <p:txBody>
            <a:bodyPr wrap="none" lIns="90488" tIns="44450" rIns="90488" bIns="44450">
              <a:spAutoFit/>
            </a:bodyPr>
            <a:lstStyle/>
            <a:p>
              <a:r>
                <a:rPr lang="en-US" sz="2400"/>
                <a:t>flush</a:t>
              </a:r>
            </a:p>
          </p:txBody>
        </p:sp>
        <p:sp>
          <p:nvSpPr>
            <p:cNvPr id="1039365" name="AutoShape 5" descr="Shingle"/>
            <p:cNvSpPr>
              <a:spLocks noChangeArrowheads="1"/>
            </p:cNvSpPr>
            <p:nvPr/>
          </p:nvSpPr>
          <p:spPr bwMode="auto">
            <a:xfrm>
              <a:off x="2544"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39366" name="AutoShape 6" descr="Shingle"/>
            <p:cNvSpPr>
              <a:spLocks noChangeArrowheads="1"/>
            </p:cNvSpPr>
            <p:nvPr/>
          </p:nvSpPr>
          <p:spPr bwMode="auto">
            <a:xfrm>
              <a:off x="2976"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39367" name="AutoShape 7" descr="Shingle"/>
            <p:cNvSpPr>
              <a:spLocks noChangeArrowheads="1"/>
            </p:cNvSpPr>
            <p:nvPr/>
          </p:nvSpPr>
          <p:spPr bwMode="auto">
            <a:xfrm>
              <a:off x="3408"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39368" name="AutoShape 8" descr="Shingle"/>
            <p:cNvSpPr>
              <a:spLocks noChangeArrowheads="1"/>
            </p:cNvSpPr>
            <p:nvPr/>
          </p:nvSpPr>
          <p:spPr bwMode="auto">
            <a:xfrm>
              <a:off x="3840"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sp>
        <p:nvSpPr>
          <p:cNvPr id="1039369" name="Rectangle 9"/>
          <p:cNvSpPr>
            <a:spLocks noGrp="1" noChangeArrowheads="1"/>
          </p:cNvSpPr>
          <p:nvPr>
            <p:ph type="title"/>
          </p:nvPr>
        </p:nvSpPr>
        <p:spPr>
          <a:xfrm>
            <a:off x="685800" y="304800"/>
            <a:ext cx="3738563" cy="422275"/>
          </a:xfrm>
          <a:noFill/>
          <a:ln/>
        </p:spPr>
        <p:txBody>
          <a:bodyPr wrap="none"/>
          <a:lstStyle/>
          <a:p>
            <a:r>
              <a:rPr lang="en-US" dirty="0"/>
              <a:t>Jumps Incur One Stall</a:t>
            </a:r>
          </a:p>
        </p:txBody>
      </p:sp>
      <p:sp>
        <p:nvSpPr>
          <p:cNvPr id="1039370" name="Rectangle 10"/>
          <p:cNvSpPr>
            <a:spLocks noChangeArrowheads="1"/>
          </p:cNvSpPr>
          <p:nvPr/>
        </p:nvSpPr>
        <p:spPr bwMode="auto">
          <a:xfrm>
            <a:off x="328613" y="25923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039371" name="Line 11"/>
          <p:cNvSpPr>
            <a:spLocks noChangeShapeType="1"/>
          </p:cNvSpPr>
          <p:nvPr/>
        </p:nvSpPr>
        <p:spPr bwMode="auto">
          <a:xfrm flipV="1">
            <a:off x="1447800" y="2209800"/>
            <a:ext cx="7010400" cy="4763"/>
          </a:xfrm>
          <a:prstGeom prst="line">
            <a:avLst/>
          </a:prstGeom>
          <a:noFill/>
          <a:ln w="25400">
            <a:solidFill>
              <a:schemeClr val="tx1"/>
            </a:solidFill>
            <a:round/>
            <a:headEnd/>
            <a:tailEnd type="triangle" w="med" len="med"/>
          </a:ln>
          <a:effectLst/>
        </p:spPr>
        <p:txBody>
          <a:bodyPr wrap="none" anchor="ctr"/>
          <a:lstStyle/>
          <a:p>
            <a:endParaRPr lang="en-US"/>
          </a:p>
        </p:txBody>
      </p:sp>
      <p:sp>
        <p:nvSpPr>
          <p:cNvPr id="1039372" name="Rectangle 12"/>
          <p:cNvSpPr>
            <a:spLocks noChangeArrowheads="1"/>
          </p:cNvSpPr>
          <p:nvPr/>
        </p:nvSpPr>
        <p:spPr bwMode="auto">
          <a:xfrm>
            <a:off x="762000" y="2514600"/>
            <a:ext cx="363538"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j</a:t>
            </a:r>
          </a:p>
        </p:txBody>
      </p:sp>
      <p:sp>
        <p:nvSpPr>
          <p:cNvPr id="1039373" name="Line 13"/>
          <p:cNvSpPr>
            <a:spLocks noChangeShapeType="1"/>
          </p:cNvSpPr>
          <p:nvPr/>
        </p:nvSpPr>
        <p:spPr bwMode="auto">
          <a:xfrm>
            <a:off x="685800" y="2514600"/>
            <a:ext cx="0" cy="3200400"/>
          </a:xfrm>
          <a:prstGeom prst="line">
            <a:avLst/>
          </a:prstGeom>
          <a:noFill/>
          <a:ln w="28575">
            <a:solidFill>
              <a:schemeClr val="tx1"/>
            </a:solidFill>
            <a:round/>
            <a:headEnd/>
            <a:tailEnd type="triangle" w="med" len="med"/>
          </a:ln>
          <a:effectLst/>
        </p:spPr>
        <p:txBody>
          <a:bodyPr/>
          <a:lstStyle/>
          <a:p>
            <a:endParaRPr lang="en-US"/>
          </a:p>
        </p:txBody>
      </p:sp>
      <p:sp>
        <p:nvSpPr>
          <p:cNvPr id="1039374" name="Rectangle 14"/>
          <p:cNvSpPr>
            <a:spLocks noChangeArrowheads="1"/>
          </p:cNvSpPr>
          <p:nvPr/>
        </p:nvSpPr>
        <p:spPr bwMode="auto">
          <a:xfrm>
            <a:off x="723900" y="4270375"/>
            <a:ext cx="1227138"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j</a:t>
            </a:r>
            <a:r>
              <a:rPr lang="en-US" sz="2400">
                <a:solidFill>
                  <a:schemeClr val="tx1"/>
                </a:solidFill>
              </a:rPr>
              <a:t> target</a:t>
            </a:r>
          </a:p>
        </p:txBody>
      </p:sp>
      <p:grpSp>
        <p:nvGrpSpPr>
          <p:cNvPr id="3" name="Group 15"/>
          <p:cNvGrpSpPr>
            <a:grpSpLocks/>
          </p:cNvGrpSpPr>
          <p:nvPr/>
        </p:nvGrpSpPr>
        <p:grpSpPr bwMode="auto">
          <a:xfrm>
            <a:off x="2667000" y="2286000"/>
            <a:ext cx="5486400" cy="3124200"/>
            <a:chOff x="1680" y="672"/>
            <a:chExt cx="3456" cy="3408"/>
          </a:xfrm>
        </p:grpSpPr>
        <p:sp>
          <p:nvSpPr>
            <p:cNvPr id="1039376" name="Line 16"/>
            <p:cNvSpPr>
              <a:spLocks noChangeShapeType="1"/>
            </p:cNvSpPr>
            <p:nvPr/>
          </p:nvSpPr>
          <p:spPr bwMode="auto">
            <a:xfrm>
              <a:off x="5136"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77" name="Line 17"/>
            <p:cNvSpPr>
              <a:spLocks noChangeShapeType="1"/>
            </p:cNvSpPr>
            <p:nvPr/>
          </p:nvSpPr>
          <p:spPr bwMode="auto">
            <a:xfrm>
              <a:off x="4704"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78" name="Line 18"/>
            <p:cNvSpPr>
              <a:spLocks noChangeShapeType="1"/>
            </p:cNvSpPr>
            <p:nvPr/>
          </p:nvSpPr>
          <p:spPr bwMode="auto">
            <a:xfrm>
              <a:off x="4272"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79" name="Line 19"/>
            <p:cNvSpPr>
              <a:spLocks noChangeShapeType="1"/>
            </p:cNvSpPr>
            <p:nvPr/>
          </p:nvSpPr>
          <p:spPr bwMode="auto">
            <a:xfrm>
              <a:off x="3840"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80" name="Line 20"/>
            <p:cNvSpPr>
              <a:spLocks noChangeShapeType="1"/>
            </p:cNvSpPr>
            <p:nvPr/>
          </p:nvSpPr>
          <p:spPr bwMode="auto">
            <a:xfrm>
              <a:off x="3408"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81" name="Line 21"/>
            <p:cNvSpPr>
              <a:spLocks noChangeShapeType="1"/>
            </p:cNvSpPr>
            <p:nvPr/>
          </p:nvSpPr>
          <p:spPr bwMode="auto">
            <a:xfrm>
              <a:off x="2976"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82" name="Line 22"/>
            <p:cNvSpPr>
              <a:spLocks noChangeShapeType="1"/>
            </p:cNvSpPr>
            <p:nvPr/>
          </p:nvSpPr>
          <p:spPr bwMode="auto">
            <a:xfrm>
              <a:off x="2544"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83" name="Line 23"/>
            <p:cNvSpPr>
              <a:spLocks noChangeShapeType="1"/>
            </p:cNvSpPr>
            <p:nvPr/>
          </p:nvSpPr>
          <p:spPr bwMode="auto">
            <a:xfrm>
              <a:off x="2112"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9384" name="Line 24"/>
            <p:cNvSpPr>
              <a:spLocks noChangeShapeType="1"/>
            </p:cNvSpPr>
            <p:nvPr/>
          </p:nvSpPr>
          <p:spPr bwMode="auto">
            <a:xfrm>
              <a:off x="1680" y="672"/>
              <a:ext cx="0" cy="3408"/>
            </a:xfrm>
            <a:prstGeom prst="line">
              <a:avLst/>
            </a:prstGeom>
            <a:noFill/>
            <a:ln w="25400">
              <a:solidFill>
                <a:schemeClr val="tx1"/>
              </a:solidFill>
              <a:prstDash val="sysDot"/>
              <a:round/>
              <a:headEnd/>
              <a:tailEnd/>
            </a:ln>
            <a:effectLst/>
          </p:spPr>
          <p:txBody>
            <a:bodyPr wrap="none" anchor="ctr"/>
            <a:lstStyle/>
            <a:p>
              <a:endParaRPr lang="en-US"/>
            </a:p>
          </p:txBody>
        </p:sp>
      </p:grpSp>
      <p:grpSp>
        <p:nvGrpSpPr>
          <p:cNvPr id="4" name="Group 25"/>
          <p:cNvGrpSpPr>
            <a:grpSpLocks/>
          </p:cNvGrpSpPr>
          <p:nvPr/>
        </p:nvGrpSpPr>
        <p:grpSpPr bwMode="auto">
          <a:xfrm>
            <a:off x="3810000" y="2514600"/>
            <a:ext cx="838200" cy="2133600"/>
            <a:chOff x="2400" y="1200"/>
            <a:chExt cx="528" cy="1344"/>
          </a:xfrm>
        </p:grpSpPr>
        <p:sp>
          <p:nvSpPr>
            <p:cNvPr id="1039386" name="Rectangle 26"/>
            <p:cNvSpPr>
              <a:spLocks noChangeArrowheads="1"/>
            </p:cNvSpPr>
            <p:nvPr/>
          </p:nvSpPr>
          <p:spPr bwMode="auto">
            <a:xfrm>
              <a:off x="2592" y="2256"/>
              <a:ext cx="336"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039387" name="Rectangle 27"/>
            <p:cNvSpPr>
              <a:spLocks noChangeArrowheads="1"/>
            </p:cNvSpPr>
            <p:nvPr/>
          </p:nvSpPr>
          <p:spPr bwMode="auto">
            <a:xfrm>
              <a:off x="2400" y="1200"/>
              <a:ext cx="96"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39388" name="Line 28"/>
            <p:cNvSpPr>
              <a:spLocks noChangeShapeType="1"/>
            </p:cNvSpPr>
            <p:nvPr/>
          </p:nvSpPr>
          <p:spPr bwMode="auto">
            <a:xfrm>
              <a:off x="2448" y="1488"/>
              <a:ext cx="192" cy="768"/>
            </a:xfrm>
            <a:prstGeom prst="line">
              <a:avLst/>
            </a:prstGeom>
            <a:noFill/>
            <a:ln w="28575">
              <a:solidFill>
                <a:srgbClr val="009900"/>
              </a:solidFill>
              <a:round/>
              <a:headEnd/>
              <a:tailEnd type="triangle" w="med" len="med"/>
            </a:ln>
            <a:effectLst/>
          </p:spPr>
          <p:txBody>
            <a:bodyPr/>
            <a:lstStyle/>
            <a:p>
              <a:endParaRPr lang="en-US"/>
            </a:p>
          </p:txBody>
        </p:sp>
      </p:grpSp>
      <p:grpSp>
        <p:nvGrpSpPr>
          <p:cNvPr id="5" name="Group 29"/>
          <p:cNvGrpSpPr>
            <a:grpSpLocks/>
          </p:cNvGrpSpPr>
          <p:nvPr/>
        </p:nvGrpSpPr>
        <p:grpSpPr bwMode="auto">
          <a:xfrm>
            <a:off x="2743200" y="2362200"/>
            <a:ext cx="3355975" cy="838200"/>
            <a:chOff x="1562" y="1152"/>
            <a:chExt cx="2114" cy="528"/>
          </a:xfrm>
        </p:grpSpPr>
        <p:grpSp>
          <p:nvGrpSpPr>
            <p:cNvPr id="6" name="Group 30"/>
            <p:cNvGrpSpPr>
              <a:grpSpLocks/>
            </p:cNvGrpSpPr>
            <p:nvPr/>
          </p:nvGrpSpPr>
          <p:grpSpPr bwMode="auto">
            <a:xfrm>
              <a:off x="2487" y="1152"/>
              <a:ext cx="223" cy="481"/>
              <a:chOff x="2207" y="1413"/>
              <a:chExt cx="223" cy="481"/>
            </a:xfrm>
          </p:grpSpPr>
          <p:sp>
            <p:nvSpPr>
              <p:cNvPr id="1039391" name="Freeform 3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392" name="Rectangle 3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7" name="Group 33"/>
            <p:cNvGrpSpPr>
              <a:grpSpLocks/>
            </p:cNvGrpSpPr>
            <p:nvPr/>
          </p:nvGrpSpPr>
          <p:grpSpPr bwMode="auto">
            <a:xfrm>
              <a:off x="1562" y="1248"/>
              <a:ext cx="349" cy="289"/>
              <a:chOff x="1282" y="1509"/>
              <a:chExt cx="349" cy="289"/>
            </a:xfrm>
          </p:grpSpPr>
          <p:sp>
            <p:nvSpPr>
              <p:cNvPr id="1039394" name="Rectangle 3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8" name="Group 35"/>
              <p:cNvGrpSpPr>
                <a:grpSpLocks/>
              </p:cNvGrpSpPr>
              <p:nvPr/>
            </p:nvGrpSpPr>
            <p:grpSpPr bwMode="auto">
              <a:xfrm>
                <a:off x="1291" y="1509"/>
                <a:ext cx="340" cy="289"/>
                <a:chOff x="1291" y="1509"/>
                <a:chExt cx="340" cy="289"/>
              </a:xfrm>
            </p:grpSpPr>
            <p:sp>
              <p:nvSpPr>
                <p:cNvPr id="1039396" name="Freeform 3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397" name="Freeform 3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9398" name="Rectangle 3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9" name="Group 39"/>
            <p:cNvGrpSpPr>
              <a:grpSpLocks/>
            </p:cNvGrpSpPr>
            <p:nvPr/>
          </p:nvGrpSpPr>
          <p:grpSpPr bwMode="auto">
            <a:xfrm>
              <a:off x="2031" y="1248"/>
              <a:ext cx="296" cy="289"/>
              <a:chOff x="1751" y="1509"/>
              <a:chExt cx="296" cy="289"/>
            </a:xfrm>
          </p:grpSpPr>
          <p:sp>
            <p:nvSpPr>
              <p:cNvPr id="1039400" name="Freeform 4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01" name="Freeform 4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02" name="Line 4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39403" name="Freeform 4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04" name="Line 4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39405" name="Rectangle 4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 name="Group 46"/>
            <p:cNvGrpSpPr>
              <a:grpSpLocks/>
            </p:cNvGrpSpPr>
            <p:nvPr/>
          </p:nvGrpSpPr>
          <p:grpSpPr bwMode="auto">
            <a:xfrm>
              <a:off x="2880" y="1248"/>
              <a:ext cx="325" cy="289"/>
              <a:chOff x="2600" y="1509"/>
              <a:chExt cx="325" cy="289"/>
            </a:xfrm>
          </p:grpSpPr>
          <p:sp>
            <p:nvSpPr>
              <p:cNvPr id="1039407" name="Freeform 4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08" name="Freeform 4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09" name="Rectangle 4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1" name="Group 50"/>
            <p:cNvGrpSpPr>
              <a:grpSpLocks/>
            </p:cNvGrpSpPr>
            <p:nvPr/>
          </p:nvGrpSpPr>
          <p:grpSpPr bwMode="auto">
            <a:xfrm>
              <a:off x="3348" y="1248"/>
              <a:ext cx="284" cy="289"/>
              <a:chOff x="3068" y="1509"/>
              <a:chExt cx="284" cy="289"/>
            </a:xfrm>
          </p:grpSpPr>
          <p:sp>
            <p:nvSpPr>
              <p:cNvPr id="1039411" name="Freeform 5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12" name="Freeform 5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13" name="Line 5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39414" name="Line 5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39415" name="Line 5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39416" name="Line 5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39417" name="Line 5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39418" name="Line 5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39419" name="Line 5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39420" name="Line 6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39421" name="Line 6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2" name="Group 62"/>
          <p:cNvGrpSpPr>
            <a:grpSpLocks/>
          </p:cNvGrpSpPr>
          <p:nvPr/>
        </p:nvGrpSpPr>
        <p:grpSpPr bwMode="auto">
          <a:xfrm>
            <a:off x="4114800" y="4038600"/>
            <a:ext cx="3355975" cy="838200"/>
            <a:chOff x="1562" y="1152"/>
            <a:chExt cx="2114" cy="528"/>
          </a:xfrm>
        </p:grpSpPr>
        <p:grpSp>
          <p:nvGrpSpPr>
            <p:cNvPr id="13" name="Group 63"/>
            <p:cNvGrpSpPr>
              <a:grpSpLocks/>
            </p:cNvGrpSpPr>
            <p:nvPr/>
          </p:nvGrpSpPr>
          <p:grpSpPr bwMode="auto">
            <a:xfrm>
              <a:off x="2487" y="1152"/>
              <a:ext cx="223" cy="481"/>
              <a:chOff x="2207" y="1413"/>
              <a:chExt cx="223" cy="481"/>
            </a:xfrm>
          </p:grpSpPr>
          <p:sp>
            <p:nvSpPr>
              <p:cNvPr id="1039424" name="Freeform 6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25" name="Rectangle 6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4" name="Group 66"/>
            <p:cNvGrpSpPr>
              <a:grpSpLocks/>
            </p:cNvGrpSpPr>
            <p:nvPr/>
          </p:nvGrpSpPr>
          <p:grpSpPr bwMode="auto">
            <a:xfrm>
              <a:off x="1562" y="1248"/>
              <a:ext cx="349" cy="289"/>
              <a:chOff x="1282" y="1509"/>
              <a:chExt cx="349" cy="289"/>
            </a:xfrm>
          </p:grpSpPr>
          <p:sp>
            <p:nvSpPr>
              <p:cNvPr id="1039427" name="Rectangle 6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5" name="Group 68"/>
              <p:cNvGrpSpPr>
                <a:grpSpLocks/>
              </p:cNvGrpSpPr>
              <p:nvPr/>
            </p:nvGrpSpPr>
            <p:grpSpPr bwMode="auto">
              <a:xfrm>
                <a:off x="1291" y="1509"/>
                <a:ext cx="340" cy="289"/>
                <a:chOff x="1291" y="1509"/>
                <a:chExt cx="340" cy="289"/>
              </a:xfrm>
            </p:grpSpPr>
            <p:sp>
              <p:nvSpPr>
                <p:cNvPr id="1039429" name="Freeform 6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30" name="Freeform 7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9431" name="Rectangle 7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6" name="Group 72"/>
            <p:cNvGrpSpPr>
              <a:grpSpLocks/>
            </p:cNvGrpSpPr>
            <p:nvPr/>
          </p:nvGrpSpPr>
          <p:grpSpPr bwMode="auto">
            <a:xfrm>
              <a:off x="2031" y="1248"/>
              <a:ext cx="296" cy="289"/>
              <a:chOff x="1751" y="1509"/>
              <a:chExt cx="296" cy="289"/>
            </a:xfrm>
          </p:grpSpPr>
          <p:sp>
            <p:nvSpPr>
              <p:cNvPr id="1039433" name="Freeform 7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34" name="Freeform 7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35" name="Line 7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39436" name="Freeform 7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37" name="Line 7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39438" name="Rectangle 7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7" name="Group 79"/>
            <p:cNvGrpSpPr>
              <a:grpSpLocks/>
            </p:cNvGrpSpPr>
            <p:nvPr/>
          </p:nvGrpSpPr>
          <p:grpSpPr bwMode="auto">
            <a:xfrm>
              <a:off x="2880" y="1248"/>
              <a:ext cx="325" cy="289"/>
              <a:chOff x="2600" y="1509"/>
              <a:chExt cx="325" cy="289"/>
            </a:xfrm>
          </p:grpSpPr>
          <p:sp>
            <p:nvSpPr>
              <p:cNvPr id="1039440" name="Freeform 8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41" name="Freeform 8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42" name="Rectangle 8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8" name="Group 83"/>
            <p:cNvGrpSpPr>
              <a:grpSpLocks/>
            </p:cNvGrpSpPr>
            <p:nvPr/>
          </p:nvGrpSpPr>
          <p:grpSpPr bwMode="auto">
            <a:xfrm>
              <a:off x="3348" y="1248"/>
              <a:ext cx="284" cy="289"/>
              <a:chOff x="3068" y="1509"/>
              <a:chExt cx="284" cy="289"/>
            </a:xfrm>
          </p:grpSpPr>
          <p:sp>
            <p:nvSpPr>
              <p:cNvPr id="1039444" name="Freeform 8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45" name="Freeform 8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46" name="Line 8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39447" name="Line 8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39448" name="Line 8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39449" name="Line 8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39450" name="Line 9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39451" name="Line 9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39452" name="Line 9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39453" name="Line 9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39454" name="Line 9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039455" name="Rectangle 95"/>
          <p:cNvSpPr>
            <a:spLocks noGrp="1" noChangeArrowheads="1"/>
          </p:cNvSpPr>
          <p:nvPr>
            <p:ph type="body" idx="1"/>
          </p:nvPr>
        </p:nvSpPr>
        <p:spPr>
          <a:xfrm>
            <a:off x="457200" y="5791200"/>
            <a:ext cx="8382000" cy="806450"/>
          </a:xfrm>
          <a:noFill/>
          <a:ln/>
        </p:spPr>
        <p:txBody>
          <a:bodyPr/>
          <a:lstStyle/>
          <a:p>
            <a:r>
              <a:rPr lang="en-US"/>
              <a:t>Fortunately, jumps are very infrequent – only 3% of the SPECint instruction mix</a:t>
            </a:r>
          </a:p>
        </p:txBody>
      </p:sp>
      <p:sp>
        <p:nvSpPr>
          <p:cNvPr id="1039456" name="Rectangle 96"/>
          <p:cNvSpPr>
            <a:spLocks noChangeArrowheads="1"/>
          </p:cNvSpPr>
          <p:nvPr/>
        </p:nvSpPr>
        <p:spPr bwMode="auto">
          <a:xfrm>
            <a:off x="457200" y="838200"/>
            <a:ext cx="8153400" cy="1162306"/>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600" dirty="0">
                <a:solidFill>
                  <a:schemeClr val="tx1"/>
                </a:solidFill>
              </a:rPr>
              <a:t>Jumps not decoded until ID, so one </a:t>
            </a:r>
            <a:r>
              <a:rPr lang="en-US" sz="2600" dirty="0"/>
              <a:t>flush</a:t>
            </a:r>
            <a:r>
              <a:rPr lang="en-US" sz="2600" dirty="0">
                <a:solidFill>
                  <a:schemeClr val="tx1"/>
                </a:solidFill>
              </a:rPr>
              <a:t> is needed</a:t>
            </a:r>
          </a:p>
          <a:p>
            <a:pPr marL="741363" lvl="1" indent="-246063">
              <a:lnSpc>
                <a:spcPct val="95000"/>
              </a:lnSpc>
              <a:spcBef>
                <a:spcPct val="25000"/>
              </a:spcBef>
              <a:buClr>
                <a:schemeClr val="accent1"/>
              </a:buClr>
              <a:buSzPct val="75000"/>
              <a:buFont typeface="Monotype Sorts" pitchFamily="2" charset="2"/>
              <a:buChar char="l"/>
            </a:pPr>
            <a:r>
              <a:rPr lang="en-US" sz="2200" dirty="0">
                <a:solidFill>
                  <a:schemeClr val="tx1"/>
                </a:solidFill>
              </a:rPr>
              <a:t>To flush an instruction, zero the </a:t>
            </a:r>
            <a:r>
              <a:rPr lang="en-US" sz="2200" dirty="0" err="1">
                <a:solidFill>
                  <a:schemeClr val="tx1"/>
                </a:solidFill>
              </a:rPr>
              <a:t>opcode</a:t>
            </a:r>
            <a:r>
              <a:rPr lang="en-US" sz="2200" dirty="0">
                <a:solidFill>
                  <a:schemeClr val="tx1"/>
                </a:solidFill>
              </a:rPr>
              <a:t> fields of the IF/ID pipeline register (turning that instruction into a </a:t>
            </a:r>
            <a:r>
              <a:rPr lang="en-US" sz="2200" dirty="0" err="1">
                <a:solidFill>
                  <a:schemeClr val="tx1"/>
                </a:solidFill>
                <a:latin typeface="Courier New" pitchFamily="49" charset="0"/>
              </a:rPr>
              <a:t>noop</a:t>
            </a:r>
            <a:r>
              <a:rPr lang="en-US" sz="2200" dirty="0">
                <a:solidFill>
                  <a:schemeClr val="tx1"/>
                </a:solidFill>
              </a:rPr>
              <a:t>)</a:t>
            </a:r>
          </a:p>
        </p:txBody>
      </p:sp>
      <p:sp>
        <p:nvSpPr>
          <p:cNvPr id="1039457" name="Rectangle 97"/>
          <p:cNvSpPr>
            <a:spLocks noChangeArrowheads="1"/>
          </p:cNvSpPr>
          <p:nvPr/>
        </p:nvSpPr>
        <p:spPr bwMode="auto">
          <a:xfrm>
            <a:off x="7239000" y="2362200"/>
            <a:ext cx="1676400" cy="1308100"/>
          </a:xfrm>
          <a:prstGeom prst="rect">
            <a:avLst/>
          </a:prstGeom>
          <a:noFill/>
          <a:ln w="12700">
            <a:noFill/>
            <a:miter lim="800000"/>
            <a:headEnd/>
            <a:tailEnd/>
          </a:ln>
          <a:effectLst/>
        </p:spPr>
        <p:txBody>
          <a:bodyPr lIns="90488" tIns="44450" rIns="90488" bIns="44450">
            <a:spAutoFit/>
          </a:bodyPr>
          <a:lstStyle/>
          <a:p>
            <a:pPr algn="r"/>
            <a:r>
              <a:rPr lang="en-US" sz="2000" b="1"/>
              <a:t>Fix jump hazard by waiting</a:t>
            </a:r>
            <a:r>
              <a:rPr lang="en-US" sz="2000"/>
              <a:t> – </a:t>
            </a:r>
            <a:r>
              <a:rPr lang="en-US" sz="2000">
                <a:solidFill>
                  <a:schemeClr val="accent2"/>
                </a:solidFill>
              </a:rPr>
              <a:t>flush</a:t>
            </a:r>
            <a:endParaRPr lang="en-US" sz="2000"/>
          </a:p>
        </p:txBody>
      </p:sp>
      <p:grpSp>
        <p:nvGrpSpPr>
          <p:cNvPr id="19" name="Group 98"/>
          <p:cNvGrpSpPr>
            <a:grpSpLocks/>
          </p:cNvGrpSpPr>
          <p:nvPr/>
        </p:nvGrpSpPr>
        <p:grpSpPr bwMode="auto">
          <a:xfrm>
            <a:off x="3429000" y="3276600"/>
            <a:ext cx="3355975" cy="838200"/>
            <a:chOff x="1562" y="1152"/>
            <a:chExt cx="2114" cy="528"/>
          </a:xfrm>
        </p:grpSpPr>
        <p:grpSp>
          <p:nvGrpSpPr>
            <p:cNvPr id="20" name="Group 99"/>
            <p:cNvGrpSpPr>
              <a:grpSpLocks/>
            </p:cNvGrpSpPr>
            <p:nvPr/>
          </p:nvGrpSpPr>
          <p:grpSpPr bwMode="auto">
            <a:xfrm>
              <a:off x="2487" y="1152"/>
              <a:ext cx="223" cy="481"/>
              <a:chOff x="2207" y="1413"/>
              <a:chExt cx="223" cy="481"/>
            </a:xfrm>
          </p:grpSpPr>
          <p:sp>
            <p:nvSpPr>
              <p:cNvPr id="1039460" name="Freeform 10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61" name="Rectangle 10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1" name="Group 102"/>
            <p:cNvGrpSpPr>
              <a:grpSpLocks/>
            </p:cNvGrpSpPr>
            <p:nvPr/>
          </p:nvGrpSpPr>
          <p:grpSpPr bwMode="auto">
            <a:xfrm>
              <a:off x="1562" y="1248"/>
              <a:ext cx="349" cy="289"/>
              <a:chOff x="1282" y="1509"/>
              <a:chExt cx="349" cy="289"/>
            </a:xfrm>
          </p:grpSpPr>
          <p:sp>
            <p:nvSpPr>
              <p:cNvPr id="1039463" name="Rectangle 10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2" name="Group 104"/>
              <p:cNvGrpSpPr>
                <a:grpSpLocks/>
              </p:cNvGrpSpPr>
              <p:nvPr/>
            </p:nvGrpSpPr>
            <p:grpSpPr bwMode="auto">
              <a:xfrm>
                <a:off x="1291" y="1509"/>
                <a:ext cx="340" cy="289"/>
                <a:chOff x="1291" y="1509"/>
                <a:chExt cx="340" cy="289"/>
              </a:xfrm>
            </p:grpSpPr>
            <p:sp>
              <p:nvSpPr>
                <p:cNvPr id="1039465" name="Freeform 10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66" name="Freeform 10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9467" name="Rectangle 10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 name="Group 108"/>
            <p:cNvGrpSpPr>
              <a:grpSpLocks/>
            </p:cNvGrpSpPr>
            <p:nvPr/>
          </p:nvGrpSpPr>
          <p:grpSpPr bwMode="auto">
            <a:xfrm>
              <a:off x="2031" y="1248"/>
              <a:ext cx="296" cy="289"/>
              <a:chOff x="1751" y="1509"/>
              <a:chExt cx="296" cy="289"/>
            </a:xfrm>
          </p:grpSpPr>
          <p:sp>
            <p:nvSpPr>
              <p:cNvPr id="1039469" name="Freeform 10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70" name="Freeform 11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71" name="Line 11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39472" name="Freeform 11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73" name="Line 11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39474" name="Rectangle 11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4" name="Group 115"/>
            <p:cNvGrpSpPr>
              <a:grpSpLocks/>
            </p:cNvGrpSpPr>
            <p:nvPr/>
          </p:nvGrpSpPr>
          <p:grpSpPr bwMode="auto">
            <a:xfrm>
              <a:off x="2880" y="1248"/>
              <a:ext cx="325" cy="289"/>
              <a:chOff x="2600" y="1509"/>
              <a:chExt cx="325" cy="289"/>
            </a:xfrm>
          </p:grpSpPr>
          <p:sp>
            <p:nvSpPr>
              <p:cNvPr id="1039476" name="Freeform 11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77" name="Freeform 11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78" name="Rectangle 11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5" name="Group 119"/>
            <p:cNvGrpSpPr>
              <a:grpSpLocks/>
            </p:cNvGrpSpPr>
            <p:nvPr/>
          </p:nvGrpSpPr>
          <p:grpSpPr bwMode="auto">
            <a:xfrm>
              <a:off x="3348" y="1248"/>
              <a:ext cx="284" cy="289"/>
              <a:chOff x="3068" y="1509"/>
              <a:chExt cx="284" cy="289"/>
            </a:xfrm>
          </p:grpSpPr>
          <p:sp>
            <p:nvSpPr>
              <p:cNvPr id="1039480" name="Freeform 12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9481" name="Freeform 12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9482" name="Line 12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39483" name="Line 12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39484" name="Line 12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39485" name="Line 12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39486" name="Line 12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39487" name="Line 12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39488" name="Line 12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39489" name="Line 12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39490" name="Line 13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2251685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394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45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0"/>
          <p:cNvGrpSpPr>
            <a:grpSpLocks/>
          </p:cNvGrpSpPr>
          <p:nvPr/>
        </p:nvGrpSpPr>
        <p:grpSpPr bwMode="auto">
          <a:xfrm>
            <a:off x="3429000" y="1828800"/>
            <a:ext cx="1524000" cy="1295400"/>
            <a:chOff x="2160" y="1680"/>
            <a:chExt cx="960" cy="816"/>
          </a:xfrm>
        </p:grpSpPr>
        <p:sp>
          <p:nvSpPr>
            <p:cNvPr id="1219587" name="Rectangle 3"/>
            <p:cNvSpPr>
              <a:spLocks noChangeArrowheads="1"/>
            </p:cNvSpPr>
            <p:nvPr/>
          </p:nvSpPr>
          <p:spPr bwMode="auto">
            <a:xfrm>
              <a:off x="2160" y="2208"/>
              <a:ext cx="336"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19588" name="Rectangle 4"/>
            <p:cNvSpPr>
              <a:spLocks noChangeArrowheads="1"/>
            </p:cNvSpPr>
            <p:nvPr/>
          </p:nvSpPr>
          <p:spPr bwMode="auto">
            <a:xfrm>
              <a:off x="3024" y="1680"/>
              <a:ext cx="96" cy="28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219589" name="Line 5"/>
            <p:cNvSpPr>
              <a:spLocks noChangeShapeType="1"/>
            </p:cNvSpPr>
            <p:nvPr/>
          </p:nvSpPr>
          <p:spPr bwMode="auto">
            <a:xfrm flipH="1">
              <a:off x="2160" y="1968"/>
              <a:ext cx="864" cy="240"/>
            </a:xfrm>
            <a:prstGeom prst="line">
              <a:avLst/>
            </a:prstGeom>
            <a:noFill/>
            <a:ln w="28575">
              <a:solidFill>
                <a:schemeClr val="accent1"/>
              </a:solidFill>
              <a:round/>
              <a:headEnd/>
              <a:tailEnd type="triangle" w="med" len="med"/>
            </a:ln>
            <a:effectLst/>
          </p:spPr>
          <p:txBody>
            <a:bodyPr/>
            <a:lstStyle/>
            <a:p>
              <a:endParaRPr lang="en-US"/>
            </a:p>
          </p:txBody>
        </p:sp>
      </p:grpSp>
      <p:sp>
        <p:nvSpPr>
          <p:cNvPr id="1219590" name="Rectangle 6"/>
          <p:cNvSpPr>
            <a:spLocks noGrp="1" noChangeArrowheads="1"/>
          </p:cNvSpPr>
          <p:nvPr>
            <p:ph type="title"/>
          </p:nvPr>
        </p:nvSpPr>
        <p:spPr>
          <a:xfrm>
            <a:off x="652463" y="304800"/>
            <a:ext cx="7797800" cy="422275"/>
          </a:xfrm>
          <a:noFill/>
          <a:ln/>
        </p:spPr>
        <p:txBody>
          <a:bodyPr wrap="none"/>
          <a:lstStyle/>
          <a:p>
            <a:r>
              <a:rPr lang="en-US"/>
              <a:t>Branch Instructions Cause Control Hazards</a:t>
            </a:r>
          </a:p>
        </p:txBody>
      </p:sp>
      <p:sp>
        <p:nvSpPr>
          <p:cNvPr id="1219591" name="Rectangle 7"/>
          <p:cNvSpPr>
            <a:spLocks noChangeArrowheads="1"/>
          </p:cNvSpPr>
          <p:nvPr/>
        </p:nvSpPr>
        <p:spPr bwMode="auto">
          <a:xfrm>
            <a:off x="328613" y="19065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219592" name="Line 8"/>
          <p:cNvSpPr>
            <a:spLocks noChangeShapeType="1"/>
          </p:cNvSpPr>
          <p:nvPr/>
        </p:nvSpPr>
        <p:spPr bwMode="auto">
          <a:xfrm>
            <a:off x="1447800" y="1300163"/>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219595" name="Rectangle 11"/>
          <p:cNvSpPr>
            <a:spLocks noChangeArrowheads="1"/>
          </p:cNvSpPr>
          <p:nvPr/>
        </p:nvSpPr>
        <p:spPr bwMode="auto">
          <a:xfrm>
            <a:off x="762000" y="2633663"/>
            <a:ext cx="546100"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lw</a:t>
            </a:r>
          </a:p>
        </p:txBody>
      </p:sp>
      <p:sp>
        <p:nvSpPr>
          <p:cNvPr id="1219596" name="Rectangle 12"/>
          <p:cNvSpPr>
            <a:spLocks noChangeArrowheads="1"/>
          </p:cNvSpPr>
          <p:nvPr/>
        </p:nvSpPr>
        <p:spPr bwMode="auto">
          <a:xfrm>
            <a:off x="762000" y="4343400"/>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4</a:t>
            </a:r>
          </a:p>
        </p:txBody>
      </p:sp>
      <p:sp>
        <p:nvSpPr>
          <p:cNvPr id="1219597" name="Line 13"/>
          <p:cNvSpPr>
            <a:spLocks noChangeShapeType="1"/>
          </p:cNvSpPr>
          <p:nvPr/>
        </p:nvSpPr>
        <p:spPr bwMode="auto">
          <a:xfrm>
            <a:off x="26289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598" name="Line 14"/>
          <p:cNvSpPr>
            <a:spLocks noChangeShapeType="1"/>
          </p:cNvSpPr>
          <p:nvPr/>
        </p:nvSpPr>
        <p:spPr bwMode="auto">
          <a:xfrm>
            <a:off x="33147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599" name="Line 15"/>
          <p:cNvSpPr>
            <a:spLocks noChangeShapeType="1"/>
          </p:cNvSpPr>
          <p:nvPr/>
        </p:nvSpPr>
        <p:spPr bwMode="auto">
          <a:xfrm>
            <a:off x="40005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600" name="Line 16"/>
          <p:cNvSpPr>
            <a:spLocks noChangeShapeType="1"/>
          </p:cNvSpPr>
          <p:nvPr/>
        </p:nvSpPr>
        <p:spPr bwMode="auto">
          <a:xfrm>
            <a:off x="46863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601" name="Line 17"/>
          <p:cNvSpPr>
            <a:spLocks noChangeShapeType="1"/>
          </p:cNvSpPr>
          <p:nvPr/>
        </p:nvSpPr>
        <p:spPr bwMode="auto">
          <a:xfrm>
            <a:off x="53721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602" name="Line 18"/>
          <p:cNvSpPr>
            <a:spLocks noChangeShapeType="1"/>
          </p:cNvSpPr>
          <p:nvPr/>
        </p:nvSpPr>
        <p:spPr bwMode="auto">
          <a:xfrm>
            <a:off x="60579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603" name="Line 19"/>
          <p:cNvSpPr>
            <a:spLocks noChangeShapeType="1"/>
          </p:cNvSpPr>
          <p:nvPr/>
        </p:nvSpPr>
        <p:spPr bwMode="auto">
          <a:xfrm>
            <a:off x="67437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604" name="Line 20"/>
          <p:cNvSpPr>
            <a:spLocks noChangeShapeType="1"/>
          </p:cNvSpPr>
          <p:nvPr/>
        </p:nvSpPr>
        <p:spPr bwMode="auto">
          <a:xfrm>
            <a:off x="7429500" y="1427163"/>
            <a:ext cx="0" cy="4470400"/>
          </a:xfrm>
          <a:prstGeom prst="line">
            <a:avLst/>
          </a:prstGeom>
          <a:noFill/>
          <a:ln w="25400">
            <a:solidFill>
              <a:schemeClr val="tx1"/>
            </a:solidFill>
            <a:prstDash val="sysDot"/>
            <a:round/>
            <a:headEnd/>
            <a:tailEnd/>
          </a:ln>
          <a:effectLst/>
        </p:spPr>
        <p:txBody>
          <a:bodyPr wrap="none" anchor="ctr"/>
          <a:lstStyle/>
          <a:p>
            <a:endParaRPr lang="en-US"/>
          </a:p>
        </p:txBody>
      </p:sp>
      <p:sp>
        <p:nvSpPr>
          <p:cNvPr id="1219605" name="Rectangle 21"/>
          <p:cNvSpPr>
            <a:spLocks noChangeArrowheads="1"/>
          </p:cNvSpPr>
          <p:nvPr/>
        </p:nvSpPr>
        <p:spPr bwMode="auto">
          <a:xfrm>
            <a:off x="762000" y="3471863"/>
            <a:ext cx="925513"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Inst 3</a:t>
            </a:r>
          </a:p>
        </p:txBody>
      </p:sp>
      <p:sp>
        <p:nvSpPr>
          <p:cNvPr id="1219606" name="Line 22"/>
          <p:cNvSpPr>
            <a:spLocks noChangeShapeType="1"/>
          </p:cNvSpPr>
          <p:nvPr/>
        </p:nvSpPr>
        <p:spPr bwMode="auto">
          <a:xfrm>
            <a:off x="685800" y="1828800"/>
            <a:ext cx="0" cy="3886200"/>
          </a:xfrm>
          <a:prstGeom prst="line">
            <a:avLst/>
          </a:prstGeom>
          <a:noFill/>
          <a:ln w="28575">
            <a:solidFill>
              <a:schemeClr val="tx1"/>
            </a:solidFill>
            <a:round/>
            <a:headEnd/>
            <a:tailEnd type="triangle" w="med" len="med"/>
          </a:ln>
          <a:effectLst/>
        </p:spPr>
        <p:txBody>
          <a:bodyPr/>
          <a:lstStyle/>
          <a:p>
            <a:endParaRPr lang="en-US"/>
          </a:p>
        </p:txBody>
      </p:sp>
      <p:grpSp>
        <p:nvGrpSpPr>
          <p:cNvPr id="3" name="Group 189"/>
          <p:cNvGrpSpPr>
            <a:grpSpLocks/>
          </p:cNvGrpSpPr>
          <p:nvPr/>
        </p:nvGrpSpPr>
        <p:grpSpPr bwMode="auto">
          <a:xfrm>
            <a:off x="762000" y="1676400"/>
            <a:ext cx="5337175" cy="838200"/>
            <a:chOff x="480" y="1584"/>
            <a:chExt cx="3362" cy="528"/>
          </a:xfrm>
        </p:grpSpPr>
        <p:sp>
          <p:nvSpPr>
            <p:cNvPr id="1219594" name="Rectangle 10"/>
            <p:cNvSpPr>
              <a:spLocks noChangeArrowheads="1"/>
            </p:cNvSpPr>
            <p:nvPr/>
          </p:nvSpPr>
          <p:spPr bwMode="auto">
            <a:xfrm>
              <a:off x="480" y="1632"/>
              <a:ext cx="459" cy="286"/>
            </a:xfrm>
            <a:prstGeom prst="rect">
              <a:avLst/>
            </a:prstGeom>
            <a:noFill/>
            <a:ln w="12700">
              <a:noFill/>
              <a:miter lim="800000"/>
              <a:headEnd/>
              <a:tailEnd/>
            </a:ln>
            <a:effectLst/>
          </p:spPr>
          <p:txBody>
            <a:bodyPr wrap="none" lIns="90488" tIns="44450" rIns="90488" bIns="44450">
              <a:spAutoFit/>
            </a:bodyPr>
            <a:lstStyle/>
            <a:p>
              <a:r>
                <a:rPr lang="en-US" sz="2400" b="1">
                  <a:latin typeface="Courier New" pitchFamily="49" charset="0"/>
                </a:rPr>
                <a:t>beq</a:t>
              </a:r>
            </a:p>
          </p:txBody>
        </p:sp>
        <p:grpSp>
          <p:nvGrpSpPr>
            <p:cNvPr id="4" name="Group 57"/>
            <p:cNvGrpSpPr>
              <a:grpSpLocks/>
            </p:cNvGrpSpPr>
            <p:nvPr/>
          </p:nvGrpSpPr>
          <p:grpSpPr bwMode="auto">
            <a:xfrm>
              <a:off x="2640" y="1584"/>
              <a:ext cx="223" cy="481"/>
              <a:chOff x="2207" y="1413"/>
              <a:chExt cx="223" cy="481"/>
            </a:xfrm>
          </p:grpSpPr>
          <p:sp>
            <p:nvSpPr>
              <p:cNvPr id="1219642" name="Freeform 58"/>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43" name="Rectangle 59"/>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5" name="Group 60"/>
            <p:cNvGrpSpPr>
              <a:grpSpLocks/>
            </p:cNvGrpSpPr>
            <p:nvPr/>
          </p:nvGrpSpPr>
          <p:grpSpPr bwMode="auto">
            <a:xfrm>
              <a:off x="1728" y="1680"/>
              <a:ext cx="349" cy="289"/>
              <a:chOff x="1282" y="1509"/>
              <a:chExt cx="349" cy="289"/>
            </a:xfrm>
          </p:grpSpPr>
          <p:sp>
            <p:nvSpPr>
              <p:cNvPr id="1219645" name="Rectangle 61"/>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6" name="Group 62"/>
              <p:cNvGrpSpPr>
                <a:grpSpLocks/>
              </p:cNvGrpSpPr>
              <p:nvPr/>
            </p:nvGrpSpPr>
            <p:grpSpPr bwMode="auto">
              <a:xfrm>
                <a:off x="1291" y="1509"/>
                <a:ext cx="340" cy="289"/>
                <a:chOff x="1291" y="1509"/>
                <a:chExt cx="340" cy="289"/>
              </a:xfrm>
            </p:grpSpPr>
            <p:sp>
              <p:nvSpPr>
                <p:cNvPr id="1219647" name="Freeform 63"/>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48" name="Freeform 64"/>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9649" name="Rectangle 65"/>
            <p:cNvSpPr>
              <a:spLocks noChangeArrowheads="1"/>
            </p:cNvSpPr>
            <p:nvPr/>
          </p:nvSpPr>
          <p:spPr bwMode="auto">
            <a:xfrm>
              <a:off x="2178" y="1687"/>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7" name="Group 66"/>
            <p:cNvGrpSpPr>
              <a:grpSpLocks/>
            </p:cNvGrpSpPr>
            <p:nvPr/>
          </p:nvGrpSpPr>
          <p:grpSpPr bwMode="auto">
            <a:xfrm>
              <a:off x="2197" y="1680"/>
              <a:ext cx="296" cy="289"/>
              <a:chOff x="1751" y="1509"/>
              <a:chExt cx="296" cy="289"/>
            </a:xfrm>
          </p:grpSpPr>
          <p:sp>
            <p:nvSpPr>
              <p:cNvPr id="1219651" name="Freeform 67"/>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52" name="Freeform 68"/>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653" name="Line 69"/>
            <p:cNvSpPr>
              <a:spLocks noChangeShapeType="1"/>
            </p:cNvSpPr>
            <p:nvPr/>
          </p:nvSpPr>
          <p:spPr bwMode="auto">
            <a:xfrm>
              <a:off x="2082" y="1824"/>
              <a:ext cx="116" cy="0"/>
            </a:xfrm>
            <a:prstGeom prst="line">
              <a:avLst/>
            </a:prstGeom>
            <a:noFill/>
            <a:ln w="25400">
              <a:solidFill>
                <a:schemeClr val="tx1"/>
              </a:solidFill>
              <a:round/>
              <a:headEnd/>
              <a:tailEnd/>
            </a:ln>
            <a:effectLst/>
          </p:spPr>
          <p:txBody>
            <a:bodyPr wrap="none" anchor="ctr"/>
            <a:lstStyle/>
            <a:p>
              <a:endParaRPr lang="en-US"/>
            </a:p>
          </p:txBody>
        </p:sp>
        <p:sp>
          <p:nvSpPr>
            <p:cNvPr id="1219654" name="Freeform 70"/>
            <p:cNvSpPr>
              <a:spLocks/>
            </p:cNvSpPr>
            <p:nvPr/>
          </p:nvSpPr>
          <p:spPr bwMode="auto">
            <a:xfrm>
              <a:off x="2150" y="1728"/>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55" name="Line 71"/>
            <p:cNvSpPr>
              <a:spLocks noChangeShapeType="1"/>
            </p:cNvSpPr>
            <p:nvPr/>
          </p:nvSpPr>
          <p:spPr bwMode="auto">
            <a:xfrm>
              <a:off x="2498" y="1728"/>
              <a:ext cx="157" cy="0"/>
            </a:xfrm>
            <a:prstGeom prst="line">
              <a:avLst/>
            </a:prstGeom>
            <a:noFill/>
            <a:ln w="25400">
              <a:solidFill>
                <a:schemeClr val="tx1"/>
              </a:solidFill>
              <a:round/>
              <a:headEnd/>
              <a:tailEnd/>
            </a:ln>
            <a:effectLst/>
          </p:spPr>
          <p:txBody>
            <a:bodyPr wrap="none" anchor="ctr"/>
            <a:lstStyle/>
            <a:p>
              <a:endParaRPr lang="en-US"/>
            </a:p>
          </p:txBody>
        </p:sp>
        <p:sp>
          <p:nvSpPr>
            <p:cNvPr id="1219656" name="Rectangle 72"/>
            <p:cNvSpPr>
              <a:spLocks noChangeArrowheads="1"/>
            </p:cNvSpPr>
            <p:nvPr/>
          </p:nvSpPr>
          <p:spPr bwMode="auto">
            <a:xfrm>
              <a:off x="2995" y="1682"/>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8" name="Group 73"/>
            <p:cNvGrpSpPr>
              <a:grpSpLocks/>
            </p:cNvGrpSpPr>
            <p:nvPr/>
          </p:nvGrpSpPr>
          <p:grpSpPr bwMode="auto">
            <a:xfrm>
              <a:off x="3046" y="1680"/>
              <a:ext cx="325" cy="289"/>
              <a:chOff x="2600" y="1509"/>
              <a:chExt cx="325" cy="289"/>
            </a:xfrm>
          </p:grpSpPr>
          <p:sp>
            <p:nvSpPr>
              <p:cNvPr id="1219658" name="Freeform 74"/>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59" name="Freeform 75"/>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660" name="Rectangle 76"/>
            <p:cNvSpPr>
              <a:spLocks noChangeArrowheads="1"/>
            </p:cNvSpPr>
            <p:nvPr/>
          </p:nvSpPr>
          <p:spPr bwMode="auto">
            <a:xfrm>
              <a:off x="3487" y="1682"/>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9" name="Group 77"/>
            <p:cNvGrpSpPr>
              <a:grpSpLocks/>
            </p:cNvGrpSpPr>
            <p:nvPr/>
          </p:nvGrpSpPr>
          <p:grpSpPr bwMode="auto">
            <a:xfrm>
              <a:off x="3514" y="1680"/>
              <a:ext cx="284" cy="289"/>
              <a:chOff x="3068" y="1509"/>
              <a:chExt cx="284" cy="289"/>
            </a:xfrm>
          </p:grpSpPr>
          <p:sp>
            <p:nvSpPr>
              <p:cNvPr id="1219662" name="Freeform 78"/>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63" name="Freeform 79"/>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664" name="Line 80"/>
            <p:cNvSpPr>
              <a:spLocks noChangeShapeType="1"/>
            </p:cNvSpPr>
            <p:nvPr/>
          </p:nvSpPr>
          <p:spPr bwMode="auto">
            <a:xfrm>
              <a:off x="3367" y="1824"/>
              <a:ext cx="139" cy="0"/>
            </a:xfrm>
            <a:prstGeom prst="line">
              <a:avLst/>
            </a:prstGeom>
            <a:noFill/>
            <a:ln w="25400">
              <a:solidFill>
                <a:schemeClr val="tx1"/>
              </a:solidFill>
              <a:round/>
              <a:headEnd/>
              <a:tailEnd/>
            </a:ln>
            <a:effectLst/>
          </p:spPr>
          <p:txBody>
            <a:bodyPr wrap="none" anchor="ctr"/>
            <a:lstStyle/>
            <a:p>
              <a:endParaRPr lang="en-US"/>
            </a:p>
          </p:txBody>
        </p:sp>
        <p:sp>
          <p:nvSpPr>
            <p:cNvPr id="1219665" name="Line 81"/>
            <p:cNvSpPr>
              <a:spLocks noChangeShapeType="1"/>
            </p:cNvSpPr>
            <p:nvPr/>
          </p:nvSpPr>
          <p:spPr bwMode="auto">
            <a:xfrm>
              <a:off x="2883" y="1824"/>
              <a:ext cx="155" cy="0"/>
            </a:xfrm>
            <a:prstGeom prst="line">
              <a:avLst/>
            </a:prstGeom>
            <a:noFill/>
            <a:ln w="25400">
              <a:solidFill>
                <a:schemeClr val="tx1"/>
              </a:solidFill>
              <a:round/>
              <a:headEnd/>
              <a:tailEnd/>
            </a:ln>
            <a:effectLst/>
          </p:spPr>
          <p:txBody>
            <a:bodyPr wrap="none" anchor="ctr"/>
            <a:lstStyle/>
            <a:p>
              <a:endParaRPr lang="en-US"/>
            </a:p>
          </p:txBody>
        </p:sp>
        <p:sp>
          <p:nvSpPr>
            <p:cNvPr id="1219666" name="Line 82"/>
            <p:cNvSpPr>
              <a:spLocks noChangeShapeType="1"/>
            </p:cNvSpPr>
            <p:nvPr/>
          </p:nvSpPr>
          <p:spPr bwMode="auto">
            <a:xfrm>
              <a:off x="2498" y="1920"/>
              <a:ext cx="157" cy="0"/>
            </a:xfrm>
            <a:prstGeom prst="line">
              <a:avLst/>
            </a:prstGeom>
            <a:noFill/>
            <a:ln w="25400">
              <a:solidFill>
                <a:schemeClr val="tx1"/>
              </a:solidFill>
              <a:round/>
              <a:headEnd/>
              <a:tailEnd/>
            </a:ln>
            <a:effectLst/>
          </p:spPr>
          <p:txBody>
            <a:bodyPr wrap="none" anchor="ctr"/>
            <a:lstStyle/>
            <a:p>
              <a:endParaRPr lang="en-US"/>
            </a:p>
          </p:txBody>
        </p:sp>
        <p:sp>
          <p:nvSpPr>
            <p:cNvPr id="1219667" name="Line 83"/>
            <p:cNvSpPr>
              <a:spLocks noChangeShapeType="1"/>
            </p:cNvSpPr>
            <p:nvPr/>
          </p:nvSpPr>
          <p:spPr bwMode="auto">
            <a:xfrm>
              <a:off x="2582" y="1920"/>
              <a:ext cx="0" cy="192"/>
            </a:xfrm>
            <a:prstGeom prst="line">
              <a:avLst/>
            </a:prstGeom>
            <a:noFill/>
            <a:ln w="28575">
              <a:solidFill>
                <a:schemeClr val="tx1"/>
              </a:solidFill>
              <a:round/>
              <a:headEnd/>
              <a:tailEnd/>
            </a:ln>
            <a:effectLst/>
          </p:spPr>
          <p:txBody>
            <a:bodyPr/>
            <a:lstStyle/>
            <a:p>
              <a:endParaRPr lang="en-US"/>
            </a:p>
          </p:txBody>
        </p:sp>
        <p:sp>
          <p:nvSpPr>
            <p:cNvPr id="1219668" name="Line 84"/>
            <p:cNvSpPr>
              <a:spLocks noChangeShapeType="1"/>
            </p:cNvSpPr>
            <p:nvPr/>
          </p:nvSpPr>
          <p:spPr bwMode="auto">
            <a:xfrm>
              <a:off x="2582" y="2112"/>
              <a:ext cx="336" cy="0"/>
            </a:xfrm>
            <a:prstGeom prst="line">
              <a:avLst/>
            </a:prstGeom>
            <a:noFill/>
            <a:ln w="28575">
              <a:solidFill>
                <a:schemeClr val="tx1"/>
              </a:solidFill>
              <a:round/>
              <a:headEnd/>
              <a:tailEnd/>
            </a:ln>
            <a:effectLst/>
          </p:spPr>
          <p:txBody>
            <a:bodyPr/>
            <a:lstStyle/>
            <a:p>
              <a:endParaRPr lang="en-US"/>
            </a:p>
          </p:txBody>
        </p:sp>
        <p:sp>
          <p:nvSpPr>
            <p:cNvPr id="1219669" name="Line 85"/>
            <p:cNvSpPr>
              <a:spLocks noChangeShapeType="1"/>
            </p:cNvSpPr>
            <p:nvPr/>
          </p:nvSpPr>
          <p:spPr bwMode="auto">
            <a:xfrm>
              <a:off x="2918" y="1824"/>
              <a:ext cx="0" cy="288"/>
            </a:xfrm>
            <a:prstGeom prst="line">
              <a:avLst/>
            </a:prstGeom>
            <a:noFill/>
            <a:ln w="28575">
              <a:solidFill>
                <a:schemeClr val="tx1"/>
              </a:solidFill>
              <a:round/>
              <a:headEnd/>
              <a:tailEnd/>
            </a:ln>
            <a:effectLst/>
          </p:spPr>
          <p:txBody>
            <a:bodyPr/>
            <a:lstStyle/>
            <a:p>
              <a:endParaRPr lang="en-US"/>
            </a:p>
          </p:txBody>
        </p:sp>
        <p:sp>
          <p:nvSpPr>
            <p:cNvPr id="1219670" name="Line 86"/>
            <p:cNvSpPr>
              <a:spLocks noChangeShapeType="1"/>
            </p:cNvSpPr>
            <p:nvPr/>
          </p:nvSpPr>
          <p:spPr bwMode="auto">
            <a:xfrm flipH="1">
              <a:off x="2998" y="1824"/>
              <a:ext cx="0" cy="240"/>
            </a:xfrm>
            <a:prstGeom prst="line">
              <a:avLst/>
            </a:prstGeom>
            <a:noFill/>
            <a:ln w="28575">
              <a:solidFill>
                <a:schemeClr val="tx1"/>
              </a:solidFill>
              <a:round/>
              <a:headEnd/>
              <a:tailEnd/>
            </a:ln>
            <a:effectLst/>
          </p:spPr>
          <p:txBody>
            <a:bodyPr/>
            <a:lstStyle/>
            <a:p>
              <a:endParaRPr lang="en-US"/>
            </a:p>
          </p:txBody>
        </p:sp>
        <p:sp>
          <p:nvSpPr>
            <p:cNvPr id="1219671" name="Line 87"/>
            <p:cNvSpPr>
              <a:spLocks noChangeShapeType="1"/>
            </p:cNvSpPr>
            <p:nvPr/>
          </p:nvSpPr>
          <p:spPr bwMode="auto">
            <a:xfrm>
              <a:off x="2998" y="2064"/>
              <a:ext cx="432" cy="0"/>
            </a:xfrm>
            <a:prstGeom prst="line">
              <a:avLst/>
            </a:prstGeom>
            <a:noFill/>
            <a:ln w="28575">
              <a:solidFill>
                <a:schemeClr val="tx1"/>
              </a:solidFill>
              <a:round/>
              <a:headEnd/>
              <a:tailEnd/>
            </a:ln>
            <a:effectLst/>
          </p:spPr>
          <p:txBody>
            <a:bodyPr/>
            <a:lstStyle/>
            <a:p>
              <a:endParaRPr lang="en-US"/>
            </a:p>
          </p:txBody>
        </p:sp>
        <p:sp>
          <p:nvSpPr>
            <p:cNvPr id="1219672" name="Line 88"/>
            <p:cNvSpPr>
              <a:spLocks noChangeShapeType="1"/>
            </p:cNvSpPr>
            <p:nvPr/>
          </p:nvSpPr>
          <p:spPr bwMode="auto">
            <a:xfrm>
              <a:off x="3430" y="1824"/>
              <a:ext cx="0" cy="240"/>
            </a:xfrm>
            <a:prstGeom prst="line">
              <a:avLst/>
            </a:prstGeom>
            <a:noFill/>
            <a:ln w="28575">
              <a:solidFill>
                <a:schemeClr val="tx1"/>
              </a:solidFill>
              <a:round/>
              <a:headEnd/>
              <a:tailEnd/>
            </a:ln>
            <a:effectLst/>
          </p:spPr>
          <p:txBody>
            <a:bodyPr/>
            <a:lstStyle/>
            <a:p>
              <a:endParaRPr lang="en-US"/>
            </a:p>
          </p:txBody>
        </p:sp>
      </p:grpSp>
      <p:grpSp>
        <p:nvGrpSpPr>
          <p:cNvPr id="10" name="Group 89"/>
          <p:cNvGrpSpPr>
            <a:grpSpLocks/>
          </p:cNvGrpSpPr>
          <p:nvPr/>
        </p:nvGrpSpPr>
        <p:grpSpPr bwMode="auto">
          <a:xfrm>
            <a:off x="3429000" y="2514600"/>
            <a:ext cx="3355975" cy="838200"/>
            <a:chOff x="1562" y="1152"/>
            <a:chExt cx="2114" cy="528"/>
          </a:xfrm>
        </p:grpSpPr>
        <p:grpSp>
          <p:nvGrpSpPr>
            <p:cNvPr id="11" name="Group 90"/>
            <p:cNvGrpSpPr>
              <a:grpSpLocks/>
            </p:cNvGrpSpPr>
            <p:nvPr/>
          </p:nvGrpSpPr>
          <p:grpSpPr bwMode="auto">
            <a:xfrm>
              <a:off x="2487" y="1152"/>
              <a:ext cx="223" cy="481"/>
              <a:chOff x="2207" y="1413"/>
              <a:chExt cx="223" cy="481"/>
            </a:xfrm>
          </p:grpSpPr>
          <p:sp>
            <p:nvSpPr>
              <p:cNvPr id="1219675" name="Freeform 91"/>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76" name="Rectangle 92"/>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2" name="Group 93"/>
            <p:cNvGrpSpPr>
              <a:grpSpLocks/>
            </p:cNvGrpSpPr>
            <p:nvPr/>
          </p:nvGrpSpPr>
          <p:grpSpPr bwMode="auto">
            <a:xfrm>
              <a:off x="1562" y="1248"/>
              <a:ext cx="349" cy="289"/>
              <a:chOff x="1282" y="1509"/>
              <a:chExt cx="349" cy="289"/>
            </a:xfrm>
          </p:grpSpPr>
          <p:sp>
            <p:nvSpPr>
              <p:cNvPr id="1219678" name="Rectangle 94"/>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3" name="Group 95"/>
              <p:cNvGrpSpPr>
                <a:grpSpLocks/>
              </p:cNvGrpSpPr>
              <p:nvPr/>
            </p:nvGrpSpPr>
            <p:grpSpPr bwMode="auto">
              <a:xfrm>
                <a:off x="1291" y="1509"/>
                <a:ext cx="340" cy="289"/>
                <a:chOff x="1291" y="1509"/>
                <a:chExt cx="340" cy="289"/>
              </a:xfrm>
            </p:grpSpPr>
            <p:sp>
              <p:nvSpPr>
                <p:cNvPr id="1219680" name="Freeform 96"/>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81" name="Freeform 97"/>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9682" name="Rectangle 98"/>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4" name="Group 99"/>
            <p:cNvGrpSpPr>
              <a:grpSpLocks/>
            </p:cNvGrpSpPr>
            <p:nvPr/>
          </p:nvGrpSpPr>
          <p:grpSpPr bwMode="auto">
            <a:xfrm>
              <a:off x="2031" y="1248"/>
              <a:ext cx="296" cy="289"/>
              <a:chOff x="1751" y="1509"/>
              <a:chExt cx="296" cy="289"/>
            </a:xfrm>
          </p:grpSpPr>
          <p:sp>
            <p:nvSpPr>
              <p:cNvPr id="1219684" name="Freeform 100"/>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85" name="Freeform 101"/>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686" name="Line 102"/>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9687" name="Freeform 103"/>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88" name="Line 104"/>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9689" name="Rectangle 105"/>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5" name="Group 106"/>
            <p:cNvGrpSpPr>
              <a:grpSpLocks/>
            </p:cNvGrpSpPr>
            <p:nvPr/>
          </p:nvGrpSpPr>
          <p:grpSpPr bwMode="auto">
            <a:xfrm>
              <a:off x="2880" y="1248"/>
              <a:ext cx="325" cy="289"/>
              <a:chOff x="2600" y="1509"/>
              <a:chExt cx="325" cy="289"/>
            </a:xfrm>
          </p:grpSpPr>
          <p:sp>
            <p:nvSpPr>
              <p:cNvPr id="1219691" name="Freeform 107"/>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92" name="Freeform 108"/>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693" name="Rectangle 109"/>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6" name="Group 110"/>
            <p:cNvGrpSpPr>
              <a:grpSpLocks/>
            </p:cNvGrpSpPr>
            <p:nvPr/>
          </p:nvGrpSpPr>
          <p:grpSpPr bwMode="auto">
            <a:xfrm>
              <a:off x="3348" y="1248"/>
              <a:ext cx="284" cy="289"/>
              <a:chOff x="3068" y="1509"/>
              <a:chExt cx="284" cy="289"/>
            </a:xfrm>
          </p:grpSpPr>
          <p:sp>
            <p:nvSpPr>
              <p:cNvPr id="1219695" name="Freeform 111"/>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696" name="Freeform 112"/>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697" name="Line 113"/>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9698" name="Line 114"/>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9699" name="Line 115"/>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9700" name="Line 116"/>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9701" name="Line 117"/>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9702" name="Line 118"/>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9703" name="Line 119"/>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9704" name="Line 120"/>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9705" name="Line 121"/>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7" name="Group 122"/>
          <p:cNvGrpSpPr>
            <a:grpSpLocks/>
          </p:cNvGrpSpPr>
          <p:nvPr/>
        </p:nvGrpSpPr>
        <p:grpSpPr bwMode="auto">
          <a:xfrm>
            <a:off x="4114800" y="3352800"/>
            <a:ext cx="3355975" cy="838200"/>
            <a:chOff x="1562" y="1152"/>
            <a:chExt cx="2114" cy="528"/>
          </a:xfrm>
        </p:grpSpPr>
        <p:grpSp>
          <p:nvGrpSpPr>
            <p:cNvPr id="18" name="Group 123"/>
            <p:cNvGrpSpPr>
              <a:grpSpLocks/>
            </p:cNvGrpSpPr>
            <p:nvPr/>
          </p:nvGrpSpPr>
          <p:grpSpPr bwMode="auto">
            <a:xfrm>
              <a:off x="2487" y="1152"/>
              <a:ext cx="223" cy="481"/>
              <a:chOff x="2207" y="1413"/>
              <a:chExt cx="223" cy="481"/>
            </a:xfrm>
          </p:grpSpPr>
          <p:sp>
            <p:nvSpPr>
              <p:cNvPr id="1219708" name="Freeform 12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09" name="Rectangle 12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9" name="Group 126"/>
            <p:cNvGrpSpPr>
              <a:grpSpLocks/>
            </p:cNvGrpSpPr>
            <p:nvPr/>
          </p:nvGrpSpPr>
          <p:grpSpPr bwMode="auto">
            <a:xfrm>
              <a:off x="1562" y="1248"/>
              <a:ext cx="349" cy="289"/>
              <a:chOff x="1282" y="1509"/>
              <a:chExt cx="349" cy="289"/>
            </a:xfrm>
          </p:grpSpPr>
          <p:sp>
            <p:nvSpPr>
              <p:cNvPr id="1219711" name="Rectangle 12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0" name="Group 128"/>
              <p:cNvGrpSpPr>
                <a:grpSpLocks/>
              </p:cNvGrpSpPr>
              <p:nvPr/>
            </p:nvGrpSpPr>
            <p:grpSpPr bwMode="auto">
              <a:xfrm>
                <a:off x="1291" y="1509"/>
                <a:ext cx="340" cy="289"/>
                <a:chOff x="1291" y="1509"/>
                <a:chExt cx="340" cy="289"/>
              </a:xfrm>
            </p:grpSpPr>
            <p:sp>
              <p:nvSpPr>
                <p:cNvPr id="1219713" name="Freeform 12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14" name="Freeform 13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9715" name="Rectangle 13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1" name="Group 132"/>
            <p:cNvGrpSpPr>
              <a:grpSpLocks/>
            </p:cNvGrpSpPr>
            <p:nvPr/>
          </p:nvGrpSpPr>
          <p:grpSpPr bwMode="auto">
            <a:xfrm>
              <a:off x="2031" y="1248"/>
              <a:ext cx="296" cy="289"/>
              <a:chOff x="1751" y="1509"/>
              <a:chExt cx="296" cy="289"/>
            </a:xfrm>
          </p:grpSpPr>
          <p:sp>
            <p:nvSpPr>
              <p:cNvPr id="1219717" name="Freeform 13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18" name="Freeform 13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719" name="Line 13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9720" name="Freeform 13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21" name="Line 13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9722" name="Rectangle 13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2" name="Group 139"/>
            <p:cNvGrpSpPr>
              <a:grpSpLocks/>
            </p:cNvGrpSpPr>
            <p:nvPr/>
          </p:nvGrpSpPr>
          <p:grpSpPr bwMode="auto">
            <a:xfrm>
              <a:off x="2880" y="1248"/>
              <a:ext cx="325" cy="289"/>
              <a:chOff x="2600" y="1509"/>
              <a:chExt cx="325" cy="289"/>
            </a:xfrm>
          </p:grpSpPr>
          <p:sp>
            <p:nvSpPr>
              <p:cNvPr id="1219724" name="Freeform 14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25" name="Freeform 14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726" name="Rectangle 14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 name="Group 143"/>
            <p:cNvGrpSpPr>
              <a:grpSpLocks/>
            </p:cNvGrpSpPr>
            <p:nvPr/>
          </p:nvGrpSpPr>
          <p:grpSpPr bwMode="auto">
            <a:xfrm>
              <a:off x="3348" y="1248"/>
              <a:ext cx="284" cy="289"/>
              <a:chOff x="3068" y="1509"/>
              <a:chExt cx="284" cy="289"/>
            </a:xfrm>
          </p:grpSpPr>
          <p:sp>
            <p:nvSpPr>
              <p:cNvPr id="1219728" name="Freeform 14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29" name="Freeform 14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730" name="Line 14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9731" name="Line 14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9732" name="Line 14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9733" name="Line 14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9734" name="Line 15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9735" name="Line 15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9736" name="Line 15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9737" name="Line 15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9738" name="Line 15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4" name="Group 155"/>
          <p:cNvGrpSpPr>
            <a:grpSpLocks/>
          </p:cNvGrpSpPr>
          <p:nvPr/>
        </p:nvGrpSpPr>
        <p:grpSpPr bwMode="auto">
          <a:xfrm>
            <a:off x="4800600" y="4191000"/>
            <a:ext cx="3355975" cy="838200"/>
            <a:chOff x="1562" y="1152"/>
            <a:chExt cx="2114" cy="528"/>
          </a:xfrm>
        </p:grpSpPr>
        <p:grpSp>
          <p:nvGrpSpPr>
            <p:cNvPr id="25" name="Group 156"/>
            <p:cNvGrpSpPr>
              <a:grpSpLocks/>
            </p:cNvGrpSpPr>
            <p:nvPr/>
          </p:nvGrpSpPr>
          <p:grpSpPr bwMode="auto">
            <a:xfrm>
              <a:off x="2487" y="1152"/>
              <a:ext cx="223" cy="481"/>
              <a:chOff x="2207" y="1413"/>
              <a:chExt cx="223" cy="481"/>
            </a:xfrm>
          </p:grpSpPr>
          <p:sp>
            <p:nvSpPr>
              <p:cNvPr id="1219741" name="Freeform 157"/>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42" name="Rectangle 158"/>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6" name="Group 159"/>
            <p:cNvGrpSpPr>
              <a:grpSpLocks/>
            </p:cNvGrpSpPr>
            <p:nvPr/>
          </p:nvGrpSpPr>
          <p:grpSpPr bwMode="auto">
            <a:xfrm>
              <a:off x="1562" y="1248"/>
              <a:ext cx="349" cy="289"/>
              <a:chOff x="1282" y="1509"/>
              <a:chExt cx="349" cy="289"/>
            </a:xfrm>
          </p:grpSpPr>
          <p:sp>
            <p:nvSpPr>
              <p:cNvPr id="1219744" name="Rectangle 160"/>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7" name="Group 161"/>
              <p:cNvGrpSpPr>
                <a:grpSpLocks/>
              </p:cNvGrpSpPr>
              <p:nvPr/>
            </p:nvGrpSpPr>
            <p:grpSpPr bwMode="auto">
              <a:xfrm>
                <a:off x="1291" y="1509"/>
                <a:ext cx="340" cy="289"/>
                <a:chOff x="1291" y="1509"/>
                <a:chExt cx="340" cy="289"/>
              </a:xfrm>
            </p:grpSpPr>
            <p:sp>
              <p:nvSpPr>
                <p:cNvPr id="1219746" name="Freeform 162"/>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47" name="Freeform 163"/>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219748" name="Rectangle 164"/>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8" name="Group 165"/>
            <p:cNvGrpSpPr>
              <a:grpSpLocks/>
            </p:cNvGrpSpPr>
            <p:nvPr/>
          </p:nvGrpSpPr>
          <p:grpSpPr bwMode="auto">
            <a:xfrm>
              <a:off x="2031" y="1248"/>
              <a:ext cx="296" cy="289"/>
              <a:chOff x="1751" y="1509"/>
              <a:chExt cx="296" cy="289"/>
            </a:xfrm>
          </p:grpSpPr>
          <p:sp>
            <p:nvSpPr>
              <p:cNvPr id="1219750" name="Freeform 166"/>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51" name="Freeform 167"/>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752" name="Line 168"/>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219753" name="Freeform 169"/>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54" name="Line 170"/>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219755" name="Rectangle 171"/>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9" name="Group 172"/>
            <p:cNvGrpSpPr>
              <a:grpSpLocks/>
            </p:cNvGrpSpPr>
            <p:nvPr/>
          </p:nvGrpSpPr>
          <p:grpSpPr bwMode="auto">
            <a:xfrm>
              <a:off x="2880" y="1248"/>
              <a:ext cx="325" cy="289"/>
              <a:chOff x="2600" y="1509"/>
              <a:chExt cx="325" cy="289"/>
            </a:xfrm>
          </p:grpSpPr>
          <p:sp>
            <p:nvSpPr>
              <p:cNvPr id="1219757" name="Freeform 173"/>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58" name="Freeform 174"/>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759" name="Rectangle 175"/>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0" name="Group 176"/>
            <p:cNvGrpSpPr>
              <a:grpSpLocks/>
            </p:cNvGrpSpPr>
            <p:nvPr/>
          </p:nvGrpSpPr>
          <p:grpSpPr bwMode="auto">
            <a:xfrm>
              <a:off x="3348" y="1248"/>
              <a:ext cx="284" cy="289"/>
              <a:chOff x="3068" y="1509"/>
              <a:chExt cx="284" cy="289"/>
            </a:xfrm>
          </p:grpSpPr>
          <p:sp>
            <p:nvSpPr>
              <p:cNvPr id="1219761" name="Freeform 177"/>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219762" name="Freeform 178"/>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219763" name="Line 179"/>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219764" name="Line 180"/>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219765" name="Line 181"/>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219766" name="Line 182"/>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219767" name="Line 183"/>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219768" name="Line 184"/>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219769" name="Line 185"/>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219770" name="Line 186"/>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219771" name="Line 187"/>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219772" name="Rectangle 188"/>
          <p:cNvSpPr>
            <a:spLocks noGrp="1" noChangeArrowheads="1"/>
          </p:cNvSpPr>
          <p:nvPr>
            <p:ph type="body" idx="1"/>
          </p:nvPr>
        </p:nvSpPr>
        <p:spPr>
          <a:xfrm>
            <a:off x="609600" y="762000"/>
            <a:ext cx="7391400" cy="379413"/>
          </a:xfrm>
          <a:noFill/>
          <a:ln/>
        </p:spPr>
        <p:txBody>
          <a:bodyPr/>
          <a:lstStyle/>
          <a:p>
            <a:r>
              <a:rPr lang="en-US"/>
              <a:t>Dependencies backward in time cause </a:t>
            </a:r>
            <a:r>
              <a:rPr lang="en-US">
                <a:solidFill>
                  <a:schemeClr val="accent1"/>
                </a:solidFill>
              </a:rPr>
              <a:t>hazards</a:t>
            </a:r>
          </a:p>
        </p:txBody>
      </p:sp>
    </p:spTree>
    <p:extLst>
      <p:ext uri="{BB962C8B-B14F-4D97-AF65-F5344CB8AC3E}">
        <p14:creationId xmlns:p14="http://schemas.microsoft.com/office/powerpoint/2010/main" val="18310052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2819400"/>
            <a:ext cx="6705600" cy="609600"/>
            <a:chOff x="480" y="2256"/>
            <a:chExt cx="4224" cy="384"/>
          </a:xfrm>
        </p:grpSpPr>
        <p:sp>
          <p:nvSpPr>
            <p:cNvPr id="1017859" name="Rectangle 3"/>
            <p:cNvSpPr>
              <a:spLocks noChangeArrowheads="1"/>
            </p:cNvSpPr>
            <p:nvPr/>
          </p:nvSpPr>
          <p:spPr bwMode="auto">
            <a:xfrm>
              <a:off x="480" y="2352"/>
              <a:ext cx="520" cy="286"/>
            </a:xfrm>
            <a:prstGeom prst="rect">
              <a:avLst/>
            </a:prstGeom>
            <a:noFill/>
            <a:ln w="12700">
              <a:noFill/>
              <a:miter lim="800000"/>
              <a:headEnd/>
              <a:tailEnd/>
            </a:ln>
            <a:effectLst/>
          </p:spPr>
          <p:txBody>
            <a:bodyPr wrap="none" lIns="90488" tIns="44450" rIns="90488" bIns="44450">
              <a:spAutoFit/>
            </a:bodyPr>
            <a:lstStyle/>
            <a:p>
              <a:r>
                <a:rPr lang="en-US" sz="2400"/>
                <a:t>flush</a:t>
              </a:r>
            </a:p>
          </p:txBody>
        </p:sp>
        <p:sp>
          <p:nvSpPr>
            <p:cNvPr id="1017862" name="AutoShape 6" descr="Shingle"/>
            <p:cNvSpPr>
              <a:spLocks noChangeArrowheads="1"/>
            </p:cNvSpPr>
            <p:nvPr/>
          </p:nvSpPr>
          <p:spPr bwMode="auto">
            <a:xfrm>
              <a:off x="3408" y="2256"/>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17863" name="AutoShape 7" descr="Shingle"/>
            <p:cNvSpPr>
              <a:spLocks noChangeArrowheads="1"/>
            </p:cNvSpPr>
            <p:nvPr/>
          </p:nvSpPr>
          <p:spPr bwMode="auto">
            <a:xfrm>
              <a:off x="3840" y="2256"/>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17864" name="AutoShape 8" descr="Shingle"/>
            <p:cNvSpPr>
              <a:spLocks noChangeArrowheads="1"/>
            </p:cNvSpPr>
            <p:nvPr/>
          </p:nvSpPr>
          <p:spPr bwMode="auto">
            <a:xfrm>
              <a:off x="4272" y="2256"/>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3" name="Group 9"/>
          <p:cNvGrpSpPr>
            <a:grpSpLocks/>
          </p:cNvGrpSpPr>
          <p:nvPr/>
        </p:nvGrpSpPr>
        <p:grpSpPr bwMode="auto">
          <a:xfrm>
            <a:off x="762000" y="3584575"/>
            <a:ext cx="7391400" cy="682625"/>
            <a:chOff x="480" y="2688"/>
            <a:chExt cx="4656" cy="430"/>
          </a:xfrm>
        </p:grpSpPr>
        <p:sp>
          <p:nvSpPr>
            <p:cNvPr id="1017866" name="Rectangle 10"/>
            <p:cNvSpPr>
              <a:spLocks noChangeArrowheads="1"/>
            </p:cNvSpPr>
            <p:nvPr/>
          </p:nvSpPr>
          <p:spPr bwMode="auto">
            <a:xfrm>
              <a:off x="480" y="2832"/>
              <a:ext cx="520" cy="286"/>
            </a:xfrm>
            <a:prstGeom prst="rect">
              <a:avLst/>
            </a:prstGeom>
            <a:noFill/>
            <a:ln w="12700">
              <a:noFill/>
              <a:miter lim="800000"/>
              <a:headEnd/>
              <a:tailEnd/>
            </a:ln>
            <a:effectLst/>
          </p:spPr>
          <p:txBody>
            <a:bodyPr wrap="none" lIns="90488" tIns="44450" rIns="90488" bIns="44450">
              <a:spAutoFit/>
            </a:bodyPr>
            <a:lstStyle/>
            <a:p>
              <a:r>
                <a:rPr lang="en-US" sz="2400"/>
                <a:t>flush</a:t>
              </a:r>
            </a:p>
          </p:txBody>
        </p:sp>
        <p:sp>
          <p:nvSpPr>
            <p:cNvPr id="1017868" name="AutoShape 12" descr="Shingle"/>
            <p:cNvSpPr>
              <a:spLocks noChangeArrowheads="1"/>
            </p:cNvSpPr>
            <p:nvPr/>
          </p:nvSpPr>
          <p:spPr bwMode="auto">
            <a:xfrm>
              <a:off x="3360" y="2688"/>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17869" name="AutoShape 13" descr="Shingle"/>
            <p:cNvSpPr>
              <a:spLocks noChangeArrowheads="1"/>
            </p:cNvSpPr>
            <p:nvPr/>
          </p:nvSpPr>
          <p:spPr bwMode="auto">
            <a:xfrm>
              <a:off x="3840" y="2688"/>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17870" name="AutoShape 14" descr="Shingle"/>
            <p:cNvSpPr>
              <a:spLocks noChangeArrowheads="1"/>
            </p:cNvSpPr>
            <p:nvPr/>
          </p:nvSpPr>
          <p:spPr bwMode="auto">
            <a:xfrm>
              <a:off x="4272" y="2688"/>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17871" name="AutoShape 15" descr="Shingle"/>
            <p:cNvSpPr>
              <a:spLocks noChangeArrowheads="1"/>
            </p:cNvSpPr>
            <p:nvPr/>
          </p:nvSpPr>
          <p:spPr bwMode="auto">
            <a:xfrm>
              <a:off x="4704" y="2688"/>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4" name="Group 16"/>
          <p:cNvGrpSpPr>
            <a:grpSpLocks/>
          </p:cNvGrpSpPr>
          <p:nvPr/>
        </p:nvGrpSpPr>
        <p:grpSpPr bwMode="auto">
          <a:xfrm>
            <a:off x="762000" y="2133600"/>
            <a:ext cx="6019800" cy="609600"/>
            <a:chOff x="480" y="1824"/>
            <a:chExt cx="3792" cy="384"/>
          </a:xfrm>
        </p:grpSpPr>
        <p:sp>
          <p:nvSpPr>
            <p:cNvPr id="1017873" name="Rectangle 17"/>
            <p:cNvSpPr>
              <a:spLocks noChangeArrowheads="1"/>
            </p:cNvSpPr>
            <p:nvPr/>
          </p:nvSpPr>
          <p:spPr bwMode="auto">
            <a:xfrm>
              <a:off x="480" y="1824"/>
              <a:ext cx="520" cy="286"/>
            </a:xfrm>
            <a:prstGeom prst="rect">
              <a:avLst/>
            </a:prstGeom>
            <a:noFill/>
            <a:ln w="12700">
              <a:noFill/>
              <a:miter lim="800000"/>
              <a:headEnd/>
              <a:tailEnd/>
            </a:ln>
            <a:effectLst/>
          </p:spPr>
          <p:txBody>
            <a:bodyPr wrap="none" lIns="90488" tIns="44450" rIns="90488" bIns="44450">
              <a:spAutoFit/>
            </a:bodyPr>
            <a:lstStyle/>
            <a:p>
              <a:r>
                <a:rPr lang="en-US" sz="2400"/>
                <a:t>flush</a:t>
              </a:r>
            </a:p>
          </p:txBody>
        </p:sp>
        <p:sp>
          <p:nvSpPr>
            <p:cNvPr id="1017877" name="AutoShape 21" descr="Shingle"/>
            <p:cNvSpPr>
              <a:spLocks noChangeArrowheads="1"/>
            </p:cNvSpPr>
            <p:nvPr/>
          </p:nvSpPr>
          <p:spPr bwMode="auto">
            <a:xfrm>
              <a:off x="3408"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17878" name="AutoShape 22" descr="Shingle"/>
            <p:cNvSpPr>
              <a:spLocks noChangeArrowheads="1"/>
            </p:cNvSpPr>
            <p:nvPr/>
          </p:nvSpPr>
          <p:spPr bwMode="auto">
            <a:xfrm>
              <a:off x="3840"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5" name="Group 23"/>
          <p:cNvGrpSpPr>
            <a:grpSpLocks/>
          </p:cNvGrpSpPr>
          <p:nvPr/>
        </p:nvGrpSpPr>
        <p:grpSpPr bwMode="auto">
          <a:xfrm>
            <a:off x="4800600" y="1371600"/>
            <a:ext cx="1219200" cy="3581400"/>
            <a:chOff x="3024" y="864"/>
            <a:chExt cx="768" cy="2256"/>
          </a:xfrm>
        </p:grpSpPr>
        <p:sp>
          <p:nvSpPr>
            <p:cNvPr id="1017880" name="Rectangle 24"/>
            <p:cNvSpPr>
              <a:spLocks noChangeArrowheads="1"/>
            </p:cNvSpPr>
            <p:nvPr/>
          </p:nvSpPr>
          <p:spPr bwMode="auto">
            <a:xfrm>
              <a:off x="3456" y="2832"/>
              <a:ext cx="336"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017881" name="Rectangle 25"/>
            <p:cNvSpPr>
              <a:spLocks noChangeArrowheads="1"/>
            </p:cNvSpPr>
            <p:nvPr/>
          </p:nvSpPr>
          <p:spPr bwMode="auto">
            <a:xfrm>
              <a:off x="3024" y="864"/>
              <a:ext cx="96" cy="341"/>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17882" name="Line 26"/>
            <p:cNvSpPr>
              <a:spLocks noChangeShapeType="1"/>
            </p:cNvSpPr>
            <p:nvPr/>
          </p:nvSpPr>
          <p:spPr bwMode="auto">
            <a:xfrm>
              <a:off x="3120" y="1200"/>
              <a:ext cx="432" cy="1632"/>
            </a:xfrm>
            <a:prstGeom prst="line">
              <a:avLst/>
            </a:prstGeom>
            <a:noFill/>
            <a:ln w="28575">
              <a:solidFill>
                <a:srgbClr val="009900"/>
              </a:solidFill>
              <a:round/>
              <a:headEnd/>
              <a:tailEnd type="triangle" w="med" len="med"/>
            </a:ln>
            <a:effectLst/>
          </p:spPr>
          <p:txBody>
            <a:bodyPr/>
            <a:lstStyle/>
            <a:p>
              <a:endParaRPr lang="en-US"/>
            </a:p>
          </p:txBody>
        </p:sp>
      </p:grpSp>
      <p:sp>
        <p:nvSpPr>
          <p:cNvPr id="1017883" name="Rectangle 27"/>
          <p:cNvSpPr>
            <a:spLocks noGrp="1" noChangeArrowheads="1"/>
          </p:cNvSpPr>
          <p:nvPr>
            <p:ph type="title"/>
          </p:nvPr>
        </p:nvSpPr>
        <p:spPr>
          <a:xfrm>
            <a:off x="600075" y="304800"/>
            <a:ext cx="7324725" cy="422275"/>
          </a:xfrm>
          <a:noFill/>
          <a:ln/>
        </p:spPr>
        <p:txBody>
          <a:bodyPr wrap="none"/>
          <a:lstStyle/>
          <a:p>
            <a:r>
              <a:rPr lang="en-US" dirty="0"/>
              <a:t>One Way to “Fix” a Branch Control Hazard</a:t>
            </a:r>
          </a:p>
        </p:txBody>
      </p:sp>
      <p:sp>
        <p:nvSpPr>
          <p:cNvPr id="1017884" name="Rectangle 28"/>
          <p:cNvSpPr>
            <a:spLocks noChangeArrowheads="1"/>
          </p:cNvSpPr>
          <p:nvPr/>
        </p:nvSpPr>
        <p:spPr bwMode="auto">
          <a:xfrm>
            <a:off x="328613" y="137318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017885" name="Line 29"/>
          <p:cNvSpPr>
            <a:spLocks noChangeShapeType="1"/>
          </p:cNvSpPr>
          <p:nvPr/>
        </p:nvSpPr>
        <p:spPr bwMode="auto">
          <a:xfrm flipV="1">
            <a:off x="1447800" y="990600"/>
            <a:ext cx="7010400" cy="4763"/>
          </a:xfrm>
          <a:prstGeom prst="line">
            <a:avLst/>
          </a:prstGeom>
          <a:noFill/>
          <a:ln w="25400">
            <a:solidFill>
              <a:schemeClr val="tx1"/>
            </a:solidFill>
            <a:round/>
            <a:headEnd/>
            <a:tailEnd type="triangle" w="med" len="med"/>
          </a:ln>
          <a:effectLst/>
        </p:spPr>
        <p:txBody>
          <a:bodyPr wrap="none" anchor="ctr"/>
          <a:lstStyle/>
          <a:p>
            <a:endParaRPr lang="en-US"/>
          </a:p>
        </p:txBody>
      </p:sp>
      <p:sp>
        <p:nvSpPr>
          <p:cNvPr id="1017886" name="Rectangle 30"/>
          <p:cNvSpPr>
            <a:spLocks noChangeArrowheads="1"/>
          </p:cNvSpPr>
          <p:nvPr/>
        </p:nvSpPr>
        <p:spPr bwMode="auto">
          <a:xfrm>
            <a:off x="762000" y="1295400"/>
            <a:ext cx="72866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beq</a:t>
            </a:r>
          </a:p>
        </p:txBody>
      </p:sp>
      <p:sp>
        <p:nvSpPr>
          <p:cNvPr id="1017887" name="Line 31"/>
          <p:cNvSpPr>
            <a:spLocks noChangeShapeType="1"/>
          </p:cNvSpPr>
          <p:nvPr/>
        </p:nvSpPr>
        <p:spPr bwMode="auto">
          <a:xfrm>
            <a:off x="685800" y="1295400"/>
            <a:ext cx="0" cy="5105400"/>
          </a:xfrm>
          <a:prstGeom prst="line">
            <a:avLst/>
          </a:prstGeom>
          <a:noFill/>
          <a:ln w="28575">
            <a:solidFill>
              <a:schemeClr val="tx1"/>
            </a:solidFill>
            <a:round/>
            <a:headEnd/>
            <a:tailEnd type="triangle" w="med" len="med"/>
          </a:ln>
          <a:effectLst/>
        </p:spPr>
        <p:txBody>
          <a:bodyPr/>
          <a:lstStyle/>
          <a:p>
            <a:endParaRPr lang="en-US"/>
          </a:p>
        </p:txBody>
      </p:sp>
      <p:grpSp>
        <p:nvGrpSpPr>
          <p:cNvPr id="6" name="Group 32"/>
          <p:cNvGrpSpPr>
            <a:grpSpLocks/>
          </p:cNvGrpSpPr>
          <p:nvPr/>
        </p:nvGrpSpPr>
        <p:grpSpPr bwMode="auto">
          <a:xfrm>
            <a:off x="2743200" y="1219200"/>
            <a:ext cx="3355975" cy="838200"/>
            <a:chOff x="1562" y="1152"/>
            <a:chExt cx="2114" cy="528"/>
          </a:xfrm>
        </p:grpSpPr>
        <p:grpSp>
          <p:nvGrpSpPr>
            <p:cNvPr id="7" name="Group 33"/>
            <p:cNvGrpSpPr>
              <a:grpSpLocks/>
            </p:cNvGrpSpPr>
            <p:nvPr/>
          </p:nvGrpSpPr>
          <p:grpSpPr bwMode="auto">
            <a:xfrm>
              <a:off x="2487" y="1152"/>
              <a:ext cx="223" cy="481"/>
              <a:chOff x="2207" y="1413"/>
              <a:chExt cx="223" cy="481"/>
            </a:xfrm>
          </p:grpSpPr>
          <p:sp>
            <p:nvSpPr>
              <p:cNvPr id="1017890" name="Freeform 3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891" name="Rectangle 3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8" name="Group 36"/>
            <p:cNvGrpSpPr>
              <a:grpSpLocks/>
            </p:cNvGrpSpPr>
            <p:nvPr/>
          </p:nvGrpSpPr>
          <p:grpSpPr bwMode="auto">
            <a:xfrm>
              <a:off x="1562" y="1248"/>
              <a:ext cx="349" cy="289"/>
              <a:chOff x="1282" y="1509"/>
              <a:chExt cx="349" cy="289"/>
            </a:xfrm>
          </p:grpSpPr>
          <p:sp>
            <p:nvSpPr>
              <p:cNvPr id="1017893" name="Rectangle 3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9" name="Group 38"/>
              <p:cNvGrpSpPr>
                <a:grpSpLocks/>
              </p:cNvGrpSpPr>
              <p:nvPr/>
            </p:nvGrpSpPr>
            <p:grpSpPr bwMode="auto">
              <a:xfrm>
                <a:off x="1291" y="1509"/>
                <a:ext cx="340" cy="289"/>
                <a:chOff x="1291" y="1509"/>
                <a:chExt cx="340" cy="289"/>
              </a:xfrm>
            </p:grpSpPr>
            <p:sp>
              <p:nvSpPr>
                <p:cNvPr id="1017895" name="Freeform 3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896" name="Freeform 4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17897" name="Rectangle 4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 name="Group 42"/>
            <p:cNvGrpSpPr>
              <a:grpSpLocks/>
            </p:cNvGrpSpPr>
            <p:nvPr/>
          </p:nvGrpSpPr>
          <p:grpSpPr bwMode="auto">
            <a:xfrm>
              <a:off x="2031" y="1248"/>
              <a:ext cx="296" cy="289"/>
              <a:chOff x="1751" y="1509"/>
              <a:chExt cx="296" cy="289"/>
            </a:xfrm>
          </p:grpSpPr>
          <p:sp>
            <p:nvSpPr>
              <p:cNvPr id="1017899" name="Freeform 4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00" name="Freeform 4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01" name="Line 4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17902" name="Freeform 4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03" name="Line 4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17904" name="Rectangle 4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1" name="Group 49"/>
            <p:cNvGrpSpPr>
              <a:grpSpLocks/>
            </p:cNvGrpSpPr>
            <p:nvPr/>
          </p:nvGrpSpPr>
          <p:grpSpPr bwMode="auto">
            <a:xfrm>
              <a:off x="2880" y="1248"/>
              <a:ext cx="325" cy="289"/>
              <a:chOff x="2600" y="1509"/>
              <a:chExt cx="325" cy="289"/>
            </a:xfrm>
          </p:grpSpPr>
          <p:sp>
            <p:nvSpPr>
              <p:cNvPr id="1017906" name="Freeform 5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07" name="Freeform 5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08" name="Rectangle 5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 name="Group 53"/>
            <p:cNvGrpSpPr>
              <a:grpSpLocks/>
            </p:cNvGrpSpPr>
            <p:nvPr/>
          </p:nvGrpSpPr>
          <p:grpSpPr bwMode="auto">
            <a:xfrm>
              <a:off x="3348" y="1248"/>
              <a:ext cx="284" cy="289"/>
              <a:chOff x="3068" y="1509"/>
              <a:chExt cx="284" cy="289"/>
            </a:xfrm>
          </p:grpSpPr>
          <p:sp>
            <p:nvSpPr>
              <p:cNvPr id="1017910" name="Freeform 5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11" name="Freeform 5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12" name="Line 5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17913" name="Line 5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17914" name="Line 5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17915" name="Line 5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17916" name="Line 6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17917" name="Line 6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17918" name="Line 6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17919" name="Line 6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17920" name="Line 6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3" name="Group 65"/>
          <p:cNvGrpSpPr>
            <a:grpSpLocks/>
          </p:cNvGrpSpPr>
          <p:nvPr/>
        </p:nvGrpSpPr>
        <p:grpSpPr bwMode="auto">
          <a:xfrm>
            <a:off x="723900" y="4343400"/>
            <a:ext cx="8267700" cy="1676400"/>
            <a:chOff x="456" y="2736"/>
            <a:chExt cx="5208" cy="1056"/>
          </a:xfrm>
        </p:grpSpPr>
        <p:grpSp>
          <p:nvGrpSpPr>
            <p:cNvPr id="14" name="Group 66"/>
            <p:cNvGrpSpPr>
              <a:grpSpLocks/>
            </p:cNvGrpSpPr>
            <p:nvPr/>
          </p:nvGrpSpPr>
          <p:grpSpPr bwMode="auto">
            <a:xfrm>
              <a:off x="480" y="2736"/>
              <a:ext cx="5088" cy="528"/>
              <a:chOff x="480" y="2736"/>
              <a:chExt cx="5088" cy="528"/>
            </a:xfrm>
          </p:grpSpPr>
          <p:sp>
            <p:nvSpPr>
              <p:cNvPr id="1017923" name="Rectangle 67"/>
              <p:cNvSpPr>
                <a:spLocks noChangeArrowheads="1"/>
              </p:cNvSpPr>
              <p:nvPr/>
            </p:nvSpPr>
            <p:spPr bwMode="auto">
              <a:xfrm>
                <a:off x="480" y="2882"/>
                <a:ext cx="1065"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beq </a:t>
                </a:r>
                <a:r>
                  <a:rPr lang="en-US" sz="2400">
                    <a:solidFill>
                      <a:schemeClr val="tx1"/>
                    </a:solidFill>
                  </a:rPr>
                  <a:t>target</a:t>
                </a:r>
              </a:p>
            </p:txBody>
          </p:sp>
          <p:grpSp>
            <p:nvGrpSpPr>
              <p:cNvPr id="15" name="Group 68"/>
              <p:cNvGrpSpPr>
                <a:grpSpLocks/>
              </p:cNvGrpSpPr>
              <p:nvPr/>
            </p:nvGrpSpPr>
            <p:grpSpPr bwMode="auto">
              <a:xfrm>
                <a:off x="3454" y="2736"/>
                <a:ext cx="2114" cy="528"/>
                <a:chOff x="1562" y="1152"/>
                <a:chExt cx="2114" cy="528"/>
              </a:xfrm>
            </p:grpSpPr>
            <p:grpSp>
              <p:nvGrpSpPr>
                <p:cNvPr id="16" name="Group 69"/>
                <p:cNvGrpSpPr>
                  <a:grpSpLocks/>
                </p:cNvGrpSpPr>
                <p:nvPr/>
              </p:nvGrpSpPr>
              <p:grpSpPr bwMode="auto">
                <a:xfrm>
                  <a:off x="2487" y="1152"/>
                  <a:ext cx="223" cy="481"/>
                  <a:chOff x="2207" y="1413"/>
                  <a:chExt cx="223" cy="481"/>
                </a:xfrm>
              </p:grpSpPr>
              <p:sp>
                <p:nvSpPr>
                  <p:cNvPr id="1017926" name="Freeform 7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27" name="Rectangle 7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7" name="Group 72"/>
                <p:cNvGrpSpPr>
                  <a:grpSpLocks/>
                </p:cNvGrpSpPr>
                <p:nvPr/>
              </p:nvGrpSpPr>
              <p:grpSpPr bwMode="auto">
                <a:xfrm>
                  <a:off x="1562" y="1248"/>
                  <a:ext cx="349" cy="289"/>
                  <a:chOff x="1282" y="1509"/>
                  <a:chExt cx="349" cy="289"/>
                </a:xfrm>
              </p:grpSpPr>
              <p:sp>
                <p:nvSpPr>
                  <p:cNvPr id="1017929" name="Rectangle 7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8" name="Group 74"/>
                  <p:cNvGrpSpPr>
                    <a:grpSpLocks/>
                  </p:cNvGrpSpPr>
                  <p:nvPr/>
                </p:nvGrpSpPr>
                <p:grpSpPr bwMode="auto">
                  <a:xfrm>
                    <a:off x="1291" y="1509"/>
                    <a:ext cx="340" cy="289"/>
                    <a:chOff x="1291" y="1509"/>
                    <a:chExt cx="340" cy="289"/>
                  </a:xfrm>
                </p:grpSpPr>
                <p:sp>
                  <p:nvSpPr>
                    <p:cNvPr id="1017931" name="Freeform 7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32" name="Freeform 7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17933" name="Rectangle 7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9" name="Group 78"/>
                <p:cNvGrpSpPr>
                  <a:grpSpLocks/>
                </p:cNvGrpSpPr>
                <p:nvPr/>
              </p:nvGrpSpPr>
              <p:grpSpPr bwMode="auto">
                <a:xfrm>
                  <a:off x="2031" y="1248"/>
                  <a:ext cx="296" cy="289"/>
                  <a:chOff x="1751" y="1509"/>
                  <a:chExt cx="296" cy="289"/>
                </a:xfrm>
              </p:grpSpPr>
              <p:sp>
                <p:nvSpPr>
                  <p:cNvPr id="1017935" name="Freeform 7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36" name="Freeform 8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37" name="Line 8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17938" name="Freeform 8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39" name="Line 8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17940" name="Rectangle 8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0" name="Group 85"/>
                <p:cNvGrpSpPr>
                  <a:grpSpLocks/>
                </p:cNvGrpSpPr>
                <p:nvPr/>
              </p:nvGrpSpPr>
              <p:grpSpPr bwMode="auto">
                <a:xfrm>
                  <a:off x="2880" y="1248"/>
                  <a:ext cx="325" cy="289"/>
                  <a:chOff x="2600" y="1509"/>
                  <a:chExt cx="325" cy="289"/>
                </a:xfrm>
              </p:grpSpPr>
              <p:sp>
                <p:nvSpPr>
                  <p:cNvPr id="1017942" name="Freeform 8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43" name="Freeform 8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44" name="Rectangle 8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1" name="Group 89"/>
                <p:cNvGrpSpPr>
                  <a:grpSpLocks/>
                </p:cNvGrpSpPr>
                <p:nvPr/>
              </p:nvGrpSpPr>
              <p:grpSpPr bwMode="auto">
                <a:xfrm>
                  <a:off x="3348" y="1248"/>
                  <a:ext cx="284" cy="289"/>
                  <a:chOff x="3068" y="1509"/>
                  <a:chExt cx="284" cy="289"/>
                </a:xfrm>
              </p:grpSpPr>
              <p:sp>
                <p:nvSpPr>
                  <p:cNvPr id="1017946" name="Freeform 9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47" name="Freeform 9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48" name="Line 9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17949" name="Line 9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17950" name="Line 9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17951" name="Line 9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17952" name="Line 9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17953" name="Line 9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17954" name="Line 9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17955" name="Line 9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17956" name="Line 10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grpSp>
          <p:nvGrpSpPr>
            <p:cNvPr id="22" name="Group 101"/>
            <p:cNvGrpSpPr>
              <a:grpSpLocks/>
            </p:cNvGrpSpPr>
            <p:nvPr/>
          </p:nvGrpSpPr>
          <p:grpSpPr bwMode="auto">
            <a:xfrm>
              <a:off x="4811" y="3264"/>
              <a:ext cx="223" cy="481"/>
              <a:chOff x="2207" y="1413"/>
              <a:chExt cx="223" cy="481"/>
            </a:xfrm>
          </p:grpSpPr>
          <p:sp>
            <p:nvSpPr>
              <p:cNvPr id="1017958" name="Freeform 10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59" name="Rectangle 10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3" name="Group 104"/>
            <p:cNvGrpSpPr>
              <a:grpSpLocks/>
            </p:cNvGrpSpPr>
            <p:nvPr/>
          </p:nvGrpSpPr>
          <p:grpSpPr bwMode="auto">
            <a:xfrm>
              <a:off x="456" y="3360"/>
              <a:ext cx="5208" cy="432"/>
              <a:chOff x="456" y="3360"/>
              <a:chExt cx="5208" cy="432"/>
            </a:xfrm>
          </p:grpSpPr>
          <p:sp>
            <p:nvSpPr>
              <p:cNvPr id="1017961" name="Rectangle 105"/>
              <p:cNvSpPr>
                <a:spLocks noChangeArrowheads="1"/>
              </p:cNvSpPr>
              <p:nvPr/>
            </p:nvSpPr>
            <p:spPr bwMode="auto">
              <a:xfrm>
                <a:off x="456" y="3429"/>
                <a:ext cx="636"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 Inst 3</a:t>
                </a:r>
              </a:p>
            </p:txBody>
          </p:sp>
          <p:grpSp>
            <p:nvGrpSpPr>
              <p:cNvPr id="24" name="Group 106"/>
              <p:cNvGrpSpPr>
                <a:grpSpLocks/>
              </p:cNvGrpSpPr>
              <p:nvPr/>
            </p:nvGrpSpPr>
            <p:grpSpPr bwMode="auto">
              <a:xfrm>
                <a:off x="3886" y="3360"/>
                <a:ext cx="349" cy="289"/>
                <a:chOff x="1282" y="1509"/>
                <a:chExt cx="349" cy="289"/>
              </a:xfrm>
            </p:grpSpPr>
            <p:sp>
              <p:nvSpPr>
                <p:cNvPr id="1017963" name="Rectangle 10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5" name="Group 108"/>
                <p:cNvGrpSpPr>
                  <a:grpSpLocks/>
                </p:cNvGrpSpPr>
                <p:nvPr/>
              </p:nvGrpSpPr>
              <p:grpSpPr bwMode="auto">
                <a:xfrm>
                  <a:off x="1291" y="1509"/>
                  <a:ext cx="340" cy="289"/>
                  <a:chOff x="1291" y="1509"/>
                  <a:chExt cx="340" cy="289"/>
                </a:xfrm>
              </p:grpSpPr>
              <p:sp>
                <p:nvSpPr>
                  <p:cNvPr id="1017965" name="Freeform 10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66" name="Freeform 11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17967" name="Rectangle 111"/>
              <p:cNvSpPr>
                <a:spLocks noChangeArrowheads="1"/>
              </p:cNvSpPr>
              <p:nvPr/>
            </p:nvSpPr>
            <p:spPr bwMode="auto">
              <a:xfrm>
                <a:off x="4336" y="3367"/>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6" name="Group 112"/>
              <p:cNvGrpSpPr>
                <a:grpSpLocks/>
              </p:cNvGrpSpPr>
              <p:nvPr/>
            </p:nvGrpSpPr>
            <p:grpSpPr bwMode="auto">
              <a:xfrm>
                <a:off x="4355" y="3360"/>
                <a:ext cx="296" cy="289"/>
                <a:chOff x="1751" y="1509"/>
                <a:chExt cx="296" cy="289"/>
              </a:xfrm>
            </p:grpSpPr>
            <p:sp>
              <p:nvSpPr>
                <p:cNvPr id="1017969" name="Freeform 11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70" name="Freeform 11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71" name="Line 115"/>
              <p:cNvSpPr>
                <a:spLocks noChangeShapeType="1"/>
              </p:cNvSpPr>
              <p:nvPr/>
            </p:nvSpPr>
            <p:spPr bwMode="auto">
              <a:xfrm>
                <a:off x="4240" y="3504"/>
                <a:ext cx="116" cy="0"/>
              </a:xfrm>
              <a:prstGeom prst="line">
                <a:avLst/>
              </a:prstGeom>
              <a:noFill/>
              <a:ln w="25400">
                <a:solidFill>
                  <a:schemeClr val="tx1"/>
                </a:solidFill>
                <a:round/>
                <a:headEnd/>
                <a:tailEnd/>
              </a:ln>
              <a:effectLst/>
            </p:spPr>
            <p:txBody>
              <a:bodyPr wrap="none" anchor="ctr"/>
              <a:lstStyle/>
              <a:p>
                <a:endParaRPr lang="en-US"/>
              </a:p>
            </p:txBody>
          </p:sp>
          <p:sp>
            <p:nvSpPr>
              <p:cNvPr id="1017972" name="Freeform 116"/>
              <p:cNvSpPr>
                <a:spLocks/>
              </p:cNvSpPr>
              <p:nvPr/>
            </p:nvSpPr>
            <p:spPr bwMode="auto">
              <a:xfrm>
                <a:off x="4308" y="3408"/>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73" name="Line 117"/>
              <p:cNvSpPr>
                <a:spLocks noChangeShapeType="1"/>
              </p:cNvSpPr>
              <p:nvPr/>
            </p:nvSpPr>
            <p:spPr bwMode="auto">
              <a:xfrm>
                <a:off x="4656" y="3408"/>
                <a:ext cx="157" cy="0"/>
              </a:xfrm>
              <a:prstGeom prst="line">
                <a:avLst/>
              </a:prstGeom>
              <a:noFill/>
              <a:ln w="25400">
                <a:solidFill>
                  <a:schemeClr val="tx1"/>
                </a:solidFill>
                <a:round/>
                <a:headEnd/>
                <a:tailEnd/>
              </a:ln>
              <a:effectLst/>
            </p:spPr>
            <p:txBody>
              <a:bodyPr wrap="none" anchor="ctr"/>
              <a:lstStyle/>
              <a:p>
                <a:endParaRPr lang="en-US"/>
              </a:p>
            </p:txBody>
          </p:sp>
          <p:sp>
            <p:nvSpPr>
              <p:cNvPr id="1017974" name="Rectangle 118"/>
              <p:cNvSpPr>
                <a:spLocks noChangeArrowheads="1"/>
              </p:cNvSpPr>
              <p:nvPr/>
            </p:nvSpPr>
            <p:spPr bwMode="auto">
              <a:xfrm>
                <a:off x="5153" y="3362"/>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7" name="Group 119"/>
              <p:cNvGrpSpPr>
                <a:grpSpLocks/>
              </p:cNvGrpSpPr>
              <p:nvPr/>
            </p:nvGrpSpPr>
            <p:grpSpPr bwMode="auto">
              <a:xfrm>
                <a:off x="5204" y="3360"/>
                <a:ext cx="325" cy="289"/>
                <a:chOff x="2600" y="1509"/>
                <a:chExt cx="325" cy="289"/>
              </a:xfrm>
            </p:grpSpPr>
            <p:sp>
              <p:nvSpPr>
                <p:cNvPr id="1017976" name="Freeform 12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7977" name="Freeform 12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7978" name="Line 122"/>
              <p:cNvSpPr>
                <a:spLocks noChangeShapeType="1"/>
              </p:cNvSpPr>
              <p:nvPr/>
            </p:nvSpPr>
            <p:spPr bwMode="auto">
              <a:xfrm>
                <a:off x="5525" y="3504"/>
                <a:ext cx="139" cy="0"/>
              </a:xfrm>
              <a:prstGeom prst="line">
                <a:avLst/>
              </a:prstGeom>
              <a:noFill/>
              <a:ln w="25400">
                <a:solidFill>
                  <a:schemeClr val="tx1"/>
                </a:solidFill>
                <a:round/>
                <a:headEnd/>
                <a:tailEnd/>
              </a:ln>
              <a:effectLst/>
            </p:spPr>
            <p:txBody>
              <a:bodyPr wrap="none" anchor="ctr"/>
              <a:lstStyle/>
              <a:p>
                <a:endParaRPr lang="en-US"/>
              </a:p>
            </p:txBody>
          </p:sp>
          <p:sp>
            <p:nvSpPr>
              <p:cNvPr id="1017979" name="Line 123"/>
              <p:cNvSpPr>
                <a:spLocks noChangeShapeType="1"/>
              </p:cNvSpPr>
              <p:nvPr/>
            </p:nvSpPr>
            <p:spPr bwMode="auto">
              <a:xfrm>
                <a:off x="5041" y="3504"/>
                <a:ext cx="155" cy="0"/>
              </a:xfrm>
              <a:prstGeom prst="line">
                <a:avLst/>
              </a:prstGeom>
              <a:noFill/>
              <a:ln w="25400">
                <a:solidFill>
                  <a:schemeClr val="tx1"/>
                </a:solidFill>
                <a:round/>
                <a:headEnd/>
                <a:tailEnd/>
              </a:ln>
              <a:effectLst/>
            </p:spPr>
            <p:txBody>
              <a:bodyPr wrap="none" anchor="ctr"/>
              <a:lstStyle/>
              <a:p>
                <a:endParaRPr lang="en-US"/>
              </a:p>
            </p:txBody>
          </p:sp>
          <p:sp>
            <p:nvSpPr>
              <p:cNvPr id="1017980" name="Line 124"/>
              <p:cNvSpPr>
                <a:spLocks noChangeShapeType="1"/>
              </p:cNvSpPr>
              <p:nvPr/>
            </p:nvSpPr>
            <p:spPr bwMode="auto">
              <a:xfrm>
                <a:off x="4656" y="3600"/>
                <a:ext cx="157" cy="0"/>
              </a:xfrm>
              <a:prstGeom prst="line">
                <a:avLst/>
              </a:prstGeom>
              <a:noFill/>
              <a:ln w="25400">
                <a:solidFill>
                  <a:schemeClr val="tx1"/>
                </a:solidFill>
                <a:round/>
                <a:headEnd/>
                <a:tailEnd/>
              </a:ln>
              <a:effectLst/>
            </p:spPr>
            <p:txBody>
              <a:bodyPr wrap="none" anchor="ctr"/>
              <a:lstStyle/>
              <a:p>
                <a:endParaRPr lang="en-US"/>
              </a:p>
            </p:txBody>
          </p:sp>
          <p:sp>
            <p:nvSpPr>
              <p:cNvPr id="1017981" name="Line 125"/>
              <p:cNvSpPr>
                <a:spLocks noChangeShapeType="1"/>
              </p:cNvSpPr>
              <p:nvPr/>
            </p:nvSpPr>
            <p:spPr bwMode="auto">
              <a:xfrm>
                <a:off x="4740" y="3600"/>
                <a:ext cx="0" cy="192"/>
              </a:xfrm>
              <a:prstGeom prst="line">
                <a:avLst/>
              </a:prstGeom>
              <a:noFill/>
              <a:ln w="28575">
                <a:solidFill>
                  <a:schemeClr val="tx1"/>
                </a:solidFill>
                <a:round/>
                <a:headEnd/>
                <a:tailEnd/>
              </a:ln>
              <a:effectLst/>
            </p:spPr>
            <p:txBody>
              <a:bodyPr/>
              <a:lstStyle/>
              <a:p>
                <a:endParaRPr lang="en-US"/>
              </a:p>
            </p:txBody>
          </p:sp>
          <p:sp>
            <p:nvSpPr>
              <p:cNvPr id="1017982" name="Line 126"/>
              <p:cNvSpPr>
                <a:spLocks noChangeShapeType="1"/>
              </p:cNvSpPr>
              <p:nvPr/>
            </p:nvSpPr>
            <p:spPr bwMode="auto">
              <a:xfrm>
                <a:off x="4740" y="3792"/>
                <a:ext cx="336" cy="0"/>
              </a:xfrm>
              <a:prstGeom prst="line">
                <a:avLst/>
              </a:prstGeom>
              <a:noFill/>
              <a:ln w="28575">
                <a:solidFill>
                  <a:schemeClr val="tx1"/>
                </a:solidFill>
                <a:round/>
                <a:headEnd/>
                <a:tailEnd/>
              </a:ln>
              <a:effectLst/>
            </p:spPr>
            <p:txBody>
              <a:bodyPr/>
              <a:lstStyle/>
              <a:p>
                <a:endParaRPr lang="en-US"/>
              </a:p>
            </p:txBody>
          </p:sp>
          <p:sp>
            <p:nvSpPr>
              <p:cNvPr id="1017983" name="Line 127"/>
              <p:cNvSpPr>
                <a:spLocks noChangeShapeType="1"/>
              </p:cNvSpPr>
              <p:nvPr/>
            </p:nvSpPr>
            <p:spPr bwMode="auto">
              <a:xfrm>
                <a:off x="5076" y="3504"/>
                <a:ext cx="0" cy="288"/>
              </a:xfrm>
              <a:prstGeom prst="line">
                <a:avLst/>
              </a:prstGeom>
              <a:noFill/>
              <a:ln w="28575">
                <a:solidFill>
                  <a:schemeClr val="tx1"/>
                </a:solidFill>
                <a:round/>
                <a:headEnd/>
                <a:tailEnd/>
              </a:ln>
              <a:effectLst/>
            </p:spPr>
            <p:txBody>
              <a:bodyPr/>
              <a:lstStyle/>
              <a:p>
                <a:endParaRPr lang="en-US"/>
              </a:p>
            </p:txBody>
          </p:sp>
          <p:sp>
            <p:nvSpPr>
              <p:cNvPr id="1017984" name="Line 128"/>
              <p:cNvSpPr>
                <a:spLocks noChangeShapeType="1"/>
              </p:cNvSpPr>
              <p:nvPr/>
            </p:nvSpPr>
            <p:spPr bwMode="auto">
              <a:xfrm flipH="1">
                <a:off x="5156" y="3504"/>
                <a:ext cx="0" cy="240"/>
              </a:xfrm>
              <a:prstGeom prst="line">
                <a:avLst/>
              </a:prstGeom>
              <a:noFill/>
              <a:ln w="28575">
                <a:solidFill>
                  <a:schemeClr val="tx1"/>
                </a:solidFill>
                <a:round/>
                <a:headEnd/>
                <a:tailEnd/>
              </a:ln>
              <a:effectLst/>
            </p:spPr>
            <p:txBody>
              <a:bodyPr/>
              <a:lstStyle/>
              <a:p>
                <a:endParaRPr lang="en-US"/>
              </a:p>
            </p:txBody>
          </p:sp>
          <p:sp>
            <p:nvSpPr>
              <p:cNvPr id="1017985" name="Line 129"/>
              <p:cNvSpPr>
                <a:spLocks noChangeShapeType="1"/>
              </p:cNvSpPr>
              <p:nvPr/>
            </p:nvSpPr>
            <p:spPr bwMode="auto">
              <a:xfrm>
                <a:off x="5156" y="3744"/>
                <a:ext cx="432" cy="0"/>
              </a:xfrm>
              <a:prstGeom prst="line">
                <a:avLst/>
              </a:prstGeom>
              <a:noFill/>
              <a:ln w="28575">
                <a:solidFill>
                  <a:schemeClr val="tx1"/>
                </a:solidFill>
                <a:round/>
                <a:headEnd/>
                <a:tailEnd/>
              </a:ln>
              <a:effectLst/>
            </p:spPr>
            <p:txBody>
              <a:bodyPr/>
              <a:lstStyle/>
              <a:p>
                <a:endParaRPr lang="en-US"/>
              </a:p>
            </p:txBody>
          </p:sp>
          <p:sp>
            <p:nvSpPr>
              <p:cNvPr id="1017986" name="Line 130"/>
              <p:cNvSpPr>
                <a:spLocks noChangeShapeType="1"/>
              </p:cNvSpPr>
              <p:nvPr/>
            </p:nvSpPr>
            <p:spPr bwMode="auto">
              <a:xfrm>
                <a:off x="5588" y="3504"/>
                <a:ext cx="0" cy="240"/>
              </a:xfrm>
              <a:prstGeom prst="line">
                <a:avLst/>
              </a:prstGeom>
              <a:noFill/>
              <a:ln w="28575">
                <a:solidFill>
                  <a:schemeClr val="tx1"/>
                </a:solidFill>
                <a:round/>
                <a:headEnd/>
                <a:tailEnd/>
              </a:ln>
              <a:effectLst/>
            </p:spPr>
            <p:txBody>
              <a:bodyPr/>
              <a:lstStyle/>
              <a:p>
                <a:endParaRPr lang="en-US"/>
              </a:p>
            </p:txBody>
          </p:sp>
        </p:grpSp>
      </p:grpSp>
      <p:sp>
        <p:nvSpPr>
          <p:cNvPr id="1017987" name="Rectangle 131"/>
          <p:cNvSpPr>
            <a:spLocks noChangeArrowheads="1"/>
          </p:cNvSpPr>
          <p:nvPr/>
        </p:nvSpPr>
        <p:spPr bwMode="auto">
          <a:xfrm>
            <a:off x="7086600" y="1066800"/>
            <a:ext cx="1676400" cy="1320874"/>
          </a:xfrm>
          <a:prstGeom prst="rect">
            <a:avLst/>
          </a:prstGeom>
          <a:noFill/>
          <a:ln w="12700">
            <a:noFill/>
            <a:miter lim="800000"/>
            <a:headEnd/>
            <a:tailEnd/>
          </a:ln>
          <a:effectLst/>
        </p:spPr>
        <p:txBody>
          <a:bodyPr lIns="90488" tIns="44450" rIns="90488" bIns="44450">
            <a:spAutoFit/>
          </a:bodyPr>
          <a:lstStyle/>
          <a:p>
            <a:pPr algn="r"/>
            <a:r>
              <a:rPr lang="en-US" sz="2000" b="1" dirty="0"/>
              <a:t>Fix branch hazard by waiting</a:t>
            </a:r>
            <a:r>
              <a:rPr lang="en-US" sz="2000" dirty="0"/>
              <a:t> – </a:t>
            </a:r>
            <a:r>
              <a:rPr lang="en-US" sz="2000" dirty="0">
                <a:solidFill>
                  <a:schemeClr val="accent2"/>
                </a:solidFill>
              </a:rPr>
              <a:t>flush</a:t>
            </a:r>
            <a:endParaRPr lang="en-US" sz="2000" b="1" dirty="0"/>
          </a:p>
        </p:txBody>
      </p:sp>
      <p:sp>
        <p:nvSpPr>
          <p:cNvPr id="1017988" name="Line 132"/>
          <p:cNvSpPr>
            <a:spLocks noChangeShapeType="1"/>
          </p:cNvSpPr>
          <p:nvPr/>
        </p:nvSpPr>
        <p:spPr bwMode="auto">
          <a:xfrm>
            <a:off x="8153400" y="11430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89" name="Line 133"/>
          <p:cNvSpPr>
            <a:spLocks noChangeShapeType="1"/>
          </p:cNvSpPr>
          <p:nvPr/>
        </p:nvSpPr>
        <p:spPr bwMode="auto">
          <a:xfrm>
            <a:off x="8763000" y="11430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0" name="Line 134"/>
          <p:cNvSpPr>
            <a:spLocks noChangeShapeType="1"/>
          </p:cNvSpPr>
          <p:nvPr/>
        </p:nvSpPr>
        <p:spPr bwMode="auto">
          <a:xfrm>
            <a:off x="7467600" y="11430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1" name="Line 135"/>
          <p:cNvSpPr>
            <a:spLocks noChangeShapeType="1"/>
          </p:cNvSpPr>
          <p:nvPr/>
        </p:nvSpPr>
        <p:spPr bwMode="auto">
          <a:xfrm>
            <a:off x="6781800" y="11430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2" name="Line 136"/>
          <p:cNvSpPr>
            <a:spLocks noChangeShapeType="1"/>
          </p:cNvSpPr>
          <p:nvPr/>
        </p:nvSpPr>
        <p:spPr bwMode="auto">
          <a:xfrm>
            <a:off x="6096000" y="11430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3" name="Line 137"/>
          <p:cNvSpPr>
            <a:spLocks noChangeShapeType="1"/>
          </p:cNvSpPr>
          <p:nvPr/>
        </p:nvSpPr>
        <p:spPr bwMode="auto">
          <a:xfrm>
            <a:off x="5410200" y="10668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4" name="Line 138"/>
          <p:cNvSpPr>
            <a:spLocks noChangeShapeType="1"/>
          </p:cNvSpPr>
          <p:nvPr/>
        </p:nvSpPr>
        <p:spPr bwMode="auto">
          <a:xfrm>
            <a:off x="4724400" y="10668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5" name="Line 139"/>
          <p:cNvSpPr>
            <a:spLocks noChangeShapeType="1"/>
          </p:cNvSpPr>
          <p:nvPr/>
        </p:nvSpPr>
        <p:spPr bwMode="auto">
          <a:xfrm>
            <a:off x="4038600" y="10668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6" name="Line 140"/>
          <p:cNvSpPr>
            <a:spLocks noChangeShapeType="1"/>
          </p:cNvSpPr>
          <p:nvPr/>
        </p:nvSpPr>
        <p:spPr bwMode="auto">
          <a:xfrm>
            <a:off x="3352800" y="1066800"/>
            <a:ext cx="0" cy="5410200"/>
          </a:xfrm>
          <a:prstGeom prst="line">
            <a:avLst/>
          </a:prstGeom>
          <a:noFill/>
          <a:ln w="25400">
            <a:solidFill>
              <a:schemeClr val="tx1"/>
            </a:solidFill>
            <a:prstDash val="sysDot"/>
            <a:round/>
            <a:headEnd/>
            <a:tailEnd/>
          </a:ln>
          <a:effectLst/>
        </p:spPr>
        <p:txBody>
          <a:bodyPr wrap="none" anchor="ctr"/>
          <a:lstStyle/>
          <a:p>
            <a:endParaRPr lang="en-US"/>
          </a:p>
        </p:txBody>
      </p:sp>
      <p:sp>
        <p:nvSpPr>
          <p:cNvPr id="1017997" name="Line 141"/>
          <p:cNvSpPr>
            <a:spLocks noChangeShapeType="1"/>
          </p:cNvSpPr>
          <p:nvPr/>
        </p:nvSpPr>
        <p:spPr bwMode="auto">
          <a:xfrm>
            <a:off x="2667000" y="990600"/>
            <a:ext cx="0" cy="5410200"/>
          </a:xfrm>
          <a:prstGeom prst="line">
            <a:avLst/>
          </a:prstGeom>
          <a:noFill/>
          <a:ln w="25400">
            <a:solidFill>
              <a:schemeClr val="tx1"/>
            </a:solidFill>
            <a:prstDash val="sysDot"/>
            <a:round/>
            <a:headEnd/>
            <a:tailEnd/>
          </a:ln>
          <a:effectLst/>
        </p:spPr>
        <p:txBody>
          <a:bodyPr wrap="none" anchor="ctr"/>
          <a:lstStyle/>
          <a:p>
            <a:endParaRPr lang="en-US"/>
          </a:p>
        </p:txBody>
      </p:sp>
      <p:grpSp>
        <p:nvGrpSpPr>
          <p:cNvPr id="28" name="Group 142"/>
          <p:cNvGrpSpPr>
            <a:grpSpLocks/>
          </p:cNvGrpSpPr>
          <p:nvPr/>
        </p:nvGrpSpPr>
        <p:grpSpPr bwMode="auto">
          <a:xfrm>
            <a:off x="3429000" y="2057400"/>
            <a:ext cx="3355975" cy="838200"/>
            <a:chOff x="1562" y="1152"/>
            <a:chExt cx="2114" cy="528"/>
          </a:xfrm>
        </p:grpSpPr>
        <p:grpSp>
          <p:nvGrpSpPr>
            <p:cNvPr id="29" name="Group 143"/>
            <p:cNvGrpSpPr>
              <a:grpSpLocks/>
            </p:cNvGrpSpPr>
            <p:nvPr/>
          </p:nvGrpSpPr>
          <p:grpSpPr bwMode="auto">
            <a:xfrm>
              <a:off x="2487" y="1152"/>
              <a:ext cx="223" cy="481"/>
              <a:chOff x="2207" y="1413"/>
              <a:chExt cx="223" cy="481"/>
            </a:xfrm>
          </p:grpSpPr>
          <p:sp>
            <p:nvSpPr>
              <p:cNvPr id="1018000" name="Freeform 14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01" name="Rectangle 145"/>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30" name="Group 146"/>
            <p:cNvGrpSpPr>
              <a:grpSpLocks/>
            </p:cNvGrpSpPr>
            <p:nvPr/>
          </p:nvGrpSpPr>
          <p:grpSpPr bwMode="auto">
            <a:xfrm>
              <a:off x="1562" y="1248"/>
              <a:ext cx="349" cy="289"/>
              <a:chOff x="1282" y="1509"/>
              <a:chExt cx="349" cy="289"/>
            </a:xfrm>
          </p:grpSpPr>
          <p:sp>
            <p:nvSpPr>
              <p:cNvPr id="1018003" name="Rectangle 14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31" name="Group 148"/>
              <p:cNvGrpSpPr>
                <a:grpSpLocks/>
              </p:cNvGrpSpPr>
              <p:nvPr/>
            </p:nvGrpSpPr>
            <p:grpSpPr bwMode="auto">
              <a:xfrm>
                <a:off x="1291" y="1509"/>
                <a:ext cx="340" cy="289"/>
                <a:chOff x="1291" y="1509"/>
                <a:chExt cx="340" cy="289"/>
              </a:xfrm>
            </p:grpSpPr>
            <p:sp>
              <p:nvSpPr>
                <p:cNvPr id="1018005" name="Freeform 14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06" name="Freeform 15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18007" name="Rectangle 151"/>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dirty="0" err="1">
                  <a:solidFill>
                    <a:schemeClr val="tx1"/>
                  </a:solidFill>
                </a:rPr>
                <a:t>Reg</a:t>
              </a:r>
              <a:endParaRPr lang="en-US" sz="1600" b="1" dirty="0">
                <a:solidFill>
                  <a:schemeClr val="tx1"/>
                </a:solidFill>
              </a:endParaRPr>
            </a:p>
          </p:txBody>
        </p:sp>
        <p:grpSp>
          <p:nvGrpSpPr>
            <p:cNvPr id="1018081" name="Group 152"/>
            <p:cNvGrpSpPr>
              <a:grpSpLocks/>
            </p:cNvGrpSpPr>
            <p:nvPr/>
          </p:nvGrpSpPr>
          <p:grpSpPr bwMode="auto">
            <a:xfrm>
              <a:off x="2031" y="1248"/>
              <a:ext cx="296" cy="289"/>
              <a:chOff x="1751" y="1509"/>
              <a:chExt cx="296" cy="289"/>
            </a:xfrm>
          </p:grpSpPr>
          <p:sp>
            <p:nvSpPr>
              <p:cNvPr id="1018009" name="Freeform 15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10" name="Freeform 15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11" name="Line 15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18012" name="Freeform 15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13" name="Line 15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18014" name="Rectangle 158"/>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18085" name="Group 159"/>
            <p:cNvGrpSpPr>
              <a:grpSpLocks/>
            </p:cNvGrpSpPr>
            <p:nvPr/>
          </p:nvGrpSpPr>
          <p:grpSpPr bwMode="auto">
            <a:xfrm>
              <a:off x="2880" y="1248"/>
              <a:ext cx="325" cy="289"/>
              <a:chOff x="2600" y="1509"/>
              <a:chExt cx="325" cy="289"/>
            </a:xfrm>
          </p:grpSpPr>
          <p:sp>
            <p:nvSpPr>
              <p:cNvPr id="1018016" name="Freeform 16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17" name="Freeform 16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18" name="Rectangle 162"/>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18097" name="Group 163"/>
            <p:cNvGrpSpPr>
              <a:grpSpLocks/>
            </p:cNvGrpSpPr>
            <p:nvPr/>
          </p:nvGrpSpPr>
          <p:grpSpPr bwMode="auto">
            <a:xfrm>
              <a:off x="3348" y="1248"/>
              <a:ext cx="284" cy="289"/>
              <a:chOff x="3068" y="1509"/>
              <a:chExt cx="284" cy="289"/>
            </a:xfrm>
          </p:grpSpPr>
          <p:sp>
            <p:nvSpPr>
              <p:cNvPr id="1018020" name="Freeform 16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21" name="Freeform 16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22" name="Line 16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18023" name="Line 16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18024" name="Line 16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18025" name="Line 16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18026" name="Line 17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18027" name="Line 17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18028" name="Line 17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18029" name="Line 17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18030" name="Line 17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018098" name="Group 175"/>
          <p:cNvGrpSpPr>
            <a:grpSpLocks/>
          </p:cNvGrpSpPr>
          <p:nvPr/>
        </p:nvGrpSpPr>
        <p:grpSpPr bwMode="auto">
          <a:xfrm>
            <a:off x="4114800" y="2743200"/>
            <a:ext cx="3355975" cy="838200"/>
            <a:chOff x="1562" y="1152"/>
            <a:chExt cx="2114" cy="528"/>
          </a:xfrm>
        </p:grpSpPr>
        <p:grpSp>
          <p:nvGrpSpPr>
            <p:cNvPr id="1018099" name="Group 176"/>
            <p:cNvGrpSpPr>
              <a:grpSpLocks/>
            </p:cNvGrpSpPr>
            <p:nvPr/>
          </p:nvGrpSpPr>
          <p:grpSpPr bwMode="auto">
            <a:xfrm>
              <a:off x="2487" y="1152"/>
              <a:ext cx="223" cy="481"/>
              <a:chOff x="2207" y="1413"/>
              <a:chExt cx="223" cy="481"/>
            </a:xfrm>
          </p:grpSpPr>
          <p:sp>
            <p:nvSpPr>
              <p:cNvPr id="1018033" name="Freeform 177"/>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34" name="Rectangle 178"/>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018100" name="Group 179"/>
            <p:cNvGrpSpPr>
              <a:grpSpLocks/>
            </p:cNvGrpSpPr>
            <p:nvPr/>
          </p:nvGrpSpPr>
          <p:grpSpPr bwMode="auto">
            <a:xfrm>
              <a:off x="1562" y="1248"/>
              <a:ext cx="349" cy="289"/>
              <a:chOff x="1282" y="1509"/>
              <a:chExt cx="349" cy="289"/>
            </a:xfrm>
          </p:grpSpPr>
          <p:sp>
            <p:nvSpPr>
              <p:cNvPr id="1018036" name="Rectangle 180"/>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018101" name="Group 181"/>
              <p:cNvGrpSpPr>
                <a:grpSpLocks/>
              </p:cNvGrpSpPr>
              <p:nvPr/>
            </p:nvGrpSpPr>
            <p:grpSpPr bwMode="auto">
              <a:xfrm>
                <a:off x="1291" y="1509"/>
                <a:ext cx="340" cy="289"/>
                <a:chOff x="1291" y="1509"/>
                <a:chExt cx="340" cy="289"/>
              </a:xfrm>
            </p:grpSpPr>
            <p:sp>
              <p:nvSpPr>
                <p:cNvPr id="1018038" name="Freeform 182"/>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39" name="Freeform 183"/>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18040" name="Rectangle 184"/>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18102" name="Group 185"/>
            <p:cNvGrpSpPr>
              <a:grpSpLocks/>
            </p:cNvGrpSpPr>
            <p:nvPr/>
          </p:nvGrpSpPr>
          <p:grpSpPr bwMode="auto">
            <a:xfrm>
              <a:off x="2031" y="1248"/>
              <a:ext cx="296" cy="289"/>
              <a:chOff x="1751" y="1509"/>
              <a:chExt cx="296" cy="289"/>
            </a:xfrm>
          </p:grpSpPr>
          <p:sp>
            <p:nvSpPr>
              <p:cNvPr id="1018042" name="Freeform 186"/>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43" name="Freeform 187"/>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44" name="Line 188"/>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18045" name="Freeform 189"/>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46" name="Line 190"/>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18047" name="Rectangle 191"/>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18103" name="Group 192"/>
            <p:cNvGrpSpPr>
              <a:grpSpLocks/>
            </p:cNvGrpSpPr>
            <p:nvPr/>
          </p:nvGrpSpPr>
          <p:grpSpPr bwMode="auto">
            <a:xfrm>
              <a:off x="2880" y="1248"/>
              <a:ext cx="325" cy="289"/>
              <a:chOff x="2600" y="1509"/>
              <a:chExt cx="325" cy="289"/>
            </a:xfrm>
          </p:grpSpPr>
          <p:sp>
            <p:nvSpPr>
              <p:cNvPr id="1018049" name="Freeform 193"/>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50" name="Freeform 194"/>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51" name="Rectangle 195"/>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18104" name="Group 196"/>
            <p:cNvGrpSpPr>
              <a:grpSpLocks/>
            </p:cNvGrpSpPr>
            <p:nvPr/>
          </p:nvGrpSpPr>
          <p:grpSpPr bwMode="auto">
            <a:xfrm>
              <a:off x="3348" y="1248"/>
              <a:ext cx="284" cy="289"/>
              <a:chOff x="3068" y="1509"/>
              <a:chExt cx="284" cy="289"/>
            </a:xfrm>
          </p:grpSpPr>
          <p:sp>
            <p:nvSpPr>
              <p:cNvPr id="1018053" name="Freeform 197"/>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54" name="Freeform 198"/>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55" name="Line 199"/>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18056" name="Line 200"/>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18057" name="Line 201"/>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18058" name="Line 202"/>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18059" name="Line 203"/>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18060" name="Line 204"/>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18061" name="Line 205"/>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18062" name="Line 206"/>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18063" name="Line 207"/>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018105" name="Group 208"/>
          <p:cNvGrpSpPr>
            <a:grpSpLocks/>
          </p:cNvGrpSpPr>
          <p:nvPr/>
        </p:nvGrpSpPr>
        <p:grpSpPr bwMode="auto">
          <a:xfrm>
            <a:off x="4724400" y="3505200"/>
            <a:ext cx="3355975" cy="838200"/>
            <a:chOff x="1562" y="1152"/>
            <a:chExt cx="2114" cy="528"/>
          </a:xfrm>
        </p:grpSpPr>
        <p:grpSp>
          <p:nvGrpSpPr>
            <p:cNvPr id="1018106" name="Group 209"/>
            <p:cNvGrpSpPr>
              <a:grpSpLocks/>
            </p:cNvGrpSpPr>
            <p:nvPr/>
          </p:nvGrpSpPr>
          <p:grpSpPr bwMode="auto">
            <a:xfrm>
              <a:off x="2487" y="1152"/>
              <a:ext cx="223" cy="481"/>
              <a:chOff x="2207" y="1413"/>
              <a:chExt cx="223" cy="481"/>
            </a:xfrm>
          </p:grpSpPr>
          <p:sp>
            <p:nvSpPr>
              <p:cNvPr id="1018066" name="Freeform 21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67" name="Rectangle 21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018107" name="Group 212"/>
            <p:cNvGrpSpPr>
              <a:grpSpLocks/>
            </p:cNvGrpSpPr>
            <p:nvPr/>
          </p:nvGrpSpPr>
          <p:grpSpPr bwMode="auto">
            <a:xfrm>
              <a:off x="1562" y="1248"/>
              <a:ext cx="349" cy="289"/>
              <a:chOff x="1282" y="1509"/>
              <a:chExt cx="349" cy="289"/>
            </a:xfrm>
          </p:grpSpPr>
          <p:sp>
            <p:nvSpPr>
              <p:cNvPr id="1018069" name="Rectangle 21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018108" name="Group 214"/>
              <p:cNvGrpSpPr>
                <a:grpSpLocks/>
              </p:cNvGrpSpPr>
              <p:nvPr/>
            </p:nvGrpSpPr>
            <p:grpSpPr bwMode="auto">
              <a:xfrm>
                <a:off x="1291" y="1509"/>
                <a:ext cx="340" cy="289"/>
                <a:chOff x="1291" y="1509"/>
                <a:chExt cx="340" cy="289"/>
              </a:xfrm>
            </p:grpSpPr>
            <p:sp>
              <p:nvSpPr>
                <p:cNvPr id="1018071" name="Freeform 21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72" name="Freeform 21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18073" name="Rectangle 21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18109" name="Group 218"/>
            <p:cNvGrpSpPr>
              <a:grpSpLocks/>
            </p:cNvGrpSpPr>
            <p:nvPr/>
          </p:nvGrpSpPr>
          <p:grpSpPr bwMode="auto">
            <a:xfrm>
              <a:off x="2031" y="1248"/>
              <a:ext cx="296" cy="289"/>
              <a:chOff x="1751" y="1509"/>
              <a:chExt cx="296" cy="289"/>
            </a:xfrm>
          </p:grpSpPr>
          <p:sp>
            <p:nvSpPr>
              <p:cNvPr id="1018075" name="Freeform 21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76" name="Freeform 22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77" name="Line 22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18078" name="Freeform 22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79" name="Line 22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18080" name="Rectangle 22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18110" name="Group 225"/>
            <p:cNvGrpSpPr>
              <a:grpSpLocks/>
            </p:cNvGrpSpPr>
            <p:nvPr/>
          </p:nvGrpSpPr>
          <p:grpSpPr bwMode="auto">
            <a:xfrm>
              <a:off x="2880" y="1248"/>
              <a:ext cx="325" cy="289"/>
              <a:chOff x="2600" y="1509"/>
              <a:chExt cx="325" cy="289"/>
            </a:xfrm>
          </p:grpSpPr>
          <p:sp>
            <p:nvSpPr>
              <p:cNvPr id="1018082" name="Freeform 22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83" name="Freeform 22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84" name="Rectangle 22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18111" name="Group 229"/>
            <p:cNvGrpSpPr>
              <a:grpSpLocks/>
            </p:cNvGrpSpPr>
            <p:nvPr/>
          </p:nvGrpSpPr>
          <p:grpSpPr bwMode="auto">
            <a:xfrm>
              <a:off x="3348" y="1248"/>
              <a:ext cx="284" cy="289"/>
              <a:chOff x="3068" y="1509"/>
              <a:chExt cx="284" cy="289"/>
            </a:xfrm>
          </p:grpSpPr>
          <p:sp>
            <p:nvSpPr>
              <p:cNvPr id="1018086" name="Freeform 23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18087" name="Freeform 23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18088" name="Line 23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18089" name="Line 23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18090" name="Line 23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18091" name="Line 23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18092" name="Line 23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18093" name="Line 23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18094" name="Line 23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18095" name="Line 23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18096" name="Line 24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9932186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50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50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762000" y="3143240"/>
            <a:ext cx="6019800" cy="609600"/>
            <a:chOff x="480" y="1824"/>
            <a:chExt cx="3792" cy="384"/>
          </a:xfrm>
        </p:grpSpPr>
        <p:sp>
          <p:nvSpPr>
            <p:cNvPr id="1034257" name="Rectangle 17"/>
            <p:cNvSpPr>
              <a:spLocks noChangeArrowheads="1"/>
            </p:cNvSpPr>
            <p:nvPr/>
          </p:nvSpPr>
          <p:spPr bwMode="auto">
            <a:xfrm>
              <a:off x="480" y="1824"/>
              <a:ext cx="520" cy="286"/>
            </a:xfrm>
            <a:prstGeom prst="rect">
              <a:avLst/>
            </a:prstGeom>
            <a:noFill/>
            <a:ln w="12700">
              <a:noFill/>
              <a:miter lim="800000"/>
              <a:headEnd/>
              <a:tailEnd/>
            </a:ln>
            <a:effectLst/>
          </p:spPr>
          <p:txBody>
            <a:bodyPr wrap="none" lIns="90488" tIns="44450" rIns="90488" bIns="44450">
              <a:spAutoFit/>
            </a:bodyPr>
            <a:lstStyle/>
            <a:p>
              <a:r>
                <a:rPr lang="en-US" sz="2400"/>
                <a:t>flush</a:t>
              </a:r>
            </a:p>
          </p:txBody>
        </p:sp>
        <p:sp>
          <p:nvSpPr>
            <p:cNvPr id="1034259" name="AutoShape 19" descr="Shingle"/>
            <p:cNvSpPr>
              <a:spLocks noChangeArrowheads="1"/>
            </p:cNvSpPr>
            <p:nvPr/>
          </p:nvSpPr>
          <p:spPr bwMode="auto">
            <a:xfrm>
              <a:off x="2544"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34260" name="AutoShape 20" descr="Shingle"/>
            <p:cNvSpPr>
              <a:spLocks noChangeArrowheads="1"/>
            </p:cNvSpPr>
            <p:nvPr/>
          </p:nvSpPr>
          <p:spPr bwMode="auto">
            <a:xfrm>
              <a:off x="2976"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34261" name="AutoShape 21" descr="Shingle"/>
            <p:cNvSpPr>
              <a:spLocks noChangeArrowheads="1"/>
            </p:cNvSpPr>
            <p:nvPr/>
          </p:nvSpPr>
          <p:spPr bwMode="auto">
            <a:xfrm>
              <a:off x="3408"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34262" name="AutoShape 22" descr="Shingle"/>
            <p:cNvSpPr>
              <a:spLocks noChangeArrowheads="1"/>
            </p:cNvSpPr>
            <p:nvPr/>
          </p:nvSpPr>
          <p:spPr bwMode="auto">
            <a:xfrm>
              <a:off x="3840" y="182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3" name="Group 144"/>
          <p:cNvGrpSpPr>
            <a:grpSpLocks/>
          </p:cNvGrpSpPr>
          <p:nvPr/>
        </p:nvGrpSpPr>
        <p:grpSpPr bwMode="auto">
          <a:xfrm>
            <a:off x="3810000" y="2152640"/>
            <a:ext cx="838200" cy="2362200"/>
            <a:chOff x="2400" y="864"/>
            <a:chExt cx="528" cy="1344"/>
          </a:xfrm>
        </p:grpSpPr>
        <p:sp>
          <p:nvSpPr>
            <p:cNvPr id="1034264" name="Rectangle 24"/>
            <p:cNvSpPr>
              <a:spLocks noChangeArrowheads="1"/>
            </p:cNvSpPr>
            <p:nvPr/>
          </p:nvSpPr>
          <p:spPr bwMode="auto">
            <a:xfrm>
              <a:off x="2592" y="1920"/>
              <a:ext cx="336" cy="288"/>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034265" name="Rectangle 25"/>
            <p:cNvSpPr>
              <a:spLocks noChangeArrowheads="1"/>
            </p:cNvSpPr>
            <p:nvPr/>
          </p:nvSpPr>
          <p:spPr bwMode="auto">
            <a:xfrm>
              <a:off x="2400" y="864"/>
              <a:ext cx="96" cy="341"/>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34266" name="Line 26"/>
            <p:cNvSpPr>
              <a:spLocks noChangeShapeType="1"/>
            </p:cNvSpPr>
            <p:nvPr/>
          </p:nvSpPr>
          <p:spPr bwMode="auto">
            <a:xfrm>
              <a:off x="2496" y="1200"/>
              <a:ext cx="144" cy="720"/>
            </a:xfrm>
            <a:prstGeom prst="line">
              <a:avLst/>
            </a:prstGeom>
            <a:noFill/>
            <a:ln w="28575">
              <a:solidFill>
                <a:srgbClr val="009900"/>
              </a:solidFill>
              <a:round/>
              <a:headEnd/>
              <a:tailEnd type="triangle" w="med" len="med"/>
            </a:ln>
            <a:effectLst/>
          </p:spPr>
          <p:txBody>
            <a:bodyPr/>
            <a:lstStyle/>
            <a:p>
              <a:endParaRPr lang="en-US"/>
            </a:p>
          </p:txBody>
        </p:sp>
      </p:grpSp>
      <p:sp>
        <p:nvSpPr>
          <p:cNvPr id="1034267" name="Rectangle 27"/>
          <p:cNvSpPr>
            <a:spLocks noGrp="1" noChangeArrowheads="1"/>
          </p:cNvSpPr>
          <p:nvPr>
            <p:ph type="title"/>
          </p:nvPr>
        </p:nvSpPr>
        <p:spPr>
          <a:xfrm>
            <a:off x="533400" y="304800"/>
            <a:ext cx="7997825" cy="422275"/>
          </a:xfrm>
          <a:noFill/>
          <a:ln/>
        </p:spPr>
        <p:txBody>
          <a:bodyPr wrap="none"/>
          <a:lstStyle/>
          <a:p>
            <a:r>
              <a:rPr lang="en-US" dirty="0"/>
              <a:t>Another Way to “Fix” a Branch Control Hazard</a:t>
            </a:r>
          </a:p>
        </p:txBody>
      </p:sp>
      <p:sp>
        <p:nvSpPr>
          <p:cNvPr id="1034268" name="Rectangle 28"/>
          <p:cNvSpPr>
            <a:spLocks noChangeArrowheads="1"/>
          </p:cNvSpPr>
          <p:nvPr/>
        </p:nvSpPr>
        <p:spPr bwMode="auto">
          <a:xfrm>
            <a:off x="328613" y="2382828"/>
            <a:ext cx="358775" cy="3109912"/>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034269" name="Line 29"/>
          <p:cNvSpPr>
            <a:spLocks noChangeShapeType="1"/>
          </p:cNvSpPr>
          <p:nvPr/>
        </p:nvSpPr>
        <p:spPr bwMode="auto">
          <a:xfrm flipV="1">
            <a:off x="1447800" y="2000240"/>
            <a:ext cx="7010400" cy="4763"/>
          </a:xfrm>
          <a:prstGeom prst="line">
            <a:avLst/>
          </a:prstGeom>
          <a:noFill/>
          <a:ln w="25400">
            <a:solidFill>
              <a:schemeClr val="tx1"/>
            </a:solidFill>
            <a:round/>
            <a:headEnd/>
            <a:tailEnd type="triangle" w="med" len="med"/>
          </a:ln>
          <a:effectLst/>
        </p:spPr>
        <p:txBody>
          <a:bodyPr wrap="none" anchor="ctr"/>
          <a:lstStyle/>
          <a:p>
            <a:endParaRPr lang="en-US"/>
          </a:p>
        </p:txBody>
      </p:sp>
      <p:sp>
        <p:nvSpPr>
          <p:cNvPr id="1034270" name="Rectangle 30"/>
          <p:cNvSpPr>
            <a:spLocks noChangeArrowheads="1"/>
          </p:cNvSpPr>
          <p:nvPr/>
        </p:nvSpPr>
        <p:spPr bwMode="auto">
          <a:xfrm>
            <a:off x="762000" y="2305040"/>
            <a:ext cx="728663" cy="454025"/>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beq</a:t>
            </a:r>
          </a:p>
        </p:txBody>
      </p:sp>
      <p:sp>
        <p:nvSpPr>
          <p:cNvPr id="1034271" name="Line 31"/>
          <p:cNvSpPr>
            <a:spLocks noChangeShapeType="1"/>
          </p:cNvSpPr>
          <p:nvPr/>
        </p:nvSpPr>
        <p:spPr bwMode="auto">
          <a:xfrm>
            <a:off x="685800" y="2305040"/>
            <a:ext cx="0" cy="3581400"/>
          </a:xfrm>
          <a:prstGeom prst="line">
            <a:avLst/>
          </a:prstGeom>
          <a:noFill/>
          <a:ln w="28575">
            <a:solidFill>
              <a:schemeClr val="tx1"/>
            </a:solidFill>
            <a:round/>
            <a:headEnd/>
            <a:tailEnd type="triangle" w="med" len="med"/>
          </a:ln>
          <a:effectLst/>
        </p:spPr>
        <p:txBody>
          <a:bodyPr/>
          <a:lstStyle/>
          <a:p>
            <a:endParaRPr lang="en-US"/>
          </a:p>
        </p:txBody>
      </p:sp>
      <p:grpSp>
        <p:nvGrpSpPr>
          <p:cNvPr id="4" name="Group 143"/>
          <p:cNvGrpSpPr>
            <a:grpSpLocks/>
          </p:cNvGrpSpPr>
          <p:nvPr/>
        </p:nvGrpSpPr>
        <p:grpSpPr bwMode="auto">
          <a:xfrm>
            <a:off x="685800" y="3905240"/>
            <a:ext cx="6937375" cy="1676400"/>
            <a:chOff x="432" y="1824"/>
            <a:chExt cx="4370" cy="1056"/>
          </a:xfrm>
        </p:grpSpPr>
        <p:sp>
          <p:nvSpPr>
            <p:cNvPr id="1034307" name="Rectangle 67"/>
            <p:cNvSpPr>
              <a:spLocks noChangeArrowheads="1"/>
            </p:cNvSpPr>
            <p:nvPr/>
          </p:nvSpPr>
          <p:spPr bwMode="auto">
            <a:xfrm>
              <a:off x="480" y="1970"/>
              <a:ext cx="1065" cy="286"/>
            </a:xfrm>
            <a:prstGeom prst="rect">
              <a:avLst/>
            </a:prstGeom>
            <a:noFill/>
            <a:ln w="12700">
              <a:noFill/>
              <a:miter lim="800000"/>
              <a:headEnd/>
              <a:tailEnd/>
            </a:ln>
            <a:effectLst/>
          </p:spPr>
          <p:txBody>
            <a:bodyPr wrap="none" lIns="90488" tIns="44450" rIns="90488" bIns="44450">
              <a:spAutoFit/>
            </a:bodyPr>
            <a:lstStyle/>
            <a:p>
              <a:r>
                <a:rPr lang="en-US" sz="2400" b="1">
                  <a:solidFill>
                    <a:schemeClr val="tx1"/>
                  </a:solidFill>
                  <a:latin typeface="Courier New" pitchFamily="49" charset="0"/>
                </a:rPr>
                <a:t>beq </a:t>
              </a:r>
              <a:r>
                <a:rPr lang="en-US" sz="2400">
                  <a:solidFill>
                    <a:schemeClr val="tx1"/>
                  </a:solidFill>
                </a:rPr>
                <a:t>target</a:t>
              </a:r>
            </a:p>
          </p:txBody>
        </p:sp>
        <p:grpSp>
          <p:nvGrpSpPr>
            <p:cNvPr id="5" name="Group 68"/>
            <p:cNvGrpSpPr>
              <a:grpSpLocks/>
            </p:cNvGrpSpPr>
            <p:nvPr/>
          </p:nvGrpSpPr>
          <p:grpSpPr bwMode="auto">
            <a:xfrm>
              <a:off x="2592" y="1824"/>
              <a:ext cx="2114" cy="528"/>
              <a:chOff x="1562" y="1152"/>
              <a:chExt cx="2114" cy="528"/>
            </a:xfrm>
          </p:grpSpPr>
          <p:grpSp>
            <p:nvGrpSpPr>
              <p:cNvPr id="6" name="Group 69"/>
              <p:cNvGrpSpPr>
                <a:grpSpLocks/>
              </p:cNvGrpSpPr>
              <p:nvPr/>
            </p:nvGrpSpPr>
            <p:grpSpPr bwMode="auto">
              <a:xfrm>
                <a:off x="2487" y="1152"/>
                <a:ext cx="223" cy="481"/>
                <a:chOff x="2207" y="1413"/>
                <a:chExt cx="223" cy="481"/>
              </a:xfrm>
            </p:grpSpPr>
            <p:sp>
              <p:nvSpPr>
                <p:cNvPr id="1034310" name="Freeform 7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11" name="Rectangle 7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7" name="Group 72"/>
              <p:cNvGrpSpPr>
                <a:grpSpLocks/>
              </p:cNvGrpSpPr>
              <p:nvPr/>
            </p:nvGrpSpPr>
            <p:grpSpPr bwMode="auto">
              <a:xfrm>
                <a:off x="1562" y="1248"/>
                <a:ext cx="349" cy="289"/>
                <a:chOff x="1282" y="1509"/>
                <a:chExt cx="349" cy="289"/>
              </a:xfrm>
            </p:grpSpPr>
            <p:sp>
              <p:nvSpPr>
                <p:cNvPr id="1034313" name="Rectangle 7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8" name="Group 74"/>
                <p:cNvGrpSpPr>
                  <a:grpSpLocks/>
                </p:cNvGrpSpPr>
                <p:nvPr/>
              </p:nvGrpSpPr>
              <p:grpSpPr bwMode="auto">
                <a:xfrm>
                  <a:off x="1291" y="1509"/>
                  <a:ext cx="340" cy="289"/>
                  <a:chOff x="1291" y="1509"/>
                  <a:chExt cx="340" cy="289"/>
                </a:xfrm>
              </p:grpSpPr>
              <p:sp>
                <p:nvSpPr>
                  <p:cNvPr id="1034315" name="Freeform 7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16" name="Freeform 7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4317" name="Rectangle 7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9" name="Group 78"/>
              <p:cNvGrpSpPr>
                <a:grpSpLocks/>
              </p:cNvGrpSpPr>
              <p:nvPr/>
            </p:nvGrpSpPr>
            <p:grpSpPr bwMode="auto">
              <a:xfrm>
                <a:off x="2031" y="1248"/>
                <a:ext cx="296" cy="289"/>
                <a:chOff x="1751" y="1509"/>
                <a:chExt cx="296" cy="289"/>
              </a:xfrm>
            </p:grpSpPr>
            <p:sp>
              <p:nvSpPr>
                <p:cNvPr id="1034319" name="Freeform 7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20" name="Freeform 8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321" name="Line 8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34322" name="Freeform 8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23" name="Line 8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34324" name="Rectangle 8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 name="Group 85"/>
              <p:cNvGrpSpPr>
                <a:grpSpLocks/>
              </p:cNvGrpSpPr>
              <p:nvPr/>
            </p:nvGrpSpPr>
            <p:grpSpPr bwMode="auto">
              <a:xfrm>
                <a:off x="2880" y="1248"/>
                <a:ext cx="325" cy="289"/>
                <a:chOff x="2600" y="1509"/>
                <a:chExt cx="325" cy="289"/>
              </a:xfrm>
            </p:grpSpPr>
            <p:sp>
              <p:nvSpPr>
                <p:cNvPr id="1034326" name="Freeform 8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27" name="Freeform 8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328" name="Rectangle 8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1" name="Group 89"/>
              <p:cNvGrpSpPr>
                <a:grpSpLocks/>
              </p:cNvGrpSpPr>
              <p:nvPr/>
            </p:nvGrpSpPr>
            <p:grpSpPr bwMode="auto">
              <a:xfrm>
                <a:off x="3348" y="1248"/>
                <a:ext cx="284" cy="289"/>
                <a:chOff x="3068" y="1509"/>
                <a:chExt cx="284" cy="289"/>
              </a:xfrm>
            </p:grpSpPr>
            <p:sp>
              <p:nvSpPr>
                <p:cNvPr id="1034330" name="Freeform 9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31" name="Freeform 9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332" name="Line 9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34333" name="Line 9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34334" name="Line 9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34335" name="Line 9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34336" name="Line 9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34337" name="Line 9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34338" name="Line 9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34339" name="Line 9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34340" name="Line 10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034345" name="Rectangle 105"/>
            <p:cNvSpPr>
              <a:spLocks noChangeArrowheads="1"/>
            </p:cNvSpPr>
            <p:nvPr/>
          </p:nvSpPr>
          <p:spPr bwMode="auto">
            <a:xfrm>
              <a:off x="432" y="2517"/>
              <a:ext cx="636"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 Inst 3</a:t>
              </a:r>
            </a:p>
          </p:txBody>
        </p:sp>
        <p:grpSp>
          <p:nvGrpSpPr>
            <p:cNvPr id="12" name="Group 142"/>
            <p:cNvGrpSpPr>
              <a:grpSpLocks/>
            </p:cNvGrpSpPr>
            <p:nvPr/>
          </p:nvGrpSpPr>
          <p:grpSpPr bwMode="auto">
            <a:xfrm>
              <a:off x="3024" y="2352"/>
              <a:ext cx="1778" cy="528"/>
              <a:chOff x="3862" y="2352"/>
              <a:chExt cx="1778" cy="528"/>
            </a:xfrm>
          </p:grpSpPr>
          <p:grpSp>
            <p:nvGrpSpPr>
              <p:cNvPr id="13" name="Group 101"/>
              <p:cNvGrpSpPr>
                <a:grpSpLocks/>
              </p:cNvGrpSpPr>
              <p:nvPr/>
            </p:nvGrpSpPr>
            <p:grpSpPr bwMode="auto">
              <a:xfrm>
                <a:off x="4811" y="2352"/>
                <a:ext cx="223" cy="481"/>
                <a:chOff x="2207" y="1413"/>
                <a:chExt cx="223" cy="481"/>
              </a:xfrm>
            </p:grpSpPr>
            <p:sp>
              <p:nvSpPr>
                <p:cNvPr id="1034342" name="Freeform 10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43" name="Rectangle 10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4" name="Group 106"/>
              <p:cNvGrpSpPr>
                <a:grpSpLocks/>
              </p:cNvGrpSpPr>
              <p:nvPr/>
            </p:nvGrpSpPr>
            <p:grpSpPr bwMode="auto">
              <a:xfrm>
                <a:off x="3862" y="2448"/>
                <a:ext cx="349" cy="289"/>
                <a:chOff x="1282" y="1509"/>
                <a:chExt cx="349" cy="289"/>
              </a:xfrm>
            </p:grpSpPr>
            <p:sp>
              <p:nvSpPr>
                <p:cNvPr id="1034347" name="Rectangle 107"/>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5" name="Group 108"/>
                <p:cNvGrpSpPr>
                  <a:grpSpLocks/>
                </p:cNvGrpSpPr>
                <p:nvPr/>
              </p:nvGrpSpPr>
              <p:grpSpPr bwMode="auto">
                <a:xfrm>
                  <a:off x="1291" y="1509"/>
                  <a:ext cx="340" cy="289"/>
                  <a:chOff x="1291" y="1509"/>
                  <a:chExt cx="340" cy="289"/>
                </a:xfrm>
              </p:grpSpPr>
              <p:sp>
                <p:nvSpPr>
                  <p:cNvPr id="1034349" name="Freeform 10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50" name="Freeform 11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4351" name="Rectangle 111"/>
              <p:cNvSpPr>
                <a:spLocks noChangeArrowheads="1"/>
              </p:cNvSpPr>
              <p:nvPr/>
            </p:nvSpPr>
            <p:spPr bwMode="auto">
              <a:xfrm>
                <a:off x="4312" y="24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6" name="Group 112"/>
              <p:cNvGrpSpPr>
                <a:grpSpLocks/>
              </p:cNvGrpSpPr>
              <p:nvPr/>
            </p:nvGrpSpPr>
            <p:grpSpPr bwMode="auto">
              <a:xfrm>
                <a:off x="4331" y="2448"/>
                <a:ext cx="296" cy="289"/>
                <a:chOff x="1751" y="1509"/>
                <a:chExt cx="296" cy="289"/>
              </a:xfrm>
            </p:grpSpPr>
            <p:sp>
              <p:nvSpPr>
                <p:cNvPr id="1034353" name="Freeform 11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54" name="Freeform 11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355" name="Line 115"/>
              <p:cNvSpPr>
                <a:spLocks noChangeShapeType="1"/>
              </p:cNvSpPr>
              <p:nvPr/>
            </p:nvSpPr>
            <p:spPr bwMode="auto">
              <a:xfrm>
                <a:off x="4216" y="2592"/>
                <a:ext cx="116" cy="0"/>
              </a:xfrm>
              <a:prstGeom prst="line">
                <a:avLst/>
              </a:prstGeom>
              <a:noFill/>
              <a:ln w="25400">
                <a:solidFill>
                  <a:schemeClr val="tx1"/>
                </a:solidFill>
                <a:round/>
                <a:headEnd/>
                <a:tailEnd/>
              </a:ln>
              <a:effectLst/>
            </p:spPr>
            <p:txBody>
              <a:bodyPr wrap="none" anchor="ctr"/>
              <a:lstStyle/>
              <a:p>
                <a:endParaRPr lang="en-US"/>
              </a:p>
            </p:txBody>
          </p:sp>
          <p:sp>
            <p:nvSpPr>
              <p:cNvPr id="1034356" name="Freeform 116"/>
              <p:cNvSpPr>
                <a:spLocks/>
              </p:cNvSpPr>
              <p:nvPr/>
            </p:nvSpPr>
            <p:spPr bwMode="auto">
              <a:xfrm>
                <a:off x="4284" y="24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57" name="Line 117"/>
              <p:cNvSpPr>
                <a:spLocks noChangeShapeType="1"/>
              </p:cNvSpPr>
              <p:nvPr/>
            </p:nvSpPr>
            <p:spPr bwMode="auto">
              <a:xfrm>
                <a:off x="4632" y="2496"/>
                <a:ext cx="157" cy="0"/>
              </a:xfrm>
              <a:prstGeom prst="line">
                <a:avLst/>
              </a:prstGeom>
              <a:noFill/>
              <a:ln w="25400">
                <a:solidFill>
                  <a:schemeClr val="tx1"/>
                </a:solidFill>
                <a:round/>
                <a:headEnd/>
                <a:tailEnd/>
              </a:ln>
              <a:effectLst/>
            </p:spPr>
            <p:txBody>
              <a:bodyPr wrap="none" anchor="ctr"/>
              <a:lstStyle/>
              <a:p>
                <a:endParaRPr lang="en-US"/>
              </a:p>
            </p:txBody>
          </p:sp>
          <p:sp>
            <p:nvSpPr>
              <p:cNvPr id="1034358" name="Rectangle 118"/>
              <p:cNvSpPr>
                <a:spLocks noChangeArrowheads="1"/>
              </p:cNvSpPr>
              <p:nvPr/>
            </p:nvSpPr>
            <p:spPr bwMode="auto">
              <a:xfrm>
                <a:off x="5129" y="24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7" name="Group 119"/>
              <p:cNvGrpSpPr>
                <a:grpSpLocks/>
              </p:cNvGrpSpPr>
              <p:nvPr/>
            </p:nvGrpSpPr>
            <p:grpSpPr bwMode="auto">
              <a:xfrm>
                <a:off x="5180" y="2448"/>
                <a:ext cx="325" cy="289"/>
                <a:chOff x="2600" y="1509"/>
                <a:chExt cx="325" cy="289"/>
              </a:xfrm>
            </p:grpSpPr>
            <p:sp>
              <p:nvSpPr>
                <p:cNvPr id="1034360" name="Freeform 12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61" name="Freeform 12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362" name="Line 122"/>
              <p:cNvSpPr>
                <a:spLocks noChangeShapeType="1"/>
              </p:cNvSpPr>
              <p:nvPr/>
            </p:nvSpPr>
            <p:spPr bwMode="auto">
              <a:xfrm>
                <a:off x="5501" y="2592"/>
                <a:ext cx="139" cy="0"/>
              </a:xfrm>
              <a:prstGeom prst="line">
                <a:avLst/>
              </a:prstGeom>
              <a:noFill/>
              <a:ln w="25400">
                <a:solidFill>
                  <a:schemeClr val="tx1"/>
                </a:solidFill>
                <a:round/>
                <a:headEnd/>
                <a:tailEnd/>
              </a:ln>
              <a:effectLst/>
            </p:spPr>
            <p:txBody>
              <a:bodyPr wrap="none" anchor="ctr"/>
              <a:lstStyle/>
              <a:p>
                <a:endParaRPr lang="en-US"/>
              </a:p>
            </p:txBody>
          </p:sp>
          <p:sp>
            <p:nvSpPr>
              <p:cNvPr id="1034363" name="Line 123"/>
              <p:cNvSpPr>
                <a:spLocks noChangeShapeType="1"/>
              </p:cNvSpPr>
              <p:nvPr/>
            </p:nvSpPr>
            <p:spPr bwMode="auto">
              <a:xfrm>
                <a:off x="5017" y="2592"/>
                <a:ext cx="155" cy="0"/>
              </a:xfrm>
              <a:prstGeom prst="line">
                <a:avLst/>
              </a:prstGeom>
              <a:noFill/>
              <a:ln w="25400">
                <a:solidFill>
                  <a:schemeClr val="tx1"/>
                </a:solidFill>
                <a:round/>
                <a:headEnd/>
                <a:tailEnd/>
              </a:ln>
              <a:effectLst/>
            </p:spPr>
            <p:txBody>
              <a:bodyPr wrap="none" anchor="ctr"/>
              <a:lstStyle/>
              <a:p>
                <a:endParaRPr lang="en-US"/>
              </a:p>
            </p:txBody>
          </p:sp>
          <p:sp>
            <p:nvSpPr>
              <p:cNvPr id="1034364" name="Line 124"/>
              <p:cNvSpPr>
                <a:spLocks noChangeShapeType="1"/>
              </p:cNvSpPr>
              <p:nvPr/>
            </p:nvSpPr>
            <p:spPr bwMode="auto">
              <a:xfrm>
                <a:off x="4632" y="2688"/>
                <a:ext cx="157" cy="0"/>
              </a:xfrm>
              <a:prstGeom prst="line">
                <a:avLst/>
              </a:prstGeom>
              <a:noFill/>
              <a:ln w="25400">
                <a:solidFill>
                  <a:schemeClr val="tx1"/>
                </a:solidFill>
                <a:round/>
                <a:headEnd/>
                <a:tailEnd/>
              </a:ln>
              <a:effectLst/>
            </p:spPr>
            <p:txBody>
              <a:bodyPr wrap="none" anchor="ctr"/>
              <a:lstStyle/>
              <a:p>
                <a:endParaRPr lang="en-US"/>
              </a:p>
            </p:txBody>
          </p:sp>
          <p:sp>
            <p:nvSpPr>
              <p:cNvPr id="1034365" name="Line 125"/>
              <p:cNvSpPr>
                <a:spLocks noChangeShapeType="1"/>
              </p:cNvSpPr>
              <p:nvPr/>
            </p:nvSpPr>
            <p:spPr bwMode="auto">
              <a:xfrm>
                <a:off x="4716" y="2688"/>
                <a:ext cx="0" cy="192"/>
              </a:xfrm>
              <a:prstGeom prst="line">
                <a:avLst/>
              </a:prstGeom>
              <a:noFill/>
              <a:ln w="28575">
                <a:solidFill>
                  <a:schemeClr val="tx1"/>
                </a:solidFill>
                <a:round/>
                <a:headEnd/>
                <a:tailEnd/>
              </a:ln>
              <a:effectLst/>
            </p:spPr>
            <p:txBody>
              <a:bodyPr/>
              <a:lstStyle/>
              <a:p>
                <a:endParaRPr lang="en-US"/>
              </a:p>
            </p:txBody>
          </p:sp>
          <p:sp>
            <p:nvSpPr>
              <p:cNvPr id="1034366" name="Line 126"/>
              <p:cNvSpPr>
                <a:spLocks noChangeShapeType="1"/>
              </p:cNvSpPr>
              <p:nvPr/>
            </p:nvSpPr>
            <p:spPr bwMode="auto">
              <a:xfrm>
                <a:off x="4716" y="2880"/>
                <a:ext cx="336" cy="0"/>
              </a:xfrm>
              <a:prstGeom prst="line">
                <a:avLst/>
              </a:prstGeom>
              <a:noFill/>
              <a:ln w="28575">
                <a:solidFill>
                  <a:schemeClr val="tx1"/>
                </a:solidFill>
                <a:round/>
                <a:headEnd/>
                <a:tailEnd/>
              </a:ln>
              <a:effectLst/>
            </p:spPr>
            <p:txBody>
              <a:bodyPr/>
              <a:lstStyle/>
              <a:p>
                <a:endParaRPr lang="en-US"/>
              </a:p>
            </p:txBody>
          </p:sp>
          <p:sp>
            <p:nvSpPr>
              <p:cNvPr id="1034367" name="Line 127"/>
              <p:cNvSpPr>
                <a:spLocks noChangeShapeType="1"/>
              </p:cNvSpPr>
              <p:nvPr/>
            </p:nvSpPr>
            <p:spPr bwMode="auto">
              <a:xfrm>
                <a:off x="5052" y="2592"/>
                <a:ext cx="0" cy="288"/>
              </a:xfrm>
              <a:prstGeom prst="line">
                <a:avLst/>
              </a:prstGeom>
              <a:noFill/>
              <a:ln w="28575">
                <a:solidFill>
                  <a:schemeClr val="tx1"/>
                </a:solidFill>
                <a:round/>
                <a:headEnd/>
                <a:tailEnd/>
              </a:ln>
              <a:effectLst/>
            </p:spPr>
            <p:txBody>
              <a:bodyPr/>
              <a:lstStyle/>
              <a:p>
                <a:endParaRPr lang="en-US"/>
              </a:p>
            </p:txBody>
          </p:sp>
          <p:sp>
            <p:nvSpPr>
              <p:cNvPr id="1034368" name="Line 128"/>
              <p:cNvSpPr>
                <a:spLocks noChangeShapeType="1"/>
              </p:cNvSpPr>
              <p:nvPr/>
            </p:nvSpPr>
            <p:spPr bwMode="auto">
              <a:xfrm flipH="1">
                <a:off x="5132" y="2592"/>
                <a:ext cx="0" cy="240"/>
              </a:xfrm>
              <a:prstGeom prst="line">
                <a:avLst/>
              </a:prstGeom>
              <a:noFill/>
              <a:ln w="28575">
                <a:solidFill>
                  <a:schemeClr val="tx1"/>
                </a:solidFill>
                <a:round/>
                <a:headEnd/>
                <a:tailEnd/>
              </a:ln>
              <a:effectLst/>
            </p:spPr>
            <p:txBody>
              <a:bodyPr/>
              <a:lstStyle/>
              <a:p>
                <a:endParaRPr lang="en-US"/>
              </a:p>
            </p:txBody>
          </p:sp>
          <p:sp>
            <p:nvSpPr>
              <p:cNvPr id="1034369" name="Line 129"/>
              <p:cNvSpPr>
                <a:spLocks noChangeShapeType="1"/>
              </p:cNvSpPr>
              <p:nvPr/>
            </p:nvSpPr>
            <p:spPr bwMode="auto">
              <a:xfrm>
                <a:off x="5132" y="2832"/>
                <a:ext cx="432" cy="0"/>
              </a:xfrm>
              <a:prstGeom prst="line">
                <a:avLst/>
              </a:prstGeom>
              <a:noFill/>
              <a:ln w="28575">
                <a:solidFill>
                  <a:schemeClr val="tx1"/>
                </a:solidFill>
                <a:round/>
                <a:headEnd/>
                <a:tailEnd/>
              </a:ln>
              <a:effectLst/>
            </p:spPr>
            <p:txBody>
              <a:bodyPr/>
              <a:lstStyle/>
              <a:p>
                <a:endParaRPr lang="en-US"/>
              </a:p>
            </p:txBody>
          </p:sp>
          <p:sp>
            <p:nvSpPr>
              <p:cNvPr id="1034370" name="Line 130"/>
              <p:cNvSpPr>
                <a:spLocks noChangeShapeType="1"/>
              </p:cNvSpPr>
              <p:nvPr/>
            </p:nvSpPr>
            <p:spPr bwMode="auto">
              <a:xfrm>
                <a:off x="5564" y="2592"/>
                <a:ext cx="0" cy="240"/>
              </a:xfrm>
              <a:prstGeom prst="line">
                <a:avLst/>
              </a:prstGeom>
              <a:noFill/>
              <a:ln w="28575">
                <a:solidFill>
                  <a:schemeClr val="tx1"/>
                </a:solidFill>
                <a:round/>
                <a:headEnd/>
                <a:tailEnd/>
              </a:ln>
              <a:effectLst/>
            </p:spPr>
            <p:txBody>
              <a:bodyPr/>
              <a:lstStyle/>
              <a:p>
                <a:endParaRPr lang="en-US"/>
              </a:p>
            </p:txBody>
          </p:sp>
        </p:grpSp>
      </p:grpSp>
      <p:sp>
        <p:nvSpPr>
          <p:cNvPr id="1034371" name="Rectangle 131"/>
          <p:cNvSpPr>
            <a:spLocks noChangeArrowheads="1"/>
          </p:cNvSpPr>
          <p:nvPr/>
        </p:nvSpPr>
        <p:spPr bwMode="auto">
          <a:xfrm>
            <a:off x="7162800" y="2228840"/>
            <a:ext cx="1676400" cy="1308100"/>
          </a:xfrm>
          <a:prstGeom prst="rect">
            <a:avLst/>
          </a:prstGeom>
          <a:noFill/>
          <a:ln w="12700">
            <a:noFill/>
            <a:miter lim="800000"/>
            <a:headEnd/>
            <a:tailEnd/>
          </a:ln>
          <a:effectLst/>
        </p:spPr>
        <p:txBody>
          <a:bodyPr lIns="90488" tIns="44450" rIns="90488" bIns="44450">
            <a:spAutoFit/>
          </a:bodyPr>
          <a:lstStyle/>
          <a:p>
            <a:pPr algn="r"/>
            <a:r>
              <a:rPr lang="en-US" sz="2000" b="1"/>
              <a:t>Fix branch hazard by waiting</a:t>
            </a:r>
            <a:r>
              <a:rPr lang="en-US" sz="2000"/>
              <a:t> – </a:t>
            </a:r>
            <a:r>
              <a:rPr lang="en-US" sz="2000">
                <a:solidFill>
                  <a:schemeClr val="accent2"/>
                </a:solidFill>
              </a:rPr>
              <a:t>flush</a:t>
            </a:r>
            <a:endParaRPr lang="en-US" sz="2000"/>
          </a:p>
        </p:txBody>
      </p:sp>
      <p:grpSp>
        <p:nvGrpSpPr>
          <p:cNvPr id="18" name="Group 145"/>
          <p:cNvGrpSpPr>
            <a:grpSpLocks/>
          </p:cNvGrpSpPr>
          <p:nvPr/>
        </p:nvGrpSpPr>
        <p:grpSpPr bwMode="auto">
          <a:xfrm>
            <a:off x="2667000" y="2000240"/>
            <a:ext cx="6096000" cy="4114800"/>
            <a:chOff x="1680" y="624"/>
            <a:chExt cx="3840" cy="3504"/>
          </a:xfrm>
        </p:grpSpPr>
        <p:grpSp>
          <p:nvGrpSpPr>
            <p:cNvPr id="19" name="Group 32"/>
            <p:cNvGrpSpPr>
              <a:grpSpLocks/>
            </p:cNvGrpSpPr>
            <p:nvPr/>
          </p:nvGrpSpPr>
          <p:grpSpPr bwMode="auto">
            <a:xfrm>
              <a:off x="1728" y="745"/>
              <a:ext cx="2114" cy="551"/>
              <a:chOff x="1562" y="1129"/>
              <a:chExt cx="2114" cy="551"/>
            </a:xfrm>
          </p:grpSpPr>
          <p:grpSp>
            <p:nvGrpSpPr>
              <p:cNvPr id="20" name="Group 33"/>
              <p:cNvGrpSpPr>
                <a:grpSpLocks/>
              </p:cNvGrpSpPr>
              <p:nvPr/>
            </p:nvGrpSpPr>
            <p:grpSpPr bwMode="auto">
              <a:xfrm>
                <a:off x="2487" y="1129"/>
                <a:ext cx="223" cy="509"/>
                <a:chOff x="2207" y="1390"/>
                <a:chExt cx="223" cy="509"/>
              </a:xfrm>
            </p:grpSpPr>
            <p:sp>
              <p:nvSpPr>
                <p:cNvPr id="1034274" name="Freeform 34"/>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275" name="Rectangle 35"/>
                <p:cNvSpPr>
                  <a:spLocks noChangeArrowheads="1"/>
                </p:cNvSpPr>
                <p:nvPr/>
              </p:nvSpPr>
              <p:spPr bwMode="auto">
                <a:xfrm rot="5400000">
                  <a:off x="2057" y="1540"/>
                  <a:ext cx="509" cy="210"/>
                </a:xfrm>
                <a:prstGeom prst="rect">
                  <a:avLst/>
                </a:prstGeom>
                <a:noFill/>
                <a:ln w="12700">
                  <a:noFill/>
                  <a:miter lim="800000"/>
                  <a:headEnd/>
                  <a:tailEnd/>
                </a:ln>
                <a:effectLst/>
              </p:spPr>
              <p:txBody>
                <a:bodyPr wrap="none" lIns="90488" tIns="44450" rIns="90488" bIns="44450">
                  <a:spAutoFit/>
                </a:bodyPr>
                <a:lstStyle/>
                <a:p>
                  <a:r>
                    <a:rPr lang="en-US" sz="1600" b="1" dirty="0">
                      <a:solidFill>
                        <a:schemeClr val="tx1"/>
                      </a:solidFill>
                    </a:rPr>
                    <a:t>ALU</a:t>
                  </a:r>
                </a:p>
              </p:txBody>
            </p:sp>
          </p:grpSp>
          <p:grpSp>
            <p:nvGrpSpPr>
              <p:cNvPr id="21" name="Group 36"/>
              <p:cNvGrpSpPr>
                <a:grpSpLocks/>
              </p:cNvGrpSpPr>
              <p:nvPr/>
            </p:nvGrpSpPr>
            <p:grpSpPr bwMode="auto">
              <a:xfrm>
                <a:off x="1562" y="1248"/>
                <a:ext cx="349" cy="289"/>
                <a:chOff x="1282" y="1509"/>
                <a:chExt cx="349" cy="289"/>
              </a:xfrm>
            </p:grpSpPr>
            <p:sp>
              <p:nvSpPr>
                <p:cNvPr id="1034277" name="Rectangle 37"/>
                <p:cNvSpPr>
                  <a:spLocks noChangeArrowheads="1"/>
                </p:cNvSpPr>
                <p:nvPr/>
              </p:nvSpPr>
              <p:spPr bwMode="auto">
                <a:xfrm>
                  <a:off x="1282" y="1510"/>
                  <a:ext cx="257" cy="285"/>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2" name="Group 38"/>
                <p:cNvGrpSpPr>
                  <a:grpSpLocks/>
                </p:cNvGrpSpPr>
                <p:nvPr/>
              </p:nvGrpSpPr>
              <p:grpSpPr bwMode="auto">
                <a:xfrm>
                  <a:off x="1291" y="1509"/>
                  <a:ext cx="340" cy="289"/>
                  <a:chOff x="1291" y="1509"/>
                  <a:chExt cx="340" cy="289"/>
                </a:xfrm>
              </p:grpSpPr>
              <p:sp>
                <p:nvSpPr>
                  <p:cNvPr id="1034279" name="Freeform 39"/>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280" name="Freeform 40"/>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4281" name="Rectangle 41"/>
              <p:cNvSpPr>
                <a:spLocks noChangeArrowheads="1"/>
              </p:cNvSpPr>
              <p:nvPr/>
            </p:nvSpPr>
            <p:spPr bwMode="auto">
              <a:xfrm>
                <a:off x="2012" y="1255"/>
                <a:ext cx="355" cy="284"/>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3" name="Group 42"/>
              <p:cNvGrpSpPr>
                <a:grpSpLocks/>
              </p:cNvGrpSpPr>
              <p:nvPr/>
            </p:nvGrpSpPr>
            <p:grpSpPr bwMode="auto">
              <a:xfrm>
                <a:off x="2031" y="1248"/>
                <a:ext cx="296" cy="289"/>
                <a:chOff x="1751" y="1509"/>
                <a:chExt cx="296" cy="289"/>
              </a:xfrm>
            </p:grpSpPr>
            <p:sp>
              <p:nvSpPr>
                <p:cNvPr id="1034283" name="Freeform 43"/>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284" name="Freeform 44"/>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285" name="Line 45"/>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34286" name="Freeform 46"/>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287" name="Line 47"/>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34288" name="Rectangle 48"/>
              <p:cNvSpPr>
                <a:spLocks noChangeArrowheads="1"/>
              </p:cNvSpPr>
              <p:nvPr/>
            </p:nvSpPr>
            <p:spPr bwMode="auto">
              <a:xfrm>
                <a:off x="2829" y="1249"/>
                <a:ext cx="313" cy="28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4" name="Group 49"/>
              <p:cNvGrpSpPr>
                <a:grpSpLocks/>
              </p:cNvGrpSpPr>
              <p:nvPr/>
            </p:nvGrpSpPr>
            <p:grpSpPr bwMode="auto">
              <a:xfrm>
                <a:off x="2880" y="1248"/>
                <a:ext cx="325" cy="289"/>
                <a:chOff x="2600" y="1509"/>
                <a:chExt cx="325" cy="289"/>
              </a:xfrm>
            </p:grpSpPr>
            <p:sp>
              <p:nvSpPr>
                <p:cNvPr id="1034290" name="Freeform 50"/>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291" name="Freeform 51"/>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292" name="Rectangle 52"/>
              <p:cNvSpPr>
                <a:spLocks noChangeArrowheads="1"/>
              </p:cNvSpPr>
              <p:nvPr/>
            </p:nvSpPr>
            <p:spPr bwMode="auto">
              <a:xfrm>
                <a:off x="3321" y="1249"/>
                <a:ext cx="355" cy="28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5" name="Group 53"/>
              <p:cNvGrpSpPr>
                <a:grpSpLocks/>
              </p:cNvGrpSpPr>
              <p:nvPr/>
            </p:nvGrpSpPr>
            <p:grpSpPr bwMode="auto">
              <a:xfrm>
                <a:off x="3348" y="1248"/>
                <a:ext cx="284" cy="289"/>
                <a:chOff x="3068" y="1509"/>
                <a:chExt cx="284" cy="289"/>
              </a:xfrm>
            </p:grpSpPr>
            <p:sp>
              <p:nvSpPr>
                <p:cNvPr id="1034294" name="Freeform 54"/>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295" name="Freeform 55"/>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296" name="Line 56"/>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34297" name="Line 57"/>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34298" name="Line 58"/>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34299" name="Line 59"/>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34300" name="Line 60"/>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34301" name="Line 61"/>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34302" name="Line 62"/>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34303" name="Line 63"/>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34304" name="Line 64"/>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034372" name="Line 132"/>
            <p:cNvSpPr>
              <a:spLocks noChangeShapeType="1"/>
            </p:cNvSpPr>
            <p:nvPr/>
          </p:nvSpPr>
          <p:spPr bwMode="auto">
            <a:xfrm>
              <a:off x="5136" y="720"/>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3" name="Line 133"/>
            <p:cNvSpPr>
              <a:spLocks noChangeShapeType="1"/>
            </p:cNvSpPr>
            <p:nvPr/>
          </p:nvSpPr>
          <p:spPr bwMode="auto">
            <a:xfrm>
              <a:off x="5520"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4" name="Line 134"/>
            <p:cNvSpPr>
              <a:spLocks noChangeShapeType="1"/>
            </p:cNvSpPr>
            <p:nvPr/>
          </p:nvSpPr>
          <p:spPr bwMode="auto">
            <a:xfrm>
              <a:off x="4704" y="720"/>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5" name="Line 135"/>
            <p:cNvSpPr>
              <a:spLocks noChangeShapeType="1"/>
            </p:cNvSpPr>
            <p:nvPr/>
          </p:nvSpPr>
          <p:spPr bwMode="auto">
            <a:xfrm>
              <a:off x="4272" y="720"/>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6" name="Line 136"/>
            <p:cNvSpPr>
              <a:spLocks noChangeShapeType="1"/>
            </p:cNvSpPr>
            <p:nvPr/>
          </p:nvSpPr>
          <p:spPr bwMode="auto">
            <a:xfrm>
              <a:off x="3840" y="720"/>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7" name="Line 137"/>
            <p:cNvSpPr>
              <a:spLocks noChangeShapeType="1"/>
            </p:cNvSpPr>
            <p:nvPr/>
          </p:nvSpPr>
          <p:spPr bwMode="auto">
            <a:xfrm>
              <a:off x="3408"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8" name="Line 138"/>
            <p:cNvSpPr>
              <a:spLocks noChangeShapeType="1"/>
            </p:cNvSpPr>
            <p:nvPr/>
          </p:nvSpPr>
          <p:spPr bwMode="auto">
            <a:xfrm>
              <a:off x="2976"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79" name="Line 139"/>
            <p:cNvSpPr>
              <a:spLocks noChangeShapeType="1"/>
            </p:cNvSpPr>
            <p:nvPr/>
          </p:nvSpPr>
          <p:spPr bwMode="auto">
            <a:xfrm>
              <a:off x="2544"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80" name="Line 140"/>
            <p:cNvSpPr>
              <a:spLocks noChangeShapeType="1"/>
            </p:cNvSpPr>
            <p:nvPr/>
          </p:nvSpPr>
          <p:spPr bwMode="auto">
            <a:xfrm>
              <a:off x="2112" y="672"/>
              <a:ext cx="0" cy="3408"/>
            </a:xfrm>
            <a:prstGeom prst="line">
              <a:avLst/>
            </a:prstGeom>
            <a:noFill/>
            <a:ln w="25400">
              <a:solidFill>
                <a:schemeClr val="tx1"/>
              </a:solidFill>
              <a:prstDash val="sysDot"/>
              <a:round/>
              <a:headEnd/>
              <a:tailEnd/>
            </a:ln>
            <a:effectLst/>
          </p:spPr>
          <p:txBody>
            <a:bodyPr wrap="none" anchor="ctr"/>
            <a:lstStyle/>
            <a:p>
              <a:endParaRPr lang="en-US"/>
            </a:p>
          </p:txBody>
        </p:sp>
        <p:sp>
          <p:nvSpPr>
            <p:cNvPr id="1034381" name="Line 141"/>
            <p:cNvSpPr>
              <a:spLocks noChangeShapeType="1"/>
            </p:cNvSpPr>
            <p:nvPr/>
          </p:nvSpPr>
          <p:spPr bwMode="auto">
            <a:xfrm>
              <a:off x="1680" y="624"/>
              <a:ext cx="0" cy="3408"/>
            </a:xfrm>
            <a:prstGeom prst="line">
              <a:avLst/>
            </a:prstGeom>
            <a:noFill/>
            <a:ln w="25400">
              <a:solidFill>
                <a:schemeClr val="tx1"/>
              </a:solidFill>
              <a:prstDash val="sysDot"/>
              <a:round/>
              <a:headEnd/>
              <a:tailEnd/>
            </a:ln>
            <a:effectLst/>
          </p:spPr>
          <p:txBody>
            <a:bodyPr wrap="none" anchor="ctr"/>
            <a:lstStyle/>
            <a:p>
              <a:endParaRPr lang="en-US"/>
            </a:p>
          </p:txBody>
        </p:sp>
      </p:grpSp>
      <p:sp>
        <p:nvSpPr>
          <p:cNvPr id="1034386" name="Rectangle 146"/>
          <p:cNvSpPr>
            <a:spLocks noGrp="1" noChangeArrowheads="1"/>
          </p:cNvSpPr>
          <p:nvPr>
            <p:ph type="body" idx="1"/>
          </p:nvPr>
        </p:nvSpPr>
        <p:spPr>
          <a:xfrm>
            <a:off x="609600" y="762000"/>
            <a:ext cx="7772400" cy="1184275"/>
          </a:xfrm>
          <a:noFill/>
          <a:ln/>
        </p:spPr>
        <p:txBody>
          <a:bodyPr/>
          <a:lstStyle/>
          <a:p>
            <a:r>
              <a:rPr lang="en-US"/>
              <a:t>Move branch decision hardware back to as </a:t>
            </a:r>
            <a:r>
              <a:rPr lang="en-US">
                <a:solidFill>
                  <a:schemeClr val="accent1"/>
                </a:solidFill>
              </a:rPr>
              <a:t>early</a:t>
            </a:r>
            <a:r>
              <a:rPr lang="en-US"/>
              <a:t> in the pipeline as possible – i.e., during the decode cycle</a:t>
            </a:r>
          </a:p>
        </p:txBody>
      </p:sp>
      <p:grpSp>
        <p:nvGrpSpPr>
          <p:cNvPr id="26" name="Group 147"/>
          <p:cNvGrpSpPr>
            <a:grpSpLocks/>
          </p:cNvGrpSpPr>
          <p:nvPr/>
        </p:nvGrpSpPr>
        <p:grpSpPr bwMode="auto">
          <a:xfrm>
            <a:off x="3429000" y="3067040"/>
            <a:ext cx="3355975" cy="838200"/>
            <a:chOff x="1562" y="1152"/>
            <a:chExt cx="2114" cy="528"/>
          </a:xfrm>
        </p:grpSpPr>
        <p:grpSp>
          <p:nvGrpSpPr>
            <p:cNvPr id="27" name="Group 148"/>
            <p:cNvGrpSpPr>
              <a:grpSpLocks/>
            </p:cNvGrpSpPr>
            <p:nvPr/>
          </p:nvGrpSpPr>
          <p:grpSpPr bwMode="auto">
            <a:xfrm>
              <a:off x="2487" y="1152"/>
              <a:ext cx="223" cy="481"/>
              <a:chOff x="2207" y="1413"/>
              <a:chExt cx="223" cy="481"/>
            </a:xfrm>
          </p:grpSpPr>
          <p:sp>
            <p:nvSpPr>
              <p:cNvPr id="1034389" name="Freeform 14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90" name="Rectangle 15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8" name="Group 151"/>
            <p:cNvGrpSpPr>
              <a:grpSpLocks/>
            </p:cNvGrpSpPr>
            <p:nvPr/>
          </p:nvGrpSpPr>
          <p:grpSpPr bwMode="auto">
            <a:xfrm>
              <a:off x="1562" y="1248"/>
              <a:ext cx="349" cy="289"/>
              <a:chOff x="1282" y="1509"/>
              <a:chExt cx="349" cy="289"/>
            </a:xfrm>
          </p:grpSpPr>
          <p:sp>
            <p:nvSpPr>
              <p:cNvPr id="1034392" name="Rectangle 15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9" name="Group 153"/>
              <p:cNvGrpSpPr>
                <a:grpSpLocks/>
              </p:cNvGrpSpPr>
              <p:nvPr/>
            </p:nvGrpSpPr>
            <p:grpSpPr bwMode="auto">
              <a:xfrm>
                <a:off x="1291" y="1509"/>
                <a:ext cx="340" cy="289"/>
                <a:chOff x="1291" y="1509"/>
                <a:chExt cx="340" cy="289"/>
              </a:xfrm>
            </p:grpSpPr>
            <p:sp>
              <p:nvSpPr>
                <p:cNvPr id="1034394" name="Freeform 15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95" name="Freeform 15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34396" name="Rectangle 15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30" name="Group 157"/>
            <p:cNvGrpSpPr>
              <a:grpSpLocks/>
            </p:cNvGrpSpPr>
            <p:nvPr/>
          </p:nvGrpSpPr>
          <p:grpSpPr bwMode="auto">
            <a:xfrm>
              <a:off x="2031" y="1248"/>
              <a:ext cx="296" cy="289"/>
              <a:chOff x="1751" y="1509"/>
              <a:chExt cx="296" cy="289"/>
            </a:xfrm>
          </p:grpSpPr>
          <p:sp>
            <p:nvSpPr>
              <p:cNvPr id="1034398" name="Freeform 15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399" name="Freeform 15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400" name="Line 16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34401" name="Freeform 16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402" name="Line 16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34403" name="Rectangle 16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31" name="Group 164"/>
            <p:cNvGrpSpPr>
              <a:grpSpLocks/>
            </p:cNvGrpSpPr>
            <p:nvPr/>
          </p:nvGrpSpPr>
          <p:grpSpPr bwMode="auto">
            <a:xfrm>
              <a:off x="2880" y="1248"/>
              <a:ext cx="325" cy="289"/>
              <a:chOff x="2600" y="1509"/>
              <a:chExt cx="325" cy="289"/>
            </a:xfrm>
          </p:grpSpPr>
          <p:sp>
            <p:nvSpPr>
              <p:cNvPr id="1034405" name="Freeform 16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406" name="Freeform 16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407" name="Rectangle 16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34240" name="Group 168"/>
            <p:cNvGrpSpPr>
              <a:grpSpLocks/>
            </p:cNvGrpSpPr>
            <p:nvPr/>
          </p:nvGrpSpPr>
          <p:grpSpPr bwMode="auto">
            <a:xfrm>
              <a:off x="3348" y="1248"/>
              <a:ext cx="284" cy="289"/>
              <a:chOff x="3068" y="1509"/>
              <a:chExt cx="284" cy="289"/>
            </a:xfrm>
          </p:grpSpPr>
          <p:sp>
            <p:nvSpPr>
              <p:cNvPr id="1034409" name="Freeform 16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34410" name="Freeform 17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34411" name="Line 17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34412" name="Line 17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34413" name="Line 17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34414" name="Line 17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34415" name="Line 17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34416" name="Line 17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34417" name="Line 17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34418" name="Line 17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34419" name="Line 17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20478908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155700" y="2768600"/>
            <a:ext cx="6019800" cy="685800"/>
            <a:chOff x="480" y="1344"/>
            <a:chExt cx="3792" cy="432"/>
          </a:xfrm>
        </p:grpSpPr>
        <p:sp>
          <p:nvSpPr>
            <p:cNvPr id="1044483" name="Rectangle 3"/>
            <p:cNvSpPr>
              <a:spLocks noChangeArrowheads="1"/>
            </p:cNvSpPr>
            <p:nvPr/>
          </p:nvSpPr>
          <p:spPr bwMode="auto">
            <a:xfrm>
              <a:off x="480" y="1440"/>
              <a:ext cx="588" cy="325"/>
            </a:xfrm>
            <a:prstGeom prst="rect">
              <a:avLst/>
            </a:prstGeom>
            <a:noFill/>
            <a:ln w="12700">
              <a:noFill/>
              <a:miter lim="800000"/>
              <a:headEnd/>
              <a:tailEnd/>
            </a:ln>
            <a:effectLst/>
          </p:spPr>
          <p:txBody>
            <a:bodyPr wrap="none" lIns="90488" tIns="44450" rIns="90488" bIns="44450">
              <a:spAutoFit/>
            </a:bodyPr>
            <a:lstStyle/>
            <a:p>
              <a:r>
                <a:rPr lang="en-US" sz="2800">
                  <a:solidFill>
                    <a:srgbClr val="FE768D"/>
                  </a:solidFill>
                </a:rPr>
                <a:t>flush</a:t>
              </a:r>
            </a:p>
          </p:txBody>
        </p:sp>
        <p:sp>
          <p:nvSpPr>
            <p:cNvPr id="1044485" name="AutoShape 5" descr="Shingle"/>
            <p:cNvSpPr>
              <a:spLocks noChangeArrowheads="1"/>
            </p:cNvSpPr>
            <p:nvPr/>
          </p:nvSpPr>
          <p:spPr bwMode="auto">
            <a:xfrm>
              <a:off x="2544"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44486" name="AutoShape 6" descr="Shingle"/>
            <p:cNvSpPr>
              <a:spLocks noChangeArrowheads="1"/>
            </p:cNvSpPr>
            <p:nvPr/>
          </p:nvSpPr>
          <p:spPr bwMode="auto">
            <a:xfrm>
              <a:off x="2976"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44487" name="AutoShape 7" descr="Shingle"/>
            <p:cNvSpPr>
              <a:spLocks noChangeArrowheads="1"/>
            </p:cNvSpPr>
            <p:nvPr/>
          </p:nvSpPr>
          <p:spPr bwMode="auto">
            <a:xfrm>
              <a:off x="3408" y="1392"/>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044488" name="AutoShape 8" descr="Shingle"/>
            <p:cNvSpPr>
              <a:spLocks noChangeArrowheads="1"/>
            </p:cNvSpPr>
            <p:nvPr/>
          </p:nvSpPr>
          <p:spPr bwMode="auto">
            <a:xfrm>
              <a:off x="3840" y="1344"/>
              <a:ext cx="432" cy="384"/>
            </a:xfrm>
            <a:prstGeom prst="irregularSeal2">
              <a:avLst/>
            </a:prstGeom>
            <a:pattFill prst="shingle">
              <a:fgClr>
                <a:schemeClr val="accent2"/>
              </a:fgClr>
              <a:bgClr>
                <a:srgbClr val="FFFFFF"/>
              </a:bgClr>
            </a:pattFill>
            <a:ln w="12700">
              <a:solidFill>
                <a:schemeClr val="accent2"/>
              </a:solidFill>
              <a:miter lim="800000"/>
              <a:headEnd/>
              <a:tailEnd/>
            </a:ln>
            <a:effectLst/>
          </p:spPr>
          <p:txBody>
            <a:bodyPr wrap="none" anchor="ctr"/>
            <a:lstStyle/>
            <a:p>
              <a:endParaRPr lang="en-US"/>
            </a:p>
          </p:txBody>
        </p:sp>
      </p:grpSp>
      <p:grpSp>
        <p:nvGrpSpPr>
          <p:cNvPr id="3" name="Group 9"/>
          <p:cNvGrpSpPr>
            <a:grpSpLocks/>
          </p:cNvGrpSpPr>
          <p:nvPr/>
        </p:nvGrpSpPr>
        <p:grpSpPr bwMode="auto">
          <a:xfrm>
            <a:off x="4203700" y="2057400"/>
            <a:ext cx="825500" cy="2133600"/>
            <a:chOff x="2648" y="768"/>
            <a:chExt cx="520" cy="1344"/>
          </a:xfrm>
        </p:grpSpPr>
        <p:sp>
          <p:nvSpPr>
            <p:cNvPr id="1044490" name="Rectangle 10"/>
            <p:cNvSpPr>
              <a:spLocks noChangeArrowheads="1"/>
            </p:cNvSpPr>
            <p:nvPr/>
          </p:nvSpPr>
          <p:spPr bwMode="auto">
            <a:xfrm>
              <a:off x="2832" y="1817"/>
              <a:ext cx="336" cy="295"/>
            </a:xfrm>
            <a:prstGeom prst="rect">
              <a:avLst/>
            </a:prstGeom>
            <a:solidFill>
              <a:srgbClr val="009900"/>
            </a:solidFill>
            <a:ln w="12700">
              <a:solidFill>
                <a:srgbClr val="009900"/>
              </a:solidFill>
              <a:miter lim="800000"/>
              <a:headEnd/>
              <a:tailEnd/>
            </a:ln>
            <a:effectLst/>
          </p:spPr>
          <p:txBody>
            <a:bodyPr wrap="none" anchor="ctr"/>
            <a:lstStyle/>
            <a:p>
              <a:endParaRPr lang="en-US"/>
            </a:p>
          </p:txBody>
        </p:sp>
        <p:sp>
          <p:nvSpPr>
            <p:cNvPr id="1044491" name="Rectangle 11"/>
            <p:cNvSpPr>
              <a:spLocks noChangeArrowheads="1"/>
            </p:cNvSpPr>
            <p:nvPr/>
          </p:nvSpPr>
          <p:spPr bwMode="auto">
            <a:xfrm>
              <a:off x="2648" y="768"/>
              <a:ext cx="96" cy="295"/>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44492" name="Line 12"/>
            <p:cNvSpPr>
              <a:spLocks noChangeShapeType="1"/>
            </p:cNvSpPr>
            <p:nvPr/>
          </p:nvSpPr>
          <p:spPr bwMode="auto">
            <a:xfrm>
              <a:off x="2696" y="1063"/>
              <a:ext cx="136" cy="761"/>
            </a:xfrm>
            <a:prstGeom prst="line">
              <a:avLst/>
            </a:prstGeom>
            <a:noFill/>
            <a:ln w="28575">
              <a:solidFill>
                <a:srgbClr val="009900"/>
              </a:solidFill>
              <a:round/>
              <a:headEnd/>
              <a:tailEnd type="triangle" w="med" len="med"/>
            </a:ln>
            <a:effectLst/>
          </p:spPr>
          <p:txBody>
            <a:bodyPr/>
            <a:lstStyle/>
            <a:p>
              <a:endParaRPr lang="en-US"/>
            </a:p>
          </p:txBody>
        </p:sp>
      </p:grpSp>
      <p:sp>
        <p:nvSpPr>
          <p:cNvPr id="1044493" name="Rectangle 13"/>
          <p:cNvSpPr>
            <a:spLocks noGrp="1" noChangeArrowheads="1"/>
          </p:cNvSpPr>
          <p:nvPr>
            <p:ph type="title"/>
          </p:nvPr>
        </p:nvSpPr>
        <p:spPr>
          <a:xfrm>
            <a:off x="800100" y="263525"/>
            <a:ext cx="7324725" cy="422275"/>
          </a:xfrm>
          <a:noFill/>
          <a:ln/>
        </p:spPr>
        <p:txBody>
          <a:bodyPr wrap="none"/>
          <a:lstStyle/>
          <a:p>
            <a:r>
              <a:rPr lang="en-US"/>
              <a:t>Yet Another Way to “Fix” a Control Hazard</a:t>
            </a:r>
          </a:p>
        </p:txBody>
      </p:sp>
      <p:sp>
        <p:nvSpPr>
          <p:cNvPr id="1044494" name="Line 14"/>
          <p:cNvSpPr>
            <a:spLocks noChangeShapeType="1"/>
          </p:cNvSpPr>
          <p:nvPr/>
        </p:nvSpPr>
        <p:spPr bwMode="auto">
          <a:xfrm>
            <a:off x="2527300" y="1752600"/>
            <a:ext cx="6311900"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044495" name="Rectangle 15"/>
          <p:cNvSpPr>
            <a:spLocks noChangeArrowheads="1"/>
          </p:cNvSpPr>
          <p:nvPr/>
        </p:nvSpPr>
        <p:spPr bwMode="auto">
          <a:xfrm>
            <a:off x="927100" y="2133600"/>
            <a:ext cx="2046288"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4 beq $1,$2,2</a:t>
            </a:r>
          </a:p>
        </p:txBody>
      </p:sp>
      <p:grpSp>
        <p:nvGrpSpPr>
          <p:cNvPr id="4" name="Group 16"/>
          <p:cNvGrpSpPr>
            <a:grpSpLocks/>
          </p:cNvGrpSpPr>
          <p:nvPr/>
        </p:nvGrpSpPr>
        <p:grpSpPr bwMode="auto">
          <a:xfrm>
            <a:off x="3733800" y="1752600"/>
            <a:ext cx="4800600" cy="3733800"/>
            <a:chOff x="2088" y="656"/>
            <a:chExt cx="3024" cy="2816"/>
          </a:xfrm>
        </p:grpSpPr>
        <p:sp>
          <p:nvSpPr>
            <p:cNvPr id="1044497" name="Line 17"/>
            <p:cNvSpPr>
              <a:spLocks noChangeShapeType="1"/>
            </p:cNvSpPr>
            <p:nvPr/>
          </p:nvSpPr>
          <p:spPr bwMode="auto">
            <a:xfrm>
              <a:off x="2088"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498" name="Line 18"/>
            <p:cNvSpPr>
              <a:spLocks noChangeShapeType="1"/>
            </p:cNvSpPr>
            <p:nvPr/>
          </p:nvSpPr>
          <p:spPr bwMode="auto">
            <a:xfrm>
              <a:off x="2520"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499" name="Line 19"/>
            <p:cNvSpPr>
              <a:spLocks noChangeShapeType="1"/>
            </p:cNvSpPr>
            <p:nvPr/>
          </p:nvSpPr>
          <p:spPr bwMode="auto">
            <a:xfrm>
              <a:off x="2952"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500" name="Line 20"/>
            <p:cNvSpPr>
              <a:spLocks noChangeShapeType="1"/>
            </p:cNvSpPr>
            <p:nvPr/>
          </p:nvSpPr>
          <p:spPr bwMode="auto">
            <a:xfrm>
              <a:off x="3384"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501" name="Line 21"/>
            <p:cNvSpPr>
              <a:spLocks noChangeShapeType="1"/>
            </p:cNvSpPr>
            <p:nvPr/>
          </p:nvSpPr>
          <p:spPr bwMode="auto">
            <a:xfrm>
              <a:off x="3816"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502" name="Line 22"/>
            <p:cNvSpPr>
              <a:spLocks noChangeShapeType="1"/>
            </p:cNvSpPr>
            <p:nvPr/>
          </p:nvSpPr>
          <p:spPr bwMode="auto">
            <a:xfrm>
              <a:off x="4248"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503" name="Line 23"/>
            <p:cNvSpPr>
              <a:spLocks noChangeShapeType="1"/>
            </p:cNvSpPr>
            <p:nvPr/>
          </p:nvSpPr>
          <p:spPr bwMode="auto">
            <a:xfrm>
              <a:off x="4680" y="656"/>
              <a:ext cx="0" cy="2816"/>
            </a:xfrm>
            <a:prstGeom prst="line">
              <a:avLst/>
            </a:prstGeom>
            <a:noFill/>
            <a:ln w="25400">
              <a:solidFill>
                <a:schemeClr val="tx1"/>
              </a:solidFill>
              <a:prstDash val="sysDot"/>
              <a:round/>
              <a:headEnd/>
              <a:tailEnd/>
            </a:ln>
            <a:effectLst/>
          </p:spPr>
          <p:txBody>
            <a:bodyPr wrap="none" anchor="ctr"/>
            <a:lstStyle/>
            <a:p>
              <a:endParaRPr lang="en-US"/>
            </a:p>
          </p:txBody>
        </p:sp>
        <p:sp>
          <p:nvSpPr>
            <p:cNvPr id="1044504" name="Line 24"/>
            <p:cNvSpPr>
              <a:spLocks noChangeShapeType="1"/>
            </p:cNvSpPr>
            <p:nvPr/>
          </p:nvSpPr>
          <p:spPr bwMode="auto">
            <a:xfrm>
              <a:off x="5112" y="656"/>
              <a:ext cx="0" cy="2816"/>
            </a:xfrm>
            <a:prstGeom prst="line">
              <a:avLst/>
            </a:prstGeom>
            <a:noFill/>
            <a:ln w="25400">
              <a:solidFill>
                <a:schemeClr val="tx1"/>
              </a:solidFill>
              <a:prstDash val="sysDot"/>
              <a:round/>
              <a:headEnd/>
              <a:tailEnd/>
            </a:ln>
            <a:effectLst/>
          </p:spPr>
          <p:txBody>
            <a:bodyPr wrap="none" anchor="ctr"/>
            <a:lstStyle/>
            <a:p>
              <a:endParaRPr lang="en-US"/>
            </a:p>
          </p:txBody>
        </p:sp>
      </p:grpSp>
      <p:grpSp>
        <p:nvGrpSpPr>
          <p:cNvPr id="5" name="Group 25"/>
          <p:cNvGrpSpPr>
            <a:grpSpLocks/>
          </p:cNvGrpSpPr>
          <p:nvPr/>
        </p:nvGrpSpPr>
        <p:grpSpPr bwMode="auto">
          <a:xfrm>
            <a:off x="174625" y="2133600"/>
            <a:ext cx="358775" cy="3429000"/>
            <a:chOff x="0" y="816"/>
            <a:chExt cx="226" cy="2400"/>
          </a:xfrm>
        </p:grpSpPr>
        <p:sp>
          <p:nvSpPr>
            <p:cNvPr id="1044506" name="Rectangle 26"/>
            <p:cNvSpPr>
              <a:spLocks noChangeArrowheads="1"/>
            </p:cNvSpPr>
            <p:nvPr/>
          </p:nvSpPr>
          <p:spPr bwMode="auto">
            <a:xfrm>
              <a:off x="0" y="864"/>
              <a:ext cx="226" cy="2176"/>
            </a:xfrm>
            <a:prstGeom prst="rect">
              <a:avLst/>
            </a:prstGeom>
            <a:noFill/>
            <a:ln w="12700">
              <a:noFill/>
              <a:miter lim="800000"/>
              <a:headEnd/>
              <a:tailEnd/>
            </a:ln>
            <a:effectLst/>
          </p:spPr>
          <p:txBody>
            <a:bodyPr wrap="none" lIns="90488" tIns="44450" rIns="90488" bIns="44450">
              <a:spAutoFit/>
            </a:bodyPr>
            <a:lstStyle/>
            <a:p>
              <a:pPr algn="ctr"/>
              <a:r>
                <a:rPr lang="en-US" i="1">
                  <a:solidFill>
                    <a:schemeClr val="tx1"/>
                  </a:solidFill>
                </a:rPr>
                <a:t>I</a:t>
              </a:r>
            </a:p>
            <a:p>
              <a:pPr algn="ctr"/>
              <a:r>
                <a:rPr lang="en-US" i="1">
                  <a:solidFill>
                    <a:schemeClr val="tx1"/>
                  </a:solidFill>
                </a:rPr>
                <a:t>n</a:t>
              </a:r>
            </a:p>
            <a:p>
              <a:pPr algn="ctr"/>
              <a:r>
                <a:rPr lang="en-US" i="1">
                  <a:solidFill>
                    <a:schemeClr val="tx1"/>
                  </a:solidFill>
                </a:rPr>
                <a:t>s</a:t>
              </a:r>
            </a:p>
            <a:p>
              <a:pPr algn="ctr"/>
              <a:r>
                <a:rPr lang="en-US" i="1">
                  <a:solidFill>
                    <a:schemeClr val="tx1"/>
                  </a:solidFill>
                </a:rPr>
                <a:t>t</a:t>
              </a:r>
            </a:p>
            <a:p>
              <a:pPr algn="ctr"/>
              <a:r>
                <a:rPr lang="en-US" i="1">
                  <a:solidFill>
                    <a:schemeClr val="tx1"/>
                  </a:solidFill>
                </a:rPr>
                <a:t>r.</a:t>
              </a:r>
            </a:p>
            <a:p>
              <a:pPr algn="ctr"/>
              <a:endParaRPr lang="en-US" i="1">
                <a:solidFill>
                  <a:schemeClr val="tx1"/>
                </a:solidFill>
              </a:endParaRPr>
            </a:p>
            <a:p>
              <a:pPr algn="ctr"/>
              <a:r>
                <a:rPr lang="en-US" i="1">
                  <a:solidFill>
                    <a:schemeClr val="tx1"/>
                  </a:solidFill>
                </a:rPr>
                <a:t>O</a:t>
              </a:r>
            </a:p>
            <a:p>
              <a:pPr algn="ctr"/>
              <a:r>
                <a:rPr lang="en-US" i="1">
                  <a:solidFill>
                    <a:schemeClr val="tx1"/>
                  </a:solidFill>
                </a:rPr>
                <a:t>r</a:t>
              </a:r>
            </a:p>
            <a:p>
              <a:pPr algn="ctr"/>
              <a:r>
                <a:rPr lang="en-US" i="1">
                  <a:solidFill>
                    <a:schemeClr val="tx1"/>
                  </a:solidFill>
                </a:rPr>
                <a:t>d</a:t>
              </a:r>
            </a:p>
            <a:p>
              <a:pPr algn="ctr"/>
              <a:r>
                <a:rPr lang="en-US" i="1">
                  <a:solidFill>
                    <a:schemeClr val="tx1"/>
                  </a:solidFill>
                </a:rPr>
                <a:t>e</a:t>
              </a:r>
            </a:p>
            <a:p>
              <a:pPr algn="ctr"/>
              <a:r>
                <a:rPr lang="en-US" i="1">
                  <a:solidFill>
                    <a:schemeClr val="tx1"/>
                  </a:solidFill>
                </a:rPr>
                <a:t>r</a:t>
              </a:r>
            </a:p>
          </p:txBody>
        </p:sp>
        <p:sp>
          <p:nvSpPr>
            <p:cNvPr id="1044507" name="Line 27"/>
            <p:cNvSpPr>
              <a:spLocks noChangeShapeType="1"/>
            </p:cNvSpPr>
            <p:nvPr/>
          </p:nvSpPr>
          <p:spPr bwMode="auto">
            <a:xfrm>
              <a:off x="192" y="816"/>
              <a:ext cx="0" cy="2400"/>
            </a:xfrm>
            <a:prstGeom prst="line">
              <a:avLst/>
            </a:prstGeom>
            <a:noFill/>
            <a:ln w="28575">
              <a:solidFill>
                <a:schemeClr val="tx1"/>
              </a:solidFill>
              <a:round/>
              <a:headEnd/>
              <a:tailEnd type="triangle" w="med" len="med"/>
            </a:ln>
            <a:effectLst/>
          </p:spPr>
          <p:txBody>
            <a:bodyPr/>
            <a:lstStyle/>
            <a:p>
              <a:endParaRPr lang="en-US"/>
            </a:p>
          </p:txBody>
        </p:sp>
      </p:grpSp>
      <p:grpSp>
        <p:nvGrpSpPr>
          <p:cNvPr id="6" name="Group 28"/>
          <p:cNvGrpSpPr>
            <a:grpSpLocks/>
          </p:cNvGrpSpPr>
          <p:nvPr/>
        </p:nvGrpSpPr>
        <p:grpSpPr bwMode="auto">
          <a:xfrm>
            <a:off x="3136900" y="1905000"/>
            <a:ext cx="3355975" cy="838200"/>
            <a:chOff x="1562" y="1152"/>
            <a:chExt cx="2114" cy="528"/>
          </a:xfrm>
        </p:grpSpPr>
        <p:grpSp>
          <p:nvGrpSpPr>
            <p:cNvPr id="7" name="Group 29"/>
            <p:cNvGrpSpPr>
              <a:grpSpLocks/>
            </p:cNvGrpSpPr>
            <p:nvPr/>
          </p:nvGrpSpPr>
          <p:grpSpPr bwMode="auto">
            <a:xfrm>
              <a:off x="2487" y="1152"/>
              <a:ext cx="223" cy="481"/>
              <a:chOff x="2207" y="1413"/>
              <a:chExt cx="223" cy="481"/>
            </a:xfrm>
          </p:grpSpPr>
          <p:sp>
            <p:nvSpPr>
              <p:cNvPr id="1044510" name="Freeform 30"/>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11" name="Rectangle 31"/>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8" name="Group 32"/>
            <p:cNvGrpSpPr>
              <a:grpSpLocks/>
            </p:cNvGrpSpPr>
            <p:nvPr/>
          </p:nvGrpSpPr>
          <p:grpSpPr bwMode="auto">
            <a:xfrm>
              <a:off x="1562" y="1248"/>
              <a:ext cx="349" cy="289"/>
              <a:chOff x="1282" y="1509"/>
              <a:chExt cx="349" cy="289"/>
            </a:xfrm>
          </p:grpSpPr>
          <p:sp>
            <p:nvSpPr>
              <p:cNvPr id="1044513" name="Rectangle 33"/>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9" name="Group 34"/>
              <p:cNvGrpSpPr>
                <a:grpSpLocks/>
              </p:cNvGrpSpPr>
              <p:nvPr/>
            </p:nvGrpSpPr>
            <p:grpSpPr bwMode="auto">
              <a:xfrm>
                <a:off x="1291" y="1509"/>
                <a:ext cx="340" cy="289"/>
                <a:chOff x="1291" y="1509"/>
                <a:chExt cx="340" cy="289"/>
              </a:xfrm>
            </p:grpSpPr>
            <p:sp>
              <p:nvSpPr>
                <p:cNvPr id="1044515" name="Freeform 35"/>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16" name="Freeform 36"/>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44517" name="Rectangle 37"/>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 name="Group 38"/>
            <p:cNvGrpSpPr>
              <a:grpSpLocks/>
            </p:cNvGrpSpPr>
            <p:nvPr/>
          </p:nvGrpSpPr>
          <p:grpSpPr bwMode="auto">
            <a:xfrm>
              <a:off x="2031" y="1248"/>
              <a:ext cx="296" cy="289"/>
              <a:chOff x="1751" y="1509"/>
              <a:chExt cx="296" cy="289"/>
            </a:xfrm>
          </p:grpSpPr>
          <p:sp>
            <p:nvSpPr>
              <p:cNvPr id="1044519" name="Freeform 39"/>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20" name="Freeform 40"/>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21" name="Line 41"/>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44522" name="Freeform 42"/>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23" name="Line 43"/>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44524" name="Rectangle 44"/>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1" name="Group 45"/>
            <p:cNvGrpSpPr>
              <a:grpSpLocks/>
            </p:cNvGrpSpPr>
            <p:nvPr/>
          </p:nvGrpSpPr>
          <p:grpSpPr bwMode="auto">
            <a:xfrm>
              <a:off x="2880" y="1248"/>
              <a:ext cx="325" cy="289"/>
              <a:chOff x="2600" y="1509"/>
              <a:chExt cx="325" cy="289"/>
            </a:xfrm>
          </p:grpSpPr>
          <p:sp>
            <p:nvSpPr>
              <p:cNvPr id="1044526" name="Freeform 46"/>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27" name="Freeform 47"/>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28" name="Rectangle 48"/>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2" name="Group 49"/>
            <p:cNvGrpSpPr>
              <a:grpSpLocks/>
            </p:cNvGrpSpPr>
            <p:nvPr/>
          </p:nvGrpSpPr>
          <p:grpSpPr bwMode="auto">
            <a:xfrm>
              <a:off x="3348" y="1248"/>
              <a:ext cx="284" cy="289"/>
              <a:chOff x="3068" y="1509"/>
              <a:chExt cx="284" cy="289"/>
            </a:xfrm>
          </p:grpSpPr>
          <p:sp>
            <p:nvSpPr>
              <p:cNvPr id="1044530" name="Freeform 50"/>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31" name="Freeform 51"/>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32" name="Line 52"/>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44533" name="Line 53"/>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44534" name="Line 54"/>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44535" name="Line 55"/>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44536" name="Line 56"/>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44537" name="Line 57"/>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44538" name="Line 58"/>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44539" name="Line 59"/>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44540" name="Line 60"/>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13" name="Group 61"/>
          <p:cNvGrpSpPr>
            <a:grpSpLocks/>
          </p:cNvGrpSpPr>
          <p:nvPr/>
        </p:nvGrpSpPr>
        <p:grpSpPr bwMode="auto">
          <a:xfrm>
            <a:off x="774700" y="3581400"/>
            <a:ext cx="7775575" cy="1676400"/>
            <a:chOff x="488" y="1728"/>
            <a:chExt cx="4898" cy="1056"/>
          </a:xfrm>
        </p:grpSpPr>
        <p:sp>
          <p:nvSpPr>
            <p:cNvPr id="1044542" name="Rectangle 62"/>
            <p:cNvSpPr>
              <a:spLocks noChangeArrowheads="1"/>
            </p:cNvSpPr>
            <p:nvPr/>
          </p:nvSpPr>
          <p:spPr bwMode="auto">
            <a:xfrm>
              <a:off x="488" y="1824"/>
              <a:ext cx="1503"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16 and $6,$1,$7</a:t>
              </a:r>
            </a:p>
          </p:txBody>
        </p:sp>
        <p:sp>
          <p:nvSpPr>
            <p:cNvPr id="1044543" name="Rectangle 63"/>
            <p:cNvSpPr>
              <a:spLocks noChangeArrowheads="1"/>
            </p:cNvSpPr>
            <p:nvPr/>
          </p:nvSpPr>
          <p:spPr bwMode="auto">
            <a:xfrm>
              <a:off x="488" y="2354"/>
              <a:ext cx="1363" cy="286"/>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20 or  r8,$1,$9</a:t>
              </a:r>
            </a:p>
          </p:txBody>
        </p:sp>
        <p:grpSp>
          <p:nvGrpSpPr>
            <p:cNvPr id="14" name="Group 64"/>
            <p:cNvGrpSpPr>
              <a:grpSpLocks/>
            </p:cNvGrpSpPr>
            <p:nvPr/>
          </p:nvGrpSpPr>
          <p:grpSpPr bwMode="auto">
            <a:xfrm>
              <a:off x="2832" y="1728"/>
              <a:ext cx="2114" cy="528"/>
              <a:chOff x="1562" y="1152"/>
              <a:chExt cx="2114" cy="528"/>
            </a:xfrm>
          </p:grpSpPr>
          <p:grpSp>
            <p:nvGrpSpPr>
              <p:cNvPr id="15" name="Group 65"/>
              <p:cNvGrpSpPr>
                <a:grpSpLocks/>
              </p:cNvGrpSpPr>
              <p:nvPr/>
            </p:nvGrpSpPr>
            <p:grpSpPr bwMode="auto">
              <a:xfrm>
                <a:off x="2487" y="1152"/>
                <a:ext cx="223" cy="481"/>
                <a:chOff x="2207" y="1413"/>
                <a:chExt cx="223" cy="481"/>
              </a:xfrm>
            </p:grpSpPr>
            <p:sp>
              <p:nvSpPr>
                <p:cNvPr id="1044546" name="Freeform 66"/>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47" name="Rectangle 67"/>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16" name="Group 68"/>
              <p:cNvGrpSpPr>
                <a:grpSpLocks/>
              </p:cNvGrpSpPr>
              <p:nvPr/>
            </p:nvGrpSpPr>
            <p:grpSpPr bwMode="auto">
              <a:xfrm>
                <a:off x="1562" y="1248"/>
                <a:ext cx="349" cy="289"/>
                <a:chOff x="1282" y="1509"/>
                <a:chExt cx="349" cy="289"/>
              </a:xfrm>
            </p:grpSpPr>
            <p:sp>
              <p:nvSpPr>
                <p:cNvPr id="1044549" name="Rectangle 69"/>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17" name="Group 70"/>
                <p:cNvGrpSpPr>
                  <a:grpSpLocks/>
                </p:cNvGrpSpPr>
                <p:nvPr/>
              </p:nvGrpSpPr>
              <p:grpSpPr bwMode="auto">
                <a:xfrm>
                  <a:off x="1291" y="1509"/>
                  <a:ext cx="340" cy="289"/>
                  <a:chOff x="1291" y="1509"/>
                  <a:chExt cx="340" cy="289"/>
                </a:xfrm>
              </p:grpSpPr>
              <p:sp>
                <p:nvSpPr>
                  <p:cNvPr id="1044551" name="Freeform 71"/>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52" name="Freeform 72"/>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44553" name="Rectangle 73"/>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8" name="Group 74"/>
              <p:cNvGrpSpPr>
                <a:grpSpLocks/>
              </p:cNvGrpSpPr>
              <p:nvPr/>
            </p:nvGrpSpPr>
            <p:grpSpPr bwMode="auto">
              <a:xfrm>
                <a:off x="2031" y="1248"/>
                <a:ext cx="296" cy="289"/>
                <a:chOff x="1751" y="1509"/>
                <a:chExt cx="296" cy="289"/>
              </a:xfrm>
            </p:grpSpPr>
            <p:sp>
              <p:nvSpPr>
                <p:cNvPr id="1044555" name="Freeform 75"/>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56" name="Freeform 76"/>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57" name="Line 77"/>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44558" name="Freeform 78"/>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59" name="Line 79"/>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44560" name="Rectangle 80"/>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9" name="Group 81"/>
              <p:cNvGrpSpPr>
                <a:grpSpLocks/>
              </p:cNvGrpSpPr>
              <p:nvPr/>
            </p:nvGrpSpPr>
            <p:grpSpPr bwMode="auto">
              <a:xfrm>
                <a:off x="2880" y="1248"/>
                <a:ext cx="325" cy="289"/>
                <a:chOff x="2600" y="1509"/>
                <a:chExt cx="325" cy="289"/>
              </a:xfrm>
            </p:grpSpPr>
            <p:sp>
              <p:nvSpPr>
                <p:cNvPr id="1044562" name="Freeform 82"/>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63" name="Freeform 83"/>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64" name="Rectangle 84"/>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0" name="Group 85"/>
              <p:cNvGrpSpPr>
                <a:grpSpLocks/>
              </p:cNvGrpSpPr>
              <p:nvPr/>
            </p:nvGrpSpPr>
            <p:grpSpPr bwMode="auto">
              <a:xfrm>
                <a:off x="3348" y="1248"/>
                <a:ext cx="284" cy="289"/>
                <a:chOff x="3068" y="1509"/>
                <a:chExt cx="284" cy="289"/>
              </a:xfrm>
            </p:grpSpPr>
            <p:sp>
              <p:nvSpPr>
                <p:cNvPr id="1044566" name="Freeform 86"/>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67" name="Freeform 87"/>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68" name="Line 88"/>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44569" name="Line 89"/>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44570" name="Line 90"/>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44571" name="Line 91"/>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44572" name="Line 92"/>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44573" name="Line 93"/>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44574" name="Line 94"/>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44575" name="Line 95"/>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44576" name="Line 96"/>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nvGrpSpPr>
            <p:cNvPr id="21" name="Group 97"/>
            <p:cNvGrpSpPr>
              <a:grpSpLocks/>
            </p:cNvGrpSpPr>
            <p:nvPr/>
          </p:nvGrpSpPr>
          <p:grpSpPr bwMode="auto">
            <a:xfrm>
              <a:off x="3272" y="2256"/>
              <a:ext cx="2114" cy="528"/>
              <a:chOff x="1562" y="1152"/>
              <a:chExt cx="2114" cy="528"/>
            </a:xfrm>
          </p:grpSpPr>
          <p:grpSp>
            <p:nvGrpSpPr>
              <p:cNvPr id="22" name="Group 98"/>
              <p:cNvGrpSpPr>
                <a:grpSpLocks/>
              </p:cNvGrpSpPr>
              <p:nvPr/>
            </p:nvGrpSpPr>
            <p:grpSpPr bwMode="auto">
              <a:xfrm>
                <a:off x="2487" y="1152"/>
                <a:ext cx="223" cy="481"/>
                <a:chOff x="2207" y="1413"/>
                <a:chExt cx="223" cy="481"/>
              </a:xfrm>
            </p:grpSpPr>
            <p:sp>
              <p:nvSpPr>
                <p:cNvPr id="1044579" name="Freeform 99"/>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80" name="Rectangle 100"/>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23" name="Group 101"/>
              <p:cNvGrpSpPr>
                <a:grpSpLocks/>
              </p:cNvGrpSpPr>
              <p:nvPr/>
            </p:nvGrpSpPr>
            <p:grpSpPr bwMode="auto">
              <a:xfrm>
                <a:off x="1562" y="1248"/>
                <a:ext cx="349" cy="289"/>
                <a:chOff x="1282" y="1509"/>
                <a:chExt cx="349" cy="289"/>
              </a:xfrm>
            </p:grpSpPr>
            <p:sp>
              <p:nvSpPr>
                <p:cNvPr id="1044582" name="Rectangle 102"/>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24" name="Group 103"/>
                <p:cNvGrpSpPr>
                  <a:grpSpLocks/>
                </p:cNvGrpSpPr>
                <p:nvPr/>
              </p:nvGrpSpPr>
              <p:grpSpPr bwMode="auto">
                <a:xfrm>
                  <a:off x="1291" y="1509"/>
                  <a:ext cx="340" cy="289"/>
                  <a:chOff x="1291" y="1509"/>
                  <a:chExt cx="340" cy="289"/>
                </a:xfrm>
              </p:grpSpPr>
              <p:sp>
                <p:nvSpPr>
                  <p:cNvPr id="1044584" name="Freeform 104"/>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85" name="Freeform 105"/>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44586" name="Rectangle 106"/>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5" name="Group 107"/>
              <p:cNvGrpSpPr>
                <a:grpSpLocks/>
              </p:cNvGrpSpPr>
              <p:nvPr/>
            </p:nvGrpSpPr>
            <p:grpSpPr bwMode="auto">
              <a:xfrm>
                <a:off x="2031" y="1248"/>
                <a:ext cx="296" cy="289"/>
                <a:chOff x="1751" y="1509"/>
                <a:chExt cx="296" cy="289"/>
              </a:xfrm>
            </p:grpSpPr>
            <p:sp>
              <p:nvSpPr>
                <p:cNvPr id="1044588" name="Freeform 108"/>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89" name="Freeform 109"/>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90" name="Line 110"/>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44591" name="Freeform 111"/>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92" name="Line 112"/>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44593" name="Rectangle 113"/>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26" name="Group 114"/>
              <p:cNvGrpSpPr>
                <a:grpSpLocks/>
              </p:cNvGrpSpPr>
              <p:nvPr/>
            </p:nvGrpSpPr>
            <p:grpSpPr bwMode="auto">
              <a:xfrm>
                <a:off x="2880" y="1248"/>
                <a:ext cx="325" cy="289"/>
                <a:chOff x="2600" y="1509"/>
                <a:chExt cx="325" cy="289"/>
              </a:xfrm>
            </p:grpSpPr>
            <p:sp>
              <p:nvSpPr>
                <p:cNvPr id="1044595" name="Freeform 115"/>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596" name="Freeform 116"/>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597" name="Rectangle 117"/>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27" name="Group 118"/>
              <p:cNvGrpSpPr>
                <a:grpSpLocks/>
              </p:cNvGrpSpPr>
              <p:nvPr/>
            </p:nvGrpSpPr>
            <p:grpSpPr bwMode="auto">
              <a:xfrm>
                <a:off x="3348" y="1248"/>
                <a:ext cx="284" cy="289"/>
                <a:chOff x="3068" y="1509"/>
                <a:chExt cx="284" cy="289"/>
              </a:xfrm>
            </p:grpSpPr>
            <p:sp>
              <p:nvSpPr>
                <p:cNvPr id="1044599" name="Freeform 119"/>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00" name="Freeform 120"/>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601" name="Line 121"/>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44602" name="Line 122"/>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44603" name="Line 123"/>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44604" name="Line 124"/>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44605" name="Line 125"/>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44606" name="Line 126"/>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44607" name="Line 127"/>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44608" name="Line 128"/>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44609" name="Line 129"/>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grpSp>
      <p:grpSp>
        <p:nvGrpSpPr>
          <p:cNvPr id="28" name="Group 130"/>
          <p:cNvGrpSpPr>
            <a:grpSpLocks/>
          </p:cNvGrpSpPr>
          <p:nvPr/>
        </p:nvGrpSpPr>
        <p:grpSpPr bwMode="auto">
          <a:xfrm>
            <a:off x="3822700" y="2743200"/>
            <a:ext cx="3355975" cy="838200"/>
            <a:chOff x="1562" y="1152"/>
            <a:chExt cx="2114" cy="528"/>
          </a:xfrm>
        </p:grpSpPr>
        <p:grpSp>
          <p:nvGrpSpPr>
            <p:cNvPr id="29" name="Group 131"/>
            <p:cNvGrpSpPr>
              <a:grpSpLocks/>
            </p:cNvGrpSpPr>
            <p:nvPr/>
          </p:nvGrpSpPr>
          <p:grpSpPr bwMode="auto">
            <a:xfrm>
              <a:off x="2487" y="1152"/>
              <a:ext cx="223" cy="481"/>
              <a:chOff x="2207" y="1413"/>
              <a:chExt cx="223" cy="481"/>
            </a:xfrm>
          </p:grpSpPr>
          <p:sp>
            <p:nvSpPr>
              <p:cNvPr id="1044612" name="Freeform 132"/>
              <p:cNvSpPr>
                <a:spLocks/>
              </p:cNvSpPr>
              <p:nvPr/>
            </p:nvSpPr>
            <p:spPr bwMode="auto">
              <a:xfrm>
                <a:off x="2217" y="1413"/>
                <a:ext cx="213" cy="481"/>
              </a:xfrm>
              <a:custGeom>
                <a:avLst/>
                <a:gdLst/>
                <a:ahLst/>
                <a:cxnLst>
                  <a:cxn ang="0">
                    <a:pos x="0" y="320"/>
                  </a:cxn>
                  <a:cxn ang="0">
                    <a:pos x="71" y="240"/>
                  </a:cxn>
                  <a:cxn ang="0">
                    <a:pos x="0" y="160"/>
                  </a:cxn>
                  <a:cxn ang="0">
                    <a:pos x="0" y="0"/>
                  </a:cxn>
                  <a:cxn ang="0">
                    <a:pos x="212" y="160"/>
                  </a:cxn>
                  <a:cxn ang="0">
                    <a:pos x="212" y="320"/>
                  </a:cxn>
                  <a:cxn ang="0">
                    <a:pos x="0" y="480"/>
                  </a:cxn>
                  <a:cxn ang="0">
                    <a:pos x="0" y="320"/>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13" name="Rectangle 133"/>
              <p:cNvSpPr>
                <a:spLocks noChangeArrowheads="1"/>
              </p:cNvSpPr>
              <p:nvPr/>
            </p:nvSpPr>
            <p:spPr bwMode="auto">
              <a:xfrm rot="5400000">
                <a:off x="2124" y="1532"/>
                <a:ext cx="376"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ALU</a:t>
                </a:r>
              </a:p>
            </p:txBody>
          </p:sp>
        </p:grpSp>
        <p:grpSp>
          <p:nvGrpSpPr>
            <p:cNvPr id="30" name="Group 134"/>
            <p:cNvGrpSpPr>
              <a:grpSpLocks/>
            </p:cNvGrpSpPr>
            <p:nvPr/>
          </p:nvGrpSpPr>
          <p:grpSpPr bwMode="auto">
            <a:xfrm>
              <a:off x="1562" y="1248"/>
              <a:ext cx="349" cy="289"/>
              <a:chOff x="1282" y="1509"/>
              <a:chExt cx="349" cy="289"/>
            </a:xfrm>
          </p:grpSpPr>
          <p:sp>
            <p:nvSpPr>
              <p:cNvPr id="1044615" name="Rectangle 135"/>
              <p:cNvSpPr>
                <a:spLocks noChangeArrowheads="1"/>
              </p:cNvSpPr>
              <p:nvPr/>
            </p:nvSpPr>
            <p:spPr bwMode="auto">
              <a:xfrm>
                <a:off x="1282" y="1511"/>
                <a:ext cx="257" cy="210"/>
              </a:xfrm>
              <a:prstGeom prst="rect">
                <a:avLst/>
              </a:prstGeom>
              <a:noFill/>
              <a:ln w="12700">
                <a:noFill/>
                <a:miter lim="800000"/>
                <a:headEnd/>
                <a:tailEnd/>
              </a:ln>
              <a:effectLst/>
            </p:spPr>
            <p:txBody>
              <a:bodyPr wrap="none" lIns="90488" tIns="44450" rIns="90488" bIns="44450">
                <a:spAutoFit/>
              </a:bodyPr>
              <a:lstStyle/>
              <a:p>
                <a:pPr algn="ctr"/>
                <a:r>
                  <a:rPr lang="en-US" sz="1600" b="1">
                    <a:solidFill>
                      <a:schemeClr val="tx1"/>
                    </a:solidFill>
                  </a:rPr>
                  <a:t>IM</a:t>
                </a:r>
              </a:p>
            </p:txBody>
          </p:sp>
          <p:grpSp>
            <p:nvGrpSpPr>
              <p:cNvPr id="31" name="Group 136"/>
              <p:cNvGrpSpPr>
                <a:grpSpLocks/>
              </p:cNvGrpSpPr>
              <p:nvPr/>
            </p:nvGrpSpPr>
            <p:grpSpPr bwMode="auto">
              <a:xfrm>
                <a:off x="1291" y="1509"/>
                <a:ext cx="340" cy="289"/>
                <a:chOff x="1291" y="1509"/>
                <a:chExt cx="340" cy="289"/>
              </a:xfrm>
            </p:grpSpPr>
            <p:sp>
              <p:nvSpPr>
                <p:cNvPr id="1044617" name="Freeform 137"/>
                <p:cNvSpPr>
                  <a:spLocks/>
                </p:cNvSpPr>
                <p:nvPr/>
              </p:nvSpPr>
              <p:spPr bwMode="auto">
                <a:xfrm>
                  <a:off x="1291" y="1509"/>
                  <a:ext cx="170" cy="289"/>
                </a:xfrm>
                <a:custGeom>
                  <a:avLst/>
                  <a:gdLst/>
                  <a:ahLst/>
                  <a:cxnLst>
                    <a:cxn ang="0">
                      <a:pos x="169" y="0"/>
                    </a:cxn>
                    <a:cxn ang="0">
                      <a:pos x="0" y="0"/>
                    </a:cxn>
                    <a:cxn ang="0">
                      <a:pos x="0" y="288"/>
                    </a:cxn>
                    <a:cxn ang="0">
                      <a:pos x="169" y="288"/>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18" name="Freeform 138"/>
                <p:cNvSpPr>
                  <a:spLocks/>
                </p:cNvSpPr>
                <p:nvPr/>
              </p:nvSpPr>
              <p:spPr bwMode="auto">
                <a:xfrm>
                  <a:off x="1460" y="1509"/>
                  <a:ext cx="171" cy="289"/>
                </a:xfrm>
                <a:custGeom>
                  <a:avLst/>
                  <a:gdLst/>
                  <a:ahLst/>
                  <a:cxnLst>
                    <a:cxn ang="0">
                      <a:pos x="0" y="0"/>
                    </a:cxn>
                    <a:cxn ang="0">
                      <a:pos x="170" y="0"/>
                    </a:cxn>
                    <a:cxn ang="0">
                      <a:pos x="170" y="288"/>
                    </a:cxn>
                    <a:cxn ang="0">
                      <a:pos x="0" y="288"/>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grpSp>
        <p:sp>
          <p:nvSpPr>
            <p:cNvPr id="1044619" name="Rectangle 139"/>
            <p:cNvSpPr>
              <a:spLocks noChangeArrowheads="1"/>
            </p:cNvSpPr>
            <p:nvPr/>
          </p:nvSpPr>
          <p:spPr bwMode="auto">
            <a:xfrm>
              <a:off x="2012" y="1255"/>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44512" name="Group 140"/>
            <p:cNvGrpSpPr>
              <a:grpSpLocks/>
            </p:cNvGrpSpPr>
            <p:nvPr/>
          </p:nvGrpSpPr>
          <p:grpSpPr bwMode="auto">
            <a:xfrm>
              <a:off x="2031" y="1248"/>
              <a:ext cx="296" cy="289"/>
              <a:chOff x="1751" y="1509"/>
              <a:chExt cx="296" cy="289"/>
            </a:xfrm>
          </p:grpSpPr>
          <p:sp>
            <p:nvSpPr>
              <p:cNvPr id="1044621" name="Freeform 141"/>
              <p:cNvSpPr>
                <a:spLocks/>
              </p:cNvSpPr>
              <p:nvPr/>
            </p:nvSpPr>
            <p:spPr bwMode="auto">
              <a:xfrm>
                <a:off x="1751" y="1509"/>
                <a:ext cx="149" cy="289"/>
              </a:xfrm>
              <a:custGeom>
                <a:avLst/>
                <a:gdLst/>
                <a:ahLst/>
                <a:cxnLst>
                  <a:cxn ang="0">
                    <a:pos x="148" y="0"/>
                  </a:cxn>
                  <a:cxn ang="0">
                    <a:pos x="0" y="0"/>
                  </a:cxn>
                  <a:cxn ang="0">
                    <a:pos x="0" y="288"/>
                  </a:cxn>
                  <a:cxn ang="0">
                    <a:pos x="148" y="288"/>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22" name="Freeform 142"/>
              <p:cNvSpPr>
                <a:spLocks/>
              </p:cNvSpPr>
              <p:nvPr/>
            </p:nvSpPr>
            <p:spPr bwMode="auto">
              <a:xfrm>
                <a:off x="1899" y="1509"/>
                <a:ext cx="148" cy="289"/>
              </a:xfrm>
              <a:custGeom>
                <a:avLst/>
                <a:gdLst/>
                <a:ahLst/>
                <a:cxnLst>
                  <a:cxn ang="0">
                    <a:pos x="0" y="0"/>
                  </a:cxn>
                  <a:cxn ang="0">
                    <a:pos x="147" y="0"/>
                  </a:cxn>
                  <a:cxn ang="0">
                    <a:pos x="147" y="288"/>
                  </a:cxn>
                  <a:cxn ang="0">
                    <a:pos x="0" y="288"/>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623" name="Line 143"/>
            <p:cNvSpPr>
              <a:spLocks noChangeShapeType="1"/>
            </p:cNvSpPr>
            <p:nvPr/>
          </p:nvSpPr>
          <p:spPr bwMode="auto">
            <a:xfrm>
              <a:off x="1916" y="1392"/>
              <a:ext cx="116" cy="0"/>
            </a:xfrm>
            <a:prstGeom prst="line">
              <a:avLst/>
            </a:prstGeom>
            <a:noFill/>
            <a:ln w="25400">
              <a:solidFill>
                <a:schemeClr val="tx1"/>
              </a:solidFill>
              <a:round/>
              <a:headEnd/>
              <a:tailEnd/>
            </a:ln>
            <a:effectLst/>
          </p:spPr>
          <p:txBody>
            <a:bodyPr wrap="none" anchor="ctr"/>
            <a:lstStyle/>
            <a:p>
              <a:endParaRPr lang="en-US"/>
            </a:p>
          </p:txBody>
        </p:sp>
        <p:sp>
          <p:nvSpPr>
            <p:cNvPr id="1044624" name="Freeform 144"/>
            <p:cNvSpPr>
              <a:spLocks/>
            </p:cNvSpPr>
            <p:nvPr/>
          </p:nvSpPr>
          <p:spPr bwMode="auto">
            <a:xfrm>
              <a:off x="1984" y="1296"/>
              <a:ext cx="48" cy="97"/>
            </a:xfrm>
            <a:custGeom>
              <a:avLst/>
              <a:gdLst/>
              <a:ahLst/>
              <a:cxnLst>
                <a:cxn ang="0">
                  <a:pos x="0" y="96"/>
                </a:cxn>
                <a:cxn ang="0">
                  <a:pos x="0" y="0"/>
                </a:cxn>
                <a:cxn ang="0">
                  <a:pos x="47" y="0"/>
                </a:cxn>
                <a:cxn ang="0">
                  <a:pos x="47" y="0"/>
                </a:cxn>
              </a:cxnLst>
              <a:rect l="0" t="0" r="r" b="b"/>
              <a:pathLst>
                <a:path w="48" h="97">
                  <a:moveTo>
                    <a:pt x="0" y="96"/>
                  </a:moveTo>
                  <a:lnTo>
                    <a:pt x="0" y="0"/>
                  </a:lnTo>
                  <a:lnTo>
                    <a:pt x="47" y="0"/>
                  </a:lnTo>
                  <a:lnTo>
                    <a:pt x="47" y="0"/>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25" name="Line 145"/>
            <p:cNvSpPr>
              <a:spLocks noChangeShapeType="1"/>
            </p:cNvSpPr>
            <p:nvPr/>
          </p:nvSpPr>
          <p:spPr bwMode="auto">
            <a:xfrm>
              <a:off x="2332" y="1296"/>
              <a:ext cx="157" cy="0"/>
            </a:xfrm>
            <a:prstGeom prst="line">
              <a:avLst/>
            </a:prstGeom>
            <a:noFill/>
            <a:ln w="25400">
              <a:solidFill>
                <a:schemeClr val="tx1"/>
              </a:solidFill>
              <a:round/>
              <a:headEnd/>
              <a:tailEnd/>
            </a:ln>
            <a:effectLst/>
          </p:spPr>
          <p:txBody>
            <a:bodyPr wrap="none" anchor="ctr"/>
            <a:lstStyle/>
            <a:p>
              <a:endParaRPr lang="en-US"/>
            </a:p>
          </p:txBody>
        </p:sp>
        <p:sp>
          <p:nvSpPr>
            <p:cNvPr id="1044626" name="Rectangle 146"/>
            <p:cNvSpPr>
              <a:spLocks noChangeArrowheads="1"/>
            </p:cNvSpPr>
            <p:nvPr/>
          </p:nvSpPr>
          <p:spPr bwMode="auto">
            <a:xfrm>
              <a:off x="2829" y="1250"/>
              <a:ext cx="313"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DM</a:t>
              </a:r>
            </a:p>
          </p:txBody>
        </p:sp>
        <p:grpSp>
          <p:nvGrpSpPr>
            <p:cNvPr id="1044514" name="Group 147"/>
            <p:cNvGrpSpPr>
              <a:grpSpLocks/>
            </p:cNvGrpSpPr>
            <p:nvPr/>
          </p:nvGrpSpPr>
          <p:grpSpPr bwMode="auto">
            <a:xfrm>
              <a:off x="2880" y="1248"/>
              <a:ext cx="325" cy="289"/>
              <a:chOff x="2600" y="1509"/>
              <a:chExt cx="325" cy="289"/>
            </a:xfrm>
          </p:grpSpPr>
          <p:sp>
            <p:nvSpPr>
              <p:cNvPr id="1044628" name="Freeform 148"/>
              <p:cNvSpPr>
                <a:spLocks/>
              </p:cNvSpPr>
              <p:nvPr/>
            </p:nvSpPr>
            <p:spPr bwMode="auto">
              <a:xfrm>
                <a:off x="2600" y="1509"/>
                <a:ext cx="162" cy="289"/>
              </a:xfrm>
              <a:custGeom>
                <a:avLst/>
                <a:gdLst/>
                <a:ahLst/>
                <a:cxnLst>
                  <a:cxn ang="0">
                    <a:pos x="161" y="0"/>
                  </a:cxn>
                  <a:cxn ang="0">
                    <a:pos x="0" y="0"/>
                  </a:cxn>
                  <a:cxn ang="0">
                    <a:pos x="0" y="288"/>
                  </a:cxn>
                  <a:cxn ang="0">
                    <a:pos x="161" y="288"/>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29" name="Freeform 149"/>
              <p:cNvSpPr>
                <a:spLocks/>
              </p:cNvSpPr>
              <p:nvPr/>
            </p:nvSpPr>
            <p:spPr bwMode="auto">
              <a:xfrm>
                <a:off x="2761" y="1509"/>
                <a:ext cx="164" cy="289"/>
              </a:xfrm>
              <a:custGeom>
                <a:avLst/>
                <a:gdLst/>
                <a:ahLst/>
                <a:cxnLst>
                  <a:cxn ang="0">
                    <a:pos x="0" y="0"/>
                  </a:cxn>
                  <a:cxn ang="0">
                    <a:pos x="163" y="0"/>
                  </a:cxn>
                  <a:cxn ang="0">
                    <a:pos x="163" y="288"/>
                  </a:cxn>
                  <a:cxn ang="0">
                    <a:pos x="0" y="288"/>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630" name="Rectangle 150"/>
            <p:cNvSpPr>
              <a:spLocks noChangeArrowheads="1"/>
            </p:cNvSpPr>
            <p:nvPr/>
          </p:nvSpPr>
          <p:spPr bwMode="auto">
            <a:xfrm>
              <a:off x="3321" y="1250"/>
              <a:ext cx="355"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Reg</a:t>
              </a:r>
            </a:p>
          </p:txBody>
        </p:sp>
        <p:grpSp>
          <p:nvGrpSpPr>
            <p:cNvPr id="1044518" name="Group 151"/>
            <p:cNvGrpSpPr>
              <a:grpSpLocks/>
            </p:cNvGrpSpPr>
            <p:nvPr/>
          </p:nvGrpSpPr>
          <p:grpSpPr bwMode="auto">
            <a:xfrm>
              <a:off x="3348" y="1248"/>
              <a:ext cx="284" cy="289"/>
              <a:chOff x="3068" y="1509"/>
              <a:chExt cx="284" cy="289"/>
            </a:xfrm>
          </p:grpSpPr>
          <p:sp>
            <p:nvSpPr>
              <p:cNvPr id="1044632" name="Freeform 152"/>
              <p:cNvSpPr>
                <a:spLocks/>
              </p:cNvSpPr>
              <p:nvPr/>
            </p:nvSpPr>
            <p:spPr bwMode="auto">
              <a:xfrm>
                <a:off x="3068" y="1509"/>
                <a:ext cx="142" cy="289"/>
              </a:xfrm>
              <a:custGeom>
                <a:avLst/>
                <a:gdLst/>
                <a:ahLst/>
                <a:cxnLst>
                  <a:cxn ang="0">
                    <a:pos x="141" y="0"/>
                  </a:cxn>
                  <a:cxn ang="0">
                    <a:pos x="0" y="0"/>
                  </a:cxn>
                  <a:cxn ang="0">
                    <a:pos x="0" y="288"/>
                  </a:cxn>
                  <a:cxn ang="0">
                    <a:pos x="141" y="288"/>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sp>
            <p:nvSpPr>
              <p:cNvPr id="1044633" name="Freeform 153"/>
              <p:cNvSpPr>
                <a:spLocks/>
              </p:cNvSpPr>
              <p:nvPr/>
            </p:nvSpPr>
            <p:spPr bwMode="auto">
              <a:xfrm>
                <a:off x="3209" y="1509"/>
                <a:ext cx="143" cy="289"/>
              </a:xfrm>
              <a:custGeom>
                <a:avLst/>
                <a:gdLst/>
                <a:ahLst/>
                <a:cxnLst>
                  <a:cxn ang="0">
                    <a:pos x="0" y="0"/>
                  </a:cxn>
                  <a:cxn ang="0">
                    <a:pos x="142" y="0"/>
                  </a:cxn>
                  <a:cxn ang="0">
                    <a:pos x="142" y="288"/>
                  </a:cxn>
                  <a:cxn ang="0">
                    <a:pos x="0" y="288"/>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p:spPr>
            <p:txBody>
              <a:bodyPr/>
              <a:lstStyle/>
              <a:p>
                <a:endParaRPr lang="en-US"/>
              </a:p>
            </p:txBody>
          </p:sp>
        </p:grpSp>
        <p:sp>
          <p:nvSpPr>
            <p:cNvPr id="1044634" name="Line 154"/>
            <p:cNvSpPr>
              <a:spLocks noChangeShapeType="1"/>
            </p:cNvSpPr>
            <p:nvPr/>
          </p:nvSpPr>
          <p:spPr bwMode="auto">
            <a:xfrm>
              <a:off x="3201" y="1392"/>
              <a:ext cx="139" cy="0"/>
            </a:xfrm>
            <a:prstGeom prst="line">
              <a:avLst/>
            </a:prstGeom>
            <a:noFill/>
            <a:ln w="25400">
              <a:solidFill>
                <a:schemeClr val="tx1"/>
              </a:solidFill>
              <a:round/>
              <a:headEnd/>
              <a:tailEnd/>
            </a:ln>
            <a:effectLst/>
          </p:spPr>
          <p:txBody>
            <a:bodyPr wrap="none" anchor="ctr"/>
            <a:lstStyle/>
            <a:p>
              <a:endParaRPr lang="en-US"/>
            </a:p>
          </p:txBody>
        </p:sp>
        <p:sp>
          <p:nvSpPr>
            <p:cNvPr id="1044635" name="Line 155"/>
            <p:cNvSpPr>
              <a:spLocks noChangeShapeType="1"/>
            </p:cNvSpPr>
            <p:nvPr/>
          </p:nvSpPr>
          <p:spPr bwMode="auto">
            <a:xfrm>
              <a:off x="2717" y="1392"/>
              <a:ext cx="155" cy="0"/>
            </a:xfrm>
            <a:prstGeom prst="line">
              <a:avLst/>
            </a:prstGeom>
            <a:noFill/>
            <a:ln w="25400">
              <a:solidFill>
                <a:schemeClr val="tx1"/>
              </a:solidFill>
              <a:round/>
              <a:headEnd/>
              <a:tailEnd/>
            </a:ln>
            <a:effectLst/>
          </p:spPr>
          <p:txBody>
            <a:bodyPr wrap="none" anchor="ctr"/>
            <a:lstStyle/>
            <a:p>
              <a:endParaRPr lang="en-US"/>
            </a:p>
          </p:txBody>
        </p:sp>
        <p:sp>
          <p:nvSpPr>
            <p:cNvPr id="1044636" name="Line 156"/>
            <p:cNvSpPr>
              <a:spLocks noChangeShapeType="1"/>
            </p:cNvSpPr>
            <p:nvPr/>
          </p:nvSpPr>
          <p:spPr bwMode="auto">
            <a:xfrm>
              <a:off x="2332" y="1488"/>
              <a:ext cx="157" cy="0"/>
            </a:xfrm>
            <a:prstGeom prst="line">
              <a:avLst/>
            </a:prstGeom>
            <a:noFill/>
            <a:ln w="25400">
              <a:solidFill>
                <a:schemeClr val="tx1"/>
              </a:solidFill>
              <a:round/>
              <a:headEnd/>
              <a:tailEnd/>
            </a:ln>
            <a:effectLst/>
          </p:spPr>
          <p:txBody>
            <a:bodyPr wrap="none" anchor="ctr"/>
            <a:lstStyle/>
            <a:p>
              <a:endParaRPr lang="en-US"/>
            </a:p>
          </p:txBody>
        </p:sp>
        <p:sp>
          <p:nvSpPr>
            <p:cNvPr id="1044637" name="Line 157"/>
            <p:cNvSpPr>
              <a:spLocks noChangeShapeType="1"/>
            </p:cNvSpPr>
            <p:nvPr/>
          </p:nvSpPr>
          <p:spPr bwMode="auto">
            <a:xfrm>
              <a:off x="2416" y="1488"/>
              <a:ext cx="0" cy="192"/>
            </a:xfrm>
            <a:prstGeom prst="line">
              <a:avLst/>
            </a:prstGeom>
            <a:noFill/>
            <a:ln w="28575">
              <a:solidFill>
                <a:schemeClr val="tx1"/>
              </a:solidFill>
              <a:round/>
              <a:headEnd/>
              <a:tailEnd/>
            </a:ln>
            <a:effectLst/>
          </p:spPr>
          <p:txBody>
            <a:bodyPr/>
            <a:lstStyle/>
            <a:p>
              <a:endParaRPr lang="en-US"/>
            </a:p>
          </p:txBody>
        </p:sp>
        <p:sp>
          <p:nvSpPr>
            <p:cNvPr id="1044638" name="Line 158"/>
            <p:cNvSpPr>
              <a:spLocks noChangeShapeType="1"/>
            </p:cNvSpPr>
            <p:nvPr/>
          </p:nvSpPr>
          <p:spPr bwMode="auto">
            <a:xfrm>
              <a:off x="2416" y="1680"/>
              <a:ext cx="336" cy="0"/>
            </a:xfrm>
            <a:prstGeom prst="line">
              <a:avLst/>
            </a:prstGeom>
            <a:noFill/>
            <a:ln w="28575">
              <a:solidFill>
                <a:schemeClr val="tx1"/>
              </a:solidFill>
              <a:round/>
              <a:headEnd/>
              <a:tailEnd/>
            </a:ln>
            <a:effectLst/>
          </p:spPr>
          <p:txBody>
            <a:bodyPr/>
            <a:lstStyle/>
            <a:p>
              <a:endParaRPr lang="en-US"/>
            </a:p>
          </p:txBody>
        </p:sp>
        <p:sp>
          <p:nvSpPr>
            <p:cNvPr id="1044639" name="Line 159"/>
            <p:cNvSpPr>
              <a:spLocks noChangeShapeType="1"/>
            </p:cNvSpPr>
            <p:nvPr/>
          </p:nvSpPr>
          <p:spPr bwMode="auto">
            <a:xfrm>
              <a:off x="2752" y="1392"/>
              <a:ext cx="0" cy="288"/>
            </a:xfrm>
            <a:prstGeom prst="line">
              <a:avLst/>
            </a:prstGeom>
            <a:noFill/>
            <a:ln w="28575">
              <a:solidFill>
                <a:schemeClr val="tx1"/>
              </a:solidFill>
              <a:round/>
              <a:headEnd/>
              <a:tailEnd/>
            </a:ln>
            <a:effectLst/>
          </p:spPr>
          <p:txBody>
            <a:bodyPr/>
            <a:lstStyle/>
            <a:p>
              <a:endParaRPr lang="en-US"/>
            </a:p>
          </p:txBody>
        </p:sp>
        <p:sp>
          <p:nvSpPr>
            <p:cNvPr id="1044640" name="Line 160"/>
            <p:cNvSpPr>
              <a:spLocks noChangeShapeType="1"/>
            </p:cNvSpPr>
            <p:nvPr/>
          </p:nvSpPr>
          <p:spPr bwMode="auto">
            <a:xfrm flipH="1">
              <a:off x="2832" y="1392"/>
              <a:ext cx="0" cy="240"/>
            </a:xfrm>
            <a:prstGeom prst="line">
              <a:avLst/>
            </a:prstGeom>
            <a:noFill/>
            <a:ln w="28575">
              <a:solidFill>
                <a:schemeClr val="tx1"/>
              </a:solidFill>
              <a:round/>
              <a:headEnd/>
              <a:tailEnd/>
            </a:ln>
            <a:effectLst/>
          </p:spPr>
          <p:txBody>
            <a:bodyPr/>
            <a:lstStyle/>
            <a:p>
              <a:endParaRPr lang="en-US"/>
            </a:p>
          </p:txBody>
        </p:sp>
        <p:sp>
          <p:nvSpPr>
            <p:cNvPr id="1044641" name="Line 161"/>
            <p:cNvSpPr>
              <a:spLocks noChangeShapeType="1"/>
            </p:cNvSpPr>
            <p:nvPr/>
          </p:nvSpPr>
          <p:spPr bwMode="auto">
            <a:xfrm>
              <a:off x="2832" y="1632"/>
              <a:ext cx="432" cy="0"/>
            </a:xfrm>
            <a:prstGeom prst="line">
              <a:avLst/>
            </a:prstGeom>
            <a:noFill/>
            <a:ln w="28575">
              <a:solidFill>
                <a:schemeClr val="tx1"/>
              </a:solidFill>
              <a:round/>
              <a:headEnd/>
              <a:tailEnd/>
            </a:ln>
            <a:effectLst/>
          </p:spPr>
          <p:txBody>
            <a:bodyPr/>
            <a:lstStyle/>
            <a:p>
              <a:endParaRPr lang="en-US"/>
            </a:p>
          </p:txBody>
        </p:sp>
        <p:sp>
          <p:nvSpPr>
            <p:cNvPr id="1044642" name="Line 162"/>
            <p:cNvSpPr>
              <a:spLocks noChangeShapeType="1"/>
            </p:cNvSpPr>
            <p:nvPr/>
          </p:nvSpPr>
          <p:spPr bwMode="auto">
            <a:xfrm>
              <a:off x="3264" y="1392"/>
              <a:ext cx="0" cy="240"/>
            </a:xfrm>
            <a:prstGeom prst="line">
              <a:avLst/>
            </a:prstGeom>
            <a:noFill/>
            <a:ln w="28575">
              <a:solidFill>
                <a:schemeClr val="tx1"/>
              </a:solidFill>
              <a:round/>
              <a:headEnd/>
              <a:tailEnd/>
            </a:ln>
            <a:effectLst/>
          </p:spPr>
          <p:txBody>
            <a:bodyPr/>
            <a:lstStyle/>
            <a:p>
              <a:endParaRPr lang="en-US"/>
            </a:p>
          </p:txBody>
        </p:sp>
      </p:grpSp>
      <p:sp>
        <p:nvSpPr>
          <p:cNvPr id="1044643" name="Rectangle 163"/>
          <p:cNvSpPr>
            <a:spLocks noChangeArrowheads="1"/>
          </p:cNvSpPr>
          <p:nvPr/>
        </p:nvSpPr>
        <p:spPr bwMode="auto">
          <a:xfrm>
            <a:off x="925513" y="2971800"/>
            <a:ext cx="2198687" cy="454025"/>
          </a:xfrm>
          <a:prstGeom prst="rect">
            <a:avLst/>
          </a:prstGeom>
          <a:noFill/>
          <a:ln w="12700">
            <a:noFill/>
            <a:miter lim="800000"/>
            <a:headEnd/>
            <a:tailEnd/>
          </a:ln>
          <a:effectLst/>
        </p:spPr>
        <p:txBody>
          <a:bodyPr wrap="none" lIns="90488" tIns="44450" rIns="90488" bIns="44450">
            <a:spAutoFit/>
          </a:bodyPr>
          <a:lstStyle/>
          <a:p>
            <a:r>
              <a:rPr lang="en-US" sz="2400">
                <a:solidFill>
                  <a:schemeClr val="tx1"/>
                </a:solidFill>
              </a:rPr>
              <a:t>8 sub $4,$1,$5</a:t>
            </a:r>
          </a:p>
        </p:txBody>
      </p:sp>
      <p:cxnSp>
        <p:nvCxnSpPr>
          <p:cNvPr id="1044644" name="AutoShape 164"/>
          <p:cNvCxnSpPr>
            <a:cxnSpLocks noChangeShapeType="1"/>
            <a:stCxn id="1044495" idx="3"/>
            <a:endCxn id="1044542" idx="1"/>
          </p:cNvCxnSpPr>
          <p:nvPr/>
        </p:nvCxnSpPr>
        <p:spPr bwMode="auto">
          <a:xfrm flipH="1">
            <a:off x="774700" y="2360613"/>
            <a:ext cx="2198688" cy="1600200"/>
          </a:xfrm>
          <a:prstGeom prst="curvedConnector5">
            <a:avLst>
              <a:gd name="adj1" fmla="val -10324"/>
              <a:gd name="adj2" fmla="val 50000"/>
              <a:gd name="adj3" fmla="val 110398"/>
            </a:avLst>
          </a:prstGeom>
          <a:noFill/>
          <a:ln w="28575">
            <a:solidFill>
              <a:schemeClr val="accent1"/>
            </a:solidFill>
            <a:round/>
            <a:headEnd/>
            <a:tailEnd type="triangle" w="med" len="med"/>
          </a:ln>
          <a:effectLst/>
        </p:spPr>
      </p:cxnSp>
      <p:sp>
        <p:nvSpPr>
          <p:cNvPr id="1044645" name="Oval 165"/>
          <p:cNvSpPr>
            <a:spLocks noChangeArrowheads="1"/>
          </p:cNvSpPr>
          <p:nvPr/>
        </p:nvSpPr>
        <p:spPr bwMode="auto">
          <a:xfrm>
            <a:off x="4114800" y="1905000"/>
            <a:ext cx="304800" cy="762000"/>
          </a:xfrm>
          <a:prstGeom prst="ellipse">
            <a:avLst/>
          </a:prstGeom>
          <a:noFill/>
          <a:ln w="28575">
            <a:solidFill>
              <a:schemeClr val="accent1"/>
            </a:solidFill>
            <a:round/>
            <a:headEnd/>
            <a:tailEnd/>
          </a:ln>
          <a:effectLst/>
        </p:spPr>
        <p:txBody>
          <a:bodyPr wrap="none" anchor="ctr"/>
          <a:lstStyle/>
          <a:p>
            <a:endParaRPr lang="en-US"/>
          </a:p>
        </p:txBody>
      </p:sp>
      <p:sp>
        <p:nvSpPr>
          <p:cNvPr id="1044647" name="Rectangle 167"/>
          <p:cNvSpPr>
            <a:spLocks noChangeArrowheads="1"/>
          </p:cNvSpPr>
          <p:nvPr/>
        </p:nvSpPr>
        <p:spPr bwMode="auto">
          <a:xfrm>
            <a:off x="609600" y="762000"/>
            <a:ext cx="7772400" cy="806450"/>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600" dirty="0">
                <a:solidFill>
                  <a:schemeClr val="tx1"/>
                </a:solidFill>
              </a:rPr>
              <a:t>“Predict branches are always not taken – and take corrective action when wrong (i.e., taken)</a:t>
            </a:r>
          </a:p>
        </p:txBody>
      </p:sp>
      <p:sp>
        <p:nvSpPr>
          <p:cNvPr id="1044648" name="Rectangle 168"/>
          <p:cNvSpPr>
            <a:spLocks noChangeArrowheads="1"/>
          </p:cNvSpPr>
          <p:nvPr/>
        </p:nvSpPr>
        <p:spPr bwMode="auto">
          <a:xfrm>
            <a:off x="6781800" y="1905000"/>
            <a:ext cx="2209800" cy="1308100"/>
          </a:xfrm>
          <a:prstGeom prst="rect">
            <a:avLst/>
          </a:prstGeom>
          <a:noFill/>
          <a:ln w="12700">
            <a:noFill/>
            <a:miter lim="800000"/>
            <a:headEnd/>
            <a:tailEnd/>
          </a:ln>
          <a:effectLst/>
        </p:spPr>
        <p:txBody>
          <a:bodyPr lIns="90488" tIns="44450" rIns="90488" bIns="44450">
            <a:spAutoFit/>
          </a:bodyPr>
          <a:lstStyle/>
          <a:p>
            <a:pPr algn="r"/>
            <a:r>
              <a:rPr lang="en-US" sz="2000" b="1"/>
              <a:t>Branch decision hardware moved to the decode cycle</a:t>
            </a:r>
          </a:p>
        </p:txBody>
      </p:sp>
    </p:spTree>
    <p:extLst>
      <p:ext uri="{BB962C8B-B14F-4D97-AF65-F5344CB8AC3E}">
        <p14:creationId xmlns:p14="http://schemas.microsoft.com/office/powerpoint/2010/main" val="17607882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44643"/>
                                        </p:tgtEl>
                                        <p:attrNameLst>
                                          <p:attrName>style.visibility</p:attrName>
                                        </p:attrNameLst>
                                      </p:cBhvr>
                                      <p:to>
                                        <p:strVal val="visible"/>
                                      </p:to>
                                    </p:set>
                                  </p:childTnLst>
                                  <p:subTnLst>
                                    <p:set>
                                      <p:cBhvr override="childStyle">
                                        <p:cTn dur="1" fill="hold" display="0" masterRel="nextClick" afterEffect="1"/>
                                        <p:tgtEl>
                                          <p:spTgt spid="104464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4645"/>
                                        </p:tgtEl>
                                        <p:attrNameLst>
                                          <p:attrName>style.visibility</p:attrName>
                                        </p:attrNameLst>
                                      </p:cBhvr>
                                      <p:to>
                                        <p:strVal val="visible"/>
                                      </p:to>
                                    </p:set>
                                  </p:childTnLst>
                                  <p:subTnLst>
                                    <p:set>
                                      <p:cBhvr override="childStyle">
                                        <p:cTn dur="1" fill="hold" display="0" masterRel="nextClick" afterEffect="1"/>
                                        <p:tgtEl>
                                          <p:spTgt spid="104464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0446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044644"/>
                                        </p:tgtEl>
                                        <p:attrNameLst>
                                          <p:attrName>style.visibility</p:attrName>
                                        </p:attrNameLst>
                                      </p:cBhvr>
                                      <p:to>
                                        <p:strVal val="visible"/>
                                      </p:to>
                                    </p:set>
                                    <p:animEffect transition="in" filter="wipe(up)">
                                      <p:cBhvr>
                                        <p:cTn id="19" dur="500"/>
                                        <p:tgtEl>
                                          <p:spTgt spid="1044644"/>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43" grpId="0"/>
      <p:bldP spid="1044645" grpId="0" animBg="1"/>
      <p:bldP spid="1044648" grpId="0"/>
    </p:bldLst>
  </p:timing>
</p:sld>
</file>

<file path=ppt/theme/theme1.xml><?xml version="1.0" encoding="utf-8"?>
<a:theme xmlns:a="http://schemas.openxmlformats.org/drawingml/2006/main" name="mjicse43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mjicse43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mjicse43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jicse43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jicse43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jicse43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jicse43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jicse43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jicse43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27020</TotalTime>
  <Pages>47</Pages>
  <Words>3853</Words>
  <Application>Microsoft Macintosh PowerPoint</Application>
  <PresentationFormat>Letter Paper (8.5x11 in)</PresentationFormat>
  <Paragraphs>1309</Paragraphs>
  <Slides>40</Slides>
  <Notes>37</Notes>
  <HiddenSlides>6</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40</vt:i4>
      </vt:variant>
    </vt:vector>
  </HeadingPairs>
  <TitlesOfParts>
    <vt:vector size="50" baseType="lpstr">
      <vt:lpstr>Arial</vt:lpstr>
      <vt:lpstr>Calibri</vt:lpstr>
      <vt:lpstr>Calibri Light</vt:lpstr>
      <vt:lpstr>Courier New</vt:lpstr>
      <vt:lpstr>Monotype Sorts</vt:lpstr>
      <vt:lpstr>Times New Roman</vt:lpstr>
      <vt:lpstr>Wingdings</vt:lpstr>
      <vt:lpstr>mjicse431</vt:lpstr>
      <vt:lpstr>1_Custom Design</vt:lpstr>
      <vt:lpstr>Custom Design</vt:lpstr>
      <vt:lpstr>CSCI 424/524  Computer Architecture    Single-Cycle Design and  Pipelining</vt:lpstr>
      <vt:lpstr>MIPS Data Path</vt:lpstr>
      <vt:lpstr>Main Control Unit</vt:lpstr>
      <vt:lpstr>Control Unit Logic</vt:lpstr>
      <vt:lpstr>Handling Jump Operations</vt:lpstr>
      <vt:lpstr>Main Control Unit</vt:lpstr>
      <vt:lpstr>Single Cycle Implementation Cycle Time</vt:lpstr>
      <vt:lpstr>Instruction Critical Paths</vt:lpstr>
      <vt:lpstr>Instruction Critical Paths</vt:lpstr>
      <vt:lpstr>Single Cycle Disadvantages &amp; Advantages</vt:lpstr>
      <vt:lpstr>How Can We Make It Faster?</vt:lpstr>
      <vt:lpstr>The Five “Stages” of Load Instruction</vt:lpstr>
      <vt:lpstr>Pipeline Performance</vt:lpstr>
      <vt:lpstr>Pipeline Performance</vt:lpstr>
      <vt:lpstr>Pipeline Speedup</vt:lpstr>
      <vt:lpstr>A Pipelined MIPS Processor</vt:lpstr>
      <vt:lpstr>Single Cycle versus Pipeline</vt:lpstr>
      <vt:lpstr>Pipelining the MIPS ISA</vt:lpstr>
      <vt:lpstr>Graphically Representing MIPS Pipeline</vt:lpstr>
      <vt:lpstr>Why Pipeline? For Performance!</vt:lpstr>
      <vt:lpstr>Can Pipelining Get Us Into Trouble?</vt:lpstr>
      <vt:lpstr>A Single Memory Would Be a Structural Hazard</vt:lpstr>
      <vt:lpstr>How About Register File Access?</vt:lpstr>
      <vt:lpstr>How About Register File Access?</vt:lpstr>
      <vt:lpstr>Register Usage Can Cause Data Hazards</vt:lpstr>
      <vt:lpstr>Register Usage Can Cause Data Hazards</vt:lpstr>
      <vt:lpstr>Loads Can Cause Data Hazards</vt:lpstr>
      <vt:lpstr>Loads Can Cause Data Hazards</vt:lpstr>
      <vt:lpstr>One Way to “Fix” a Data Hazard</vt:lpstr>
      <vt:lpstr>Another Way to “Fix” a Data Hazard</vt:lpstr>
      <vt:lpstr>Another Way to “Fix” a Data Hazard</vt:lpstr>
      <vt:lpstr>Memory-to-Memory Copies</vt:lpstr>
      <vt:lpstr>Forwarding with Load-use Data Hazards</vt:lpstr>
      <vt:lpstr>Forwarding with Load-use Data Hazards</vt:lpstr>
      <vt:lpstr>Control Hazards</vt:lpstr>
      <vt:lpstr>Jumps Incur One Stall</vt:lpstr>
      <vt:lpstr>Branch Instructions Cause Control Hazards</vt:lpstr>
      <vt:lpstr>One Way to “Fix” a Branch Control Hazard</vt:lpstr>
      <vt:lpstr>Another Way to “Fix” a Branch Control Hazard</vt:lpstr>
      <vt:lpstr>Yet Another Way to “Fix” a Control Hazard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431. Computer Architecture</dc:title>
  <dc:subject>Lecture 01</dc:subject>
  <dc:creator>Janie Irwin</dc:creator>
  <cp:lastModifiedBy>Jog, Adwait</cp:lastModifiedBy>
  <cp:revision>795</cp:revision>
  <cp:lastPrinted>1997-08-27T08:28:34Z</cp:lastPrinted>
  <dcterms:created xsi:type="dcterms:W3CDTF">1997-08-19T16:58:46Z</dcterms:created>
  <dcterms:modified xsi:type="dcterms:W3CDTF">2021-03-08T15:13:33Z</dcterms:modified>
</cp:coreProperties>
</file>