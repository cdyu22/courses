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2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3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4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notesSlides/notesSlide5.xml" ContentType="application/vnd.openxmlformats-officedocument.presentationml.notesSlide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notesSlides/notesSlide6.xml" ContentType="application/vnd.openxmlformats-officedocument.presentationml.notesSlide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notesSlides/notesSlide7.xml" ContentType="application/vnd.openxmlformats-officedocument.presentationml.notesSlide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notesSlides/notesSlide10.xml" ContentType="application/vnd.openxmlformats-officedocument.presentationml.notesSlide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notesSlides/notesSlide11.xml" ContentType="application/vnd.openxmlformats-officedocument.presentationml.notesSlide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notesSlides/notesSlide12.xml" ContentType="application/vnd.openxmlformats-officedocument.presentationml.notesSlide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notesSlides/notesSlide15.xml" ContentType="application/vnd.openxmlformats-officedocument.presentationml.notesSlide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notesSlides/notesSlide16.xml" ContentType="application/vnd.openxmlformats-officedocument.presentationml.notesSlide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notesSlides/notesSlide17.xml" ContentType="application/vnd.openxmlformats-officedocument.presentationml.notesSlide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notesSlides/notesSlide18.xml" ContentType="application/vnd.openxmlformats-officedocument.presentationml.notesSlide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notesSlides/notesSlide30.xml" ContentType="application/vnd.openxmlformats-officedocument.presentationml.notesSlide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notesSlides/notesSlide3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notesSlides/notesSlide34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notesSlides/notesSlide35.xml" ContentType="application/vnd.openxmlformats-officedocument.presentationml.notesSlide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  <p:sldMasterId id="2147483676" r:id="rId2"/>
    <p:sldMasterId id="2147483663" r:id="rId3"/>
  </p:sldMasterIdLst>
  <p:notesMasterIdLst>
    <p:notesMasterId r:id="rId54"/>
  </p:notesMasterIdLst>
  <p:handoutMasterIdLst>
    <p:handoutMasterId r:id="rId55"/>
  </p:handoutMasterIdLst>
  <p:sldIdLst>
    <p:sldId id="312" r:id="rId4"/>
    <p:sldId id="499" r:id="rId5"/>
    <p:sldId id="462" r:id="rId6"/>
    <p:sldId id="463" r:id="rId7"/>
    <p:sldId id="464" r:id="rId8"/>
    <p:sldId id="465" r:id="rId9"/>
    <p:sldId id="466" r:id="rId10"/>
    <p:sldId id="467" r:id="rId11"/>
    <p:sldId id="468" r:id="rId12"/>
    <p:sldId id="469" r:id="rId13"/>
    <p:sldId id="470" r:id="rId14"/>
    <p:sldId id="471" r:id="rId15"/>
    <p:sldId id="472" r:id="rId16"/>
    <p:sldId id="473" r:id="rId17"/>
    <p:sldId id="474" r:id="rId18"/>
    <p:sldId id="475" r:id="rId19"/>
    <p:sldId id="476" r:id="rId20"/>
    <p:sldId id="477" r:id="rId21"/>
    <p:sldId id="478" r:id="rId22"/>
    <p:sldId id="479" r:id="rId23"/>
    <p:sldId id="480" r:id="rId24"/>
    <p:sldId id="481" r:id="rId25"/>
    <p:sldId id="482" r:id="rId26"/>
    <p:sldId id="483" r:id="rId27"/>
    <p:sldId id="484" r:id="rId28"/>
    <p:sldId id="485" r:id="rId29"/>
    <p:sldId id="486" r:id="rId30"/>
    <p:sldId id="487" r:id="rId31"/>
    <p:sldId id="488" r:id="rId32"/>
    <p:sldId id="489" r:id="rId33"/>
    <p:sldId id="490" r:id="rId34"/>
    <p:sldId id="491" r:id="rId35"/>
    <p:sldId id="492" r:id="rId36"/>
    <p:sldId id="493" r:id="rId37"/>
    <p:sldId id="494" r:id="rId38"/>
    <p:sldId id="495" r:id="rId39"/>
    <p:sldId id="498" r:id="rId40"/>
    <p:sldId id="413" r:id="rId41"/>
    <p:sldId id="415" r:id="rId42"/>
    <p:sldId id="416" r:id="rId43"/>
    <p:sldId id="417" r:id="rId44"/>
    <p:sldId id="418" r:id="rId45"/>
    <p:sldId id="419" r:id="rId46"/>
    <p:sldId id="420" r:id="rId47"/>
    <p:sldId id="421" r:id="rId48"/>
    <p:sldId id="422" r:id="rId49"/>
    <p:sldId id="423" r:id="rId50"/>
    <p:sldId id="424" r:id="rId51"/>
    <p:sldId id="425" r:id="rId52"/>
    <p:sldId id="294" r:id="rId53"/>
  </p:sldIdLst>
  <p:sldSz cx="9144000" cy="6858000" type="letter"/>
  <p:notesSz cx="6985000" cy="92837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accent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accent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accent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accent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accent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accent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accent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accent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accent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158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3">
          <p15:clr>
            <a:srgbClr val="A4A3A4"/>
          </p15:clr>
        </p15:guide>
        <p15:guide id="2" pos="220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8901F3"/>
    <a:srgbClr val="00A091"/>
    <a:srgbClr val="51DC00"/>
    <a:srgbClr val="5A11FD"/>
    <a:srgbClr val="000000"/>
    <a:srgbClr val="CC3399"/>
    <a:srgbClr val="0082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885" autoAdjust="0"/>
    <p:restoredTop sz="92994" autoAdjust="0"/>
  </p:normalViewPr>
  <p:slideViewPr>
    <p:cSldViewPr>
      <p:cViewPr>
        <p:scale>
          <a:sx n="100" d="100"/>
          <a:sy n="100" d="100"/>
        </p:scale>
        <p:origin x="440" y="176"/>
      </p:cViewPr>
      <p:guideLst>
        <p:guide orient="horz" pos="2160"/>
        <p:guide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840"/>
    </p:cViewPr>
  </p:sorterViewPr>
  <p:notesViewPr>
    <p:cSldViewPr>
      <p:cViewPr varScale="1">
        <p:scale>
          <a:sx n="84" d="100"/>
          <a:sy n="84" d="100"/>
        </p:scale>
        <p:origin x="-1932" y="-84"/>
      </p:cViewPr>
      <p:guideLst>
        <p:guide orient="horz" pos="2923"/>
        <p:guide pos="220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notesMaster" Target="notesMasters/notesMaster1.xml"/><Relationship Id="rId55" Type="http://schemas.openxmlformats.org/officeDocument/2006/relationships/handoutMaster" Target="handoutMasters/handout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755636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4576" units="in"/>
          <inkml:channel name="Y" type="integer" max="18432" units="in"/>
          <inkml:channel name="F" type="integer" max="255" units="dev"/>
        </inkml:traceFormat>
        <inkml:channelProperties>
          <inkml:channelProperty channel="X" name="resolution" value="2978.90918" units="1/in"/>
          <inkml:channelProperty channel="Y" name="resolution" value="2978.66846" units="1/in"/>
          <inkml:channelProperty channel="F" name="resolution" value="INF" units="1/dev"/>
        </inkml:channelProperties>
      </inkml:inkSource>
      <inkml:timestamp xml:id="ts0" timeString="2006-01-21T09:25:27.405"/>
    </inkml:context>
    <inkml:brush xml:id="br0">
      <inkml:brushProperty name="width" value="0.05292" units="cm"/>
      <inkml:brushProperty name="height" value="0.05292" units="cm"/>
      <inkml:brushProperty name="color" value="#FC0128"/>
      <inkml:brushProperty name="fitToCurve" value="1"/>
    </inkml:brush>
  </inkml:definitions>
  <inkml:trace contextRef="#ctx0" brushRef="#br0">0 3 16,'11'-1'5,"-11"1"-1,0 0-4,10-2-4,-10 2-8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4576" units="in"/>
          <inkml:channel name="Y" type="integer" max="18432" units="in"/>
          <inkml:channel name="F" type="integer" max="255" units="dev"/>
        </inkml:traceFormat>
        <inkml:channelProperties>
          <inkml:channelProperty channel="X" name="resolution" value="2978.90918" units="1/in"/>
          <inkml:channelProperty channel="Y" name="resolution" value="2978.66846" units="1/in"/>
          <inkml:channelProperty channel="F" name="resolution" value="INF" units="1/dev"/>
        </inkml:channelProperties>
      </inkml:inkSource>
      <inkml:timestamp xml:id="ts0" timeString="2006-01-21T09:25:33.875"/>
    </inkml:context>
    <inkml:brush xml:id="br0">
      <inkml:brushProperty name="width" value="0.05292" units="cm"/>
      <inkml:brushProperty name="height" value="0.05292" units="cm"/>
      <inkml:brushProperty name="color" value="#FC0128"/>
      <inkml:brushProperty name="fitToCurve" value="1"/>
    </inkml:brush>
  </inkml:definitions>
  <inkml:trace contextRef="#ctx0" brushRef="#br0">0 39 28,'0'0'5,"13"-5"1,-13 5 0,0 0 0,0 0 0,13-8-1,-13 8 1,0 0-1,0 0-1,0 0 1,0 0 1,0 0-2,0 0 0,0 0-1,0 0-1,0 0 1,0 0-1,0 0 0,0 0 1,0 0-1,0 0 1,0 0-1,0 0 0,-11-9 0,11 9-1,0 0 0,0 0 0,0 0-1,0 0 0,0 0 0,0 0-4,0 0-6,0 0-12,0 0-6,0 0 1,-8-17-1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4576" units="in"/>
          <inkml:channel name="Y" type="integer" max="18432" units="in"/>
          <inkml:channel name="F" type="integer" max="255" units="dev"/>
        </inkml:traceFormat>
        <inkml:channelProperties>
          <inkml:channelProperty channel="X" name="resolution" value="2978.90918" units="1/in"/>
          <inkml:channelProperty channel="Y" name="resolution" value="2978.66846" units="1/in"/>
          <inkml:channelProperty channel="F" name="resolution" value="INF" units="1/dev"/>
        </inkml:channelProperties>
      </inkml:inkSource>
      <inkml:timestamp xml:id="ts0" timeString="2006-01-21T09:25:27.405"/>
    </inkml:context>
    <inkml:brush xml:id="br0">
      <inkml:brushProperty name="width" value="0.05292" units="cm"/>
      <inkml:brushProperty name="height" value="0.05292" units="cm"/>
      <inkml:brushProperty name="color" value="#FC0128"/>
      <inkml:brushProperty name="fitToCurve" value="1"/>
    </inkml:brush>
  </inkml:definitions>
  <inkml:trace contextRef="#ctx0" brushRef="#br0">0 3 16,'11'-1'5,"-11"1"-1,0 0-4,10-2-4,-10 2-8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4576" units="in"/>
          <inkml:channel name="Y" type="integer" max="18432" units="in"/>
          <inkml:channel name="F" type="integer" max="255" units="dev"/>
        </inkml:traceFormat>
        <inkml:channelProperties>
          <inkml:channelProperty channel="X" name="resolution" value="2978.90918" units="1/in"/>
          <inkml:channelProperty channel="Y" name="resolution" value="2978.66846" units="1/in"/>
          <inkml:channelProperty channel="F" name="resolution" value="INF" units="1/dev"/>
        </inkml:channelProperties>
      </inkml:inkSource>
      <inkml:timestamp xml:id="ts0" timeString="2006-01-21T09:25:33.875"/>
    </inkml:context>
    <inkml:brush xml:id="br0">
      <inkml:brushProperty name="width" value="0.05292" units="cm"/>
      <inkml:brushProperty name="height" value="0.05292" units="cm"/>
      <inkml:brushProperty name="color" value="#FC0128"/>
      <inkml:brushProperty name="fitToCurve" value="1"/>
    </inkml:brush>
  </inkml:definitions>
  <inkml:trace contextRef="#ctx0" brushRef="#br0">0 39 28,'0'0'5,"13"-5"1,-13 5 0,0 0 0,0 0 0,13-8-1,-13 8 1,0 0-1,0 0-1,0 0 1,0 0 1,0 0-2,0 0 0,0 0-1,0 0-1,0 0 1,0 0-1,0 0 0,0 0 1,0 0-1,0 0 1,0 0-1,0 0 0,-11-9 0,11 9-1,0 0 0,0 0 0,0 0-1,0 0 0,0 0 0,0 0-4,0 0-6,0 0-12,0 0-6,0 0 1,-8-17-1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9038" y="598488"/>
            <a:ext cx="4622800" cy="3467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sp>
      <p:sp>
        <p:nvSpPr>
          <p:cNvPr id="2051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525493" y="4408146"/>
            <a:ext cx="6019711" cy="417766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3520" tIns="45939" rIns="93520" bIns="4593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we want this to be in font 11 and justify.</a:t>
            </a:r>
          </a:p>
        </p:txBody>
      </p:sp>
    </p:spTree>
    <p:extLst>
      <p:ext uri="{BB962C8B-B14F-4D97-AF65-F5344CB8AC3E}">
        <p14:creationId xmlns:p14="http://schemas.microsoft.com/office/powerpoint/2010/main" val="193473374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just" rtl="0" eaLnBrk="0" fontAlgn="base" hangingPunct="0">
      <a:lnSpc>
        <a:spcPct val="90000"/>
      </a:lnSpc>
      <a:spcBef>
        <a:spcPct val="40000"/>
      </a:spcBef>
      <a:spcAft>
        <a:spcPct val="0"/>
      </a:spcAft>
      <a:defRPr sz="1100" kern="1200">
        <a:solidFill>
          <a:schemeClr val="tx1"/>
        </a:solidFill>
        <a:latin typeface="Arial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body" idx="1"/>
          </p:nvPr>
        </p:nvSpPr>
        <p:spPr>
          <a:noFill/>
          <a:ln w="9525">
            <a:noFill/>
          </a:ln>
        </p:spPr>
        <p:txBody>
          <a:bodyPr/>
          <a:lstStyle/>
          <a:p>
            <a:endParaRPr lang="en-US" dirty="0" smtClean="0"/>
          </a:p>
        </p:txBody>
      </p:sp>
      <p:sp>
        <p:nvSpPr>
          <p:cNvPr id="56323" name="Rectangle 3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9458096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74763" y="617538"/>
            <a:ext cx="4781550" cy="35861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18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50334" y="4560570"/>
            <a:ext cx="6302587" cy="43205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9028" tIns="49514" rIns="99028" bIns="49514"/>
          <a:lstStyle/>
          <a:p>
            <a:r>
              <a:rPr lang="en-US" altLang="zh-CN"/>
              <a:t>for lecture</a:t>
            </a:r>
          </a:p>
        </p:txBody>
      </p:sp>
    </p:spTree>
    <p:extLst>
      <p:ext uri="{BB962C8B-B14F-4D97-AF65-F5344CB8AC3E}">
        <p14:creationId xmlns:p14="http://schemas.microsoft.com/office/powerpoint/2010/main" val="156980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77055" y="4560570"/>
            <a:ext cx="5361093" cy="4320540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7988" tIns="48135" rIns="97988" bIns="48135"/>
          <a:lstStyle/>
          <a:p>
            <a:r>
              <a:rPr lang="en-US" altLang="zh-CN" dirty="0"/>
              <a:t>For class handout</a:t>
            </a:r>
          </a:p>
        </p:txBody>
      </p:sp>
      <p:sp>
        <p:nvSpPr>
          <p:cNvPr id="310275" name="Rectangle 3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66825" y="727075"/>
            <a:ext cx="4783138" cy="3586163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2997791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77055" y="4560570"/>
            <a:ext cx="5361093" cy="4320540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7988" tIns="48135" rIns="97988" bIns="48135"/>
          <a:lstStyle/>
          <a:p>
            <a:r>
              <a:rPr lang="en-US" altLang="zh-CN" dirty="0"/>
              <a:t>For lecture</a:t>
            </a:r>
          </a:p>
          <a:p>
            <a:endParaRPr lang="en-US" altLang="zh-CN" dirty="0"/>
          </a:p>
          <a:p>
            <a:r>
              <a:rPr lang="en-US" altLang="zh-CN" dirty="0"/>
              <a:t>destination address no longer in the </a:t>
            </a:r>
            <a:r>
              <a:rPr lang="en-US" altLang="zh-CN" dirty="0" err="1"/>
              <a:t>rd</a:t>
            </a:r>
            <a:r>
              <a:rPr lang="en-US" altLang="zh-CN" dirty="0"/>
              <a:t> field - now in the </a:t>
            </a:r>
            <a:r>
              <a:rPr lang="en-US" altLang="zh-CN" dirty="0" err="1"/>
              <a:t>rt</a:t>
            </a:r>
            <a:r>
              <a:rPr lang="en-US" altLang="zh-CN" dirty="0"/>
              <a:t> field</a:t>
            </a:r>
          </a:p>
          <a:p>
            <a:endParaRPr lang="en-US" altLang="zh-CN" dirty="0"/>
          </a:p>
          <a:p>
            <a:r>
              <a:rPr lang="en-US" altLang="zh-CN" dirty="0"/>
              <a:t>offset limited to 16 bits - so can’t get to every location in memory (with a fixed base address)</a:t>
            </a:r>
          </a:p>
        </p:txBody>
      </p:sp>
      <p:sp>
        <p:nvSpPr>
          <p:cNvPr id="357379" name="Rectangle 3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66825" y="727075"/>
            <a:ext cx="4783138" cy="3586163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946141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74763" y="617538"/>
            <a:ext cx="4781550" cy="35861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38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50334" y="4560570"/>
            <a:ext cx="6302587" cy="43205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9028" tIns="49514" rIns="99028" bIns="49514"/>
          <a:lstStyle/>
          <a:p>
            <a:r>
              <a:rPr lang="en-US" altLang="zh-CN" dirty="0" smtClean="0"/>
              <a:t>For</a:t>
            </a:r>
            <a:r>
              <a:rPr lang="en-US" altLang="zh-CN" baseline="0" dirty="0" smtClean="0"/>
              <a:t> class handout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33896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74763" y="617538"/>
            <a:ext cx="4781550" cy="35861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38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50334" y="4560570"/>
            <a:ext cx="6302587" cy="43205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9028" tIns="49514" rIns="99028" bIns="49514"/>
          <a:lstStyle/>
          <a:p>
            <a:r>
              <a:rPr lang="en-US" altLang="zh-CN" dirty="0"/>
              <a:t>For lecture</a:t>
            </a:r>
          </a:p>
          <a:p>
            <a:endParaRPr lang="en-US" altLang="zh-CN" dirty="0"/>
          </a:p>
          <a:p>
            <a:r>
              <a:rPr lang="en-US" altLang="zh-CN" dirty="0"/>
              <a:t>What is the address of the memory location that gets loaded into $t0?</a:t>
            </a:r>
          </a:p>
          <a:p>
            <a:endParaRPr lang="en-US" altLang="zh-CN" dirty="0"/>
          </a:p>
          <a:p>
            <a:r>
              <a:rPr lang="en-US" altLang="zh-CN" dirty="0"/>
              <a:t>…10010100</a:t>
            </a:r>
          </a:p>
          <a:p>
            <a:r>
              <a:rPr lang="en-US" altLang="zh-CN" dirty="0"/>
              <a:t>…00011000</a:t>
            </a:r>
          </a:p>
          <a:p>
            <a:r>
              <a:rPr lang="en-US" altLang="zh-CN" dirty="0"/>
              <a:t>--------------</a:t>
            </a:r>
          </a:p>
          <a:p>
            <a:r>
              <a:rPr lang="en-US" altLang="zh-CN" dirty="0"/>
              <a:t>…10101100= 0x020040ac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In SPIM, the code starts at 0x0040 0000 and the data area at 0x1000 0000 and the stack area at 0x7fff de00</a:t>
            </a:r>
          </a:p>
        </p:txBody>
      </p:sp>
    </p:spTree>
    <p:extLst>
      <p:ext uri="{BB962C8B-B14F-4D97-AF65-F5344CB8AC3E}">
        <p14:creationId xmlns:p14="http://schemas.microsoft.com/office/powerpoint/2010/main" val="15413072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77055" y="4560570"/>
            <a:ext cx="5361093" cy="4320540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7988" tIns="48135" rIns="97988" bIns="48135"/>
          <a:lstStyle/>
          <a:p>
            <a:r>
              <a:rPr lang="en-US" altLang="zh-CN"/>
              <a:t>For class handout</a:t>
            </a:r>
          </a:p>
        </p:txBody>
      </p:sp>
      <p:sp>
        <p:nvSpPr>
          <p:cNvPr id="243715" name="Rectangle 3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66825" y="727075"/>
            <a:ext cx="4783138" cy="3586163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7232930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2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77055" y="4560570"/>
            <a:ext cx="5361093" cy="4320540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7988" tIns="48135" rIns="97988" bIns="48135"/>
          <a:lstStyle/>
          <a:p>
            <a:r>
              <a:rPr lang="en-US" altLang="zh-CN"/>
              <a:t>For lecture</a:t>
            </a:r>
          </a:p>
          <a:p>
            <a:endParaRPr lang="en-US" altLang="zh-CN"/>
          </a:p>
          <a:p>
            <a:r>
              <a:rPr lang="en-US" altLang="zh-CN"/>
              <a:t>why is it 2**13 (2**15) and NOT 2**14 (2**16) like we just saw with memory  (here we have to represent signed numbers so the most significant bit is the sign bit)</a:t>
            </a:r>
          </a:p>
        </p:txBody>
      </p:sp>
      <p:sp>
        <p:nvSpPr>
          <p:cNvPr id="312323" name="Rectangle 3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66825" y="727075"/>
            <a:ext cx="4783138" cy="3586163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86090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5360" y="4558904"/>
            <a:ext cx="5364480" cy="4320540"/>
          </a:xfrm>
          <a:noFill/>
          <a:ln>
            <a:noFill/>
          </a:ln>
        </p:spPr>
        <p:txBody>
          <a:bodyPr lIns="99664" tIns="48957" rIns="99664" bIns="48957"/>
          <a:lstStyle/>
          <a:p>
            <a:r>
              <a:rPr lang="en-US"/>
              <a:t>For lecture</a:t>
            </a:r>
          </a:p>
          <a:p>
            <a:endParaRPr lang="en-US"/>
          </a:p>
          <a:p>
            <a:r>
              <a:rPr lang="en-US"/>
              <a:t>addi and slti does sign extend of immediate operand into the leftmost bits of the destination register (ie., copies the leftmost bit of the 16-bit immediate value into the upper 16 bits)</a:t>
            </a:r>
          </a:p>
          <a:p>
            <a:endParaRPr lang="en-US"/>
          </a:p>
          <a:p>
            <a:r>
              <a:rPr lang="en-US"/>
              <a:t>by contrast, ori and andi loads zero’s into the upper 16 bits and so is usually used (instead of the addi) to build 32 bit constants</a:t>
            </a:r>
          </a:p>
        </p:txBody>
      </p:sp>
      <p:sp>
        <p:nvSpPr>
          <p:cNvPr id="364547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8663"/>
            <a:ext cx="4783138" cy="3586162"/>
          </a:xfrm>
          <a:ln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17514150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5360" y="4558904"/>
            <a:ext cx="5364480" cy="4320540"/>
          </a:xfrm>
          <a:noFill/>
          <a:ln>
            <a:noFill/>
          </a:ln>
        </p:spPr>
        <p:txBody>
          <a:bodyPr lIns="99664" tIns="48957" rIns="99664" bIns="48957"/>
          <a:lstStyle/>
          <a:p>
            <a:r>
              <a:rPr lang="en-US"/>
              <a:t>For lecture</a:t>
            </a:r>
          </a:p>
          <a:p>
            <a:endParaRPr lang="en-US"/>
          </a:p>
          <a:p>
            <a:r>
              <a:rPr lang="en-US"/>
              <a:t>addi and slti does sign extend of immediate operand into the leftmost bits of the destination register (ie., copies the leftmost bit of the 16-bit immediate value into the upper 16 bits)</a:t>
            </a:r>
          </a:p>
          <a:p>
            <a:endParaRPr lang="en-US"/>
          </a:p>
          <a:p>
            <a:r>
              <a:rPr lang="en-US"/>
              <a:t>by contrast, ori and andi loads zero’s into the upper 16 bits and so is usually used (instead of the addi) to build 32 bit constants</a:t>
            </a:r>
          </a:p>
        </p:txBody>
      </p:sp>
      <p:sp>
        <p:nvSpPr>
          <p:cNvPr id="364547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8663"/>
            <a:ext cx="4783138" cy="3586162"/>
          </a:xfrm>
          <a:ln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18252649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74763" y="617538"/>
            <a:ext cx="4781550" cy="35861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59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50334" y="4560570"/>
            <a:ext cx="6302587" cy="43205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9028" tIns="49514" rIns="99028" bIns="49514"/>
          <a:lstStyle/>
          <a:p>
            <a:r>
              <a:rPr lang="en-US" altLang="zh-CN"/>
              <a:t>For class handout</a:t>
            </a:r>
          </a:p>
        </p:txBody>
      </p:sp>
    </p:spTree>
    <p:extLst>
      <p:ext uri="{BB962C8B-B14F-4D97-AF65-F5344CB8AC3E}">
        <p14:creationId xmlns:p14="http://schemas.microsoft.com/office/powerpoint/2010/main" val="482006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74763" y="617538"/>
            <a:ext cx="4781550" cy="35861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14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50334" y="4560570"/>
            <a:ext cx="6302587" cy="43205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9028" tIns="49514" rIns="99028" bIns="49514"/>
          <a:lstStyle/>
          <a:p>
            <a:r>
              <a:rPr lang="en-US" altLang="zh-CN"/>
              <a:t>For lecture</a:t>
            </a:r>
          </a:p>
          <a:p>
            <a:endParaRPr lang="en-US" altLang="zh-CN"/>
          </a:p>
          <a:p>
            <a:r>
              <a:rPr lang="en-US" altLang="zh-CN"/>
              <a:t>lw	35	19	8		8</a:t>
            </a:r>
          </a:p>
          <a:p>
            <a:r>
              <a:rPr lang="en-US" altLang="zh-CN"/>
              <a:t>sub	0	8	18	8	0	34</a:t>
            </a:r>
          </a:p>
          <a:p>
            <a:r>
              <a:rPr lang="en-US" altLang="zh-CN"/>
              <a:t>sw	43	19	8		32</a:t>
            </a:r>
          </a:p>
        </p:txBody>
      </p:sp>
    </p:spTree>
    <p:extLst>
      <p:ext uri="{BB962C8B-B14F-4D97-AF65-F5344CB8AC3E}">
        <p14:creationId xmlns:p14="http://schemas.microsoft.com/office/powerpoint/2010/main" val="10051950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74763" y="617538"/>
            <a:ext cx="4781550" cy="35861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49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50334" y="4560570"/>
            <a:ext cx="6302587" cy="432054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9028" tIns="49514" rIns="99028" bIns="49514"/>
          <a:lstStyle/>
          <a:p>
            <a:r>
              <a:rPr lang="en-US" altLang="zh-CN"/>
              <a:t>similarity of the binary representation of related instructions simplifies the hardware design</a:t>
            </a:r>
          </a:p>
        </p:txBody>
      </p:sp>
    </p:spTree>
    <p:extLst>
      <p:ext uri="{BB962C8B-B14F-4D97-AF65-F5344CB8AC3E}">
        <p14:creationId xmlns:p14="http://schemas.microsoft.com/office/powerpoint/2010/main" val="11948439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1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50334" y="4560570"/>
            <a:ext cx="6304279" cy="4320540"/>
          </a:xfrm>
          <a:ln>
            <a:noFill/>
          </a:ln>
        </p:spPr>
        <p:txBody>
          <a:bodyPr lIns="95639" tIns="46981" rIns="95639" bIns="46981"/>
          <a:lstStyle/>
          <a:p>
            <a:endParaRPr lang="en-US" dirty="0"/>
          </a:p>
        </p:txBody>
      </p:sp>
      <p:sp>
        <p:nvSpPr>
          <p:cNvPr id="518147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6350" y="617538"/>
            <a:ext cx="4781550" cy="3586162"/>
          </a:xfrm>
          <a:ln/>
        </p:spPr>
      </p:sp>
    </p:spTree>
    <p:extLst>
      <p:ext uri="{BB962C8B-B14F-4D97-AF65-F5344CB8AC3E}">
        <p14:creationId xmlns:p14="http://schemas.microsoft.com/office/powerpoint/2010/main" val="18412068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90625" y="703263"/>
            <a:ext cx="4630738" cy="347345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334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43019" y="4930644"/>
            <a:ext cx="4751493" cy="492256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wrap="none" lIns="19884" tIns="28171" rIns="19884" bIns="28171"/>
          <a:lstStyle/>
          <a:p>
            <a:pPr>
              <a:lnSpc>
                <a:spcPts val="1834"/>
              </a:lnSpc>
              <a:spcBef>
                <a:spcPct val="0"/>
              </a:spcBef>
              <a:buClr>
                <a:srgbClr val="000000"/>
              </a:buClr>
              <a:tabLst>
                <a:tab pos="465859" algn="l"/>
                <a:tab pos="931717" algn="l"/>
                <a:tab pos="1397576" algn="l"/>
              </a:tabLst>
            </a:pPr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92899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90625" y="703263"/>
            <a:ext cx="4630738" cy="347345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334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43019" y="4930644"/>
            <a:ext cx="4751493" cy="492256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wrap="none" lIns="19884" tIns="28171" rIns="19884" bIns="28171"/>
          <a:lstStyle/>
          <a:p>
            <a:pPr>
              <a:lnSpc>
                <a:spcPts val="1834"/>
              </a:lnSpc>
              <a:spcBef>
                <a:spcPct val="0"/>
              </a:spcBef>
              <a:buClr>
                <a:srgbClr val="000000"/>
              </a:buClr>
              <a:tabLst>
                <a:tab pos="465859" algn="l"/>
                <a:tab pos="931717" algn="l"/>
                <a:tab pos="1397576" algn="l"/>
              </a:tabLst>
            </a:pPr>
            <a:endParaRPr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55533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36345" y="4415790"/>
            <a:ext cx="5137714" cy="4183380"/>
          </a:xfrm>
          <a:prstGeom prst="rect">
            <a:avLst/>
          </a:prstGeom>
          <a:noFill/>
          <a:ln w="12700">
            <a:miter lim="800000"/>
            <a:headEnd/>
            <a:tailEnd/>
          </a:ln>
        </p:spPr>
        <p:txBody>
          <a:bodyPr lIns="94451" tIns="46397" rIns="94451" bIns="46397"/>
          <a:lstStyle/>
          <a:p>
            <a:endParaRPr lang="en-US" altLang="zh-CN" dirty="0"/>
          </a:p>
        </p:txBody>
      </p:sp>
      <p:sp>
        <p:nvSpPr>
          <p:cNvPr id="243715" name="Rectangle 3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90625" y="703263"/>
            <a:ext cx="4630738" cy="347345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4402169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For class handout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679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For lecture</a:t>
            </a:r>
          </a:p>
          <a:p>
            <a:r>
              <a:rPr lang="en-US" dirty="0" smtClean="0"/>
              <a:t>The add </a:t>
            </a:r>
            <a:r>
              <a:rPr lang="en-US" b="1" dirty="0" smtClean="0"/>
              <a:t>moves</a:t>
            </a:r>
            <a:r>
              <a:rPr lang="en-US" dirty="0" smtClean="0"/>
              <a:t> $s3</a:t>
            </a:r>
            <a:r>
              <a:rPr lang="en-US" baseline="0" dirty="0" smtClean="0"/>
              <a:t> contents into $t0</a:t>
            </a:r>
          </a:p>
          <a:p>
            <a:endParaRPr lang="en-US" baseline="0" dirty="0" smtClean="0"/>
          </a:p>
          <a:p>
            <a:r>
              <a:rPr lang="en-US" baseline="0" dirty="0" smtClean="0"/>
              <a:t>-16 = 0…010000 = 1…10 1111+1 = 1…11 0000</a:t>
            </a:r>
          </a:p>
          <a:p>
            <a:endParaRPr lang="en-US" baseline="0" dirty="0" smtClean="0"/>
          </a:p>
          <a:p>
            <a:r>
              <a:rPr lang="en-US" baseline="0" dirty="0" smtClean="0"/>
              <a:t>257 = 0…01 0000 0001</a:t>
            </a:r>
          </a:p>
          <a:p>
            <a:r>
              <a:rPr lang="en-US" baseline="0" dirty="0" smtClean="0"/>
              <a:t>Point out that this is the way to specify an </a:t>
            </a:r>
            <a:r>
              <a:rPr lang="en-US" b="1" baseline="0" dirty="0" smtClean="0"/>
              <a:t>absolute</a:t>
            </a:r>
            <a:r>
              <a:rPr lang="en-US" baseline="0" dirty="0" smtClean="0"/>
              <a:t> address in the MIPS ISA – i.e., by using register 0 as the base register.  Also mention that 0($s3) means no displacement off of the base register.</a:t>
            </a:r>
          </a:p>
          <a:p>
            <a:endParaRPr lang="en-US" baseline="0" dirty="0" smtClean="0"/>
          </a:p>
          <a:p>
            <a:r>
              <a:rPr lang="en-US" baseline="0" dirty="0" smtClean="0"/>
              <a:t>-24 = 0…011000 = 1…1100111+1 = 1… 1110 1000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621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01738" y="600075"/>
            <a:ext cx="4625975" cy="3470275"/>
          </a:xfrm>
        </p:spPr>
      </p:sp>
      <p:sp>
        <p:nvSpPr>
          <p:cNvPr id="436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7910" y="4414562"/>
            <a:ext cx="6041297" cy="4183995"/>
          </a:xfrm>
          <a:ln/>
        </p:spPr>
        <p:txBody>
          <a:bodyPr/>
          <a:lstStyle/>
          <a:p>
            <a:r>
              <a:rPr lang="en-US" dirty="0"/>
              <a:t>also have </a:t>
            </a:r>
            <a:r>
              <a:rPr lang="en-US" dirty="0" err="1"/>
              <a:t>sllv</a:t>
            </a:r>
            <a:r>
              <a:rPr lang="en-US" dirty="0"/>
              <a:t>, </a:t>
            </a:r>
            <a:r>
              <a:rPr lang="en-US" dirty="0" err="1"/>
              <a:t>srlv</a:t>
            </a:r>
            <a:r>
              <a:rPr lang="en-US" dirty="0"/>
              <a:t>, and </a:t>
            </a:r>
            <a:r>
              <a:rPr lang="en-US" dirty="0" err="1"/>
              <a:t>srav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6123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01738" y="600075"/>
            <a:ext cx="4625975" cy="3470275"/>
          </a:xfrm>
        </p:spPr>
      </p:sp>
      <p:sp>
        <p:nvSpPr>
          <p:cNvPr id="438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7910" y="4414561"/>
            <a:ext cx="6041297" cy="4183995"/>
          </a:xfrm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0377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For class handout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5378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For lecture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749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01738" y="600075"/>
            <a:ext cx="4625975" cy="3470275"/>
          </a:xfrm>
        </p:spPr>
      </p:sp>
      <p:sp>
        <p:nvSpPr>
          <p:cNvPr id="444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7910" y="4414561"/>
            <a:ext cx="6041297" cy="4183995"/>
          </a:xfrm>
          <a:ln/>
        </p:spPr>
        <p:txBody>
          <a:bodyPr/>
          <a:lstStyle/>
          <a:p>
            <a:r>
              <a:rPr lang="en-US"/>
              <a:t>For class handout</a:t>
            </a:r>
          </a:p>
        </p:txBody>
      </p:sp>
    </p:spTree>
    <p:extLst>
      <p:ext uri="{BB962C8B-B14F-4D97-AF65-F5344CB8AC3E}">
        <p14:creationId xmlns:p14="http://schemas.microsoft.com/office/powerpoint/2010/main" val="26718203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01738" y="600075"/>
            <a:ext cx="4625975" cy="3470275"/>
          </a:xfrm>
        </p:spPr>
      </p:sp>
      <p:sp>
        <p:nvSpPr>
          <p:cNvPr id="446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7910" y="4414561"/>
            <a:ext cx="6041297" cy="4183995"/>
          </a:xfrm>
          <a:ln/>
        </p:spPr>
        <p:txBody>
          <a:bodyPr/>
          <a:lstStyle/>
          <a:p>
            <a:r>
              <a:rPr lang="en-US"/>
              <a:t>For lecture</a:t>
            </a:r>
          </a:p>
        </p:txBody>
      </p:sp>
    </p:spTree>
    <p:extLst>
      <p:ext uri="{BB962C8B-B14F-4D97-AF65-F5344CB8AC3E}">
        <p14:creationId xmlns:p14="http://schemas.microsoft.com/office/powerpoint/2010/main" val="3834667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Java:</a:t>
            </a:r>
            <a:r>
              <a:rPr lang="en-US" baseline="0" dirty="0" smtClean="0"/>
              <a:t> &lt;&lt;  </a:t>
            </a:r>
            <a:r>
              <a:rPr lang="en-US" baseline="0" dirty="0" err="1" smtClean="0"/>
              <a:t>Sll</a:t>
            </a:r>
            <a:r>
              <a:rPr lang="en-US" baseline="0" dirty="0" smtClean="0"/>
              <a:t> and also in c</a:t>
            </a:r>
          </a:p>
          <a:p>
            <a:r>
              <a:rPr lang="en-US" baseline="0" dirty="0" smtClean="0"/>
              <a:t>Java: &gt;&gt;&gt; </a:t>
            </a:r>
            <a:r>
              <a:rPr lang="en-US" baseline="0" dirty="0" err="1" smtClean="0"/>
              <a:t>Srl</a:t>
            </a:r>
            <a:r>
              <a:rPr lang="en-US" baseline="0" dirty="0" smtClean="0"/>
              <a:t> but &gt;&gt; in c</a:t>
            </a:r>
          </a:p>
          <a:p>
            <a:r>
              <a:rPr lang="en-US" baseline="0" dirty="0" err="1" smtClean="0"/>
              <a:t>Sllv</a:t>
            </a:r>
            <a:r>
              <a:rPr lang="en-US" baseline="0" dirty="0" smtClean="0"/>
              <a:t>: shift left logical variable : </a:t>
            </a:r>
            <a:r>
              <a:rPr lang="en-US" baseline="0" dirty="0" err="1" smtClean="0"/>
              <a:t>sllv</a:t>
            </a:r>
            <a:r>
              <a:rPr lang="en-US" baseline="0" dirty="0" smtClean="0"/>
              <a:t> $</a:t>
            </a:r>
            <a:r>
              <a:rPr lang="en-US" baseline="0" dirty="0" err="1" smtClean="0"/>
              <a:t>rd</a:t>
            </a:r>
            <a:r>
              <a:rPr lang="en-US" baseline="0" dirty="0" smtClean="0"/>
              <a:t>, $</a:t>
            </a:r>
            <a:r>
              <a:rPr lang="en-US" baseline="0" dirty="0" err="1" smtClean="0"/>
              <a:t>rt</a:t>
            </a:r>
            <a:r>
              <a:rPr lang="en-US" baseline="0" dirty="0" smtClean="0"/>
              <a:t>, $</a:t>
            </a:r>
            <a:r>
              <a:rPr lang="en-US" baseline="0" dirty="0" err="1" smtClean="0"/>
              <a:t>rs</a:t>
            </a:r>
            <a:r>
              <a:rPr lang="en-US" baseline="0" dirty="0" smtClean="0"/>
              <a:t> – do left shift of $</a:t>
            </a:r>
            <a:r>
              <a:rPr lang="en-US" baseline="0" dirty="0" err="1" smtClean="0"/>
              <a:t>rt</a:t>
            </a:r>
            <a:r>
              <a:rPr lang="en-US" baseline="0" dirty="0" smtClean="0"/>
              <a:t> indicted by the amount in the $</a:t>
            </a:r>
            <a:r>
              <a:rPr lang="en-US" baseline="0" dirty="0" err="1" smtClean="0"/>
              <a:t>rs</a:t>
            </a:r>
            <a:r>
              <a:rPr lang="en-US" baseline="0" dirty="0" smtClean="0"/>
              <a:t> field sand store in $</a:t>
            </a:r>
            <a:r>
              <a:rPr lang="en-US" baseline="0" dirty="0" err="1" smtClean="0"/>
              <a:t>rd</a:t>
            </a:r>
            <a:endParaRPr lang="en-US" baseline="0" dirty="0" smtClean="0"/>
          </a:p>
          <a:p>
            <a:r>
              <a:rPr lang="en-US" baseline="0" dirty="0" smtClean="0"/>
              <a:t>Similarly, </a:t>
            </a:r>
            <a:r>
              <a:rPr lang="en-US" baseline="0" dirty="0" err="1" smtClean="0"/>
              <a:t>srlv</a:t>
            </a:r>
            <a:r>
              <a:rPr lang="en-US" baseline="0" dirty="0" smtClean="0"/>
              <a:t> and </a:t>
            </a:r>
            <a:r>
              <a:rPr lang="en-US" baseline="0" dirty="0" err="1" smtClean="0"/>
              <a:t>srav</a:t>
            </a:r>
            <a:r>
              <a:rPr lang="en-US" baseline="0" dirty="0" smtClean="0"/>
              <a:t> instructions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lIns="93177" tIns="46589" rIns="93177" bIns="46589"/>
          <a:lstStyle/>
          <a:p>
            <a:fld id="{5D3807BE-6FC9-4117-992C-130B894F55C1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23016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For class handout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6681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For lecture</a:t>
            </a:r>
          </a:p>
          <a:p>
            <a:endParaRPr lang="en-US" dirty="0" smtClean="0"/>
          </a:p>
          <a:p>
            <a:pPr defTabSz="914350">
              <a:defRPr/>
            </a:pPr>
            <a:r>
              <a:rPr lang="en-US" dirty="0" smtClean="0"/>
              <a:t>Question 2.6 (from edition 3) – can do in two instructions</a:t>
            </a:r>
          </a:p>
          <a:p>
            <a:endParaRPr lang="en-US" dirty="0" smtClean="0"/>
          </a:p>
          <a:p>
            <a:r>
              <a:rPr lang="en-US" dirty="0" smtClean="0"/>
              <a:t>First instinc</a:t>
            </a:r>
            <a:r>
              <a:rPr lang="en-US" baseline="0" dirty="0" smtClean="0"/>
              <a:t>t is to try to mask out all of the bits except bits 5 through 22 in $s3 and then do a shift right logical.  But the masking can’t be done with </a:t>
            </a:r>
            <a:r>
              <a:rPr lang="en-US" baseline="0" dirty="0" err="1" smtClean="0"/>
              <a:t>andi</a:t>
            </a:r>
            <a:r>
              <a:rPr lang="en-US" baseline="0" dirty="0" smtClean="0"/>
              <a:t>.</a:t>
            </a:r>
          </a:p>
          <a:p>
            <a:endParaRPr lang="en-US" baseline="0" dirty="0" smtClean="0"/>
          </a:p>
          <a:p>
            <a:r>
              <a:rPr lang="en-US" baseline="0" dirty="0" smtClean="0"/>
              <a:t>Could do a right shift first, then a left (to clear out all of the not wanted bits), but will then need to do a last right shift to be the bits in the low order end of $t0</a:t>
            </a:r>
          </a:p>
        </p:txBody>
      </p:sp>
    </p:spTree>
    <p:extLst>
      <p:ext uri="{BB962C8B-B14F-4D97-AF65-F5344CB8AC3E}">
        <p14:creationId xmlns:p14="http://schemas.microsoft.com/office/powerpoint/2010/main" val="9410374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98563" y="598488"/>
            <a:ext cx="4629150" cy="347186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85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7910" y="4416099"/>
            <a:ext cx="6041297" cy="4180921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4734" tIns="47367" rIns="94734" bIns="47367"/>
          <a:lstStyle/>
          <a:p>
            <a:r>
              <a:rPr lang="en-US" dirty="0" smtClean="0"/>
              <a:t>Op code give in hex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58528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6350" y="617538"/>
            <a:ext cx="4781550" cy="3586162"/>
          </a:xfrm>
        </p:spPr>
      </p:sp>
      <p:sp>
        <p:nvSpPr>
          <p:cNvPr id="411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0863" y="4560888"/>
            <a:ext cx="6303962" cy="4319587"/>
          </a:xfrm>
          <a:ln/>
        </p:spPr>
        <p:txBody>
          <a:bodyPr/>
          <a:lstStyle/>
          <a:p>
            <a:r>
              <a:rPr lang="en-US" altLang="zh-CN"/>
              <a:t>For class handout</a:t>
            </a:r>
          </a:p>
        </p:txBody>
      </p:sp>
    </p:spTree>
    <p:extLst>
      <p:ext uri="{BB962C8B-B14F-4D97-AF65-F5344CB8AC3E}">
        <p14:creationId xmlns:p14="http://schemas.microsoft.com/office/powerpoint/2010/main" val="153789015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6350" y="617538"/>
            <a:ext cx="4781550" cy="3586162"/>
          </a:xfrm>
        </p:spPr>
      </p:sp>
      <p:sp>
        <p:nvSpPr>
          <p:cNvPr id="413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0863" y="4560888"/>
            <a:ext cx="6303962" cy="4319587"/>
          </a:xfrm>
          <a:ln/>
        </p:spPr>
        <p:txBody>
          <a:bodyPr/>
          <a:lstStyle/>
          <a:p>
            <a:r>
              <a:rPr lang="en-US" altLang="zh-CN"/>
              <a:t>Class lecture</a:t>
            </a:r>
          </a:p>
          <a:p>
            <a:endParaRPr lang="en-US" altLang="zh-CN"/>
          </a:p>
          <a:p>
            <a:r>
              <a:rPr lang="en-US" altLang="zh-CN"/>
              <a:t>Go back and see why the number of word locations in memory is 2**30</a:t>
            </a:r>
          </a:p>
          <a:p>
            <a:endParaRPr lang="en-US" altLang="zh-CN"/>
          </a:p>
          <a:p>
            <a:r>
              <a:rPr lang="en-US" altLang="zh-CN"/>
              <a:t>What are the two least significant bits of a word address (always both 0)?</a:t>
            </a:r>
          </a:p>
        </p:txBody>
      </p:sp>
    </p:spTree>
    <p:extLst>
      <p:ext uri="{BB962C8B-B14F-4D97-AF65-F5344CB8AC3E}">
        <p14:creationId xmlns:p14="http://schemas.microsoft.com/office/powerpoint/2010/main" val="113255900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6350" y="617538"/>
            <a:ext cx="4781550" cy="3586162"/>
          </a:xfrm>
        </p:spPr>
      </p:sp>
      <p:sp>
        <p:nvSpPr>
          <p:cNvPr id="65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0334" y="4560570"/>
            <a:ext cx="6304279" cy="4320540"/>
          </a:xfrm>
          <a:ln/>
        </p:spPr>
        <p:txBody>
          <a:bodyPr lIns="96626" tIns="48315" rIns="96626" bIns="48315"/>
          <a:lstStyle/>
          <a:p>
            <a:pPr lvl="0"/>
            <a:r>
              <a:rPr lang="en-US" dirty="0"/>
              <a:t>load byte takes the contents of the byte at the memory address specified, zero-extends it, and loads it into the </a:t>
            </a:r>
            <a:r>
              <a:rPr lang="en-US" dirty="0" smtClean="0"/>
              <a:t>register – so its really a </a:t>
            </a:r>
            <a:r>
              <a:rPr lang="en-US" dirty="0" err="1" smtClean="0"/>
              <a:t>lbu</a:t>
            </a:r>
            <a:r>
              <a:rPr lang="en-US" dirty="0" smtClean="0"/>
              <a:t> (load</a:t>
            </a:r>
            <a:r>
              <a:rPr lang="en-US" baseline="0" dirty="0" smtClean="0"/>
              <a:t> byte unsigned !)</a:t>
            </a:r>
            <a:endParaRPr lang="en-US" dirty="0"/>
          </a:p>
          <a:p>
            <a:pPr lvl="1"/>
            <a:endParaRPr lang="en-US" dirty="0">
              <a:latin typeface="Arial" charset="0"/>
            </a:endParaRPr>
          </a:p>
          <a:p>
            <a:pPr lvl="0"/>
            <a:r>
              <a:rPr lang="en-US" dirty="0" smtClean="0"/>
              <a:t>Store byte </a:t>
            </a:r>
            <a:r>
              <a:rPr lang="en-US" dirty="0"/>
              <a:t>leaves the other bits in the memory word intact.</a:t>
            </a:r>
          </a:p>
        </p:txBody>
      </p:sp>
    </p:spTree>
    <p:extLst>
      <p:ext uri="{BB962C8B-B14F-4D97-AF65-F5344CB8AC3E}">
        <p14:creationId xmlns:p14="http://schemas.microsoft.com/office/powerpoint/2010/main" val="200397591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6350" y="617538"/>
            <a:ext cx="4781550" cy="3586162"/>
          </a:xfrm>
        </p:spPr>
      </p:sp>
      <p:sp>
        <p:nvSpPr>
          <p:cNvPr id="417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0863" y="4560888"/>
            <a:ext cx="6303962" cy="4319587"/>
          </a:xfrm>
          <a:ln/>
        </p:spPr>
        <p:txBody>
          <a:bodyPr lIns="96642" tIns="48321" rIns="96642" bIns="48321"/>
          <a:lstStyle/>
          <a:p>
            <a:r>
              <a:rPr lang="en-US" altLang="zh-CN"/>
              <a:t>For class handout</a:t>
            </a:r>
          </a:p>
        </p:txBody>
      </p:sp>
    </p:spTree>
    <p:extLst>
      <p:ext uri="{BB962C8B-B14F-4D97-AF65-F5344CB8AC3E}">
        <p14:creationId xmlns:p14="http://schemas.microsoft.com/office/powerpoint/2010/main" val="47188791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6350" y="617538"/>
            <a:ext cx="4781550" cy="3586162"/>
          </a:xfrm>
        </p:spPr>
      </p:sp>
      <p:sp>
        <p:nvSpPr>
          <p:cNvPr id="432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0863" y="4560888"/>
            <a:ext cx="6303962" cy="4319587"/>
          </a:xfrm>
          <a:ln/>
        </p:spPr>
        <p:txBody>
          <a:bodyPr lIns="96642" tIns="48321" rIns="96642" bIns="48321"/>
          <a:lstStyle/>
          <a:p>
            <a:r>
              <a:rPr lang="en-US" altLang="zh-CN" dirty="0"/>
              <a:t>For lecture</a:t>
            </a:r>
          </a:p>
          <a:p>
            <a:endParaRPr lang="en-US" altLang="zh-CN" dirty="0"/>
          </a:p>
          <a:p>
            <a:r>
              <a:rPr lang="en-US" altLang="zh-CN" dirty="0"/>
              <a:t>Big </a:t>
            </a:r>
            <a:r>
              <a:rPr lang="en-US" altLang="zh-CN" dirty="0" err="1"/>
              <a:t>Endian</a:t>
            </a:r>
            <a:r>
              <a:rPr lang="en-US" altLang="zh-CN" dirty="0"/>
              <a:t>			</a:t>
            </a:r>
            <a:r>
              <a:rPr lang="en-US" altLang="zh-CN" dirty="0" smtClean="0"/>
              <a:t>Little </a:t>
            </a:r>
            <a:r>
              <a:rPr lang="en-US" altLang="zh-CN" dirty="0" err="1"/>
              <a:t>Endian</a:t>
            </a:r>
            <a:endParaRPr lang="en-US" altLang="zh-CN" dirty="0"/>
          </a:p>
          <a:p>
            <a:r>
              <a:rPr lang="en-US" altLang="zh-CN" dirty="0"/>
              <a:t>0 1 2 3			</a:t>
            </a:r>
            <a:r>
              <a:rPr lang="en-US" altLang="zh-CN" dirty="0" smtClean="0"/>
              <a:t>3 </a:t>
            </a:r>
            <a:r>
              <a:rPr lang="en-US" altLang="zh-CN" dirty="0"/>
              <a:t>2 1 0</a:t>
            </a:r>
          </a:p>
          <a:p>
            <a:r>
              <a:rPr lang="en-US" altLang="zh-CN" dirty="0"/>
              <a:t>$t0 gets 90			</a:t>
            </a:r>
            <a:r>
              <a:rPr lang="en-US" altLang="zh-CN" dirty="0" smtClean="0"/>
              <a:t>$</a:t>
            </a:r>
            <a:r>
              <a:rPr lang="en-US" altLang="zh-CN" dirty="0"/>
              <a:t>t0 gets 12</a:t>
            </a:r>
          </a:p>
          <a:p>
            <a:r>
              <a:rPr lang="en-US" altLang="zh-CN" dirty="0"/>
              <a:t>word 4 gets FFFF90FF		</a:t>
            </a:r>
            <a:r>
              <a:rPr lang="en-US" altLang="zh-CN" dirty="0" smtClean="0"/>
              <a:t>word </a:t>
            </a:r>
            <a:r>
              <a:rPr lang="en-US" altLang="zh-CN" dirty="0"/>
              <a:t>4 gets FF12FFFF</a:t>
            </a:r>
          </a:p>
        </p:txBody>
      </p:sp>
    </p:spTree>
    <p:extLst>
      <p:ext uri="{BB962C8B-B14F-4D97-AF65-F5344CB8AC3E}">
        <p14:creationId xmlns:p14="http://schemas.microsoft.com/office/powerpoint/2010/main" val="70333281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6350" y="617538"/>
            <a:ext cx="4781550" cy="3586162"/>
          </a:xfrm>
        </p:spPr>
      </p:sp>
      <p:sp>
        <p:nvSpPr>
          <p:cNvPr id="463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0863" y="4560888"/>
            <a:ext cx="6303962" cy="4319587"/>
          </a:xfrm>
          <a:ln/>
        </p:spPr>
        <p:txBody>
          <a:bodyPr lIns="96634" tIns="48318" rIns="96634" bIns="48318"/>
          <a:lstStyle/>
          <a:p>
            <a:pPr lvl="1"/>
            <a:r>
              <a:rPr lang="en-US" altLang="zh-CN" sz="1100">
                <a:latin typeface="Arial" charset="0"/>
              </a:rPr>
              <a:t>load byte takes the contents of the byte at the memory address specified, zero-extends it, and loads it into the register</a:t>
            </a:r>
          </a:p>
          <a:p>
            <a:pPr lvl="1"/>
            <a:endParaRPr lang="en-US" altLang="zh-CN" sz="1100">
              <a:latin typeface="Arial" charset="0"/>
            </a:endParaRPr>
          </a:p>
          <a:p>
            <a:pPr lvl="1"/>
            <a:r>
              <a:rPr lang="en-US" altLang="zh-CN" sz="1100">
                <a:latin typeface="Arial" charset="0"/>
              </a:rPr>
              <a:t>What constitutes a “legal” half word – clearly bytes 0&amp;1 and bytes 2&amp;3, but how about 1&amp;2 (i.e., the two bytes from the middle of the word)?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225666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6350" y="617538"/>
            <a:ext cx="4781550" cy="3586162"/>
          </a:xfrm>
        </p:spPr>
      </p:sp>
      <p:sp>
        <p:nvSpPr>
          <p:cNvPr id="413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0863" y="4560888"/>
            <a:ext cx="6303962" cy="4319587"/>
          </a:xfrm>
          <a:ln/>
        </p:spPr>
        <p:txBody>
          <a:bodyPr/>
          <a:lstStyle/>
          <a:p>
            <a:r>
              <a:rPr lang="en-US" altLang="zh-CN" dirty="0" smtClean="0"/>
              <a:t>What is the least </a:t>
            </a:r>
            <a:r>
              <a:rPr lang="en-US" altLang="zh-CN" dirty="0"/>
              <a:t>significant </a:t>
            </a:r>
            <a:r>
              <a:rPr lang="en-US" altLang="zh-CN" dirty="0" smtClean="0"/>
              <a:t>bit </a:t>
            </a:r>
            <a:r>
              <a:rPr lang="en-US" altLang="zh-CN" dirty="0"/>
              <a:t>of a </a:t>
            </a:r>
            <a:r>
              <a:rPr lang="en-US" altLang="zh-CN" dirty="0" smtClean="0"/>
              <a:t>half word address </a:t>
            </a:r>
            <a:r>
              <a:rPr lang="en-US" altLang="zh-CN" dirty="0"/>
              <a:t>(always </a:t>
            </a:r>
            <a:r>
              <a:rPr lang="en-US" altLang="zh-CN" dirty="0" smtClean="0"/>
              <a:t>0</a:t>
            </a:r>
            <a:r>
              <a:rPr lang="en-US" altLang="zh-CN" dirty="0"/>
              <a:t>)?</a:t>
            </a:r>
          </a:p>
        </p:txBody>
      </p:sp>
    </p:spTree>
    <p:extLst>
      <p:ext uri="{BB962C8B-B14F-4D97-AF65-F5344CB8AC3E}">
        <p14:creationId xmlns:p14="http://schemas.microsoft.com/office/powerpoint/2010/main" val="100618346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8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7055" y="4558904"/>
            <a:ext cx="5361093" cy="4320540"/>
          </a:xfrm>
          <a:noFill/>
          <a:ln>
            <a:noFill/>
          </a:ln>
        </p:spPr>
        <p:txBody>
          <a:bodyPr lIns="97256" tIns="47775" rIns="97256" bIns="47775"/>
          <a:lstStyle/>
          <a:p>
            <a:r>
              <a:rPr lang="en-US"/>
              <a:t>in gcc 52% of arithmetic operations involve constants – in spice its 69%</a:t>
            </a:r>
          </a:p>
          <a:p>
            <a:r>
              <a:rPr lang="en-US"/>
              <a:t>have the students answer why not – speed and limited number of registers</a:t>
            </a:r>
          </a:p>
          <a:p>
            <a:endParaRPr lang="en-US"/>
          </a:p>
          <a:p>
            <a:r>
              <a:rPr lang="en-US"/>
              <a:t>much faster than if loaded from memory</a:t>
            </a:r>
          </a:p>
          <a:p>
            <a:r>
              <a:rPr lang="en-US"/>
              <a:t>addi and slti do sign extend of immediate operand into the leftmost bits of the destination register (ie., copies the leftmost bit of the 16-bit immediate value into the upper 16 bits)</a:t>
            </a:r>
          </a:p>
          <a:p>
            <a:r>
              <a:rPr lang="en-US"/>
              <a:t>by contrast, ori and andi loads zero’s into the upper 16 bits and so is usually used (instead of the addi) to build 32 bit constants</a:t>
            </a:r>
          </a:p>
        </p:txBody>
      </p:sp>
      <p:sp>
        <p:nvSpPr>
          <p:cNvPr id="76288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0000" y="728663"/>
            <a:ext cx="4778375" cy="3584575"/>
          </a:xfrm>
          <a:ln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97136467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>
            <a:noFill/>
          </a:ln>
        </p:spPr>
        <p:txBody>
          <a:bodyPr lIns="95655" tIns="46988" rIns="95655" bIns="46988"/>
          <a:lstStyle/>
          <a:p>
            <a:r>
              <a:rPr lang="en-US"/>
              <a:t>For class handout</a:t>
            </a:r>
          </a:p>
        </p:txBody>
      </p:sp>
      <p:sp>
        <p:nvSpPr>
          <p:cNvPr id="458755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206468380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>
            <a:noFill/>
          </a:ln>
        </p:spPr>
        <p:txBody>
          <a:bodyPr lIns="95655" tIns="46988" rIns="95655" bIns="46988"/>
          <a:lstStyle/>
          <a:p>
            <a:r>
              <a:rPr lang="en-US" dirty="0"/>
              <a:t>For lecture</a:t>
            </a:r>
          </a:p>
          <a:p>
            <a:endParaRPr lang="en-US" dirty="0"/>
          </a:p>
          <a:p>
            <a:r>
              <a:rPr lang="en-US" dirty="0"/>
              <a:t>sets the upper 16 bits of a constant in a register, allowing the next instruction to specify the lower 16 bits of the constant</a:t>
            </a:r>
          </a:p>
          <a:p>
            <a:endParaRPr lang="en-US" dirty="0"/>
          </a:p>
          <a:p>
            <a:r>
              <a:rPr lang="en-US" dirty="0"/>
              <a:t>note that </a:t>
            </a:r>
            <a:r>
              <a:rPr lang="en-US" dirty="0" err="1"/>
              <a:t>lui</a:t>
            </a:r>
            <a:r>
              <a:rPr lang="en-US" dirty="0"/>
              <a:t> fills the lower 16 bits of the register with zero’s</a:t>
            </a:r>
          </a:p>
          <a:p>
            <a:endParaRPr lang="en-US" dirty="0"/>
          </a:p>
          <a:p>
            <a:r>
              <a:rPr lang="en-US" dirty="0"/>
              <a:t>why can’t </a:t>
            </a:r>
            <a:r>
              <a:rPr lang="en-US" dirty="0" err="1"/>
              <a:t>addi</a:t>
            </a:r>
            <a:r>
              <a:rPr lang="en-US" dirty="0"/>
              <a:t> be used as the second instruction for this 32 bit constant?</a:t>
            </a:r>
          </a:p>
          <a:p>
            <a:endParaRPr lang="en-US" dirty="0"/>
          </a:p>
          <a:p>
            <a:r>
              <a:rPr lang="en-US" dirty="0"/>
              <a:t>also note – the assembler lets me specify constants larger than 16 bits in one instruction and then expands the code into two instructions (</a:t>
            </a:r>
            <a:r>
              <a:rPr lang="en-US" dirty="0" err="1"/>
              <a:t>lui</a:t>
            </a:r>
            <a:r>
              <a:rPr lang="en-US" dirty="0"/>
              <a:t> and </a:t>
            </a:r>
            <a:r>
              <a:rPr lang="en-US" dirty="0" err="1"/>
              <a:t>ori</a:t>
            </a:r>
            <a:r>
              <a:rPr lang="en-US" dirty="0"/>
              <a:t>) automatically</a:t>
            </a:r>
          </a:p>
        </p:txBody>
      </p:sp>
      <p:sp>
        <p:nvSpPr>
          <p:cNvPr id="46080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170333801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7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36345" y="4415790"/>
            <a:ext cx="5137714" cy="4181767"/>
          </a:xfrm>
          <a:ln>
            <a:noFill/>
          </a:ln>
        </p:spPr>
        <p:txBody>
          <a:bodyPr lIns="93736" tIns="46044" rIns="93736" bIns="46044"/>
          <a:lstStyle/>
          <a:p>
            <a:endParaRPr lang="en-US"/>
          </a:p>
        </p:txBody>
      </p:sp>
      <p:sp>
        <p:nvSpPr>
          <p:cNvPr id="671747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3800" y="704850"/>
            <a:ext cx="4624388" cy="3470275"/>
          </a:xfrm>
          <a:ln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294565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0CC70-9BD5-7543-A524-72E5137DC4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0CC70-9BD5-7543-A524-72E5137DC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2936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0CC70-9BD5-7543-A524-72E5137DC4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0CC70-9BD5-7543-A524-72E5137DC4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914400"/>
            <a:ext cx="4000500" cy="2393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914400"/>
            <a:ext cx="4000500" cy="2393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0CC70-9BD5-7543-A524-72E5137DC4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0CC70-9BD5-7543-A524-72E5137DC4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0CC70-9BD5-7543-A524-72E5137DC4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0CC70-9BD5-7543-A524-72E5137DC4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0CC70-9BD5-7543-A524-72E5137DC4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0CC70-9BD5-7543-A524-72E5137DC4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0CC70-9BD5-7543-A524-72E5137DC4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8450" y="304800"/>
            <a:ext cx="2038350" cy="30035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304800"/>
            <a:ext cx="5962650" cy="30035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0CC70-9BD5-7543-A524-72E5137DC4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8153400" cy="42227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533400" y="914400"/>
            <a:ext cx="8153400" cy="239395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0CC70-9BD5-7543-A524-72E5137DC4F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0CC70-9BD5-7543-A524-72E5137DC4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526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342188" cy="42227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914400"/>
            <a:ext cx="7848600" cy="239871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1117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342188" cy="42227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914400"/>
            <a:ext cx="3848100" cy="1550168"/>
          </a:xfrm>
        </p:spPr>
        <p:txBody>
          <a:bodyPr/>
          <a:lstStyle>
            <a:lvl3pPr>
              <a:defRPr b="1"/>
            </a:lvl3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914400"/>
            <a:ext cx="3848100" cy="1550168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237475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6FB8-7834-7D49-B54B-F715DBAE5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4587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6FB8-7834-7D49-B54B-F715DBAE5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2161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6FB8-7834-7D49-B54B-F715DBAE5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8436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6FB8-7834-7D49-B54B-F715DBAE5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5525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6FB8-7834-7D49-B54B-F715DBAE5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150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6FB8-7834-7D49-B54B-F715DBAE5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90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6FB8-7834-7D49-B54B-F715DBAE5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0552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6FB8-7834-7D49-B54B-F715DBAE5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5823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6FB8-7834-7D49-B54B-F715DBAE5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3166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6FB8-7834-7D49-B54B-F715DBAE5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6768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D6FB8-7834-7D49-B54B-F715DBAE5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517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D9223-CC43-4007-8255-F9F13EA03B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8072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D9223-CC43-4007-8255-F9F13EA03B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3763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D9223-CC43-4007-8255-F9F13EA03B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7326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D9223-CC43-4007-8255-F9F13EA03B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2958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D9223-CC43-4007-8255-F9F13EA03B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8371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D9223-CC43-4007-8255-F9F13EA03B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4769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D9223-CC43-4007-8255-F9F13EA03B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4442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D9223-CC43-4007-8255-F9F13EA03B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70296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D9223-CC43-4007-8255-F9F13EA03B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26708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D9223-CC43-4007-8255-F9F13EA03B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39811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D9223-CC43-4007-8255-F9F13EA03B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277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7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38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9.xml"/><Relationship Id="rId3" Type="http://schemas.openxmlformats.org/officeDocument/2006/relationships/slideLayout" Target="../slideLayouts/slideLayout30.xml"/><Relationship Id="rId4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4.xml"/><Relationship Id="rId8" Type="http://schemas.openxmlformats.org/officeDocument/2006/relationships/slideLayout" Target="../slideLayouts/slideLayout35.xml"/><Relationship Id="rId9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304800"/>
            <a:ext cx="8153400" cy="4222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mtClean="0"/>
              <a:t>Title goes here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914400"/>
            <a:ext cx="8153400" cy="23939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 smtClean="0"/>
              <a:t>This is our 1st Level Bullet</a:t>
            </a:r>
          </a:p>
          <a:p>
            <a:pPr lvl="1"/>
            <a:r>
              <a:rPr lang="en-US" dirty="0" smtClean="0"/>
              <a:t>this is our 2nd level bullet</a:t>
            </a:r>
          </a:p>
          <a:p>
            <a:pPr lvl="2"/>
            <a:r>
              <a:rPr lang="en-US" dirty="0" smtClean="0"/>
              <a:t>this is our 3rd level bullet</a:t>
            </a:r>
          </a:p>
          <a:p>
            <a:pPr lvl="0"/>
            <a:r>
              <a:rPr lang="en-US" dirty="0" smtClean="0"/>
              <a:t>This is our next 1st Level Bullet</a:t>
            </a:r>
          </a:p>
          <a:p>
            <a:pPr lvl="1"/>
            <a:r>
              <a:rPr lang="en-US" dirty="0" smtClean="0"/>
              <a:t>this is our 2nd level bullet</a:t>
            </a:r>
          </a:p>
          <a:p>
            <a:pPr lvl="2"/>
            <a:r>
              <a:rPr lang="en-US" dirty="0" smtClean="0"/>
              <a:t>this is our 3rd level bullet</a:t>
            </a: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533400" y="685800"/>
            <a:ext cx="8153400" cy="0"/>
          </a:xfrm>
          <a:prstGeom prst="line">
            <a:avLst/>
          </a:prstGeom>
          <a:noFill/>
          <a:ln w="57150" cmpd="thickThin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E0CC70-9BD5-7543-A524-72E5137DC4F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75" r:id="rId14"/>
    <p:sldLayoutId id="2147483688" r:id="rId15"/>
    <p:sldLayoutId id="2147483689" r:id="rId16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2pPr>
      <a:lvl3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3pPr>
      <a:lvl4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4pPr>
      <a:lvl5pPr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5pPr>
      <a:lvl6pPr marL="4572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6pPr>
      <a:lvl7pPr marL="9144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7pPr>
      <a:lvl8pPr marL="13716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8pPr>
      <a:lvl9pPr marL="1828800" algn="l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</a:defRPr>
      </a:lvl9pPr>
    </p:titleStyle>
    <p:bodyStyle>
      <a:lvl1pPr marL="287338" indent="-287338" algn="l" rtl="0" eaLnBrk="0" fontAlgn="base" hangingPunct="0">
        <a:lnSpc>
          <a:spcPct val="90000"/>
        </a:lnSpc>
        <a:spcBef>
          <a:spcPct val="65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q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46063" algn="l" rtl="0" eaLnBrk="0" fontAlgn="base" hangingPunct="0">
        <a:lnSpc>
          <a:spcPct val="85000"/>
        </a:lnSpc>
        <a:spcBef>
          <a:spcPct val="40000"/>
        </a:spcBef>
        <a:spcAft>
          <a:spcPct val="0"/>
        </a:spcAft>
        <a:buClr>
          <a:schemeClr val="accent1"/>
        </a:buClr>
        <a:buSzPct val="75000"/>
        <a:buFont typeface="Monotype Sorts" pitchFamily="2" charset="2"/>
        <a:buChar char="l"/>
        <a:defRPr sz="2000">
          <a:solidFill>
            <a:schemeClr val="tx1"/>
          </a:solidFill>
          <a:latin typeface="+mn-lt"/>
        </a:defRPr>
      </a:lvl2pPr>
      <a:lvl3pPr marL="1146175" indent="-176213" algn="l" rtl="0" eaLnBrk="0" fontAlgn="base" hangingPunct="0">
        <a:lnSpc>
          <a:spcPct val="85000"/>
        </a:lnSpc>
        <a:spcBef>
          <a:spcPct val="40000"/>
        </a:spcBef>
        <a:spcAft>
          <a:spcPct val="0"/>
        </a:spcAft>
        <a:buClr>
          <a:schemeClr val="accent1"/>
        </a:buClr>
        <a:buSzPct val="100000"/>
        <a:buChar char="-"/>
        <a:defRPr>
          <a:solidFill>
            <a:schemeClr val="tx1"/>
          </a:solidFill>
          <a:latin typeface="+mn-lt"/>
        </a:defRPr>
      </a:lvl3pPr>
      <a:lvl4pPr marL="1714500" indent="-3429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171700" indent="-3429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628900" indent="-3429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3086100" indent="-3429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543300" indent="-3429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4000500" indent="-3429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FD6FB8-7834-7D49-B54B-F715DBAE56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390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4D9223-CC43-4007-8255-F9F13EA03B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067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20" Type="http://schemas.openxmlformats.org/officeDocument/2006/relationships/tags" Target="../tags/tag20.xml"/><Relationship Id="rId21" Type="http://schemas.openxmlformats.org/officeDocument/2006/relationships/tags" Target="../tags/tag21.xml"/><Relationship Id="rId22" Type="http://schemas.openxmlformats.org/officeDocument/2006/relationships/tags" Target="../tags/tag22.xml"/><Relationship Id="rId23" Type="http://schemas.openxmlformats.org/officeDocument/2006/relationships/tags" Target="../tags/tag23.xml"/><Relationship Id="rId24" Type="http://schemas.openxmlformats.org/officeDocument/2006/relationships/slideLayout" Target="../slideLayouts/slideLayout3.xml"/><Relationship Id="rId25" Type="http://schemas.openxmlformats.org/officeDocument/2006/relationships/notesSlide" Target="../notesSlides/notesSlide2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tags" Target="../tags/tag15.xml"/><Relationship Id="rId16" Type="http://schemas.openxmlformats.org/officeDocument/2006/relationships/tags" Target="../tags/tag16.xml"/><Relationship Id="rId17" Type="http://schemas.openxmlformats.org/officeDocument/2006/relationships/tags" Target="../tags/tag17.xml"/><Relationship Id="rId18" Type="http://schemas.openxmlformats.org/officeDocument/2006/relationships/tags" Target="../tags/tag18.xml"/><Relationship Id="rId19" Type="http://schemas.openxmlformats.org/officeDocument/2006/relationships/tags" Target="../tags/tag19.xml"/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20" Type="http://schemas.openxmlformats.org/officeDocument/2006/relationships/tags" Target="../tags/tag43.xml"/><Relationship Id="rId21" Type="http://schemas.openxmlformats.org/officeDocument/2006/relationships/tags" Target="../tags/tag44.xml"/><Relationship Id="rId22" Type="http://schemas.openxmlformats.org/officeDocument/2006/relationships/tags" Target="../tags/tag45.xml"/><Relationship Id="rId23" Type="http://schemas.openxmlformats.org/officeDocument/2006/relationships/tags" Target="../tags/tag46.xml"/><Relationship Id="rId24" Type="http://schemas.openxmlformats.org/officeDocument/2006/relationships/slideLayout" Target="../slideLayouts/slideLayout3.xml"/><Relationship Id="rId25" Type="http://schemas.openxmlformats.org/officeDocument/2006/relationships/notesSlide" Target="../notesSlides/notesSlide3.xml"/><Relationship Id="rId10" Type="http://schemas.openxmlformats.org/officeDocument/2006/relationships/tags" Target="../tags/tag33.xml"/><Relationship Id="rId11" Type="http://schemas.openxmlformats.org/officeDocument/2006/relationships/tags" Target="../tags/tag34.xml"/><Relationship Id="rId12" Type="http://schemas.openxmlformats.org/officeDocument/2006/relationships/tags" Target="../tags/tag35.xml"/><Relationship Id="rId13" Type="http://schemas.openxmlformats.org/officeDocument/2006/relationships/tags" Target="../tags/tag36.xml"/><Relationship Id="rId14" Type="http://schemas.openxmlformats.org/officeDocument/2006/relationships/tags" Target="../tags/tag37.xml"/><Relationship Id="rId15" Type="http://schemas.openxmlformats.org/officeDocument/2006/relationships/tags" Target="../tags/tag38.xml"/><Relationship Id="rId16" Type="http://schemas.openxmlformats.org/officeDocument/2006/relationships/tags" Target="../tags/tag39.xml"/><Relationship Id="rId17" Type="http://schemas.openxmlformats.org/officeDocument/2006/relationships/tags" Target="../tags/tag40.xml"/><Relationship Id="rId18" Type="http://schemas.openxmlformats.org/officeDocument/2006/relationships/tags" Target="../tags/tag41.xml"/><Relationship Id="rId19" Type="http://schemas.openxmlformats.org/officeDocument/2006/relationships/tags" Target="../tags/tag42.xml"/><Relationship Id="rId1" Type="http://schemas.openxmlformats.org/officeDocument/2006/relationships/tags" Target="../tags/tag24.xml"/><Relationship Id="rId2" Type="http://schemas.openxmlformats.org/officeDocument/2006/relationships/tags" Target="../tags/tag25.xml"/><Relationship Id="rId3" Type="http://schemas.openxmlformats.org/officeDocument/2006/relationships/tags" Target="../tags/tag26.xml"/><Relationship Id="rId4" Type="http://schemas.openxmlformats.org/officeDocument/2006/relationships/tags" Target="../tags/tag27.xml"/><Relationship Id="rId5" Type="http://schemas.openxmlformats.org/officeDocument/2006/relationships/tags" Target="../tags/tag28.xml"/><Relationship Id="rId6" Type="http://schemas.openxmlformats.org/officeDocument/2006/relationships/tags" Target="../tags/tag29.xml"/><Relationship Id="rId7" Type="http://schemas.openxmlformats.org/officeDocument/2006/relationships/tags" Target="../tags/tag30.xml"/><Relationship Id="rId8" Type="http://schemas.openxmlformats.org/officeDocument/2006/relationships/tags" Target="../tags/tag31.xml"/></Relationships>
</file>

<file path=ppt/slides/_rels/slide4.xml.rels><?xml version="1.0" encoding="UTF-8" standalone="yes"?>
<Relationships xmlns="http://schemas.openxmlformats.org/package/2006/relationships"><Relationship Id="rId20" Type="http://schemas.openxmlformats.org/officeDocument/2006/relationships/tags" Target="../tags/tag66.xml"/><Relationship Id="rId21" Type="http://schemas.openxmlformats.org/officeDocument/2006/relationships/tags" Target="../tags/tag67.xml"/><Relationship Id="rId22" Type="http://schemas.openxmlformats.org/officeDocument/2006/relationships/tags" Target="../tags/tag68.xml"/><Relationship Id="rId23" Type="http://schemas.openxmlformats.org/officeDocument/2006/relationships/tags" Target="../tags/tag69.xml"/><Relationship Id="rId24" Type="http://schemas.openxmlformats.org/officeDocument/2006/relationships/tags" Target="../tags/tag70.xml"/><Relationship Id="rId25" Type="http://schemas.openxmlformats.org/officeDocument/2006/relationships/tags" Target="../tags/tag71.xml"/><Relationship Id="rId26" Type="http://schemas.openxmlformats.org/officeDocument/2006/relationships/tags" Target="../tags/tag72.xml"/><Relationship Id="rId27" Type="http://schemas.openxmlformats.org/officeDocument/2006/relationships/tags" Target="../tags/tag73.xml"/><Relationship Id="rId28" Type="http://schemas.openxmlformats.org/officeDocument/2006/relationships/tags" Target="../tags/tag74.xml"/><Relationship Id="rId29" Type="http://schemas.openxmlformats.org/officeDocument/2006/relationships/tags" Target="../tags/tag75.xml"/><Relationship Id="rId1" Type="http://schemas.openxmlformats.org/officeDocument/2006/relationships/tags" Target="../tags/tag47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Relationship Id="rId30" Type="http://schemas.openxmlformats.org/officeDocument/2006/relationships/tags" Target="../tags/tag76.xml"/><Relationship Id="rId31" Type="http://schemas.openxmlformats.org/officeDocument/2006/relationships/tags" Target="../tags/tag77.xml"/><Relationship Id="rId32" Type="http://schemas.openxmlformats.org/officeDocument/2006/relationships/tags" Target="../tags/tag78.xml"/><Relationship Id="rId9" Type="http://schemas.openxmlformats.org/officeDocument/2006/relationships/tags" Target="../tags/tag55.xml"/><Relationship Id="rId6" Type="http://schemas.openxmlformats.org/officeDocument/2006/relationships/tags" Target="../tags/tag52.xml"/><Relationship Id="rId7" Type="http://schemas.openxmlformats.org/officeDocument/2006/relationships/tags" Target="../tags/tag53.xml"/><Relationship Id="rId8" Type="http://schemas.openxmlformats.org/officeDocument/2006/relationships/tags" Target="../tags/tag54.xml"/><Relationship Id="rId33" Type="http://schemas.openxmlformats.org/officeDocument/2006/relationships/tags" Target="../tags/tag79.xml"/><Relationship Id="rId34" Type="http://schemas.openxmlformats.org/officeDocument/2006/relationships/tags" Target="../tags/tag80.xml"/><Relationship Id="rId35" Type="http://schemas.openxmlformats.org/officeDocument/2006/relationships/tags" Target="../tags/tag81.xml"/><Relationship Id="rId36" Type="http://schemas.openxmlformats.org/officeDocument/2006/relationships/tags" Target="../tags/tag82.xml"/><Relationship Id="rId10" Type="http://schemas.openxmlformats.org/officeDocument/2006/relationships/tags" Target="../tags/tag56.xml"/><Relationship Id="rId11" Type="http://schemas.openxmlformats.org/officeDocument/2006/relationships/tags" Target="../tags/tag57.xml"/><Relationship Id="rId12" Type="http://schemas.openxmlformats.org/officeDocument/2006/relationships/tags" Target="../tags/tag58.xml"/><Relationship Id="rId13" Type="http://schemas.openxmlformats.org/officeDocument/2006/relationships/tags" Target="../tags/tag59.xml"/><Relationship Id="rId14" Type="http://schemas.openxmlformats.org/officeDocument/2006/relationships/tags" Target="../tags/tag60.xml"/><Relationship Id="rId15" Type="http://schemas.openxmlformats.org/officeDocument/2006/relationships/tags" Target="../tags/tag61.xml"/><Relationship Id="rId16" Type="http://schemas.openxmlformats.org/officeDocument/2006/relationships/tags" Target="../tags/tag62.xml"/><Relationship Id="rId17" Type="http://schemas.openxmlformats.org/officeDocument/2006/relationships/tags" Target="../tags/tag63.xml"/><Relationship Id="rId18" Type="http://schemas.openxmlformats.org/officeDocument/2006/relationships/tags" Target="../tags/tag64.xml"/><Relationship Id="rId19" Type="http://schemas.openxmlformats.org/officeDocument/2006/relationships/tags" Target="../tags/tag65.xml"/><Relationship Id="rId37" Type="http://schemas.openxmlformats.org/officeDocument/2006/relationships/slideLayout" Target="../slideLayouts/slideLayout3.xml"/><Relationship Id="rId3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20" Type="http://schemas.openxmlformats.org/officeDocument/2006/relationships/tags" Target="../tags/tag102.xml"/><Relationship Id="rId21" Type="http://schemas.openxmlformats.org/officeDocument/2006/relationships/tags" Target="../tags/tag103.xml"/><Relationship Id="rId22" Type="http://schemas.openxmlformats.org/officeDocument/2006/relationships/tags" Target="../tags/tag104.xml"/><Relationship Id="rId23" Type="http://schemas.openxmlformats.org/officeDocument/2006/relationships/tags" Target="../tags/tag105.xml"/><Relationship Id="rId24" Type="http://schemas.openxmlformats.org/officeDocument/2006/relationships/tags" Target="../tags/tag106.xml"/><Relationship Id="rId25" Type="http://schemas.openxmlformats.org/officeDocument/2006/relationships/tags" Target="../tags/tag107.xml"/><Relationship Id="rId26" Type="http://schemas.openxmlformats.org/officeDocument/2006/relationships/slideLayout" Target="../slideLayouts/slideLayout3.xml"/><Relationship Id="rId27" Type="http://schemas.openxmlformats.org/officeDocument/2006/relationships/notesSlide" Target="../notesSlides/notesSlide5.xml"/><Relationship Id="rId10" Type="http://schemas.openxmlformats.org/officeDocument/2006/relationships/tags" Target="../tags/tag92.xml"/><Relationship Id="rId11" Type="http://schemas.openxmlformats.org/officeDocument/2006/relationships/tags" Target="../tags/tag93.xml"/><Relationship Id="rId12" Type="http://schemas.openxmlformats.org/officeDocument/2006/relationships/tags" Target="../tags/tag94.xml"/><Relationship Id="rId13" Type="http://schemas.openxmlformats.org/officeDocument/2006/relationships/tags" Target="../tags/tag95.xml"/><Relationship Id="rId14" Type="http://schemas.openxmlformats.org/officeDocument/2006/relationships/tags" Target="../tags/tag96.xml"/><Relationship Id="rId15" Type="http://schemas.openxmlformats.org/officeDocument/2006/relationships/tags" Target="../tags/tag97.xml"/><Relationship Id="rId16" Type="http://schemas.openxmlformats.org/officeDocument/2006/relationships/tags" Target="../tags/tag98.xml"/><Relationship Id="rId17" Type="http://schemas.openxmlformats.org/officeDocument/2006/relationships/tags" Target="../tags/tag99.xml"/><Relationship Id="rId18" Type="http://schemas.openxmlformats.org/officeDocument/2006/relationships/tags" Target="../tags/tag100.xml"/><Relationship Id="rId19" Type="http://schemas.openxmlformats.org/officeDocument/2006/relationships/tags" Target="../tags/tag101.xml"/><Relationship Id="rId1" Type="http://schemas.openxmlformats.org/officeDocument/2006/relationships/tags" Target="../tags/tag83.xml"/><Relationship Id="rId2" Type="http://schemas.openxmlformats.org/officeDocument/2006/relationships/tags" Target="../tags/tag84.xml"/><Relationship Id="rId3" Type="http://schemas.openxmlformats.org/officeDocument/2006/relationships/tags" Target="../tags/tag85.xml"/><Relationship Id="rId4" Type="http://schemas.openxmlformats.org/officeDocument/2006/relationships/tags" Target="../tags/tag86.xml"/><Relationship Id="rId5" Type="http://schemas.openxmlformats.org/officeDocument/2006/relationships/tags" Target="../tags/tag87.xml"/><Relationship Id="rId6" Type="http://schemas.openxmlformats.org/officeDocument/2006/relationships/tags" Target="../tags/tag88.xml"/><Relationship Id="rId7" Type="http://schemas.openxmlformats.org/officeDocument/2006/relationships/tags" Target="../tags/tag89.xml"/><Relationship Id="rId8" Type="http://schemas.openxmlformats.org/officeDocument/2006/relationships/tags" Target="../tags/tag90.xml"/></Relationships>
</file>

<file path=ppt/slides/_rels/slide6.xml.rels><?xml version="1.0" encoding="UTF-8" standalone="yes"?>
<Relationships xmlns="http://schemas.openxmlformats.org/package/2006/relationships"><Relationship Id="rId20" Type="http://schemas.openxmlformats.org/officeDocument/2006/relationships/tags" Target="../tags/tag127.xml"/><Relationship Id="rId21" Type="http://schemas.openxmlformats.org/officeDocument/2006/relationships/tags" Target="../tags/tag128.xml"/><Relationship Id="rId22" Type="http://schemas.openxmlformats.org/officeDocument/2006/relationships/tags" Target="../tags/tag129.xml"/><Relationship Id="rId23" Type="http://schemas.openxmlformats.org/officeDocument/2006/relationships/tags" Target="../tags/tag130.xml"/><Relationship Id="rId24" Type="http://schemas.openxmlformats.org/officeDocument/2006/relationships/tags" Target="../tags/tag131.xml"/><Relationship Id="rId25" Type="http://schemas.openxmlformats.org/officeDocument/2006/relationships/tags" Target="../tags/tag132.xml"/><Relationship Id="rId26" Type="http://schemas.openxmlformats.org/officeDocument/2006/relationships/tags" Target="../tags/tag133.xml"/><Relationship Id="rId27" Type="http://schemas.openxmlformats.org/officeDocument/2006/relationships/tags" Target="../tags/tag134.xml"/><Relationship Id="rId28" Type="http://schemas.openxmlformats.org/officeDocument/2006/relationships/tags" Target="../tags/tag135.xml"/><Relationship Id="rId29" Type="http://schemas.openxmlformats.org/officeDocument/2006/relationships/tags" Target="../tags/tag136.xml"/><Relationship Id="rId1" Type="http://schemas.openxmlformats.org/officeDocument/2006/relationships/tags" Target="../tags/tag108.xml"/><Relationship Id="rId2" Type="http://schemas.openxmlformats.org/officeDocument/2006/relationships/tags" Target="../tags/tag109.xml"/><Relationship Id="rId3" Type="http://schemas.openxmlformats.org/officeDocument/2006/relationships/tags" Target="../tags/tag110.xml"/><Relationship Id="rId4" Type="http://schemas.openxmlformats.org/officeDocument/2006/relationships/tags" Target="../tags/tag111.xml"/><Relationship Id="rId5" Type="http://schemas.openxmlformats.org/officeDocument/2006/relationships/tags" Target="../tags/tag112.xml"/><Relationship Id="rId30" Type="http://schemas.openxmlformats.org/officeDocument/2006/relationships/tags" Target="../tags/tag137.xml"/><Relationship Id="rId31" Type="http://schemas.openxmlformats.org/officeDocument/2006/relationships/tags" Target="../tags/tag138.xml"/><Relationship Id="rId32" Type="http://schemas.openxmlformats.org/officeDocument/2006/relationships/slideLayout" Target="../slideLayouts/slideLayout3.xml"/><Relationship Id="rId9" Type="http://schemas.openxmlformats.org/officeDocument/2006/relationships/tags" Target="../tags/tag116.xml"/><Relationship Id="rId6" Type="http://schemas.openxmlformats.org/officeDocument/2006/relationships/tags" Target="../tags/tag113.xml"/><Relationship Id="rId7" Type="http://schemas.openxmlformats.org/officeDocument/2006/relationships/tags" Target="../tags/tag114.xml"/><Relationship Id="rId8" Type="http://schemas.openxmlformats.org/officeDocument/2006/relationships/tags" Target="../tags/tag115.xml"/><Relationship Id="rId33" Type="http://schemas.openxmlformats.org/officeDocument/2006/relationships/notesSlide" Target="../notesSlides/notesSlide6.xml"/><Relationship Id="rId10" Type="http://schemas.openxmlformats.org/officeDocument/2006/relationships/tags" Target="../tags/tag117.xml"/><Relationship Id="rId11" Type="http://schemas.openxmlformats.org/officeDocument/2006/relationships/tags" Target="../tags/tag118.xml"/><Relationship Id="rId12" Type="http://schemas.openxmlformats.org/officeDocument/2006/relationships/tags" Target="../tags/tag119.xml"/><Relationship Id="rId13" Type="http://schemas.openxmlformats.org/officeDocument/2006/relationships/tags" Target="../tags/tag120.xml"/><Relationship Id="rId14" Type="http://schemas.openxmlformats.org/officeDocument/2006/relationships/tags" Target="../tags/tag121.xml"/><Relationship Id="rId15" Type="http://schemas.openxmlformats.org/officeDocument/2006/relationships/tags" Target="../tags/tag122.xml"/><Relationship Id="rId16" Type="http://schemas.openxmlformats.org/officeDocument/2006/relationships/tags" Target="../tags/tag123.xml"/><Relationship Id="rId17" Type="http://schemas.openxmlformats.org/officeDocument/2006/relationships/tags" Target="../tags/tag124.xml"/><Relationship Id="rId18" Type="http://schemas.openxmlformats.org/officeDocument/2006/relationships/tags" Target="../tags/tag125.xml"/><Relationship Id="rId19" Type="http://schemas.openxmlformats.org/officeDocument/2006/relationships/tags" Target="../tags/tag126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47.xml"/><Relationship Id="rId20" Type="http://schemas.openxmlformats.org/officeDocument/2006/relationships/tags" Target="../tags/tag158.xml"/><Relationship Id="rId21" Type="http://schemas.openxmlformats.org/officeDocument/2006/relationships/tags" Target="../tags/tag159.xml"/><Relationship Id="rId22" Type="http://schemas.openxmlformats.org/officeDocument/2006/relationships/slideLayout" Target="../slideLayouts/slideLayout3.xml"/><Relationship Id="rId23" Type="http://schemas.openxmlformats.org/officeDocument/2006/relationships/notesSlide" Target="../notesSlides/notesSlide7.xml"/><Relationship Id="rId10" Type="http://schemas.openxmlformats.org/officeDocument/2006/relationships/tags" Target="../tags/tag148.xml"/><Relationship Id="rId11" Type="http://schemas.openxmlformats.org/officeDocument/2006/relationships/tags" Target="../tags/tag149.xml"/><Relationship Id="rId12" Type="http://schemas.openxmlformats.org/officeDocument/2006/relationships/tags" Target="../tags/tag150.xml"/><Relationship Id="rId13" Type="http://schemas.openxmlformats.org/officeDocument/2006/relationships/tags" Target="../tags/tag151.xml"/><Relationship Id="rId14" Type="http://schemas.openxmlformats.org/officeDocument/2006/relationships/tags" Target="../tags/tag152.xml"/><Relationship Id="rId15" Type="http://schemas.openxmlformats.org/officeDocument/2006/relationships/tags" Target="../tags/tag153.xml"/><Relationship Id="rId16" Type="http://schemas.openxmlformats.org/officeDocument/2006/relationships/tags" Target="../tags/tag154.xml"/><Relationship Id="rId17" Type="http://schemas.openxmlformats.org/officeDocument/2006/relationships/tags" Target="../tags/tag155.xml"/><Relationship Id="rId18" Type="http://schemas.openxmlformats.org/officeDocument/2006/relationships/tags" Target="../tags/tag156.xml"/><Relationship Id="rId19" Type="http://schemas.openxmlformats.org/officeDocument/2006/relationships/tags" Target="../tags/tag157.xml"/><Relationship Id="rId1" Type="http://schemas.openxmlformats.org/officeDocument/2006/relationships/tags" Target="../tags/tag139.xml"/><Relationship Id="rId2" Type="http://schemas.openxmlformats.org/officeDocument/2006/relationships/tags" Target="../tags/tag140.xml"/><Relationship Id="rId3" Type="http://schemas.openxmlformats.org/officeDocument/2006/relationships/tags" Target="../tags/tag141.xml"/><Relationship Id="rId4" Type="http://schemas.openxmlformats.org/officeDocument/2006/relationships/tags" Target="../tags/tag142.xml"/><Relationship Id="rId5" Type="http://schemas.openxmlformats.org/officeDocument/2006/relationships/tags" Target="../tags/tag143.xml"/><Relationship Id="rId6" Type="http://schemas.openxmlformats.org/officeDocument/2006/relationships/tags" Target="../tags/tag144.xml"/><Relationship Id="rId7" Type="http://schemas.openxmlformats.org/officeDocument/2006/relationships/tags" Target="../tags/tag145.xml"/><Relationship Id="rId8" Type="http://schemas.openxmlformats.org/officeDocument/2006/relationships/tags" Target="../tags/tag146.xml"/></Relationships>
</file>

<file path=ppt/slides/_rels/slide8.xml.rels><?xml version="1.0" encoding="UTF-8" standalone="yes"?>
<Relationships xmlns="http://schemas.openxmlformats.org/package/2006/relationships"><Relationship Id="rId20" Type="http://schemas.openxmlformats.org/officeDocument/2006/relationships/tags" Target="../tags/tag179.xml"/><Relationship Id="rId21" Type="http://schemas.openxmlformats.org/officeDocument/2006/relationships/tags" Target="../tags/tag180.xml"/><Relationship Id="rId22" Type="http://schemas.openxmlformats.org/officeDocument/2006/relationships/tags" Target="../tags/tag181.xml"/><Relationship Id="rId23" Type="http://schemas.openxmlformats.org/officeDocument/2006/relationships/tags" Target="../tags/tag182.xml"/><Relationship Id="rId24" Type="http://schemas.openxmlformats.org/officeDocument/2006/relationships/tags" Target="../tags/tag183.xml"/><Relationship Id="rId25" Type="http://schemas.openxmlformats.org/officeDocument/2006/relationships/tags" Target="../tags/tag184.xml"/><Relationship Id="rId26" Type="http://schemas.openxmlformats.org/officeDocument/2006/relationships/tags" Target="../tags/tag185.xml"/><Relationship Id="rId27" Type="http://schemas.openxmlformats.org/officeDocument/2006/relationships/tags" Target="../tags/tag186.xml"/><Relationship Id="rId28" Type="http://schemas.openxmlformats.org/officeDocument/2006/relationships/tags" Target="../tags/tag187.xml"/><Relationship Id="rId29" Type="http://schemas.openxmlformats.org/officeDocument/2006/relationships/tags" Target="../tags/tag188.xml"/><Relationship Id="rId1" Type="http://schemas.openxmlformats.org/officeDocument/2006/relationships/tags" Target="../tags/tag160.xml"/><Relationship Id="rId2" Type="http://schemas.openxmlformats.org/officeDocument/2006/relationships/tags" Target="../tags/tag161.xml"/><Relationship Id="rId3" Type="http://schemas.openxmlformats.org/officeDocument/2006/relationships/tags" Target="../tags/tag162.xml"/><Relationship Id="rId4" Type="http://schemas.openxmlformats.org/officeDocument/2006/relationships/tags" Target="../tags/tag163.xml"/><Relationship Id="rId5" Type="http://schemas.openxmlformats.org/officeDocument/2006/relationships/tags" Target="../tags/tag164.xml"/><Relationship Id="rId30" Type="http://schemas.openxmlformats.org/officeDocument/2006/relationships/tags" Target="../tags/tag189.xml"/><Relationship Id="rId31" Type="http://schemas.openxmlformats.org/officeDocument/2006/relationships/tags" Target="../tags/tag190.xml"/><Relationship Id="rId32" Type="http://schemas.openxmlformats.org/officeDocument/2006/relationships/tags" Target="../tags/tag191.xml"/><Relationship Id="rId9" Type="http://schemas.openxmlformats.org/officeDocument/2006/relationships/tags" Target="../tags/tag168.xml"/><Relationship Id="rId6" Type="http://schemas.openxmlformats.org/officeDocument/2006/relationships/tags" Target="../tags/tag165.xml"/><Relationship Id="rId7" Type="http://schemas.openxmlformats.org/officeDocument/2006/relationships/tags" Target="../tags/tag166.xml"/><Relationship Id="rId8" Type="http://schemas.openxmlformats.org/officeDocument/2006/relationships/tags" Target="../tags/tag167.xml"/><Relationship Id="rId33" Type="http://schemas.openxmlformats.org/officeDocument/2006/relationships/tags" Target="../tags/tag192.xml"/><Relationship Id="rId34" Type="http://schemas.openxmlformats.org/officeDocument/2006/relationships/tags" Target="../tags/tag193.xml"/><Relationship Id="rId35" Type="http://schemas.openxmlformats.org/officeDocument/2006/relationships/tags" Target="../tags/tag194.xml"/><Relationship Id="rId36" Type="http://schemas.openxmlformats.org/officeDocument/2006/relationships/slideLayout" Target="../slideLayouts/slideLayout3.xml"/><Relationship Id="rId10" Type="http://schemas.openxmlformats.org/officeDocument/2006/relationships/tags" Target="../tags/tag169.xml"/><Relationship Id="rId11" Type="http://schemas.openxmlformats.org/officeDocument/2006/relationships/tags" Target="../tags/tag170.xml"/><Relationship Id="rId12" Type="http://schemas.openxmlformats.org/officeDocument/2006/relationships/tags" Target="../tags/tag171.xml"/><Relationship Id="rId13" Type="http://schemas.openxmlformats.org/officeDocument/2006/relationships/tags" Target="../tags/tag172.xml"/><Relationship Id="rId14" Type="http://schemas.openxmlformats.org/officeDocument/2006/relationships/tags" Target="../tags/tag173.xml"/><Relationship Id="rId15" Type="http://schemas.openxmlformats.org/officeDocument/2006/relationships/tags" Target="../tags/tag174.xml"/><Relationship Id="rId16" Type="http://schemas.openxmlformats.org/officeDocument/2006/relationships/tags" Target="../tags/tag175.xml"/><Relationship Id="rId17" Type="http://schemas.openxmlformats.org/officeDocument/2006/relationships/tags" Target="../tags/tag176.xml"/><Relationship Id="rId18" Type="http://schemas.openxmlformats.org/officeDocument/2006/relationships/tags" Target="../tags/tag177.xml"/><Relationship Id="rId19" Type="http://schemas.openxmlformats.org/officeDocument/2006/relationships/tags" Target="../tags/tag178.xml"/><Relationship Id="rId3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1" Type="http://schemas.openxmlformats.org/officeDocument/2006/relationships/tags" Target="../tags/tag205.xml"/><Relationship Id="rId12" Type="http://schemas.openxmlformats.org/officeDocument/2006/relationships/tags" Target="../tags/tag206.xml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10.xml"/><Relationship Id="rId1" Type="http://schemas.openxmlformats.org/officeDocument/2006/relationships/tags" Target="../tags/tag195.xml"/><Relationship Id="rId2" Type="http://schemas.openxmlformats.org/officeDocument/2006/relationships/tags" Target="../tags/tag196.xml"/><Relationship Id="rId3" Type="http://schemas.openxmlformats.org/officeDocument/2006/relationships/tags" Target="../tags/tag197.xml"/><Relationship Id="rId4" Type="http://schemas.openxmlformats.org/officeDocument/2006/relationships/tags" Target="../tags/tag198.xml"/><Relationship Id="rId5" Type="http://schemas.openxmlformats.org/officeDocument/2006/relationships/tags" Target="../tags/tag199.xml"/><Relationship Id="rId6" Type="http://schemas.openxmlformats.org/officeDocument/2006/relationships/tags" Target="../tags/tag200.xml"/><Relationship Id="rId7" Type="http://schemas.openxmlformats.org/officeDocument/2006/relationships/tags" Target="../tags/tag201.xml"/><Relationship Id="rId8" Type="http://schemas.openxmlformats.org/officeDocument/2006/relationships/tags" Target="../tags/tag202.xml"/><Relationship Id="rId9" Type="http://schemas.openxmlformats.org/officeDocument/2006/relationships/tags" Target="../tags/tag203.xml"/><Relationship Id="rId10" Type="http://schemas.openxmlformats.org/officeDocument/2006/relationships/tags" Target="../tags/tag20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15.xml"/><Relationship Id="rId20" Type="http://schemas.openxmlformats.org/officeDocument/2006/relationships/slideLayout" Target="../slideLayouts/slideLayout3.xml"/><Relationship Id="rId21" Type="http://schemas.openxmlformats.org/officeDocument/2006/relationships/notesSlide" Target="../notesSlides/notesSlide11.xml"/><Relationship Id="rId10" Type="http://schemas.openxmlformats.org/officeDocument/2006/relationships/tags" Target="../tags/tag216.xml"/><Relationship Id="rId11" Type="http://schemas.openxmlformats.org/officeDocument/2006/relationships/tags" Target="../tags/tag217.xml"/><Relationship Id="rId12" Type="http://schemas.openxmlformats.org/officeDocument/2006/relationships/tags" Target="../tags/tag218.xml"/><Relationship Id="rId13" Type="http://schemas.openxmlformats.org/officeDocument/2006/relationships/tags" Target="../tags/tag219.xml"/><Relationship Id="rId14" Type="http://schemas.openxmlformats.org/officeDocument/2006/relationships/tags" Target="../tags/tag220.xml"/><Relationship Id="rId15" Type="http://schemas.openxmlformats.org/officeDocument/2006/relationships/tags" Target="../tags/tag221.xml"/><Relationship Id="rId16" Type="http://schemas.openxmlformats.org/officeDocument/2006/relationships/tags" Target="../tags/tag222.xml"/><Relationship Id="rId17" Type="http://schemas.openxmlformats.org/officeDocument/2006/relationships/tags" Target="../tags/tag223.xml"/><Relationship Id="rId18" Type="http://schemas.openxmlformats.org/officeDocument/2006/relationships/tags" Target="../tags/tag224.xml"/><Relationship Id="rId19" Type="http://schemas.openxmlformats.org/officeDocument/2006/relationships/tags" Target="../tags/tag225.xml"/><Relationship Id="rId1" Type="http://schemas.openxmlformats.org/officeDocument/2006/relationships/tags" Target="../tags/tag207.xml"/><Relationship Id="rId2" Type="http://schemas.openxmlformats.org/officeDocument/2006/relationships/tags" Target="../tags/tag208.xml"/><Relationship Id="rId3" Type="http://schemas.openxmlformats.org/officeDocument/2006/relationships/tags" Target="../tags/tag209.xml"/><Relationship Id="rId4" Type="http://schemas.openxmlformats.org/officeDocument/2006/relationships/tags" Target="../tags/tag210.xml"/><Relationship Id="rId5" Type="http://schemas.openxmlformats.org/officeDocument/2006/relationships/tags" Target="../tags/tag211.xml"/><Relationship Id="rId6" Type="http://schemas.openxmlformats.org/officeDocument/2006/relationships/tags" Target="../tags/tag212.xml"/><Relationship Id="rId7" Type="http://schemas.openxmlformats.org/officeDocument/2006/relationships/tags" Target="../tags/tag213.xml"/><Relationship Id="rId8" Type="http://schemas.openxmlformats.org/officeDocument/2006/relationships/tags" Target="../tags/tag214.xml"/></Relationships>
</file>

<file path=ppt/slides/_rels/slide13.xml.rels><?xml version="1.0" encoding="UTF-8" standalone="yes"?>
<Relationships xmlns="http://schemas.openxmlformats.org/package/2006/relationships"><Relationship Id="rId20" Type="http://schemas.openxmlformats.org/officeDocument/2006/relationships/tags" Target="../tags/tag245.xml"/><Relationship Id="rId21" Type="http://schemas.openxmlformats.org/officeDocument/2006/relationships/tags" Target="../tags/tag246.xml"/><Relationship Id="rId22" Type="http://schemas.openxmlformats.org/officeDocument/2006/relationships/tags" Target="../tags/tag247.xml"/><Relationship Id="rId23" Type="http://schemas.openxmlformats.org/officeDocument/2006/relationships/tags" Target="../tags/tag248.xml"/><Relationship Id="rId24" Type="http://schemas.openxmlformats.org/officeDocument/2006/relationships/tags" Target="../tags/tag249.xml"/><Relationship Id="rId25" Type="http://schemas.openxmlformats.org/officeDocument/2006/relationships/tags" Target="../tags/tag250.xml"/><Relationship Id="rId26" Type="http://schemas.openxmlformats.org/officeDocument/2006/relationships/tags" Target="../tags/tag251.xml"/><Relationship Id="rId27" Type="http://schemas.openxmlformats.org/officeDocument/2006/relationships/tags" Target="../tags/tag252.xml"/><Relationship Id="rId28" Type="http://schemas.openxmlformats.org/officeDocument/2006/relationships/tags" Target="../tags/tag253.xml"/><Relationship Id="rId29" Type="http://schemas.openxmlformats.org/officeDocument/2006/relationships/tags" Target="../tags/tag254.xml"/><Relationship Id="rId1" Type="http://schemas.openxmlformats.org/officeDocument/2006/relationships/tags" Target="../tags/tag226.xml"/><Relationship Id="rId2" Type="http://schemas.openxmlformats.org/officeDocument/2006/relationships/tags" Target="../tags/tag227.xml"/><Relationship Id="rId3" Type="http://schemas.openxmlformats.org/officeDocument/2006/relationships/tags" Target="../tags/tag228.xml"/><Relationship Id="rId4" Type="http://schemas.openxmlformats.org/officeDocument/2006/relationships/tags" Target="../tags/tag229.xml"/><Relationship Id="rId5" Type="http://schemas.openxmlformats.org/officeDocument/2006/relationships/tags" Target="../tags/tag230.xml"/><Relationship Id="rId30" Type="http://schemas.openxmlformats.org/officeDocument/2006/relationships/tags" Target="../tags/tag255.xml"/><Relationship Id="rId31" Type="http://schemas.openxmlformats.org/officeDocument/2006/relationships/tags" Target="../tags/tag256.xml"/><Relationship Id="rId32" Type="http://schemas.openxmlformats.org/officeDocument/2006/relationships/tags" Target="../tags/tag257.xml"/><Relationship Id="rId9" Type="http://schemas.openxmlformats.org/officeDocument/2006/relationships/tags" Target="../tags/tag234.xml"/><Relationship Id="rId6" Type="http://schemas.openxmlformats.org/officeDocument/2006/relationships/tags" Target="../tags/tag231.xml"/><Relationship Id="rId7" Type="http://schemas.openxmlformats.org/officeDocument/2006/relationships/tags" Target="../tags/tag232.xml"/><Relationship Id="rId8" Type="http://schemas.openxmlformats.org/officeDocument/2006/relationships/tags" Target="../tags/tag233.xml"/><Relationship Id="rId33" Type="http://schemas.openxmlformats.org/officeDocument/2006/relationships/tags" Target="../tags/tag258.xml"/><Relationship Id="rId34" Type="http://schemas.openxmlformats.org/officeDocument/2006/relationships/tags" Target="../tags/tag259.xml"/><Relationship Id="rId35" Type="http://schemas.openxmlformats.org/officeDocument/2006/relationships/tags" Target="../tags/tag260.xml"/><Relationship Id="rId36" Type="http://schemas.openxmlformats.org/officeDocument/2006/relationships/tags" Target="../tags/tag261.xml"/><Relationship Id="rId10" Type="http://schemas.openxmlformats.org/officeDocument/2006/relationships/tags" Target="../tags/tag235.xml"/><Relationship Id="rId11" Type="http://schemas.openxmlformats.org/officeDocument/2006/relationships/tags" Target="../tags/tag236.xml"/><Relationship Id="rId12" Type="http://schemas.openxmlformats.org/officeDocument/2006/relationships/tags" Target="../tags/tag237.xml"/><Relationship Id="rId13" Type="http://schemas.openxmlformats.org/officeDocument/2006/relationships/tags" Target="../tags/tag238.xml"/><Relationship Id="rId14" Type="http://schemas.openxmlformats.org/officeDocument/2006/relationships/tags" Target="../tags/tag239.xml"/><Relationship Id="rId15" Type="http://schemas.openxmlformats.org/officeDocument/2006/relationships/tags" Target="../tags/tag240.xml"/><Relationship Id="rId16" Type="http://schemas.openxmlformats.org/officeDocument/2006/relationships/tags" Target="../tags/tag241.xml"/><Relationship Id="rId17" Type="http://schemas.openxmlformats.org/officeDocument/2006/relationships/tags" Target="../tags/tag242.xml"/><Relationship Id="rId18" Type="http://schemas.openxmlformats.org/officeDocument/2006/relationships/tags" Target="../tags/tag243.xml"/><Relationship Id="rId19" Type="http://schemas.openxmlformats.org/officeDocument/2006/relationships/tags" Target="../tags/tag244.xml"/><Relationship Id="rId37" Type="http://schemas.openxmlformats.org/officeDocument/2006/relationships/slideLayout" Target="../slideLayouts/slideLayout3.xml"/><Relationship Id="rId38" Type="http://schemas.openxmlformats.org/officeDocument/2006/relationships/notesSlide" Target="../notesSlides/notesSlid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4" Type="http://schemas.openxmlformats.org/officeDocument/2006/relationships/notesSlide" Target="../notesSlides/notesSlide13.xml"/><Relationship Id="rId1" Type="http://schemas.openxmlformats.org/officeDocument/2006/relationships/tags" Target="../tags/tag262.xml"/><Relationship Id="rId2" Type="http://schemas.openxmlformats.org/officeDocument/2006/relationships/tags" Target="../tags/tag26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7.xml.rels><?xml version="1.0" encoding="UTF-8" standalone="yes"?>
<Relationships xmlns="http://schemas.openxmlformats.org/package/2006/relationships"><Relationship Id="rId20" Type="http://schemas.openxmlformats.org/officeDocument/2006/relationships/tags" Target="../tags/tag283.xml"/><Relationship Id="rId21" Type="http://schemas.openxmlformats.org/officeDocument/2006/relationships/tags" Target="../tags/tag284.xml"/><Relationship Id="rId22" Type="http://schemas.openxmlformats.org/officeDocument/2006/relationships/tags" Target="../tags/tag285.xml"/><Relationship Id="rId23" Type="http://schemas.openxmlformats.org/officeDocument/2006/relationships/tags" Target="../tags/tag286.xml"/><Relationship Id="rId24" Type="http://schemas.openxmlformats.org/officeDocument/2006/relationships/tags" Target="../tags/tag287.xml"/><Relationship Id="rId25" Type="http://schemas.openxmlformats.org/officeDocument/2006/relationships/tags" Target="../tags/tag288.xml"/><Relationship Id="rId26" Type="http://schemas.openxmlformats.org/officeDocument/2006/relationships/tags" Target="../tags/tag289.xml"/><Relationship Id="rId27" Type="http://schemas.openxmlformats.org/officeDocument/2006/relationships/tags" Target="../tags/tag290.xml"/><Relationship Id="rId28" Type="http://schemas.openxmlformats.org/officeDocument/2006/relationships/tags" Target="../tags/tag291.xml"/><Relationship Id="rId29" Type="http://schemas.openxmlformats.org/officeDocument/2006/relationships/tags" Target="../tags/tag292.xml"/><Relationship Id="rId1" Type="http://schemas.openxmlformats.org/officeDocument/2006/relationships/tags" Target="../tags/tag264.xml"/><Relationship Id="rId2" Type="http://schemas.openxmlformats.org/officeDocument/2006/relationships/tags" Target="../tags/tag265.xml"/><Relationship Id="rId3" Type="http://schemas.openxmlformats.org/officeDocument/2006/relationships/tags" Target="../tags/tag266.xml"/><Relationship Id="rId4" Type="http://schemas.openxmlformats.org/officeDocument/2006/relationships/tags" Target="../tags/tag267.xml"/><Relationship Id="rId5" Type="http://schemas.openxmlformats.org/officeDocument/2006/relationships/tags" Target="../tags/tag268.xml"/><Relationship Id="rId30" Type="http://schemas.openxmlformats.org/officeDocument/2006/relationships/tags" Target="../tags/tag293.xml"/><Relationship Id="rId31" Type="http://schemas.openxmlformats.org/officeDocument/2006/relationships/tags" Target="../tags/tag294.xml"/><Relationship Id="rId32" Type="http://schemas.openxmlformats.org/officeDocument/2006/relationships/slideLayout" Target="../slideLayouts/slideLayout3.xml"/><Relationship Id="rId9" Type="http://schemas.openxmlformats.org/officeDocument/2006/relationships/tags" Target="../tags/tag272.xml"/><Relationship Id="rId6" Type="http://schemas.openxmlformats.org/officeDocument/2006/relationships/tags" Target="../tags/tag269.xml"/><Relationship Id="rId7" Type="http://schemas.openxmlformats.org/officeDocument/2006/relationships/tags" Target="../tags/tag270.xml"/><Relationship Id="rId8" Type="http://schemas.openxmlformats.org/officeDocument/2006/relationships/tags" Target="../tags/tag271.xml"/><Relationship Id="rId33" Type="http://schemas.openxmlformats.org/officeDocument/2006/relationships/notesSlide" Target="../notesSlides/notesSlide15.xml"/><Relationship Id="rId10" Type="http://schemas.openxmlformats.org/officeDocument/2006/relationships/tags" Target="../tags/tag273.xml"/><Relationship Id="rId11" Type="http://schemas.openxmlformats.org/officeDocument/2006/relationships/tags" Target="../tags/tag274.xml"/><Relationship Id="rId12" Type="http://schemas.openxmlformats.org/officeDocument/2006/relationships/tags" Target="../tags/tag275.xml"/><Relationship Id="rId13" Type="http://schemas.openxmlformats.org/officeDocument/2006/relationships/tags" Target="../tags/tag276.xml"/><Relationship Id="rId14" Type="http://schemas.openxmlformats.org/officeDocument/2006/relationships/tags" Target="../tags/tag277.xml"/><Relationship Id="rId15" Type="http://schemas.openxmlformats.org/officeDocument/2006/relationships/tags" Target="../tags/tag278.xml"/><Relationship Id="rId16" Type="http://schemas.openxmlformats.org/officeDocument/2006/relationships/tags" Target="../tags/tag279.xml"/><Relationship Id="rId17" Type="http://schemas.openxmlformats.org/officeDocument/2006/relationships/tags" Target="../tags/tag280.xml"/><Relationship Id="rId18" Type="http://schemas.openxmlformats.org/officeDocument/2006/relationships/tags" Target="../tags/tag281.xml"/><Relationship Id="rId19" Type="http://schemas.openxmlformats.org/officeDocument/2006/relationships/tags" Target="../tags/tag282.xml"/></Relationships>
</file>

<file path=ppt/slides/_rels/slide18.xml.rels><?xml version="1.0" encoding="UTF-8" standalone="yes"?>
<Relationships xmlns="http://schemas.openxmlformats.org/package/2006/relationships"><Relationship Id="rId20" Type="http://schemas.openxmlformats.org/officeDocument/2006/relationships/tags" Target="../tags/tag314.xml"/><Relationship Id="rId21" Type="http://schemas.openxmlformats.org/officeDocument/2006/relationships/tags" Target="../tags/tag315.xml"/><Relationship Id="rId22" Type="http://schemas.openxmlformats.org/officeDocument/2006/relationships/tags" Target="../tags/tag316.xml"/><Relationship Id="rId23" Type="http://schemas.openxmlformats.org/officeDocument/2006/relationships/tags" Target="../tags/tag317.xml"/><Relationship Id="rId24" Type="http://schemas.openxmlformats.org/officeDocument/2006/relationships/tags" Target="../tags/tag318.xml"/><Relationship Id="rId25" Type="http://schemas.openxmlformats.org/officeDocument/2006/relationships/tags" Target="../tags/tag319.xml"/><Relationship Id="rId26" Type="http://schemas.openxmlformats.org/officeDocument/2006/relationships/tags" Target="../tags/tag320.xml"/><Relationship Id="rId27" Type="http://schemas.openxmlformats.org/officeDocument/2006/relationships/tags" Target="../tags/tag321.xml"/><Relationship Id="rId28" Type="http://schemas.openxmlformats.org/officeDocument/2006/relationships/tags" Target="../tags/tag322.xml"/><Relationship Id="rId29" Type="http://schemas.openxmlformats.org/officeDocument/2006/relationships/tags" Target="../tags/tag323.xml"/><Relationship Id="rId1" Type="http://schemas.openxmlformats.org/officeDocument/2006/relationships/tags" Target="../tags/tag295.xml"/><Relationship Id="rId2" Type="http://schemas.openxmlformats.org/officeDocument/2006/relationships/tags" Target="../tags/tag296.xml"/><Relationship Id="rId3" Type="http://schemas.openxmlformats.org/officeDocument/2006/relationships/tags" Target="../tags/tag297.xml"/><Relationship Id="rId4" Type="http://schemas.openxmlformats.org/officeDocument/2006/relationships/tags" Target="../tags/tag298.xml"/><Relationship Id="rId5" Type="http://schemas.openxmlformats.org/officeDocument/2006/relationships/tags" Target="../tags/tag299.xml"/><Relationship Id="rId30" Type="http://schemas.openxmlformats.org/officeDocument/2006/relationships/tags" Target="../tags/tag324.xml"/><Relationship Id="rId31" Type="http://schemas.openxmlformats.org/officeDocument/2006/relationships/tags" Target="../tags/tag325.xml"/><Relationship Id="rId32" Type="http://schemas.openxmlformats.org/officeDocument/2006/relationships/tags" Target="../tags/tag326.xml"/><Relationship Id="rId9" Type="http://schemas.openxmlformats.org/officeDocument/2006/relationships/tags" Target="../tags/tag303.xml"/><Relationship Id="rId6" Type="http://schemas.openxmlformats.org/officeDocument/2006/relationships/tags" Target="../tags/tag300.xml"/><Relationship Id="rId7" Type="http://schemas.openxmlformats.org/officeDocument/2006/relationships/tags" Target="../tags/tag301.xml"/><Relationship Id="rId8" Type="http://schemas.openxmlformats.org/officeDocument/2006/relationships/tags" Target="../tags/tag302.xml"/><Relationship Id="rId33" Type="http://schemas.openxmlformats.org/officeDocument/2006/relationships/tags" Target="../tags/tag327.xml"/><Relationship Id="rId34" Type="http://schemas.openxmlformats.org/officeDocument/2006/relationships/tags" Target="../tags/tag328.xml"/><Relationship Id="rId35" Type="http://schemas.openxmlformats.org/officeDocument/2006/relationships/tags" Target="../tags/tag329.xml"/><Relationship Id="rId36" Type="http://schemas.openxmlformats.org/officeDocument/2006/relationships/tags" Target="../tags/tag330.xml"/><Relationship Id="rId10" Type="http://schemas.openxmlformats.org/officeDocument/2006/relationships/tags" Target="../tags/tag304.xml"/><Relationship Id="rId11" Type="http://schemas.openxmlformats.org/officeDocument/2006/relationships/tags" Target="../tags/tag305.xml"/><Relationship Id="rId12" Type="http://schemas.openxmlformats.org/officeDocument/2006/relationships/tags" Target="../tags/tag306.xml"/><Relationship Id="rId13" Type="http://schemas.openxmlformats.org/officeDocument/2006/relationships/tags" Target="../tags/tag307.xml"/><Relationship Id="rId14" Type="http://schemas.openxmlformats.org/officeDocument/2006/relationships/tags" Target="../tags/tag308.xml"/><Relationship Id="rId15" Type="http://schemas.openxmlformats.org/officeDocument/2006/relationships/tags" Target="../tags/tag309.xml"/><Relationship Id="rId16" Type="http://schemas.openxmlformats.org/officeDocument/2006/relationships/tags" Target="../tags/tag310.xml"/><Relationship Id="rId17" Type="http://schemas.openxmlformats.org/officeDocument/2006/relationships/tags" Target="../tags/tag311.xml"/><Relationship Id="rId18" Type="http://schemas.openxmlformats.org/officeDocument/2006/relationships/tags" Target="../tags/tag312.xml"/><Relationship Id="rId19" Type="http://schemas.openxmlformats.org/officeDocument/2006/relationships/tags" Target="../tags/tag313.xml"/><Relationship Id="rId37" Type="http://schemas.openxmlformats.org/officeDocument/2006/relationships/tags" Target="../tags/tag331.xml"/><Relationship Id="rId38" Type="http://schemas.openxmlformats.org/officeDocument/2006/relationships/tags" Target="../tags/tag332.xml"/><Relationship Id="rId39" Type="http://schemas.openxmlformats.org/officeDocument/2006/relationships/tags" Target="../tags/tag333.xml"/><Relationship Id="rId40" Type="http://schemas.openxmlformats.org/officeDocument/2006/relationships/slideLayout" Target="../slideLayouts/slideLayout3.xml"/><Relationship Id="rId41" Type="http://schemas.openxmlformats.org/officeDocument/2006/relationships/notesSlide" Target="../notesSlides/notesSlide16.xml"/></Relationships>
</file>

<file path=ppt/slides/_rels/slide19.xml.rels><?xml version="1.0" encoding="UTF-8" standalone="yes"?>
<Relationships xmlns="http://schemas.openxmlformats.org/package/2006/relationships"><Relationship Id="rId11" Type="http://schemas.openxmlformats.org/officeDocument/2006/relationships/tags" Target="../tags/tag344.xml"/><Relationship Id="rId12" Type="http://schemas.openxmlformats.org/officeDocument/2006/relationships/tags" Target="../tags/tag345.xml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17.xml"/><Relationship Id="rId1" Type="http://schemas.openxmlformats.org/officeDocument/2006/relationships/tags" Target="../tags/tag334.xml"/><Relationship Id="rId2" Type="http://schemas.openxmlformats.org/officeDocument/2006/relationships/tags" Target="../tags/tag335.xml"/><Relationship Id="rId3" Type="http://schemas.openxmlformats.org/officeDocument/2006/relationships/tags" Target="../tags/tag336.xml"/><Relationship Id="rId4" Type="http://schemas.openxmlformats.org/officeDocument/2006/relationships/tags" Target="../tags/tag337.xml"/><Relationship Id="rId5" Type="http://schemas.openxmlformats.org/officeDocument/2006/relationships/tags" Target="../tags/tag338.xml"/><Relationship Id="rId6" Type="http://schemas.openxmlformats.org/officeDocument/2006/relationships/tags" Target="../tags/tag339.xml"/><Relationship Id="rId7" Type="http://schemas.openxmlformats.org/officeDocument/2006/relationships/tags" Target="../tags/tag340.xml"/><Relationship Id="rId8" Type="http://schemas.openxmlformats.org/officeDocument/2006/relationships/tags" Target="../tags/tag341.xml"/><Relationship Id="rId9" Type="http://schemas.openxmlformats.org/officeDocument/2006/relationships/tags" Target="../tags/tag342.xml"/><Relationship Id="rId10" Type="http://schemas.openxmlformats.org/officeDocument/2006/relationships/tags" Target="../tags/tag343.xml"/></Relationships>
</file>

<file path=ppt/slides/_rels/slide20.xml.rels><?xml version="1.0" encoding="UTF-8" standalone="yes"?>
<Relationships xmlns="http://schemas.openxmlformats.org/package/2006/relationships"><Relationship Id="rId20" Type="http://schemas.openxmlformats.org/officeDocument/2006/relationships/tags" Target="../tags/tag365.xml"/><Relationship Id="rId21" Type="http://schemas.openxmlformats.org/officeDocument/2006/relationships/tags" Target="../tags/tag366.xml"/><Relationship Id="rId22" Type="http://schemas.openxmlformats.org/officeDocument/2006/relationships/tags" Target="../tags/tag367.xml"/><Relationship Id="rId23" Type="http://schemas.openxmlformats.org/officeDocument/2006/relationships/tags" Target="../tags/tag368.xml"/><Relationship Id="rId24" Type="http://schemas.openxmlformats.org/officeDocument/2006/relationships/tags" Target="../tags/tag369.xml"/><Relationship Id="rId25" Type="http://schemas.openxmlformats.org/officeDocument/2006/relationships/tags" Target="../tags/tag370.xml"/><Relationship Id="rId26" Type="http://schemas.openxmlformats.org/officeDocument/2006/relationships/tags" Target="../tags/tag371.xml"/><Relationship Id="rId27" Type="http://schemas.openxmlformats.org/officeDocument/2006/relationships/tags" Target="../tags/tag372.xml"/><Relationship Id="rId28" Type="http://schemas.openxmlformats.org/officeDocument/2006/relationships/tags" Target="../tags/tag373.xml"/><Relationship Id="rId29" Type="http://schemas.openxmlformats.org/officeDocument/2006/relationships/tags" Target="../tags/tag374.xml"/><Relationship Id="rId1" Type="http://schemas.openxmlformats.org/officeDocument/2006/relationships/tags" Target="../tags/tag346.xml"/><Relationship Id="rId2" Type="http://schemas.openxmlformats.org/officeDocument/2006/relationships/tags" Target="../tags/tag347.xml"/><Relationship Id="rId3" Type="http://schemas.openxmlformats.org/officeDocument/2006/relationships/tags" Target="../tags/tag348.xml"/><Relationship Id="rId4" Type="http://schemas.openxmlformats.org/officeDocument/2006/relationships/tags" Target="../tags/tag349.xml"/><Relationship Id="rId5" Type="http://schemas.openxmlformats.org/officeDocument/2006/relationships/tags" Target="../tags/tag350.xml"/><Relationship Id="rId30" Type="http://schemas.openxmlformats.org/officeDocument/2006/relationships/tags" Target="../tags/tag375.xml"/><Relationship Id="rId31" Type="http://schemas.openxmlformats.org/officeDocument/2006/relationships/tags" Target="../tags/tag376.xml"/><Relationship Id="rId32" Type="http://schemas.openxmlformats.org/officeDocument/2006/relationships/tags" Target="../tags/tag377.xml"/><Relationship Id="rId9" Type="http://schemas.openxmlformats.org/officeDocument/2006/relationships/tags" Target="../tags/tag354.xml"/><Relationship Id="rId6" Type="http://schemas.openxmlformats.org/officeDocument/2006/relationships/tags" Target="../tags/tag351.xml"/><Relationship Id="rId7" Type="http://schemas.openxmlformats.org/officeDocument/2006/relationships/tags" Target="../tags/tag352.xml"/><Relationship Id="rId8" Type="http://schemas.openxmlformats.org/officeDocument/2006/relationships/tags" Target="../tags/tag353.xml"/><Relationship Id="rId33" Type="http://schemas.openxmlformats.org/officeDocument/2006/relationships/tags" Target="../tags/tag378.xml"/><Relationship Id="rId34" Type="http://schemas.openxmlformats.org/officeDocument/2006/relationships/tags" Target="../tags/tag379.xml"/><Relationship Id="rId35" Type="http://schemas.openxmlformats.org/officeDocument/2006/relationships/tags" Target="../tags/tag380.xml"/><Relationship Id="rId36" Type="http://schemas.openxmlformats.org/officeDocument/2006/relationships/slideLayout" Target="../slideLayouts/slideLayout3.xml"/><Relationship Id="rId10" Type="http://schemas.openxmlformats.org/officeDocument/2006/relationships/tags" Target="../tags/tag355.xml"/><Relationship Id="rId11" Type="http://schemas.openxmlformats.org/officeDocument/2006/relationships/tags" Target="../tags/tag356.xml"/><Relationship Id="rId12" Type="http://schemas.openxmlformats.org/officeDocument/2006/relationships/tags" Target="../tags/tag357.xml"/><Relationship Id="rId13" Type="http://schemas.openxmlformats.org/officeDocument/2006/relationships/tags" Target="../tags/tag358.xml"/><Relationship Id="rId14" Type="http://schemas.openxmlformats.org/officeDocument/2006/relationships/tags" Target="../tags/tag359.xml"/><Relationship Id="rId15" Type="http://schemas.openxmlformats.org/officeDocument/2006/relationships/tags" Target="../tags/tag360.xml"/><Relationship Id="rId16" Type="http://schemas.openxmlformats.org/officeDocument/2006/relationships/tags" Target="../tags/tag361.xml"/><Relationship Id="rId17" Type="http://schemas.openxmlformats.org/officeDocument/2006/relationships/tags" Target="../tags/tag362.xml"/><Relationship Id="rId18" Type="http://schemas.openxmlformats.org/officeDocument/2006/relationships/tags" Target="../tags/tag363.xml"/><Relationship Id="rId19" Type="http://schemas.openxmlformats.org/officeDocument/2006/relationships/tags" Target="../tags/tag364.xml"/><Relationship Id="rId37" Type="http://schemas.openxmlformats.org/officeDocument/2006/relationships/notesSlide" Target="../notesSlides/notesSlide18.xml"/></Relationships>
</file>

<file path=ppt/slides/_rels/slide21.xml.rels><?xml version="1.0" encoding="UTF-8" standalone="yes"?>
<Relationships xmlns="http://schemas.openxmlformats.org/package/2006/relationships"><Relationship Id="rId20" Type="http://schemas.openxmlformats.org/officeDocument/2006/relationships/tags" Target="../tags/tag400.xml"/><Relationship Id="rId21" Type="http://schemas.openxmlformats.org/officeDocument/2006/relationships/tags" Target="../tags/tag401.xml"/><Relationship Id="rId22" Type="http://schemas.openxmlformats.org/officeDocument/2006/relationships/tags" Target="../tags/tag402.xml"/><Relationship Id="rId23" Type="http://schemas.openxmlformats.org/officeDocument/2006/relationships/tags" Target="../tags/tag403.xml"/><Relationship Id="rId24" Type="http://schemas.openxmlformats.org/officeDocument/2006/relationships/tags" Target="../tags/tag404.xml"/><Relationship Id="rId25" Type="http://schemas.openxmlformats.org/officeDocument/2006/relationships/tags" Target="../tags/tag405.xml"/><Relationship Id="rId26" Type="http://schemas.openxmlformats.org/officeDocument/2006/relationships/tags" Target="../tags/tag406.xml"/><Relationship Id="rId27" Type="http://schemas.openxmlformats.org/officeDocument/2006/relationships/tags" Target="../tags/tag407.xml"/><Relationship Id="rId28" Type="http://schemas.openxmlformats.org/officeDocument/2006/relationships/tags" Target="../tags/tag408.xml"/><Relationship Id="rId29" Type="http://schemas.openxmlformats.org/officeDocument/2006/relationships/tags" Target="../tags/tag409.xml"/><Relationship Id="rId1" Type="http://schemas.openxmlformats.org/officeDocument/2006/relationships/tags" Target="../tags/tag381.xml"/><Relationship Id="rId2" Type="http://schemas.openxmlformats.org/officeDocument/2006/relationships/tags" Target="../tags/tag382.xml"/><Relationship Id="rId3" Type="http://schemas.openxmlformats.org/officeDocument/2006/relationships/tags" Target="../tags/tag383.xml"/><Relationship Id="rId4" Type="http://schemas.openxmlformats.org/officeDocument/2006/relationships/tags" Target="../tags/tag384.xml"/><Relationship Id="rId5" Type="http://schemas.openxmlformats.org/officeDocument/2006/relationships/tags" Target="../tags/tag385.xml"/><Relationship Id="rId30" Type="http://schemas.openxmlformats.org/officeDocument/2006/relationships/tags" Target="../tags/tag410.xml"/><Relationship Id="rId31" Type="http://schemas.openxmlformats.org/officeDocument/2006/relationships/tags" Target="../tags/tag411.xml"/><Relationship Id="rId32" Type="http://schemas.openxmlformats.org/officeDocument/2006/relationships/tags" Target="../tags/tag412.xml"/><Relationship Id="rId9" Type="http://schemas.openxmlformats.org/officeDocument/2006/relationships/tags" Target="../tags/tag389.xml"/><Relationship Id="rId6" Type="http://schemas.openxmlformats.org/officeDocument/2006/relationships/tags" Target="../tags/tag386.xml"/><Relationship Id="rId7" Type="http://schemas.openxmlformats.org/officeDocument/2006/relationships/tags" Target="../tags/tag387.xml"/><Relationship Id="rId8" Type="http://schemas.openxmlformats.org/officeDocument/2006/relationships/tags" Target="../tags/tag388.xml"/><Relationship Id="rId33" Type="http://schemas.openxmlformats.org/officeDocument/2006/relationships/tags" Target="../tags/tag413.xml"/><Relationship Id="rId34" Type="http://schemas.openxmlformats.org/officeDocument/2006/relationships/tags" Target="../tags/tag414.xml"/><Relationship Id="rId35" Type="http://schemas.openxmlformats.org/officeDocument/2006/relationships/tags" Target="../tags/tag415.xml"/><Relationship Id="rId36" Type="http://schemas.openxmlformats.org/officeDocument/2006/relationships/tags" Target="../tags/tag416.xml"/><Relationship Id="rId10" Type="http://schemas.openxmlformats.org/officeDocument/2006/relationships/tags" Target="../tags/tag390.xml"/><Relationship Id="rId11" Type="http://schemas.openxmlformats.org/officeDocument/2006/relationships/tags" Target="../tags/tag391.xml"/><Relationship Id="rId12" Type="http://schemas.openxmlformats.org/officeDocument/2006/relationships/tags" Target="../tags/tag392.xml"/><Relationship Id="rId13" Type="http://schemas.openxmlformats.org/officeDocument/2006/relationships/tags" Target="../tags/tag393.xml"/><Relationship Id="rId14" Type="http://schemas.openxmlformats.org/officeDocument/2006/relationships/tags" Target="../tags/tag394.xml"/><Relationship Id="rId15" Type="http://schemas.openxmlformats.org/officeDocument/2006/relationships/tags" Target="../tags/tag395.xml"/><Relationship Id="rId16" Type="http://schemas.openxmlformats.org/officeDocument/2006/relationships/tags" Target="../tags/tag396.xml"/><Relationship Id="rId17" Type="http://schemas.openxmlformats.org/officeDocument/2006/relationships/tags" Target="../tags/tag397.xml"/><Relationship Id="rId18" Type="http://schemas.openxmlformats.org/officeDocument/2006/relationships/tags" Target="../tags/tag398.xml"/><Relationship Id="rId19" Type="http://schemas.openxmlformats.org/officeDocument/2006/relationships/tags" Target="../tags/tag399.xml"/><Relationship Id="rId37" Type="http://schemas.openxmlformats.org/officeDocument/2006/relationships/tags" Target="../tags/tag417.xml"/><Relationship Id="rId38" Type="http://schemas.openxmlformats.org/officeDocument/2006/relationships/tags" Target="../tags/tag418.xml"/><Relationship Id="rId39" Type="http://schemas.openxmlformats.org/officeDocument/2006/relationships/tags" Target="../tags/tag419.xml"/><Relationship Id="rId40" Type="http://schemas.openxmlformats.org/officeDocument/2006/relationships/tags" Target="../tags/tag420.xml"/><Relationship Id="rId41" Type="http://schemas.openxmlformats.org/officeDocument/2006/relationships/slideLayout" Target="../slideLayouts/slideLayout3.xml"/><Relationship Id="rId42" Type="http://schemas.openxmlformats.org/officeDocument/2006/relationships/notesSlide" Target="../notesSlides/notesSlide1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tags" Target="../tags/tag423.xml"/><Relationship Id="rId4" Type="http://schemas.openxmlformats.org/officeDocument/2006/relationships/slideLayout" Target="../slideLayouts/slideLayout3.xml"/><Relationship Id="rId1" Type="http://schemas.openxmlformats.org/officeDocument/2006/relationships/tags" Target="../tags/tag421.xml"/><Relationship Id="rId2" Type="http://schemas.openxmlformats.org/officeDocument/2006/relationships/tags" Target="../tags/tag42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tags" Target="../tags/tag424.xml"/><Relationship Id="rId2" Type="http://schemas.openxmlformats.org/officeDocument/2006/relationships/tags" Target="../tags/tag425.xml"/><Relationship Id="rId3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tags" Target="../tags/tag434.xml"/><Relationship Id="rId20" Type="http://schemas.openxmlformats.org/officeDocument/2006/relationships/tags" Target="../tags/tag445.xml"/><Relationship Id="rId21" Type="http://schemas.openxmlformats.org/officeDocument/2006/relationships/tags" Target="../tags/tag446.xml"/><Relationship Id="rId22" Type="http://schemas.openxmlformats.org/officeDocument/2006/relationships/tags" Target="../tags/tag447.xml"/><Relationship Id="rId23" Type="http://schemas.openxmlformats.org/officeDocument/2006/relationships/tags" Target="../tags/tag448.xml"/><Relationship Id="rId24" Type="http://schemas.openxmlformats.org/officeDocument/2006/relationships/tags" Target="../tags/tag449.xml"/><Relationship Id="rId25" Type="http://schemas.openxmlformats.org/officeDocument/2006/relationships/tags" Target="../tags/tag450.xml"/><Relationship Id="rId26" Type="http://schemas.openxmlformats.org/officeDocument/2006/relationships/tags" Target="../tags/tag451.xml"/><Relationship Id="rId27" Type="http://schemas.openxmlformats.org/officeDocument/2006/relationships/slideLayout" Target="../slideLayouts/slideLayout3.xml"/><Relationship Id="rId28" Type="http://schemas.openxmlformats.org/officeDocument/2006/relationships/notesSlide" Target="../notesSlides/notesSlide30.xml"/><Relationship Id="rId10" Type="http://schemas.openxmlformats.org/officeDocument/2006/relationships/tags" Target="../tags/tag435.xml"/><Relationship Id="rId11" Type="http://schemas.openxmlformats.org/officeDocument/2006/relationships/tags" Target="../tags/tag436.xml"/><Relationship Id="rId12" Type="http://schemas.openxmlformats.org/officeDocument/2006/relationships/tags" Target="../tags/tag437.xml"/><Relationship Id="rId13" Type="http://schemas.openxmlformats.org/officeDocument/2006/relationships/tags" Target="../tags/tag438.xml"/><Relationship Id="rId14" Type="http://schemas.openxmlformats.org/officeDocument/2006/relationships/tags" Target="../tags/tag439.xml"/><Relationship Id="rId15" Type="http://schemas.openxmlformats.org/officeDocument/2006/relationships/tags" Target="../tags/tag440.xml"/><Relationship Id="rId16" Type="http://schemas.openxmlformats.org/officeDocument/2006/relationships/tags" Target="../tags/tag441.xml"/><Relationship Id="rId17" Type="http://schemas.openxmlformats.org/officeDocument/2006/relationships/tags" Target="../tags/tag442.xml"/><Relationship Id="rId18" Type="http://schemas.openxmlformats.org/officeDocument/2006/relationships/tags" Target="../tags/tag443.xml"/><Relationship Id="rId19" Type="http://schemas.openxmlformats.org/officeDocument/2006/relationships/tags" Target="../tags/tag444.xml"/><Relationship Id="rId1" Type="http://schemas.openxmlformats.org/officeDocument/2006/relationships/tags" Target="../tags/tag426.xml"/><Relationship Id="rId2" Type="http://schemas.openxmlformats.org/officeDocument/2006/relationships/tags" Target="../tags/tag427.xml"/><Relationship Id="rId3" Type="http://schemas.openxmlformats.org/officeDocument/2006/relationships/tags" Target="../tags/tag428.xml"/><Relationship Id="rId4" Type="http://schemas.openxmlformats.org/officeDocument/2006/relationships/tags" Target="../tags/tag429.xml"/><Relationship Id="rId5" Type="http://schemas.openxmlformats.org/officeDocument/2006/relationships/tags" Target="../tags/tag430.xml"/><Relationship Id="rId6" Type="http://schemas.openxmlformats.org/officeDocument/2006/relationships/tags" Target="../tags/tag431.xml"/><Relationship Id="rId7" Type="http://schemas.openxmlformats.org/officeDocument/2006/relationships/tags" Target="../tags/tag432.xml"/><Relationship Id="rId8" Type="http://schemas.openxmlformats.org/officeDocument/2006/relationships/tags" Target="../tags/tag433.xml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tags" Target="../tags/tag460.xml"/><Relationship Id="rId20" Type="http://schemas.openxmlformats.org/officeDocument/2006/relationships/tags" Target="../tags/tag471.xml"/><Relationship Id="rId21" Type="http://schemas.openxmlformats.org/officeDocument/2006/relationships/tags" Target="../tags/tag472.xml"/><Relationship Id="rId22" Type="http://schemas.openxmlformats.org/officeDocument/2006/relationships/tags" Target="../tags/tag473.xml"/><Relationship Id="rId23" Type="http://schemas.openxmlformats.org/officeDocument/2006/relationships/tags" Target="../tags/tag474.xml"/><Relationship Id="rId24" Type="http://schemas.openxmlformats.org/officeDocument/2006/relationships/tags" Target="../tags/tag475.xml"/><Relationship Id="rId25" Type="http://schemas.openxmlformats.org/officeDocument/2006/relationships/tags" Target="../tags/tag476.xml"/><Relationship Id="rId26" Type="http://schemas.openxmlformats.org/officeDocument/2006/relationships/tags" Target="../tags/tag477.xml"/><Relationship Id="rId27" Type="http://schemas.openxmlformats.org/officeDocument/2006/relationships/tags" Target="../tags/tag478.xml"/><Relationship Id="rId28" Type="http://schemas.openxmlformats.org/officeDocument/2006/relationships/slideLayout" Target="../slideLayouts/slideLayout3.xml"/><Relationship Id="rId29" Type="http://schemas.openxmlformats.org/officeDocument/2006/relationships/notesSlide" Target="../notesSlides/notesSlide31.xml"/><Relationship Id="rId10" Type="http://schemas.openxmlformats.org/officeDocument/2006/relationships/tags" Target="../tags/tag461.xml"/><Relationship Id="rId11" Type="http://schemas.openxmlformats.org/officeDocument/2006/relationships/tags" Target="../tags/tag462.xml"/><Relationship Id="rId12" Type="http://schemas.openxmlformats.org/officeDocument/2006/relationships/tags" Target="../tags/tag463.xml"/><Relationship Id="rId13" Type="http://schemas.openxmlformats.org/officeDocument/2006/relationships/tags" Target="../tags/tag464.xml"/><Relationship Id="rId14" Type="http://schemas.openxmlformats.org/officeDocument/2006/relationships/tags" Target="../tags/tag465.xml"/><Relationship Id="rId15" Type="http://schemas.openxmlformats.org/officeDocument/2006/relationships/tags" Target="../tags/tag466.xml"/><Relationship Id="rId16" Type="http://schemas.openxmlformats.org/officeDocument/2006/relationships/tags" Target="../tags/tag467.xml"/><Relationship Id="rId17" Type="http://schemas.openxmlformats.org/officeDocument/2006/relationships/tags" Target="../tags/tag468.xml"/><Relationship Id="rId18" Type="http://schemas.openxmlformats.org/officeDocument/2006/relationships/tags" Target="../tags/tag469.xml"/><Relationship Id="rId19" Type="http://schemas.openxmlformats.org/officeDocument/2006/relationships/tags" Target="../tags/tag470.xml"/><Relationship Id="rId1" Type="http://schemas.openxmlformats.org/officeDocument/2006/relationships/tags" Target="../tags/tag452.xml"/><Relationship Id="rId2" Type="http://schemas.openxmlformats.org/officeDocument/2006/relationships/tags" Target="../tags/tag453.xml"/><Relationship Id="rId3" Type="http://schemas.openxmlformats.org/officeDocument/2006/relationships/tags" Target="../tags/tag454.xml"/><Relationship Id="rId4" Type="http://schemas.openxmlformats.org/officeDocument/2006/relationships/tags" Target="../tags/tag455.xml"/><Relationship Id="rId5" Type="http://schemas.openxmlformats.org/officeDocument/2006/relationships/tags" Target="../tags/tag456.xml"/><Relationship Id="rId6" Type="http://schemas.openxmlformats.org/officeDocument/2006/relationships/tags" Target="../tags/tag457.xml"/><Relationship Id="rId7" Type="http://schemas.openxmlformats.org/officeDocument/2006/relationships/tags" Target="../tags/tag458.xml"/><Relationship Id="rId8" Type="http://schemas.openxmlformats.org/officeDocument/2006/relationships/tags" Target="../tags/tag45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43.xml.rels><?xml version="1.0" encoding="UTF-8" standalone="yes"?>
<Relationships xmlns="http://schemas.openxmlformats.org/package/2006/relationships"><Relationship Id="rId20" Type="http://schemas.openxmlformats.org/officeDocument/2006/relationships/tags" Target="../tags/tag498.xml"/><Relationship Id="rId21" Type="http://schemas.openxmlformats.org/officeDocument/2006/relationships/tags" Target="../tags/tag499.xml"/><Relationship Id="rId22" Type="http://schemas.openxmlformats.org/officeDocument/2006/relationships/tags" Target="../tags/tag500.xml"/><Relationship Id="rId23" Type="http://schemas.openxmlformats.org/officeDocument/2006/relationships/tags" Target="../tags/tag501.xml"/><Relationship Id="rId24" Type="http://schemas.openxmlformats.org/officeDocument/2006/relationships/tags" Target="../tags/tag502.xml"/><Relationship Id="rId25" Type="http://schemas.openxmlformats.org/officeDocument/2006/relationships/tags" Target="../tags/tag503.xml"/><Relationship Id="rId26" Type="http://schemas.openxmlformats.org/officeDocument/2006/relationships/tags" Target="../tags/tag504.xml"/><Relationship Id="rId27" Type="http://schemas.openxmlformats.org/officeDocument/2006/relationships/tags" Target="../tags/tag505.xml"/><Relationship Id="rId28" Type="http://schemas.openxmlformats.org/officeDocument/2006/relationships/tags" Target="../tags/tag506.xml"/><Relationship Id="rId29" Type="http://schemas.openxmlformats.org/officeDocument/2006/relationships/tags" Target="../tags/tag507.xml"/><Relationship Id="rId1" Type="http://schemas.openxmlformats.org/officeDocument/2006/relationships/tags" Target="../tags/tag479.xml"/><Relationship Id="rId2" Type="http://schemas.openxmlformats.org/officeDocument/2006/relationships/tags" Target="../tags/tag480.xml"/><Relationship Id="rId3" Type="http://schemas.openxmlformats.org/officeDocument/2006/relationships/tags" Target="../tags/tag481.xml"/><Relationship Id="rId4" Type="http://schemas.openxmlformats.org/officeDocument/2006/relationships/tags" Target="../tags/tag482.xml"/><Relationship Id="rId5" Type="http://schemas.openxmlformats.org/officeDocument/2006/relationships/tags" Target="../tags/tag483.xml"/><Relationship Id="rId30" Type="http://schemas.openxmlformats.org/officeDocument/2006/relationships/tags" Target="../tags/tag508.xml"/><Relationship Id="rId31" Type="http://schemas.openxmlformats.org/officeDocument/2006/relationships/tags" Target="../tags/tag509.xml"/><Relationship Id="rId32" Type="http://schemas.openxmlformats.org/officeDocument/2006/relationships/slideLayout" Target="../slideLayouts/slideLayout3.xml"/><Relationship Id="rId9" Type="http://schemas.openxmlformats.org/officeDocument/2006/relationships/tags" Target="../tags/tag487.xml"/><Relationship Id="rId6" Type="http://schemas.openxmlformats.org/officeDocument/2006/relationships/tags" Target="../tags/tag484.xml"/><Relationship Id="rId7" Type="http://schemas.openxmlformats.org/officeDocument/2006/relationships/tags" Target="../tags/tag485.xml"/><Relationship Id="rId8" Type="http://schemas.openxmlformats.org/officeDocument/2006/relationships/tags" Target="../tags/tag486.xml"/><Relationship Id="rId33" Type="http://schemas.openxmlformats.org/officeDocument/2006/relationships/notesSlide" Target="../notesSlides/notesSlide33.xml"/><Relationship Id="rId34" Type="http://schemas.openxmlformats.org/officeDocument/2006/relationships/customXml" Target="../ink/ink1.xml"/><Relationship Id="rId35" Type="http://schemas.openxmlformats.org/officeDocument/2006/relationships/image" Target="NULL"/><Relationship Id="rId36" Type="http://schemas.openxmlformats.org/officeDocument/2006/relationships/customXml" Target="../ink/ink2.xml"/><Relationship Id="rId10" Type="http://schemas.openxmlformats.org/officeDocument/2006/relationships/tags" Target="../tags/tag488.xml"/><Relationship Id="rId11" Type="http://schemas.openxmlformats.org/officeDocument/2006/relationships/tags" Target="../tags/tag489.xml"/><Relationship Id="rId12" Type="http://schemas.openxmlformats.org/officeDocument/2006/relationships/tags" Target="../tags/tag490.xml"/><Relationship Id="rId13" Type="http://schemas.openxmlformats.org/officeDocument/2006/relationships/tags" Target="../tags/tag491.xml"/><Relationship Id="rId14" Type="http://schemas.openxmlformats.org/officeDocument/2006/relationships/tags" Target="../tags/tag492.xml"/><Relationship Id="rId15" Type="http://schemas.openxmlformats.org/officeDocument/2006/relationships/tags" Target="../tags/tag493.xml"/><Relationship Id="rId16" Type="http://schemas.openxmlformats.org/officeDocument/2006/relationships/tags" Target="../tags/tag494.xml"/><Relationship Id="rId17" Type="http://schemas.openxmlformats.org/officeDocument/2006/relationships/tags" Target="../tags/tag495.xml"/><Relationship Id="rId18" Type="http://schemas.openxmlformats.org/officeDocument/2006/relationships/tags" Target="../tags/tag496.xml"/><Relationship Id="rId19" Type="http://schemas.openxmlformats.org/officeDocument/2006/relationships/tags" Target="../tags/tag497.xml"/><Relationship Id="rId37" Type="http://schemas.openxmlformats.org/officeDocument/2006/relationships/image" Target="NULL"/></Relationships>
</file>

<file path=ppt/slides/_rels/slide44.xml.rels><?xml version="1.0" encoding="UTF-8" standalone="yes"?>
<Relationships xmlns="http://schemas.openxmlformats.org/package/2006/relationships"><Relationship Id="rId20" Type="http://schemas.openxmlformats.org/officeDocument/2006/relationships/tags" Target="../tags/tag529.xml"/><Relationship Id="rId21" Type="http://schemas.openxmlformats.org/officeDocument/2006/relationships/tags" Target="../tags/tag530.xml"/><Relationship Id="rId22" Type="http://schemas.openxmlformats.org/officeDocument/2006/relationships/tags" Target="../tags/tag531.xml"/><Relationship Id="rId23" Type="http://schemas.openxmlformats.org/officeDocument/2006/relationships/tags" Target="../tags/tag532.xml"/><Relationship Id="rId24" Type="http://schemas.openxmlformats.org/officeDocument/2006/relationships/tags" Target="../tags/tag533.xml"/><Relationship Id="rId25" Type="http://schemas.openxmlformats.org/officeDocument/2006/relationships/tags" Target="../tags/tag534.xml"/><Relationship Id="rId26" Type="http://schemas.openxmlformats.org/officeDocument/2006/relationships/tags" Target="../tags/tag535.xml"/><Relationship Id="rId27" Type="http://schemas.openxmlformats.org/officeDocument/2006/relationships/tags" Target="../tags/tag536.xml"/><Relationship Id="rId28" Type="http://schemas.openxmlformats.org/officeDocument/2006/relationships/tags" Target="../tags/tag537.xml"/><Relationship Id="rId29" Type="http://schemas.openxmlformats.org/officeDocument/2006/relationships/tags" Target="../tags/tag538.xml"/><Relationship Id="rId1" Type="http://schemas.openxmlformats.org/officeDocument/2006/relationships/tags" Target="../tags/tag510.xml"/><Relationship Id="rId2" Type="http://schemas.openxmlformats.org/officeDocument/2006/relationships/tags" Target="../tags/tag511.xml"/><Relationship Id="rId3" Type="http://schemas.openxmlformats.org/officeDocument/2006/relationships/tags" Target="../tags/tag512.xml"/><Relationship Id="rId4" Type="http://schemas.openxmlformats.org/officeDocument/2006/relationships/tags" Target="../tags/tag513.xml"/><Relationship Id="rId5" Type="http://schemas.openxmlformats.org/officeDocument/2006/relationships/tags" Target="../tags/tag514.xml"/><Relationship Id="rId30" Type="http://schemas.openxmlformats.org/officeDocument/2006/relationships/tags" Target="../tags/tag539.xml"/><Relationship Id="rId31" Type="http://schemas.openxmlformats.org/officeDocument/2006/relationships/tags" Target="../tags/tag540.xml"/><Relationship Id="rId32" Type="http://schemas.openxmlformats.org/officeDocument/2006/relationships/tags" Target="../tags/tag541.xml"/><Relationship Id="rId9" Type="http://schemas.openxmlformats.org/officeDocument/2006/relationships/tags" Target="../tags/tag518.xml"/><Relationship Id="rId6" Type="http://schemas.openxmlformats.org/officeDocument/2006/relationships/tags" Target="../tags/tag515.xml"/><Relationship Id="rId7" Type="http://schemas.openxmlformats.org/officeDocument/2006/relationships/tags" Target="../tags/tag516.xml"/><Relationship Id="rId8" Type="http://schemas.openxmlformats.org/officeDocument/2006/relationships/tags" Target="../tags/tag517.xml"/><Relationship Id="rId33" Type="http://schemas.openxmlformats.org/officeDocument/2006/relationships/tags" Target="../tags/tag542.xml"/><Relationship Id="rId34" Type="http://schemas.openxmlformats.org/officeDocument/2006/relationships/tags" Target="../tags/tag543.xml"/><Relationship Id="rId35" Type="http://schemas.openxmlformats.org/officeDocument/2006/relationships/tags" Target="../tags/tag544.xml"/><Relationship Id="rId36" Type="http://schemas.openxmlformats.org/officeDocument/2006/relationships/slideLayout" Target="../slideLayouts/slideLayout3.xml"/><Relationship Id="rId10" Type="http://schemas.openxmlformats.org/officeDocument/2006/relationships/tags" Target="../tags/tag519.xml"/><Relationship Id="rId11" Type="http://schemas.openxmlformats.org/officeDocument/2006/relationships/tags" Target="../tags/tag520.xml"/><Relationship Id="rId12" Type="http://schemas.openxmlformats.org/officeDocument/2006/relationships/tags" Target="../tags/tag521.xml"/><Relationship Id="rId13" Type="http://schemas.openxmlformats.org/officeDocument/2006/relationships/tags" Target="../tags/tag522.xml"/><Relationship Id="rId14" Type="http://schemas.openxmlformats.org/officeDocument/2006/relationships/tags" Target="../tags/tag523.xml"/><Relationship Id="rId15" Type="http://schemas.openxmlformats.org/officeDocument/2006/relationships/tags" Target="../tags/tag524.xml"/><Relationship Id="rId16" Type="http://schemas.openxmlformats.org/officeDocument/2006/relationships/tags" Target="../tags/tag525.xml"/><Relationship Id="rId17" Type="http://schemas.openxmlformats.org/officeDocument/2006/relationships/tags" Target="../tags/tag526.xml"/><Relationship Id="rId18" Type="http://schemas.openxmlformats.org/officeDocument/2006/relationships/tags" Target="../tags/tag527.xml"/><Relationship Id="rId19" Type="http://schemas.openxmlformats.org/officeDocument/2006/relationships/tags" Target="../tags/tag528.xml"/><Relationship Id="rId37" Type="http://schemas.openxmlformats.org/officeDocument/2006/relationships/notesSlide" Target="../notesSlides/notesSlide34.xml"/><Relationship Id="rId38" Type="http://schemas.openxmlformats.org/officeDocument/2006/relationships/customXml" Target="../ink/ink3.xml"/><Relationship Id="rId39" Type="http://schemas.openxmlformats.org/officeDocument/2006/relationships/image" Target="NULL"/><Relationship Id="rId40" Type="http://schemas.openxmlformats.org/officeDocument/2006/relationships/customXml" Target="../ink/ink4.xml"/><Relationship Id="rId41" Type="http://schemas.openxmlformats.org/officeDocument/2006/relationships/image" Target="NULL"/></Relationships>
</file>

<file path=ppt/slides/_rels/slide45.xml.rels><?xml version="1.0" encoding="UTF-8" standalone="yes"?>
<Relationships xmlns="http://schemas.openxmlformats.org/package/2006/relationships"><Relationship Id="rId11" Type="http://schemas.openxmlformats.org/officeDocument/2006/relationships/tags" Target="../tags/tag555.xml"/><Relationship Id="rId12" Type="http://schemas.openxmlformats.org/officeDocument/2006/relationships/tags" Target="../tags/tag556.xml"/><Relationship Id="rId13" Type="http://schemas.openxmlformats.org/officeDocument/2006/relationships/tags" Target="../tags/tag557.xml"/><Relationship Id="rId14" Type="http://schemas.openxmlformats.org/officeDocument/2006/relationships/tags" Target="../tags/tag558.xml"/><Relationship Id="rId15" Type="http://schemas.openxmlformats.org/officeDocument/2006/relationships/tags" Target="../tags/tag559.xml"/><Relationship Id="rId16" Type="http://schemas.openxmlformats.org/officeDocument/2006/relationships/slideLayout" Target="../slideLayouts/slideLayout3.xml"/><Relationship Id="rId17" Type="http://schemas.openxmlformats.org/officeDocument/2006/relationships/notesSlide" Target="../notesSlides/notesSlide35.xml"/><Relationship Id="rId1" Type="http://schemas.openxmlformats.org/officeDocument/2006/relationships/tags" Target="../tags/tag545.xml"/><Relationship Id="rId2" Type="http://schemas.openxmlformats.org/officeDocument/2006/relationships/tags" Target="../tags/tag546.xml"/><Relationship Id="rId3" Type="http://schemas.openxmlformats.org/officeDocument/2006/relationships/tags" Target="../tags/tag547.xml"/><Relationship Id="rId4" Type="http://schemas.openxmlformats.org/officeDocument/2006/relationships/tags" Target="../tags/tag548.xml"/><Relationship Id="rId5" Type="http://schemas.openxmlformats.org/officeDocument/2006/relationships/tags" Target="../tags/tag549.xml"/><Relationship Id="rId6" Type="http://schemas.openxmlformats.org/officeDocument/2006/relationships/tags" Target="../tags/tag550.xml"/><Relationship Id="rId7" Type="http://schemas.openxmlformats.org/officeDocument/2006/relationships/tags" Target="../tags/tag551.xml"/><Relationship Id="rId8" Type="http://schemas.openxmlformats.org/officeDocument/2006/relationships/tags" Target="../tags/tag552.xml"/><Relationship Id="rId9" Type="http://schemas.openxmlformats.org/officeDocument/2006/relationships/tags" Target="../tags/tag553.xml"/><Relationship Id="rId10" Type="http://schemas.openxmlformats.org/officeDocument/2006/relationships/tags" Target="../tags/tag554.xml"/></Relationships>
</file>

<file path=ppt/slides/_rels/slide46.xml.rels><?xml version="1.0" encoding="UTF-8" standalone="yes"?>
<Relationships xmlns="http://schemas.openxmlformats.org/package/2006/relationships"><Relationship Id="rId11" Type="http://schemas.openxmlformats.org/officeDocument/2006/relationships/tags" Target="../tags/tag570.xml"/><Relationship Id="rId12" Type="http://schemas.openxmlformats.org/officeDocument/2006/relationships/tags" Target="../tags/tag571.xml"/><Relationship Id="rId13" Type="http://schemas.openxmlformats.org/officeDocument/2006/relationships/tags" Target="../tags/tag572.xml"/><Relationship Id="rId14" Type="http://schemas.openxmlformats.org/officeDocument/2006/relationships/tags" Target="../tags/tag573.xml"/><Relationship Id="rId15" Type="http://schemas.openxmlformats.org/officeDocument/2006/relationships/tags" Target="../tags/tag574.xml"/><Relationship Id="rId16" Type="http://schemas.openxmlformats.org/officeDocument/2006/relationships/tags" Target="../tags/tag575.xml"/><Relationship Id="rId17" Type="http://schemas.openxmlformats.org/officeDocument/2006/relationships/slideLayout" Target="../slideLayouts/slideLayout3.xml"/><Relationship Id="rId18" Type="http://schemas.openxmlformats.org/officeDocument/2006/relationships/notesSlide" Target="../notesSlides/notesSlide36.xml"/><Relationship Id="rId1" Type="http://schemas.openxmlformats.org/officeDocument/2006/relationships/tags" Target="../tags/tag560.xml"/><Relationship Id="rId2" Type="http://schemas.openxmlformats.org/officeDocument/2006/relationships/tags" Target="../tags/tag561.xml"/><Relationship Id="rId3" Type="http://schemas.openxmlformats.org/officeDocument/2006/relationships/tags" Target="../tags/tag562.xml"/><Relationship Id="rId4" Type="http://schemas.openxmlformats.org/officeDocument/2006/relationships/tags" Target="../tags/tag563.xml"/><Relationship Id="rId5" Type="http://schemas.openxmlformats.org/officeDocument/2006/relationships/tags" Target="../tags/tag564.xml"/><Relationship Id="rId6" Type="http://schemas.openxmlformats.org/officeDocument/2006/relationships/tags" Target="../tags/tag565.xml"/><Relationship Id="rId7" Type="http://schemas.openxmlformats.org/officeDocument/2006/relationships/tags" Target="../tags/tag566.xml"/><Relationship Id="rId8" Type="http://schemas.openxmlformats.org/officeDocument/2006/relationships/tags" Target="../tags/tag567.xml"/><Relationship Id="rId9" Type="http://schemas.openxmlformats.org/officeDocument/2006/relationships/tags" Target="../tags/tag568.xml"/><Relationship Id="rId10" Type="http://schemas.openxmlformats.org/officeDocument/2006/relationships/tags" Target="../tags/tag569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160485" y="1314638"/>
            <a:ext cx="4820230" cy="2193549"/>
          </a:xfrm>
          <a:noFill/>
        </p:spPr>
        <p:txBody>
          <a:bodyPr wrap="none" anchor="ctr"/>
          <a:lstStyle/>
          <a:p>
            <a:pPr algn="ctr"/>
            <a:r>
              <a:rPr lang="en-US" sz="3200" dirty="0" smtClean="0"/>
              <a:t>CSE 424</a:t>
            </a:r>
            <a:br>
              <a:rPr lang="en-US" sz="3200" dirty="0" smtClean="0"/>
            </a:br>
            <a:r>
              <a:rPr lang="en-US" sz="3200" dirty="0" smtClean="0"/>
              <a:t> Computer Architecture </a:t>
            </a:r>
            <a:r>
              <a:rPr lang="en-US" sz="3200" smtClean="0"/>
              <a:t/>
            </a:r>
            <a:br>
              <a:rPr lang="en-US" sz="320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MIPS ISA (contd.)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2430409"/>
          </a:xfrm>
          <a:noFill/>
        </p:spPr>
        <p:txBody>
          <a:bodyPr/>
          <a:lstStyle/>
          <a:p>
            <a:pPr marL="203200" indent="-203200"/>
            <a:r>
              <a:rPr lang="en-US" dirty="0" smtClean="0"/>
              <a:t>Adwait </a:t>
            </a:r>
            <a:r>
              <a:rPr lang="en-US" dirty="0"/>
              <a:t>Jog (http://</a:t>
            </a:r>
            <a:r>
              <a:rPr lang="en-US" dirty="0" err="1"/>
              <a:t>adwaitjog.github.io</a:t>
            </a:r>
            <a:r>
              <a:rPr lang="en-US" dirty="0"/>
              <a:t>/) </a:t>
            </a:r>
            <a:endParaRPr lang="en-US" dirty="0" smtClean="0"/>
          </a:p>
          <a:p>
            <a:pPr marL="203200" indent="-203200"/>
            <a:endParaRPr lang="en-US" dirty="0" smtClean="0"/>
          </a:p>
          <a:p>
            <a:pPr marL="203200" indent="-203200"/>
            <a:r>
              <a:rPr lang="en-US" sz="2000" dirty="0" smtClean="0"/>
              <a:t>Based on the slides from Mary. J. Irwin (Penn State)</a:t>
            </a:r>
          </a:p>
          <a:p>
            <a:pPr marL="203200" indent="-203200">
              <a:spcBef>
                <a:spcPct val="30000"/>
              </a:spcBef>
            </a:pPr>
            <a:r>
              <a:rPr lang="en-US" sz="1800" dirty="0" smtClean="0"/>
              <a:t>[Adapted from </a:t>
            </a:r>
            <a:r>
              <a:rPr lang="en-US" sz="1800" i="1" dirty="0" smtClean="0"/>
              <a:t>Computer Organization and Design, </a:t>
            </a:r>
          </a:p>
          <a:p>
            <a:pPr marL="203200" indent="-203200">
              <a:spcBef>
                <a:spcPct val="30000"/>
              </a:spcBef>
            </a:pPr>
            <a:r>
              <a:rPr lang="en-US" sz="1800" i="1" dirty="0" smtClean="0"/>
              <a:t>5</a:t>
            </a:r>
            <a:r>
              <a:rPr lang="en-US" sz="1800" i="1" baseline="30000" dirty="0" smtClean="0"/>
              <a:t>th</a:t>
            </a:r>
            <a:r>
              <a:rPr lang="en-US" sz="1800" i="1" dirty="0" smtClean="0"/>
              <a:t> Edition</a:t>
            </a:r>
            <a:r>
              <a:rPr lang="en-US" sz="1800" dirty="0"/>
              <a:t>, Patterson &amp; </a:t>
            </a:r>
            <a:r>
              <a:rPr lang="en-US" sz="1800" dirty="0" smtClean="0"/>
              <a:t>Hennessy, </a:t>
            </a:r>
          </a:p>
          <a:p>
            <a:pPr marL="203200" indent="-203200">
              <a:spcBef>
                <a:spcPct val="30000"/>
              </a:spcBef>
            </a:pPr>
            <a:r>
              <a:rPr lang="en-US" sz="1800" dirty="0" smtClean="0"/>
              <a:t>Morgan Kaufmann]</a:t>
            </a:r>
          </a:p>
        </p:txBody>
      </p:sp>
    </p:spTree>
    <p:extLst>
      <p:ext uri="{BB962C8B-B14F-4D97-AF65-F5344CB8AC3E}">
        <p14:creationId xmlns:p14="http://schemas.microsoft.com/office/powerpoint/2010/main" val="20182929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MIPS Instruction Fields</a:t>
            </a:r>
          </a:p>
        </p:txBody>
      </p:sp>
      <p:sp>
        <p:nvSpPr>
          <p:cNvPr id="290819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09600" y="2438400"/>
            <a:ext cx="7848600" cy="3021013"/>
          </a:xfrm>
        </p:spPr>
        <p:txBody>
          <a:bodyPr/>
          <a:lstStyle/>
          <a:p>
            <a:r>
              <a:rPr lang="en-US" altLang="zh-CN" i="1">
                <a:ea typeface="宋体" pitchFamily="2" charset="-122"/>
              </a:rPr>
              <a:t>op</a:t>
            </a:r>
          </a:p>
          <a:p>
            <a:r>
              <a:rPr lang="en-US" altLang="zh-CN" i="1">
                <a:ea typeface="宋体" pitchFamily="2" charset="-122"/>
              </a:rPr>
              <a:t>rs</a:t>
            </a:r>
          </a:p>
          <a:p>
            <a:r>
              <a:rPr lang="en-US" altLang="zh-CN" i="1">
                <a:ea typeface="宋体" pitchFamily="2" charset="-122"/>
              </a:rPr>
              <a:t>rt</a:t>
            </a:r>
          </a:p>
          <a:p>
            <a:r>
              <a:rPr lang="en-US" altLang="zh-CN" i="1">
                <a:ea typeface="宋体" pitchFamily="2" charset="-122"/>
              </a:rPr>
              <a:t>rd</a:t>
            </a:r>
          </a:p>
          <a:p>
            <a:r>
              <a:rPr lang="en-US" altLang="zh-CN" i="1">
                <a:ea typeface="宋体" pitchFamily="2" charset="-122"/>
              </a:rPr>
              <a:t>shamt</a:t>
            </a:r>
          </a:p>
          <a:p>
            <a:r>
              <a:rPr lang="en-US" altLang="zh-CN" i="1">
                <a:ea typeface="宋体" pitchFamily="2" charset="-122"/>
              </a:rPr>
              <a:t>funct</a:t>
            </a:r>
          </a:p>
        </p:txBody>
      </p:sp>
      <p:grpSp>
        <p:nvGrpSpPr>
          <p:cNvPr id="2" name="Group 4"/>
          <p:cNvGrpSpPr>
            <a:grpSpLocks/>
          </p:cNvGrpSpPr>
          <p:nvPr>
            <p:custDataLst>
              <p:tags r:id="rId3"/>
            </p:custDataLst>
          </p:nvPr>
        </p:nvGrpSpPr>
        <p:grpSpPr bwMode="auto">
          <a:xfrm>
            <a:off x="1600200" y="1219200"/>
            <a:ext cx="5791200" cy="366713"/>
            <a:chOff x="1056" y="2640"/>
            <a:chExt cx="3648" cy="231"/>
          </a:xfrm>
        </p:grpSpPr>
        <p:sp>
          <p:nvSpPr>
            <p:cNvPr id="290821" name="Rectangle 5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056" y="2640"/>
              <a:ext cx="3648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0822" name="Line 6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>
              <a:off x="1728" y="2640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90823" name="Line 7"/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auto">
            <a:xfrm>
              <a:off x="2300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90824" name="Line 8"/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>
              <a:off x="2876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90825" name="Line 9"/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>
              <a:off x="3452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90826" name="Line 10"/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>
              <a:off x="4028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90827" name="Text Box 11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1248" y="2640"/>
              <a:ext cx="3316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op           rs            rt            rd        shamt       funct</a:t>
              </a:r>
            </a:p>
          </p:txBody>
        </p:sp>
      </p:grpSp>
      <p:sp>
        <p:nvSpPr>
          <p:cNvPr id="290828" name="Rectangle 1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1600200"/>
            <a:ext cx="550863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6 bits</a:t>
            </a:r>
          </a:p>
        </p:txBody>
      </p:sp>
      <p:sp>
        <p:nvSpPr>
          <p:cNvPr id="290829" name="Rectangle 13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819400" y="1600200"/>
            <a:ext cx="550863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5 bits</a:t>
            </a:r>
          </a:p>
        </p:txBody>
      </p:sp>
      <p:sp>
        <p:nvSpPr>
          <p:cNvPr id="290830" name="Rectangle 14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733800" y="1600200"/>
            <a:ext cx="550863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5 bits</a:t>
            </a:r>
          </a:p>
        </p:txBody>
      </p:sp>
      <p:sp>
        <p:nvSpPr>
          <p:cNvPr id="290831" name="Rectangle 15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648200" y="1600200"/>
            <a:ext cx="550863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5 bits</a:t>
            </a:r>
          </a:p>
        </p:txBody>
      </p:sp>
      <p:sp>
        <p:nvSpPr>
          <p:cNvPr id="290832" name="Rectangle 16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5562600" y="1600200"/>
            <a:ext cx="550863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5 bits</a:t>
            </a:r>
          </a:p>
        </p:txBody>
      </p:sp>
      <p:sp>
        <p:nvSpPr>
          <p:cNvPr id="290833" name="Rectangle 17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629400" y="1600200"/>
            <a:ext cx="550863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6 bits</a:t>
            </a:r>
          </a:p>
        </p:txBody>
      </p:sp>
      <p:sp>
        <p:nvSpPr>
          <p:cNvPr id="290834" name="Rectangle 18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7772400" y="1600200"/>
            <a:ext cx="990600" cy="263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r>
              <a:rPr lang="en-US" altLang="zh-CN" sz="1400">
                <a:solidFill>
                  <a:schemeClr val="tx1"/>
                </a:solidFill>
                <a:ea typeface="宋体" pitchFamily="2" charset="-122"/>
              </a:rPr>
              <a:t>= 32 bits</a:t>
            </a:r>
          </a:p>
        </p:txBody>
      </p:sp>
      <p:sp>
        <p:nvSpPr>
          <p:cNvPr id="290835" name="Rectangle 19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1981200" y="2428868"/>
            <a:ext cx="7086600" cy="3794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marL="287338" indent="-287338">
              <a:lnSpc>
                <a:spcPct val="90000"/>
              </a:lnSpc>
              <a:spcBef>
                <a:spcPct val="65000"/>
              </a:spcBef>
              <a:buClr>
                <a:schemeClr val="accent1"/>
              </a:buClr>
              <a:buSzPct val="75000"/>
              <a:buFont typeface="Wingdings" pitchFamily="2" charset="2"/>
              <a:buNone/>
            </a:pPr>
            <a:r>
              <a:rPr lang="en-US" altLang="zh-CN" sz="2400" b="1" dirty="0" err="1">
                <a:ea typeface="宋体" pitchFamily="2" charset="-122"/>
              </a:rPr>
              <a:t>op</a:t>
            </a:r>
            <a:r>
              <a:rPr lang="en-US" altLang="zh-CN" sz="2400" dirty="0" err="1">
                <a:solidFill>
                  <a:schemeClr val="accent2"/>
                </a:solidFill>
                <a:ea typeface="宋体" pitchFamily="2" charset="-122"/>
              </a:rPr>
              <a:t>code</a:t>
            </a:r>
            <a:r>
              <a:rPr lang="en-US" altLang="zh-CN" sz="2400" dirty="0">
                <a:solidFill>
                  <a:schemeClr val="accent2"/>
                </a:solidFill>
                <a:ea typeface="宋体" pitchFamily="2" charset="-122"/>
              </a:rPr>
              <a:t> indicating operation to be performed</a:t>
            </a:r>
          </a:p>
        </p:txBody>
      </p:sp>
      <p:sp>
        <p:nvSpPr>
          <p:cNvPr id="290836" name="Rectangle 20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1981200" y="2971800"/>
            <a:ext cx="7086600" cy="38369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marL="287338" indent="-287338">
              <a:lnSpc>
                <a:spcPct val="90000"/>
              </a:lnSpc>
              <a:spcBef>
                <a:spcPct val="65000"/>
              </a:spcBef>
              <a:buClr>
                <a:schemeClr val="accent1"/>
              </a:buClr>
              <a:buSzPct val="75000"/>
              <a:buFont typeface="Wingdings" pitchFamily="2" charset="2"/>
              <a:buNone/>
            </a:pPr>
            <a:r>
              <a:rPr lang="en-US" altLang="zh-CN" sz="2400" b="1" dirty="0" smtClean="0">
                <a:solidFill>
                  <a:srgbClr val="FF0000"/>
                </a:solidFill>
                <a:ea typeface="宋体" pitchFamily="2" charset="-122"/>
              </a:rPr>
              <a:t>r</a:t>
            </a:r>
            <a:r>
              <a:rPr lang="en-US" altLang="zh-CN" sz="2400" dirty="0" smtClean="0">
                <a:solidFill>
                  <a:schemeClr val="accent2"/>
                </a:solidFill>
                <a:ea typeface="宋体" pitchFamily="2" charset="-122"/>
              </a:rPr>
              <a:t>egister file address </a:t>
            </a:r>
            <a:r>
              <a:rPr lang="en-US" altLang="zh-CN" sz="2400" dirty="0">
                <a:solidFill>
                  <a:schemeClr val="accent2"/>
                </a:solidFill>
                <a:ea typeface="宋体" pitchFamily="2" charset="-122"/>
              </a:rPr>
              <a:t>of the first </a:t>
            </a:r>
            <a:r>
              <a:rPr lang="en-US" altLang="zh-CN" sz="2400" b="1" dirty="0" smtClean="0">
                <a:solidFill>
                  <a:srgbClr val="FF0000"/>
                </a:solidFill>
                <a:ea typeface="宋体" pitchFamily="2" charset="-122"/>
              </a:rPr>
              <a:t>s</a:t>
            </a:r>
            <a:r>
              <a:rPr lang="en-US" altLang="zh-CN" sz="2400" dirty="0" smtClean="0">
                <a:solidFill>
                  <a:schemeClr val="accent2"/>
                </a:solidFill>
                <a:ea typeface="宋体" pitchFamily="2" charset="-122"/>
              </a:rPr>
              <a:t>ource </a:t>
            </a:r>
            <a:r>
              <a:rPr lang="en-US" altLang="zh-CN" sz="2400" dirty="0">
                <a:solidFill>
                  <a:schemeClr val="accent2"/>
                </a:solidFill>
                <a:ea typeface="宋体" pitchFamily="2" charset="-122"/>
              </a:rPr>
              <a:t>operand</a:t>
            </a:r>
          </a:p>
        </p:txBody>
      </p:sp>
      <p:sp>
        <p:nvSpPr>
          <p:cNvPr id="290837" name="Rectangle 21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1981200" y="3581400"/>
            <a:ext cx="7086600" cy="38369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marL="287338" indent="-287338">
              <a:lnSpc>
                <a:spcPct val="90000"/>
              </a:lnSpc>
              <a:spcBef>
                <a:spcPct val="65000"/>
              </a:spcBef>
              <a:buClr>
                <a:schemeClr val="accent1"/>
              </a:buClr>
              <a:buSzPct val="75000"/>
              <a:buFont typeface="Wingdings" pitchFamily="2" charset="2"/>
              <a:buNone/>
            </a:pPr>
            <a:r>
              <a:rPr lang="en-US" altLang="zh-CN" sz="2400" b="1" dirty="0" smtClean="0">
                <a:solidFill>
                  <a:srgbClr val="FF0000"/>
                </a:solidFill>
                <a:ea typeface="宋体" pitchFamily="2" charset="-122"/>
              </a:rPr>
              <a:t>r</a:t>
            </a:r>
            <a:r>
              <a:rPr lang="en-US" altLang="zh-CN" sz="2400" dirty="0" smtClean="0">
                <a:solidFill>
                  <a:schemeClr val="accent2"/>
                </a:solidFill>
                <a:ea typeface="宋体" pitchFamily="2" charset="-122"/>
              </a:rPr>
              <a:t>egister file address </a:t>
            </a:r>
            <a:r>
              <a:rPr lang="en-US" altLang="zh-CN" sz="2400" dirty="0">
                <a:solidFill>
                  <a:schemeClr val="accent2"/>
                </a:solidFill>
                <a:ea typeface="宋体" pitchFamily="2" charset="-122"/>
              </a:rPr>
              <a:t>of the second </a:t>
            </a:r>
            <a:r>
              <a:rPr lang="en-US" altLang="zh-CN" sz="2400" dirty="0" smtClean="0">
                <a:solidFill>
                  <a:schemeClr val="accent2"/>
                </a:solidFill>
                <a:ea typeface="宋体" pitchFamily="2" charset="-122"/>
              </a:rPr>
              <a:t>source </a:t>
            </a:r>
            <a:r>
              <a:rPr lang="en-US" altLang="zh-CN" sz="2400" dirty="0">
                <a:solidFill>
                  <a:schemeClr val="accent2"/>
                </a:solidFill>
                <a:ea typeface="宋体" pitchFamily="2" charset="-122"/>
              </a:rPr>
              <a:t>operand</a:t>
            </a:r>
          </a:p>
        </p:txBody>
      </p:sp>
      <p:sp>
        <p:nvSpPr>
          <p:cNvPr id="290838" name="Rectangle 22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1981200" y="4188305"/>
            <a:ext cx="7086600" cy="38369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marL="287338" indent="-287338">
              <a:lnSpc>
                <a:spcPct val="90000"/>
              </a:lnSpc>
              <a:spcBef>
                <a:spcPct val="65000"/>
              </a:spcBef>
              <a:buClr>
                <a:schemeClr val="accent1"/>
              </a:buClr>
              <a:buSzPct val="75000"/>
              <a:buFont typeface="Wingdings" pitchFamily="2" charset="2"/>
              <a:buNone/>
            </a:pPr>
            <a:r>
              <a:rPr lang="en-US" altLang="zh-CN" sz="2400" b="1" dirty="0" smtClean="0">
                <a:ea typeface="宋体" pitchFamily="2" charset="-122"/>
              </a:rPr>
              <a:t>r</a:t>
            </a:r>
            <a:r>
              <a:rPr lang="en-US" altLang="zh-CN" sz="2400" dirty="0" smtClean="0">
                <a:solidFill>
                  <a:schemeClr val="accent2"/>
                </a:solidFill>
                <a:ea typeface="宋体" pitchFamily="2" charset="-122"/>
              </a:rPr>
              <a:t>egister file address of the result’s </a:t>
            </a:r>
            <a:r>
              <a:rPr lang="en-US" altLang="zh-CN" sz="2400" b="1" dirty="0" smtClean="0">
                <a:ea typeface="宋体" pitchFamily="2" charset="-122"/>
              </a:rPr>
              <a:t>d</a:t>
            </a:r>
            <a:r>
              <a:rPr lang="en-US" altLang="zh-CN" sz="2400" dirty="0" smtClean="0">
                <a:solidFill>
                  <a:schemeClr val="accent2"/>
                </a:solidFill>
                <a:ea typeface="宋体" pitchFamily="2" charset="-122"/>
              </a:rPr>
              <a:t>estination</a:t>
            </a:r>
            <a:endParaRPr lang="en-US" altLang="zh-CN" sz="2400" dirty="0">
              <a:solidFill>
                <a:schemeClr val="accent2"/>
              </a:solidFill>
              <a:ea typeface="宋体" pitchFamily="2" charset="-122"/>
            </a:endParaRPr>
          </a:p>
        </p:txBody>
      </p:sp>
      <p:sp>
        <p:nvSpPr>
          <p:cNvPr id="290839" name="Rectangle 23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1981200" y="4670425"/>
            <a:ext cx="7086600" cy="4349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marL="287338" indent="-287338">
              <a:lnSpc>
                <a:spcPct val="90000"/>
              </a:lnSpc>
              <a:spcBef>
                <a:spcPct val="65000"/>
              </a:spcBef>
              <a:buClr>
                <a:schemeClr val="accent1"/>
              </a:buClr>
              <a:buSzPct val="75000"/>
              <a:buFont typeface="Wingdings" pitchFamily="2" charset="2"/>
              <a:buNone/>
            </a:pPr>
            <a:r>
              <a:rPr lang="en-US" altLang="zh-CN" sz="2400" b="1" dirty="0">
                <a:ea typeface="宋体" pitchFamily="2" charset="-122"/>
              </a:rPr>
              <a:t>sh</a:t>
            </a:r>
            <a:r>
              <a:rPr lang="en-US" altLang="zh-CN" sz="2400" dirty="0">
                <a:solidFill>
                  <a:schemeClr val="accent2"/>
                </a:solidFill>
                <a:ea typeface="宋体" pitchFamily="2" charset="-122"/>
              </a:rPr>
              <a:t>ift </a:t>
            </a:r>
            <a:r>
              <a:rPr lang="en-US" altLang="zh-CN" sz="2400" b="1" dirty="0">
                <a:ea typeface="宋体" pitchFamily="2" charset="-122"/>
              </a:rPr>
              <a:t>am</a:t>
            </a:r>
            <a:r>
              <a:rPr lang="en-US" altLang="zh-CN" sz="2400" dirty="0">
                <a:solidFill>
                  <a:schemeClr val="accent2"/>
                </a:solidFill>
                <a:ea typeface="宋体" pitchFamily="2" charset="-122"/>
              </a:rPr>
              <a:t>oun</a:t>
            </a:r>
            <a:r>
              <a:rPr lang="en-US" altLang="zh-CN" sz="2800" dirty="0">
                <a:ea typeface="宋体" pitchFamily="2" charset="-122"/>
              </a:rPr>
              <a:t>t</a:t>
            </a:r>
            <a:r>
              <a:rPr lang="en-US" altLang="zh-CN" sz="2400" dirty="0">
                <a:solidFill>
                  <a:schemeClr val="accent2"/>
                </a:solidFill>
                <a:ea typeface="宋体" pitchFamily="2" charset="-122"/>
              </a:rPr>
              <a:t> (for shift instructions)</a:t>
            </a:r>
          </a:p>
        </p:txBody>
      </p:sp>
      <p:sp>
        <p:nvSpPr>
          <p:cNvPr id="290840" name="Rectangle 24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1981200" y="5311775"/>
            <a:ext cx="7086600" cy="708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marL="287338" indent="-287338">
              <a:lnSpc>
                <a:spcPct val="90000"/>
              </a:lnSpc>
              <a:spcBef>
                <a:spcPct val="65000"/>
              </a:spcBef>
              <a:buClr>
                <a:schemeClr val="accent1"/>
              </a:buClr>
              <a:buSzPct val="75000"/>
              <a:buFont typeface="Wingdings" pitchFamily="2" charset="2"/>
              <a:buNone/>
            </a:pPr>
            <a:r>
              <a:rPr lang="en-US" altLang="zh-CN" sz="2400" b="1" dirty="0">
                <a:ea typeface="宋体" pitchFamily="2" charset="-122"/>
              </a:rPr>
              <a:t>funct</a:t>
            </a:r>
            <a:r>
              <a:rPr lang="en-US" altLang="zh-CN" sz="2400" dirty="0">
                <a:solidFill>
                  <a:schemeClr val="accent2"/>
                </a:solidFill>
                <a:ea typeface="宋体" pitchFamily="2" charset="-122"/>
              </a:rPr>
              <a:t>ion code that selects the specific variant of the operation specified in the </a:t>
            </a:r>
            <a:r>
              <a:rPr lang="en-US" altLang="zh-CN" sz="2400" dirty="0" err="1">
                <a:solidFill>
                  <a:schemeClr val="accent2"/>
                </a:solidFill>
                <a:ea typeface="宋体" pitchFamily="2" charset="-122"/>
              </a:rPr>
              <a:t>opcode</a:t>
            </a:r>
            <a:r>
              <a:rPr lang="en-US" altLang="zh-CN" sz="2400" dirty="0">
                <a:solidFill>
                  <a:schemeClr val="accent2"/>
                </a:solidFill>
                <a:ea typeface="宋体" pitchFamily="2" charset="-122"/>
              </a:rPr>
              <a:t> field</a:t>
            </a:r>
          </a:p>
        </p:txBody>
      </p:sp>
    </p:spTree>
    <p:extLst>
      <p:ext uri="{BB962C8B-B14F-4D97-AF65-F5344CB8AC3E}">
        <p14:creationId xmlns:p14="http://schemas.microsoft.com/office/powerpoint/2010/main" val="12220319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0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0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0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0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0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0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835" grpId="0" autoUpdateAnimBg="0"/>
      <p:bldP spid="290836" grpId="0" autoUpdateAnimBg="0"/>
      <p:bldP spid="290837" grpId="0" autoUpdateAnimBg="0"/>
      <p:bldP spid="290838" grpId="0" autoUpdateAnimBg="0"/>
      <p:bldP spid="290839" grpId="0" autoUpdateAnimBg="0"/>
      <p:bldP spid="290840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2"/>
          <p:cNvSpPr>
            <a:spLocks noGrp="1" noChangeArrowheads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685800" y="914400"/>
            <a:ext cx="7848600" cy="5682068"/>
          </a:xfrm>
          <a:noFill/>
          <a:ln/>
        </p:spPr>
        <p:txBody>
          <a:bodyPr lIns="90488" tIns="44450" rIns="90488" bIns="44450"/>
          <a:lstStyle/>
          <a:p>
            <a:pPr marL="342900" indent="-342900">
              <a:lnSpc>
                <a:spcPct val="80000"/>
              </a:lnSpc>
            </a:pPr>
            <a:r>
              <a:rPr lang="en-US" altLang="zh-CN" dirty="0">
                <a:ea typeface="宋体" pitchFamily="2" charset="-122"/>
              </a:rPr>
              <a:t>Consider the load-word and store-word </a:t>
            </a:r>
            <a:r>
              <a:rPr lang="en-US" altLang="zh-CN" dirty="0" err="1">
                <a:ea typeface="宋体" pitchFamily="2" charset="-122"/>
              </a:rPr>
              <a:t>instr’s</a:t>
            </a:r>
            <a:endParaRPr lang="en-US" altLang="zh-CN" dirty="0">
              <a:ea typeface="宋体" pitchFamily="2" charset="-122"/>
            </a:endParaRPr>
          </a:p>
          <a:p>
            <a:pPr marL="742950" lvl="1" indent="-285750"/>
            <a:r>
              <a:rPr lang="en-US" altLang="zh-CN" dirty="0">
                <a:ea typeface="宋体" pitchFamily="2" charset="-122"/>
              </a:rPr>
              <a:t>What would the </a:t>
            </a:r>
            <a:r>
              <a:rPr lang="en-US" altLang="zh-CN" dirty="0">
                <a:solidFill>
                  <a:schemeClr val="accent1"/>
                </a:solidFill>
                <a:ea typeface="宋体" pitchFamily="2" charset="-122"/>
              </a:rPr>
              <a:t>regularity</a:t>
            </a:r>
            <a:r>
              <a:rPr lang="en-US" altLang="zh-CN" dirty="0">
                <a:ea typeface="宋体" pitchFamily="2" charset="-122"/>
              </a:rPr>
              <a:t> principle have us do?</a:t>
            </a:r>
          </a:p>
          <a:p>
            <a:pPr marL="1143000" lvl="2" indent="-228600"/>
            <a:r>
              <a:rPr lang="en-US" altLang="zh-CN" dirty="0">
                <a:ea typeface="宋体" pitchFamily="2" charset="-122"/>
              </a:rPr>
              <a:t>But . . . </a:t>
            </a:r>
            <a:r>
              <a:rPr lang="en-US" altLang="zh-CN" dirty="0">
                <a:solidFill>
                  <a:schemeClr val="accent1"/>
                </a:solidFill>
                <a:ea typeface="宋体" pitchFamily="2" charset="-122"/>
              </a:rPr>
              <a:t>Good design demands compromise</a:t>
            </a:r>
          </a:p>
          <a:p>
            <a:pPr marL="342900" indent="-342900">
              <a:lnSpc>
                <a:spcPct val="80000"/>
              </a:lnSpc>
            </a:pPr>
            <a:r>
              <a:rPr lang="en-US" altLang="zh-CN" dirty="0">
                <a:ea typeface="宋体" pitchFamily="2" charset="-122"/>
              </a:rPr>
              <a:t>Introduce a new type of instruction format</a:t>
            </a:r>
          </a:p>
          <a:p>
            <a:pPr marL="742950" lvl="1" indent="-285750"/>
            <a:r>
              <a:rPr lang="en-US" altLang="zh-CN" dirty="0">
                <a:ea typeface="宋体" pitchFamily="2" charset="-122"/>
              </a:rPr>
              <a:t>I-type for data transfer instructions (previous format was R-type for </a:t>
            </a:r>
            <a:r>
              <a:rPr lang="en-US" altLang="zh-CN" b="1" dirty="0">
                <a:solidFill>
                  <a:srgbClr val="FF0000"/>
                </a:solidFill>
                <a:ea typeface="宋体" pitchFamily="2" charset="-122"/>
              </a:rPr>
              <a:t>r</a:t>
            </a:r>
            <a:r>
              <a:rPr lang="en-US" altLang="zh-CN" dirty="0">
                <a:ea typeface="宋体" pitchFamily="2" charset="-122"/>
              </a:rPr>
              <a:t>egister)</a:t>
            </a:r>
          </a:p>
          <a:p>
            <a:pPr marL="342900" indent="-342900">
              <a:lnSpc>
                <a:spcPct val="110000"/>
              </a:lnSpc>
            </a:pPr>
            <a:r>
              <a:rPr lang="en-US" altLang="zh-CN" dirty="0">
                <a:ea typeface="宋体" pitchFamily="2" charset="-122"/>
              </a:rPr>
              <a:t>Example:  </a:t>
            </a:r>
            <a:r>
              <a:rPr lang="en-US" altLang="zh-CN" dirty="0" err="1">
                <a:latin typeface="Courier New" pitchFamily="49" charset="0"/>
                <a:ea typeface="宋体" pitchFamily="2" charset="-122"/>
              </a:rPr>
              <a:t>lw</a:t>
            </a:r>
            <a:r>
              <a:rPr lang="en-US" altLang="zh-CN" dirty="0">
                <a:latin typeface="Courier New" pitchFamily="49" charset="0"/>
                <a:ea typeface="宋体" pitchFamily="2" charset="-122"/>
              </a:rPr>
              <a:t> $t0, 24($s2)</a:t>
            </a:r>
            <a:r>
              <a:rPr lang="en-US" altLang="zh-CN" sz="2400" dirty="0">
                <a:ea typeface="宋体" pitchFamily="2" charset="-122"/>
              </a:rPr>
              <a:t/>
            </a:r>
            <a:br>
              <a:rPr lang="en-US" altLang="zh-CN" sz="2400" dirty="0">
                <a:ea typeface="宋体" pitchFamily="2" charset="-122"/>
              </a:rPr>
            </a:br>
            <a:endParaRPr lang="en-US" altLang="zh-CN" sz="2400" dirty="0" smtClean="0">
              <a:ea typeface="宋体" pitchFamily="2" charset="-122"/>
            </a:endParaRPr>
          </a:p>
          <a:p>
            <a:pPr marL="796925" lvl="1" indent="-342900">
              <a:lnSpc>
                <a:spcPct val="110000"/>
              </a:lnSpc>
              <a:buNone/>
            </a:pPr>
            <a:r>
              <a:rPr lang="en-US" altLang="zh-CN" sz="2000" dirty="0">
                <a:ea typeface="宋体" pitchFamily="2" charset="-122"/>
              </a:rPr>
              <a:t/>
            </a:r>
            <a:br>
              <a:rPr lang="en-US" altLang="zh-CN" sz="2000" dirty="0">
                <a:ea typeface="宋体" pitchFamily="2" charset="-122"/>
              </a:rPr>
            </a:br>
            <a:r>
              <a:rPr lang="en-US" altLang="zh-CN" sz="2000" dirty="0">
                <a:ea typeface="宋体" pitchFamily="2" charset="-122"/>
              </a:rPr>
              <a:t/>
            </a:r>
            <a:br>
              <a:rPr lang="en-US" altLang="zh-CN" sz="2000" dirty="0">
                <a:ea typeface="宋体" pitchFamily="2" charset="-122"/>
              </a:rPr>
            </a:br>
            <a:endParaRPr lang="en-US" altLang="zh-CN" sz="2000" dirty="0">
              <a:ea typeface="宋体" pitchFamily="2" charset="-122"/>
            </a:endParaRPr>
          </a:p>
          <a:p>
            <a:pPr marL="742950" lvl="1" indent="-285750">
              <a:lnSpc>
                <a:spcPct val="110000"/>
              </a:lnSpc>
            </a:pPr>
            <a:endParaRPr lang="en-US" altLang="zh-CN" sz="2000" dirty="0">
              <a:ea typeface="宋体" pitchFamily="2" charset="-122"/>
            </a:endParaRPr>
          </a:p>
          <a:p>
            <a:pPr marL="342900" indent="-342900">
              <a:lnSpc>
                <a:spcPct val="110000"/>
              </a:lnSpc>
            </a:pPr>
            <a:endParaRPr lang="en-US" altLang="zh-CN" sz="2400" dirty="0">
              <a:ea typeface="宋体" pitchFamily="2" charset="-122"/>
            </a:endParaRPr>
          </a:p>
          <a:p>
            <a:pPr marL="342900" indent="-342900" algn="ctr">
              <a:lnSpc>
                <a:spcPct val="8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en-US" altLang="zh-CN" i="1" dirty="0">
                <a:solidFill>
                  <a:schemeClr val="accent1"/>
                </a:solidFill>
                <a:ea typeface="宋体" pitchFamily="2" charset="-122"/>
              </a:rPr>
              <a:t>Where's the compromise?</a:t>
            </a:r>
          </a:p>
        </p:txBody>
      </p:sp>
      <p:sp>
        <p:nvSpPr>
          <p:cNvPr id="309251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25425" y="312738"/>
            <a:ext cx="2817813" cy="4778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9252" name="Rectangle 4"/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noFill/>
          <a:ln/>
        </p:spPr>
        <p:txBody>
          <a:bodyPr lIns="90488" tIns="44450" rIns="90488" bIns="44450" anchor="ctr"/>
          <a:lstStyle/>
          <a:p>
            <a:r>
              <a:rPr lang="en-US" altLang="zh-CN">
                <a:ea typeface="宋体" pitchFamily="2" charset="-122"/>
              </a:rPr>
              <a:t>Machine Language - Load Instruction</a:t>
            </a:r>
          </a:p>
        </p:txBody>
      </p:sp>
      <p:grpSp>
        <p:nvGrpSpPr>
          <p:cNvPr id="2" name="Group 5"/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1600200" y="4129088"/>
            <a:ext cx="5791200" cy="366712"/>
            <a:chOff x="1056" y="3024"/>
            <a:chExt cx="3648" cy="231"/>
          </a:xfrm>
        </p:grpSpPr>
        <p:sp>
          <p:nvSpPr>
            <p:cNvPr id="309254" name="Rectangle 6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1056" y="3024"/>
              <a:ext cx="3648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255" name="Line 7"/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>
              <a:off x="1728" y="3024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09256" name="Line 8"/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>
              <a:off x="2300" y="3025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09257" name="Line 9"/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>
              <a:off x="2876" y="3025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09258" name="Text Box 10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1200" y="3024"/>
              <a:ext cx="3004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op            rs             rt                16 bit number</a:t>
              </a:r>
            </a:p>
          </p:txBody>
        </p:sp>
      </p:grpSp>
      <p:grpSp>
        <p:nvGrpSpPr>
          <p:cNvPr id="3" name="Group 11"/>
          <p:cNvGrpSpPr>
            <a:grpSpLocks/>
          </p:cNvGrpSpPr>
          <p:nvPr>
            <p:custDataLst>
              <p:tags r:id="rId5"/>
            </p:custDataLst>
          </p:nvPr>
        </p:nvGrpSpPr>
        <p:grpSpPr bwMode="auto">
          <a:xfrm>
            <a:off x="1600200" y="4814888"/>
            <a:ext cx="5791200" cy="369887"/>
            <a:chOff x="1008" y="2352"/>
            <a:chExt cx="3648" cy="233"/>
          </a:xfrm>
        </p:grpSpPr>
        <p:grpSp>
          <p:nvGrpSpPr>
            <p:cNvPr id="4" name="Group 12"/>
            <p:cNvGrpSpPr>
              <a:grpSpLocks/>
            </p:cNvGrpSpPr>
            <p:nvPr/>
          </p:nvGrpSpPr>
          <p:grpSpPr bwMode="auto">
            <a:xfrm>
              <a:off x="1008" y="2352"/>
              <a:ext cx="3648" cy="184"/>
              <a:chOff x="1008" y="3120"/>
              <a:chExt cx="3648" cy="184"/>
            </a:xfrm>
          </p:grpSpPr>
          <p:sp>
            <p:nvSpPr>
              <p:cNvPr id="309261" name="Rectangle 13"/>
              <p:cNvSpPr>
                <a:spLocks noChangeArrowhead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1008" y="3120"/>
                <a:ext cx="3648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9262" name="Line 14"/>
              <p:cNvSpPr>
                <a:spLocks noChangeShapeType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1680" y="3120"/>
                <a:ext cx="0" cy="1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263" name="Line 15"/>
              <p:cNvSpPr>
                <a:spLocks noChangeShapeType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2252" y="3121"/>
                <a:ext cx="0" cy="1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264" name="Line 16"/>
              <p:cNvSpPr>
                <a:spLocks noChangeShapeType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2828" y="3121"/>
                <a:ext cx="0" cy="1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09265" name="Text Box 17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1125" y="2352"/>
              <a:ext cx="2814" cy="2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dirty="0" smtClean="0">
                  <a:solidFill>
                    <a:schemeClr val="tx1"/>
                  </a:solidFill>
                  <a:ea typeface="宋体" pitchFamily="2" charset="-122"/>
                </a:rPr>
                <a:t>0x23            </a:t>
              </a:r>
              <a:r>
                <a:rPr lang="en-US" altLang="zh-CN" dirty="0">
                  <a:solidFill>
                    <a:schemeClr val="tx1"/>
                  </a:solidFill>
                  <a:ea typeface="宋体" pitchFamily="2" charset="-122"/>
                </a:rPr>
                <a:t>18             8                    </a:t>
              </a:r>
              <a:r>
                <a:rPr lang="en-US" altLang="zh-CN" dirty="0" smtClean="0">
                  <a:solidFill>
                    <a:schemeClr val="tx1"/>
                  </a:solidFill>
                  <a:ea typeface="宋体" pitchFamily="2" charset="-122"/>
                </a:rPr>
                <a:t>24</a:t>
              </a:r>
              <a:r>
                <a:rPr lang="en-US" altLang="zh-CN" baseline="-25000" dirty="0" smtClean="0">
                  <a:solidFill>
                    <a:schemeClr val="tx1"/>
                  </a:solidFill>
                  <a:ea typeface="宋体" pitchFamily="2" charset="-122"/>
                </a:rPr>
                <a:t>10</a:t>
              </a:r>
              <a:endParaRPr lang="en-US" altLang="zh-CN" baseline="-25000" dirty="0">
                <a:solidFill>
                  <a:schemeClr val="tx1"/>
                </a:solidFill>
                <a:ea typeface="宋体" pitchFamily="2" charset="-122"/>
              </a:endParaRPr>
            </a:p>
          </p:txBody>
        </p:sp>
      </p:grpSp>
      <p:grpSp>
        <p:nvGrpSpPr>
          <p:cNvPr id="5" name="Group 18"/>
          <p:cNvGrpSpPr>
            <a:grpSpLocks/>
          </p:cNvGrpSpPr>
          <p:nvPr>
            <p:custDataLst>
              <p:tags r:id="rId6"/>
            </p:custDataLst>
          </p:nvPr>
        </p:nvGrpSpPr>
        <p:grpSpPr bwMode="auto">
          <a:xfrm>
            <a:off x="1600200" y="5576888"/>
            <a:ext cx="5791200" cy="366712"/>
            <a:chOff x="1008" y="2736"/>
            <a:chExt cx="3648" cy="231"/>
          </a:xfrm>
        </p:grpSpPr>
        <p:grpSp>
          <p:nvGrpSpPr>
            <p:cNvPr id="6" name="Group 19"/>
            <p:cNvGrpSpPr>
              <a:grpSpLocks/>
            </p:cNvGrpSpPr>
            <p:nvPr/>
          </p:nvGrpSpPr>
          <p:grpSpPr bwMode="auto">
            <a:xfrm>
              <a:off x="1008" y="2736"/>
              <a:ext cx="3648" cy="184"/>
              <a:chOff x="1008" y="3120"/>
              <a:chExt cx="3648" cy="184"/>
            </a:xfrm>
          </p:grpSpPr>
          <p:sp>
            <p:nvSpPr>
              <p:cNvPr id="309268" name="Rectangle 20"/>
              <p:cNvSpPr>
                <a:spLocks noChangeArrowhead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1008" y="3120"/>
                <a:ext cx="3648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9269" name="Line 21"/>
              <p:cNvSpPr>
                <a:spLocks noChangeShapeType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1680" y="3120"/>
                <a:ext cx="0" cy="1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270" name="Line 22"/>
              <p:cNvSpPr>
                <a:spLocks noChangeShapeType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2252" y="3121"/>
                <a:ext cx="0" cy="1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271" name="Line 23"/>
              <p:cNvSpPr>
                <a:spLocks noChangeShapeType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2828" y="3121"/>
                <a:ext cx="0" cy="1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09272" name="Text Box 24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056" y="2736"/>
              <a:ext cx="3600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100011    10010    01000           0000000000011000</a:t>
              </a:r>
            </a:p>
          </p:txBody>
        </p:sp>
      </p:grpSp>
      <p:sp>
        <p:nvSpPr>
          <p:cNvPr id="309273" name="AutoShape 25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267200" y="4510088"/>
            <a:ext cx="381000" cy="152400"/>
          </a:xfrm>
          <a:prstGeom prst="downArrow">
            <a:avLst>
              <a:gd name="adj1" fmla="val 50000"/>
              <a:gd name="adj2" fmla="val 25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09274" name="AutoShape 26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4267200" y="5272088"/>
            <a:ext cx="381000" cy="152400"/>
          </a:xfrm>
          <a:prstGeom prst="downArrow">
            <a:avLst>
              <a:gd name="adj1" fmla="val 50000"/>
              <a:gd name="adj2" fmla="val 25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17890"/>
      </p:ext>
    </p:extLst>
  </p:cSld>
  <p:clrMapOvr>
    <a:masterClrMapping/>
  </p:clrMapOvr>
  <p:transition advTm="2000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Rectangle 2"/>
          <p:cNvSpPr>
            <a:spLocks noGrp="1" noChangeArrowheads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685800" y="914400"/>
            <a:ext cx="7848600" cy="3810000"/>
          </a:xfrm>
          <a:noFill/>
          <a:ln/>
        </p:spPr>
        <p:txBody>
          <a:bodyPr lIns="90488" tIns="44450" rIns="90488" bIns="44450"/>
          <a:lstStyle/>
          <a:p>
            <a:pPr marL="342900" indent="-342900">
              <a:lnSpc>
                <a:spcPct val="80000"/>
              </a:lnSpc>
            </a:pPr>
            <a:r>
              <a:rPr lang="en-US" altLang="zh-CN">
                <a:ea typeface="宋体" pitchFamily="2" charset="-122"/>
              </a:rPr>
              <a:t>Consider the load-word and store-word instr’s</a:t>
            </a:r>
          </a:p>
          <a:p>
            <a:pPr marL="742950" lvl="1" indent="-285750"/>
            <a:r>
              <a:rPr lang="en-US" altLang="zh-CN">
                <a:ea typeface="宋体" pitchFamily="2" charset="-122"/>
              </a:rPr>
              <a:t>What would the </a:t>
            </a:r>
            <a:r>
              <a:rPr lang="en-US" altLang="zh-CN">
                <a:solidFill>
                  <a:schemeClr val="accent1"/>
                </a:solidFill>
                <a:ea typeface="宋体" pitchFamily="2" charset="-122"/>
              </a:rPr>
              <a:t>regularity</a:t>
            </a:r>
            <a:r>
              <a:rPr lang="en-US" altLang="zh-CN">
                <a:ea typeface="宋体" pitchFamily="2" charset="-122"/>
              </a:rPr>
              <a:t> principle have us do?</a:t>
            </a:r>
          </a:p>
          <a:p>
            <a:pPr marL="1143000" lvl="2" indent="-228600"/>
            <a:r>
              <a:rPr lang="en-US" altLang="zh-CN">
                <a:ea typeface="宋体" pitchFamily="2" charset="-122"/>
              </a:rPr>
              <a:t>But . . . </a:t>
            </a:r>
            <a:r>
              <a:rPr lang="en-US" altLang="zh-CN">
                <a:solidFill>
                  <a:schemeClr val="accent1"/>
                </a:solidFill>
                <a:ea typeface="宋体" pitchFamily="2" charset="-122"/>
              </a:rPr>
              <a:t>Good design demands compromise</a:t>
            </a:r>
          </a:p>
          <a:p>
            <a:pPr marL="342900" indent="-342900">
              <a:lnSpc>
                <a:spcPct val="80000"/>
              </a:lnSpc>
            </a:pPr>
            <a:r>
              <a:rPr lang="en-US" altLang="zh-CN">
                <a:ea typeface="宋体" pitchFamily="2" charset="-122"/>
              </a:rPr>
              <a:t>Introduce a new type of instruction format</a:t>
            </a:r>
          </a:p>
          <a:p>
            <a:pPr marL="742950" lvl="1" indent="-285750"/>
            <a:r>
              <a:rPr lang="en-US" altLang="zh-CN">
                <a:ea typeface="宋体" pitchFamily="2" charset="-122"/>
              </a:rPr>
              <a:t>I-type for data transfer instructions (previous format was R-type for </a:t>
            </a:r>
            <a:r>
              <a:rPr lang="en-US" altLang="zh-CN" b="1">
                <a:solidFill>
                  <a:schemeClr val="accent1"/>
                </a:solidFill>
                <a:ea typeface="宋体" pitchFamily="2" charset="-122"/>
              </a:rPr>
              <a:t>r</a:t>
            </a:r>
            <a:r>
              <a:rPr lang="en-US" altLang="zh-CN">
                <a:ea typeface="宋体" pitchFamily="2" charset="-122"/>
              </a:rPr>
              <a:t>egister)</a:t>
            </a:r>
          </a:p>
          <a:p>
            <a:pPr marL="342900" indent="-342900">
              <a:lnSpc>
                <a:spcPct val="110000"/>
              </a:lnSpc>
            </a:pPr>
            <a:r>
              <a:rPr lang="en-US" altLang="zh-CN">
                <a:ea typeface="宋体" pitchFamily="2" charset="-122"/>
              </a:rPr>
              <a:t>Example:  </a:t>
            </a:r>
            <a:r>
              <a:rPr lang="en-US" altLang="zh-CN">
                <a:latin typeface="Courier New" pitchFamily="49" charset="0"/>
                <a:ea typeface="宋体" pitchFamily="2" charset="-122"/>
              </a:rPr>
              <a:t>lw $t0, 24($s2)</a:t>
            </a:r>
            <a:endParaRPr lang="en-US" altLang="zh-CN" i="1">
              <a:solidFill>
                <a:schemeClr val="accent1"/>
              </a:solidFill>
              <a:ea typeface="宋体" pitchFamily="2" charset="-122"/>
            </a:endParaRPr>
          </a:p>
        </p:txBody>
      </p:sp>
      <p:sp>
        <p:nvSpPr>
          <p:cNvPr id="356355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25425" y="312738"/>
            <a:ext cx="2817813" cy="4778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6356" name="Rectangle 4"/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noFill/>
          <a:ln/>
        </p:spPr>
        <p:txBody>
          <a:bodyPr lIns="90488" tIns="44450" rIns="90488" bIns="44450" anchor="ctr"/>
          <a:lstStyle/>
          <a:p>
            <a:r>
              <a:rPr lang="en-US" altLang="zh-CN">
                <a:ea typeface="宋体" pitchFamily="2" charset="-122"/>
              </a:rPr>
              <a:t>Machine Language - Load Instruction</a:t>
            </a:r>
          </a:p>
        </p:txBody>
      </p:sp>
      <p:grpSp>
        <p:nvGrpSpPr>
          <p:cNvPr id="2" name="Group 5"/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1600200" y="4129088"/>
            <a:ext cx="5791200" cy="366712"/>
            <a:chOff x="1056" y="3024"/>
            <a:chExt cx="3648" cy="231"/>
          </a:xfrm>
        </p:grpSpPr>
        <p:sp>
          <p:nvSpPr>
            <p:cNvPr id="356358" name="Rectangle 6"/>
            <p:cNvSpPr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1056" y="3024"/>
              <a:ext cx="3648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6359" name="Line 7"/>
            <p:cNvSpPr>
              <a:spLocks noChangeShapeType="1"/>
            </p:cNvSpPr>
            <p:nvPr>
              <p:custDataLst>
                <p:tags r:id="rId33"/>
              </p:custDataLst>
            </p:nvPr>
          </p:nvSpPr>
          <p:spPr bwMode="auto">
            <a:xfrm>
              <a:off x="1728" y="3024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56360" name="Line 8"/>
            <p:cNvSpPr>
              <a:spLocks noChangeShapeType="1"/>
            </p:cNvSpPr>
            <p:nvPr>
              <p:custDataLst>
                <p:tags r:id="rId34"/>
              </p:custDataLst>
            </p:nvPr>
          </p:nvSpPr>
          <p:spPr bwMode="auto">
            <a:xfrm>
              <a:off x="2300" y="3025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56361" name="Line 9"/>
            <p:cNvSpPr>
              <a:spLocks noChangeShapeType="1"/>
            </p:cNvSpPr>
            <p:nvPr>
              <p:custDataLst>
                <p:tags r:id="rId35"/>
              </p:custDataLst>
            </p:nvPr>
          </p:nvSpPr>
          <p:spPr bwMode="auto">
            <a:xfrm>
              <a:off x="2876" y="3025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56362" name="Text Box 10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1200" y="3024"/>
              <a:ext cx="3004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op            rs             rt                16 bit number</a:t>
              </a:r>
            </a:p>
          </p:txBody>
        </p:sp>
      </p:grpSp>
      <p:grpSp>
        <p:nvGrpSpPr>
          <p:cNvPr id="3" name="Group 11"/>
          <p:cNvGrpSpPr>
            <a:grpSpLocks/>
          </p:cNvGrpSpPr>
          <p:nvPr>
            <p:custDataLst>
              <p:tags r:id="rId5"/>
            </p:custDataLst>
          </p:nvPr>
        </p:nvGrpSpPr>
        <p:grpSpPr bwMode="auto">
          <a:xfrm>
            <a:off x="1600200" y="4814888"/>
            <a:ext cx="5791200" cy="369887"/>
            <a:chOff x="1008" y="2352"/>
            <a:chExt cx="3648" cy="233"/>
          </a:xfrm>
        </p:grpSpPr>
        <p:grpSp>
          <p:nvGrpSpPr>
            <p:cNvPr id="4" name="Group 12"/>
            <p:cNvGrpSpPr>
              <a:grpSpLocks/>
            </p:cNvGrpSpPr>
            <p:nvPr/>
          </p:nvGrpSpPr>
          <p:grpSpPr bwMode="auto">
            <a:xfrm>
              <a:off x="1008" y="2352"/>
              <a:ext cx="3648" cy="184"/>
              <a:chOff x="1008" y="3120"/>
              <a:chExt cx="3648" cy="184"/>
            </a:xfrm>
          </p:grpSpPr>
          <p:sp>
            <p:nvSpPr>
              <p:cNvPr id="356365" name="Rectangle 13"/>
              <p:cNvSpPr>
                <a:spLocks noChangeArrowheads="1"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1008" y="3120"/>
                <a:ext cx="3648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6366" name="Line 14"/>
              <p:cNvSpPr>
                <a:spLocks noChangeShapeType="1"/>
              </p:cNvSpPr>
              <p:nvPr>
                <p:custDataLst>
                  <p:tags r:id="rId29"/>
                </p:custDataLst>
              </p:nvPr>
            </p:nvSpPr>
            <p:spPr bwMode="auto">
              <a:xfrm>
                <a:off x="1680" y="3120"/>
                <a:ext cx="0" cy="1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6367" name="Line 15"/>
              <p:cNvSpPr>
                <a:spLocks noChangeShapeType="1"/>
              </p:cNvSpPr>
              <p:nvPr>
                <p:custDataLst>
                  <p:tags r:id="rId30"/>
                </p:custDataLst>
              </p:nvPr>
            </p:nvSpPr>
            <p:spPr bwMode="auto">
              <a:xfrm>
                <a:off x="2252" y="3121"/>
                <a:ext cx="0" cy="1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6368" name="Line 16"/>
              <p:cNvSpPr>
                <a:spLocks noChangeShapeType="1"/>
              </p:cNvSpPr>
              <p:nvPr>
                <p:custDataLst>
                  <p:tags r:id="rId31"/>
                </p:custDataLst>
              </p:nvPr>
            </p:nvSpPr>
            <p:spPr bwMode="auto">
              <a:xfrm>
                <a:off x="2828" y="3121"/>
                <a:ext cx="0" cy="1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56369" name="Text Box 17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1125" y="2352"/>
              <a:ext cx="2734" cy="2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dirty="0" smtClean="0">
                  <a:solidFill>
                    <a:schemeClr val="tx1"/>
                  </a:solidFill>
                  <a:ea typeface="宋体" pitchFamily="2" charset="-122"/>
                </a:rPr>
                <a:t>0x23           </a:t>
              </a:r>
              <a:r>
                <a:rPr lang="en-US" altLang="zh-CN" dirty="0">
                  <a:solidFill>
                    <a:schemeClr val="tx1"/>
                  </a:solidFill>
                  <a:ea typeface="宋体" pitchFamily="2" charset="-122"/>
                </a:rPr>
                <a:t>18           8                     </a:t>
              </a:r>
              <a:r>
                <a:rPr lang="en-US" altLang="zh-CN" dirty="0" smtClean="0">
                  <a:solidFill>
                    <a:schemeClr val="tx1"/>
                  </a:solidFill>
                  <a:ea typeface="宋体" pitchFamily="2" charset="-122"/>
                </a:rPr>
                <a:t>24</a:t>
              </a:r>
              <a:r>
                <a:rPr lang="en-US" altLang="zh-CN" baseline="-25000" dirty="0" smtClean="0">
                  <a:solidFill>
                    <a:schemeClr val="tx1"/>
                  </a:solidFill>
                  <a:ea typeface="宋体" pitchFamily="2" charset="-122"/>
                </a:rPr>
                <a:t>10</a:t>
              </a:r>
              <a:endParaRPr lang="en-US" altLang="zh-CN" baseline="-25000" dirty="0">
                <a:solidFill>
                  <a:schemeClr val="tx1"/>
                </a:solidFill>
                <a:ea typeface="宋体" pitchFamily="2" charset="-122"/>
              </a:endParaRPr>
            </a:p>
          </p:txBody>
        </p:sp>
      </p:grpSp>
      <p:grpSp>
        <p:nvGrpSpPr>
          <p:cNvPr id="5" name="Group 18"/>
          <p:cNvGrpSpPr>
            <a:grpSpLocks/>
          </p:cNvGrpSpPr>
          <p:nvPr>
            <p:custDataLst>
              <p:tags r:id="rId6"/>
            </p:custDataLst>
          </p:nvPr>
        </p:nvGrpSpPr>
        <p:grpSpPr bwMode="auto">
          <a:xfrm>
            <a:off x="1600200" y="5576888"/>
            <a:ext cx="5791200" cy="366712"/>
            <a:chOff x="1008" y="2736"/>
            <a:chExt cx="3648" cy="231"/>
          </a:xfrm>
        </p:grpSpPr>
        <p:grpSp>
          <p:nvGrpSpPr>
            <p:cNvPr id="6" name="Group 19"/>
            <p:cNvGrpSpPr>
              <a:grpSpLocks/>
            </p:cNvGrpSpPr>
            <p:nvPr/>
          </p:nvGrpSpPr>
          <p:grpSpPr bwMode="auto">
            <a:xfrm>
              <a:off x="1008" y="2736"/>
              <a:ext cx="3648" cy="184"/>
              <a:chOff x="1008" y="3120"/>
              <a:chExt cx="3648" cy="184"/>
            </a:xfrm>
          </p:grpSpPr>
          <p:sp>
            <p:nvSpPr>
              <p:cNvPr id="356372" name="Rectangle 20"/>
              <p:cNvSpPr>
                <a:spLocks noChangeArrowheads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1008" y="3120"/>
                <a:ext cx="3648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6373" name="Line 21"/>
              <p:cNvSpPr>
                <a:spLocks noChangeShapeType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1680" y="3120"/>
                <a:ext cx="0" cy="1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6374" name="Line 22"/>
              <p:cNvSpPr>
                <a:spLocks noChangeShapeType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2252" y="3121"/>
                <a:ext cx="0" cy="1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6375" name="Line 23"/>
              <p:cNvSpPr>
                <a:spLocks noChangeShapeType="1"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2828" y="3121"/>
                <a:ext cx="0" cy="1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56376" name="Text Box 24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1056" y="2736"/>
              <a:ext cx="3600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100011    10010    01000           0000000000011000</a:t>
              </a:r>
            </a:p>
          </p:txBody>
        </p:sp>
      </p:grpSp>
      <p:sp>
        <p:nvSpPr>
          <p:cNvPr id="356377" name="AutoShape 25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267200" y="4510088"/>
            <a:ext cx="381000" cy="152400"/>
          </a:xfrm>
          <a:prstGeom prst="downArrow">
            <a:avLst>
              <a:gd name="adj1" fmla="val 50000"/>
              <a:gd name="adj2" fmla="val 25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56378" name="AutoShape 26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4267200" y="5272088"/>
            <a:ext cx="381000" cy="152400"/>
          </a:xfrm>
          <a:prstGeom prst="downArrow">
            <a:avLst>
              <a:gd name="adj1" fmla="val 50000"/>
              <a:gd name="adj2" fmla="val 25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" name="Group 27"/>
          <p:cNvGrpSpPr>
            <a:grpSpLocks/>
          </p:cNvGrpSpPr>
          <p:nvPr>
            <p:custDataLst>
              <p:tags r:id="rId9"/>
            </p:custDataLst>
          </p:nvPr>
        </p:nvGrpSpPr>
        <p:grpSpPr bwMode="auto">
          <a:xfrm>
            <a:off x="2133600" y="3214686"/>
            <a:ext cx="866764" cy="2424114"/>
            <a:chOff x="1344" y="2208"/>
            <a:chExt cx="624" cy="768"/>
          </a:xfrm>
        </p:grpSpPr>
        <p:sp>
          <p:nvSpPr>
            <p:cNvPr id="356380" name="Oval 28"/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1536" y="2208"/>
              <a:ext cx="432" cy="144"/>
            </a:xfrm>
            <a:prstGeom prst="ellipse">
              <a:avLst/>
            </a:prstGeom>
            <a:noFill/>
            <a:ln w="12700">
              <a:solidFill>
                <a:srgbClr val="0099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6381" name="Line 29"/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 flipH="1">
              <a:off x="1344" y="2352"/>
              <a:ext cx="384" cy="624"/>
            </a:xfrm>
            <a:prstGeom prst="line">
              <a:avLst/>
            </a:prstGeom>
            <a:noFill/>
            <a:ln w="12700">
              <a:solidFill>
                <a:srgbClr val="0099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30"/>
          <p:cNvGrpSpPr>
            <a:grpSpLocks/>
          </p:cNvGrpSpPr>
          <p:nvPr>
            <p:custDataLst>
              <p:tags r:id="rId10"/>
            </p:custDataLst>
          </p:nvPr>
        </p:nvGrpSpPr>
        <p:grpSpPr bwMode="auto">
          <a:xfrm>
            <a:off x="3857620" y="3214686"/>
            <a:ext cx="1571636" cy="2347914"/>
            <a:chOff x="2400" y="2208"/>
            <a:chExt cx="1152" cy="768"/>
          </a:xfrm>
        </p:grpSpPr>
        <p:sp>
          <p:nvSpPr>
            <p:cNvPr id="356383" name="Oval 31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2400" y="2208"/>
              <a:ext cx="432" cy="144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6384" name="Line 32"/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auto">
            <a:xfrm>
              <a:off x="2640" y="2352"/>
              <a:ext cx="912" cy="624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33"/>
          <p:cNvGrpSpPr>
            <a:grpSpLocks/>
          </p:cNvGrpSpPr>
          <p:nvPr>
            <p:custDataLst>
              <p:tags r:id="rId11"/>
            </p:custDataLst>
          </p:nvPr>
        </p:nvGrpSpPr>
        <p:grpSpPr bwMode="auto">
          <a:xfrm>
            <a:off x="3000364" y="3214686"/>
            <a:ext cx="2143140" cy="2347914"/>
            <a:chOff x="1968" y="2208"/>
            <a:chExt cx="1296" cy="768"/>
          </a:xfrm>
        </p:grpSpPr>
        <p:sp>
          <p:nvSpPr>
            <p:cNvPr id="356386" name="Oval 34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832" y="2208"/>
              <a:ext cx="432" cy="144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6387" name="Line 35"/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auto">
            <a:xfrm flipH="1">
              <a:off x="1968" y="2352"/>
              <a:ext cx="1104" cy="624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36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3071802" y="3214686"/>
            <a:ext cx="1143008" cy="2347914"/>
            <a:chOff x="1968" y="2208"/>
            <a:chExt cx="624" cy="768"/>
          </a:xfrm>
        </p:grpSpPr>
        <p:sp>
          <p:nvSpPr>
            <p:cNvPr id="356389" name="Oval 37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1968" y="2208"/>
              <a:ext cx="432" cy="144"/>
            </a:xfrm>
            <a:prstGeom prst="ellips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6390" name="Line 38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>
              <a:off x="2208" y="2352"/>
              <a:ext cx="384" cy="62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56391" name="Rectangle 39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714348" y="6143644"/>
            <a:ext cx="784860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 algn="ctr">
              <a:lnSpc>
                <a:spcPct val="80000"/>
              </a:lnSpc>
              <a:spcBef>
                <a:spcPct val="40000"/>
              </a:spcBef>
              <a:buClr>
                <a:schemeClr val="accent1"/>
              </a:buClr>
              <a:buSzPct val="75000"/>
              <a:buFont typeface="Wingdings" pitchFamily="2" charset="2"/>
              <a:buNone/>
            </a:pPr>
            <a:r>
              <a:rPr lang="en-US" altLang="zh-CN" sz="2800" i="1">
                <a:ea typeface="宋体" pitchFamily="2" charset="-122"/>
              </a:rPr>
              <a:t>Where's the compromise?</a:t>
            </a:r>
          </a:p>
        </p:txBody>
      </p:sp>
    </p:spTree>
    <p:extLst>
      <p:ext uri="{BB962C8B-B14F-4D97-AF65-F5344CB8AC3E}">
        <p14:creationId xmlns:p14="http://schemas.microsoft.com/office/powerpoint/2010/main" val="1184718450"/>
      </p:ext>
    </p:extLst>
  </p:cSld>
  <p:clrMapOvr>
    <a:masterClrMapping/>
  </p:clrMapOvr>
  <p:transition advTm="2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563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563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5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639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Memory Address Location</a:t>
            </a:r>
          </a:p>
        </p:txBody>
      </p:sp>
      <p:sp>
        <p:nvSpPr>
          <p:cNvPr id="292867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85800" y="914400"/>
            <a:ext cx="7848600" cy="457200"/>
          </a:xfrm>
        </p:spPr>
        <p:txBody>
          <a:bodyPr/>
          <a:lstStyle/>
          <a:p>
            <a:r>
              <a:rPr lang="en-US" altLang="zh-CN">
                <a:ea typeface="宋体" pitchFamily="2" charset="-122"/>
              </a:rPr>
              <a:t>Example:</a:t>
            </a:r>
            <a:r>
              <a:rPr lang="en-US" altLang="zh-CN">
                <a:latin typeface="Courier New" pitchFamily="49" charset="0"/>
                <a:ea typeface="宋体" pitchFamily="2" charset="-122"/>
              </a:rPr>
              <a:t>  lw $t0, 24($s2)</a:t>
            </a:r>
          </a:p>
        </p:txBody>
      </p:sp>
      <p:sp>
        <p:nvSpPr>
          <p:cNvPr id="292868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181600" y="1600200"/>
            <a:ext cx="1600200" cy="4419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2869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410200" y="1295400"/>
            <a:ext cx="1003300" cy="325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b="1">
                <a:solidFill>
                  <a:schemeClr val="tx1"/>
                </a:solidFill>
                <a:ea typeface="宋体" pitchFamily="2" charset="-122"/>
              </a:rPr>
              <a:t>Memory</a:t>
            </a:r>
          </a:p>
        </p:txBody>
      </p:sp>
      <p:sp>
        <p:nvSpPr>
          <p:cNvPr id="292870" name="Rectangle 6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715000" y="6019800"/>
            <a:ext cx="571500" cy="325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data</a:t>
            </a:r>
          </a:p>
        </p:txBody>
      </p:sp>
      <p:sp>
        <p:nvSpPr>
          <p:cNvPr id="292871" name="Rectangle 7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781800" y="6019800"/>
            <a:ext cx="2082800" cy="325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word address (hex)</a:t>
            </a:r>
          </a:p>
        </p:txBody>
      </p:sp>
      <p:sp>
        <p:nvSpPr>
          <p:cNvPr id="292872" name="Rectangle 8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858000" y="5715000"/>
            <a:ext cx="1384300" cy="325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0x00000000</a:t>
            </a:r>
          </a:p>
        </p:txBody>
      </p:sp>
      <p:sp>
        <p:nvSpPr>
          <p:cNvPr id="292873" name="Rectangle 9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858000" y="5486400"/>
            <a:ext cx="1384300" cy="325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0x00000004</a:t>
            </a:r>
          </a:p>
        </p:txBody>
      </p:sp>
      <p:sp>
        <p:nvSpPr>
          <p:cNvPr id="292874" name="Rectangle 10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858000" y="5257800"/>
            <a:ext cx="1384300" cy="325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0x00000008</a:t>
            </a:r>
          </a:p>
        </p:txBody>
      </p:sp>
      <p:sp>
        <p:nvSpPr>
          <p:cNvPr id="292875" name="Rectangle 11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858000" y="5029200"/>
            <a:ext cx="1371600" cy="325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0x0000000c</a:t>
            </a:r>
          </a:p>
        </p:txBody>
      </p:sp>
      <p:sp>
        <p:nvSpPr>
          <p:cNvPr id="292876" name="Rectangle 12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858000" y="1600200"/>
            <a:ext cx="1320800" cy="325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0xf f f f f f f f</a:t>
            </a:r>
          </a:p>
        </p:txBody>
      </p:sp>
      <p:sp>
        <p:nvSpPr>
          <p:cNvPr id="292877" name="Line 13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4648200" y="36576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2878" name="Line 14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5181600" y="35052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2879" name="Line 15"/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5181600" y="37338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2880" name="Line 16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>
            <a:off x="5181600" y="57912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2881" name="Line 17"/>
          <p:cNvSpPr>
            <a:spLocks noChangeShapeType="1"/>
          </p:cNvSpPr>
          <p:nvPr>
            <p:custDataLst>
              <p:tags r:id="rId16"/>
            </p:custDataLst>
          </p:nvPr>
        </p:nvSpPr>
        <p:spPr bwMode="auto">
          <a:xfrm>
            <a:off x="5181600" y="55626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2882" name="Line 18"/>
          <p:cNvSpPr>
            <a:spLocks noChangeShapeType="1"/>
          </p:cNvSpPr>
          <p:nvPr>
            <p:custDataLst>
              <p:tags r:id="rId17"/>
            </p:custDataLst>
          </p:nvPr>
        </p:nvSpPr>
        <p:spPr bwMode="auto">
          <a:xfrm>
            <a:off x="5181600" y="53340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2883" name="Line 19"/>
          <p:cNvSpPr>
            <a:spLocks noChangeShapeType="1"/>
          </p:cNvSpPr>
          <p:nvPr>
            <p:custDataLst>
              <p:tags r:id="rId18"/>
            </p:custDataLst>
          </p:nvPr>
        </p:nvSpPr>
        <p:spPr bwMode="auto">
          <a:xfrm>
            <a:off x="5181600" y="51054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2884" name="Rectangle 20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4114800" y="3505200"/>
            <a:ext cx="584200" cy="355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$s2</a:t>
            </a:r>
          </a:p>
        </p:txBody>
      </p:sp>
      <p:sp>
        <p:nvSpPr>
          <p:cNvPr id="292885" name="Rectangle 21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6858000" y="3429000"/>
            <a:ext cx="1384300" cy="325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0x12004094</a:t>
            </a:r>
          </a:p>
        </p:txBody>
      </p:sp>
      <p:sp>
        <p:nvSpPr>
          <p:cNvPr id="292886" name="Line 22"/>
          <p:cNvSpPr>
            <a:spLocks noChangeShapeType="1"/>
          </p:cNvSpPr>
          <p:nvPr>
            <p:custDataLst>
              <p:tags r:id="rId21"/>
            </p:custDataLst>
          </p:nvPr>
        </p:nvSpPr>
        <p:spPr bwMode="auto">
          <a:xfrm>
            <a:off x="5181600" y="29718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2887" name="Line 23"/>
          <p:cNvSpPr>
            <a:spLocks noChangeShapeType="1"/>
          </p:cNvSpPr>
          <p:nvPr>
            <p:custDataLst>
              <p:tags r:id="rId22"/>
            </p:custDataLst>
          </p:nvPr>
        </p:nvSpPr>
        <p:spPr bwMode="auto">
          <a:xfrm>
            <a:off x="5181600" y="27432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2888" name="Rectangle 24"/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5334000" y="2667000"/>
            <a:ext cx="1384300" cy="325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0x00000002</a:t>
            </a:r>
          </a:p>
        </p:txBody>
      </p:sp>
      <p:sp>
        <p:nvSpPr>
          <p:cNvPr id="292889" name="Line 25"/>
          <p:cNvSpPr>
            <a:spLocks noChangeShapeType="1"/>
          </p:cNvSpPr>
          <p:nvPr>
            <p:custDataLst>
              <p:tags r:id="rId24"/>
            </p:custDataLst>
          </p:nvPr>
        </p:nvSpPr>
        <p:spPr bwMode="auto">
          <a:xfrm>
            <a:off x="5181600" y="18288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2890" name="Rectangle 26"/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990600" y="2057400"/>
            <a:ext cx="1847850" cy="355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24</a:t>
            </a:r>
            <a:r>
              <a:rPr lang="en-US" altLang="zh-CN" sz="2000" baseline="-2500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10</a:t>
            </a:r>
            <a:r>
              <a:rPr lang="en-US" altLang="zh-CN" sz="200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+ $s2 =</a:t>
            </a:r>
          </a:p>
        </p:txBody>
      </p:sp>
    </p:spTree>
    <p:extLst>
      <p:ext uri="{BB962C8B-B14F-4D97-AF65-F5344CB8AC3E}">
        <p14:creationId xmlns:p14="http://schemas.microsoft.com/office/powerpoint/2010/main" val="10423891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Memory Address Location</a:t>
            </a:r>
          </a:p>
        </p:txBody>
      </p:sp>
      <p:sp>
        <p:nvSpPr>
          <p:cNvPr id="292867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85800" y="914400"/>
            <a:ext cx="7848600" cy="457200"/>
          </a:xfrm>
        </p:spPr>
        <p:txBody>
          <a:bodyPr/>
          <a:lstStyle/>
          <a:p>
            <a:r>
              <a:rPr lang="en-US" altLang="zh-CN">
                <a:ea typeface="宋体" pitchFamily="2" charset="-122"/>
              </a:rPr>
              <a:t>Example:</a:t>
            </a:r>
            <a:r>
              <a:rPr lang="en-US" altLang="zh-CN">
                <a:latin typeface="Courier New" pitchFamily="49" charset="0"/>
                <a:ea typeface="宋体" pitchFamily="2" charset="-122"/>
              </a:rPr>
              <a:t>  lw $t0, 24($s2)</a:t>
            </a:r>
          </a:p>
        </p:txBody>
      </p:sp>
      <p:sp>
        <p:nvSpPr>
          <p:cNvPr id="292868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181600" y="1600200"/>
            <a:ext cx="1600200" cy="4419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2869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410200" y="1295400"/>
            <a:ext cx="1003300" cy="325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b="1">
                <a:solidFill>
                  <a:schemeClr val="tx1"/>
                </a:solidFill>
                <a:ea typeface="宋体" pitchFamily="2" charset="-122"/>
              </a:rPr>
              <a:t>Memory</a:t>
            </a:r>
          </a:p>
        </p:txBody>
      </p:sp>
      <p:sp>
        <p:nvSpPr>
          <p:cNvPr id="292870" name="Rectangle 6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715000" y="6019800"/>
            <a:ext cx="571500" cy="325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data</a:t>
            </a:r>
          </a:p>
        </p:txBody>
      </p:sp>
      <p:sp>
        <p:nvSpPr>
          <p:cNvPr id="292871" name="Rectangle 7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781800" y="6019800"/>
            <a:ext cx="2082800" cy="325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word address (hex)</a:t>
            </a:r>
          </a:p>
        </p:txBody>
      </p:sp>
      <p:sp>
        <p:nvSpPr>
          <p:cNvPr id="292872" name="Rectangle 8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858000" y="5715000"/>
            <a:ext cx="1384300" cy="325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0x00000000</a:t>
            </a:r>
          </a:p>
        </p:txBody>
      </p:sp>
      <p:sp>
        <p:nvSpPr>
          <p:cNvPr id="292873" name="Rectangle 9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858000" y="5486400"/>
            <a:ext cx="1384300" cy="325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0x00000004</a:t>
            </a:r>
          </a:p>
        </p:txBody>
      </p:sp>
      <p:sp>
        <p:nvSpPr>
          <p:cNvPr id="292874" name="Rectangle 10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858000" y="5257800"/>
            <a:ext cx="1384300" cy="325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0x00000008</a:t>
            </a:r>
          </a:p>
        </p:txBody>
      </p:sp>
      <p:sp>
        <p:nvSpPr>
          <p:cNvPr id="292875" name="Rectangle 11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858000" y="5029200"/>
            <a:ext cx="1371600" cy="325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0x0000000c</a:t>
            </a:r>
          </a:p>
        </p:txBody>
      </p:sp>
      <p:sp>
        <p:nvSpPr>
          <p:cNvPr id="292876" name="Rectangle 12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858000" y="1600200"/>
            <a:ext cx="1320800" cy="325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0xf f f f f f f f</a:t>
            </a:r>
          </a:p>
        </p:txBody>
      </p:sp>
      <p:sp>
        <p:nvSpPr>
          <p:cNvPr id="292877" name="Line 13"/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4648200" y="36576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2878" name="Line 14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5181600" y="35052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2879" name="Line 15"/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5181600" y="37338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2880" name="Line 16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>
            <a:off x="5181600" y="57912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2881" name="Line 17"/>
          <p:cNvSpPr>
            <a:spLocks noChangeShapeType="1"/>
          </p:cNvSpPr>
          <p:nvPr>
            <p:custDataLst>
              <p:tags r:id="rId16"/>
            </p:custDataLst>
          </p:nvPr>
        </p:nvSpPr>
        <p:spPr bwMode="auto">
          <a:xfrm>
            <a:off x="5181600" y="55626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2882" name="Line 18"/>
          <p:cNvSpPr>
            <a:spLocks noChangeShapeType="1"/>
          </p:cNvSpPr>
          <p:nvPr>
            <p:custDataLst>
              <p:tags r:id="rId17"/>
            </p:custDataLst>
          </p:nvPr>
        </p:nvSpPr>
        <p:spPr bwMode="auto">
          <a:xfrm>
            <a:off x="5181600" y="53340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2883" name="Line 19"/>
          <p:cNvSpPr>
            <a:spLocks noChangeShapeType="1"/>
          </p:cNvSpPr>
          <p:nvPr>
            <p:custDataLst>
              <p:tags r:id="rId18"/>
            </p:custDataLst>
          </p:nvPr>
        </p:nvSpPr>
        <p:spPr bwMode="auto">
          <a:xfrm>
            <a:off x="5181600" y="51054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2884" name="Rectangle 20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4114800" y="3505200"/>
            <a:ext cx="584200" cy="355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$s2</a:t>
            </a:r>
          </a:p>
        </p:txBody>
      </p:sp>
      <p:sp>
        <p:nvSpPr>
          <p:cNvPr id="292885" name="Rectangle 21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6858000" y="3429000"/>
            <a:ext cx="1384300" cy="325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0x12004094</a:t>
            </a:r>
          </a:p>
        </p:txBody>
      </p:sp>
      <p:sp>
        <p:nvSpPr>
          <p:cNvPr id="292886" name="Line 22"/>
          <p:cNvSpPr>
            <a:spLocks noChangeShapeType="1"/>
          </p:cNvSpPr>
          <p:nvPr>
            <p:custDataLst>
              <p:tags r:id="rId21"/>
            </p:custDataLst>
          </p:nvPr>
        </p:nvSpPr>
        <p:spPr bwMode="auto">
          <a:xfrm>
            <a:off x="5181600" y="29718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2887" name="Line 23"/>
          <p:cNvSpPr>
            <a:spLocks noChangeShapeType="1"/>
          </p:cNvSpPr>
          <p:nvPr>
            <p:custDataLst>
              <p:tags r:id="rId22"/>
            </p:custDataLst>
          </p:nvPr>
        </p:nvSpPr>
        <p:spPr bwMode="auto">
          <a:xfrm>
            <a:off x="5181600" y="27432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2888" name="Rectangle 24"/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5334000" y="2667000"/>
            <a:ext cx="1384300" cy="325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0x00000002</a:t>
            </a:r>
          </a:p>
        </p:txBody>
      </p:sp>
      <p:sp>
        <p:nvSpPr>
          <p:cNvPr id="292889" name="Line 25"/>
          <p:cNvSpPr>
            <a:spLocks noChangeShapeType="1"/>
          </p:cNvSpPr>
          <p:nvPr>
            <p:custDataLst>
              <p:tags r:id="rId24"/>
            </p:custDataLst>
          </p:nvPr>
        </p:nvSpPr>
        <p:spPr bwMode="auto">
          <a:xfrm>
            <a:off x="5181600" y="182880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2890" name="Rectangle 26"/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990600" y="2057400"/>
            <a:ext cx="1847850" cy="355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24</a:t>
            </a:r>
            <a:r>
              <a:rPr lang="en-US" altLang="zh-CN" sz="2000" baseline="-2500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10</a:t>
            </a:r>
            <a:r>
              <a:rPr lang="en-US" altLang="zh-CN" sz="200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+ $s2 =</a:t>
            </a:r>
          </a:p>
        </p:txBody>
      </p:sp>
      <p:sp>
        <p:nvSpPr>
          <p:cNvPr id="292891" name="Rectangle 27"/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914400" y="4800600"/>
            <a:ext cx="3505200" cy="13319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r>
              <a:rPr lang="en-US" altLang="zh-CN" sz="2800">
                <a:solidFill>
                  <a:schemeClr val="tx1"/>
                </a:solidFill>
                <a:ea typeface="宋体" pitchFamily="2" charset="-122"/>
              </a:rPr>
              <a:t>Note that the </a:t>
            </a:r>
            <a:r>
              <a:rPr lang="en-US" altLang="zh-CN" sz="2800">
                <a:solidFill>
                  <a:schemeClr val="accent2"/>
                </a:solidFill>
                <a:ea typeface="宋体" pitchFamily="2" charset="-122"/>
              </a:rPr>
              <a:t>offset</a:t>
            </a:r>
            <a:r>
              <a:rPr lang="en-US" altLang="zh-CN" sz="2800">
                <a:solidFill>
                  <a:schemeClr val="tx1"/>
                </a:solidFill>
                <a:ea typeface="宋体" pitchFamily="2" charset="-122"/>
              </a:rPr>
              <a:t> can be </a:t>
            </a:r>
            <a:r>
              <a:rPr lang="en-US" altLang="zh-CN" sz="2800">
                <a:ea typeface="宋体" pitchFamily="2" charset="-122"/>
              </a:rPr>
              <a:t>positive</a:t>
            </a:r>
            <a:r>
              <a:rPr lang="en-US" altLang="zh-CN" sz="2800">
                <a:solidFill>
                  <a:schemeClr val="tx1"/>
                </a:solidFill>
                <a:ea typeface="宋体" pitchFamily="2" charset="-122"/>
              </a:rPr>
              <a:t> or </a:t>
            </a:r>
            <a:r>
              <a:rPr lang="en-US" altLang="zh-CN" sz="2800">
                <a:ea typeface="宋体" pitchFamily="2" charset="-122"/>
              </a:rPr>
              <a:t>negative</a:t>
            </a:r>
          </a:p>
        </p:txBody>
      </p:sp>
      <p:grpSp>
        <p:nvGrpSpPr>
          <p:cNvPr id="2" name="Group 28"/>
          <p:cNvGrpSpPr>
            <a:grpSpLocks/>
          </p:cNvGrpSpPr>
          <p:nvPr>
            <p:custDataLst>
              <p:tags r:id="rId27"/>
            </p:custDataLst>
          </p:nvPr>
        </p:nvGrpSpPr>
        <p:grpSpPr bwMode="auto">
          <a:xfrm>
            <a:off x="685800" y="3048001"/>
            <a:ext cx="3082926" cy="1528763"/>
            <a:chOff x="432" y="1920"/>
            <a:chExt cx="1942" cy="963"/>
          </a:xfrm>
        </p:grpSpPr>
        <p:sp>
          <p:nvSpPr>
            <p:cNvPr id="292893" name="Rectangle 29"/>
            <p:cNvSpPr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432" y="1920"/>
              <a:ext cx="1942" cy="96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r>
                <a:rPr lang="zh-CN" altLang="en-US" sz="2400" dirty="0">
                  <a:solidFill>
                    <a:schemeClr val="accent2"/>
                  </a:solidFill>
                  <a:ea typeface="宋体" pitchFamily="2" charset="-122"/>
                </a:rPr>
                <a:t>   </a:t>
              </a:r>
              <a:r>
                <a:rPr lang="en-US" altLang="zh-CN" sz="2400" dirty="0">
                  <a:solidFill>
                    <a:schemeClr val="accent2"/>
                  </a:solidFill>
                  <a:ea typeface="宋体" pitchFamily="2" charset="-122"/>
                </a:rPr>
                <a:t>. . . </a:t>
              </a:r>
              <a:r>
                <a:rPr lang="en-US" altLang="zh-CN" sz="2400" dirty="0" smtClean="0">
                  <a:solidFill>
                    <a:schemeClr val="accent2"/>
                  </a:solidFill>
                  <a:ea typeface="宋体" pitchFamily="2" charset="-122"/>
                </a:rPr>
                <a:t>0001 1000</a:t>
              </a:r>
              <a:endParaRPr lang="en-US" altLang="zh-CN" sz="2400" dirty="0">
                <a:solidFill>
                  <a:schemeClr val="accent2"/>
                </a:solidFill>
                <a:ea typeface="宋体" pitchFamily="2" charset="-122"/>
              </a:endParaRPr>
            </a:p>
            <a:p>
              <a:r>
                <a:rPr lang="en-US" altLang="zh-CN" sz="2400" dirty="0">
                  <a:solidFill>
                    <a:schemeClr val="accent2"/>
                  </a:solidFill>
                  <a:ea typeface="宋体" pitchFamily="2" charset="-122"/>
                </a:rPr>
                <a:t>+ . . . </a:t>
              </a:r>
              <a:r>
                <a:rPr lang="en-US" altLang="zh-CN" sz="2400" dirty="0" smtClean="0">
                  <a:solidFill>
                    <a:schemeClr val="accent2"/>
                  </a:solidFill>
                  <a:ea typeface="宋体" pitchFamily="2" charset="-122"/>
                </a:rPr>
                <a:t>1001 0100</a:t>
              </a:r>
              <a:endParaRPr lang="en-US" altLang="zh-CN" sz="2400" dirty="0">
                <a:solidFill>
                  <a:schemeClr val="accent2"/>
                </a:solidFill>
                <a:ea typeface="宋体" pitchFamily="2" charset="-122"/>
              </a:endParaRPr>
            </a:p>
            <a:p>
              <a:r>
                <a:rPr lang="en-US" altLang="zh-CN" sz="2400" dirty="0">
                  <a:solidFill>
                    <a:schemeClr val="accent2"/>
                  </a:solidFill>
                  <a:ea typeface="宋体" pitchFamily="2" charset="-122"/>
                </a:rPr>
                <a:t>   . . . 1010 1100 =</a:t>
              </a:r>
            </a:p>
            <a:p>
              <a:r>
                <a:rPr lang="en-US" altLang="zh-CN" sz="2400" dirty="0">
                  <a:solidFill>
                    <a:schemeClr val="accent2"/>
                  </a:solidFill>
                  <a:ea typeface="宋体" pitchFamily="2" charset="-122"/>
                </a:rPr>
                <a:t>               0x120040ac</a:t>
              </a:r>
            </a:p>
          </p:txBody>
        </p:sp>
        <p:sp>
          <p:nvSpPr>
            <p:cNvPr id="292894" name="Line 30"/>
            <p:cNvSpPr>
              <a:spLocks noChangeShapeType="1"/>
            </p:cNvSpPr>
            <p:nvPr>
              <p:custDataLst>
                <p:tags r:id="rId31"/>
              </p:custDataLst>
            </p:nvPr>
          </p:nvSpPr>
          <p:spPr bwMode="auto">
            <a:xfrm>
              <a:off x="672" y="2400"/>
              <a:ext cx="120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2895" name="Rectangle 31"/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6858000" y="2667000"/>
            <a:ext cx="1371600" cy="3254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0x120040ac</a:t>
            </a:r>
          </a:p>
        </p:txBody>
      </p:sp>
      <p:sp>
        <p:nvSpPr>
          <p:cNvPr id="292896" name="Line 32"/>
          <p:cNvSpPr>
            <a:spLocks noChangeShapeType="1"/>
          </p:cNvSpPr>
          <p:nvPr/>
        </p:nvSpPr>
        <p:spPr bwMode="auto">
          <a:xfrm flipH="1" flipV="1">
            <a:off x="4419600" y="2362200"/>
            <a:ext cx="838200" cy="45720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2897" name="Rectangle 33"/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3962400" y="2057400"/>
            <a:ext cx="584200" cy="355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200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$t0</a:t>
            </a:r>
          </a:p>
        </p:txBody>
      </p:sp>
    </p:spTree>
    <p:extLst>
      <p:ext uri="{BB962C8B-B14F-4D97-AF65-F5344CB8AC3E}">
        <p14:creationId xmlns:p14="http://schemas.microsoft.com/office/powerpoint/2010/main" val="8260174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92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2891" grpId="0"/>
      <p:bldP spid="292895" grpId="0"/>
      <p:bldP spid="292896" grpId="0" animBg="1"/>
      <p:bldP spid="29289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/>
          <p:cNvSpPr>
            <a:spLocks noGrp="1" noChangeArrowheads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685800" y="914400"/>
            <a:ext cx="8077200" cy="5368136"/>
          </a:xfrm>
          <a:noFill/>
          <a:ln/>
        </p:spPr>
        <p:txBody>
          <a:bodyPr lIns="90488" tIns="44450" rIns="90488" bIns="44450"/>
          <a:lstStyle/>
          <a:p>
            <a:pPr marL="342900" indent="-342900">
              <a:lnSpc>
                <a:spcPct val="85000"/>
              </a:lnSpc>
            </a:pPr>
            <a:r>
              <a:rPr lang="en-US" altLang="zh-CN" dirty="0">
                <a:ea typeface="宋体" pitchFamily="2" charset="-122"/>
              </a:rPr>
              <a:t>Example:  </a:t>
            </a:r>
            <a:r>
              <a:rPr lang="en-US" altLang="zh-CN" dirty="0" err="1">
                <a:latin typeface="Courier New" pitchFamily="49" charset="0"/>
                <a:ea typeface="宋体" pitchFamily="2" charset="-122"/>
              </a:rPr>
              <a:t>sw</a:t>
            </a:r>
            <a:r>
              <a:rPr lang="en-US" altLang="zh-CN" dirty="0">
                <a:latin typeface="Courier New" pitchFamily="49" charset="0"/>
                <a:ea typeface="宋体" pitchFamily="2" charset="-122"/>
              </a:rPr>
              <a:t> $t0, 24($s2)</a:t>
            </a:r>
            <a:r>
              <a:rPr lang="en-US" altLang="zh-CN" dirty="0">
                <a:ea typeface="宋体" pitchFamily="2" charset="-122"/>
              </a:rPr>
              <a:t/>
            </a:r>
            <a:br>
              <a:rPr lang="en-US" altLang="zh-CN" dirty="0">
                <a:ea typeface="宋体" pitchFamily="2" charset="-122"/>
              </a:rPr>
            </a:br>
            <a:endParaRPr lang="en-US" altLang="zh-CN" dirty="0">
              <a:ea typeface="宋体" pitchFamily="2" charset="-122"/>
            </a:endParaRPr>
          </a:p>
          <a:p>
            <a:pPr marL="342900" indent="-342900">
              <a:lnSpc>
                <a:spcPct val="85000"/>
              </a:lnSpc>
            </a:pPr>
            <a:endParaRPr lang="en-US" altLang="zh-CN" dirty="0">
              <a:ea typeface="宋体" pitchFamily="2" charset="-122"/>
            </a:endParaRPr>
          </a:p>
          <a:p>
            <a:pPr marL="342900" indent="-342900">
              <a:lnSpc>
                <a:spcPct val="85000"/>
              </a:lnSpc>
            </a:pPr>
            <a:endParaRPr lang="en-US" altLang="zh-CN" dirty="0">
              <a:ea typeface="宋体" pitchFamily="2" charset="-122"/>
            </a:endParaRPr>
          </a:p>
          <a:p>
            <a:pPr marL="342900" indent="-342900">
              <a:lnSpc>
                <a:spcPct val="85000"/>
              </a:lnSpc>
            </a:pPr>
            <a:endParaRPr lang="en-US" altLang="zh-CN" dirty="0">
              <a:ea typeface="宋体" pitchFamily="2" charset="-122"/>
            </a:endParaRPr>
          </a:p>
          <a:p>
            <a:pPr marL="342900" indent="-342900">
              <a:lnSpc>
                <a:spcPct val="85000"/>
              </a:lnSpc>
            </a:pPr>
            <a:endParaRPr lang="en-US" altLang="zh-CN" dirty="0">
              <a:ea typeface="宋体" pitchFamily="2" charset="-122"/>
            </a:endParaRPr>
          </a:p>
          <a:p>
            <a:pPr marL="342900" indent="-342900">
              <a:lnSpc>
                <a:spcPct val="85000"/>
              </a:lnSpc>
            </a:pPr>
            <a:endParaRPr lang="en-US" altLang="zh-CN" dirty="0">
              <a:ea typeface="宋体" pitchFamily="2" charset="-122"/>
            </a:endParaRPr>
          </a:p>
          <a:p>
            <a:pPr marL="342900" indent="-342900">
              <a:lnSpc>
                <a:spcPct val="85000"/>
              </a:lnSpc>
            </a:pPr>
            <a:r>
              <a:rPr lang="en-US" altLang="zh-CN" dirty="0">
                <a:ea typeface="宋体" pitchFamily="2" charset="-122"/>
              </a:rPr>
              <a:t>A 16-bit offset means access is limited to memory locations within a range of </a:t>
            </a:r>
            <a:r>
              <a:rPr lang="en-US" altLang="zh-CN" dirty="0" smtClean="0">
                <a:ea typeface="宋体" pitchFamily="2" charset="-122"/>
              </a:rPr>
              <a:t> +2</a:t>
            </a:r>
            <a:r>
              <a:rPr lang="en-US" altLang="zh-CN" baseline="30000" dirty="0" smtClean="0">
                <a:ea typeface="宋体" pitchFamily="2" charset="-122"/>
              </a:rPr>
              <a:t>13</a:t>
            </a:r>
            <a:r>
              <a:rPr lang="en-US" altLang="zh-CN" dirty="0" smtClean="0">
                <a:ea typeface="宋体" pitchFamily="2" charset="-122"/>
              </a:rPr>
              <a:t>-1  </a:t>
            </a:r>
            <a:r>
              <a:rPr lang="en-US" altLang="zh-CN" dirty="0">
                <a:ea typeface="宋体" pitchFamily="2" charset="-122"/>
              </a:rPr>
              <a:t>to  </a:t>
            </a:r>
            <a:r>
              <a:rPr lang="en-US" altLang="zh-CN" dirty="0" smtClean="0"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-2</a:t>
            </a:r>
            <a:r>
              <a:rPr lang="en-US" altLang="zh-CN" baseline="30000" dirty="0">
                <a:ea typeface="宋体" pitchFamily="2" charset="-122"/>
              </a:rPr>
              <a:t>13</a:t>
            </a:r>
            <a:r>
              <a:rPr lang="en-US" altLang="zh-CN" dirty="0">
                <a:ea typeface="宋体" pitchFamily="2" charset="-122"/>
              </a:rPr>
              <a:t> (~8,192) </a:t>
            </a:r>
            <a:r>
              <a:rPr lang="en-US" altLang="zh-CN" dirty="0">
                <a:solidFill>
                  <a:schemeClr val="accent1"/>
                </a:solidFill>
                <a:ea typeface="宋体" pitchFamily="2" charset="-122"/>
              </a:rPr>
              <a:t>words</a:t>
            </a:r>
            <a:r>
              <a:rPr lang="en-US" altLang="zh-CN" dirty="0">
                <a:ea typeface="宋体" pitchFamily="2" charset="-122"/>
              </a:rPr>
              <a:t> (</a:t>
            </a:r>
            <a:r>
              <a:rPr lang="en-US" altLang="zh-CN" dirty="0">
                <a:ea typeface="宋体" pitchFamily="2" charset="-122"/>
                <a:sym typeface="Symbol" pitchFamily="18" charset="2"/>
              </a:rPr>
              <a:t>+</a:t>
            </a:r>
            <a:r>
              <a:rPr lang="en-US" altLang="zh-CN" dirty="0">
                <a:ea typeface="宋体" pitchFamily="2" charset="-122"/>
              </a:rPr>
              <a:t>2</a:t>
            </a:r>
            <a:r>
              <a:rPr lang="en-US" altLang="zh-CN" baseline="30000" dirty="0">
                <a:ea typeface="宋体" pitchFamily="2" charset="-122"/>
              </a:rPr>
              <a:t>15</a:t>
            </a:r>
            <a:r>
              <a:rPr lang="en-US" altLang="zh-CN" dirty="0">
                <a:ea typeface="宋体" pitchFamily="2" charset="-122"/>
              </a:rPr>
              <a:t>-1 to -2</a:t>
            </a:r>
            <a:r>
              <a:rPr lang="en-US" altLang="zh-CN" baseline="30000" dirty="0">
                <a:ea typeface="宋体" pitchFamily="2" charset="-122"/>
              </a:rPr>
              <a:t>15</a:t>
            </a:r>
            <a:r>
              <a:rPr lang="en-US" altLang="zh-CN" dirty="0">
                <a:ea typeface="宋体" pitchFamily="2" charset="-122"/>
              </a:rPr>
              <a:t> (~32,768) </a:t>
            </a:r>
            <a:r>
              <a:rPr lang="en-US" altLang="zh-CN" dirty="0">
                <a:solidFill>
                  <a:schemeClr val="accent1"/>
                </a:solidFill>
                <a:ea typeface="宋体" pitchFamily="2" charset="-122"/>
              </a:rPr>
              <a:t>bytes</a:t>
            </a:r>
            <a:r>
              <a:rPr lang="en-US" altLang="zh-CN" dirty="0">
                <a:ea typeface="宋体" pitchFamily="2" charset="-122"/>
              </a:rPr>
              <a:t>) of the address in the base register</a:t>
            </a:r>
            <a:r>
              <a:rPr lang="en-US" altLang="zh-CN" dirty="0">
                <a:latin typeface="Courier New" pitchFamily="49" charset="0"/>
                <a:ea typeface="宋体" pitchFamily="2" charset="-122"/>
              </a:rPr>
              <a:t> $s2</a:t>
            </a:r>
          </a:p>
          <a:p>
            <a:pPr marL="742950" lvl="1" indent="-285750">
              <a:lnSpc>
                <a:spcPct val="85000"/>
              </a:lnSpc>
            </a:pPr>
            <a:r>
              <a:rPr lang="en-US" altLang="zh-CN" dirty="0">
                <a:ea typeface="宋体" pitchFamily="2" charset="-122"/>
              </a:rPr>
              <a:t>2’s complement (1 sign bit + 15 magnitude bits</a:t>
            </a:r>
            <a:r>
              <a:rPr lang="en-US" altLang="zh-CN" dirty="0" smtClean="0">
                <a:ea typeface="宋体" pitchFamily="2" charset="-122"/>
              </a:rPr>
              <a:t>)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242691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25425" y="312738"/>
            <a:ext cx="2817813" cy="4778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2692" name="Rectangle 4"/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noFill/>
          <a:ln/>
        </p:spPr>
        <p:txBody>
          <a:bodyPr lIns="90488" tIns="44450" rIns="90488" bIns="44450" anchor="ctr"/>
          <a:lstStyle/>
          <a:p>
            <a:r>
              <a:rPr lang="en-US" altLang="zh-CN">
                <a:ea typeface="宋体" pitchFamily="2" charset="-122"/>
              </a:rPr>
              <a:t>Machine Language - Store Instruction</a:t>
            </a:r>
          </a:p>
        </p:txBody>
      </p:sp>
      <p:grpSp>
        <p:nvGrpSpPr>
          <p:cNvPr id="2" name="Group 5"/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1676400" y="1676400"/>
            <a:ext cx="5791200" cy="366713"/>
            <a:chOff x="1056" y="3024"/>
            <a:chExt cx="3648" cy="231"/>
          </a:xfrm>
        </p:grpSpPr>
        <p:sp>
          <p:nvSpPr>
            <p:cNvPr id="242694" name="Rectangle 6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056" y="3024"/>
              <a:ext cx="3648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2695" name="Line 7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>
              <a:off x="1728" y="3024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2696" name="Line 8"/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auto">
            <a:xfrm>
              <a:off x="2300" y="3025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2697" name="Line 9"/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>
              <a:off x="2876" y="3025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2698" name="Text Box 10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1200" y="3024"/>
              <a:ext cx="3044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op            rs             rt                 16 bit number</a:t>
              </a:r>
            </a:p>
          </p:txBody>
        </p:sp>
      </p:grpSp>
      <p:grpSp>
        <p:nvGrpSpPr>
          <p:cNvPr id="3" name="Group 11"/>
          <p:cNvGrpSpPr>
            <a:grpSpLocks/>
          </p:cNvGrpSpPr>
          <p:nvPr>
            <p:custDataLst>
              <p:tags r:id="rId5"/>
            </p:custDataLst>
          </p:nvPr>
        </p:nvGrpSpPr>
        <p:grpSpPr bwMode="auto">
          <a:xfrm>
            <a:off x="1676400" y="2514600"/>
            <a:ext cx="5791200" cy="369888"/>
            <a:chOff x="1008" y="2352"/>
            <a:chExt cx="3648" cy="233"/>
          </a:xfrm>
        </p:grpSpPr>
        <p:grpSp>
          <p:nvGrpSpPr>
            <p:cNvPr id="4" name="Group 12"/>
            <p:cNvGrpSpPr>
              <a:grpSpLocks/>
            </p:cNvGrpSpPr>
            <p:nvPr/>
          </p:nvGrpSpPr>
          <p:grpSpPr bwMode="auto">
            <a:xfrm>
              <a:off x="1008" y="2352"/>
              <a:ext cx="3648" cy="184"/>
              <a:chOff x="1008" y="3120"/>
              <a:chExt cx="3648" cy="184"/>
            </a:xfrm>
          </p:grpSpPr>
          <p:sp>
            <p:nvSpPr>
              <p:cNvPr id="242701" name="Rectangle 13"/>
              <p:cNvSpPr>
                <a:spLocks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1008" y="3120"/>
                <a:ext cx="3648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2702" name="Line 14"/>
              <p:cNvSpPr>
                <a:spLocks noChangeShapeType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1680" y="3120"/>
                <a:ext cx="0" cy="1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703" name="Line 15"/>
              <p:cNvSpPr>
                <a:spLocks noChangeShapeType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2252" y="3121"/>
                <a:ext cx="0" cy="1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704" name="Line 16"/>
              <p:cNvSpPr>
                <a:spLocks noChangeShapeType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2828" y="3121"/>
                <a:ext cx="0" cy="1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42705" name="Text Box 17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167" y="2352"/>
              <a:ext cx="2679" cy="2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dirty="0" smtClean="0">
                  <a:solidFill>
                    <a:schemeClr val="tx1"/>
                  </a:solidFill>
                  <a:ea typeface="宋体" pitchFamily="2" charset="-122"/>
                </a:rPr>
                <a:t>0x2b           </a:t>
              </a:r>
              <a:r>
                <a:rPr lang="en-US" altLang="zh-CN" dirty="0">
                  <a:solidFill>
                    <a:schemeClr val="tx1"/>
                  </a:solidFill>
                  <a:ea typeface="宋体" pitchFamily="2" charset="-122"/>
                </a:rPr>
                <a:t>18        </a:t>
              </a:r>
              <a:r>
                <a:rPr lang="en-US" altLang="zh-CN" dirty="0" smtClean="0">
                  <a:solidFill>
                    <a:schemeClr val="tx1"/>
                  </a:solidFill>
                  <a:ea typeface="宋体" pitchFamily="2" charset="-122"/>
                </a:rPr>
                <a:t>  </a:t>
              </a:r>
              <a:r>
                <a:rPr lang="en-US" altLang="zh-CN" dirty="0">
                  <a:solidFill>
                    <a:schemeClr val="tx1"/>
                  </a:solidFill>
                  <a:ea typeface="宋体" pitchFamily="2" charset="-122"/>
                </a:rPr>
                <a:t>8                   </a:t>
              </a:r>
              <a:r>
                <a:rPr lang="en-US" altLang="zh-CN" dirty="0" smtClean="0">
                  <a:solidFill>
                    <a:schemeClr val="tx1"/>
                  </a:solidFill>
                  <a:ea typeface="宋体" pitchFamily="2" charset="-122"/>
                </a:rPr>
                <a:t>   24</a:t>
              </a:r>
              <a:r>
                <a:rPr lang="en-US" altLang="zh-CN" baseline="-25000" dirty="0" smtClean="0">
                  <a:solidFill>
                    <a:schemeClr val="tx1"/>
                  </a:solidFill>
                  <a:ea typeface="宋体" pitchFamily="2" charset="-122"/>
                </a:rPr>
                <a:t>10</a:t>
              </a:r>
              <a:endParaRPr lang="en-US" altLang="zh-CN" baseline="-25000" dirty="0">
                <a:solidFill>
                  <a:schemeClr val="tx1"/>
                </a:solidFill>
                <a:ea typeface="宋体" pitchFamily="2" charset="-122"/>
              </a:endParaRPr>
            </a:p>
          </p:txBody>
        </p:sp>
      </p:grpSp>
      <p:grpSp>
        <p:nvGrpSpPr>
          <p:cNvPr id="5" name="Group 18"/>
          <p:cNvGrpSpPr>
            <a:grpSpLocks/>
          </p:cNvGrpSpPr>
          <p:nvPr>
            <p:custDataLst>
              <p:tags r:id="rId6"/>
            </p:custDataLst>
          </p:nvPr>
        </p:nvGrpSpPr>
        <p:grpSpPr bwMode="auto">
          <a:xfrm>
            <a:off x="1676400" y="3352800"/>
            <a:ext cx="5791200" cy="366713"/>
            <a:chOff x="1008" y="2736"/>
            <a:chExt cx="3648" cy="231"/>
          </a:xfrm>
        </p:grpSpPr>
        <p:grpSp>
          <p:nvGrpSpPr>
            <p:cNvPr id="6" name="Group 19"/>
            <p:cNvGrpSpPr>
              <a:grpSpLocks/>
            </p:cNvGrpSpPr>
            <p:nvPr/>
          </p:nvGrpSpPr>
          <p:grpSpPr bwMode="auto">
            <a:xfrm>
              <a:off x="1008" y="2736"/>
              <a:ext cx="3648" cy="184"/>
              <a:chOff x="1008" y="3120"/>
              <a:chExt cx="3648" cy="184"/>
            </a:xfrm>
          </p:grpSpPr>
          <p:sp>
            <p:nvSpPr>
              <p:cNvPr id="242708" name="Rectangle 20"/>
              <p:cNvSpPr>
                <a:spLocks noChangeArrowhead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008" y="3120"/>
                <a:ext cx="3648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2709" name="Line 21"/>
              <p:cNvSpPr>
                <a:spLocks noChangeShapeType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680" y="3120"/>
                <a:ext cx="0" cy="1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710" name="Line 22"/>
              <p:cNvSpPr>
                <a:spLocks noChangeShapeType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2252" y="3121"/>
                <a:ext cx="0" cy="1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711" name="Line 23"/>
              <p:cNvSpPr>
                <a:spLocks noChangeShapeType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2828" y="3121"/>
                <a:ext cx="0" cy="1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42712" name="Text Box 24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056" y="2736"/>
              <a:ext cx="3600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101011    10010    01000          0000000000011000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03620811"/>
      </p:ext>
    </p:extLst>
  </p:cSld>
  <p:clrMapOvr>
    <a:masterClrMapping/>
  </p:clrMapOvr>
  <p:transition advTm="2000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1026"/>
          <p:cNvSpPr>
            <a:spLocks noGrp="1" noChangeArrowheads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685800" y="914400"/>
            <a:ext cx="8077200" cy="5368136"/>
          </a:xfrm>
          <a:noFill/>
          <a:ln/>
        </p:spPr>
        <p:txBody>
          <a:bodyPr lIns="90488" tIns="44450" rIns="90488" bIns="44450"/>
          <a:lstStyle/>
          <a:p>
            <a:pPr marL="342900" indent="-342900">
              <a:lnSpc>
                <a:spcPct val="85000"/>
              </a:lnSpc>
            </a:pPr>
            <a:r>
              <a:rPr lang="en-US" altLang="zh-CN" dirty="0">
                <a:ea typeface="宋体" pitchFamily="2" charset="-122"/>
              </a:rPr>
              <a:t>Example:  </a:t>
            </a:r>
            <a:r>
              <a:rPr lang="en-US" altLang="zh-CN" dirty="0" err="1">
                <a:latin typeface="Courier New" pitchFamily="49" charset="0"/>
                <a:ea typeface="宋体" pitchFamily="2" charset="-122"/>
              </a:rPr>
              <a:t>sw</a:t>
            </a:r>
            <a:r>
              <a:rPr lang="en-US" altLang="zh-CN" dirty="0">
                <a:latin typeface="Courier New" pitchFamily="49" charset="0"/>
                <a:ea typeface="宋体" pitchFamily="2" charset="-122"/>
              </a:rPr>
              <a:t> $t0, 24($s2)</a:t>
            </a:r>
            <a:r>
              <a:rPr lang="en-US" altLang="zh-CN" dirty="0">
                <a:ea typeface="宋体" pitchFamily="2" charset="-122"/>
              </a:rPr>
              <a:t/>
            </a:r>
            <a:br>
              <a:rPr lang="en-US" altLang="zh-CN" dirty="0">
                <a:ea typeface="宋体" pitchFamily="2" charset="-122"/>
              </a:rPr>
            </a:br>
            <a:endParaRPr lang="en-US" altLang="zh-CN" dirty="0">
              <a:ea typeface="宋体" pitchFamily="2" charset="-122"/>
            </a:endParaRPr>
          </a:p>
          <a:p>
            <a:pPr marL="342900" indent="-342900">
              <a:lnSpc>
                <a:spcPct val="85000"/>
              </a:lnSpc>
            </a:pPr>
            <a:endParaRPr lang="en-US" altLang="zh-CN" dirty="0">
              <a:ea typeface="宋体" pitchFamily="2" charset="-122"/>
            </a:endParaRPr>
          </a:p>
          <a:p>
            <a:pPr marL="342900" indent="-342900">
              <a:lnSpc>
                <a:spcPct val="85000"/>
              </a:lnSpc>
            </a:pPr>
            <a:endParaRPr lang="en-US" altLang="zh-CN" dirty="0">
              <a:ea typeface="宋体" pitchFamily="2" charset="-122"/>
            </a:endParaRPr>
          </a:p>
          <a:p>
            <a:pPr marL="342900" indent="-342900">
              <a:lnSpc>
                <a:spcPct val="85000"/>
              </a:lnSpc>
            </a:pPr>
            <a:endParaRPr lang="en-US" altLang="zh-CN" dirty="0">
              <a:ea typeface="宋体" pitchFamily="2" charset="-122"/>
            </a:endParaRPr>
          </a:p>
          <a:p>
            <a:pPr marL="342900" indent="-342900">
              <a:lnSpc>
                <a:spcPct val="85000"/>
              </a:lnSpc>
            </a:pPr>
            <a:endParaRPr lang="en-US" altLang="zh-CN" dirty="0">
              <a:ea typeface="宋体" pitchFamily="2" charset="-122"/>
            </a:endParaRPr>
          </a:p>
          <a:p>
            <a:pPr marL="342900" indent="-342900">
              <a:lnSpc>
                <a:spcPct val="85000"/>
              </a:lnSpc>
            </a:pPr>
            <a:endParaRPr lang="en-US" altLang="zh-CN" dirty="0">
              <a:ea typeface="宋体" pitchFamily="2" charset="-122"/>
            </a:endParaRPr>
          </a:p>
          <a:p>
            <a:pPr marL="342900" indent="-342900">
              <a:lnSpc>
                <a:spcPct val="85000"/>
              </a:lnSpc>
            </a:pPr>
            <a:r>
              <a:rPr lang="en-US" altLang="zh-CN" dirty="0">
                <a:ea typeface="宋体" pitchFamily="2" charset="-122"/>
              </a:rPr>
              <a:t>A 16-bit offset means access is limited to memory locations within a range of </a:t>
            </a:r>
            <a:r>
              <a:rPr lang="en-US" altLang="zh-CN" dirty="0" smtClean="0">
                <a:ea typeface="宋体" pitchFamily="2" charset="-122"/>
              </a:rPr>
              <a:t> +2</a:t>
            </a:r>
            <a:r>
              <a:rPr lang="en-US" altLang="zh-CN" baseline="30000" dirty="0" smtClean="0">
                <a:ea typeface="宋体" pitchFamily="2" charset="-122"/>
              </a:rPr>
              <a:t>13</a:t>
            </a:r>
            <a:r>
              <a:rPr lang="en-US" altLang="zh-CN" dirty="0" smtClean="0">
                <a:ea typeface="宋体" pitchFamily="2" charset="-122"/>
              </a:rPr>
              <a:t>-1  </a:t>
            </a:r>
            <a:r>
              <a:rPr lang="en-US" altLang="zh-CN" dirty="0">
                <a:ea typeface="宋体" pitchFamily="2" charset="-122"/>
              </a:rPr>
              <a:t>to  </a:t>
            </a:r>
            <a:r>
              <a:rPr lang="en-US" altLang="zh-CN" dirty="0" smtClean="0"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-2</a:t>
            </a:r>
            <a:r>
              <a:rPr lang="en-US" altLang="zh-CN" baseline="30000" dirty="0">
                <a:ea typeface="宋体" pitchFamily="2" charset="-122"/>
              </a:rPr>
              <a:t>13</a:t>
            </a:r>
            <a:r>
              <a:rPr lang="en-US" altLang="zh-CN" dirty="0">
                <a:ea typeface="宋体" pitchFamily="2" charset="-122"/>
              </a:rPr>
              <a:t> (~8,192) </a:t>
            </a:r>
            <a:r>
              <a:rPr lang="en-US" altLang="zh-CN" dirty="0">
                <a:solidFill>
                  <a:schemeClr val="accent1"/>
                </a:solidFill>
                <a:ea typeface="宋体" pitchFamily="2" charset="-122"/>
              </a:rPr>
              <a:t>words</a:t>
            </a:r>
            <a:r>
              <a:rPr lang="en-US" altLang="zh-CN" dirty="0">
                <a:ea typeface="宋体" pitchFamily="2" charset="-122"/>
              </a:rPr>
              <a:t> (</a:t>
            </a:r>
            <a:r>
              <a:rPr lang="en-US" altLang="zh-CN" dirty="0">
                <a:ea typeface="宋体" pitchFamily="2" charset="-122"/>
                <a:sym typeface="Symbol" pitchFamily="18" charset="2"/>
              </a:rPr>
              <a:t>+</a:t>
            </a:r>
            <a:r>
              <a:rPr lang="en-US" altLang="zh-CN" dirty="0">
                <a:ea typeface="宋体" pitchFamily="2" charset="-122"/>
              </a:rPr>
              <a:t>2</a:t>
            </a:r>
            <a:r>
              <a:rPr lang="en-US" altLang="zh-CN" baseline="30000" dirty="0">
                <a:ea typeface="宋体" pitchFamily="2" charset="-122"/>
              </a:rPr>
              <a:t>15</a:t>
            </a:r>
            <a:r>
              <a:rPr lang="en-US" altLang="zh-CN" dirty="0">
                <a:ea typeface="宋体" pitchFamily="2" charset="-122"/>
              </a:rPr>
              <a:t>-1 to -2</a:t>
            </a:r>
            <a:r>
              <a:rPr lang="en-US" altLang="zh-CN" baseline="30000" dirty="0">
                <a:ea typeface="宋体" pitchFamily="2" charset="-122"/>
              </a:rPr>
              <a:t>15</a:t>
            </a:r>
            <a:r>
              <a:rPr lang="en-US" altLang="zh-CN" dirty="0">
                <a:ea typeface="宋体" pitchFamily="2" charset="-122"/>
              </a:rPr>
              <a:t> (~32,768) </a:t>
            </a:r>
            <a:r>
              <a:rPr lang="en-US" altLang="zh-CN" dirty="0">
                <a:solidFill>
                  <a:schemeClr val="accent1"/>
                </a:solidFill>
                <a:ea typeface="宋体" pitchFamily="2" charset="-122"/>
              </a:rPr>
              <a:t>bytes</a:t>
            </a:r>
            <a:r>
              <a:rPr lang="en-US" altLang="zh-CN" dirty="0">
                <a:ea typeface="宋体" pitchFamily="2" charset="-122"/>
              </a:rPr>
              <a:t>) of the address in the base register</a:t>
            </a:r>
            <a:r>
              <a:rPr lang="en-US" altLang="zh-CN" dirty="0">
                <a:latin typeface="Courier New" pitchFamily="49" charset="0"/>
                <a:ea typeface="宋体" pitchFamily="2" charset="-122"/>
              </a:rPr>
              <a:t> $s2</a:t>
            </a:r>
          </a:p>
          <a:p>
            <a:pPr marL="742950" lvl="1" indent="-285750">
              <a:lnSpc>
                <a:spcPct val="85000"/>
              </a:lnSpc>
            </a:pPr>
            <a:r>
              <a:rPr lang="en-US" altLang="zh-CN" dirty="0">
                <a:ea typeface="宋体" pitchFamily="2" charset="-122"/>
              </a:rPr>
              <a:t>2’s complement (1 sign bit + 15 magnitude bits)</a:t>
            </a:r>
          </a:p>
        </p:txBody>
      </p:sp>
      <p:sp>
        <p:nvSpPr>
          <p:cNvPr id="311299" name="Rectangle 1027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25425" y="312738"/>
            <a:ext cx="2817813" cy="4778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1300" name="Rectangle 1028"/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noFill/>
          <a:ln/>
        </p:spPr>
        <p:txBody>
          <a:bodyPr lIns="90488" tIns="44450" rIns="90488" bIns="44450" anchor="ctr"/>
          <a:lstStyle/>
          <a:p>
            <a:r>
              <a:rPr lang="en-US" altLang="zh-CN">
                <a:ea typeface="宋体" pitchFamily="2" charset="-122"/>
              </a:rPr>
              <a:t>Machine Language - Store Instruction</a:t>
            </a:r>
          </a:p>
        </p:txBody>
      </p:sp>
      <p:grpSp>
        <p:nvGrpSpPr>
          <p:cNvPr id="2" name="Group 1029"/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1676400" y="1676400"/>
            <a:ext cx="5791200" cy="366713"/>
            <a:chOff x="1056" y="3024"/>
            <a:chExt cx="3648" cy="231"/>
          </a:xfrm>
        </p:grpSpPr>
        <p:sp>
          <p:nvSpPr>
            <p:cNvPr id="311302" name="Rectangle 1030"/>
            <p:cNvSpPr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1056" y="3024"/>
              <a:ext cx="3648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1303" name="Line 1031"/>
            <p:cNvSpPr>
              <a:spLocks noChangeShapeType="1"/>
            </p:cNvSpPr>
            <p:nvPr>
              <p:custDataLst>
                <p:tags r:id="rId32"/>
              </p:custDataLst>
            </p:nvPr>
          </p:nvSpPr>
          <p:spPr bwMode="auto">
            <a:xfrm>
              <a:off x="1728" y="3024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11304" name="Line 1032"/>
            <p:cNvSpPr>
              <a:spLocks noChangeShapeType="1"/>
            </p:cNvSpPr>
            <p:nvPr>
              <p:custDataLst>
                <p:tags r:id="rId33"/>
              </p:custDataLst>
            </p:nvPr>
          </p:nvSpPr>
          <p:spPr bwMode="auto">
            <a:xfrm>
              <a:off x="2300" y="3025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11305" name="Line 1033"/>
            <p:cNvSpPr>
              <a:spLocks noChangeShapeType="1"/>
            </p:cNvSpPr>
            <p:nvPr>
              <p:custDataLst>
                <p:tags r:id="rId34"/>
              </p:custDataLst>
            </p:nvPr>
          </p:nvSpPr>
          <p:spPr bwMode="auto">
            <a:xfrm>
              <a:off x="2876" y="3025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11306" name="Text Box 1034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1200" y="3024"/>
              <a:ext cx="3044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op            rs             rt                 16 bit number</a:t>
              </a:r>
            </a:p>
          </p:txBody>
        </p:sp>
      </p:grpSp>
      <p:grpSp>
        <p:nvGrpSpPr>
          <p:cNvPr id="3" name="Group 1035"/>
          <p:cNvGrpSpPr>
            <a:grpSpLocks/>
          </p:cNvGrpSpPr>
          <p:nvPr>
            <p:custDataLst>
              <p:tags r:id="rId5"/>
            </p:custDataLst>
          </p:nvPr>
        </p:nvGrpSpPr>
        <p:grpSpPr bwMode="auto">
          <a:xfrm>
            <a:off x="1676400" y="2514600"/>
            <a:ext cx="5791200" cy="369888"/>
            <a:chOff x="1008" y="2352"/>
            <a:chExt cx="3648" cy="233"/>
          </a:xfrm>
        </p:grpSpPr>
        <p:grpSp>
          <p:nvGrpSpPr>
            <p:cNvPr id="4" name="Group 1036"/>
            <p:cNvGrpSpPr>
              <a:grpSpLocks/>
            </p:cNvGrpSpPr>
            <p:nvPr/>
          </p:nvGrpSpPr>
          <p:grpSpPr bwMode="auto">
            <a:xfrm>
              <a:off x="1008" y="2352"/>
              <a:ext cx="3648" cy="184"/>
              <a:chOff x="1008" y="3120"/>
              <a:chExt cx="3648" cy="184"/>
            </a:xfrm>
          </p:grpSpPr>
          <p:sp>
            <p:nvSpPr>
              <p:cNvPr id="311309" name="Rectangle 1037"/>
              <p:cNvSpPr>
                <a:spLocks noChangeArrowheads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1008" y="3120"/>
                <a:ext cx="3648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1310" name="Line 1038"/>
              <p:cNvSpPr>
                <a:spLocks noChangeShapeType="1"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1680" y="3120"/>
                <a:ext cx="0" cy="1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1311" name="Line 1039"/>
              <p:cNvSpPr>
                <a:spLocks noChangeShapeType="1"/>
              </p:cNvSpPr>
              <p:nvPr>
                <p:custDataLst>
                  <p:tags r:id="rId29"/>
                </p:custDataLst>
              </p:nvPr>
            </p:nvSpPr>
            <p:spPr bwMode="auto">
              <a:xfrm>
                <a:off x="2252" y="3121"/>
                <a:ext cx="0" cy="1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1312" name="Line 1040"/>
              <p:cNvSpPr>
                <a:spLocks noChangeShapeType="1"/>
              </p:cNvSpPr>
              <p:nvPr>
                <p:custDataLst>
                  <p:tags r:id="rId30"/>
                </p:custDataLst>
              </p:nvPr>
            </p:nvSpPr>
            <p:spPr bwMode="auto">
              <a:xfrm>
                <a:off x="2828" y="3121"/>
                <a:ext cx="0" cy="1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1313" name="Text Box 1041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1167" y="2352"/>
              <a:ext cx="2679" cy="2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dirty="0" smtClean="0">
                  <a:solidFill>
                    <a:schemeClr val="tx1"/>
                  </a:solidFill>
                  <a:ea typeface="宋体" pitchFamily="2" charset="-122"/>
                </a:rPr>
                <a:t>0x2b           18          </a:t>
              </a:r>
              <a:r>
                <a:rPr lang="en-US" altLang="zh-CN" dirty="0">
                  <a:solidFill>
                    <a:schemeClr val="tx1"/>
                  </a:solidFill>
                  <a:ea typeface="宋体" pitchFamily="2" charset="-122"/>
                </a:rPr>
                <a:t>8                  </a:t>
              </a:r>
              <a:r>
                <a:rPr lang="en-US" altLang="zh-CN" dirty="0" smtClean="0">
                  <a:solidFill>
                    <a:schemeClr val="tx1"/>
                  </a:solidFill>
                  <a:ea typeface="宋体" pitchFamily="2" charset="-122"/>
                </a:rPr>
                <a:t>    24</a:t>
              </a:r>
              <a:r>
                <a:rPr lang="en-US" altLang="zh-CN" baseline="-25000" dirty="0" smtClean="0">
                  <a:solidFill>
                    <a:schemeClr val="tx1"/>
                  </a:solidFill>
                  <a:ea typeface="宋体" pitchFamily="2" charset="-122"/>
                </a:rPr>
                <a:t>10</a:t>
              </a:r>
              <a:endParaRPr lang="en-US" altLang="zh-CN" baseline="-25000" dirty="0">
                <a:solidFill>
                  <a:schemeClr val="tx1"/>
                </a:solidFill>
                <a:ea typeface="宋体" pitchFamily="2" charset="-122"/>
              </a:endParaRPr>
            </a:p>
          </p:txBody>
        </p:sp>
      </p:grpSp>
      <p:grpSp>
        <p:nvGrpSpPr>
          <p:cNvPr id="5" name="Group 1042"/>
          <p:cNvGrpSpPr>
            <a:grpSpLocks/>
          </p:cNvGrpSpPr>
          <p:nvPr>
            <p:custDataLst>
              <p:tags r:id="rId6"/>
            </p:custDataLst>
          </p:nvPr>
        </p:nvGrpSpPr>
        <p:grpSpPr bwMode="auto">
          <a:xfrm>
            <a:off x="1676400" y="3352800"/>
            <a:ext cx="5791200" cy="366713"/>
            <a:chOff x="1008" y="2736"/>
            <a:chExt cx="3648" cy="231"/>
          </a:xfrm>
        </p:grpSpPr>
        <p:grpSp>
          <p:nvGrpSpPr>
            <p:cNvPr id="6" name="Group 1043"/>
            <p:cNvGrpSpPr>
              <a:grpSpLocks/>
            </p:cNvGrpSpPr>
            <p:nvPr/>
          </p:nvGrpSpPr>
          <p:grpSpPr bwMode="auto">
            <a:xfrm>
              <a:off x="1008" y="2736"/>
              <a:ext cx="3648" cy="184"/>
              <a:chOff x="1008" y="3120"/>
              <a:chExt cx="3648" cy="184"/>
            </a:xfrm>
          </p:grpSpPr>
          <p:sp>
            <p:nvSpPr>
              <p:cNvPr id="311316" name="Rectangle 1044"/>
              <p:cNvSpPr>
                <a:spLocks noChangeArrowheads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1008" y="3120"/>
                <a:ext cx="3648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1317" name="Line 1045"/>
              <p:cNvSpPr>
                <a:spLocks noChangeShapeType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1680" y="3120"/>
                <a:ext cx="0" cy="1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1318" name="Line 1046"/>
              <p:cNvSpPr>
                <a:spLocks noChangeShapeType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2252" y="3121"/>
                <a:ext cx="0" cy="1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1319" name="Line 1047"/>
              <p:cNvSpPr>
                <a:spLocks noChangeShapeType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2828" y="3121"/>
                <a:ext cx="0" cy="1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1320" name="Text Box 1048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1056" y="2736"/>
              <a:ext cx="3600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>
                  <a:solidFill>
                    <a:schemeClr val="tx1"/>
                  </a:solidFill>
                  <a:ea typeface="宋体" pitchFamily="2" charset="-122"/>
                </a:rPr>
                <a:t>101011    10010    01000          0000000000011000</a:t>
              </a:r>
            </a:p>
          </p:txBody>
        </p:sp>
      </p:grpSp>
      <p:sp>
        <p:nvSpPr>
          <p:cNvPr id="311321" name="AutoShape 1049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343400" y="2209800"/>
            <a:ext cx="381000" cy="152400"/>
          </a:xfrm>
          <a:prstGeom prst="downArrow">
            <a:avLst>
              <a:gd name="adj1" fmla="val 50000"/>
              <a:gd name="adj2" fmla="val 25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11322" name="AutoShape 1050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4343400" y="2971800"/>
            <a:ext cx="381000" cy="152400"/>
          </a:xfrm>
          <a:prstGeom prst="downArrow">
            <a:avLst>
              <a:gd name="adj1" fmla="val 50000"/>
              <a:gd name="adj2" fmla="val 25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" name="Group 1051"/>
          <p:cNvGrpSpPr>
            <a:grpSpLocks/>
          </p:cNvGrpSpPr>
          <p:nvPr>
            <p:custDataLst>
              <p:tags r:id="rId9"/>
            </p:custDataLst>
          </p:nvPr>
        </p:nvGrpSpPr>
        <p:grpSpPr bwMode="auto">
          <a:xfrm>
            <a:off x="3071802" y="928670"/>
            <a:ext cx="2143140" cy="2424130"/>
            <a:chOff x="2016" y="624"/>
            <a:chExt cx="1248" cy="1008"/>
          </a:xfrm>
        </p:grpSpPr>
        <p:sp>
          <p:nvSpPr>
            <p:cNvPr id="311324" name="Oval 1052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2832" y="624"/>
              <a:ext cx="432" cy="144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1325" name="Line 1053"/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 flipH="1">
              <a:off x="2016" y="768"/>
              <a:ext cx="1056" cy="864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1054"/>
          <p:cNvGrpSpPr>
            <a:grpSpLocks/>
          </p:cNvGrpSpPr>
          <p:nvPr>
            <p:custDataLst>
              <p:tags r:id="rId10"/>
            </p:custDataLst>
          </p:nvPr>
        </p:nvGrpSpPr>
        <p:grpSpPr bwMode="auto">
          <a:xfrm>
            <a:off x="2214546" y="928670"/>
            <a:ext cx="857256" cy="2424130"/>
            <a:chOff x="1392" y="624"/>
            <a:chExt cx="528" cy="1008"/>
          </a:xfrm>
        </p:grpSpPr>
        <p:sp>
          <p:nvSpPr>
            <p:cNvPr id="311327" name="Oval 1055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488" y="624"/>
              <a:ext cx="432" cy="144"/>
            </a:xfrm>
            <a:prstGeom prst="ellipse">
              <a:avLst/>
            </a:prstGeom>
            <a:noFill/>
            <a:ln w="12700">
              <a:solidFill>
                <a:srgbClr val="0099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1328" name="Line 1056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 flipH="1">
              <a:off x="1392" y="768"/>
              <a:ext cx="288" cy="864"/>
            </a:xfrm>
            <a:prstGeom prst="line">
              <a:avLst/>
            </a:prstGeom>
            <a:noFill/>
            <a:ln w="12700">
              <a:solidFill>
                <a:srgbClr val="0099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1057"/>
          <p:cNvGrpSpPr>
            <a:grpSpLocks/>
          </p:cNvGrpSpPr>
          <p:nvPr>
            <p:custDataLst>
              <p:tags r:id="rId11"/>
            </p:custDataLst>
          </p:nvPr>
        </p:nvGrpSpPr>
        <p:grpSpPr bwMode="auto">
          <a:xfrm>
            <a:off x="3071802" y="928670"/>
            <a:ext cx="1143008" cy="2424130"/>
            <a:chOff x="1920" y="624"/>
            <a:chExt cx="720" cy="1008"/>
          </a:xfrm>
        </p:grpSpPr>
        <p:sp>
          <p:nvSpPr>
            <p:cNvPr id="311330" name="Oval 1058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920" y="624"/>
              <a:ext cx="432" cy="144"/>
            </a:xfrm>
            <a:prstGeom prst="ellips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1331" name="Line 1059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>
              <a:off x="2160" y="768"/>
              <a:ext cx="480" cy="86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60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3857620" y="928670"/>
            <a:ext cx="1571636" cy="2424130"/>
            <a:chOff x="2448" y="624"/>
            <a:chExt cx="1104" cy="1008"/>
          </a:xfrm>
        </p:grpSpPr>
        <p:sp>
          <p:nvSpPr>
            <p:cNvPr id="311333" name="Oval 1061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2448" y="624"/>
              <a:ext cx="432" cy="144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1334" name="Line 1062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>
              <a:off x="2688" y="768"/>
              <a:ext cx="864" cy="864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4714015"/>
      </p:ext>
    </p:extLst>
  </p:cSld>
  <p:clrMapOvr>
    <a:masterClrMapping/>
  </p:clrMapOvr>
  <p:transition advTm="2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2"/>
          <p:cNvSpPr>
            <a:spLocks noChangeArrowheads="1"/>
          </p:cNvSpPr>
          <p:nvPr/>
        </p:nvSpPr>
        <p:spPr bwMode="auto">
          <a:xfrm>
            <a:off x="225425" y="312738"/>
            <a:ext cx="1190625" cy="4778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3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762000"/>
            <a:ext cx="8382000" cy="5638800"/>
          </a:xfrm>
          <a:noFill/>
          <a:ln/>
        </p:spPr>
        <p:txBody>
          <a:bodyPr lIns="90488" tIns="44450" rIns="90488" bIns="44450"/>
          <a:lstStyle/>
          <a:p>
            <a:pPr marL="342900" indent="-342900"/>
            <a:r>
              <a:rPr lang="en-US" dirty="0"/>
              <a:t>What instruction format is used for the </a:t>
            </a:r>
            <a:r>
              <a:rPr lang="en-US" dirty="0" err="1">
                <a:latin typeface="Courier New" pitchFamily="49" charset="0"/>
              </a:rPr>
              <a:t>addi</a:t>
            </a:r>
            <a:r>
              <a:rPr lang="en-US" dirty="0"/>
              <a:t> ?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 err="1">
                <a:latin typeface="Courier New" pitchFamily="49" charset="0"/>
              </a:rPr>
              <a:t>addi</a:t>
            </a:r>
            <a:r>
              <a:rPr lang="en-US" dirty="0">
                <a:latin typeface="Courier New" pitchFamily="49" charset="0"/>
              </a:rPr>
              <a:t>	$s3, $s3, 4	#$s3 = $s3 + 4</a:t>
            </a:r>
          </a:p>
          <a:p>
            <a:pPr marL="742950" lvl="1" indent="-285750"/>
            <a:endParaRPr lang="en-US" dirty="0">
              <a:latin typeface="Courier New" pitchFamily="49" charset="0"/>
            </a:endParaRPr>
          </a:p>
          <a:p>
            <a:pPr marL="342900" indent="-342900"/>
            <a:r>
              <a:rPr lang="en-US" dirty="0"/>
              <a:t>Machine format:	</a:t>
            </a:r>
            <a:endParaRPr lang="en-US" dirty="0">
              <a:latin typeface="Courier New" pitchFamily="49" charset="0"/>
            </a:endParaRPr>
          </a:p>
        </p:txBody>
      </p:sp>
      <p:sp>
        <p:nvSpPr>
          <p:cNvPr id="363524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304801"/>
            <a:ext cx="7958166" cy="409556"/>
          </a:xfrm>
          <a:noFill/>
          <a:ln/>
        </p:spPr>
        <p:txBody>
          <a:bodyPr lIns="90488" tIns="44450" rIns="90488" bIns="44450" anchor="ctr"/>
          <a:lstStyle/>
          <a:p>
            <a:r>
              <a:rPr lang="en-US" dirty="0"/>
              <a:t>Machine Language – Immediate Instructions</a:t>
            </a: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1447800" y="2590800"/>
            <a:ext cx="7467600" cy="1204913"/>
            <a:chOff x="912" y="1632"/>
            <a:chExt cx="4704" cy="759"/>
          </a:xfrm>
        </p:grpSpPr>
        <p:sp>
          <p:nvSpPr>
            <p:cNvPr id="363525" name="Rectangle 5"/>
            <p:cNvSpPr>
              <a:spLocks noChangeArrowheads="1"/>
            </p:cNvSpPr>
            <p:nvPr/>
          </p:nvSpPr>
          <p:spPr bwMode="auto">
            <a:xfrm>
              <a:off x="912" y="1680"/>
              <a:ext cx="3648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3526" name="Line 6"/>
            <p:cNvSpPr>
              <a:spLocks noChangeShapeType="1"/>
            </p:cNvSpPr>
            <p:nvPr/>
          </p:nvSpPr>
          <p:spPr bwMode="auto">
            <a:xfrm>
              <a:off x="1584" y="1680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63527" name="Text Box 7"/>
            <p:cNvSpPr txBox="1">
              <a:spLocks noChangeArrowheads="1"/>
            </p:cNvSpPr>
            <p:nvPr/>
          </p:nvSpPr>
          <p:spPr bwMode="auto">
            <a:xfrm>
              <a:off x="1152" y="1680"/>
              <a:ext cx="3060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tx1"/>
                  </a:solidFill>
                </a:rPr>
                <a:t>op           rs           rt                16 bit immediate</a:t>
              </a:r>
            </a:p>
          </p:txBody>
        </p:sp>
        <p:sp>
          <p:nvSpPr>
            <p:cNvPr id="363528" name="Rectangle 8"/>
            <p:cNvSpPr>
              <a:spLocks noChangeArrowheads="1"/>
            </p:cNvSpPr>
            <p:nvPr/>
          </p:nvSpPr>
          <p:spPr bwMode="auto">
            <a:xfrm>
              <a:off x="4608" y="1632"/>
              <a:ext cx="1008" cy="2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2000">
                  <a:solidFill>
                    <a:schemeClr val="tx1"/>
                  </a:solidFill>
                  <a:sym typeface="Symbol" pitchFamily="18" charset="2"/>
                </a:rPr>
                <a:t>I  format</a:t>
              </a:r>
            </a:p>
          </p:txBody>
        </p:sp>
        <p:sp>
          <p:nvSpPr>
            <p:cNvPr id="363529" name="AutoShape 9"/>
            <p:cNvSpPr>
              <a:spLocks noChangeArrowheads="1"/>
            </p:cNvSpPr>
            <p:nvPr/>
          </p:nvSpPr>
          <p:spPr bwMode="auto">
            <a:xfrm>
              <a:off x="2640" y="1968"/>
              <a:ext cx="240" cy="96"/>
            </a:xfrm>
            <a:prstGeom prst="downArrow">
              <a:avLst>
                <a:gd name="adj1" fmla="val 50000"/>
                <a:gd name="adj2" fmla="val 25000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3530" name="Rectangle 10"/>
            <p:cNvSpPr>
              <a:spLocks noChangeArrowheads="1"/>
            </p:cNvSpPr>
            <p:nvPr/>
          </p:nvSpPr>
          <p:spPr bwMode="auto">
            <a:xfrm>
              <a:off x="912" y="2160"/>
              <a:ext cx="3648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3531" name="Line 11"/>
            <p:cNvSpPr>
              <a:spLocks noChangeShapeType="1"/>
            </p:cNvSpPr>
            <p:nvPr/>
          </p:nvSpPr>
          <p:spPr bwMode="auto">
            <a:xfrm>
              <a:off x="1584" y="2160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63532" name="Text Box 12"/>
            <p:cNvSpPr txBox="1">
              <a:spLocks noChangeArrowheads="1"/>
            </p:cNvSpPr>
            <p:nvPr/>
          </p:nvSpPr>
          <p:spPr bwMode="auto">
            <a:xfrm>
              <a:off x="1104" y="2160"/>
              <a:ext cx="2556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tx1"/>
                  </a:solidFill>
                </a:rPr>
                <a:t>8             19           19                         4</a:t>
              </a:r>
            </a:p>
          </p:txBody>
        </p:sp>
        <p:sp>
          <p:nvSpPr>
            <p:cNvPr id="363533" name="Line 13"/>
            <p:cNvSpPr>
              <a:spLocks noChangeShapeType="1"/>
            </p:cNvSpPr>
            <p:nvPr/>
          </p:nvSpPr>
          <p:spPr bwMode="auto">
            <a:xfrm>
              <a:off x="2160" y="1680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63534" name="Line 14"/>
            <p:cNvSpPr>
              <a:spLocks noChangeShapeType="1"/>
            </p:cNvSpPr>
            <p:nvPr/>
          </p:nvSpPr>
          <p:spPr bwMode="auto">
            <a:xfrm>
              <a:off x="2736" y="1680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63535" name="Line 15"/>
            <p:cNvSpPr>
              <a:spLocks noChangeShapeType="1"/>
            </p:cNvSpPr>
            <p:nvPr/>
          </p:nvSpPr>
          <p:spPr bwMode="auto">
            <a:xfrm>
              <a:off x="2160" y="2160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63536" name="Line 16"/>
            <p:cNvSpPr>
              <a:spLocks noChangeShapeType="1"/>
            </p:cNvSpPr>
            <p:nvPr/>
          </p:nvSpPr>
          <p:spPr bwMode="auto">
            <a:xfrm>
              <a:off x="2736" y="2160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63537" name="Rectangle 17"/>
          <p:cNvSpPr>
            <a:spLocks noChangeArrowheads="1"/>
          </p:cNvSpPr>
          <p:nvPr/>
        </p:nvSpPr>
        <p:spPr bwMode="auto">
          <a:xfrm>
            <a:off x="533400" y="4752996"/>
            <a:ext cx="8382000" cy="1676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SzPct val="75000"/>
              <a:buFont typeface="Wingdings" pitchFamily="2" charset="2"/>
              <a:buChar char="q"/>
            </a:pPr>
            <a:r>
              <a:rPr lang="en-US" sz="2800" dirty="0">
                <a:solidFill>
                  <a:schemeClr val="tx1"/>
                </a:solidFill>
              </a:rPr>
              <a:t>The constant is kept inside the instruction itself!</a:t>
            </a:r>
          </a:p>
          <a:p>
            <a:pPr marL="742950" lvl="1" indent="-285750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sz="2400" dirty="0">
                <a:solidFill>
                  <a:schemeClr val="tx1"/>
                </a:solidFill>
              </a:rPr>
              <a:t>So must use the I format – </a:t>
            </a:r>
            <a:r>
              <a:rPr lang="en-US" sz="2400" dirty="0"/>
              <a:t>I</a:t>
            </a:r>
            <a:r>
              <a:rPr lang="en-US" sz="2400" dirty="0">
                <a:solidFill>
                  <a:schemeClr val="tx1"/>
                </a:solidFill>
              </a:rPr>
              <a:t>mmediate format</a:t>
            </a:r>
          </a:p>
          <a:p>
            <a:pPr marL="742950" lvl="1" indent="-285750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sz="2400" dirty="0"/>
              <a:t>Limits</a:t>
            </a:r>
            <a:r>
              <a:rPr lang="en-US" sz="2400" dirty="0">
                <a:solidFill>
                  <a:schemeClr val="tx1"/>
                </a:solidFill>
              </a:rPr>
              <a:t> immediate values to the range </a:t>
            </a:r>
            <a:r>
              <a:rPr lang="en-US" sz="2400" dirty="0" smtClean="0">
                <a:solidFill>
                  <a:schemeClr val="tx1"/>
                </a:solidFill>
              </a:rPr>
              <a:t> +2</a:t>
            </a:r>
            <a:r>
              <a:rPr lang="en-US" sz="2400" baseline="30000" dirty="0" smtClean="0">
                <a:solidFill>
                  <a:schemeClr val="tx1"/>
                </a:solidFill>
              </a:rPr>
              <a:t>15</a:t>
            </a:r>
            <a:r>
              <a:rPr lang="en-US" sz="2400" dirty="0" smtClean="0">
                <a:solidFill>
                  <a:schemeClr val="tx1"/>
                </a:solidFill>
              </a:rPr>
              <a:t>–1  to  </a:t>
            </a:r>
            <a:r>
              <a:rPr lang="en-US" sz="2400" dirty="0">
                <a:solidFill>
                  <a:schemeClr val="tx1"/>
                </a:solidFill>
              </a:rPr>
              <a:t>-2</a:t>
            </a:r>
            <a:r>
              <a:rPr lang="en-US" sz="2400" baseline="30000" dirty="0">
                <a:solidFill>
                  <a:schemeClr val="tx1"/>
                </a:solidFill>
              </a:rPr>
              <a:t>15</a:t>
            </a:r>
            <a:r>
              <a:rPr lang="en-US" sz="2400" dirty="0">
                <a:solidFill>
                  <a:schemeClr val="tx1"/>
                </a:solidFill>
              </a:rPr>
              <a:t>	</a:t>
            </a:r>
            <a:endParaRPr lang="en-US" sz="2400" dirty="0">
              <a:solidFill>
                <a:schemeClr val="tx1"/>
              </a:solidFill>
              <a:latin typeface="Courier New" pitchFamily="49" charset="0"/>
            </a:endParaRPr>
          </a:p>
        </p:txBody>
      </p:sp>
      <p:grpSp>
        <p:nvGrpSpPr>
          <p:cNvPr id="31" name="Group 22"/>
          <p:cNvGrpSpPr>
            <a:grpSpLocks/>
          </p:cNvGrpSpPr>
          <p:nvPr/>
        </p:nvGrpSpPr>
        <p:grpSpPr bwMode="auto">
          <a:xfrm>
            <a:off x="1428728" y="3929066"/>
            <a:ext cx="5791200" cy="369888"/>
            <a:chOff x="912" y="2304"/>
            <a:chExt cx="3648" cy="233"/>
          </a:xfrm>
        </p:grpSpPr>
        <p:sp>
          <p:nvSpPr>
            <p:cNvPr id="32" name="Rectangle 5"/>
            <p:cNvSpPr>
              <a:spLocks noChangeArrowheads="1"/>
            </p:cNvSpPr>
            <p:nvPr/>
          </p:nvSpPr>
          <p:spPr bwMode="auto">
            <a:xfrm>
              <a:off x="912" y="2313"/>
              <a:ext cx="3648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3" name="Line 6"/>
            <p:cNvSpPr>
              <a:spLocks noChangeShapeType="1"/>
            </p:cNvSpPr>
            <p:nvPr/>
          </p:nvSpPr>
          <p:spPr bwMode="auto">
            <a:xfrm>
              <a:off x="1584" y="2313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4" name="Text Box 7"/>
            <p:cNvSpPr txBox="1">
              <a:spLocks noChangeArrowheads="1"/>
            </p:cNvSpPr>
            <p:nvPr/>
          </p:nvSpPr>
          <p:spPr bwMode="auto">
            <a:xfrm>
              <a:off x="1104" y="2304"/>
              <a:ext cx="2580" cy="2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chemeClr val="tx1"/>
                  </a:solidFill>
                </a:rPr>
                <a:t>0x08        19          19                         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5" name="Line 13"/>
            <p:cNvSpPr>
              <a:spLocks noChangeShapeType="1"/>
            </p:cNvSpPr>
            <p:nvPr/>
          </p:nvSpPr>
          <p:spPr bwMode="auto">
            <a:xfrm>
              <a:off x="2160" y="2313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6" name="Line 14"/>
            <p:cNvSpPr>
              <a:spLocks noChangeShapeType="1"/>
            </p:cNvSpPr>
            <p:nvPr/>
          </p:nvSpPr>
          <p:spPr bwMode="auto">
            <a:xfrm>
              <a:off x="2736" y="2313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3534104"/>
      </p:ext>
    </p:extLst>
  </p:cSld>
  <p:clrMapOvr>
    <a:masterClrMapping/>
  </p:clrMapOvr>
  <p:transition advTm="2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353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2"/>
          <p:cNvSpPr>
            <a:spLocks noChangeArrowheads="1"/>
          </p:cNvSpPr>
          <p:nvPr/>
        </p:nvSpPr>
        <p:spPr bwMode="auto">
          <a:xfrm>
            <a:off x="225425" y="312738"/>
            <a:ext cx="1190625" cy="4778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63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762000"/>
            <a:ext cx="8382000" cy="5638800"/>
          </a:xfrm>
          <a:noFill/>
          <a:ln/>
        </p:spPr>
        <p:txBody>
          <a:bodyPr lIns="90488" tIns="44450" rIns="90488" bIns="44450"/>
          <a:lstStyle/>
          <a:p>
            <a:pPr marL="342900" indent="-342900"/>
            <a:r>
              <a:rPr lang="en-US" dirty="0"/>
              <a:t>What instruction format is used for the </a:t>
            </a:r>
            <a:r>
              <a:rPr lang="en-US" dirty="0" err="1">
                <a:latin typeface="Courier New" pitchFamily="49" charset="0"/>
              </a:rPr>
              <a:t>addi</a:t>
            </a:r>
            <a:r>
              <a:rPr lang="en-US" dirty="0"/>
              <a:t> ?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 err="1">
                <a:latin typeface="Courier New" pitchFamily="49" charset="0"/>
              </a:rPr>
              <a:t>addi</a:t>
            </a:r>
            <a:r>
              <a:rPr lang="en-US" dirty="0">
                <a:latin typeface="Courier New" pitchFamily="49" charset="0"/>
              </a:rPr>
              <a:t>	$s3, $s3, 4	#$s3 = $s3 + 4</a:t>
            </a:r>
          </a:p>
          <a:p>
            <a:pPr marL="742950" lvl="1" indent="-285750"/>
            <a:endParaRPr lang="en-US" dirty="0">
              <a:latin typeface="Courier New" pitchFamily="49" charset="0"/>
            </a:endParaRPr>
          </a:p>
          <a:p>
            <a:pPr marL="342900" indent="-342900"/>
            <a:r>
              <a:rPr lang="en-US" dirty="0"/>
              <a:t>Machine format:	</a:t>
            </a:r>
            <a:endParaRPr lang="en-US" dirty="0">
              <a:latin typeface="Courier New" pitchFamily="49" charset="0"/>
            </a:endParaRPr>
          </a:p>
        </p:txBody>
      </p:sp>
      <p:sp>
        <p:nvSpPr>
          <p:cNvPr id="363524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304801"/>
            <a:ext cx="7958166" cy="409556"/>
          </a:xfrm>
          <a:noFill/>
          <a:ln/>
        </p:spPr>
        <p:txBody>
          <a:bodyPr lIns="90488" tIns="44450" rIns="90488" bIns="44450" anchor="ctr"/>
          <a:lstStyle/>
          <a:p>
            <a:r>
              <a:rPr lang="en-US" dirty="0"/>
              <a:t>Machine Language – Immediate Instructions</a:t>
            </a: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1447800" y="2590800"/>
            <a:ext cx="7467600" cy="1204913"/>
            <a:chOff x="912" y="1632"/>
            <a:chExt cx="4704" cy="759"/>
          </a:xfrm>
        </p:grpSpPr>
        <p:sp>
          <p:nvSpPr>
            <p:cNvPr id="363525" name="Rectangle 5"/>
            <p:cNvSpPr>
              <a:spLocks noChangeArrowheads="1"/>
            </p:cNvSpPr>
            <p:nvPr/>
          </p:nvSpPr>
          <p:spPr bwMode="auto">
            <a:xfrm>
              <a:off x="912" y="1680"/>
              <a:ext cx="3648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3526" name="Line 6"/>
            <p:cNvSpPr>
              <a:spLocks noChangeShapeType="1"/>
            </p:cNvSpPr>
            <p:nvPr/>
          </p:nvSpPr>
          <p:spPr bwMode="auto">
            <a:xfrm>
              <a:off x="1584" y="1680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63527" name="Text Box 7"/>
            <p:cNvSpPr txBox="1">
              <a:spLocks noChangeArrowheads="1"/>
            </p:cNvSpPr>
            <p:nvPr/>
          </p:nvSpPr>
          <p:spPr bwMode="auto">
            <a:xfrm>
              <a:off x="1152" y="1680"/>
              <a:ext cx="3060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tx1"/>
                  </a:solidFill>
                </a:rPr>
                <a:t>op           rs           rt                16 bit immediate</a:t>
              </a:r>
            </a:p>
          </p:txBody>
        </p:sp>
        <p:sp>
          <p:nvSpPr>
            <p:cNvPr id="363528" name="Rectangle 8"/>
            <p:cNvSpPr>
              <a:spLocks noChangeArrowheads="1"/>
            </p:cNvSpPr>
            <p:nvPr/>
          </p:nvSpPr>
          <p:spPr bwMode="auto">
            <a:xfrm>
              <a:off x="4608" y="1632"/>
              <a:ext cx="1008" cy="2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2000">
                  <a:solidFill>
                    <a:schemeClr val="tx1"/>
                  </a:solidFill>
                  <a:sym typeface="Symbol" pitchFamily="18" charset="2"/>
                </a:rPr>
                <a:t>I  format</a:t>
              </a:r>
            </a:p>
          </p:txBody>
        </p:sp>
        <p:sp>
          <p:nvSpPr>
            <p:cNvPr id="363529" name="AutoShape 9"/>
            <p:cNvSpPr>
              <a:spLocks noChangeArrowheads="1"/>
            </p:cNvSpPr>
            <p:nvPr/>
          </p:nvSpPr>
          <p:spPr bwMode="auto">
            <a:xfrm>
              <a:off x="2640" y="1968"/>
              <a:ext cx="240" cy="96"/>
            </a:xfrm>
            <a:prstGeom prst="downArrow">
              <a:avLst>
                <a:gd name="adj1" fmla="val 50000"/>
                <a:gd name="adj2" fmla="val 25000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3530" name="Rectangle 10"/>
            <p:cNvSpPr>
              <a:spLocks noChangeArrowheads="1"/>
            </p:cNvSpPr>
            <p:nvPr/>
          </p:nvSpPr>
          <p:spPr bwMode="auto">
            <a:xfrm>
              <a:off x="912" y="2160"/>
              <a:ext cx="3648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3531" name="Line 11"/>
            <p:cNvSpPr>
              <a:spLocks noChangeShapeType="1"/>
            </p:cNvSpPr>
            <p:nvPr/>
          </p:nvSpPr>
          <p:spPr bwMode="auto">
            <a:xfrm>
              <a:off x="1584" y="2160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63532" name="Text Box 12"/>
            <p:cNvSpPr txBox="1">
              <a:spLocks noChangeArrowheads="1"/>
            </p:cNvSpPr>
            <p:nvPr/>
          </p:nvSpPr>
          <p:spPr bwMode="auto">
            <a:xfrm>
              <a:off x="1104" y="2160"/>
              <a:ext cx="2556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tx1"/>
                  </a:solidFill>
                </a:rPr>
                <a:t>8             19           19                         4</a:t>
              </a:r>
            </a:p>
          </p:txBody>
        </p:sp>
        <p:sp>
          <p:nvSpPr>
            <p:cNvPr id="363533" name="Line 13"/>
            <p:cNvSpPr>
              <a:spLocks noChangeShapeType="1"/>
            </p:cNvSpPr>
            <p:nvPr/>
          </p:nvSpPr>
          <p:spPr bwMode="auto">
            <a:xfrm>
              <a:off x="2160" y="1680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63534" name="Line 14"/>
            <p:cNvSpPr>
              <a:spLocks noChangeShapeType="1"/>
            </p:cNvSpPr>
            <p:nvPr/>
          </p:nvSpPr>
          <p:spPr bwMode="auto">
            <a:xfrm>
              <a:off x="2736" y="1680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63535" name="Line 15"/>
            <p:cNvSpPr>
              <a:spLocks noChangeShapeType="1"/>
            </p:cNvSpPr>
            <p:nvPr/>
          </p:nvSpPr>
          <p:spPr bwMode="auto">
            <a:xfrm>
              <a:off x="2160" y="2160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63536" name="Line 16"/>
            <p:cNvSpPr>
              <a:spLocks noChangeShapeType="1"/>
            </p:cNvSpPr>
            <p:nvPr/>
          </p:nvSpPr>
          <p:spPr bwMode="auto">
            <a:xfrm>
              <a:off x="2736" y="2160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63537" name="Rectangle 17"/>
          <p:cNvSpPr>
            <a:spLocks noChangeArrowheads="1"/>
          </p:cNvSpPr>
          <p:nvPr/>
        </p:nvSpPr>
        <p:spPr bwMode="auto">
          <a:xfrm>
            <a:off x="533400" y="4752996"/>
            <a:ext cx="8382000" cy="1676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SzPct val="75000"/>
              <a:buFont typeface="Wingdings" pitchFamily="2" charset="2"/>
              <a:buChar char="q"/>
            </a:pPr>
            <a:r>
              <a:rPr lang="en-US" sz="2800" dirty="0">
                <a:solidFill>
                  <a:schemeClr val="tx1"/>
                </a:solidFill>
              </a:rPr>
              <a:t>The constant is kept inside the instruction itself!</a:t>
            </a:r>
          </a:p>
          <a:p>
            <a:pPr marL="742950" lvl="1" indent="-285750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sz="2400" dirty="0">
                <a:solidFill>
                  <a:schemeClr val="tx1"/>
                </a:solidFill>
              </a:rPr>
              <a:t>So must use the I format – </a:t>
            </a:r>
            <a:r>
              <a:rPr lang="en-US" sz="2400" dirty="0"/>
              <a:t>I</a:t>
            </a:r>
            <a:r>
              <a:rPr lang="en-US" sz="2400" dirty="0">
                <a:solidFill>
                  <a:schemeClr val="tx1"/>
                </a:solidFill>
              </a:rPr>
              <a:t>mmediate format</a:t>
            </a:r>
          </a:p>
          <a:p>
            <a:pPr marL="742950" lvl="1" indent="-285750">
              <a:lnSpc>
                <a:spcPct val="95000"/>
              </a:lnSpc>
              <a:spcBef>
                <a:spcPct val="25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sz="2400" dirty="0"/>
              <a:t>Limits</a:t>
            </a:r>
            <a:r>
              <a:rPr lang="en-US" sz="2400" dirty="0">
                <a:solidFill>
                  <a:schemeClr val="tx1"/>
                </a:solidFill>
              </a:rPr>
              <a:t> immediate values to the range </a:t>
            </a:r>
            <a:r>
              <a:rPr lang="en-US" sz="2400" dirty="0" smtClean="0">
                <a:solidFill>
                  <a:schemeClr val="tx1"/>
                </a:solidFill>
              </a:rPr>
              <a:t> +2</a:t>
            </a:r>
            <a:r>
              <a:rPr lang="en-US" sz="2400" baseline="30000" dirty="0" smtClean="0">
                <a:solidFill>
                  <a:schemeClr val="tx1"/>
                </a:solidFill>
              </a:rPr>
              <a:t>15</a:t>
            </a:r>
            <a:r>
              <a:rPr lang="en-US" sz="2400" dirty="0" smtClean="0">
                <a:solidFill>
                  <a:schemeClr val="tx1"/>
                </a:solidFill>
              </a:rPr>
              <a:t>–1  to  </a:t>
            </a:r>
            <a:r>
              <a:rPr lang="en-US" sz="2400" dirty="0">
                <a:solidFill>
                  <a:schemeClr val="tx1"/>
                </a:solidFill>
              </a:rPr>
              <a:t>-2</a:t>
            </a:r>
            <a:r>
              <a:rPr lang="en-US" sz="2400" baseline="30000" dirty="0">
                <a:solidFill>
                  <a:schemeClr val="tx1"/>
                </a:solidFill>
              </a:rPr>
              <a:t>15</a:t>
            </a:r>
            <a:r>
              <a:rPr lang="en-US" sz="2400" dirty="0">
                <a:solidFill>
                  <a:schemeClr val="tx1"/>
                </a:solidFill>
              </a:rPr>
              <a:t>	</a:t>
            </a:r>
            <a:endParaRPr lang="en-US" sz="2400" dirty="0">
              <a:solidFill>
                <a:schemeClr val="tx1"/>
              </a:solidFill>
              <a:latin typeface="Courier New" pitchFamily="49" charset="0"/>
            </a:endParaRPr>
          </a:p>
        </p:txBody>
      </p:sp>
      <p:grpSp>
        <p:nvGrpSpPr>
          <p:cNvPr id="3" name="Group 18"/>
          <p:cNvGrpSpPr>
            <a:grpSpLocks/>
          </p:cNvGrpSpPr>
          <p:nvPr>
            <p:custDataLst>
              <p:tags r:id="rId1"/>
            </p:custDataLst>
          </p:nvPr>
        </p:nvGrpSpPr>
        <p:grpSpPr bwMode="auto">
          <a:xfrm>
            <a:off x="1422232" y="1214422"/>
            <a:ext cx="935188" cy="2214578"/>
            <a:chOff x="1488" y="624"/>
            <a:chExt cx="432" cy="1008"/>
          </a:xfrm>
        </p:grpSpPr>
        <p:sp>
          <p:nvSpPr>
            <p:cNvPr id="363539" name="Oval 19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488" y="624"/>
              <a:ext cx="432" cy="144"/>
            </a:xfrm>
            <a:prstGeom prst="ellipse">
              <a:avLst/>
            </a:prstGeom>
            <a:noFill/>
            <a:ln w="12700">
              <a:solidFill>
                <a:srgbClr val="0099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3540" name="Line 20"/>
            <p:cNvSpPr>
              <a:spLocks noChangeShapeType="1"/>
            </p:cNvSpPr>
            <p:nvPr>
              <p:custDataLst>
                <p:tags r:id="rId12"/>
              </p:custDataLst>
            </p:nvPr>
          </p:nvSpPr>
          <p:spPr bwMode="auto">
            <a:xfrm>
              <a:off x="1680" y="768"/>
              <a:ext cx="21" cy="864"/>
            </a:xfrm>
            <a:prstGeom prst="line">
              <a:avLst/>
            </a:prstGeom>
            <a:noFill/>
            <a:ln w="12700">
              <a:solidFill>
                <a:srgbClr val="0099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21"/>
          <p:cNvGrpSpPr>
            <a:grpSpLocks/>
          </p:cNvGrpSpPr>
          <p:nvPr>
            <p:custDataLst>
              <p:tags r:id="rId2"/>
            </p:custDataLst>
          </p:nvPr>
        </p:nvGrpSpPr>
        <p:grpSpPr bwMode="auto">
          <a:xfrm>
            <a:off x="2514600" y="1219200"/>
            <a:ext cx="1295400" cy="2209800"/>
            <a:chOff x="1920" y="624"/>
            <a:chExt cx="720" cy="1008"/>
          </a:xfrm>
        </p:grpSpPr>
        <p:sp>
          <p:nvSpPr>
            <p:cNvPr id="363542" name="Oval 22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920" y="624"/>
              <a:ext cx="432" cy="144"/>
            </a:xfrm>
            <a:prstGeom prst="ellips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3543" name="Line 23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>
              <a:off x="2160" y="768"/>
              <a:ext cx="480" cy="864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24"/>
          <p:cNvGrpSpPr>
            <a:grpSpLocks/>
          </p:cNvGrpSpPr>
          <p:nvPr>
            <p:custDataLst>
              <p:tags r:id="rId3"/>
            </p:custDataLst>
          </p:nvPr>
        </p:nvGrpSpPr>
        <p:grpSpPr bwMode="auto">
          <a:xfrm>
            <a:off x="2928926" y="1219200"/>
            <a:ext cx="1000132" cy="2209800"/>
            <a:chOff x="2536" y="624"/>
            <a:chExt cx="728" cy="1008"/>
          </a:xfrm>
        </p:grpSpPr>
        <p:sp>
          <p:nvSpPr>
            <p:cNvPr id="363545" name="Oval 25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832" y="624"/>
              <a:ext cx="432" cy="144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3546" name="Line 26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 flipH="1">
              <a:off x="2536" y="768"/>
              <a:ext cx="536" cy="864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27"/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4071934" y="1214422"/>
            <a:ext cx="1295400" cy="2209800"/>
            <a:chOff x="2448" y="624"/>
            <a:chExt cx="1104" cy="1008"/>
          </a:xfrm>
        </p:grpSpPr>
        <p:sp>
          <p:nvSpPr>
            <p:cNvPr id="363548" name="Oval 28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448" y="624"/>
              <a:ext cx="432" cy="144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3549" name="Line 29"/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>
              <a:off x="2688" y="768"/>
              <a:ext cx="864" cy="864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22"/>
          <p:cNvGrpSpPr>
            <a:grpSpLocks/>
          </p:cNvGrpSpPr>
          <p:nvPr/>
        </p:nvGrpSpPr>
        <p:grpSpPr bwMode="auto">
          <a:xfrm>
            <a:off x="1428728" y="3929066"/>
            <a:ext cx="5791200" cy="369888"/>
            <a:chOff x="912" y="2304"/>
            <a:chExt cx="3648" cy="233"/>
          </a:xfrm>
        </p:grpSpPr>
        <p:sp>
          <p:nvSpPr>
            <p:cNvPr id="32" name="Rectangle 5"/>
            <p:cNvSpPr>
              <a:spLocks noChangeArrowheads="1"/>
            </p:cNvSpPr>
            <p:nvPr/>
          </p:nvSpPr>
          <p:spPr bwMode="auto">
            <a:xfrm>
              <a:off x="912" y="2313"/>
              <a:ext cx="3648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3" name="Line 6"/>
            <p:cNvSpPr>
              <a:spLocks noChangeShapeType="1"/>
            </p:cNvSpPr>
            <p:nvPr/>
          </p:nvSpPr>
          <p:spPr bwMode="auto">
            <a:xfrm>
              <a:off x="1584" y="2313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4" name="Text Box 7"/>
            <p:cNvSpPr txBox="1">
              <a:spLocks noChangeArrowheads="1"/>
            </p:cNvSpPr>
            <p:nvPr/>
          </p:nvSpPr>
          <p:spPr bwMode="auto">
            <a:xfrm>
              <a:off x="1104" y="2304"/>
              <a:ext cx="2580" cy="2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chemeClr val="tx1"/>
                  </a:solidFill>
                </a:rPr>
                <a:t>0x08        19          19                         4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5" name="Line 13"/>
            <p:cNvSpPr>
              <a:spLocks noChangeShapeType="1"/>
            </p:cNvSpPr>
            <p:nvPr/>
          </p:nvSpPr>
          <p:spPr bwMode="auto">
            <a:xfrm>
              <a:off x="2160" y="2313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6" name="Line 14"/>
            <p:cNvSpPr>
              <a:spLocks noChangeShapeType="1"/>
            </p:cNvSpPr>
            <p:nvPr/>
          </p:nvSpPr>
          <p:spPr bwMode="auto">
            <a:xfrm>
              <a:off x="2736" y="2313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74530377"/>
      </p:ext>
    </p:extLst>
  </p:cSld>
  <p:clrMapOvr>
    <a:masterClrMapping/>
  </p:clrMapOvr>
  <p:transition advTm="2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353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Format </a:t>
            </a:r>
            <a:r>
              <a:rPr lang="en-US" dirty="0" smtClean="0"/>
              <a:t>Encoding, so far</a:t>
            </a:r>
            <a:endParaRPr lang="en-US" dirty="0"/>
          </a:p>
        </p:txBody>
      </p:sp>
      <p:sp>
        <p:nvSpPr>
          <p:cNvPr id="3584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914400"/>
            <a:ext cx="8001000" cy="2222500"/>
          </a:xfrm>
        </p:spPr>
        <p:txBody>
          <a:bodyPr/>
          <a:lstStyle/>
          <a:p>
            <a:r>
              <a:rPr lang="en-US"/>
              <a:t>Can reduce the complexity with multiple formats by keeping them as </a:t>
            </a:r>
            <a:r>
              <a:rPr lang="en-US">
                <a:solidFill>
                  <a:schemeClr val="accent1"/>
                </a:solidFill>
              </a:rPr>
              <a:t>similar</a:t>
            </a:r>
            <a:r>
              <a:rPr lang="en-US"/>
              <a:t> as possible</a:t>
            </a:r>
          </a:p>
          <a:p>
            <a:pPr lvl="1"/>
            <a:r>
              <a:rPr lang="en-US"/>
              <a:t>First three fields are the same in R-type and I-type</a:t>
            </a:r>
          </a:p>
          <a:p>
            <a:r>
              <a:rPr lang="en-US"/>
              <a:t>Each format has a distinct set of values in the op field</a:t>
            </a:r>
          </a:p>
        </p:txBody>
      </p:sp>
      <p:graphicFrame>
        <p:nvGraphicFramePr>
          <p:cNvPr id="358574" name="Group 174"/>
          <p:cNvGraphicFramePr>
            <a:graphicFrameLocks noGrp="1"/>
          </p:cNvGraphicFramePr>
          <p:nvPr>
            <p:ph sz="half" idx="2"/>
          </p:nvPr>
        </p:nvGraphicFramePr>
        <p:xfrm>
          <a:off x="685800" y="3429000"/>
          <a:ext cx="7696200" cy="2579689"/>
        </p:xfrm>
        <a:graphic>
          <a:graphicData uri="http://schemas.openxmlformats.org/drawingml/2006/table">
            <a:tbl>
              <a:tblPr/>
              <a:tblGrid>
                <a:gridCol w="1143000"/>
                <a:gridCol w="762000"/>
                <a:gridCol w="762000"/>
                <a:gridCol w="685800"/>
                <a:gridCol w="609600"/>
                <a:gridCol w="609600"/>
                <a:gridCol w="990600"/>
                <a:gridCol w="838200"/>
                <a:gridCol w="1295400"/>
              </a:tblGrid>
              <a:tr h="4302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Instr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Frmt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shamt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funct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address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add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32</a:t>
                      </a:r>
                      <a:r>
                        <a:rPr kumimoji="0" lang="en-US" sz="2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sub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34</a:t>
                      </a:r>
                      <a:r>
                        <a:rPr kumimoji="0" lang="en-US" sz="2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02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addi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  <a:r>
                        <a:rPr kumimoji="0" lang="en-US" sz="2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constant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lw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35</a:t>
                      </a:r>
                      <a:r>
                        <a:rPr kumimoji="0" lang="en-US" sz="2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address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02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sw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43</a:t>
                      </a:r>
                      <a:r>
                        <a:rPr kumimoji="0" lang="en-US" sz="2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address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8475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Rectangle 1026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Assembling Code</a:t>
            </a:r>
          </a:p>
        </p:txBody>
      </p:sp>
      <p:sp>
        <p:nvSpPr>
          <p:cNvPr id="294915" name="Rectangle 1027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09600" y="762000"/>
            <a:ext cx="8077200" cy="33937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dirty="0">
                <a:ea typeface="宋体" pitchFamily="2" charset="-122"/>
              </a:rPr>
              <a:t>Remember the assembler code we compiled last lecture for the C statement</a:t>
            </a:r>
          </a:p>
          <a:p>
            <a:pPr algn="ctr"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  <a:ea typeface="宋体" pitchFamily="2" charset="-122"/>
              </a:rPr>
              <a:t>A[8] = A[2] - b</a:t>
            </a:r>
          </a:p>
          <a:p>
            <a:pPr>
              <a:lnSpc>
                <a:spcPct val="85000"/>
              </a:lnSpc>
              <a:buFont typeface="Wingdings" pitchFamily="2" charset="2"/>
              <a:buNone/>
            </a:pPr>
            <a:r>
              <a:rPr lang="en-US" altLang="zh-CN" sz="2400" dirty="0" err="1">
                <a:latin typeface="Courier New" pitchFamily="49" charset="0"/>
                <a:ea typeface="宋体" pitchFamily="2" charset="-122"/>
              </a:rPr>
              <a:t>lw</a:t>
            </a:r>
            <a:r>
              <a:rPr lang="en-US" altLang="zh-CN" sz="2400" dirty="0">
                <a:latin typeface="Courier New" pitchFamily="49" charset="0"/>
                <a:ea typeface="宋体" pitchFamily="2" charset="-122"/>
              </a:rPr>
              <a:t>	$t0, 8($s3)	#load A[2] into $t0</a:t>
            </a:r>
          </a:p>
          <a:p>
            <a:pPr>
              <a:lnSpc>
                <a:spcPct val="85000"/>
              </a:lnSpc>
              <a:buFont typeface="Wingdings" pitchFamily="2" charset="2"/>
              <a:buNone/>
            </a:pPr>
            <a:r>
              <a:rPr lang="en-US" altLang="zh-CN" sz="2400" dirty="0">
                <a:latin typeface="Courier New" pitchFamily="49" charset="0"/>
                <a:ea typeface="宋体" pitchFamily="2" charset="-122"/>
              </a:rPr>
              <a:t>sub	$t0, $t0, $s2	#subtract b from A[2]</a:t>
            </a:r>
          </a:p>
          <a:p>
            <a:pPr>
              <a:lnSpc>
                <a:spcPct val="85000"/>
              </a:lnSpc>
              <a:buFont typeface="Wingdings" pitchFamily="2" charset="2"/>
              <a:buNone/>
            </a:pPr>
            <a:r>
              <a:rPr lang="en-US" altLang="zh-CN" sz="2400" dirty="0" err="1">
                <a:latin typeface="Courier New" pitchFamily="49" charset="0"/>
                <a:ea typeface="宋体" pitchFamily="2" charset="-122"/>
              </a:rPr>
              <a:t>sw</a:t>
            </a:r>
            <a:r>
              <a:rPr lang="en-US" altLang="zh-CN" sz="2400" dirty="0">
                <a:latin typeface="Courier New" pitchFamily="49" charset="0"/>
                <a:ea typeface="宋体" pitchFamily="2" charset="-122"/>
              </a:rPr>
              <a:t>	$t0, 32($s3)	#store result in A[8]</a:t>
            </a:r>
          </a:p>
          <a:p>
            <a:pPr>
              <a:lnSpc>
                <a:spcPct val="100000"/>
              </a:lnSpc>
            </a:pPr>
            <a:r>
              <a:rPr lang="en-US" altLang="zh-CN" dirty="0">
                <a:ea typeface="宋体" pitchFamily="2" charset="-122"/>
              </a:rPr>
              <a:t>Assemble the MIPS object code for these three instructions </a:t>
            </a:r>
            <a:r>
              <a:rPr lang="en-US" altLang="zh-CN" dirty="0" smtClean="0">
                <a:ea typeface="宋体" pitchFamily="2" charset="-122"/>
              </a:rPr>
              <a:t>(in decimal </a:t>
            </a:r>
            <a:r>
              <a:rPr lang="en-US" altLang="zh-CN" dirty="0">
                <a:ea typeface="宋体" pitchFamily="2" charset="-122"/>
              </a:rPr>
              <a:t>is fine)</a:t>
            </a:r>
          </a:p>
        </p:txBody>
      </p:sp>
      <p:sp>
        <p:nvSpPr>
          <p:cNvPr id="294919" name="Rectangle 103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4786313"/>
            <a:ext cx="5791200" cy="368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4920" name="Line 1032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2895600" y="4786313"/>
            <a:ext cx="0" cy="3667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4921" name="Line 1033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 flipH="1">
            <a:off x="3803650" y="4786313"/>
            <a:ext cx="635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4922" name="Line 1034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 flipH="1">
            <a:off x="4718050" y="4786313"/>
            <a:ext cx="635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4924" name="Text Box 1036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38200" y="4784725"/>
            <a:ext cx="48895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lw</a:t>
            </a:r>
          </a:p>
        </p:txBody>
      </p:sp>
      <p:sp>
        <p:nvSpPr>
          <p:cNvPr id="294938" name="Rectangle 1050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828800" y="6310313"/>
            <a:ext cx="5791200" cy="368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4939" name="Line 1051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2895600" y="6310313"/>
            <a:ext cx="0" cy="3667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4940" name="Line 1052"/>
          <p:cNvSpPr>
            <a:spLocks noChangeShapeType="1"/>
          </p:cNvSpPr>
          <p:nvPr>
            <p:custDataLst>
              <p:tags r:id="rId10"/>
            </p:custDataLst>
          </p:nvPr>
        </p:nvSpPr>
        <p:spPr bwMode="auto">
          <a:xfrm flipH="1">
            <a:off x="3803650" y="6310313"/>
            <a:ext cx="635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4941" name="Line 1053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 flipH="1">
            <a:off x="4718050" y="6310313"/>
            <a:ext cx="635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4943" name="Text Box 1055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838200" y="6308725"/>
            <a:ext cx="48895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sw</a:t>
            </a:r>
          </a:p>
        </p:txBody>
      </p:sp>
      <p:sp>
        <p:nvSpPr>
          <p:cNvPr id="294929" name="Rectangle 1041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1828800" y="5548313"/>
            <a:ext cx="5791200" cy="368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94930" name="Line 1042"/>
          <p:cNvSpPr>
            <a:spLocks noChangeShapeType="1"/>
          </p:cNvSpPr>
          <p:nvPr>
            <p:custDataLst>
              <p:tags r:id="rId14"/>
            </p:custDataLst>
          </p:nvPr>
        </p:nvSpPr>
        <p:spPr bwMode="auto">
          <a:xfrm>
            <a:off x="2895600" y="5548313"/>
            <a:ext cx="0" cy="3667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4931" name="Line 1043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 flipH="1">
            <a:off x="3803650" y="5548313"/>
            <a:ext cx="635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4932" name="Line 1044"/>
          <p:cNvSpPr>
            <a:spLocks noChangeShapeType="1"/>
          </p:cNvSpPr>
          <p:nvPr>
            <p:custDataLst>
              <p:tags r:id="rId16"/>
            </p:custDataLst>
          </p:nvPr>
        </p:nvSpPr>
        <p:spPr bwMode="auto">
          <a:xfrm flipH="1">
            <a:off x="4718050" y="5548313"/>
            <a:ext cx="635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4934" name="Text Box 1046"/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838200" y="5546725"/>
            <a:ext cx="64135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chemeClr val="accent2"/>
                </a:solidFill>
                <a:latin typeface="Courier New" pitchFamily="49" charset="0"/>
                <a:ea typeface="宋体" pitchFamily="2" charset="-122"/>
              </a:rPr>
              <a:t>sub</a:t>
            </a:r>
          </a:p>
        </p:txBody>
      </p:sp>
      <p:sp>
        <p:nvSpPr>
          <p:cNvPr id="294947" name="Line 1059"/>
          <p:cNvSpPr>
            <a:spLocks noChangeShapeType="1"/>
          </p:cNvSpPr>
          <p:nvPr>
            <p:custDataLst>
              <p:tags r:id="rId18"/>
            </p:custDataLst>
          </p:nvPr>
        </p:nvSpPr>
        <p:spPr bwMode="auto">
          <a:xfrm flipH="1">
            <a:off x="5638800" y="5548313"/>
            <a:ext cx="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4948" name="Line 1060"/>
          <p:cNvSpPr>
            <a:spLocks noChangeShapeType="1"/>
          </p:cNvSpPr>
          <p:nvPr>
            <p:custDataLst>
              <p:tags r:id="rId19"/>
            </p:custDataLst>
          </p:nvPr>
        </p:nvSpPr>
        <p:spPr bwMode="auto">
          <a:xfrm flipH="1">
            <a:off x="6553200" y="5548313"/>
            <a:ext cx="0" cy="368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632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Assembling Code</a:t>
            </a:r>
          </a:p>
        </p:txBody>
      </p:sp>
      <p:sp>
        <p:nvSpPr>
          <p:cNvPr id="360451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09600" y="685800"/>
            <a:ext cx="8077200" cy="33937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dirty="0">
                <a:ea typeface="宋体" pitchFamily="2" charset="-122"/>
              </a:rPr>
              <a:t>Remember the assembler code we compiled last lecture for the C statement</a:t>
            </a:r>
          </a:p>
          <a:p>
            <a:pPr algn="ctr">
              <a:lnSpc>
                <a:spcPct val="100000"/>
              </a:lnSpc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  <a:ea typeface="宋体" pitchFamily="2" charset="-122"/>
              </a:rPr>
              <a:t>A[8] = A[2] - b</a:t>
            </a:r>
          </a:p>
          <a:p>
            <a:pPr>
              <a:lnSpc>
                <a:spcPct val="85000"/>
              </a:lnSpc>
              <a:buFont typeface="Wingdings" pitchFamily="2" charset="2"/>
              <a:buNone/>
            </a:pPr>
            <a:r>
              <a:rPr lang="en-US" altLang="zh-CN" sz="2400" dirty="0" err="1">
                <a:latin typeface="Courier New" pitchFamily="49" charset="0"/>
                <a:ea typeface="宋体" pitchFamily="2" charset="-122"/>
              </a:rPr>
              <a:t>lw</a:t>
            </a:r>
            <a:r>
              <a:rPr lang="en-US" altLang="zh-CN" sz="2400" dirty="0">
                <a:latin typeface="Courier New" pitchFamily="49" charset="0"/>
                <a:ea typeface="宋体" pitchFamily="2" charset="-122"/>
              </a:rPr>
              <a:t>	$t0, 8($s3)	#load A[2] into $t0</a:t>
            </a:r>
          </a:p>
          <a:p>
            <a:pPr>
              <a:lnSpc>
                <a:spcPct val="85000"/>
              </a:lnSpc>
              <a:buFont typeface="Wingdings" pitchFamily="2" charset="2"/>
              <a:buNone/>
            </a:pPr>
            <a:r>
              <a:rPr lang="en-US" altLang="zh-CN" sz="2400" dirty="0">
                <a:latin typeface="Courier New" pitchFamily="49" charset="0"/>
                <a:ea typeface="宋体" pitchFamily="2" charset="-122"/>
              </a:rPr>
              <a:t>sub	$t0, $t0, $s2	#subtract b from A[2]</a:t>
            </a:r>
          </a:p>
          <a:p>
            <a:pPr>
              <a:lnSpc>
                <a:spcPct val="85000"/>
              </a:lnSpc>
              <a:buFont typeface="Wingdings" pitchFamily="2" charset="2"/>
              <a:buNone/>
            </a:pPr>
            <a:r>
              <a:rPr lang="en-US" altLang="zh-CN" sz="2400" dirty="0" err="1">
                <a:latin typeface="Courier New" pitchFamily="49" charset="0"/>
                <a:ea typeface="宋体" pitchFamily="2" charset="-122"/>
              </a:rPr>
              <a:t>sw</a:t>
            </a:r>
            <a:r>
              <a:rPr lang="en-US" altLang="zh-CN" sz="2400" dirty="0">
                <a:latin typeface="Courier New" pitchFamily="49" charset="0"/>
                <a:ea typeface="宋体" pitchFamily="2" charset="-122"/>
              </a:rPr>
              <a:t>	$t0, 32($s3)	#store result in A[8]</a:t>
            </a:r>
          </a:p>
          <a:p>
            <a:pPr>
              <a:lnSpc>
                <a:spcPct val="100000"/>
              </a:lnSpc>
            </a:pPr>
            <a:r>
              <a:rPr lang="en-US" altLang="zh-CN" dirty="0">
                <a:ea typeface="宋体" pitchFamily="2" charset="-122"/>
              </a:rPr>
              <a:t>Assemble the MIPS object code for these three instructions </a:t>
            </a:r>
            <a:r>
              <a:rPr lang="en-US" altLang="zh-CN" dirty="0" smtClean="0">
                <a:ea typeface="宋体" pitchFamily="2" charset="-122"/>
              </a:rPr>
              <a:t>(in decimal </a:t>
            </a:r>
            <a:r>
              <a:rPr lang="en-US" altLang="zh-CN" dirty="0">
                <a:ea typeface="宋体" pitchFamily="2" charset="-122"/>
              </a:rPr>
              <a:t>is fine)</a:t>
            </a:r>
          </a:p>
        </p:txBody>
      </p:sp>
      <p:grpSp>
        <p:nvGrpSpPr>
          <p:cNvPr id="2" name="Group 4"/>
          <p:cNvGrpSpPr>
            <a:grpSpLocks/>
          </p:cNvGrpSpPr>
          <p:nvPr>
            <p:custDataLst>
              <p:tags r:id="rId3"/>
            </p:custDataLst>
          </p:nvPr>
        </p:nvGrpSpPr>
        <p:grpSpPr bwMode="auto">
          <a:xfrm>
            <a:off x="838200" y="4784725"/>
            <a:ext cx="6781800" cy="396875"/>
            <a:chOff x="528" y="2735"/>
            <a:chExt cx="4272" cy="250"/>
          </a:xfrm>
        </p:grpSpPr>
        <p:sp>
          <p:nvSpPr>
            <p:cNvPr id="360453" name="Rectangle 5"/>
            <p:cNvSpPr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1152" y="2736"/>
              <a:ext cx="3648" cy="23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0454" name="Line 6"/>
            <p:cNvSpPr>
              <a:spLocks noChangeShapeType="1"/>
            </p:cNvSpPr>
            <p:nvPr>
              <p:custDataLst>
                <p:tags r:id="rId29"/>
              </p:custDataLst>
            </p:nvPr>
          </p:nvSpPr>
          <p:spPr bwMode="auto">
            <a:xfrm>
              <a:off x="1824" y="2736"/>
              <a:ext cx="0" cy="23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60455" name="Line 7"/>
            <p:cNvSpPr>
              <a:spLocks noChangeShapeType="1"/>
            </p:cNvSpPr>
            <p:nvPr>
              <p:custDataLst>
                <p:tags r:id="rId30"/>
              </p:custDataLst>
            </p:nvPr>
          </p:nvSpPr>
          <p:spPr bwMode="auto">
            <a:xfrm flipH="1">
              <a:off x="2396" y="2736"/>
              <a:ext cx="4" cy="2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60456" name="Line 8"/>
            <p:cNvSpPr>
              <a:spLocks noChangeShapeType="1"/>
            </p:cNvSpPr>
            <p:nvPr>
              <p:custDataLst>
                <p:tags r:id="rId31"/>
              </p:custDataLst>
            </p:nvPr>
          </p:nvSpPr>
          <p:spPr bwMode="auto">
            <a:xfrm flipH="1">
              <a:off x="2972" y="2736"/>
              <a:ext cx="4" cy="2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60457" name="Text Box 9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1344" y="2736"/>
              <a:ext cx="276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  <a:ea typeface="宋体" pitchFamily="2" charset="-122"/>
                </a:rPr>
                <a:t>35</a:t>
              </a:r>
            </a:p>
          </p:txBody>
        </p:sp>
        <p:sp>
          <p:nvSpPr>
            <p:cNvPr id="360458" name="Text Box 10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528" y="2735"/>
              <a:ext cx="308" cy="2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chemeClr val="accent2"/>
                  </a:solidFill>
                  <a:latin typeface="Courier New" pitchFamily="49" charset="0"/>
                  <a:ea typeface="宋体" pitchFamily="2" charset="-122"/>
                </a:rPr>
                <a:t>lw</a:t>
              </a:r>
            </a:p>
          </p:txBody>
        </p:sp>
        <p:sp>
          <p:nvSpPr>
            <p:cNvPr id="360459" name="Text Box 11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1968" y="2736"/>
              <a:ext cx="276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accent2"/>
                  </a:solidFill>
                  <a:ea typeface="宋体" pitchFamily="2" charset="-122"/>
                </a:rPr>
                <a:t>19</a:t>
              </a:r>
            </a:p>
          </p:txBody>
        </p:sp>
        <p:sp>
          <p:nvSpPr>
            <p:cNvPr id="360460" name="Text Box 12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2592" y="2736"/>
              <a:ext cx="196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accent2"/>
                  </a:solidFill>
                  <a:ea typeface="宋体" pitchFamily="2" charset="-122"/>
                </a:rPr>
                <a:t>8</a:t>
              </a:r>
            </a:p>
          </p:txBody>
        </p:sp>
        <p:sp>
          <p:nvSpPr>
            <p:cNvPr id="360461" name="Text Box 13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3648" y="2736"/>
              <a:ext cx="196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accent2"/>
                  </a:solidFill>
                  <a:ea typeface="宋体" pitchFamily="2" charset="-122"/>
                </a:rPr>
                <a:t>8</a:t>
              </a:r>
            </a:p>
          </p:txBody>
        </p:sp>
      </p:grpSp>
      <p:grpSp>
        <p:nvGrpSpPr>
          <p:cNvPr id="3" name="Group 14"/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838200" y="6308725"/>
            <a:ext cx="6781800" cy="396875"/>
            <a:chOff x="528" y="3695"/>
            <a:chExt cx="4272" cy="250"/>
          </a:xfrm>
        </p:grpSpPr>
        <p:sp>
          <p:nvSpPr>
            <p:cNvPr id="360463" name="Rectangle 15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1152" y="3696"/>
              <a:ext cx="3648" cy="23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0464" name="Line 16"/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>
              <a:off x="1824" y="3696"/>
              <a:ext cx="0" cy="23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60465" name="Line 17"/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 flipH="1">
              <a:off x="2396" y="3696"/>
              <a:ext cx="4" cy="2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60466" name="Line 18"/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 flipH="1">
              <a:off x="2972" y="3696"/>
              <a:ext cx="4" cy="2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60467" name="Text Box 19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1344" y="3696"/>
              <a:ext cx="276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accent2"/>
                  </a:solidFill>
                  <a:ea typeface="宋体" pitchFamily="2" charset="-122"/>
                </a:rPr>
                <a:t>43</a:t>
              </a:r>
            </a:p>
          </p:txBody>
        </p:sp>
        <p:sp>
          <p:nvSpPr>
            <p:cNvPr id="360468" name="Text Box 20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528" y="3695"/>
              <a:ext cx="308" cy="2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chemeClr val="accent2"/>
                  </a:solidFill>
                  <a:latin typeface="Courier New" pitchFamily="49" charset="0"/>
                  <a:ea typeface="宋体" pitchFamily="2" charset="-122"/>
                </a:rPr>
                <a:t>sw</a:t>
              </a:r>
            </a:p>
          </p:txBody>
        </p:sp>
        <p:sp>
          <p:nvSpPr>
            <p:cNvPr id="360469" name="Text Box 21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1968" y="3696"/>
              <a:ext cx="276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accent2"/>
                  </a:solidFill>
                  <a:ea typeface="宋体" pitchFamily="2" charset="-122"/>
                </a:rPr>
                <a:t>19</a:t>
              </a:r>
            </a:p>
          </p:txBody>
        </p:sp>
        <p:sp>
          <p:nvSpPr>
            <p:cNvPr id="360470" name="Text Box 22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2592" y="3696"/>
              <a:ext cx="196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accent2"/>
                  </a:solidFill>
                  <a:ea typeface="宋体" pitchFamily="2" charset="-122"/>
                </a:rPr>
                <a:t>8</a:t>
              </a:r>
            </a:p>
          </p:txBody>
        </p:sp>
        <p:sp>
          <p:nvSpPr>
            <p:cNvPr id="360471" name="Text Box 23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3648" y="3696"/>
              <a:ext cx="276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accent2"/>
                  </a:solidFill>
                  <a:ea typeface="宋体" pitchFamily="2" charset="-122"/>
                </a:rPr>
                <a:t>32</a:t>
              </a:r>
            </a:p>
          </p:txBody>
        </p:sp>
      </p:grpSp>
      <p:grpSp>
        <p:nvGrpSpPr>
          <p:cNvPr id="4" name="Group 24"/>
          <p:cNvGrpSpPr>
            <a:grpSpLocks/>
          </p:cNvGrpSpPr>
          <p:nvPr>
            <p:custDataLst>
              <p:tags r:id="rId5"/>
            </p:custDataLst>
          </p:nvPr>
        </p:nvGrpSpPr>
        <p:grpSpPr bwMode="auto">
          <a:xfrm>
            <a:off x="838200" y="5546725"/>
            <a:ext cx="6781800" cy="396875"/>
            <a:chOff x="528" y="3215"/>
            <a:chExt cx="4272" cy="250"/>
          </a:xfrm>
        </p:grpSpPr>
        <p:sp>
          <p:nvSpPr>
            <p:cNvPr id="360473" name="Rectangle 25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152" y="3216"/>
              <a:ext cx="3648" cy="23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0474" name="Line 26"/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>
              <a:off x="1824" y="3216"/>
              <a:ext cx="0" cy="23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60475" name="Line 27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 flipH="1">
              <a:off x="2396" y="3216"/>
              <a:ext cx="4" cy="2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60476" name="Line 28"/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 flipH="1">
              <a:off x="2972" y="3216"/>
              <a:ext cx="4" cy="2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60477" name="Text Box 29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344" y="3216"/>
              <a:ext cx="196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accent2"/>
                  </a:solidFill>
                  <a:ea typeface="宋体" pitchFamily="2" charset="-122"/>
                </a:rPr>
                <a:t>0</a:t>
              </a:r>
            </a:p>
          </p:txBody>
        </p:sp>
        <p:sp>
          <p:nvSpPr>
            <p:cNvPr id="360478" name="Text Box 30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528" y="3215"/>
              <a:ext cx="404" cy="2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chemeClr val="accent2"/>
                  </a:solidFill>
                  <a:latin typeface="Courier New" pitchFamily="49" charset="0"/>
                  <a:ea typeface="宋体" pitchFamily="2" charset="-122"/>
                </a:rPr>
                <a:t>sub</a:t>
              </a:r>
            </a:p>
          </p:txBody>
        </p:sp>
        <p:sp>
          <p:nvSpPr>
            <p:cNvPr id="360479" name="Text Box 31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968" y="3216"/>
              <a:ext cx="196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accent2"/>
                  </a:solidFill>
                  <a:ea typeface="宋体" pitchFamily="2" charset="-122"/>
                </a:rPr>
                <a:t>8</a:t>
              </a:r>
            </a:p>
          </p:txBody>
        </p:sp>
        <p:sp>
          <p:nvSpPr>
            <p:cNvPr id="360480" name="Text Box 32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2592" y="3216"/>
              <a:ext cx="276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accent2"/>
                  </a:solidFill>
                  <a:ea typeface="宋体" pitchFamily="2" charset="-122"/>
                </a:rPr>
                <a:t>18</a:t>
              </a:r>
            </a:p>
          </p:txBody>
        </p:sp>
        <p:sp>
          <p:nvSpPr>
            <p:cNvPr id="360481" name="Text Box 33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3168" y="3216"/>
              <a:ext cx="196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accent2"/>
                  </a:solidFill>
                  <a:ea typeface="宋体" pitchFamily="2" charset="-122"/>
                </a:rPr>
                <a:t>8</a:t>
              </a:r>
            </a:p>
          </p:txBody>
        </p:sp>
        <p:sp>
          <p:nvSpPr>
            <p:cNvPr id="360482" name="Line 34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 flipH="1">
              <a:off x="3552" y="3216"/>
              <a:ext cx="0" cy="2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60483" name="Line 35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 flipH="1">
              <a:off x="4128" y="3216"/>
              <a:ext cx="0" cy="2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60484" name="Text Box 36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3744" y="3216"/>
              <a:ext cx="196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accent2"/>
                  </a:solidFill>
                  <a:ea typeface="宋体" pitchFamily="2" charset="-122"/>
                </a:rPr>
                <a:t>0</a:t>
              </a:r>
            </a:p>
          </p:txBody>
        </p:sp>
        <p:sp>
          <p:nvSpPr>
            <p:cNvPr id="360485" name="Text Box 37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4368" y="3216"/>
              <a:ext cx="276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accent2"/>
                  </a:solidFill>
                  <a:ea typeface="宋体" pitchFamily="2" charset="-122"/>
                </a:rPr>
                <a:t>34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65526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Review:  MIPS Instructions, so far</a:t>
            </a:r>
          </a:p>
        </p:txBody>
      </p:sp>
      <p:graphicFrame>
        <p:nvGraphicFramePr>
          <p:cNvPr id="254046" name="Group 94"/>
          <p:cNvGraphicFramePr>
            <a:graphicFrameLocks noGrp="1"/>
          </p:cNvGraphicFramePr>
          <p:nvPr>
            <p:ph type="tbl" idx="1"/>
            <p:custDataLst>
              <p:tags r:id="rId2"/>
            </p:custDataLst>
          </p:nvPr>
        </p:nvGraphicFramePr>
        <p:xfrm>
          <a:off x="457200" y="1524000"/>
          <a:ext cx="8077200" cy="3471672"/>
        </p:xfrm>
        <a:graphic>
          <a:graphicData uri="http://schemas.openxmlformats.org/drawingml/2006/table">
            <a:tbl>
              <a:tblPr/>
              <a:tblGrid>
                <a:gridCol w="1219200"/>
                <a:gridCol w="1295400"/>
                <a:gridCol w="762000"/>
                <a:gridCol w="2057400"/>
                <a:gridCol w="2743200"/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Category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Instr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Op Code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Example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Meaning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9425">
                <a:tc row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Arithmetic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(R format)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add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 &amp; 20</a:t>
                      </a:r>
                      <a:r>
                        <a:rPr kumimoji="0" lang="en-US" altLang="zh-CN" sz="1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hex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add  $s1, $s2, $s3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$s1 = $s2 + $s3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118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subtract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 &amp; 22</a:t>
                      </a:r>
                      <a:r>
                        <a:rPr kumimoji="0" lang="en-US" altLang="zh-CN" sz="1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hex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sub  $s1, $s2, $s3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$s1 = $s2 - $s3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Arithmetic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(I format)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add immediate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8</a:t>
                      </a:r>
                      <a:r>
                        <a:rPr kumimoji="0" lang="en-US" altLang="zh-CN" sz="1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hex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addi $s1, $s2, 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$s1 = $s2 + 4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 row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Data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transfer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(I format)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load word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23</a:t>
                      </a:r>
                      <a:r>
                        <a:rPr kumimoji="0" lang="en-US" altLang="zh-CN" sz="1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hex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lw   $s1, 100($s2)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$s1 = Memory($s2+100)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798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store word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2b</a:t>
                      </a:r>
                      <a:r>
                        <a:rPr kumimoji="0" lang="en-US" altLang="zh-CN" sz="1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hex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sw  $s1, 100($s2)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5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Memory($s2+100) = $s1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102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Review:  Addressing Modes, so far</a:t>
            </a:r>
            <a:endParaRPr lang="en-US" dirty="0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304800" y="657213"/>
            <a:ext cx="8610600" cy="1128713"/>
            <a:chOff x="192" y="384"/>
            <a:chExt cx="5424" cy="711"/>
          </a:xfrm>
        </p:grpSpPr>
        <p:sp>
          <p:nvSpPr>
            <p:cNvPr id="420868" name="Rectangle 4"/>
            <p:cNvSpPr>
              <a:spLocks noChangeArrowheads="1"/>
            </p:cNvSpPr>
            <p:nvPr/>
          </p:nvSpPr>
          <p:spPr bwMode="auto">
            <a:xfrm>
              <a:off x="336" y="624"/>
              <a:ext cx="2448" cy="19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869" name="Line 5"/>
            <p:cNvSpPr>
              <a:spLocks noChangeShapeType="1"/>
            </p:cNvSpPr>
            <p:nvPr/>
          </p:nvSpPr>
          <p:spPr bwMode="auto">
            <a:xfrm>
              <a:off x="816" y="624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0870" name="Line 6"/>
            <p:cNvSpPr>
              <a:spLocks noChangeShapeType="1"/>
            </p:cNvSpPr>
            <p:nvPr/>
          </p:nvSpPr>
          <p:spPr bwMode="auto">
            <a:xfrm>
              <a:off x="1200" y="624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0871" name="Line 7"/>
            <p:cNvSpPr>
              <a:spLocks noChangeShapeType="1"/>
            </p:cNvSpPr>
            <p:nvPr/>
          </p:nvSpPr>
          <p:spPr bwMode="auto">
            <a:xfrm>
              <a:off x="1584" y="624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0872" name="Line 8"/>
            <p:cNvSpPr>
              <a:spLocks noChangeShapeType="1"/>
            </p:cNvSpPr>
            <p:nvPr/>
          </p:nvSpPr>
          <p:spPr bwMode="auto">
            <a:xfrm>
              <a:off x="1920" y="624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0873" name="Line 9"/>
            <p:cNvSpPr>
              <a:spLocks noChangeShapeType="1"/>
            </p:cNvSpPr>
            <p:nvPr/>
          </p:nvSpPr>
          <p:spPr bwMode="auto">
            <a:xfrm>
              <a:off x="2304" y="624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0874" name="Rectangle 10"/>
            <p:cNvSpPr>
              <a:spLocks noChangeArrowheads="1"/>
            </p:cNvSpPr>
            <p:nvPr/>
          </p:nvSpPr>
          <p:spPr bwMode="auto">
            <a:xfrm>
              <a:off x="192" y="384"/>
              <a:ext cx="2208" cy="2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2000">
                  <a:solidFill>
                    <a:schemeClr val="tx1"/>
                  </a:solidFill>
                </a:rPr>
                <a:t>1. Register addressing</a:t>
              </a:r>
            </a:p>
          </p:txBody>
        </p:sp>
        <p:sp>
          <p:nvSpPr>
            <p:cNvPr id="420875" name="Rectangle 11"/>
            <p:cNvSpPr>
              <a:spLocks noChangeArrowheads="1"/>
            </p:cNvSpPr>
            <p:nvPr/>
          </p:nvSpPr>
          <p:spPr bwMode="auto">
            <a:xfrm>
              <a:off x="3168" y="864"/>
              <a:ext cx="2448" cy="19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876" name="Text Box 12"/>
            <p:cNvSpPr txBox="1">
              <a:spLocks noChangeArrowheads="1"/>
            </p:cNvSpPr>
            <p:nvPr/>
          </p:nvSpPr>
          <p:spPr bwMode="auto">
            <a:xfrm>
              <a:off x="432" y="624"/>
              <a:ext cx="2284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tx1"/>
                  </a:solidFill>
                </a:rPr>
                <a:t>op         rs      rt      rd             funct</a:t>
              </a:r>
            </a:p>
          </p:txBody>
        </p:sp>
        <p:sp>
          <p:nvSpPr>
            <p:cNvPr id="420877" name="Line 13"/>
            <p:cNvSpPr>
              <a:spLocks noChangeShapeType="1"/>
            </p:cNvSpPr>
            <p:nvPr/>
          </p:nvSpPr>
          <p:spPr bwMode="auto">
            <a:xfrm>
              <a:off x="1056" y="816"/>
              <a:ext cx="0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0878" name="Line 14"/>
            <p:cNvSpPr>
              <a:spLocks noChangeShapeType="1"/>
            </p:cNvSpPr>
            <p:nvPr/>
          </p:nvSpPr>
          <p:spPr bwMode="auto">
            <a:xfrm>
              <a:off x="1056" y="960"/>
              <a:ext cx="21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0879" name="Rectangle 15"/>
            <p:cNvSpPr>
              <a:spLocks noChangeArrowheads="1"/>
            </p:cNvSpPr>
            <p:nvPr/>
          </p:nvSpPr>
          <p:spPr bwMode="auto">
            <a:xfrm>
              <a:off x="3888" y="624"/>
              <a:ext cx="912" cy="2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2000">
                  <a:solidFill>
                    <a:schemeClr val="tx1"/>
                  </a:solidFill>
                </a:rPr>
                <a:t>Register</a:t>
              </a:r>
            </a:p>
          </p:txBody>
        </p:sp>
        <p:sp>
          <p:nvSpPr>
            <p:cNvPr id="420880" name="Text Box 16"/>
            <p:cNvSpPr txBox="1">
              <a:spLocks noChangeArrowheads="1"/>
            </p:cNvSpPr>
            <p:nvPr/>
          </p:nvSpPr>
          <p:spPr bwMode="auto">
            <a:xfrm>
              <a:off x="3744" y="864"/>
              <a:ext cx="996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tx1"/>
                  </a:solidFill>
                </a:rPr>
                <a:t>word </a:t>
              </a:r>
              <a:r>
                <a:rPr lang="en-US"/>
                <a:t>operand</a:t>
              </a:r>
            </a:p>
          </p:txBody>
        </p:sp>
      </p:grpSp>
      <p:grpSp>
        <p:nvGrpSpPr>
          <p:cNvPr id="5" name="Group 42"/>
          <p:cNvGrpSpPr>
            <a:grpSpLocks/>
          </p:cNvGrpSpPr>
          <p:nvPr/>
        </p:nvGrpSpPr>
        <p:grpSpPr bwMode="auto">
          <a:xfrm>
            <a:off x="304800" y="2971800"/>
            <a:ext cx="4114800" cy="747713"/>
            <a:chOff x="192" y="1872"/>
            <a:chExt cx="2592" cy="471"/>
          </a:xfrm>
        </p:grpSpPr>
        <p:sp>
          <p:nvSpPr>
            <p:cNvPr id="420907" name="Rectangle 43"/>
            <p:cNvSpPr>
              <a:spLocks noChangeArrowheads="1"/>
            </p:cNvSpPr>
            <p:nvPr/>
          </p:nvSpPr>
          <p:spPr bwMode="auto">
            <a:xfrm>
              <a:off x="192" y="1872"/>
              <a:ext cx="2208" cy="2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sz="2000">
                  <a:solidFill>
                    <a:schemeClr val="tx1"/>
                  </a:solidFill>
                </a:rPr>
                <a:t>3. Immediate addressing</a:t>
              </a:r>
            </a:p>
          </p:txBody>
        </p:sp>
        <p:sp>
          <p:nvSpPr>
            <p:cNvPr id="420908" name="Text Box 44"/>
            <p:cNvSpPr txBox="1">
              <a:spLocks noChangeArrowheads="1"/>
            </p:cNvSpPr>
            <p:nvPr/>
          </p:nvSpPr>
          <p:spPr bwMode="auto">
            <a:xfrm>
              <a:off x="432" y="2112"/>
              <a:ext cx="1892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tx1"/>
                  </a:solidFill>
                </a:rPr>
                <a:t>op         rs      rt       </a:t>
              </a:r>
              <a:r>
                <a:rPr lang="en-US"/>
                <a:t>operand</a:t>
              </a:r>
            </a:p>
          </p:txBody>
        </p:sp>
        <p:sp>
          <p:nvSpPr>
            <p:cNvPr id="420909" name="Rectangle 45"/>
            <p:cNvSpPr>
              <a:spLocks noChangeArrowheads="1"/>
            </p:cNvSpPr>
            <p:nvPr/>
          </p:nvSpPr>
          <p:spPr bwMode="auto">
            <a:xfrm>
              <a:off x="336" y="2112"/>
              <a:ext cx="2448" cy="19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910" name="Line 46"/>
            <p:cNvSpPr>
              <a:spLocks noChangeShapeType="1"/>
            </p:cNvSpPr>
            <p:nvPr/>
          </p:nvSpPr>
          <p:spPr bwMode="auto">
            <a:xfrm>
              <a:off x="816" y="2112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0911" name="Line 47"/>
            <p:cNvSpPr>
              <a:spLocks noChangeShapeType="1"/>
            </p:cNvSpPr>
            <p:nvPr/>
          </p:nvSpPr>
          <p:spPr bwMode="auto">
            <a:xfrm>
              <a:off x="1200" y="2112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0912" name="Line 48"/>
            <p:cNvSpPr>
              <a:spLocks noChangeShapeType="1"/>
            </p:cNvSpPr>
            <p:nvPr/>
          </p:nvSpPr>
          <p:spPr bwMode="auto">
            <a:xfrm>
              <a:off x="1584" y="2112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304800" y="1524000"/>
            <a:ext cx="8610600" cy="1509713"/>
            <a:chOff x="304800" y="1524000"/>
            <a:chExt cx="8610600" cy="1509713"/>
          </a:xfrm>
        </p:grpSpPr>
        <p:grpSp>
          <p:nvGrpSpPr>
            <p:cNvPr id="3" name="Group 17"/>
            <p:cNvGrpSpPr>
              <a:grpSpLocks/>
            </p:cNvGrpSpPr>
            <p:nvPr/>
          </p:nvGrpSpPr>
          <p:grpSpPr bwMode="auto">
            <a:xfrm>
              <a:off x="304800" y="1524000"/>
              <a:ext cx="8610600" cy="1509713"/>
              <a:chOff x="192" y="960"/>
              <a:chExt cx="5424" cy="951"/>
            </a:xfrm>
          </p:grpSpPr>
          <p:sp>
            <p:nvSpPr>
              <p:cNvPr id="420882" name="Text Box 18"/>
              <p:cNvSpPr txBox="1">
                <a:spLocks noChangeArrowheads="1"/>
              </p:cNvSpPr>
              <p:nvPr/>
            </p:nvSpPr>
            <p:spPr bwMode="auto">
              <a:xfrm>
                <a:off x="432" y="1200"/>
                <a:ext cx="1916" cy="23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>
                    <a:solidFill>
                      <a:schemeClr val="tx1"/>
                    </a:solidFill>
                  </a:rPr>
                  <a:t>op         rs       rt           offset</a:t>
                </a:r>
              </a:p>
            </p:txBody>
          </p:sp>
          <p:sp>
            <p:nvSpPr>
              <p:cNvPr id="420883" name="Rectangle 19"/>
              <p:cNvSpPr>
                <a:spLocks noChangeArrowheads="1"/>
              </p:cNvSpPr>
              <p:nvPr/>
            </p:nvSpPr>
            <p:spPr bwMode="auto">
              <a:xfrm>
                <a:off x="336" y="1200"/>
                <a:ext cx="244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884" name="Line 20"/>
              <p:cNvSpPr>
                <a:spLocks noChangeShapeType="1"/>
              </p:cNvSpPr>
              <p:nvPr/>
            </p:nvSpPr>
            <p:spPr bwMode="auto">
              <a:xfrm>
                <a:off x="816" y="1200"/>
                <a:ext cx="0" cy="1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885" name="Line 21"/>
              <p:cNvSpPr>
                <a:spLocks noChangeShapeType="1"/>
              </p:cNvSpPr>
              <p:nvPr/>
            </p:nvSpPr>
            <p:spPr bwMode="auto">
              <a:xfrm>
                <a:off x="1200" y="1200"/>
                <a:ext cx="0" cy="1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886" name="Line 22"/>
              <p:cNvSpPr>
                <a:spLocks noChangeShapeType="1"/>
              </p:cNvSpPr>
              <p:nvPr/>
            </p:nvSpPr>
            <p:spPr bwMode="auto">
              <a:xfrm>
                <a:off x="1584" y="1200"/>
                <a:ext cx="0" cy="1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887" name="Rectangle 23"/>
              <p:cNvSpPr>
                <a:spLocks noChangeArrowheads="1"/>
              </p:cNvSpPr>
              <p:nvPr/>
            </p:nvSpPr>
            <p:spPr bwMode="auto">
              <a:xfrm>
                <a:off x="192" y="960"/>
                <a:ext cx="2832" cy="25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solidFill>
                      <a:schemeClr val="tx1"/>
                    </a:solidFill>
                  </a:rPr>
                  <a:t>2. Base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(displacement) addressing</a:t>
                </a:r>
                <a:endParaRPr lang="en-US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0888" name="Rectangle 24"/>
              <p:cNvSpPr>
                <a:spLocks noChangeArrowheads="1"/>
              </p:cNvSpPr>
              <p:nvPr/>
            </p:nvSpPr>
            <p:spPr bwMode="auto">
              <a:xfrm>
                <a:off x="336" y="1680"/>
                <a:ext cx="244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889" name="Text Box 25"/>
              <p:cNvSpPr txBox="1">
                <a:spLocks noChangeArrowheads="1"/>
              </p:cNvSpPr>
              <p:nvPr/>
            </p:nvSpPr>
            <p:spPr bwMode="auto">
              <a:xfrm>
                <a:off x="1008" y="1680"/>
                <a:ext cx="948" cy="23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>
                    <a:solidFill>
                      <a:schemeClr val="tx1"/>
                    </a:solidFill>
                  </a:rPr>
                  <a:t>base register</a:t>
                </a:r>
              </a:p>
            </p:txBody>
          </p:sp>
          <p:grpSp>
            <p:nvGrpSpPr>
              <p:cNvPr id="4" name="Group 26"/>
              <p:cNvGrpSpPr>
                <a:grpSpLocks/>
              </p:cNvGrpSpPr>
              <p:nvPr/>
            </p:nvGrpSpPr>
            <p:grpSpPr bwMode="auto">
              <a:xfrm>
                <a:off x="2880" y="1392"/>
                <a:ext cx="192" cy="336"/>
                <a:chOff x="1392" y="2880"/>
                <a:chExt cx="288" cy="480"/>
              </a:xfrm>
            </p:grpSpPr>
            <p:sp>
              <p:nvSpPr>
                <p:cNvPr id="420891" name="Line 27"/>
                <p:cNvSpPr>
                  <a:spLocks noChangeShapeType="1"/>
                </p:cNvSpPr>
                <p:nvPr/>
              </p:nvSpPr>
              <p:spPr bwMode="auto">
                <a:xfrm>
                  <a:off x="1392" y="3072"/>
                  <a:ext cx="48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0892" name="Line 28"/>
                <p:cNvSpPr>
                  <a:spLocks noChangeShapeType="1"/>
                </p:cNvSpPr>
                <p:nvPr/>
              </p:nvSpPr>
              <p:spPr bwMode="auto">
                <a:xfrm flipH="1">
                  <a:off x="1392" y="3120"/>
                  <a:ext cx="48" cy="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0893" name="Line 29"/>
                <p:cNvSpPr>
                  <a:spLocks noChangeShapeType="1"/>
                </p:cNvSpPr>
                <p:nvPr/>
              </p:nvSpPr>
              <p:spPr bwMode="auto">
                <a:xfrm flipV="1">
                  <a:off x="1392" y="2880"/>
                  <a:ext cx="0" cy="19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0894" name="Line 30"/>
                <p:cNvSpPr>
                  <a:spLocks noChangeShapeType="1"/>
                </p:cNvSpPr>
                <p:nvPr/>
              </p:nvSpPr>
              <p:spPr bwMode="auto">
                <a:xfrm flipV="1">
                  <a:off x="1392" y="3168"/>
                  <a:ext cx="0" cy="19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0895" name="Line 31"/>
                <p:cNvSpPr>
                  <a:spLocks noChangeShapeType="1"/>
                </p:cNvSpPr>
                <p:nvPr/>
              </p:nvSpPr>
              <p:spPr bwMode="auto">
                <a:xfrm flipV="1">
                  <a:off x="1392" y="3216"/>
                  <a:ext cx="288" cy="14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0896" name="Line 32"/>
                <p:cNvSpPr>
                  <a:spLocks noChangeShapeType="1"/>
                </p:cNvSpPr>
                <p:nvPr/>
              </p:nvSpPr>
              <p:spPr bwMode="auto">
                <a:xfrm flipV="1">
                  <a:off x="1680" y="3024"/>
                  <a:ext cx="0" cy="19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0897" name="Line 33"/>
                <p:cNvSpPr>
                  <a:spLocks noChangeShapeType="1"/>
                </p:cNvSpPr>
                <p:nvPr/>
              </p:nvSpPr>
              <p:spPr bwMode="auto">
                <a:xfrm>
                  <a:off x="1392" y="2880"/>
                  <a:ext cx="288" cy="14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420898" name="Line 34"/>
              <p:cNvSpPr>
                <a:spLocks noChangeShapeType="1"/>
              </p:cNvSpPr>
              <p:nvPr/>
            </p:nvSpPr>
            <p:spPr bwMode="auto">
              <a:xfrm>
                <a:off x="2160" y="1392"/>
                <a:ext cx="0" cy="4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899" name="Line 35"/>
              <p:cNvSpPr>
                <a:spLocks noChangeShapeType="1"/>
              </p:cNvSpPr>
              <p:nvPr/>
            </p:nvSpPr>
            <p:spPr bwMode="auto">
              <a:xfrm>
                <a:off x="2160" y="1440"/>
                <a:ext cx="72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900" name="Line 36"/>
              <p:cNvSpPr>
                <a:spLocks noChangeShapeType="1"/>
              </p:cNvSpPr>
              <p:nvPr/>
            </p:nvSpPr>
            <p:spPr bwMode="auto">
              <a:xfrm>
                <a:off x="1584" y="1632"/>
                <a:ext cx="12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901" name="Line 37"/>
              <p:cNvSpPr>
                <a:spLocks noChangeShapeType="1"/>
              </p:cNvSpPr>
              <p:nvPr/>
            </p:nvSpPr>
            <p:spPr bwMode="auto">
              <a:xfrm>
                <a:off x="1584" y="1632"/>
                <a:ext cx="0" cy="4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902" name="Rectangle 38"/>
              <p:cNvSpPr>
                <a:spLocks noChangeArrowheads="1"/>
              </p:cNvSpPr>
              <p:nvPr/>
            </p:nvSpPr>
            <p:spPr bwMode="auto">
              <a:xfrm>
                <a:off x="3168" y="1440"/>
                <a:ext cx="2448" cy="1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903" name="Rectangle 39"/>
              <p:cNvSpPr>
                <a:spLocks noChangeArrowheads="1"/>
              </p:cNvSpPr>
              <p:nvPr/>
            </p:nvSpPr>
            <p:spPr bwMode="auto">
              <a:xfrm>
                <a:off x="3888" y="1200"/>
                <a:ext cx="912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r>
                  <a:rPr lang="en-US" sz="2000">
                    <a:solidFill>
                      <a:schemeClr val="tx1"/>
                    </a:solidFill>
                  </a:rPr>
                  <a:t>Memory</a:t>
                </a:r>
              </a:p>
            </p:txBody>
          </p:sp>
          <p:sp>
            <p:nvSpPr>
              <p:cNvPr id="420904" name="Text Box 40"/>
              <p:cNvSpPr txBox="1">
                <a:spLocks noChangeArrowheads="1"/>
              </p:cNvSpPr>
              <p:nvPr/>
            </p:nvSpPr>
            <p:spPr bwMode="auto">
              <a:xfrm>
                <a:off x="3552" y="1440"/>
                <a:ext cx="1476" cy="23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>
                    <a:solidFill>
                      <a:schemeClr val="tx1"/>
                    </a:solidFill>
                  </a:rPr>
                  <a:t>word or byte </a:t>
                </a:r>
                <a:r>
                  <a:rPr lang="en-US"/>
                  <a:t>operand</a:t>
                </a:r>
              </a:p>
            </p:txBody>
          </p:sp>
          <p:sp>
            <p:nvSpPr>
              <p:cNvPr id="420905" name="Line 41"/>
              <p:cNvSpPr>
                <a:spLocks noChangeShapeType="1"/>
              </p:cNvSpPr>
              <p:nvPr/>
            </p:nvSpPr>
            <p:spPr bwMode="auto">
              <a:xfrm>
                <a:off x="3072" y="1584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93" name="Straight Arrow Connector 92"/>
            <p:cNvCxnSpPr/>
            <p:nvPr/>
          </p:nvCxnSpPr>
          <p:spPr bwMode="auto">
            <a:xfrm rot="5400000">
              <a:off x="1372394" y="2437606"/>
              <a:ext cx="457200" cy="1588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622819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12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2103140" cy="426142"/>
          </a:xfrm>
          <a:noFill/>
          <a:ln/>
        </p:spPr>
        <p:txBody>
          <a:bodyPr wrap="none"/>
          <a:lstStyle/>
          <a:p>
            <a:r>
              <a:rPr lang="en-US" dirty="0" smtClean="0"/>
              <a:t>MIPS32 ISA</a:t>
            </a:r>
            <a:endParaRPr lang="en-US" dirty="0"/>
          </a:p>
        </p:txBody>
      </p:sp>
      <p:sp>
        <p:nvSpPr>
          <p:cNvPr id="517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4700" y="1028700"/>
            <a:ext cx="5448300" cy="3129703"/>
          </a:xfrm>
          <a:noFill/>
          <a:ln/>
        </p:spPr>
        <p:txBody>
          <a:bodyPr/>
          <a:lstStyle/>
          <a:p>
            <a:pPr marL="342900" indent="-342900">
              <a:lnSpc>
                <a:spcPct val="86000"/>
              </a:lnSpc>
            </a:pPr>
            <a:r>
              <a:rPr lang="en-US" dirty="0"/>
              <a:t>Instruction Categories</a:t>
            </a:r>
          </a:p>
          <a:p>
            <a:pPr marL="800100" lvl="1" indent="-342900"/>
            <a:r>
              <a:rPr lang="en-US" dirty="0">
                <a:solidFill>
                  <a:srgbClr val="FF0000"/>
                </a:solidFill>
              </a:rPr>
              <a:t>Computational </a:t>
            </a:r>
          </a:p>
          <a:p>
            <a:pPr marL="800100" lvl="1" indent="-342900"/>
            <a:r>
              <a:rPr lang="en-US" dirty="0">
                <a:solidFill>
                  <a:srgbClr val="FF0000"/>
                </a:solidFill>
              </a:rPr>
              <a:t>Load/Store</a:t>
            </a:r>
          </a:p>
          <a:p>
            <a:pPr marL="800100" lvl="1" indent="-342900"/>
            <a:r>
              <a:rPr lang="en-US" dirty="0"/>
              <a:t>Jump and Branch</a:t>
            </a:r>
          </a:p>
          <a:p>
            <a:pPr marL="800100" lvl="1" indent="-342900"/>
            <a:r>
              <a:rPr lang="en-US" dirty="0"/>
              <a:t>Floating Point</a:t>
            </a:r>
          </a:p>
          <a:p>
            <a:pPr marL="1257300" lvl="2" indent="-342900"/>
            <a:r>
              <a:rPr lang="en-US" dirty="0"/>
              <a:t>coprocessor</a:t>
            </a:r>
          </a:p>
          <a:p>
            <a:pPr marL="800100" lvl="1" indent="-342900"/>
            <a:r>
              <a:rPr lang="en-US" dirty="0"/>
              <a:t>Memory Management</a:t>
            </a:r>
          </a:p>
          <a:p>
            <a:pPr marL="800100" lvl="1" indent="-342900"/>
            <a:r>
              <a:rPr lang="en-US" dirty="0"/>
              <a:t>Special</a:t>
            </a:r>
          </a:p>
        </p:txBody>
      </p:sp>
      <p:sp>
        <p:nvSpPr>
          <p:cNvPr id="517124" name="Rectangle 4"/>
          <p:cNvSpPr>
            <a:spLocks noChangeArrowheads="1"/>
          </p:cNvSpPr>
          <p:nvPr/>
        </p:nvSpPr>
        <p:spPr bwMode="auto">
          <a:xfrm>
            <a:off x="5518150" y="1301750"/>
            <a:ext cx="1993900" cy="1638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7125" name="Rectangle 5"/>
          <p:cNvSpPr>
            <a:spLocks noChangeArrowheads="1"/>
          </p:cNvSpPr>
          <p:nvPr/>
        </p:nvSpPr>
        <p:spPr bwMode="auto">
          <a:xfrm>
            <a:off x="5892800" y="1670050"/>
            <a:ext cx="10414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b="1" dirty="0">
                <a:solidFill>
                  <a:srgbClr val="FF0000"/>
                </a:solidFill>
              </a:rPr>
              <a:t>R0 - R31</a:t>
            </a:r>
          </a:p>
        </p:txBody>
      </p:sp>
      <p:sp>
        <p:nvSpPr>
          <p:cNvPr id="517126" name="Rectangle 6"/>
          <p:cNvSpPr>
            <a:spLocks noChangeArrowheads="1"/>
          </p:cNvSpPr>
          <p:nvPr/>
        </p:nvSpPr>
        <p:spPr bwMode="auto">
          <a:xfrm>
            <a:off x="5518150" y="3028950"/>
            <a:ext cx="1993900" cy="241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7127" name="Rectangle 7"/>
          <p:cNvSpPr>
            <a:spLocks noChangeArrowheads="1"/>
          </p:cNvSpPr>
          <p:nvPr/>
        </p:nvSpPr>
        <p:spPr bwMode="auto">
          <a:xfrm>
            <a:off x="5518150" y="3333750"/>
            <a:ext cx="1993900" cy="241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7128" name="Rectangle 8"/>
          <p:cNvSpPr>
            <a:spLocks noChangeArrowheads="1"/>
          </p:cNvSpPr>
          <p:nvPr/>
        </p:nvSpPr>
        <p:spPr bwMode="auto">
          <a:xfrm>
            <a:off x="5518150" y="3663950"/>
            <a:ext cx="1993900" cy="241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7129" name="Rectangle 9"/>
          <p:cNvSpPr>
            <a:spLocks noChangeArrowheads="1"/>
          </p:cNvSpPr>
          <p:nvPr/>
        </p:nvSpPr>
        <p:spPr bwMode="auto">
          <a:xfrm>
            <a:off x="6229350" y="3016250"/>
            <a:ext cx="457200" cy="2968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b="1">
                <a:solidFill>
                  <a:schemeClr val="tx1"/>
                </a:solidFill>
              </a:rPr>
              <a:t>PC</a:t>
            </a:r>
          </a:p>
        </p:txBody>
      </p:sp>
      <p:sp>
        <p:nvSpPr>
          <p:cNvPr id="517130" name="Rectangle 10"/>
          <p:cNvSpPr>
            <a:spLocks noChangeArrowheads="1"/>
          </p:cNvSpPr>
          <p:nvPr/>
        </p:nvSpPr>
        <p:spPr bwMode="auto">
          <a:xfrm>
            <a:off x="6229350" y="3321050"/>
            <a:ext cx="368300" cy="2968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b="1">
                <a:solidFill>
                  <a:schemeClr val="tx1"/>
                </a:solidFill>
              </a:rPr>
              <a:t>HI</a:t>
            </a:r>
          </a:p>
        </p:txBody>
      </p:sp>
      <p:sp>
        <p:nvSpPr>
          <p:cNvPr id="517131" name="Rectangle 11"/>
          <p:cNvSpPr>
            <a:spLocks noChangeArrowheads="1"/>
          </p:cNvSpPr>
          <p:nvPr/>
        </p:nvSpPr>
        <p:spPr bwMode="auto">
          <a:xfrm>
            <a:off x="6229350" y="3676650"/>
            <a:ext cx="457200" cy="2968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b="1">
                <a:solidFill>
                  <a:schemeClr val="tx1"/>
                </a:solidFill>
              </a:rPr>
              <a:t>LO</a:t>
            </a:r>
          </a:p>
        </p:txBody>
      </p:sp>
      <p:sp>
        <p:nvSpPr>
          <p:cNvPr id="517157" name="Rectangle 37"/>
          <p:cNvSpPr>
            <a:spLocks noChangeArrowheads="1"/>
          </p:cNvSpPr>
          <p:nvPr/>
        </p:nvSpPr>
        <p:spPr bwMode="auto">
          <a:xfrm>
            <a:off x="5867400" y="914400"/>
            <a:ext cx="11461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Registers</a:t>
            </a:r>
          </a:p>
        </p:txBody>
      </p:sp>
      <p:grpSp>
        <p:nvGrpSpPr>
          <p:cNvPr id="2" name="Group 42"/>
          <p:cNvGrpSpPr>
            <a:grpSpLocks/>
          </p:cNvGrpSpPr>
          <p:nvPr/>
        </p:nvGrpSpPr>
        <p:grpSpPr bwMode="auto">
          <a:xfrm>
            <a:off x="819150" y="4362450"/>
            <a:ext cx="7564438" cy="1885950"/>
            <a:chOff x="516" y="2748"/>
            <a:chExt cx="4765" cy="1188"/>
          </a:xfrm>
        </p:grpSpPr>
        <p:sp>
          <p:nvSpPr>
            <p:cNvPr id="517132" name="Rectangle 12"/>
            <p:cNvSpPr>
              <a:spLocks noChangeArrowheads="1"/>
            </p:cNvSpPr>
            <p:nvPr/>
          </p:nvSpPr>
          <p:spPr bwMode="auto">
            <a:xfrm>
              <a:off x="672" y="3061"/>
              <a:ext cx="792" cy="21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133" name="Rectangle 13"/>
            <p:cNvSpPr>
              <a:spLocks noChangeArrowheads="1"/>
            </p:cNvSpPr>
            <p:nvPr/>
          </p:nvSpPr>
          <p:spPr bwMode="auto">
            <a:xfrm>
              <a:off x="864" y="3085"/>
              <a:ext cx="259" cy="18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b="1" dirty="0" smtClean="0">
                  <a:solidFill>
                    <a:schemeClr val="tx1"/>
                  </a:solidFill>
                </a:rPr>
                <a:t>op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517134" name="Rectangle 14"/>
            <p:cNvSpPr>
              <a:spLocks noChangeArrowheads="1"/>
            </p:cNvSpPr>
            <p:nvPr/>
          </p:nvSpPr>
          <p:spPr bwMode="auto">
            <a:xfrm>
              <a:off x="1472" y="3061"/>
              <a:ext cx="600" cy="21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135" name="Rectangle 15"/>
            <p:cNvSpPr>
              <a:spLocks noChangeArrowheads="1"/>
            </p:cNvSpPr>
            <p:nvPr/>
          </p:nvSpPr>
          <p:spPr bwMode="auto">
            <a:xfrm>
              <a:off x="2080" y="3061"/>
              <a:ext cx="600" cy="21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136" name="Rectangle 16"/>
            <p:cNvSpPr>
              <a:spLocks noChangeArrowheads="1"/>
            </p:cNvSpPr>
            <p:nvPr/>
          </p:nvSpPr>
          <p:spPr bwMode="auto">
            <a:xfrm>
              <a:off x="672" y="3365"/>
              <a:ext cx="792" cy="21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137" name="Rectangle 17"/>
            <p:cNvSpPr>
              <a:spLocks noChangeArrowheads="1"/>
            </p:cNvSpPr>
            <p:nvPr/>
          </p:nvSpPr>
          <p:spPr bwMode="auto">
            <a:xfrm>
              <a:off x="864" y="3389"/>
              <a:ext cx="259" cy="18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b="1" dirty="0" smtClean="0">
                  <a:solidFill>
                    <a:schemeClr val="tx1"/>
                  </a:solidFill>
                </a:rPr>
                <a:t>op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517138" name="Rectangle 18"/>
            <p:cNvSpPr>
              <a:spLocks noChangeArrowheads="1"/>
            </p:cNvSpPr>
            <p:nvPr/>
          </p:nvSpPr>
          <p:spPr bwMode="auto">
            <a:xfrm>
              <a:off x="1472" y="3365"/>
              <a:ext cx="600" cy="21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139" name="Rectangle 19"/>
            <p:cNvSpPr>
              <a:spLocks noChangeArrowheads="1"/>
            </p:cNvSpPr>
            <p:nvPr/>
          </p:nvSpPr>
          <p:spPr bwMode="auto">
            <a:xfrm>
              <a:off x="2080" y="3365"/>
              <a:ext cx="600" cy="21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140" name="Rectangle 20"/>
            <p:cNvSpPr>
              <a:spLocks noChangeArrowheads="1"/>
            </p:cNvSpPr>
            <p:nvPr/>
          </p:nvSpPr>
          <p:spPr bwMode="auto">
            <a:xfrm>
              <a:off x="2688" y="3365"/>
              <a:ext cx="1880" cy="21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141" name="Rectangle 21"/>
            <p:cNvSpPr>
              <a:spLocks noChangeArrowheads="1"/>
            </p:cNvSpPr>
            <p:nvPr/>
          </p:nvSpPr>
          <p:spPr bwMode="auto">
            <a:xfrm>
              <a:off x="672" y="3685"/>
              <a:ext cx="792" cy="21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142" name="Rectangle 22"/>
            <p:cNvSpPr>
              <a:spLocks noChangeArrowheads="1"/>
            </p:cNvSpPr>
            <p:nvPr/>
          </p:nvSpPr>
          <p:spPr bwMode="auto">
            <a:xfrm>
              <a:off x="864" y="3709"/>
              <a:ext cx="259" cy="18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b="1" dirty="0" smtClean="0">
                  <a:solidFill>
                    <a:schemeClr val="tx1"/>
                  </a:solidFill>
                </a:rPr>
                <a:t>op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517143" name="Rectangle 23"/>
            <p:cNvSpPr>
              <a:spLocks noChangeArrowheads="1"/>
            </p:cNvSpPr>
            <p:nvPr/>
          </p:nvSpPr>
          <p:spPr bwMode="auto">
            <a:xfrm>
              <a:off x="1472" y="3685"/>
              <a:ext cx="3096" cy="21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144" name="Rectangle 24"/>
            <p:cNvSpPr>
              <a:spLocks noChangeArrowheads="1"/>
            </p:cNvSpPr>
            <p:nvPr/>
          </p:nvSpPr>
          <p:spPr bwMode="auto">
            <a:xfrm>
              <a:off x="2688" y="3061"/>
              <a:ext cx="600" cy="21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145" name="Rectangle 25"/>
            <p:cNvSpPr>
              <a:spLocks noChangeArrowheads="1"/>
            </p:cNvSpPr>
            <p:nvPr/>
          </p:nvSpPr>
          <p:spPr bwMode="auto">
            <a:xfrm>
              <a:off x="3296" y="3061"/>
              <a:ext cx="600" cy="21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146" name="Rectangle 26"/>
            <p:cNvSpPr>
              <a:spLocks noChangeArrowheads="1"/>
            </p:cNvSpPr>
            <p:nvPr/>
          </p:nvSpPr>
          <p:spPr bwMode="auto">
            <a:xfrm>
              <a:off x="3904" y="3061"/>
              <a:ext cx="664" cy="21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147" name="Rectangle 27"/>
            <p:cNvSpPr>
              <a:spLocks noChangeArrowheads="1"/>
            </p:cNvSpPr>
            <p:nvPr/>
          </p:nvSpPr>
          <p:spPr bwMode="auto">
            <a:xfrm>
              <a:off x="1552" y="3085"/>
              <a:ext cx="216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b="1">
                  <a:solidFill>
                    <a:schemeClr val="tx1"/>
                  </a:solidFill>
                </a:rPr>
                <a:t>rs</a:t>
              </a:r>
            </a:p>
          </p:txBody>
        </p:sp>
        <p:sp>
          <p:nvSpPr>
            <p:cNvPr id="517148" name="Rectangle 28"/>
            <p:cNvSpPr>
              <a:spLocks noChangeArrowheads="1"/>
            </p:cNvSpPr>
            <p:nvPr/>
          </p:nvSpPr>
          <p:spPr bwMode="auto">
            <a:xfrm>
              <a:off x="2208" y="3101"/>
              <a:ext cx="184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b="1">
                  <a:solidFill>
                    <a:schemeClr val="tx1"/>
                  </a:solidFill>
                </a:rPr>
                <a:t>rt</a:t>
              </a:r>
            </a:p>
          </p:txBody>
        </p:sp>
        <p:sp>
          <p:nvSpPr>
            <p:cNvPr id="517149" name="Rectangle 29"/>
            <p:cNvSpPr>
              <a:spLocks noChangeArrowheads="1"/>
            </p:cNvSpPr>
            <p:nvPr/>
          </p:nvSpPr>
          <p:spPr bwMode="auto">
            <a:xfrm>
              <a:off x="2832" y="3085"/>
              <a:ext cx="224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b="1">
                  <a:solidFill>
                    <a:schemeClr val="tx1"/>
                  </a:solidFill>
                </a:rPr>
                <a:t>rd</a:t>
              </a:r>
            </a:p>
          </p:txBody>
        </p:sp>
        <p:sp>
          <p:nvSpPr>
            <p:cNvPr id="517150" name="Rectangle 30"/>
            <p:cNvSpPr>
              <a:spLocks noChangeArrowheads="1"/>
            </p:cNvSpPr>
            <p:nvPr/>
          </p:nvSpPr>
          <p:spPr bwMode="auto">
            <a:xfrm>
              <a:off x="3408" y="3085"/>
              <a:ext cx="240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b="1">
                  <a:solidFill>
                    <a:schemeClr val="tx1"/>
                  </a:solidFill>
                </a:rPr>
                <a:t>sa</a:t>
              </a:r>
            </a:p>
          </p:txBody>
        </p:sp>
        <p:sp>
          <p:nvSpPr>
            <p:cNvPr id="517151" name="Rectangle 31"/>
            <p:cNvSpPr>
              <a:spLocks noChangeArrowheads="1"/>
            </p:cNvSpPr>
            <p:nvPr/>
          </p:nvSpPr>
          <p:spPr bwMode="auto">
            <a:xfrm>
              <a:off x="3984" y="3085"/>
              <a:ext cx="432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b="1">
                  <a:solidFill>
                    <a:schemeClr val="tx1"/>
                  </a:solidFill>
                </a:rPr>
                <a:t>funct</a:t>
              </a:r>
            </a:p>
          </p:txBody>
        </p:sp>
        <p:sp>
          <p:nvSpPr>
            <p:cNvPr id="517152" name="Rectangle 32"/>
            <p:cNvSpPr>
              <a:spLocks noChangeArrowheads="1"/>
            </p:cNvSpPr>
            <p:nvPr/>
          </p:nvSpPr>
          <p:spPr bwMode="auto">
            <a:xfrm>
              <a:off x="1568" y="3389"/>
              <a:ext cx="216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b="1">
                  <a:solidFill>
                    <a:schemeClr val="tx1"/>
                  </a:solidFill>
                </a:rPr>
                <a:t>rs</a:t>
              </a:r>
            </a:p>
          </p:txBody>
        </p:sp>
        <p:sp>
          <p:nvSpPr>
            <p:cNvPr id="517153" name="Rectangle 33"/>
            <p:cNvSpPr>
              <a:spLocks noChangeArrowheads="1"/>
            </p:cNvSpPr>
            <p:nvPr/>
          </p:nvSpPr>
          <p:spPr bwMode="auto">
            <a:xfrm>
              <a:off x="2224" y="3405"/>
              <a:ext cx="184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b="1">
                  <a:solidFill>
                    <a:schemeClr val="tx1"/>
                  </a:solidFill>
                </a:rPr>
                <a:t>rt</a:t>
              </a:r>
            </a:p>
          </p:txBody>
        </p:sp>
        <p:sp>
          <p:nvSpPr>
            <p:cNvPr id="517154" name="Rectangle 34"/>
            <p:cNvSpPr>
              <a:spLocks noChangeArrowheads="1"/>
            </p:cNvSpPr>
            <p:nvPr/>
          </p:nvSpPr>
          <p:spPr bwMode="auto">
            <a:xfrm>
              <a:off x="2928" y="3421"/>
              <a:ext cx="792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b="1">
                  <a:solidFill>
                    <a:schemeClr val="tx1"/>
                  </a:solidFill>
                </a:rPr>
                <a:t>immediate</a:t>
              </a:r>
            </a:p>
          </p:txBody>
        </p:sp>
        <p:sp>
          <p:nvSpPr>
            <p:cNvPr id="517155" name="Rectangle 35"/>
            <p:cNvSpPr>
              <a:spLocks noChangeArrowheads="1"/>
            </p:cNvSpPr>
            <p:nvPr/>
          </p:nvSpPr>
          <p:spPr bwMode="auto">
            <a:xfrm>
              <a:off x="2288" y="3757"/>
              <a:ext cx="864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b="1">
                  <a:solidFill>
                    <a:schemeClr val="tx1"/>
                  </a:solidFill>
                </a:rPr>
                <a:t>jump target</a:t>
              </a:r>
            </a:p>
          </p:txBody>
        </p:sp>
        <p:sp>
          <p:nvSpPr>
            <p:cNvPr id="517156" name="Rectangle 36"/>
            <p:cNvSpPr>
              <a:spLocks noChangeArrowheads="1"/>
            </p:cNvSpPr>
            <p:nvPr/>
          </p:nvSpPr>
          <p:spPr bwMode="auto">
            <a:xfrm>
              <a:off x="516" y="2748"/>
              <a:ext cx="2656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b="1">
                  <a:solidFill>
                    <a:schemeClr val="tx1"/>
                  </a:solidFill>
                </a:rPr>
                <a:t>3 Instruction Formats: </a:t>
              </a:r>
              <a:r>
                <a:rPr lang="en-US" b="1"/>
                <a:t>all 32 bits wide</a:t>
              </a:r>
            </a:p>
          </p:txBody>
        </p:sp>
        <p:sp>
          <p:nvSpPr>
            <p:cNvPr id="517159" name="Rectangle 39"/>
            <p:cNvSpPr>
              <a:spLocks noChangeArrowheads="1"/>
            </p:cNvSpPr>
            <p:nvPr/>
          </p:nvSpPr>
          <p:spPr bwMode="auto">
            <a:xfrm>
              <a:off x="4608" y="3057"/>
              <a:ext cx="673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R format</a:t>
              </a:r>
            </a:p>
          </p:txBody>
        </p:sp>
        <p:sp>
          <p:nvSpPr>
            <p:cNvPr id="517160" name="Rectangle 40"/>
            <p:cNvSpPr>
              <a:spLocks noChangeArrowheads="1"/>
            </p:cNvSpPr>
            <p:nvPr/>
          </p:nvSpPr>
          <p:spPr bwMode="auto">
            <a:xfrm>
              <a:off x="4608" y="3345"/>
              <a:ext cx="608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I format</a:t>
              </a:r>
            </a:p>
          </p:txBody>
        </p:sp>
        <p:sp>
          <p:nvSpPr>
            <p:cNvPr id="517161" name="Rectangle 41"/>
            <p:cNvSpPr>
              <a:spLocks noChangeArrowheads="1"/>
            </p:cNvSpPr>
            <p:nvPr/>
          </p:nvSpPr>
          <p:spPr bwMode="auto">
            <a:xfrm>
              <a:off x="4608" y="3681"/>
              <a:ext cx="634" cy="22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>
                  <a:solidFill>
                    <a:schemeClr val="tx1"/>
                  </a:solidFill>
                </a:rPr>
                <a:t>J format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378878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/>
          <p:cNvSpPr>
            <a:spLocks noGrp="1" noChangeArrowheads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571472" y="2285992"/>
            <a:ext cx="8153400" cy="459100"/>
          </a:xfrm>
          <a:noFill/>
          <a:ln/>
        </p:spPr>
        <p:txBody>
          <a:bodyPr lIns="90488" tIns="44450" rIns="90488" bIns="44450"/>
          <a:lstStyle/>
          <a:p>
            <a:pPr marL="342900" indent="-342900"/>
            <a:r>
              <a:rPr lang="en-US" altLang="zh-CN" dirty="0" smtClean="0">
                <a:ea typeface="宋体" pitchFamily="2" charset="-122"/>
              </a:rPr>
              <a:t>Arithmetic instructions</a:t>
            </a:r>
            <a:endParaRPr lang="en-US" altLang="zh-CN" sz="2400" dirty="0"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232451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25425" y="312738"/>
            <a:ext cx="2817813" cy="4778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2452" name="Rectangle 4"/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685800" y="233362"/>
            <a:ext cx="7886728" cy="480994"/>
          </a:xfrm>
          <a:noFill/>
          <a:ln/>
        </p:spPr>
        <p:txBody>
          <a:bodyPr lIns="90488" tIns="44450" rIns="90488" bIns="44450" anchor="ctr"/>
          <a:lstStyle/>
          <a:p>
            <a:r>
              <a:rPr lang="en-US" altLang="zh-CN" dirty="0" smtClean="0">
                <a:ea typeface="宋体" pitchFamily="2" charset="-122"/>
              </a:rPr>
              <a:t>Representing Instructions in the Machine</a:t>
            </a:r>
            <a:endParaRPr lang="en-US" altLang="zh-CN" dirty="0">
              <a:ea typeface="宋体" pitchFamily="2" charset="-122"/>
            </a:endParaRPr>
          </a:p>
        </p:txBody>
      </p:sp>
      <p:grpSp>
        <p:nvGrpSpPr>
          <p:cNvPr id="2" name="Group 5"/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1566882" y="1428736"/>
            <a:ext cx="5791200" cy="366712"/>
            <a:chOff x="1056" y="2640"/>
            <a:chExt cx="3648" cy="231"/>
          </a:xfrm>
        </p:grpSpPr>
        <p:sp>
          <p:nvSpPr>
            <p:cNvPr id="232454" name="Rectangle 6"/>
            <p:cNvSpPr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1056" y="2640"/>
              <a:ext cx="3648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2455" name="Line 7"/>
            <p:cNvSpPr>
              <a:spLocks noChangeShapeType="1"/>
            </p:cNvSpPr>
            <p:nvPr>
              <p:custDataLst>
                <p:tags r:id="rId26"/>
              </p:custDataLst>
            </p:nvPr>
          </p:nvSpPr>
          <p:spPr bwMode="auto">
            <a:xfrm>
              <a:off x="1728" y="2640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2456" name="Line 8"/>
            <p:cNvSpPr>
              <a:spLocks noChangeShapeType="1"/>
            </p:cNvSpPr>
            <p:nvPr>
              <p:custDataLst>
                <p:tags r:id="rId27"/>
              </p:custDataLst>
            </p:nvPr>
          </p:nvSpPr>
          <p:spPr bwMode="auto">
            <a:xfrm>
              <a:off x="2300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2457" name="Line 9"/>
            <p:cNvSpPr>
              <a:spLocks noChangeShapeType="1"/>
            </p:cNvSpPr>
            <p:nvPr>
              <p:custDataLst>
                <p:tags r:id="rId28"/>
              </p:custDataLst>
            </p:nvPr>
          </p:nvSpPr>
          <p:spPr bwMode="auto">
            <a:xfrm>
              <a:off x="2876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2458" name="Line 10"/>
            <p:cNvSpPr>
              <a:spLocks noChangeShapeType="1"/>
            </p:cNvSpPr>
            <p:nvPr>
              <p:custDataLst>
                <p:tags r:id="rId29"/>
              </p:custDataLst>
            </p:nvPr>
          </p:nvSpPr>
          <p:spPr bwMode="auto">
            <a:xfrm>
              <a:off x="3452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2459" name="Line 11"/>
            <p:cNvSpPr>
              <a:spLocks noChangeShapeType="1"/>
            </p:cNvSpPr>
            <p:nvPr>
              <p:custDataLst>
                <p:tags r:id="rId30"/>
              </p:custDataLst>
            </p:nvPr>
          </p:nvSpPr>
          <p:spPr bwMode="auto">
            <a:xfrm>
              <a:off x="4028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2460" name="Text Box 12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1248" y="2640"/>
              <a:ext cx="3316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chemeClr val="tx1"/>
                  </a:solidFill>
                  <a:ea typeface="宋体" pitchFamily="2" charset="-122"/>
                </a:rPr>
                <a:t>op           </a:t>
              </a:r>
              <a:r>
                <a:rPr lang="en-US" altLang="zh-CN" dirty="0" err="1">
                  <a:solidFill>
                    <a:schemeClr val="tx1"/>
                  </a:solidFill>
                  <a:ea typeface="宋体" pitchFamily="2" charset="-122"/>
                </a:rPr>
                <a:t>rs</a:t>
              </a:r>
              <a:r>
                <a:rPr lang="en-US" altLang="zh-CN" dirty="0">
                  <a:solidFill>
                    <a:schemeClr val="tx1"/>
                  </a:solidFill>
                  <a:ea typeface="宋体" pitchFamily="2" charset="-122"/>
                </a:rPr>
                <a:t>            </a:t>
              </a:r>
              <a:r>
                <a:rPr lang="en-US" altLang="zh-CN" dirty="0" err="1">
                  <a:solidFill>
                    <a:schemeClr val="tx1"/>
                  </a:solidFill>
                  <a:ea typeface="宋体" pitchFamily="2" charset="-122"/>
                </a:rPr>
                <a:t>rt</a:t>
              </a:r>
              <a:r>
                <a:rPr lang="en-US" altLang="zh-CN" dirty="0">
                  <a:solidFill>
                    <a:schemeClr val="tx1"/>
                  </a:solidFill>
                  <a:ea typeface="宋体" pitchFamily="2" charset="-122"/>
                </a:rPr>
                <a:t>            rd        </a:t>
              </a:r>
              <a:r>
                <a:rPr lang="en-US" altLang="zh-CN" dirty="0" err="1">
                  <a:solidFill>
                    <a:schemeClr val="tx1"/>
                  </a:solidFill>
                  <a:ea typeface="宋体" pitchFamily="2" charset="-122"/>
                </a:rPr>
                <a:t>shamt</a:t>
              </a:r>
              <a:r>
                <a:rPr lang="en-US" altLang="zh-CN" dirty="0">
                  <a:solidFill>
                    <a:schemeClr val="tx1"/>
                  </a:solidFill>
                  <a:ea typeface="宋体" pitchFamily="2" charset="-122"/>
                </a:rPr>
                <a:t>       </a:t>
              </a:r>
              <a:r>
                <a:rPr lang="en-US" altLang="zh-CN" dirty="0" err="1">
                  <a:solidFill>
                    <a:schemeClr val="tx1"/>
                  </a:solidFill>
                  <a:ea typeface="宋体" pitchFamily="2" charset="-122"/>
                </a:rPr>
                <a:t>funct</a:t>
              </a:r>
              <a:endParaRPr lang="en-US" altLang="zh-CN" dirty="0">
                <a:solidFill>
                  <a:schemeClr val="tx1"/>
                </a:solidFill>
                <a:ea typeface="宋体" pitchFamily="2" charset="-122"/>
              </a:endParaRPr>
            </a:p>
          </p:txBody>
        </p:sp>
      </p:grpSp>
      <p:sp>
        <p:nvSpPr>
          <p:cNvPr id="232462" name="Text Box 14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540607" y="1800338"/>
            <a:ext cx="578647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  <a:ea typeface="宋体" pitchFamily="2" charset="-122"/>
              </a:rPr>
              <a:t>   6 bits       5 bits     5 bits      5 bits     5 bits        6 bits</a:t>
            </a:r>
            <a:endParaRPr lang="en-US" altLang="zh-CN" dirty="0">
              <a:solidFill>
                <a:srgbClr val="FF0000"/>
              </a:solidFill>
              <a:ea typeface="宋体" pitchFamily="2" charset="-122"/>
            </a:endParaRPr>
          </a:p>
        </p:txBody>
      </p:sp>
      <p:sp>
        <p:nvSpPr>
          <p:cNvPr id="232469" name="AutoShape 21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357686" y="3143248"/>
            <a:ext cx="381000" cy="152400"/>
          </a:xfrm>
          <a:prstGeom prst="downArrow">
            <a:avLst>
              <a:gd name="adj1" fmla="val 50000"/>
              <a:gd name="adj2" fmla="val 25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Rectangle 2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990600" y="2714620"/>
            <a:ext cx="7367614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75000"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+mn-cs"/>
              </a:rPr>
              <a:t>add $t0, $s1, $s2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1785918" y="3429000"/>
            <a:ext cx="5797550" cy="366712"/>
            <a:chOff x="1676400" y="5043488"/>
            <a:chExt cx="5797550" cy="366712"/>
          </a:xfrm>
        </p:grpSpPr>
        <p:sp>
          <p:nvSpPr>
            <p:cNvPr id="232463" name="Rectangle 15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1676400" y="5043488"/>
              <a:ext cx="5791200" cy="2921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2464" name="Line 16"/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auto">
            <a:xfrm>
              <a:off x="2743200" y="5043488"/>
              <a:ext cx="0" cy="2905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2465" name="Line 17"/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>
              <a:off x="3651250" y="5045075"/>
              <a:ext cx="0" cy="2905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2466" name="Line 18"/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>
              <a:off x="4565650" y="5045075"/>
              <a:ext cx="0" cy="2905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2467" name="Line 19"/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>
              <a:off x="5480050" y="5045075"/>
              <a:ext cx="0" cy="2905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2468" name="Line 20"/>
            <p:cNvSpPr>
              <a:spLocks noChangeShapeType="1"/>
            </p:cNvSpPr>
            <p:nvPr>
              <p:custDataLst>
                <p:tags r:id="rId23"/>
              </p:custDataLst>
            </p:nvPr>
          </p:nvSpPr>
          <p:spPr bwMode="auto">
            <a:xfrm>
              <a:off x="6394450" y="5045075"/>
              <a:ext cx="0" cy="2905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Box 14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1828800" y="5043488"/>
              <a:ext cx="5645150" cy="3667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chemeClr val="tx1"/>
                  </a:solidFill>
                  <a:ea typeface="宋体" pitchFamily="2" charset="-122"/>
                </a:rPr>
                <a:t>000000   10001    10010     01000     00000     100000</a:t>
              </a:r>
            </a:p>
          </p:txBody>
        </p:sp>
      </p:grpSp>
      <p:grpSp>
        <p:nvGrpSpPr>
          <p:cNvPr id="25" name="Group 5"/>
          <p:cNvGrpSpPr>
            <a:grpSpLocks/>
          </p:cNvGrpSpPr>
          <p:nvPr/>
        </p:nvGrpSpPr>
        <p:grpSpPr bwMode="auto">
          <a:xfrm>
            <a:off x="1781196" y="3857628"/>
            <a:ext cx="5791200" cy="369888"/>
            <a:chOff x="1056" y="2640"/>
            <a:chExt cx="3648" cy="233"/>
          </a:xfrm>
        </p:grpSpPr>
        <p:sp>
          <p:nvSpPr>
            <p:cNvPr id="26" name="Rectangle 6"/>
            <p:cNvSpPr>
              <a:spLocks noChangeArrowheads="1"/>
            </p:cNvSpPr>
            <p:nvPr/>
          </p:nvSpPr>
          <p:spPr bwMode="auto">
            <a:xfrm>
              <a:off x="1056" y="2640"/>
              <a:ext cx="3648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Line 7"/>
            <p:cNvSpPr>
              <a:spLocks noChangeShapeType="1"/>
            </p:cNvSpPr>
            <p:nvPr/>
          </p:nvSpPr>
          <p:spPr bwMode="auto">
            <a:xfrm>
              <a:off x="1728" y="2640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8" name="Line 8"/>
            <p:cNvSpPr>
              <a:spLocks noChangeShapeType="1"/>
            </p:cNvSpPr>
            <p:nvPr/>
          </p:nvSpPr>
          <p:spPr bwMode="auto">
            <a:xfrm>
              <a:off x="2300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9" name="Line 9"/>
            <p:cNvSpPr>
              <a:spLocks noChangeShapeType="1"/>
            </p:cNvSpPr>
            <p:nvPr/>
          </p:nvSpPr>
          <p:spPr bwMode="auto">
            <a:xfrm>
              <a:off x="2876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0" name="Line 10"/>
            <p:cNvSpPr>
              <a:spLocks noChangeShapeType="1"/>
            </p:cNvSpPr>
            <p:nvPr/>
          </p:nvSpPr>
          <p:spPr bwMode="auto">
            <a:xfrm>
              <a:off x="3452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1" name="Line 11"/>
            <p:cNvSpPr>
              <a:spLocks noChangeShapeType="1"/>
            </p:cNvSpPr>
            <p:nvPr/>
          </p:nvSpPr>
          <p:spPr bwMode="auto">
            <a:xfrm>
              <a:off x="4028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" name="Text Box 12"/>
            <p:cNvSpPr txBox="1">
              <a:spLocks noChangeArrowheads="1"/>
            </p:cNvSpPr>
            <p:nvPr/>
          </p:nvSpPr>
          <p:spPr bwMode="auto">
            <a:xfrm>
              <a:off x="1170" y="2640"/>
              <a:ext cx="3493" cy="2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chemeClr val="tx1"/>
                  </a:solidFill>
                </a:rPr>
                <a:t> 0x00           17          18           8            0           0x20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33" name="AutoShape 21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4433846" y="5000636"/>
            <a:ext cx="381000" cy="152400"/>
          </a:xfrm>
          <a:prstGeom prst="downArrow">
            <a:avLst>
              <a:gd name="adj1" fmla="val 50000"/>
              <a:gd name="adj2" fmla="val 25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Rectangle 2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066760" y="4572008"/>
            <a:ext cx="7367614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ctr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75000"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宋体" pitchFamily="2" charset="-122"/>
                <a:cs typeface="+mn-cs"/>
              </a:rPr>
              <a:t>sub $t0, $s1, $s2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grpSp>
        <p:nvGrpSpPr>
          <p:cNvPr id="35" name="Group 34"/>
          <p:cNvGrpSpPr/>
          <p:nvPr/>
        </p:nvGrpSpPr>
        <p:grpSpPr>
          <a:xfrm>
            <a:off x="1785918" y="5286388"/>
            <a:ext cx="5797550" cy="366712"/>
            <a:chOff x="1676400" y="5043488"/>
            <a:chExt cx="5797550" cy="366712"/>
          </a:xfrm>
        </p:grpSpPr>
        <p:sp>
          <p:nvSpPr>
            <p:cNvPr id="36" name="Rectangle 15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676400" y="5043488"/>
              <a:ext cx="5791200" cy="2921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Line 16"/>
            <p:cNvSpPr>
              <a:spLocks noChangeShapeType="1"/>
            </p:cNvSpPr>
            <p:nvPr>
              <p:custDataLst>
                <p:tags r:id="rId12"/>
              </p:custDataLst>
            </p:nvPr>
          </p:nvSpPr>
          <p:spPr bwMode="auto">
            <a:xfrm>
              <a:off x="2743200" y="5043488"/>
              <a:ext cx="0" cy="2905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17"/>
            <p:cNvSpPr>
              <a:spLocks noChangeShapeType="1"/>
            </p:cNvSpPr>
            <p:nvPr>
              <p:custDataLst>
                <p:tags r:id="rId13"/>
              </p:custDataLst>
            </p:nvPr>
          </p:nvSpPr>
          <p:spPr bwMode="auto">
            <a:xfrm>
              <a:off x="3651250" y="5045075"/>
              <a:ext cx="0" cy="2905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18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>
              <a:off x="4565650" y="5045075"/>
              <a:ext cx="0" cy="2905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19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>
              <a:off x="5480050" y="5045075"/>
              <a:ext cx="0" cy="2905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20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>
              <a:off x="6394450" y="5045075"/>
              <a:ext cx="0" cy="2905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 Box 14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828800" y="5043488"/>
              <a:ext cx="5645150" cy="3667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chemeClr val="tx1"/>
                  </a:solidFill>
                  <a:ea typeface="宋体" pitchFamily="2" charset="-122"/>
                </a:rPr>
                <a:t>000000   10001    10010     01000     00000     </a:t>
              </a:r>
              <a:r>
                <a:rPr lang="en-US" altLang="zh-CN" dirty="0" smtClean="0">
                  <a:solidFill>
                    <a:schemeClr val="tx1"/>
                  </a:solidFill>
                  <a:ea typeface="宋体" pitchFamily="2" charset="-122"/>
                </a:rPr>
                <a:t>100010</a:t>
              </a:r>
              <a:endParaRPr lang="en-US" altLang="zh-CN" dirty="0">
                <a:solidFill>
                  <a:schemeClr val="tx1"/>
                </a:solidFill>
                <a:ea typeface="宋体" pitchFamily="2" charset="-122"/>
              </a:endParaRPr>
            </a:p>
          </p:txBody>
        </p:sp>
      </p:grpSp>
      <p:grpSp>
        <p:nvGrpSpPr>
          <p:cNvPr id="43" name="Group 5"/>
          <p:cNvGrpSpPr>
            <a:grpSpLocks/>
          </p:cNvGrpSpPr>
          <p:nvPr/>
        </p:nvGrpSpPr>
        <p:grpSpPr bwMode="auto">
          <a:xfrm>
            <a:off x="1785918" y="5715016"/>
            <a:ext cx="5791200" cy="369888"/>
            <a:chOff x="1056" y="2640"/>
            <a:chExt cx="3648" cy="233"/>
          </a:xfrm>
        </p:grpSpPr>
        <p:sp>
          <p:nvSpPr>
            <p:cNvPr id="44" name="Rectangle 6"/>
            <p:cNvSpPr>
              <a:spLocks noChangeArrowheads="1"/>
            </p:cNvSpPr>
            <p:nvPr/>
          </p:nvSpPr>
          <p:spPr bwMode="auto">
            <a:xfrm>
              <a:off x="1056" y="2640"/>
              <a:ext cx="3648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5" name="Line 7"/>
            <p:cNvSpPr>
              <a:spLocks noChangeShapeType="1"/>
            </p:cNvSpPr>
            <p:nvPr/>
          </p:nvSpPr>
          <p:spPr bwMode="auto">
            <a:xfrm>
              <a:off x="1728" y="2640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6" name="Line 8"/>
            <p:cNvSpPr>
              <a:spLocks noChangeShapeType="1"/>
            </p:cNvSpPr>
            <p:nvPr/>
          </p:nvSpPr>
          <p:spPr bwMode="auto">
            <a:xfrm>
              <a:off x="2300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7" name="Line 9"/>
            <p:cNvSpPr>
              <a:spLocks noChangeShapeType="1"/>
            </p:cNvSpPr>
            <p:nvPr/>
          </p:nvSpPr>
          <p:spPr bwMode="auto">
            <a:xfrm>
              <a:off x="2876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8" name="Line 10"/>
            <p:cNvSpPr>
              <a:spLocks noChangeShapeType="1"/>
            </p:cNvSpPr>
            <p:nvPr/>
          </p:nvSpPr>
          <p:spPr bwMode="auto">
            <a:xfrm>
              <a:off x="3452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9" name="Line 11"/>
            <p:cNvSpPr>
              <a:spLocks noChangeShapeType="1"/>
            </p:cNvSpPr>
            <p:nvPr/>
          </p:nvSpPr>
          <p:spPr bwMode="auto">
            <a:xfrm>
              <a:off x="4028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0" name="Text Box 12"/>
            <p:cNvSpPr txBox="1">
              <a:spLocks noChangeArrowheads="1"/>
            </p:cNvSpPr>
            <p:nvPr/>
          </p:nvSpPr>
          <p:spPr bwMode="auto">
            <a:xfrm>
              <a:off x="1170" y="2640"/>
              <a:ext cx="3493" cy="2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chemeClr val="tx1"/>
                  </a:solidFill>
                </a:rPr>
                <a:t> 0x00           17          18           8            0           0x22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51" name="Rectangle 2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00034" y="826760"/>
            <a:ext cx="8153400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q"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Remember the MIPS-32 instruction fields,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R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 format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1540678"/>
      </p:ext>
    </p:extLst>
  </p:cSld>
  <p:clrMapOvr>
    <a:masterClrMapping/>
  </p:clrMapOvr>
  <p:transition advTm="2000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/>
          <p:cNvSpPr>
            <a:spLocks noGrp="1" noChangeArrowheads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571472" y="2285992"/>
            <a:ext cx="8153400" cy="459100"/>
          </a:xfrm>
          <a:noFill/>
          <a:ln/>
        </p:spPr>
        <p:txBody>
          <a:bodyPr lIns="90488" tIns="44450" rIns="90488" bIns="44450"/>
          <a:lstStyle/>
          <a:p>
            <a:pPr marL="342900" indent="-342900"/>
            <a:r>
              <a:rPr lang="en-US" altLang="zh-CN" dirty="0" smtClean="0">
                <a:ea typeface="宋体" pitchFamily="2" charset="-122"/>
              </a:rPr>
              <a:t>Data transfer instructions</a:t>
            </a:r>
            <a:endParaRPr lang="en-US" altLang="zh-CN" sz="2400" dirty="0"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232451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25425" y="312738"/>
            <a:ext cx="2817813" cy="4778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2452" name="Rectangle 4"/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685800" y="233362"/>
            <a:ext cx="7886728" cy="480994"/>
          </a:xfrm>
          <a:noFill/>
          <a:ln/>
        </p:spPr>
        <p:txBody>
          <a:bodyPr lIns="90488" tIns="44450" rIns="90488" bIns="44450" anchor="ctr"/>
          <a:lstStyle/>
          <a:p>
            <a:r>
              <a:rPr lang="en-US" altLang="zh-CN" dirty="0" smtClean="0">
                <a:ea typeface="宋体" pitchFamily="2" charset="-122"/>
              </a:rPr>
              <a:t>Representing Instructions in the Machine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232462" name="Text Box 14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500166" y="1773784"/>
            <a:ext cx="578647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  <a:ea typeface="宋体" pitchFamily="2" charset="-122"/>
              </a:rPr>
              <a:t>   6 bits       5 bits     5 bits                       16 bit</a:t>
            </a:r>
            <a:endParaRPr lang="en-US" altLang="zh-CN" dirty="0">
              <a:solidFill>
                <a:srgbClr val="FF0000"/>
              </a:solidFill>
              <a:ea typeface="宋体" pitchFamily="2" charset="-122"/>
            </a:endParaRPr>
          </a:p>
        </p:txBody>
      </p:sp>
      <p:sp>
        <p:nvSpPr>
          <p:cNvPr id="232469" name="AutoShape 21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357686" y="3071810"/>
            <a:ext cx="381000" cy="152400"/>
          </a:xfrm>
          <a:prstGeom prst="downArrow">
            <a:avLst>
              <a:gd name="adj1" fmla="val 50000"/>
              <a:gd name="adj2" fmla="val 25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Rectangle 2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990600" y="2643182"/>
            <a:ext cx="7367614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ctr">
              <a:spcBef>
                <a:spcPct val="30000"/>
              </a:spcBef>
              <a:buClr>
                <a:schemeClr val="accent1"/>
              </a:buClr>
              <a:buSzPct val="75000"/>
            </a:pPr>
            <a:r>
              <a:rPr lang="en-US" altLang="zh-CN" sz="2400" dirty="0" err="1" smtClean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lw</a:t>
            </a:r>
            <a:r>
              <a:rPr lang="en-US" altLang="zh-CN" sz="2400" dirty="0" smtClean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$t0, 24($s2)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33" name="AutoShape 21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433846" y="5000636"/>
            <a:ext cx="381000" cy="152400"/>
          </a:xfrm>
          <a:prstGeom prst="downArrow">
            <a:avLst>
              <a:gd name="adj1" fmla="val 50000"/>
              <a:gd name="adj2" fmla="val 25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Rectangle 2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066760" y="4612974"/>
            <a:ext cx="7367614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ctr">
              <a:spcBef>
                <a:spcPct val="30000"/>
              </a:spcBef>
              <a:buClr>
                <a:schemeClr val="accent1"/>
              </a:buClr>
              <a:buSzPct val="75000"/>
            </a:pPr>
            <a:r>
              <a:rPr lang="en-US" altLang="zh-CN" sz="2400" dirty="0" err="1" smtClean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sw</a:t>
            </a:r>
            <a:r>
              <a:rPr lang="en-US" altLang="zh-CN" sz="2400" dirty="0" smtClean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$t0, 24($s2)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51" name="Rectangle 2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00034" y="826760"/>
            <a:ext cx="8153400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q"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Remember the MIPS-32 instruction fields, 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I</a:t>
            </a: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 format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ea typeface="宋体" pitchFamily="2" charset="-122"/>
              <a:cs typeface="+mn-cs"/>
            </a:endParaRPr>
          </a:p>
        </p:txBody>
      </p:sp>
      <p:grpSp>
        <p:nvGrpSpPr>
          <p:cNvPr id="52" name="Group 5"/>
          <p:cNvGrpSpPr>
            <a:grpSpLocks/>
          </p:cNvGrpSpPr>
          <p:nvPr>
            <p:custDataLst>
              <p:tags r:id="rId10"/>
            </p:custDataLst>
          </p:nvPr>
        </p:nvGrpSpPr>
        <p:grpSpPr bwMode="auto">
          <a:xfrm>
            <a:off x="1571604" y="1416594"/>
            <a:ext cx="5791200" cy="369887"/>
            <a:chOff x="1056" y="3024"/>
            <a:chExt cx="3648" cy="233"/>
          </a:xfrm>
        </p:grpSpPr>
        <p:sp>
          <p:nvSpPr>
            <p:cNvPr id="53" name="Rectangle 6"/>
            <p:cNvSpPr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1056" y="3024"/>
              <a:ext cx="3648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Line 7"/>
            <p:cNvSpPr>
              <a:spLocks noChangeShapeType="1"/>
            </p:cNvSpPr>
            <p:nvPr>
              <p:custDataLst>
                <p:tags r:id="rId36"/>
              </p:custDataLst>
            </p:nvPr>
          </p:nvSpPr>
          <p:spPr bwMode="auto">
            <a:xfrm>
              <a:off x="1728" y="3024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Line 8"/>
            <p:cNvSpPr>
              <a:spLocks noChangeShapeType="1"/>
            </p:cNvSpPr>
            <p:nvPr>
              <p:custDataLst>
                <p:tags r:id="rId37"/>
              </p:custDataLst>
            </p:nvPr>
          </p:nvSpPr>
          <p:spPr bwMode="auto">
            <a:xfrm>
              <a:off x="2300" y="3025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Line 9"/>
            <p:cNvSpPr>
              <a:spLocks noChangeShapeType="1"/>
            </p:cNvSpPr>
            <p:nvPr>
              <p:custDataLst>
                <p:tags r:id="rId38"/>
              </p:custDataLst>
            </p:nvPr>
          </p:nvSpPr>
          <p:spPr bwMode="auto">
            <a:xfrm>
              <a:off x="2876" y="3025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 Box 10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1200" y="3024"/>
              <a:ext cx="3434" cy="2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chemeClr val="tx1"/>
                  </a:solidFill>
                  <a:ea typeface="宋体" pitchFamily="2" charset="-122"/>
                </a:rPr>
                <a:t>op            </a:t>
              </a:r>
              <a:r>
                <a:rPr lang="en-US" altLang="zh-CN" dirty="0" err="1">
                  <a:solidFill>
                    <a:schemeClr val="tx1"/>
                  </a:solidFill>
                  <a:ea typeface="宋体" pitchFamily="2" charset="-122"/>
                </a:rPr>
                <a:t>rs</a:t>
              </a:r>
              <a:r>
                <a:rPr lang="en-US" altLang="zh-CN" dirty="0">
                  <a:solidFill>
                    <a:schemeClr val="tx1"/>
                  </a:solidFill>
                  <a:ea typeface="宋体" pitchFamily="2" charset="-122"/>
                </a:rPr>
                <a:t>             </a:t>
              </a:r>
              <a:r>
                <a:rPr lang="en-US" altLang="zh-CN" dirty="0" err="1">
                  <a:solidFill>
                    <a:schemeClr val="tx1"/>
                  </a:solidFill>
                  <a:ea typeface="宋体" pitchFamily="2" charset="-122"/>
                </a:rPr>
                <a:t>rt</a:t>
              </a:r>
              <a:r>
                <a:rPr lang="en-US" altLang="zh-CN" dirty="0">
                  <a:solidFill>
                    <a:schemeClr val="tx1"/>
                  </a:solidFill>
                  <a:ea typeface="宋体" pitchFamily="2" charset="-122"/>
                </a:rPr>
                <a:t>             </a:t>
              </a:r>
              <a:r>
                <a:rPr lang="en-US" altLang="zh-CN" dirty="0" smtClean="0">
                  <a:solidFill>
                    <a:schemeClr val="tx1"/>
                  </a:solidFill>
                  <a:ea typeface="宋体" pitchFamily="2" charset="-122"/>
                </a:rPr>
                <a:t>  two’s </a:t>
              </a:r>
              <a:r>
                <a:rPr lang="en-US" altLang="zh-CN" dirty="0" err="1" smtClean="0">
                  <a:solidFill>
                    <a:schemeClr val="tx1"/>
                  </a:solidFill>
                  <a:ea typeface="宋体" pitchFamily="2" charset="-122"/>
                </a:rPr>
                <a:t>compl</a:t>
              </a:r>
              <a:r>
                <a:rPr lang="en-US" altLang="zh-CN" dirty="0" smtClean="0">
                  <a:solidFill>
                    <a:schemeClr val="tx1"/>
                  </a:solidFill>
                  <a:ea typeface="宋体" pitchFamily="2" charset="-122"/>
                </a:rPr>
                <a:t> number</a:t>
              </a:r>
              <a:endParaRPr lang="en-US" altLang="zh-CN" dirty="0">
                <a:solidFill>
                  <a:schemeClr val="tx1"/>
                </a:solidFill>
                <a:ea typeface="宋体" pitchFamily="2" charset="-122"/>
              </a:endParaRPr>
            </a:p>
          </p:txBody>
        </p:sp>
      </p:grpSp>
      <p:grpSp>
        <p:nvGrpSpPr>
          <p:cNvPr id="58" name="Group 11"/>
          <p:cNvGrpSpPr>
            <a:grpSpLocks/>
          </p:cNvGrpSpPr>
          <p:nvPr>
            <p:custDataLst>
              <p:tags r:id="rId11"/>
            </p:custDataLst>
          </p:nvPr>
        </p:nvGrpSpPr>
        <p:grpSpPr bwMode="auto">
          <a:xfrm>
            <a:off x="1781196" y="3916369"/>
            <a:ext cx="5791200" cy="369887"/>
            <a:chOff x="1008" y="2352"/>
            <a:chExt cx="3648" cy="233"/>
          </a:xfrm>
        </p:grpSpPr>
        <p:grpSp>
          <p:nvGrpSpPr>
            <p:cNvPr id="59" name="Group 12"/>
            <p:cNvGrpSpPr>
              <a:grpSpLocks/>
            </p:cNvGrpSpPr>
            <p:nvPr/>
          </p:nvGrpSpPr>
          <p:grpSpPr bwMode="auto">
            <a:xfrm>
              <a:off x="1008" y="2352"/>
              <a:ext cx="3648" cy="184"/>
              <a:chOff x="1008" y="3120"/>
              <a:chExt cx="3648" cy="184"/>
            </a:xfrm>
          </p:grpSpPr>
          <p:sp>
            <p:nvSpPr>
              <p:cNvPr id="61" name="Rectangle 13"/>
              <p:cNvSpPr>
                <a:spLocks noChangeArrowheads="1"/>
              </p:cNvSpPr>
              <p:nvPr>
                <p:custDataLst>
                  <p:tags r:id="rId31"/>
                </p:custDataLst>
              </p:nvPr>
            </p:nvSpPr>
            <p:spPr bwMode="auto">
              <a:xfrm>
                <a:off x="1008" y="3120"/>
                <a:ext cx="3648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" name="Line 14"/>
              <p:cNvSpPr>
                <a:spLocks noChangeShapeType="1"/>
              </p:cNvSpPr>
              <p:nvPr>
                <p:custDataLst>
                  <p:tags r:id="rId32"/>
                </p:custDataLst>
              </p:nvPr>
            </p:nvSpPr>
            <p:spPr bwMode="auto">
              <a:xfrm>
                <a:off x="1680" y="3120"/>
                <a:ext cx="0" cy="1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" name="Line 15"/>
              <p:cNvSpPr>
                <a:spLocks noChangeShapeType="1"/>
              </p:cNvSpPr>
              <p:nvPr>
                <p:custDataLst>
                  <p:tags r:id="rId33"/>
                </p:custDataLst>
              </p:nvPr>
            </p:nvSpPr>
            <p:spPr bwMode="auto">
              <a:xfrm>
                <a:off x="2252" y="3121"/>
                <a:ext cx="0" cy="1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" name="Line 16"/>
              <p:cNvSpPr>
                <a:spLocks noChangeShapeType="1"/>
              </p:cNvSpPr>
              <p:nvPr>
                <p:custDataLst>
                  <p:tags r:id="rId34"/>
                </p:custDataLst>
              </p:nvPr>
            </p:nvSpPr>
            <p:spPr bwMode="auto">
              <a:xfrm>
                <a:off x="2828" y="3121"/>
                <a:ext cx="0" cy="1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0" name="Text Box 17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1125" y="2352"/>
              <a:ext cx="2962" cy="2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dirty="0" smtClean="0">
                  <a:solidFill>
                    <a:schemeClr val="tx1"/>
                  </a:solidFill>
                  <a:ea typeface="宋体" pitchFamily="2" charset="-122"/>
                </a:rPr>
                <a:t>0x23           </a:t>
              </a:r>
              <a:r>
                <a:rPr lang="en-US" altLang="zh-CN" dirty="0">
                  <a:solidFill>
                    <a:schemeClr val="tx1"/>
                  </a:solidFill>
                  <a:ea typeface="宋体" pitchFamily="2" charset="-122"/>
                </a:rPr>
                <a:t>18       </a:t>
              </a:r>
              <a:r>
                <a:rPr lang="en-US" altLang="zh-CN" dirty="0" smtClean="0">
                  <a:solidFill>
                    <a:schemeClr val="tx1"/>
                  </a:solidFill>
                  <a:ea typeface="宋体" pitchFamily="2" charset="-122"/>
                </a:rPr>
                <a:t>     </a:t>
              </a:r>
              <a:r>
                <a:rPr lang="en-US" altLang="zh-CN" dirty="0">
                  <a:solidFill>
                    <a:schemeClr val="tx1"/>
                  </a:solidFill>
                  <a:ea typeface="宋体" pitchFamily="2" charset="-122"/>
                </a:rPr>
                <a:t>8                   </a:t>
              </a:r>
              <a:r>
                <a:rPr lang="en-US" altLang="zh-CN" dirty="0" smtClean="0">
                  <a:solidFill>
                    <a:schemeClr val="tx1"/>
                  </a:solidFill>
                  <a:ea typeface="宋体" pitchFamily="2" charset="-122"/>
                </a:rPr>
                <a:t>      24</a:t>
              </a:r>
              <a:r>
                <a:rPr lang="en-US" altLang="zh-CN" baseline="-25000" dirty="0" smtClean="0">
                  <a:solidFill>
                    <a:schemeClr val="tx1"/>
                  </a:solidFill>
                  <a:ea typeface="宋体" pitchFamily="2" charset="-122"/>
                </a:rPr>
                <a:t>ten</a:t>
              </a:r>
              <a:endParaRPr lang="en-US" altLang="zh-CN" baseline="-25000" dirty="0">
                <a:solidFill>
                  <a:schemeClr val="tx1"/>
                </a:solidFill>
                <a:ea typeface="宋体" pitchFamily="2" charset="-122"/>
              </a:endParaRPr>
            </a:p>
          </p:txBody>
        </p:sp>
      </p:grpSp>
      <p:grpSp>
        <p:nvGrpSpPr>
          <p:cNvPr id="65" name="Group 18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1785918" y="3357562"/>
            <a:ext cx="5791200" cy="366712"/>
            <a:chOff x="1008" y="2736"/>
            <a:chExt cx="3648" cy="231"/>
          </a:xfrm>
        </p:grpSpPr>
        <p:grpSp>
          <p:nvGrpSpPr>
            <p:cNvPr id="66" name="Group 19"/>
            <p:cNvGrpSpPr>
              <a:grpSpLocks/>
            </p:cNvGrpSpPr>
            <p:nvPr/>
          </p:nvGrpSpPr>
          <p:grpSpPr bwMode="auto">
            <a:xfrm>
              <a:off x="1008" y="2736"/>
              <a:ext cx="3648" cy="184"/>
              <a:chOff x="1008" y="3120"/>
              <a:chExt cx="3648" cy="184"/>
            </a:xfrm>
          </p:grpSpPr>
          <p:sp>
            <p:nvSpPr>
              <p:cNvPr id="68" name="Rectangle 20"/>
              <p:cNvSpPr>
                <a:spLocks noChangeArrowheads="1"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1008" y="3120"/>
                <a:ext cx="3648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9" name="Line 21"/>
              <p:cNvSpPr>
                <a:spLocks noChangeShapeType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1680" y="3120"/>
                <a:ext cx="0" cy="1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Line 22"/>
              <p:cNvSpPr>
                <a:spLocks noChangeShapeType="1"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2252" y="3121"/>
                <a:ext cx="0" cy="1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" name="Line 23"/>
              <p:cNvSpPr>
                <a:spLocks noChangeShapeType="1"/>
              </p:cNvSpPr>
              <p:nvPr>
                <p:custDataLst>
                  <p:tags r:id="rId29"/>
                </p:custDataLst>
              </p:nvPr>
            </p:nvSpPr>
            <p:spPr bwMode="auto">
              <a:xfrm>
                <a:off x="2828" y="3121"/>
                <a:ext cx="0" cy="1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7" name="Text Box 24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1056" y="2736"/>
              <a:ext cx="3600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dirty="0">
                  <a:solidFill>
                    <a:schemeClr val="tx1"/>
                  </a:solidFill>
                  <a:ea typeface="宋体" pitchFamily="2" charset="-122"/>
                </a:rPr>
                <a:t>100011    10010    01000           0000000000011000</a:t>
              </a:r>
            </a:p>
          </p:txBody>
        </p:sp>
      </p:grpSp>
      <p:grpSp>
        <p:nvGrpSpPr>
          <p:cNvPr id="72" name="Group 18"/>
          <p:cNvGrpSpPr>
            <a:grpSpLocks/>
          </p:cNvGrpSpPr>
          <p:nvPr>
            <p:custDataLst>
              <p:tags r:id="rId13"/>
            </p:custDataLst>
          </p:nvPr>
        </p:nvGrpSpPr>
        <p:grpSpPr bwMode="auto">
          <a:xfrm>
            <a:off x="1781196" y="5276865"/>
            <a:ext cx="5791200" cy="366713"/>
            <a:chOff x="1008" y="2736"/>
            <a:chExt cx="3648" cy="231"/>
          </a:xfrm>
        </p:grpSpPr>
        <p:grpSp>
          <p:nvGrpSpPr>
            <p:cNvPr id="73" name="Group 19"/>
            <p:cNvGrpSpPr>
              <a:grpSpLocks/>
            </p:cNvGrpSpPr>
            <p:nvPr/>
          </p:nvGrpSpPr>
          <p:grpSpPr bwMode="auto">
            <a:xfrm>
              <a:off x="1008" y="2736"/>
              <a:ext cx="3648" cy="184"/>
              <a:chOff x="1008" y="3120"/>
              <a:chExt cx="3648" cy="184"/>
            </a:xfrm>
          </p:grpSpPr>
          <p:sp>
            <p:nvSpPr>
              <p:cNvPr id="75" name="Rectangle 20"/>
              <p:cNvSpPr>
                <a:spLocks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1008" y="3120"/>
                <a:ext cx="3648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" name="Line 21"/>
              <p:cNvSpPr>
                <a:spLocks noChangeShapeType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1680" y="3120"/>
                <a:ext cx="0" cy="1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Line 22"/>
              <p:cNvSpPr>
                <a:spLocks noChangeShapeType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2252" y="3121"/>
                <a:ext cx="0" cy="1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Line 23"/>
              <p:cNvSpPr>
                <a:spLocks noChangeShapeType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2828" y="3121"/>
                <a:ext cx="0" cy="1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4" name="Text Box 24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1056" y="2736"/>
              <a:ext cx="3600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dirty="0">
                  <a:solidFill>
                    <a:schemeClr val="tx1"/>
                  </a:solidFill>
                  <a:ea typeface="宋体" pitchFamily="2" charset="-122"/>
                </a:rPr>
                <a:t>101011    10010    01000          0000000000011000</a:t>
              </a:r>
            </a:p>
          </p:txBody>
        </p:sp>
      </p:grpSp>
      <p:grpSp>
        <p:nvGrpSpPr>
          <p:cNvPr id="79" name="Group 11"/>
          <p:cNvGrpSpPr>
            <a:grpSpLocks/>
          </p:cNvGrpSpPr>
          <p:nvPr>
            <p:custDataLst>
              <p:tags r:id="rId14"/>
            </p:custDataLst>
          </p:nvPr>
        </p:nvGrpSpPr>
        <p:grpSpPr bwMode="auto">
          <a:xfrm>
            <a:off x="1781196" y="5845194"/>
            <a:ext cx="5791200" cy="369888"/>
            <a:chOff x="1008" y="2352"/>
            <a:chExt cx="3648" cy="233"/>
          </a:xfrm>
        </p:grpSpPr>
        <p:grpSp>
          <p:nvGrpSpPr>
            <p:cNvPr id="80" name="Group 12"/>
            <p:cNvGrpSpPr>
              <a:grpSpLocks/>
            </p:cNvGrpSpPr>
            <p:nvPr/>
          </p:nvGrpSpPr>
          <p:grpSpPr bwMode="auto">
            <a:xfrm>
              <a:off x="1008" y="2352"/>
              <a:ext cx="3648" cy="184"/>
              <a:chOff x="1008" y="3120"/>
              <a:chExt cx="3648" cy="184"/>
            </a:xfrm>
          </p:grpSpPr>
          <p:sp>
            <p:nvSpPr>
              <p:cNvPr id="82" name="Rectangle 13"/>
              <p:cNvSpPr>
                <a:spLocks noChangeArrowheads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1008" y="3120"/>
                <a:ext cx="3648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3" name="Line 14"/>
              <p:cNvSpPr>
                <a:spLocks noChangeShapeType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1680" y="3120"/>
                <a:ext cx="0" cy="1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" name="Line 15"/>
              <p:cNvSpPr>
                <a:spLocks noChangeShapeType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2252" y="3121"/>
                <a:ext cx="0" cy="1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" name="Line 16"/>
              <p:cNvSpPr>
                <a:spLocks noChangeShapeType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2828" y="3121"/>
                <a:ext cx="0" cy="1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1" name="Text Box 17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167" y="2352"/>
              <a:ext cx="2706" cy="2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dirty="0" smtClean="0">
                  <a:solidFill>
                    <a:schemeClr val="tx1"/>
                  </a:solidFill>
                  <a:ea typeface="宋体" pitchFamily="2" charset="-122"/>
                </a:rPr>
                <a:t>0x2B           </a:t>
              </a:r>
              <a:r>
                <a:rPr lang="en-US" altLang="zh-CN" dirty="0">
                  <a:solidFill>
                    <a:schemeClr val="tx1"/>
                  </a:solidFill>
                  <a:ea typeface="宋体" pitchFamily="2" charset="-122"/>
                </a:rPr>
                <a:t>18        </a:t>
              </a:r>
              <a:r>
                <a:rPr lang="en-US" altLang="zh-CN" dirty="0" smtClean="0">
                  <a:solidFill>
                    <a:schemeClr val="tx1"/>
                  </a:solidFill>
                  <a:ea typeface="宋体" pitchFamily="2" charset="-122"/>
                </a:rPr>
                <a:t>  </a:t>
              </a:r>
              <a:r>
                <a:rPr lang="en-US" altLang="zh-CN" dirty="0">
                  <a:solidFill>
                    <a:schemeClr val="tx1"/>
                  </a:solidFill>
                  <a:ea typeface="宋体" pitchFamily="2" charset="-122"/>
                </a:rPr>
                <a:t>8                   </a:t>
              </a:r>
              <a:r>
                <a:rPr lang="en-US" altLang="zh-CN" dirty="0" smtClean="0">
                  <a:solidFill>
                    <a:schemeClr val="tx1"/>
                  </a:solidFill>
                  <a:ea typeface="宋体" pitchFamily="2" charset="-122"/>
                </a:rPr>
                <a:t>   24</a:t>
              </a:r>
              <a:r>
                <a:rPr lang="en-US" altLang="zh-CN" baseline="-25000" dirty="0" smtClean="0">
                  <a:solidFill>
                    <a:schemeClr val="tx1"/>
                  </a:solidFill>
                  <a:ea typeface="宋体" pitchFamily="2" charset="-122"/>
                </a:rPr>
                <a:t>ten</a:t>
              </a:r>
              <a:endParaRPr lang="en-US" altLang="zh-CN" baseline="-25000" dirty="0">
                <a:solidFill>
                  <a:schemeClr val="tx1"/>
                </a:solidFill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8241756"/>
      </p:ext>
    </p:extLst>
  </p:cSld>
  <p:clrMapOvr>
    <a:masterClrMapping/>
  </p:clrMapOvr>
  <p:transition advTm="2000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Rectangle 2"/>
          <p:cNvSpPr>
            <a:spLocks noGrp="1" noChangeArrowheads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571472" y="3571876"/>
            <a:ext cx="8286808" cy="2699713"/>
          </a:xfrm>
          <a:noFill/>
          <a:ln/>
        </p:spPr>
        <p:txBody>
          <a:bodyPr lIns="90488" tIns="44450" rIns="90488" bIns="44450"/>
          <a:lstStyle/>
          <a:p>
            <a:pPr marL="342900" indent="-342900"/>
            <a:r>
              <a:rPr lang="en-US" altLang="zh-CN" dirty="0" smtClean="0">
                <a:ea typeface="宋体" pitchFamily="2" charset="-122"/>
              </a:rPr>
              <a:t>A </a:t>
            </a:r>
            <a:r>
              <a:rPr lang="en-US" altLang="zh-CN" dirty="0">
                <a:ea typeface="宋体" pitchFamily="2" charset="-122"/>
              </a:rPr>
              <a:t>16-bit offset </a:t>
            </a:r>
            <a:r>
              <a:rPr lang="en-US" altLang="zh-CN" dirty="0" smtClean="0">
                <a:ea typeface="宋体" pitchFamily="2" charset="-122"/>
              </a:rPr>
              <a:t>means, for loads and stores, that </a:t>
            </a:r>
            <a:r>
              <a:rPr lang="en-US" altLang="zh-CN" dirty="0">
                <a:ea typeface="宋体" pitchFamily="2" charset="-122"/>
              </a:rPr>
              <a:t>access is limited to memory locations within a range of </a:t>
            </a:r>
            <a:r>
              <a:rPr lang="en-US" altLang="zh-CN" dirty="0" smtClean="0">
                <a:ea typeface="宋体" pitchFamily="2" charset="-122"/>
              </a:rPr>
              <a:t> +2</a:t>
            </a:r>
            <a:r>
              <a:rPr lang="en-US" altLang="zh-CN" baseline="30000" dirty="0" smtClean="0">
                <a:ea typeface="宋体" pitchFamily="2" charset="-122"/>
              </a:rPr>
              <a:t>13 </a:t>
            </a:r>
            <a:r>
              <a:rPr lang="en-US" altLang="zh-CN" dirty="0" smtClean="0">
                <a:ea typeface="宋体" pitchFamily="2" charset="-122"/>
              </a:rPr>
              <a:t>- 1  </a:t>
            </a:r>
            <a:r>
              <a:rPr lang="en-US" altLang="zh-CN" dirty="0">
                <a:ea typeface="宋体" pitchFamily="2" charset="-122"/>
              </a:rPr>
              <a:t>to  </a:t>
            </a:r>
            <a:r>
              <a:rPr lang="en-US" altLang="zh-CN" dirty="0" smtClean="0"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-2</a:t>
            </a:r>
            <a:r>
              <a:rPr lang="en-US" altLang="zh-CN" baseline="30000" dirty="0">
                <a:ea typeface="宋体" pitchFamily="2" charset="-122"/>
              </a:rPr>
              <a:t>13</a:t>
            </a:r>
            <a:r>
              <a:rPr lang="en-US" altLang="zh-CN" dirty="0">
                <a:ea typeface="宋体" pitchFamily="2" charset="-122"/>
              </a:rPr>
              <a:t> (~8,192) </a:t>
            </a:r>
            <a:r>
              <a:rPr lang="en-US" altLang="zh-CN" dirty="0">
                <a:solidFill>
                  <a:schemeClr val="accent1"/>
                </a:solidFill>
                <a:ea typeface="宋体" pitchFamily="2" charset="-122"/>
              </a:rPr>
              <a:t>words</a:t>
            </a:r>
            <a:r>
              <a:rPr lang="en-US" altLang="zh-CN" dirty="0">
                <a:ea typeface="宋体" pitchFamily="2" charset="-122"/>
              </a:rPr>
              <a:t> (</a:t>
            </a:r>
            <a:r>
              <a:rPr lang="en-US" altLang="zh-CN" dirty="0">
                <a:ea typeface="宋体" pitchFamily="2" charset="-122"/>
                <a:sym typeface="Symbol" pitchFamily="18" charset="2"/>
              </a:rPr>
              <a:t>+</a:t>
            </a:r>
            <a:r>
              <a:rPr lang="en-US" altLang="zh-CN" dirty="0" smtClean="0">
                <a:ea typeface="宋体" pitchFamily="2" charset="-122"/>
              </a:rPr>
              <a:t>2</a:t>
            </a:r>
            <a:r>
              <a:rPr lang="en-US" altLang="zh-CN" baseline="30000" dirty="0" smtClean="0">
                <a:ea typeface="宋体" pitchFamily="2" charset="-122"/>
              </a:rPr>
              <a:t>15 </a:t>
            </a:r>
            <a:r>
              <a:rPr lang="en-US" altLang="zh-CN" dirty="0" smtClean="0">
                <a:ea typeface="宋体" pitchFamily="2" charset="-122"/>
              </a:rPr>
              <a:t>- 1 </a:t>
            </a:r>
            <a:r>
              <a:rPr lang="en-US" altLang="zh-CN" dirty="0">
                <a:ea typeface="宋体" pitchFamily="2" charset="-122"/>
              </a:rPr>
              <a:t>to -2</a:t>
            </a:r>
            <a:r>
              <a:rPr lang="en-US" altLang="zh-CN" baseline="30000" dirty="0">
                <a:ea typeface="宋体" pitchFamily="2" charset="-122"/>
              </a:rPr>
              <a:t>15</a:t>
            </a:r>
            <a:r>
              <a:rPr lang="en-US" altLang="zh-CN" dirty="0">
                <a:ea typeface="宋体" pitchFamily="2" charset="-122"/>
              </a:rPr>
              <a:t> (~32,768) </a:t>
            </a:r>
            <a:r>
              <a:rPr lang="en-US" altLang="zh-CN" dirty="0">
                <a:solidFill>
                  <a:schemeClr val="accent1"/>
                </a:solidFill>
                <a:ea typeface="宋体" pitchFamily="2" charset="-122"/>
              </a:rPr>
              <a:t>bytes</a:t>
            </a:r>
            <a:r>
              <a:rPr lang="en-US" altLang="zh-CN" dirty="0">
                <a:ea typeface="宋体" pitchFamily="2" charset="-122"/>
              </a:rPr>
              <a:t>) of the address in the base </a:t>
            </a:r>
            <a:r>
              <a:rPr lang="en-US" altLang="zh-CN" dirty="0" smtClean="0">
                <a:ea typeface="宋体" pitchFamily="2" charset="-122"/>
              </a:rPr>
              <a:t>register</a:t>
            </a:r>
            <a:endParaRPr lang="en-US" altLang="zh-CN" dirty="0">
              <a:latin typeface="Courier New" pitchFamily="49" charset="0"/>
              <a:ea typeface="宋体" pitchFamily="2" charset="-122"/>
            </a:endParaRPr>
          </a:p>
          <a:p>
            <a:pPr marL="742950" lvl="1" indent="-285750">
              <a:lnSpc>
                <a:spcPct val="85000"/>
              </a:lnSpc>
            </a:pPr>
            <a:r>
              <a:rPr lang="en-US" altLang="zh-CN" dirty="0" smtClean="0">
                <a:ea typeface="宋体" pitchFamily="2" charset="-122"/>
              </a:rPr>
              <a:t>two’s </a:t>
            </a:r>
            <a:r>
              <a:rPr lang="en-US" altLang="zh-CN" dirty="0">
                <a:ea typeface="宋体" pitchFamily="2" charset="-122"/>
              </a:rPr>
              <a:t>complement (1 sign bit + 15 magnitude bits</a:t>
            </a:r>
            <a:r>
              <a:rPr lang="en-US" altLang="zh-CN" dirty="0" smtClean="0">
                <a:ea typeface="宋体" pitchFamily="2" charset="-122"/>
              </a:rPr>
              <a:t>)</a:t>
            </a:r>
          </a:p>
          <a:p>
            <a:pPr marL="1147762" lvl="2" indent="-285750">
              <a:lnSpc>
                <a:spcPct val="85000"/>
              </a:lnSpc>
            </a:pPr>
            <a:endParaRPr lang="en-US" altLang="zh-CN" dirty="0" smtClean="0">
              <a:ea typeface="宋体" pitchFamily="2" charset="-122"/>
            </a:endParaRPr>
          </a:p>
          <a:p>
            <a:pPr marL="288925" indent="-285750">
              <a:lnSpc>
                <a:spcPct val="85000"/>
              </a:lnSpc>
            </a:pPr>
            <a:r>
              <a:rPr lang="en-US" dirty="0" smtClean="0"/>
              <a:t>And limits immediate values to the range +2</a:t>
            </a:r>
            <a:r>
              <a:rPr lang="en-US" baseline="30000" dirty="0" smtClean="0"/>
              <a:t>15 </a:t>
            </a:r>
            <a:r>
              <a:rPr lang="en-US" altLang="zh-CN" dirty="0" smtClean="0">
                <a:ea typeface="宋体" pitchFamily="2" charset="-122"/>
              </a:rPr>
              <a:t>-</a:t>
            </a:r>
            <a:r>
              <a:rPr lang="en-US" dirty="0" smtClean="0"/>
              <a:t> 1  to  -2</a:t>
            </a:r>
            <a:r>
              <a:rPr lang="en-US" baseline="30000" dirty="0" smtClean="0"/>
              <a:t>15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242691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25425" y="312738"/>
            <a:ext cx="2817813" cy="4778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2692" name="Rectangle 4"/>
          <p:cNvSpPr>
            <a:spLocks noGrp="1" noChangeArrowheads="1"/>
          </p:cNvSpPr>
          <p:nvPr>
            <p:ph type="title"/>
            <p:custDataLst>
              <p:tags r:id="rId3"/>
            </p:custDataLst>
          </p:nvPr>
        </p:nvSpPr>
        <p:spPr>
          <a:xfrm>
            <a:off x="685800" y="285728"/>
            <a:ext cx="7342188" cy="464614"/>
          </a:xfrm>
          <a:noFill/>
          <a:ln/>
        </p:spPr>
        <p:txBody>
          <a:bodyPr lIns="90488" tIns="44450" rIns="90488" bIns="44450" anchor="ctr"/>
          <a:lstStyle/>
          <a:p>
            <a:r>
              <a:rPr lang="en-US" altLang="zh-CN" dirty="0" smtClean="0">
                <a:ea typeface="宋体" pitchFamily="2" charset="-122"/>
              </a:rPr>
              <a:t>Representing Instructions in the Machine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25" name="Rectangle 2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33442" y="857232"/>
            <a:ext cx="8153400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q"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Immediate instructions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ea typeface="宋体" pitchFamily="2" charset="-122"/>
              <a:cs typeface="+mn-cs"/>
            </a:endParaRPr>
          </a:p>
        </p:txBody>
      </p:sp>
      <p:sp>
        <p:nvSpPr>
          <p:cNvPr id="26" name="AutoShape 21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357686" y="1857364"/>
            <a:ext cx="381000" cy="152400"/>
          </a:xfrm>
          <a:prstGeom prst="downArrow">
            <a:avLst>
              <a:gd name="adj1" fmla="val 50000"/>
              <a:gd name="adj2" fmla="val 25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Rectangle 2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990600" y="1428736"/>
            <a:ext cx="7367614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ctr">
              <a:spcBef>
                <a:spcPct val="30000"/>
              </a:spcBef>
              <a:buClr>
                <a:schemeClr val="accent1"/>
              </a:buClr>
              <a:buSzPct val="75000"/>
            </a:pPr>
            <a:r>
              <a:rPr lang="en-US" sz="2400" dirty="0" err="1" smtClean="0">
                <a:solidFill>
                  <a:schemeClr val="tx1"/>
                </a:solidFill>
                <a:latin typeface="Courier New" pitchFamily="49" charset="0"/>
              </a:rPr>
              <a:t>addi</a:t>
            </a:r>
            <a:r>
              <a:rPr lang="en-US" sz="2400" dirty="0" smtClean="0">
                <a:solidFill>
                  <a:schemeClr val="tx1"/>
                </a:solidFill>
                <a:latin typeface="Courier New" pitchFamily="49" charset="0"/>
              </a:rPr>
              <a:t>	$t0, $s2, 4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grpSp>
        <p:nvGrpSpPr>
          <p:cNvPr id="35" name="Group 18"/>
          <p:cNvGrpSpPr>
            <a:grpSpLocks/>
          </p:cNvGrpSpPr>
          <p:nvPr>
            <p:custDataLst>
              <p:tags r:id="rId7"/>
            </p:custDataLst>
          </p:nvPr>
        </p:nvGrpSpPr>
        <p:grpSpPr bwMode="auto">
          <a:xfrm>
            <a:off x="1785918" y="2071678"/>
            <a:ext cx="5791200" cy="366712"/>
            <a:chOff x="1008" y="2736"/>
            <a:chExt cx="3648" cy="231"/>
          </a:xfrm>
        </p:grpSpPr>
        <p:grpSp>
          <p:nvGrpSpPr>
            <p:cNvPr id="36" name="Group 19"/>
            <p:cNvGrpSpPr>
              <a:grpSpLocks/>
            </p:cNvGrpSpPr>
            <p:nvPr/>
          </p:nvGrpSpPr>
          <p:grpSpPr bwMode="auto">
            <a:xfrm>
              <a:off x="1008" y="2736"/>
              <a:ext cx="3648" cy="184"/>
              <a:chOff x="1008" y="3120"/>
              <a:chExt cx="3648" cy="184"/>
            </a:xfrm>
          </p:grpSpPr>
          <p:sp>
            <p:nvSpPr>
              <p:cNvPr id="38" name="Rectangle 20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008" y="3120"/>
                <a:ext cx="3648" cy="18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" name="Line 21"/>
              <p:cNvSpPr>
                <a:spLocks noChangeShapeType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1680" y="3120"/>
                <a:ext cx="0" cy="1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Line 22"/>
              <p:cNvSpPr>
                <a:spLocks noChangeShapeType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2252" y="3121"/>
                <a:ext cx="0" cy="1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Line 23"/>
              <p:cNvSpPr>
                <a:spLocks noChangeShapeType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2828" y="3121"/>
                <a:ext cx="0" cy="1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7" name="Text Box 24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056" y="2736"/>
              <a:ext cx="3600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dirty="0" smtClean="0">
                  <a:solidFill>
                    <a:schemeClr val="tx1"/>
                  </a:solidFill>
                  <a:ea typeface="宋体" pitchFamily="2" charset="-122"/>
                </a:rPr>
                <a:t>001000    </a:t>
              </a:r>
              <a:r>
                <a:rPr lang="en-US" altLang="zh-CN" dirty="0">
                  <a:solidFill>
                    <a:schemeClr val="tx1"/>
                  </a:solidFill>
                  <a:ea typeface="宋体" pitchFamily="2" charset="-122"/>
                </a:rPr>
                <a:t>10010    01000         </a:t>
              </a:r>
              <a:r>
                <a:rPr lang="en-US" altLang="zh-CN" dirty="0" smtClean="0">
                  <a:solidFill>
                    <a:schemeClr val="tx1"/>
                  </a:solidFill>
                  <a:ea typeface="宋体" pitchFamily="2" charset="-122"/>
                </a:rPr>
                <a:t> 0000000000000100</a:t>
              </a:r>
              <a:endParaRPr lang="en-US" altLang="zh-CN" dirty="0">
                <a:solidFill>
                  <a:schemeClr val="tx1"/>
                </a:solidFill>
                <a:ea typeface="宋体" pitchFamily="2" charset="-122"/>
              </a:endParaRPr>
            </a:p>
          </p:txBody>
        </p:sp>
      </p:grpSp>
      <p:grpSp>
        <p:nvGrpSpPr>
          <p:cNvPr id="42" name="Group 22"/>
          <p:cNvGrpSpPr>
            <a:grpSpLocks/>
          </p:cNvGrpSpPr>
          <p:nvPr/>
        </p:nvGrpSpPr>
        <p:grpSpPr bwMode="auto">
          <a:xfrm>
            <a:off x="1781196" y="2643182"/>
            <a:ext cx="5791200" cy="369888"/>
            <a:chOff x="912" y="2304"/>
            <a:chExt cx="3648" cy="233"/>
          </a:xfrm>
        </p:grpSpPr>
        <p:sp>
          <p:nvSpPr>
            <p:cNvPr id="43" name="Rectangle 5"/>
            <p:cNvSpPr>
              <a:spLocks noChangeArrowheads="1"/>
            </p:cNvSpPr>
            <p:nvPr/>
          </p:nvSpPr>
          <p:spPr bwMode="auto">
            <a:xfrm>
              <a:off x="912" y="2313"/>
              <a:ext cx="3648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4" name="Line 6"/>
            <p:cNvSpPr>
              <a:spLocks noChangeShapeType="1"/>
            </p:cNvSpPr>
            <p:nvPr/>
          </p:nvSpPr>
          <p:spPr bwMode="auto">
            <a:xfrm>
              <a:off x="1584" y="2313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5" name="Text Box 7"/>
            <p:cNvSpPr txBox="1">
              <a:spLocks noChangeArrowheads="1"/>
            </p:cNvSpPr>
            <p:nvPr/>
          </p:nvSpPr>
          <p:spPr bwMode="auto">
            <a:xfrm>
              <a:off x="1104" y="2304"/>
              <a:ext cx="2855" cy="2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chemeClr val="tx1"/>
                  </a:solidFill>
                </a:rPr>
                <a:t>0x08        18          8                             4</a:t>
              </a:r>
              <a:r>
                <a:rPr lang="en-US" baseline="-25000" dirty="0" smtClean="0">
                  <a:solidFill>
                    <a:schemeClr val="tx1"/>
                  </a:solidFill>
                </a:rPr>
                <a:t>ten</a:t>
              </a:r>
              <a:endParaRPr lang="en-US" baseline="-25000" dirty="0">
                <a:solidFill>
                  <a:schemeClr val="tx1"/>
                </a:solidFill>
              </a:endParaRPr>
            </a:p>
          </p:txBody>
        </p:sp>
        <p:sp>
          <p:nvSpPr>
            <p:cNvPr id="46" name="Line 13"/>
            <p:cNvSpPr>
              <a:spLocks noChangeShapeType="1"/>
            </p:cNvSpPr>
            <p:nvPr/>
          </p:nvSpPr>
          <p:spPr bwMode="auto">
            <a:xfrm>
              <a:off x="2160" y="2313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7" name="Line 14"/>
            <p:cNvSpPr>
              <a:spLocks noChangeShapeType="1"/>
            </p:cNvSpPr>
            <p:nvPr/>
          </p:nvSpPr>
          <p:spPr bwMode="auto">
            <a:xfrm>
              <a:off x="2736" y="2313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35779089"/>
      </p:ext>
    </p:extLst>
  </p:cSld>
  <p:clrMapOvr>
    <a:masterClrMapping/>
  </p:clrMapOvr>
  <p:transition advTm="2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690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672414" cy="426142"/>
          </a:xfrm>
        </p:spPr>
        <p:txBody>
          <a:bodyPr/>
          <a:lstStyle/>
          <a:p>
            <a:r>
              <a:rPr lang="en-US" dirty="0" smtClean="0"/>
              <a:t>Assemble these … (in hex)</a:t>
            </a:r>
            <a:endParaRPr lang="en-US" dirty="0"/>
          </a:p>
        </p:txBody>
      </p:sp>
      <p:sp>
        <p:nvSpPr>
          <p:cNvPr id="4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571604" y="2071678"/>
            <a:ext cx="6000792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ctr">
              <a:spcBef>
                <a:spcPct val="30000"/>
              </a:spcBef>
              <a:buClr>
                <a:schemeClr val="accent1"/>
              </a:buClr>
              <a:buSzPct val="75000"/>
            </a:pPr>
            <a:r>
              <a:rPr lang="en-US" sz="2400" dirty="0" smtClean="0">
                <a:solidFill>
                  <a:schemeClr val="tx1"/>
                </a:solidFill>
                <a:latin typeface="Courier New" pitchFamily="49" charset="0"/>
              </a:rPr>
              <a:t>add	$t0, $s3, $zero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1714480" y="2643182"/>
            <a:ext cx="5791200" cy="292101"/>
            <a:chOff x="1785918" y="1785926"/>
            <a:chExt cx="5791200" cy="292101"/>
          </a:xfrm>
        </p:grpSpPr>
        <p:sp>
          <p:nvSpPr>
            <p:cNvPr id="8" name="Rectangle 20"/>
            <p:cNvSpPr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1785918" y="1785926"/>
              <a:ext cx="5791200" cy="2921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Line 21"/>
            <p:cNvSpPr>
              <a:spLocks noChangeShapeType="1"/>
            </p:cNvSpPr>
            <p:nvPr>
              <p:custDataLst>
                <p:tags r:id="rId31"/>
              </p:custDataLst>
            </p:nvPr>
          </p:nvSpPr>
          <p:spPr bwMode="auto">
            <a:xfrm>
              <a:off x="2852718" y="1785926"/>
              <a:ext cx="0" cy="2905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22"/>
            <p:cNvSpPr>
              <a:spLocks noChangeShapeType="1"/>
            </p:cNvSpPr>
            <p:nvPr>
              <p:custDataLst>
                <p:tags r:id="rId32"/>
              </p:custDataLst>
            </p:nvPr>
          </p:nvSpPr>
          <p:spPr bwMode="auto">
            <a:xfrm>
              <a:off x="3760768" y="1787514"/>
              <a:ext cx="0" cy="2905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23"/>
            <p:cNvSpPr>
              <a:spLocks noChangeShapeType="1"/>
            </p:cNvSpPr>
            <p:nvPr>
              <p:custDataLst>
                <p:tags r:id="rId33"/>
              </p:custDataLst>
            </p:nvPr>
          </p:nvSpPr>
          <p:spPr bwMode="auto">
            <a:xfrm>
              <a:off x="4675168" y="1787514"/>
              <a:ext cx="0" cy="2905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23"/>
            <p:cNvSpPr>
              <a:spLocks noChangeShapeType="1"/>
            </p:cNvSpPr>
            <p:nvPr>
              <p:custDataLst>
                <p:tags r:id="rId34"/>
              </p:custDataLst>
            </p:nvPr>
          </p:nvSpPr>
          <p:spPr bwMode="auto">
            <a:xfrm>
              <a:off x="5572106" y="1785926"/>
              <a:ext cx="0" cy="290513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23"/>
            <p:cNvSpPr>
              <a:spLocks noChangeShapeType="1"/>
            </p:cNvSpPr>
            <p:nvPr>
              <p:custDataLst>
                <p:tags r:id="rId35"/>
              </p:custDataLst>
            </p:nvPr>
          </p:nvSpPr>
          <p:spPr bwMode="auto">
            <a:xfrm>
              <a:off x="6500800" y="1785926"/>
              <a:ext cx="0" cy="290513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Rectangle 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14480" y="857232"/>
            <a:ext cx="5572164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ctr">
              <a:spcBef>
                <a:spcPct val="30000"/>
              </a:spcBef>
              <a:buClr>
                <a:schemeClr val="accent1"/>
              </a:buClr>
              <a:buSzPct val="75000"/>
            </a:pPr>
            <a:r>
              <a:rPr lang="en-US" sz="2400" dirty="0" smtClean="0">
                <a:solidFill>
                  <a:schemeClr val="tx1"/>
                </a:solidFill>
                <a:latin typeface="Courier New" pitchFamily="49" charset="0"/>
              </a:rPr>
              <a:t>sub	$t0, $s3, $s2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1714480" y="1500174"/>
            <a:ext cx="5791200" cy="292101"/>
            <a:chOff x="1785918" y="1785926"/>
            <a:chExt cx="5791200" cy="292101"/>
          </a:xfrm>
        </p:grpSpPr>
        <p:sp>
          <p:nvSpPr>
            <p:cNvPr id="17" name="Rectangle 20"/>
            <p:cNvSpPr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1785918" y="1785926"/>
              <a:ext cx="5791200" cy="2921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Line 21"/>
            <p:cNvSpPr>
              <a:spLocks noChangeShapeType="1"/>
            </p:cNvSpPr>
            <p:nvPr>
              <p:custDataLst>
                <p:tags r:id="rId25"/>
              </p:custDataLst>
            </p:nvPr>
          </p:nvSpPr>
          <p:spPr bwMode="auto">
            <a:xfrm>
              <a:off x="2852718" y="1785926"/>
              <a:ext cx="0" cy="2905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22"/>
            <p:cNvSpPr>
              <a:spLocks noChangeShapeType="1"/>
            </p:cNvSpPr>
            <p:nvPr>
              <p:custDataLst>
                <p:tags r:id="rId26"/>
              </p:custDataLst>
            </p:nvPr>
          </p:nvSpPr>
          <p:spPr bwMode="auto">
            <a:xfrm>
              <a:off x="3760768" y="1787514"/>
              <a:ext cx="0" cy="2905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23"/>
            <p:cNvSpPr>
              <a:spLocks noChangeShapeType="1"/>
            </p:cNvSpPr>
            <p:nvPr>
              <p:custDataLst>
                <p:tags r:id="rId27"/>
              </p:custDataLst>
            </p:nvPr>
          </p:nvSpPr>
          <p:spPr bwMode="auto">
            <a:xfrm>
              <a:off x="4675168" y="1787514"/>
              <a:ext cx="0" cy="2905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23"/>
            <p:cNvSpPr>
              <a:spLocks noChangeShapeType="1"/>
            </p:cNvSpPr>
            <p:nvPr>
              <p:custDataLst>
                <p:tags r:id="rId28"/>
              </p:custDataLst>
            </p:nvPr>
          </p:nvSpPr>
          <p:spPr bwMode="auto">
            <a:xfrm>
              <a:off x="5572106" y="1785926"/>
              <a:ext cx="0" cy="290513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23"/>
            <p:cNvSpPr>
              <a:spLocks noChangeShapeType="1"/>
            </p:cNvSpPr>
            <p:nvPr>
              <p:custDataLst>
                <p:tags r:id="rId29"/>
              </p:custDataLst>
            </p:nvPr>
          </p:nvSpPr>
          <p:spPr bwMode="auto">
            <a:xfrm>
              <a:off x="6500800" y="1785926"/>
              <a:ext cx="0" cy="290513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Rectangle 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571604" y="3214686"/>
            <a:ext cx="6000792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ctr">
              <a:spcBef>
                <a:spcPct val="30000"/>
              </a:spcBef>
              <a:buClr>
                <a:schemeClr val="accent1"/>
              </a:buClr>
              <a:buSzPct val="75000"/>
            </a:pPr>
            <a:r>
              <a:rPr lang="en-US" sz="2400" dirty="0" err="1" smtClean="0">
                <a:solidFill>
                  <a:schemeClr val="tx1"/>
                </a:solidFill>
                <a:latin typeface="Courier New" pitchFamily="49" charset="0"/>
              </a:rPr>
              <a:t>addi</a:t>
            </a:r>
            <a:r>
              <a:rPr lang="en-US" sz="2400" dirty="0" smtClean="0">
                <a:solidFill>
                  <a:schemeClr val="tx1"/>
                </a:solidFill>
                <a:latin typeface="Courier New" pitchFamily="49" charset="0"/>
              </a:rPr>
              <a:t>	$t0, $s3, -16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1714480" y="3786190"/>
            <a:ext cx="5791200" cy="292101"/>
            <a:chOff x="1785918" y="1785926"/>
            <a:chExt cx="5791200" cy="292101"/>
          </a:xfrm>
        </p:grpSpPr>
        <p:sp>
          <p:nvSpPr>
            <p:cNvPr id="25" name="Rectangle 20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1785918" y="1785926"/>
              <a:ext cx="5791200" cy="2921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Line 21"/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auto">
            <a:xfrm>
              <a:off x="2852718" y="1785926"/>
              <a:ext cx="0" cy="2905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22"/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>
              <a:off x="3760768" y="1787514"/>
              <a:ext cx="0" cy="2905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23"/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>
              <a:off x="4675168" y="1787514"/>
              <a:ext cx="0" cy="2905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23"/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>
              <a:off x="5572106" y="1785926"/>
              <a:ext cx="0" cy="290513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23"/>
            <p:cNvSpPr>
              <a:spLocks noChangeShapeType="1"/>
            </p:cNvSpPr>
            <p:nvPr>
              <p:custDataLst>
                <p:tags r:id="rId23"/>
              </p:custDataLst>
            </p:nvPr>
          </p:nvSpPr>
          <p:spPr bwMode="auto">
            <a:xfrm>
              <a:off x="6500800" y="1785926"/>
              <a:ext cx="0" cy="290513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" name="Rectangle 2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643042" y="4357694"/>
            <a:ext cx="6000792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ctr">
              <a:spcBef>
                <a:spcPct val="30000"/>
              </a:spcBef>
              <a:buClr>
                <a:schemeClr val="accent1"/>
              </a:buClr>
              <a:buSzPct val="75000"/>
            </a:pPr>
            <a:r>
              <a:rPr lang="en-US" altLang="zh-CN" sz="2400" dirty="0" err="1" smtClean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lw</a:t>
            </a:r>
            <a:r>
              <a:rPr lang="en-US" altLang="zh-CN" sz="2400" dirty="0" smtClean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$t0, 257($zero)</a:t>
            </a:r>
            <a:endParaRPr lang="en-US" altLang="zh-CN" sz="2000" kern="0" dirty="0" smtClean="0">
              <a:solidFill>
                <a:schemeClr val="tx1"/>
              </a:solidFill>
              <a:latin typeface="Courier New" pitchFamily="49" charset="0"/>
              <a:ea typeface="宋体" pitchFamily="2" charset="-122"/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1785918" y="4929198"/>
            <a:ext cx="5791200" cy="292101"/>
            <a:chOff x="1785918" y="1785926"/>
            <a:chExt cx="5791200" cy="292101"/>
          </a:xfrm>
        </p:grpSpPr>
        <p:sp>
          <p:nvSpPr>
            <p:cNvPr id="33" name="Rectangle 20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785918" y="1785926"/>
              <a:ext cx="5791200" cy="2921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Line 21"/>
            <p:cNvSpPr>
              <a:spLocks noChangeShapeType="1"/>
            </p:cNvSpPr>
            <p:nvPr>
              <p:custDataLst>
                <p:tags r:id="rId13"/>
              </p:custDataLst>
            </p:nvPr>
          </p:nvSpPr>
          <p:spPr bwMode="auto">
            <a:xfrm>
              <a:off x="2852718" y="1785926"/>
              <a:ext cx="0" cy="2905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22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>
              <a:off x="3760768" y="1787514"/>
              <a:ext cx="0" cy="2905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23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>
              <a:off x="4675168" y="1787514"/>
              <a:ext cx="0" cy="2905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23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>
              <a:off x="5572106" y="1785926"/>
              <a:ext cx="0" cy="290513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23"/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auto">
            <a:xfrm>
              <a:off x="6500800" y="1785926"/>
              <a:ext cx="0" cy="290513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" name="Rectangle 2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643042" y="5500702"/>
            <a:ext cx="6000792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ctr">
              <a:spcBef>
                <a:spcPct val="30000"/>
              </a:spcBef>
              <a:buClr>
                <a:schemeClr val="accent1"/>
              </a:buClr>
              <a:buSzPct val="75000"/>
            </a:pPr>
            <a:r>
              <a:rPr lang="en-US" altLang="zh-CN" sz="2400" dirty="0" err="1" smtClean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sw</a:t>
            </a:r>
            <a:r>
              <a:rPr lang="en-US" altLang="zh-CN" sz="2400" dirty="0" smtClean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$t0, -24($s3)</a:t>
            </a:r>
            <a:endParaRPr lang="en-US" altLang="zh-CN" sz="2000" kern="0" dirty="0" smtClean="0">
              <a:solidFill>
                <a:schemeClr val="tx1"/>
              </a:solidFill>
              <a:latin typeface="Courier New" pitchFamily="49" charset="0"/>
              <a:ea typeface="宋体" pitchFamily="2" charset="-122"/>
            </a:endParaRPr>
          </a:p>
        </p:txBody>
      </p:sp>
      <p:grpSp>
        <p:nvGrpSpPr>
          <p:cNvPr id="40" name="Group 39"/>
          <p:cNvGrpSpPr/>
          <p:nvPr/>
        </p:nvGrpSpPr>
        <p:grpSpPr>
          <a:xfrm>
            <a:off x="1785918" y="6072206"/>
            <a:ext cx="5791200" cy="292101"/>
            <a:chOff x="1785918" y="1785926"/>
            <a:chExt cx="5791200" cy="292101"/>
          </a:xfrm>
        </p:grpSpPr>
        <p:sp>
          <p:nvSpPr>
            <p:cNvPr id="41" name="Rectangle 20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785918" y="1785926"/>
              <a:ext cx="5791200" cy="2921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Line 21"/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>
              <a:off x="2852718" y="1785926"/>
              <a:ext cx="0" cy="2905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Line 22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>
              <a:off x="3760768" y="1787514"/>
              <a:ext cx="0" cy="2905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Line 23"/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>
              <a:off x="4675168" y="1787514"/>
              <a:ext cx="0" cy="2905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Line 23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>
              <a:off x="5572106" y="1785926"/>
              <a:ext cx="0" cy="290513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Line 23"/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>
              <a:off x="6500800" y="1785926"/>
              <a:ext cx="0" cy="290513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4514834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672414" cy="426142"/>
          </a:xfrm>
        </p:spPr>
        <p:txBody>
          <a:bodyPr/>
          <a:lstStyle/>
          <a:p>
            <a:r>
              <a:rPr lang="en-US" dirty="0" smtClean="0"/>
              <a:t>Assemble these … (in hex)</a:t>
            </a:r>
            <a:endParaRPr lang="en-US" dirty="0"/>
          </a:p>
        </p:txBody>
      </p:sp>
      <p:sp>
        <p:nvSpPr>
          <p:cNvPr id="4" name="Rectangle 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571604" y="2071678"/>
            <a:ext cx="6000792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ctr">
              <a:spcBef>
                <a:spcPct val="30000"/>
              </a:spcBef>
              <a:buClr>
                <a:schemeClr val="accent1"/>
              </a:buClr>
              <a:buSzPct val="75000"/>
            </a:pPr>
            <a:r>
              <a:rPr lang="en-US" sz="2400" dirty="0" smtClean="0">
                <a:solidFill>
                  <a:schemeClr val="tx1"/>
                </a:solidFill>
                <a:latin typeface="Courier New" pitchFamily="49" charset="0"/>
              </a:rPr>
              <a:t>add	$t0, $s3, $zero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grpSp>
        <p:nvGrpSpPr>
          <p:cNvPr id="3" name="Group 14"/>
          <p:cNvGrpSpPr/>
          <p:nvPr/>
        </p:nvGrpSpPr>
        <p:grpSpPr>
          <a:xfrm>
            <a:off x="1714480" y="2643182"/>
            <a:ext cx="5791200" cy="292101"/>
            <a:chOff x="1785918" y="1785926"/>
            <a:chExt cx="5791200" cy="292101"/>
          </a:xfrm>
        </p:grpSpPr>
        <p:sp>
          <p:nvSpPr>
            <p:cNvPr id="8" name="Rectangle 20"/>
            <p:cNvSpPr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1785918" y="1785926"/>
              <a:ext cx="5791200" cy="2921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Line 21"/>
            <p:cNvSpPr>
              <a:spLocks noChangeShapeType="1"/>
            </p:cNvSpPr>
            <p:nvPr>
              <p:custDataLst>
                <p:tags r:id="rId36"/>
              </p:custDataLst>
            </p:nvPr>
          </p:nvSpPr>
          <p:spPr bwMode="auto">
            <a:xfrm>
              <a:off x="2852718" y="1785926"/>
              <a:ext cx="0" cy="2905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22"/>
            <p:cNvSpPr>
              <a:spLocks noChangeShapeType="1"/>
            </p:cNvSpPr>
            <p:nvPr>
              <p:custDataLst>
                <p:tags r:id="rId37"/>
              </p:custDataLst>
            </p:nvPr>
          </p:nvSpPr>
          <p:spPr bwMode="auto">
            <a:xfrm>
              <a:off x="3760768" y="1787514"/>
              <a:ext cx="0" cy="2905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23"/>
            <p:cNvSpPr>
              <a:spLocks noChangeShapeType="1"/>
            </p:cNvSpPr>
            <p:nvPr>
              <p:custDataLst>
                <p:tags r:id="rId38"/>
              </p:custDataLst>
            </p:nvPr>
          </p:nvSpPr>
          <p:spPr bwMode="auto">
            <a:xfrm>
              <a:off x="4675168" y="1787514"/>
              <a:ext cx="0" cy="2905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23"/>
            <p:cNvSpPr>
              <a:spLocks noChangeShapeType="1"/>
            </p:cNvSpPr>
            <p:nvPr>
              <p:custDataLst>
                <p:tags r:id="rId39"/>
              </p:custDataLst>
            </p:nvPr>
          </p:nvSpPr>
          <p:spPr bwMode="auto">
            <a:xfrm>
              <a:off x="5572106" y="1785926"/>
              <a:ext cx="0" cy="290513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23"/>
            <p:cNvSpPr>
              <a:spLocks noChangeShapeType="1"/>
            </p:cNvSpPr>
            <p:nvPr>
              <p:custDataLst>
                <p:tags r:id="rId40"/>
              </p:custDataLst>
            </p:nvPr>
          </p:nvSpPr>
          <p:spPr bwMode="auto">
            <a:xfrm>
              <a:off x="6500800" y="1785926"/>
              <a:ext cx="0" cy="290513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Rectangle 2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14480" y="857232"/>
            <a:ext cx="5572164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ctr">
              <a:spcBef>
                <a:spcPct val="30000"/>
              </a:spcBef>
              <a:buClr>
                <a:schemeClr val="accent1"/>
              </a:buClr>
              <a:buSzPct val="75000"/>
            </a:pPr>
            <a:r>
              <a:rPr lang="en-US" sz="2400" dirty="0" smtClean="0">
                <a:solidFill>
                  <a:schemeClr val="tx1"/>
                </a:solidFill>
                <a:latin typeface="Courier New" pitchFamily="49" charset="0"/>
              </a:rPr>
              <a:t>sub	$t0, $s3, $s2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grpSp>
        <p:nvGrpSpPr>
          <p:cNvPr id="5" name="Group 15"/>
          <p:cNvGrpSpPr/>
          <p:nvPr/>
        </p:nvGrpSpPr>
        <p:grpSpPr>
          <a:xfrm>
            <a:off x="1714480" y="1500174"/>
            <a:ext cx="5791200" cy="292101"/>
            <a:chOff x="1785918" y="1785926"/>
            <a:chExt cx="5791200" cy="292101"/>
          </a:xfrm>
        </p:grpSpPr>
        <p:sp>
          <p:nvSpPr>
            <p:cNvPr id="17" name="Rectangle 20"/>
            <p:cNvSpPr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1785918" y="1785926"/>
              <a:ext cx="5791200" cy="2921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Line 21"/>
            <p:cNvSpPr>
              <a:spLocks noChangeShapeType="1"/>
            </p:cNvSpPr>
            <p:nvPr>
              <p:custDataLst>
                <p:tags r:id="rId30"/>
              </p:custDataLst>
            </p:nvPr>
          </p:nvSpPr>
          <p:spPr bwMode="auto">
            <a:xfrm>
              <a:off x="2852718" y="1785926"/>
              <a:ext cx="0" cy="2905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22"/>
            <p:cNvSpPr>
              <a:spLocks noChangeShapeType="1"/>
            </p:cNvSpPr>
            <p:nvPr>
              <p:custDataLst>
                <p:tags r:id="rId31"/>
              </p:custDataLst>
            </p:nvPr>
          </p:nvSpPr>
          <p:spPr bwMode="auto">
            <a:xfrm>
              <a:off x="3760768" y="1787514"/>
              <a:ext cx="0" cy="2905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23"/>
            <p:cNvSpPr>
              <a:spLocks noChangeShapeType="1"/>
            </p:cNvSpPr>
            <p:nvPr>
              <p:custDataLst>
                <p:tags r:id="rId32"/>
              </p:custDataLst>
            </p:nvPr>
          </p:nvSpPr>
          <p:spPr bwMode="auto">
            <a:xfrm>
              <a:off x="4675168" y="1787514"/>
              <a:ext cx="0" cy="2905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23"/>
            <p:cNvSpPr>
              <a:spLocks noChangeShapeType="1"/>
            </p:cNvSpPr>
            <p:nvPr>
              <p:custDataLst>
                <p:tags r:id="rId33"/>
              </p:custDataLst>
            </p:nvPr>
          </p:nvSpPr>
          <p:spPr bwMode="auto">
            <a:xfrm>
              <a:off x="5572106" y="1785926"/>
              <a:ext cx="0" cy="290513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23"/>
            <p:cNvSpPr>
              <a:spLocks noChangeShapeType="1"/>
            </p:cNvSpPr>
            <p:nvPr>
              <p:custDataLst>
                <p:tags r:id="rId34"/>
              </p:custDataLst>
            </p:nvPr>
          </p:nvSpPr>
          <p:spPr bwMode="auto">
            <a:xfrm>
              <a:off x="6500800" y="1785926"/>
              <a:ext cx="0" cy="290513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Rectangle 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571604" y="3214686"/>
            <a:ext cx="6000792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ctr">
              <a:spcBef>
                <a:spcPct val="30000"/>
              </a:spcBef>
              <a:buClr>
                <a:schemeClr val="accent1"/>
              </a:buClr>
              <a:buSzPct val="75000"/>
            </a:pPr>
            <a:r>
              <a:rPr lang="en-US" sz="2400" dirty="0" err="1" smtClean="0">
                <a:solidFill>
                  <a:schemeClr val="tx1"/>
                </a:solidFill>
                <a:latin typeface="Courier New" pitchFamily="49" charset="0"/>
              </a:rPr>
              <a:t>addi</a:t>
            </a:r>
            <a:r>
              <a:rPr lang="en-US" sz="2400" dirty="0" smtClean="0">
                <a:solidFill>
                  <a:schemeClr val="tx1"/>
                </a:solidFill>
                <a:latin typeface="Courier New" pitchFamily="49" charset="0"/>
              </a:rPr>
              <a:t>	$t0, $s3, -16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grpSp>
        <p:nvGrpSpPr>
          <p:cNvPr id="6" name="Group 23"/>
          <p:cNvGrpSpPr/>
          <p:nvPr/>
        </p:nvGrpSpPr>
        <p:grpSpPr>
          <a:xfrm>
            <a:off x="1714480" y="3786190"/>
            <a:ext cx="5791200" cy="292101"/>
            <a:chOff x="1785918" y="1785926"/>
            <a:chExt cx="5791200" cy="292101"/>
          </a:xfrm>
        </p:grpSpPr>
        <p:sp>
          <p:nvSpPr>
            <p:cNvPr id="25" name="Rectangle 20"/>
            <p:cNvSpPr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1785918" y="1785926"/>
              <a:ext cx="5791200" cy="2921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Line 21"/>
            <p:cNvSpPr>
              <a:spLocks noChangeShapeType="1"/>
            </p:cNvSpPr>
            <p:nvPr>
              <p:custDataLst>
                <p:tags r:id="rId24"/>
              </p:custDataLst>
            </p:nvPr>
          </p:nvSpPr>
          <p:spPr bwMode="auto">
            <a:xfrm>
              <a:off x="2852718" y="1785926"/>
              <a:ext cx="0" cy="2905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22"/>
            <p:cNvSpPr>
              <a:spLocks noChangeShapeType="1"/>
            </p:cNvSpPr>
            <p:nvPr>
              <p:custDataLst>
                <p:tags r:id="rId25"/>
              </p:custDataLst>
            </p:nvPr>
          </p:nvSpPr>
          <p:spPr bwMode="auto">
            <a:xfrm>
              <a:off x="3760768" y="1787514"/>
              <a:ext cx="0" cy="2905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23"/>
            <p:cNvSpPr>
              <a:spLocks noChangeShapeType="1"/>
            </p:cNvSpPr>
            <p:nvPr>
              <p:custDataLst>
                <p:tags r:id="rId26"/>
              </p:custDataLst>
            </p:nvPr>
          </p:nvSpPr>
          <p:spPr bwMode="auto">
            <a:xfrm>
              <a:off x="4675168" y="1787514"/>
              <a:ext cx="0" cy="2905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23"/>
            <p:cNvSpPr>
              <a:spLocks noChangeShapeType="1"/>
            </p:cNvSpPr>
            <p:nvPr>
              <p:custDataLst>
                <p:tags r:id="rId27"/>
              </p:custDataLst>
            </p:nvPr>
          </p:nvSpPr>
          <p:spPr bwMode="auto">
            <a:xfrm>
              <a:off x="5572106" y="1785926"/>
              <a:ext cx="0" cy="290513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23"/>
            <p:cNvSpPr>
              <a:spLocks noChangeShapeType="1"/>
            </p:cNvSpPr>
            <p:nvPr>
              <p:custDataLst>
                <p:tags r:id="rId28"/>
              </p:custDataLst>
            </p:nvPr>
          </p:nvSpPr>
          <p:spPr bwMode="auto">
            <a:xfrm>
              <a:off x="6500800" y="1785926"/>
              <a:ext cx="0" cy="290513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" name="Rectangle 2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643042" y="4357694"/>
            <a:ext cx="6000792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ctr">
              <a:spcBef>
                <a:spcPct val="30000"/>
              </a:spcBef>
              <a:buClr>
                <a:schemeClr val="accent1"/>
              </a:buClr>
              <a:buSzPct val="75000"/>
            </a:pPr>
            <a:r>
              <a:rPr lang="en-US" altLang="zh-CN" sz="2400" dirty="0" err="1" smtClean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lw</a:t>
            </a:r>
            <a:r>
              <a:rPr lang="en-US" altLang="zh-CN" sz="2400" dirty="0" smtClean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$t0, 257($zero)</a:t>
            </a:r>
            <a:endParaRPr lang="en-US" altLang="zh-CN" sz="2000" kern="0" dirty="0" smtClean="0">
              <a:solidFill>
                <a:schemeClr val="tx1"/>
              </a:solidFill>
              <a:latin typeface="Courier New" pitchFamily="49" charset="0"/>
              <a:ea typeface="宋体" pitchFamily="2" charset="-122"/>
            </a:endParaRPr>
          </a:p>
        </p:txBody>
      </p:sp>
      <p:grpSp>
        <p:nvGrpSpPr>
          <p:cNvPr id="7" name="Group 31"/>
          <p:cNvGrpSpPr/>
          <p:nvPr/>
        </p:nvGrpSpPr>
        <p:grpSpPr>
          <a:xfrm>
            <a:off x="1785918" y="4929198"/>
            <a:ext cx="5791200" cy="292101"/>
            <a:chOff x="1785918" y="1785926"/>
            <a:chExt cx="5791200" cy="292101"/>
          </a:xfrm>
        </p:grpSpPr>
        <p:sp>
          <p:nvSpPr>
            <p:cNvPr id="33" name="Rectangle 20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785918" y="1785926"/>
              <a:ext cx="5791200" cy="2921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Line 21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>
              <a:off x="2852718" y="1785926"/>
              <a:ext cx="0" cy="2905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22"/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auto">
            <a:xfrm>
              <a:off x="3760768" y="1787514"/>
              <a:ext cx="0" cy="2905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23"/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>
              <a:off x="4675168" y="1787514"/>
              <a:ext cx="0" cy="2905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23"/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>
              <a:off x="5572106" y="1785926"/>
              <a:ext cx="0" cy="290513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23"/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>
              <a:off x="6500800" y="1785926"/>
              <a:ext cx="0" cy="290513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" name="Rectangle 2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643042" y="5500702"/>
            <a:ext cx="6000792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ctr">
              <a:spcBef>
                <a:spcPct val="30000"/>
              </a:spcBef>
              <a:buClr>
                <a:schemeClr val="accent1"/>
              </a:buClr>
              <a:buSzPct val="75000"/>
            </a:pPr>
            <a:r>
              <a:rPr lang="en-US" altLang="zh-CN" sz="2400" dirty="0" err="1" smtClean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sw</a:t>
            </a:r>
            <a:r>
              <a:rPr lang="en-US" altLang="zh-CN" sz="2400" dirty="0" smtClean="0">
                <a:solidFill>
                  <a:schemeClr val="tx1"/>
                </a:solidFill>
                <a:latin typeface="Courier New" pitchFamily="49" charset="0"/>
                <a:ea typeface="宋体" pitchFamily="2" charset="-122"/>
              </a:rPr>
              <a:t> $t0, -24($s3)</a:t>
            </a:r>
            <a:endParaRPr lang="en-US" altLang="zh-CN" sz="2000" kern="0" dirty="0" smtClean="0">
              <a:solidFill>
                <a:schemeClr val="tx1"/>
              </a:solidFill>
              <a:latin typeface="Courier New" pitchFamily="49" charset="0"/>
              <a:ea typeface="宋体" pitchFamily="2" charset="-122"/>
            </a:endParaRPr>
          </a:p>
        </p:txBody>
      </p:sp>
      <p:grpSp>
        <p:nvGrpSpPr>
          <p:cNvPr id="15" name="Group 39"/>
          <p:cNvGrpSpPr/>
          <p:nvPr/>
        </p:nvGrpSpPr>
        <p:grpSpPr>
          <a:xfrm>
            <a:off x="1785918" y="6072206"/>
            <a:ext cx="5791200" cy="292101"/>
            <a:chOff x="1785918" y="1785926"/>
            <a:chExt cx="5791200" cy="292101"/>
          </a:xfrm>
        </p:grpSpPr>
        <p:sp>
          <p:nvSpPr>
            <p:cNvPr id="41" name="Rectangle 20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785918" y="1785926"/>
              <a:ext cx="5791200" cy="2921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Line 21"/>
            <p:cNvSpPr>
              <a:spLocks noChangeShapeType="1"/>
            </p:cNvSpPr>
            <p:nvPr>
              <p:custDataLst>
                <p:tags r:id="rId12"/>
              </p:custDataLst>
            </p:nvPr>
          </p:nvSpPr>
          <p:spPr bwMode="auto">
            <a:xfrm>
              <a:off x="2852718" y="1785926"/>
              <a:ext cx="0" cy="2905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Line 22"/>
            <p:cNvSpPr>
              <a:spLocks noChangeShapeType="1"/>
            </p:cNvSpPr>
            <p:nvPr>
              <p:custDataLst>
                <p:tags r:id="rId13"/>
              </p:custDataLst>
            </p:nvPr>
          </p:nvSpPr>
          <p:spPr bwMode="auto">
            <a:xfrm>
              <a:off x="3760768" y="1787514"/>
              <a:ext cx="0" cy="2905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Line 23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>
              <a:off x="4675168" y="1787514"/>
              <a:ext cx="0" cy="29051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Line 23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>
              <a:off x="5572106" y="1785926"/>
              <a:ext cx="0" cy="290513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Line 23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>
              <a:off x="6500800" y="1785926"/>
              <a:ext cx="0" cy="290513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7" name="Rectangle 2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714480" y="1428736"/>
            <a:ext cx="5857916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spcBef>
                <a:spcPct val="30000"/>
              </a:spcBef>
              <a:buClr>
                <a:schemeClr val="accent1"/>
              </a:buClr>
              <a:buSzPct val="75000"/>
            </a:pPr>
            <a:r>
              <a:rPr lang="en-US" sz="2400" dirty="0" smtClean="0">
                <a:solidFill>
                  <a:srgbClr val="0000D0"/>
                </a:solidFill>
                <a:latin typeface="Courier New" pitchFamily="49" charset="0"/>
              </a:rPr>
              <a:t> 0x00  19   18   8    0   0x22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rgbClr val="0000D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48" name="Rectangle 2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714480" y="2571744"/>
            <a:ext cx="5857916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spcBef>
                <a:spcPct val="30000"/>
              </a:spcBef>
              <a:buClr>
                <a:schemeClr val="accent1"/>
              </a:buClr>
              <a:buSzPct val="75000"/>
            </a:pPr>
            <a:r>
              <a:rPr lang="en-US" sz="2400" dirty="0" smtClean="0">
                <a:solidFill>
                  <a:srgbClr val="0000D0"/>
                </a:solidFill>
                <a:latin typeface="Courier New" pitchFamily="49" charset="0"/>
              </a:rPr>
              <a:t> 0x00  19   0    8    0   0x20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rgbClr val="0000D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49" name="Rectangle 2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1714480" y="3714752"/>
            <a:ext cx="5857916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spcBef>
                <a:spcPct val="30000"/>
              </a:spcBef>
              <a:buClr>
                <a:schemeClr val="accent1"/>
              </a:buClr>
              <a:buSzPct val="75000"/>
            </a:pPr>
            <a:r>
              <a:rPr lang="en-US" sz="2400" dirty="0" smtClean="0">
                <a:solidFill>
                  <a:srgbClr val="0000D0"/>
                </a:solidFill>
                <a:latin typeface="Courier New" pitchFamily="49" charset="0"/>
              </a:rPr>
              <a:t> 0x08  19   8       0xFFF0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rgbClr val="0000D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50" name="Rectangle 2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785918" y="4857760"/>
            <a:ext cx="5857916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spcBef>
                <a:spcPct val="30000"/>
              </a:spcBef>
              <a:buClr>
                <a:schemeClr val="accent1"/>
              </a:buClr>
              <a:buSzPct val="75000"/>
            </a:pPr>
            <a:r>
              <a:rPr lang="en-US" sz="2400" dirty="0" smtClean="0">
                <a:solidFill>
                  <a:srgbClr val="0000D0"/>
                </a:solidFill>
                <a:latin typeface="Courier New" pitchFamily="49" charset="0"/>
              </a:rPr>
              <a:t> 0x23   0   8       0x0101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rgbClr val="0000D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51" name="Rectangle 2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785918" y="6000768"/>
            <a:ext cx="5857916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spcBef>
                <a:spcPct val="30000"/>
              </a:spcBef>
              <a:buClr>
                <a:schemeClr val="accent1"/>
              </a:buClr>
              <a:buSzPct val="75000"/>
            </a:pPr>
            <a:r>
              <a:rPr lang="en-US" sz="2400" dirty="0" smtClean="0">
                <a:solidFill>
                  <a:srgbClr val="0000D0"/>
                </a:solidFill>
                <a:latin typeface="Courier New" pitchFamily="49" charset="0"/>
              </a:rPr>
              <a:t> 0x2B  19   8       0xFFE8</a:t>
            </a:r>
            <a:endParaRPr kumimoji="0" lang="en-US" altLang="zh-CN" sz="2000" b="0" i="0" u="none" strike="noStrike" kern="0" cap="none" spc="0" normalizeH="0" baseline="0" noProof="0" dirty="0" smtClean="0">
              <a:ln>
                <a:noFill/>
              </a:ln>
              <a:solidFill>
                <a:srgbClr val="0000D0"/>
              </a:solidFill>
              <a:effectLst/>
              <a:uLnTx/>
              <a:uFillTx/>
              <a:latin typeface="Courier New" pitchFamily="49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895915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MIPS-32 Shift </a:t>
            </a:r>
            <a:r>
              <a:rPr lang="en-US" dirty="0"/>
              <a:t>Operations</a:t>
            </a:r>
          </a:p>
        </p:txBody>
      </p:sp>
      <p:sp>
        <p:nvSpPr>
          <p:cNvPr id="435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838200"/>
            <a:ext cx="8229600" cy="2230354"/>
          </a:xfrm>
        </p:spPr>
        <p:txBody>
          <a:bodyPr/>
          <a:lstStyle/>
          <a:p>
            <a:r>
              <a:rPr lang="en-US" dirty="0" smtClean="0"/>
              <a:t>Shifts </a:t>
            </a:r>
            <a:r>
              <a:rPr lang="en-US" dirty="0"/>
              <a:t>move all the bits in a word left or </a:t>
            </a:r>
            <a:r>
              <a:rPr lang="en-US" dirty="0" smtClean="0"/>
              <a:t>right by a specified amount</a:t>
            </a:r>
            <a:endParaRPr lang="en-US" dirty="0"/>
          </a:p>
          <a:p>
            <a:pPr>
              <a:buFont typeface="Wingdings" pitchFamily="2" charset="2"/>
              <a:buNone/>
            </a:pPr>
            <a:r>
              <a:rPr lang="en-US" dirty="0"/>
              <a:t>	</a:t>
            </a:r>
            <a:r>
              <a:rPr lang="en-US" sz="2400" dirty="0" err="1">
                <a:latin typeface="Courier New" pitchFamily="49" charset="0"/>
              </a:rPr>
              <a:t>sll</a:t>
            </a:r>
            <a:r>
              <a:rPr lang="en-US" sz="2400" dirty="0">
                <a:latin typeface="Courier New" pitchFamily="49" charset="0"/>
              </a:rPr>
              <a:t> $t2, $s0, 8	#$t2 = $s0 &lt;&lt; 8 bits</a:t>
            </a:r>
          </a:p>
          <a:p>
            <a:pPr>
              <a:buFont typeface="Wingdings" pitchFamily="2" charset="2"/>
              <a:buNone/>
            </a:pPr>
            <a:r>
              <a:rPr lang="en-US" sz="2400" dirty="0">
                <a:latin typeface="Courier New" pitchFamily="49" charset="0"/>
              </a:rPr>
              <a:t>	</a:t>
            </a:r>
            <a:r>
              <a:rPr lang="en-US" sz="2400" dirty="0" err="1">
                <a:latin typeface="Courier New" pitchFamily="49" charset="0"/>
              </a:rPr>
              <a:t>srl</a:t>
            </a:r>
            <a:r>
              <a:rPr lang="en-US" sz="2400" dirty="0">
                <a:latin typeface="Courier New" pitchFamily="49" charset="0"/>
              </a:rPr>
              <a:t> $t2, $s0, 8	#$t2 = $s0 &gt;&gt; 8 </a:t>
            </a:r>
            <a:r>
              <a:rPr lang="en-US" sz="2400" dirty="0" smtClean="0">
                <a:latin typeface="Courier New" pitchFamily="49" charset="0"/>
              </a:rPr>
              <a:t>bits</a:t>
            </a:r>
            <a:endParaRPr lang="en-US" dirty="0" smtClean="0">
              <a:latin typeface="+mj-lt"/>
            </a:endParaRPr>
          </a:p>
          <a:p>
            <a:r>
              <a:rPr lang="en-US" dirty="0" smtClean="0">
                <a:latin typeface="+mj-lt"/>
              </a:rPr>
              <a:t>Instruction Format (</a:t>
            </a:r>
            <a:r>
              <a:rPr lang="en-US" dirty="0" smtClean="0">
                <a:solidFill>
                  <a:schemeClr val="accent1"/>
                </a:solidFill>
                <a:latin typeface="+mj-lt"/>
              </a:rPr>
              <a:t>R</a:t>
            </a:r>
            <a:r>
              <a:rPr lang="en-US" dirty="0" smtClean="0">
                <a:latin typeface="+mj-lt"/>
              </a:rPr>
              <a:t> format)</a:t>
            </a:r>
            <a:endParaRPr lang="en-US" sz="2400" dirty="0">
              <a:latin typeface="+mj-lt"/>
            </a:endParaRPr>
          </a:p>
        </p:txBody>
      </p:sp>
      <p:sp>
        <p:nvSpPr>
          <p:cNvPr id="435212" name="Rectangle 12"/>
          <p:cNvSpPr>
            <a:spLocks noChangeArrowheads="1"/>
          </p:cNvSpPr>
          <p:nvPr/>
        </p:nvSpPr>
        <p:spPr bwMode="auto">
          <a:xfrm>
            <a:off x="609600" y="4765943"/>
            <a:ext cx="8105804" cy="163942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pPr marL="287338" indent="-287338">
              <a:spcBef>
                <a:spcPct val="30000"/>
              </a:spcBef>
              <a:buClr>
                <a:schemeClr val="accent1"/>
              </a:buClr>
              <a:buSzPct val="75000"/>
              <a:buFont typeface="Wingdings" pitchFamily="2" charset="2"/>
              <a:buChar char="q"/>
            </a:pPr>
            <a:r>
              <a:rPr lang="en-US" sz="2400" dirty="0">
                <a:solidFill>
                  <a:schemeClr val="tx1"/>
                </a:solidFill>
              </a:rPr>
              <a:t>Such shifts are called </a:t>
            </a:r>
            <a:r>
              <a:rPr lang="en-US" sz="2400" dirty="0"/>
              <a:t>logical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smtClean="0">
                <a:solidFill>
                  <a:schemeClr val="tx1"/>
                </a:solidFill>
              </a:rPr>
              <a:t>(notice the trailing </a:t>
            </a:r>
            <a:r>
              <a:rPr lang="en-US" sz="24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</a:t>
            </a:r>
            <a:r>
              <a:rPr lang="en-US" sz="2400" dirty="0" err="1" smtClean="0">
                <a:solidFill>
                  <a:schemeClr val="tx1"/>
                </a:solidFill>
              </a:rPr>
              <a:t>in</a:t>
            </a:r>
            <a:r>
              <a:rPr lang="en-US" sz="2400" dirty="0" smtClean="0">
                <a:solidFill>
                  <a:schemeClr val="tx1"/>
                </a:solidFill>
              </a:rPr>
              <a:t> the op mnemonic) because </a:t>
            </a:r>
            <a:r>
              <a:rPr lang="en-US" sz="2400" dirty="0">
                <a:solidFill>
                  <a:schemeClr val="tx1"/>
                </a:solidFill>
              </a:rPr>
              <a:t>they fill with </a:t>
            </a:r>
            <a:r>
              <a:rPr lang="en-US" sz="2400" dirty="0" smtClean="0"/>
              <a:t>zeros</a:t>
            </a:r>
          </a:p>
          <a:p>
            <a:pPr marL="287338" indent="-287338">
              <a:spcBef>
                <a:spcPct val="30000"/>
              </a:spcBef>
              <a:buClr>
                <a:schemeClr val="accent1"/>
              </a:buClr>
              <a:buSzPct val="75000"/>
              <a:buFont typeface="Wingdings" pitchFamily="2" charset="2"/>
              <a:buChar char="q"/>
            </a:pPr>
            <a:r>
              <a:rPr lang="en-US" sz="2400" dirty="0" smtClean="0">
                <a:solidFill>
                  <a:schemeClr val="tx1"/>
                </a:solidFill>
              </a:rPr>
              <a:t>The 5-bit </a:t>
            </a:r>
            <a:r>
              <a:rPr lang="en-US" sz="2400" dirty="0" err="1">
                <a:solidFill>
                  <a:schemeClr val="tx1"/>
                </a:solidFill>
              </a:rPr>
              <a:t>shamt</a:t>
            </a:r>
            <a:r>
              <a:rPr lang="en-US" sz="2400" dirty="0">
                <a:solidFill>
                  <a:schemeClr val="tx1"/>
                </a:solidFill>
              </a:rPr>
              <a:t> field is </a:t>
            </a:r>
            <a:r>
              <a:rPr lang="en-US" sz="2400" dirty="0" smtClean="0">
                <a:solidFill>
                  <a:schemeClr val="tx1"/>
                </a:solidFill>
              </a:rPr>
              <a:t>just large enough to specify a value which can </a:t>
            </a:r>
            <a:r>
              <a:rPr lang="en-US" sz="2400" dirty="0">
                <a:solidFill>
                  <a:schemeClr val="tx1"/>
                </a:solidFill>
              </a:rPr>
              <a:t>shift a 32-bit value </a:t>
            </a:r>
            <a:r>
              <a:rPr lang="en-US" sz="2400" dirty="0" smtClean="0"/>
              <a:t>31 </a:t>
            </a:r>
            <a:r>
              <a:rPr lang="en-US" sz="2400" dirty="0"/>
              <a:t>bit positions</a:t>
            </a:r>
          </a:p>
        </p:txBody>
      </p:sp>
      <p:sp>
        <p:nvSpPr>
          <p:cNvPr id="435213" name="Rectangle 13"/>
          <p:cNvSpPr>
            <a:spLocks noChangeArrowheads="1"/>
          </p:cNvSpPr>
          <p:nvPr/>
        </p:nvSpPr>
        <p:spPr bwMode="auto">
          <a:xfrm>
            <a:off x="1371600" y="3744914"/>
            <a:ext cx="5791200" cy="2921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5214" name="Line 14"/>
          <p:cNvSpPr>
            <a:spLocks noChangeShapeType="1"/>
          </p:cNvSpPr>
          <p:nvPr/>
        </p:nvSpPr>
        <p:spPr bwMode="auto">
          <a:xfrm>
            <a:off x="2438400" y="3744914"/>
            <a:ext cx="0" cy="2905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5215" name="Line 15"/>
          <p:cNvSpPr>
            <a:spLocks noChangeShapeType="1"/>
          </p:cNvSpPr>
          <p:nvPr/>
        </p:nvSpPr>
        <p:spPr bwMode="auto">
          <a:xfrm>
            <a:off x="3346450" y="3746502"/>
            <a:ext cx="0" cy="2905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5216" name="Line 16"/>
          <p:cNvSpPr>
            <a:spLocks noChangeShapeType="1"/>
          </p:cNvSpPr>
          <p:nvPr/>
        </p:nvSpPr>
        <p:spPr bwMode="auto">
          <a:xfrm>
            <a:off x="4260850" y="3746502"/>
            <a:ext cx="0" cy="2905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5217" name="Text Box 17"/>
          <p:cNvSpPr txBox="1">
            <a:spLocks noChangeArrowheads="1"/>
          </p:cNvSpPr>
          <p:nvPr/>
        </p:nvSpPr>
        <p:spPr bwMode="auto">
          <a:xfrm>
            <a:off x="1470420" y="3744914"/>
            <a:ext cx="567334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  </a:t>
            </a:r>
            <a:r>
              <a:rPr lang="en-US" dirty="0" smtClean="0">
                <a:solidFill>
                  <a:schemeClr val="tx1"/>
                </a:solidFill>
              </a:rPr>
              <a:t>0x00                        16          </a:t>
            </a:r>
            <a:r>
              <a:rPr lang="en-US" dirty="0">
                <a:solidFill>
                  <a:schemeClr val="tx1"/>
                </a:solidFill>
              </a:rPr>
              <a:t>10            8         0x00</a:t>
            </a:r>
          </a:p>
        </p:txBody>
      </p:sp>
      <p:sp>
        <p:nvSpPr>
          <p:cNvPr id="435218" name="Line 18"/>
          <p:cNvSpPr>
            <a:spLocks noChangeShapeType="1"/>
          </p:cNvSpPr>
          <p:nvPr/>
        </p:nvSpPr>
        <p:spPr bwMode="auto">
          <a:xfrm>
            <a:off x="5181600" y="3744914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5219" name="Line 19"/>
          <p:cNvSpPr>
            <a:spLocks noChangeShapeType="1"/>
          </p:cNvSpPr>
          <p:nvPr/>
        </p:nvSpPr>
        <p:spPr bwMode="auto">
          <a:xfrm>
            <a:off x="6096000" y="3744914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12" name="Group 4"/>
          <p:cNvGrpSpPr>
            <a:grpSpLocks/>
          </p:cNvGrpSpPr>
          <p:nvPr/>
        </p:nvGrpSpPr>
        <p:grpSpPr bwMode="auto">
          <a:xfrm>
            <a:off x="1371600" y="3290887"/>
            <a:ext cx="5791200" cy="366713"/>
            <a:chOff x="1056" y="2640"/>
            <a:chExt cx="3648" cy="231"/>
          </a:xfrm>
        </p:grpSpPr>
        <p:sp>
          <p:nvSpPr>
            <p:cNvPr id="13" name="Rectangle 5"/>
            <p:cNvSpPr>
              <a:spLocks noChangeArrowheads="1"/>
            </p:cNvSpPr>
            <p:nvPr/>
          </p:nvSpPr>
          <p:spPr bwMode="auto">
            <a:xfrm>
              <a:off x="1056" y="2640"/>
              <a:ext cx="3648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6"/>
            <p:cNvSpPr>
              <a:spLocks noChangeShapeType="1"/>
            </p:cNvSpPr>
            <p:nvPr/>
          </p:nvSpPr>
          <p:spPr bwMode="auto">
            <a:xfrm>
              <a:off x="1728" y="2640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7"/>
            <p:cNvSpPr>
              <a:spLocks noChangeShapeType="1"/>
            </p:cNvSpPr>
            <p:nvPr/>
          </p:nvSpPr>
          <p:spPr bwMode="auto">
            <a:xfrm>
              <a:off x="2300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8"/>
            <p:cNvSpPr>
              <a:spLocks noChangeShapeType="1"/>
            </p:cNvSpPr>
            <p:nvPr/>
          </p:nvSpPr>
          <p:spPr bwMode="auto">
            <a:xfrm>
              <a:off x="2876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9"/>
            <p:cNvSpPr>
              <a:spLocks noChangeShapeType="1"/>
            </p:cNvSpPr>
            <p:nvPr/>
          </p:nvSpPr>
          <p:spPr bwMode="auto">
            <a:xfrm>
              <a:off x="3452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10"/>
            <p:cNvSpPr>
              <a:spLocks noChangeShapeType="1"/>
            </p:cNvSpPr>
            <p:nvPr/>
          </p:nvSpPr>
          <p:spPr bwMode="auto">
            <a:xfrm>
              <a:off x="4028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Box 11"/>
            <p:cNvSpPr txBox="1">
              <a:spLocks noChangeArrowheads="1"/>
            </p:cNvSpPr>
            <p:nvPr/>
          </p:nvSpPr>
          <p:spPr bwMode="auto">
            <a:xfrm>
              <a:off x="1248" y="2640"/>
              <a:ext cx="3316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op           </a:t>
              </a:r>
              <a:r>
                <a:rPr lang="en-US" dirty="0" err="1">
                  <a:solidFill>
                    <a:schemeClr val="tx1"/>
                  </a:solidFill>
                </a:rPr>
                <a:t>rs</a:t>
              </a:r>
              <a:r>
                <a:rPr lang="en-US" dirty="0">
                  <a:solidFill>
                    <a:schemeClr val="tx1"/>
                  </a:solidFill>
                </a:rPr>
                <a:t>            </a:t>
              </a:r>
              <a:r>
                <a:rPr lang="en-US" dirty="0" err="1">
                  <a:solidFill>
                    <a:schemeClr val="tx1"/>
                  </a:solidFill>
                </a:rPr>
                <a:t>rt</a:t>
              </a:r>
              <a:r>
                <a:rPr lang="en-US" dirty="0">
                  <a:solidFill>
                    <a:schemeClr val="tx1"/>
                  </a:solidFill>
                </a:rPr>
                <a:t>            </a:t>
              </a:r>
              <a:r>
                <a:rPr lang="en-US" dirty="0" err="1">
                  <a:solidFill>
                    <a:schemeClr val="tx1"/>
                  </a:solidFill>
                </a:rPr>
                <a:t>rd</a:t>
              </a:r>
              <a:r>
                <a:rPr lang="en-US" dirty="0">
                  <a:solidFill>
                    <a:schemeClr val="tx1"/>
                  </a:solidFill>
                </a:rPr>
                <a:t>        </a:t>
              </a:r>
              <a:r>
                <a:rPr lang="en-US" dirty="0" err="1">
                  <a:solidFill>
                    <a:schemeClr val="tx1"/>
                  </a:solidFill>
                </a:rPr>
                <a:t>shamt</a:t>
              </a:r>
              <a:r>
                <a:rPr lang="en-US" dirty="0">
                  <a:solidFill>
                    <a:schemeClr val="tx1"/>
                  </a:solidFill>
                </a:rPr>
                <a:t>       </a:t>
              </a:r>
              <a:r>
                <a:rPr lang="en-US" dirty="0" err="1">
                  <a:solidFill>
                    <a:schemeClr val="tx1"/>
                  </a:solidFill>
                </a:rPr>
                <a:t>funct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AutoShape 20"/>
          <p:cNvSpPr>
            <a:spLocks noChangeArrowheads="1"/>
          </p:cNvSpPr>
          <p:nvPr/>
        </p:nvSpPr>
        <p:spPr bwMode="auto">
          <a:xfrm>
            <a:off x="4114800" y="3506781"/>
            <a:ext cx="381000" cy="152400"/>
          </a:xfrm>
          <a:prstGeom prst="downArrow">
            <a:avLst>
              <a:gd name="adj1" fmla="val 50000"/>
              <a:gd name="adj2" fmla="val 25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Rectangle 21"/>
          <p:cNvSpPr>
            <a:spLocks noChangeArrowheads="1"/>
          </p:cNvSpPr>
          <p:nvPr/>
        </p:nvSpPr>
        <p:spPr bwMode="auto">
          <a:xfrm>
            <a:off x="7186642" y="3276600"/>
            <a:ext cx="16002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sym typeface="Symbol" pitchFamily="18" charset="2"/>
              </a:rPr>
              <a:t>R</a:t>
            </a:r>
            <a:r>
              <a:rPr lang="en-US" sz="2000" dirty="0">
                <a:solidFill>
                  <a:schemeClr val="tx1"/>
                </a:solidFill>
                <a:sym typeface="Symbol" pitchFamily="18" charset="2"/>
              </a:rPr>
              <a:t> format</a:t>
            </a:r>
          </a:p>
        </p:txBody>
      </p:sp>
      <p:sp>
        <p:nvSpPr>
          <p:cNvPr id="22" name="Rectangle 13"/>
          <p:cNvSpPr>
            <a:spLocks noChangeArrowheads="1"/>
          </p:cNvSpPr>
          <p:nvPr/>
        </p:nvSpPr>
        <p:spPr bwMode="auto">
          <a:xfrm>
            <a:off x="1357290" y="4214818"/>
            <a:ext cx="5791200" cy="2921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Line 14"/>
          <p:cNvSpPr>
            <a:spLocks noChangeShapeType="1"/>
          </p:cNvSpPr>
          <p:nvPr/>
        </p:nvSpPr>
        <p:spPr bwMode="auto">
          <a:xfrm>
            <a:off x="2424090" y="4214818"/>
            <a:ext cx="0" cy="2905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4" name="Line 15"/>
          <p:cNvSpPr>
            <a:spLocks noChangeShapeType="1"/>
          </p:cNvSpPr>
          <p:nvPr/>
        </p:nvSpPr>
        <p:spPr bwMode="auto">
          <a:xfrm>
            <a:off x="3332140" y="4216406"/>
            <a:ext cx="0" cy="2905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5" name="Line 16"/>
          <p:cNvSpPr>
            <a:spLocks noChangeShapeType="1"/>
          </p:cNvSpPr>
          <p:nvPr/>
        </p:nvSpPr>
        <p:spPr bwMode="auto">
          <a:xfrm>
            <a:off x="4246540" y="4216406"/>
            <a:ext cx="0" cy="2905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" name="Text Box 17"/>
          <p:cNvSpPr txBox="1">
            <a:spLocks noChangeArrowheads="1"/>
          </p:cNvSpPr>
          <p:nvPr/>
        </p:nvSpPr>
        <p:spPr bwMode="auto">
          <a:xfrm>
            <a:off x="1500166" y="4214818"/>
            <a:ext cx="567334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  </a:t>
            </a:r>
            <a:r>
              <a:rPr lang="en-US" dirty="0" smtClean="0">
                <a:solidFill>
                  <a:schemeClr val="tx1"/>
                </a:solidFill>
              </a:rPr>
              <a:t>0x00                        </a:t>
            </a:r>
            <a:r>
              <a:rPr lang="en-US" dirty="0">
                <a:solidFill>
                  <a:schemeClr val="tx1"/>
                </a:solidFill>
              </a:rPr>
              <a:t>16          10            8         </a:t>
            </a:r>
            <a:r>
              <a:rPr lang="en-US" dirty="0" smtClean="0">
                <a:solidFill>
                  <a:schemeClr val="tx1"/>
                </a:solidFill>
              </a:rPr>
              <a:t>0x02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Line 18"/>
          <p:cNvSpPr>
            <a:spLocks noChangeShapeType="1"/>
          </p:cNvSpPr>
          <p:nvPr/>
        </p:nvSpPr>
        <p:spPr bwMode="auto">
          <a:xfrm>
            <a:off x="5167290" y="4214818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" name="Line 19"/>
          <p:cNvSpPr>
            <a:spLocks noChangeShapeType="1"/>
          </p:cNvSpPr>
          <p:nvPr/>
        </p:nvSpPr>
        <p:spPr bwMode="auto">
          <a:xfrm>
            <a:off x="6081690" y="4214818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" name="Rectangle 21"/>
          <p:cNvSpPr>
            <a:spLocks noChangeArrowheads="1"/>
          </p:cNvSpPr>
          <p:nvPr/>
        </p:nvSpPr>
        <p:spPr bwMode="auto">
          <a:xfrm>
            <a:off x="7143768" y="3714752"/>
            <a:ext cx="16002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sll</a:t>
            </a:r>
            <a:endParaRPr lang="en-US" sz="2000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Symbol" pitchFamily="18" charset="2"/>
            </a:endParaRPr>
          </a:p>
        </p:txBody>
      </p:sp>
      <p:sp>
        <p:nvSpPr>
          <p:cNvPr id="30" name="Rectangle 21"/>
          <p:cNvSpPr>
            <a:spLocks noChangeArrowheads="1"/>
          </p:cNvSpPr>
          <p:nvPr/>
        </p:nvSpPr>
        <p:spPr bwMode="auto">
          <a:xfrm>
            <a:off x="7143768" y="4175133"/>
            <a:ext cx="16002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srl</a:t>
            </a:r>
            <a:endParaRPr lang="en-US" sz="2000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813994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52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One More </a:t>
            </a:r>
            <a:r>
              <a:rPr lang="en-US" dirty="0"/>
              <a:t>Shift </a:t>
            </a:r>
            <a:r>
              <a:rPr lang="en-US" dirty="0" smtClean="0"/>
              <a:t>Operation</a:t>
            </a:r>
            <a:endParaRPr lang="en-US" dirty="0"/>
          </a:p>
        </p:txBody>
      </p:sp>
      <p:sp>
        <p:nvSpPr>
          <p:cNvPr id="437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838200"/>
            <a:ext cx="8001000" cy="3719993"/>
          </a:xfrm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dirty="0"/>
              <a:t>An arithmetic shift (</a:t>
            </a:r>
            <a:r>
              <a:rPr lang="en-US" dirty="0" err="1">
                <a:latin typeface="Courier New" pitchFamily="49" charset="0"/>
              </a:rPr>
              <a:t>sra</a:t>
            </a:r>
            <a:r>
              <a:rPr lang="en-US" dirty="0"/>
              <a:t>) </a:t>
            </a:r>
            <a:r>
              <a:rPr lang="en-US" dirty="0" smtClean="0"/>
              <a:t>must maintain </a:t>
            </a:r>
            <a:r>
              <a:rPr lang="en-US" dirty="0"/>
              <a:t>the arithmetic correctness of the shifted value (i.e., a number shifted right one bit should be ½ of its original value; a number shifted left </a:t>
            </a:r>
            <a:r>
              <a:rPr lang="en-US" dirty="0" smtClean="0"/>
              <a:t>one bit should </a:t>
            </a:r>
            <a:r>
              <a:rPr lang="en-US" dirty="0"/>
              <a:t>be 2 times its original value)</a:t>
            </a:r>
          </a:p>
          <a:p>
            <a:pPr lvl="1">
              <a:spcBef>
                <a:spcPct val="20000"/>
              </a:spcBef>
            </a:pPr>
            <a:r>
              <a:rPr lang="en-US" dirty="0" err="1">
                <a:latin typeface="Courier New" pitchFamily="49" charset="0"/>
              </a:rPr>
              <a:t>sra</a:t>
            </a:r>
            <a:r>
              <a:rPr lang="en-US" dirty="0"/>
              <a:t> </a:t>
            </a:r>
            <a:r>
              <a:rPr lang="en-US" dirty="0" smtClean="0"/>
              <a:t>copies the MSB bit (sign bit) as the bit shifted in</a:t>
            </a:r>
          </a:p>
          <a:p>
            <a:pPr lvl="1">
              <a:spcBef>
                <a:spcPct val="20000"/>
              </a:spcBef>
            </a:pP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srl</a:t>
            </a:r>
            <a:r>
              <a:rPr lang="en-US" dirty="0" smtClean="0"/>
              <a:t> shifts in zeros to the MSB</a:t>
            </a:r>
            <a:endParaRPr lang="en-US" dirty="0"/>
          </a:p>
          <a:p>
            <a:pPr lvl="1">
              <a:spcBef>
                <a:spcPct val="20000"/>
              </a:spcBef>
            </a:pPr>
            <a:r>
              <a:rPr lang="en-US" dirty="0" err="1">
                <a:latin typeface="Courier New" pitchFamily="49" charset="0"/>
              </a:rPr>
              <a:t>sll</a:t>
            </a:r>
            <a:r>
              <a:rPr lang="en-US" dirty="0"/>
              <a:t> </a:t>
            </a:r>
            <a:r>
              <a:rPr lang="en-US" dirty="0" smtClean="0"/>
              <a:t>shifts in zeros to the LSB so it also works </a:t>
            </a:r>
            <a:r>
              <a:rPr lang="en-US" dirty="0"/>
              <a:t>for arithmetic left shifts for </a:t>
            </a:r>
            <a:r>
              <a:rPr lang="en-US" dirty="0" smtClean="0"/>
              <a:t>two’s complement </a:t>
            </a:r>
            <a:r>
              <a:rPr lang="en-US" dirty="0"/>
              <a:t>(so there is </a:t>
            </a:r>
            <a:r>
              <a:rPr lang="en-US" dirty="0">
                <a:solidFill>
                  <a:srgbClr val="FF0000"/>
                </a:solidFill>
              </a:rPr>
              <a:t>no</a:t>
            </a:r>
            <a:r>
              <a:rPr lang="en-US" dirty="0"/>
              <a:t> need for a  </a:t>
            </a:r>
            <a:r>
              <a:rPr lang="en-US" dirty="0" err="1">
                <a:latin typeface="Courier New" pitchFamily="49" charset="0"/>
              </a:rPr>
              <a:t>sla</a:t>
            </a:r>
            <a:r>
              <a:rPr lang="en-US" dirty="0" smtClean="0"/>
              <a:t>)</a:t>
            </a:r>
          </a:p>
          <a:p>
            <a:pPr lvl="2">
              <a:spcBef>
                <a:spcPct val="20000"/>
              </a:spcBef>
            </a:pPr>
            <a:endParaRPr lang="en-US" dirty="0"/>
          </a:p>
          <a:p>
            <a:pPr>
              <a:lnSpc>
                <a:spcPct val="95000"/>
              </a:lnSpc>
              <a:spcBef>
                <a:spcPct val="25000"/>
              </a:spcBef>
              <a:buFont typeface="Wingdings" pitchFamily="2" charset="2"/>
              <a:buNone/>
            </a:pPr>
            <a:r>
              <a:rPr lang="en-US" sz="2400" dirty="0">
                <a:latin typeface="Courier New" pitchFamily="49" charset="0"/>
              </a:rPr>
              <a:t>  </a:t>
            </a:r>
            <a:r>
              <a:rPr lang="en-US" sz="2400" dirty="0" err="1">
                <a:latin typeface="Courier New" pitchFamily="49" charset="0"/>
              </a:rPr>
              <a:t>sra</a:t>
            </a:r>
            <a:r>
              <a:rPr lang="en-US" sz="2400" dirty="0">
                <a:latin typeface="Courier New" pitchFamily="49" charset="0"/>
              </a:rPr>
              <a:t> $t2, $s0, 8	#$t2 = $s0 &gt;&gt; 8 bits</a:t>
            </a:r>
            <a:endParaRPr lang="en-US" sz="2400" dirty="0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524000" y="4791084"/>
            <a:ext cx="5791200" cy="366713"/>
            <a:chOff x="1056" y="2640"/>
            <a:chExt cx="3648" cy="231"/>
          </a:xfrm>
        </p:grpSpPr>
        <p:sp>
          <p:nvSpPr>
            <p:cNvPr id="437254" name="Rectangle 6"/>
            <p:cNvSpPr>
              <a:spLocks noChangeArrowheads="1"/>
            </p:cNvSpPr>
            <p:nvPr/>
          </p:nvSpPr>
          <p:spPr bwMode="auto">
            <a:xfrm>
              <a:off x="1056" y="2640"/>
              <a:ext cx="3648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7255" name="Line 7"/>
            <p:cNvSpPr>
              <a:spLocks noChangeShapeType="1"/>
            </p:cNvSpPr>
            <p:nvPr/>
          </p:nvSpPr>
          <p:spPr bwMode="auto">
            <a:xfrm>
              <a:off x="1728" y="2640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37256" name="Line 8"/>
            <p:cNvSpPr>
              <a:spLocks noChangeShapeType="1"/>
            </p:cNvSpPr>
            <p:nvPr/>
          </p:nvSpPr>
          <p:spPr bwMode="auto">
            <a:xfrm>
              <a:off x="2300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37257" name="Line 9"/>
            <p:cNvSpPr>
              <a:spLocks noChangeShapeType="1"/>
            </p:cNvSpPr>
            <p:nvPr/>
          </p:nvSpPr>
          <p:spPr bwMode="auto">
            <a:xfrm>
              <a:off x="2876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37258" name="Line 10"/>
            <p:cNvSpPr>
              <a:spLocks noChangeShapeType="1"/>
            </p:cNvSpPr>
            <p:nvPr/>
          </p:nvSpPr>
          <p:spPr bwMode="auto">
            <a:xfrm>
              <a:off x="3452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37259" name="Line 11"/>
            <p:cNvSpPr>
              <a:spLocks noChangeShapeType="1"/>
            </p:cNvSpPr>
            <p:nvPr/>
          </p:nvSpPr>
          <p:spPr bwMode="auto">
            <a:xfrm>
              <a:off x="4028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37260" name="Text Box 12"/>
            <p:cNvSpPr txBox="1">
              <a:spLocks noChangeArrowheads="1"/>
            </p:cNvSpPr>
            <p:nvPr/>
          </p:nvSpPr>
          <p:spPr bwMode="auto">
            <a:xfrm>
              <a:off x="1248" y="2640"/>
              <a:ext cx="3316" cy="23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chemeClr val="tx1"/>
                  </a:solidFill>
                </a:rPr>
                <a:t>op           rs            rt            rd        shamt       funct</a:t>
              </a:r>
            </a:p>
          </p:txBody>
        </p:sp>
      </p:grpSp>
      <p:sp>
        <p:nvSpPr>
          <p:cNvPr id="437261" name="Rectangle 13"/>
          <p:cNvSpPr>
            <a:spLocks noChangeArrowheads="1"/>
          </p:cNvSpPr>
          <p:nvPr/>
        </p:nvSpPr>
        <p:spPr bwMode="auto">
          <a:xfrm>
            <a:off x="1524000" y="5629284"/>
            <a:ext cx="5791200" cy="2921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7262" name="Line 14"/>
          <p:cNvSpPr>
            <a:spLocks noChangeShapeType="1"/>
          </p:cNvSpPr>
          <p:nvPr/>
        </p:nvSpPr>
        <p:spPr bwMode="auto">
          <a:xfrm>
            <a:off x="2590800" y="5629284"/>
            <a:ext cx="0" cy="2905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7263" name="Line 15"/>
          <p:cNvSpPr>
            <a:spLocks noChangeShapeType="1"/>
          </p:cNvSpPr>
          <p:nvPr/>
        </p:nvSpPr>
        <p:spPr bwMode="auto">
          <a:xfrm>
            <a:off x="3498850" y="5630872"/>
            <a:ext cx="0" cy="2905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7264" name="Line 16"/>
          <p:cNvSpPr>
            <a:spLocks noChangeShapeType="1"/>
          </p:cNvSpPr>
          <p:nvPr/>
        </p:nvSpPr>
        <p:spPr bwMode="auto">
          <a:xfrm>
            <a:off x="4413250" y="5630872"/>
            <a:ext cx="0" cy="2905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7265" name="Text Box 17"/>
          <p:cNvSpPr txBox="1">
            <a:spLocks noChangeArrowheads="1"/>
          </p:cNvSpPr>
          <p:nvPr/>
        </p:nvSpPr>
        <p:spPr bwMode="auto">
          <a:xfrm>
            <a:off x="1571604" y="5629284"/>
            <a:ext cx="586570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  </a:t>
            </a:r>
            <a:r>
              <a:rPr lang="en-US" dirty="0" smtClean="0">
                <a:solidFill>
                  <a:schemeClr val="tx1"/>
                </a:solidFill>
              </a:rPr>
              <a:t>0x00                          </a:t>
            </a:r>
            <a:r>
              <a:rPr lang="en-US" dirty="0">
                <a:solidFill>
                  <a:schemeClr val="tx1"/>
                </a:solidFill>
              </a:rPr>
              <a:t>16          10         </a:t>
            </a:r>
            <a:r>
              <a:rPr lang="en-US" dirty="0" smtClean="0">
                <a:solidFill>
                  <a:schemeClr val="tx1"/>
                </a:solidFill>
              </a:rPr>
              <a:t>  </a:t>
            </a:r>
            <a:r>
              <a:rPr lang="en-US" dirty="0">
                <a:solidFill>
                  <a:schemeClr val="tx1"/>
                </a:solidFill>
              </a:rPr>
              <a:t>8          0x03  </a:t>
            </a:r>
          </a:p>
        </p:txBody>
      </p:sp>
      <p:sp>
        <p:nvSpPr>
          <p:cNvPr id="437266" name="Line 18"/>
          <p:cNvSpPr>
            <a:spLocks noChangeShapeType="1"/>
          </p:cNvSpPr>
          <p:nvPr/>
        </p:nvSpPr>
        <p:spPr bwMode="auto">
          <a:xfrm>
            <a:off x="5334000" y="5629284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7267" name="Line 19"/>
          <p:cNvSpPr>
            <a:spLocks noChangeShapeType="1"/>
          </p:cNvSpPr>
          <p:nvPr/>
        </p:nvSpPr>
        <p:spPr bwMode="auto">
          <a:xfrm>
            <a:off x="6248400" y="5629284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7268" name="AutoShape 20"/>
          <p:cNvSpPr>
            <a:spLocks noChangeArrowheads="1"/>
          </p:cNvSpPr>
          <p:nvPr/>
        </p:nvSpPr>
        <p:spPr bwMode="auto">
          <a:xfrm>
            <a:off x="4267200" y="5248284"/>
            <a:ext cx="381000" cy="152400"/>
          </a:xfrm>
          <a:prstGeom prst="downArrow">
            <a:avLst>
              <a:gd name="adj1" fmla="val 50000"/>
              <a:gd name="adj2" fmla="val 25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7269" name="Rectangle 21"/>
          <p:cNvSpPr>
            <a:spLocks noChangeArrowheads="1"/>
          </p:cNvSpPr>
          <p:nvPr/>
        </p:nvSpPr>
        <p:spPr bwMode="auto">
          <a:xfrm>
            <a:off x="7315200" y="4714884"/>
            <a:ext cx="16002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sym typeface="Symbol" pitchFamily="18" charset="2"/>
              </a:rPr>
              <a:t>R</a:t>
            </a:r>
            <a:r>
              <a:rPr lang="en-US" sz="2000" dirty="0">
                <a:solidFill>
                  <a:schemeClr val="tx1"/>
                </a:solidFill>
                <a:sym typeface="Symbol" pitchFamily="18" charset="2"/>
              </a:rPr>
              <a:t> format</a:t>
            </a:r>
          </a:p>
        </p:txBody>
      </p:sp>
    </p:spTree>
    <p:extLst>
      <p:ext uri="{BB962C8B-B14F-4D97-AF65-F5344CB8AC3E}">
        <p14:creationId xmlns:p14="http://schemas.microsoft.com/office/powerpoint/2010/main" val="1198190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Shift Examples and Decimal Equivalents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348" y="785794"/>
            <a:ext cx="7848600" cy="5782096"/>
          </a:xfrm>
        </p:spPr>
        <p:txBody>
          <a:bodyPr/>
          <a:lstStyle/>
          <a:p>
            <a:r>
              <a:rPr lang="en-US" dirty="0" smtClean="0"/>
              <a:t>Consider shifting the value 6 = 00 … 00110</a:t>
            </a:r>
            <a:r>
              <a:rPr lang="en-US" baseline="-25000" dirty="0" smtClean="0"/>
              <a:t>two</a:t>
            </a:r>
          </a:p>
          <a:p>
            <a:pPr lvl="1"/>
            <a:r>
              <a:rPr lang="en-US" dirty="0" smtClean="0"/>
              <a:t>One bit to the left (so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sll</a:t>
            </a:r>
            <a:r>
              <a:rPr lang="en-US" dirty="0" smtClean="0"/>
              <a:t>)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One bit to the right, arithmetic (so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sra</a:t>
            </a:r>
            <a:r>
              <a:rPr lang="en-US" dirty="0" smtClean="0"/>
              <a:t>)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One bit to the right, logical (so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srl</a:t>
            </a:r>
            <a:r>
              <a:rPr lang="en-US" dirty="0" smtClean="0"/>
              <a:t>)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Now consider shifting the value -6 = 11 …11010</a:t>
            </a:r>
            <a:r>
              <a:rPr lang="en-US" baseline="-25000" dirty="0" smtClean="0"/>
              <a:t>two</a:t>
            </a:r>
          </a:p>
          <a:p>
            <a:pPr lvl="1"/>
            <a:r>
              <a:rPr lang="en-US" dirty="0" smtClean="0"/>
              <a:t>One bit to the left (so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sll</a:t>
            </a:r>
            <a:r>
              <a:rPr lang="en-US" dirty="0" smtClean="0"/>
              <a:t>)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One bit to the right, arithmetic (so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sra</a:t>
            </a:r>
            <a:r>
              <a:rPr lang="en-US" dirty="0" smtClean="0"/>
              <a:t>)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One bit to the right, logical (so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srl</a:t>
            </a:r>
            <a:r>
              <a:rPr lang="en-US" dirty="0" smtClean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47962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Shift Examples and Decimal Equivalents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348" y="785794"/>
            <a:ext cx="7848600" cy="5782096"/>
          </a:xfrm>
        </p:spPr>
        <p:txBody>
          <a:bodyPr/>
          <a:lstStyle/>
          <a:p>
            <a:r>
              <a:rPr lang="en-US" dirty="0" smtClean="0"/>
              <a:t>Consider shifting the value 6</a:t>
            </a:r>
            <a:r>
              <a:rPr lang="en-US" baseline="-25000" dirty="0" smtClean="0"/>
              <a:t>ten</a:t>
            </a:r>
            <a:r>
              <a:rPr lang="en-US" dirty="0" smtClean="0"/>
              <a:t> = 00 … 0 0110</a:t>
            </a:r>
            <a:r>
              <a:rPr lang="en-US" baseline="-25000" dirty="0" smtClean="0"/>
              <a:t>two</a:t>
            </a:r>
          </a:p>
          <a:p>
            <a:pPr lvl="1"/>
            <a:r>
              <a:rPr lang="en-US" dirty="0" smtClean="0"/>
              <a:t>One bit to the left (so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sll</a:t>
            </a:r>
            <a:r>
              <a:rPr lang="en-US" dirty="0" smtClean="0"/>
              <a:t>)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One bit to the right, arithmetic (so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sra</a:t>
            </a:r>
            <a:r>
              <a:rPr lang="en-US" dirty="0" smtClean="0"/>
              <a:t>)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One bit to the right, logical (so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srl</a:t>
            </a:r>
            <a:r>
              <a:rPr lang="en-US" dirty="0" smtClean="0"/>
              <a:t>)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Now consider shifting the value -6 = 11 …1 1010</a:t>
            </a:r>
            <a:r>
              <a:rPr lang="en-US" baseline="-25000" dirty="0" smtClean="0"/>
              <a:t>two</a:t>
            </a:r>
          </a:p>
          <a:p>
            <a:pPr lvl="1"/>
            <a:r>
              <a:rPr lang="en-US" dirty="0" smtClean="0"/>
              <a:t>One bit to the left (so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sll</a:t>
            </a:r>
            <a:r>
              <a:rPr lang="en-US" dirty="0" smtClean="0"/>
              <a:t>)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One bit to the right, arithmetic (so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sra</a:t>
            </a:r>
            <a:r>
              <a:rPr lang="en-US" dirty="0" smtClean="0"/>
              <a:t>)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One bit to the right, logical (so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srl</a:t>
            </a:r>
            <a:r>
              <a:rPr lang="en-US" dirty="0" smtClean="0"/>
              <a:t>)</a:t>
            </a:r>
          </a:p>
          <a:p>
            <a:endParaRPr lang="en-US" dirty="0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928794" y="1571612"/>
            <a:ext cx="2857520" cy="42062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r>
              <a:rPr lang="en-US" sz="2400" dirty="0" smtClean="0"/>
              <a:t>00 … 0 1100</a:t>
            </a:r>
            <a:r>
              <a:rPr lang="en-US" sz="2400" baseline="-25000" dirty="0" smtClean="0"/>
              <a:t>two</a:t>
            </a:r>
            <a:endParaRPr lang="en-US" sz="2200" dirty="0">
              <a:latin typeface="+mn-lt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4643438" y="1571612"/>
            <a:ext cx="2857520" cy="42062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r>
              <a:rPr lang="en-US" sz="2400" dirty="0" smtClean="0"/>
              <a:t>= 12</a:t>
            </a:r>
            <a:r>
              <a:rPr lang="en-US" sz="2400" baseline="-25000" dirty="0" smtClean="0"/>
              <a:t>ten</a:t>
            </a:r>
            <a:endParaRPr lang="en-US" sz="2200" dirty="0">
              <a:latin typeface="+mn-lt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928794" y="2357430"/>
            <a:ext cx="2857520" cy="42062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r>
              <a:rPr lang="en-US" sz="2400" dirty="0" smtClean="0"/>
              <a:t>00 … 0 0011</a:t>
            </a:r>
            <a:r>
              <a:rPr lang="en-US" sz="2400" baseline="-25000" dirty="0" smtClean="0"/>
              <a:t>two</a:t>
            </a:r>
            <a:endParaRPr lang="en-US" sz="2200" dirty="0">
              <a:latin typeface="+mn-lt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4643438" y="2357430"/>
            <a:ext cx="2857520" cy="42062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r>
              <a:rPr lang="en-US" sz="2400" dirty="0" smtClean="0"/>
              <a:t>= 3</a:t>
            </a:r>
            <a:r>
              <a:rPr lang="en-US" sz="2400" baseline="-25000" dirty="0" smtClean="0"/>
              <a:t>ten</a:t>
            </a:r>
            <a:endParaRPr lang="en-US" sz="2200" dirty="0">
              <a:latin typeface="+mn-lt"/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928794" y="3143248"/>
            <a:ext cx="2857520" cy="42062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r>
              <a:rPr lang="en-US" sz="2400" dirty="0" smtClean="0"/>
              <a:t>00 … 0 0011</a:t>
            </a:r>
            <a:r>
              <a:rPr lang="en-US" sz="2400" baseline="-25000" dirty="0" smtClean="0"/>
              <a:t>two</a:t>
            </a:r>
            <a:endParaRPr lang="en-US" sz="2200" dirty="0">
              <a:latin typeface="+mn-lt"/>
            </a:endParaRP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4643438" y="3143248"/>
            <a:ext cx="2857520" cy="42062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r>
              <a:rPr lang="en-US" sz="2400" dirty="0" smtClean="0"/>
              <a:t>= 3</a:t>
            </a:r>
            <a:r>
              <a:rPr lang="en-US" sz="2400" baseline="-25000" dirty="0" smtClean="0"/>
              <a:t>ten</a:t>
            </a:r>
            <a:endParaRPr lang="en-US" sz="2200" dirty="0">
              <a:latin typeface="+mn-lt"/>
            </a:endParaRP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1928794" y="4429132"/>
            <a:ext cx="2857520" cy="42062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r>
              <a:rPr lang="en-US" sz="2400" dirty="0" smtClean="0"/>
              <a:t>11 … 1 0100</a:t>
            </a:r>
            <a:r>
              <a:rPr lang="en-US" sz="2400" baseline="-25000" dirty="0" smtClean="0"/>
              <a:t>two</a:t>
            </a:r>
            <a:endParaRPr lang="en-US" sz="2200" dirty="0">
              <a:latin typeface="+mn-lt"/>
            </a:endParaRP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4643438" y="4429132"/>
            <a:ext cx="2857520" cy="42062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r>
              <a:rPr lang="en-US" sz="2400" dirty="0" smtClean="0"/>
              <a:t>= -12</a:t>
            </a:r>
            <a:r>
              <a:rPr lang="en-US" sz="2400" baseline="-25000" dirty="0" smtClean="0"/>
              <a:t>ten</a:t>
            </a:r>
            <a:endParaRPr lang="en-US" sz="2200" dirty="0">
              <a:latin typeface="+mn-lt"/>
            </a:endParaRP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1928794" y="5214950"/>
            <a:ext cx="2857520" cy="42062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r>
              <a:rPr lang="en-US" sz="2400" dirty="0" smtClean="0"/>
              <a:t>11 … 1 1101</a:t>
            </a:r>
            <a:r>
              <a:rPr lang="en-US" sz="2400" baseline="-25000" dirty="0" smtClean="0"/>
              <a:t>two</a:t>
            </a:r>
            <a:endParaRPr lang="en-US" sz="2200" dirty="0">
              <a:latin typeface="+mn-lt"/>
            </a:endParaRP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4643438" y="5214950"/>
            <a:ext cx="2857520" cy="42062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r>
              <a:rPr lang="en-US" sz="2400" dirty="0" smtClean="0"/>
              <a:t>= -3</a:t>
            </a:r>
            <a:r>
              <a:rPr lang="en-US" sz="2400" baseline="-25000" dirty="0" smtClean="0"/>
              <a:t>ten</a:t>
            </a:r>
            <a:endParaRPr lang="en-US" sz="2200" dirty="0">
              <a:latin typeface="+mn-lt"/>
            </a:endParaRP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1928794" y="6000768"/>
            <a:ext cx="2857520" cy="42062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r>
              <a:rPr lang="en-US" sz="2400" dirty="0" smtClean="0"/>
              <a:t>01 … 1 1101</a:t>
            </a:r>
            <a:r>
              <a:rPr lang="en-US" sz="2400" baseline="-25000" dirty="0" smtClean="0"/>
              <a:t>two</a:t>
            </a:r>
            <a:endParaRPr lang="en-US" sz="2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706394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utoUpdateAnimBg="0"/>
      <p:bldP spid="7" grpId="0" autoUpdateAnimBg="0"/>
      <p:bldP spid="8" grpId="0" autoUpdateAnimBg="0"/>
      <p:bldP spid="9" grpId="0" autoUpdateAnimBg="0"/>
      <p:bldP spid="10" grpId="0" autoUpdateAnimBg="0"/>
      <p:bldP spid="11" grpId="0" autoUpdateAnimBg="0"/>
      <p:bldP spid="12" grpId="0" autoUpdateAnimBg="0"/>
      <p:bldP spid="13" grpId="0" autoUpdateAnimBg="0"/>
      <p:bldP spid="14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MIPS Multiply Instruction</a:t>
            </a:r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714348" y="928670"/>
            <a:ext cx="7924800" cy="45340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q"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Multiply (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mult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and </a:t>
            </a: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multu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 produces a double precision product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q"/>
              <a:tabLst/>
              <a:defRPr/>
            </a:pPr>
            <a:r>
              <a:rPr lang="en-US" sz="2400" kern="0" dirty="0" err="1" smtClean="0">
                <a:solidFill>
                  <a:schemeClr val="accent2"/>
                </a:solidFill>
                <a:latin typeface="+mn-lt"/>
              </a:rPr>
              <a:t>Multu</a:t>
            </a:r>
            <a:r>
              <a:rPr lang="en-US" sz="2400" kern="0" dirty="0" smtClean="0">
                <a:solidFill>
                  <a:schemeClr val="tx1"/>
                </a:solidFill>
                <a:latin typeface="+mn-lt"/>
              </a:rPr>
              <a:t> (multiply </a:t>
            </a:r>
            <a:r>
              <a:rPr lang="en-US" sz="2400" kern="0" dirty="0" smtClean="0">
                <a:solidFill>
                  <a:schemeClr val="accent2"/>
                </a:solidFill>
                <a:latin typeface="+mn-lt"/>
              </a:rPr>
              <a:t>u</a:t>
            </a:r>
            <a:r>
              <a:rPr lang="en-US" sz="2400" kern="0" dirty="0" smtClean="0">
                <a:solidFill>
                  <a:schemeClr val="tx1"/>
                </a:solidFill>
                <a:latin typeface="+mn-lt"/>
              </a:rPr>
              <a:t>nsigned) produces </a:t>
            </a:r>
            <a:r>
              <a:rPr lang="en-US" sz="2400" kern="0" dirty="0" smtClean="0">
                <a:solidFill>
                  <a:schemeClr val="accent2"/>
                </a:solidFill>
                <a:latin typeface="+mn-lt"/>
              </a:rPr>
              <a:t>unsigned</a:t>
            </a:r>
            <a:r>
              <a:rPr lang="en-US" sz="2400" kern="0" dirty="0" smtClean="0">
                <a:solidFill>
                  <a:schemeClr val="tx1"/>
                </a:solidFill>
                <a:latin typeface="+mn-lt"/>
              </a:rPr>
              <a:t> product while </a:t>
            </a:r>
            <a:r>
              <a:rPr lang="en-US" sz="2400" kern="0" dirty="0" err="1" smtClean="0">
                <a:solidFill>
                  <a:schemeClr val="accent2"/>
                </a:solidFill>
                <a:latin typeface="+mn-lt"/>
              </a:rPr>
              <a:t>mult</a:t>
            </a:r>
            <a:r>
              <a:rPr lang="en-US" sz="2400" kern="0" dirty="0" smtClean="0">
                <a:solidFill>
                  <a:schemeClr val="tx1"/>
                </a:solidFill>
                <a:latin typeface="+mn-lt"/>
              </a:rPr>
              <a:t> produces signed product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mult</a:t>
            </a: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  <a:ea typeface="+mn-ea"/>
                <a:cs typeface="+mn-cs"/>
              </a:rPr>
              <a:t>   $s0, $s1	  # hi||lo = $s0 * $s1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itchFamily="49" charset="0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Char char="l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Low-order word of the product is left in processor register  </a:t>
            </a: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</a:rPr>
              <a:t>lo</a:t>
            </a: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 and the high-order word is left in register</a:t>
            </a: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</a:rPr>
              <a:t> hi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Char char="l"/>
              <a:tabLst/>
              <a:defRPr/>
            </a:pP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Instructions</a:t>
            </a: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</a:rPr>
              <a:t> </a:t>
            </a:r>
            <a:r>
              <a:rPr kumimoji="0" 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</a:rPr>
              <a:t>mfhi</a:t>
            </a: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</a:rPr>
              <a:t> rd </a:t>
            </a: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and</a:t>
            </a: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</a:rPr>
              <a:t> </a:t>
            </a:r>
            <a:r>
              <a:rPr kumimoji="0" 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</a:rPr>
              <a:t>mflo</a:t>
            </a: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itchFamily="49" charset="0"/>
              </a:rPr>
              <a:t> rd </a:t>
            </a:r>
            <a:r>
              <a:rPr kumimoji="0" 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are provided to move the product to (user accessible) registers in the register file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</p:txBody>
      </p:sp>
      <p:grpSp>
        <p:nvGrpSpPr>
          <p:cNvPr id="5" name="Group 5"/>
          <p:cNvGrpSpPr>
            <a:grpSpLocks/>
          </p:cNvGrpSpPr>
          <p:nvPr/>
        </p:nvGrpSpPr>
        <p:grpSpPr bwMode="auto">
          <a:xfrm>
            <a:off x="1585892" y="3429000"/>
            <a:ext cx="5791200" cy="369888"/>
            <a:chOff x="1056" y="2640"/>
            <a:chExt cx="3648" cy="233"/>
          </a:xfrm>
        </p:grpSpPr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1056" y="2640"/>
              <a:ext cx="3648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Line 7"/>
            <p:cNvSpPr>
              <a:spLocks noChangeShapeType="1"/>
            </p:cNvSpPr>
            <p:nvPr/>
          </p:nvSpPr>
          <p:spPr bwMode="auto">
            <a:xfrm>
              <a:off x="1728" y="2640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Line 8"/>
            <p:cNvSpPr>
              <a:spLocks noChangeShapeType="1"/>
            </p:cNvSpPr>
            <p:nvPr/>
          </p:nvSpPr>
          <p:spPr bwMode="auto">
            <a:xfrm>
              <a:off x="2300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Line 9"/>
            <p:cNvSpPr>
              <a:spLocks noChangeShapeType="1"/>
            </p:cNvSpPr>
            <p:nvPr/>
          </p:nvSpPr>
          <p:spPr bwMode="auto">
            <a:xfrm>
              <a:off x="2876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>
              <a:off x="3452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>
              <a:off x="4028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1248" y="2640"/>
              <a:ext cx="3420" cy="2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chemeClr val="tx1"/>
                  </a:solidFill>
                </a:rPr>
                <a:t>0              16           17           0            0            0x18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6680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MIPS Multiply Instruction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914400"/>
            <a:ext cx="8153400" cy="5514330"/>
          </a:xfrm>
        </p:spPr>
        <p:txBody>
          <a:bodyPr/>
          <a:lstStyle/>
          <a:p>
            <a:r>
              <a:rPr lang="en-US" dirty="0" smtClean="0"/>
              <a:t>What happens with mixed-sign operands and multiplication?</a:t>
            </a:r>
            <a:br>
              <a:rPr lang="en-US" dirty="0" smtClean="0"/>
            </a:b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Notes</a:t>
            </a:r>
          </a:p>
          <a:p>
            <a:pPr lvl="1"/>
            <a:r>
              <a:rPr lang="en-US" dirty="0" smtClean="0"/>
              <a:t>It’s a mistake to consider </a:t>
            </a:r>
            <a:r>
              <a:rPr lang="en-US" dirty="0" smtClean="0">
                <a:latin typeface="Courier New"/>
                <a:cs typeface="Courier New"/>
              </a:rPr>
              <a:t>hi</a:t>
            </a:r>
            <a:r>
              <a:rPr lang="en-US" dirty="0" smtClean="0"/>
              <a:t> and </a:t>
            </a:r>
            <a:r>
              <a:rPr lang="en-US" dirty="0" smtClean="0">
                <a:latin typeface="Courier New"/>
                <a:cs typeface="Courier New"/>
              </a:rPr>
              <a:t>lo</a:t>
            </a:r>
            <a:r>
              <a:rPr lang="en-US" dirty="0" smtClean="0"/>
              <a:t> separately</a:t>
            </a:r>
          </a:p>
          <a:p>
            <a:pPr lvl="1"/>
            <a:r>
              <a:rPr lang="en-US" dirty="0" smtClean="0"/>
              <a:t>The sign bit of the result is not contained in </a:t>
            </a:r>
            <a:r>
              <a:rPr lang="en-US" dirty="0" smtClean="0">
                <a:latin typeface="Courier New"/>
                <a:cs typeface="Courier New"/>
              </a:rPr>
              <a:t>lo</a:t>
            </a:r>
            <a:r>
              <a:rPr lang="en-US" dirty="0" smtClean="0"/>
              <a:t> when the result is large enough in magnitude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896" y="2330179"/>
          <a:ext cx="7808208" cy="22860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952052"/>
                <a:gridCol w="1952052"/>
                <a:gridCol w="1952052"/>
                <a:gridCol w="195205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ourier New"/>
                          <a:cs typeface="Courier New"/>
                        </a:rPr>
                        <a:t>t0</a:t>
                      </a:r>
                      <a:endParaRPr lang="en-US" sz="20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ourier New"/>
                          <a:cs typeface="Courier New"/>
                        </a:rPr>
                        <a:t>t1</a:t>
                      </a:r>
                      <a:endParaRPr lang="en-US" sz="20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Courier New"/>
                          <a:cs typeface="Courier New"/>
                        </a:rPr>
                        <a:t>hi</a:t>
                      </a:r>
                      <a:r>
                        <a:rPr lang="en-US" sz="2000" dirty="0" smtClean="0"/>
                        <a:t> (upper bits)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Courier New"/>
                          <a:cs typeface="Courier New"/>
                        </a:rPr>
                        <a:t>lo</a:t>
                      </a:r>
                      <a:r>
                        <a:rPr lang="en-US" sz="2000" dirty="0" smtClean="0"/>
                        <a:t> (lower bits)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ourier New"/>
                          <a:cs typeface="Courier New"/>
                        </a:rPr>
                        <a:t>10</a:t>
                      </a:r>
                      <a:endParaRPr lang="en-US" sz="20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ourier New"/>
                          <a:cs typeface="Courier New"/>
                        </a:rPr>
                        <a:t>3</a:t>
                      </a:r>
                      <a:endParaRPr lang="en-US" sz="20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ourier New"/>
                          <a:cs typeface="Courier New"/>
                        </a:rPr>
                        <a:t>0</a:t>
                      </a:r>
                      <a:endParaRPr lang="en-US" sz="20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ourier New"/>
                          <a:cs typeface="Courier New"/>
                        </a:rPr>
                        <a:t>30</a:t>
                      </a:r>
                      <a:endParaRPr lang="en-US" sz="20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ourier New"/>
                          <a:cs typeface="Courier New"/>
                        </a:rPr>
                        <a:t>-10</a:t>
                      </a:r>
                      <a:endParaRPr lang="en-US" sz="20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ourier New"/>
                          <a:cs typeface="Courier New"/>
                        </a:rPr>
                        <a:t>3</a:t>
                      </a:r>
                      <a:endParaRPr lang="en-US" sz="20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ourier New"/>
                          <a:cs typeface="Courier New"/>
                        </a:rPr>
                        <a:t>-1</a:t>
                      </a:r>
                      <a:endParaRPr lang="en-US" sz="20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ourier New"/>
                          <a:cs typeface="Courier New"/>
                        </a:rPr>
                        <a:t>-30</a:t>
                      </a:r>
                      <a:endParaRPr lang="en-US" sz="20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ourier New"/>
                          <a:cs typeface="Courier New"/>
                        </a:rPr>
                        <a:t>10</a:t>
                      </a:r>
                      <a:endParaRPr lang="en-US" sz="20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ourier New"/>
                          <a:cs typeface="Courier New"/>
                        </a:rPr>
                        <a:t>-3</a:t>
                      </a:r>
                      <a:endParaRPr lang="en-US" sz="20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ourier New"/>
                          <a:cs typeface="Courier New"/>
                        </a:rPr>
                        <a:t>-1</a:t>
                      </a:r>
                      <a:endParaRPr lang="en-US" sz="20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ourier New"/>
                          <a:cs typeface="Courier New"/>
                        </a:rPr>
                        <a:t>-30</a:t>
                      </a:r>
                      <a:endParaRPr lang="en-US" sz="20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ourier New"/>
                          <a:cs typeface="Courier New"/>
                        </a:rPr>
                        <a:t>-10</a:t>
                      </a:r>
                      <a:endParaRPr lang="en-US" sz="20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ourier New"/>
                          <a:cs typeface="Courier New"/>
                        </a:rPr>
                        <a:t>-3</a:t>
                      </a:r>
                      <a:endParaRPr lang="en-US" sz="20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ourier New"/>
                          <a:cs typeface="Courier New"/>
                        </a:rPr>
                        <a:t>0</a:t>
                      </a:r>
                      <a:endParaRPr lang="en-US" sz="20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ourier New"/>
                          <a:cs typeface="Courier New"/>
                        </a:rPr>
                        <a:t>30</a:t>
                      </a:r>
                      <a:endParaRPr lang="en-US" sz="20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999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MIPS Divide Instruction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 lIns="90488" tIns="44450" rIns="90488" bIns="44450"/>
          <a:lstStyle/>
          <a:p>
            <a:pPr marL="342900" indent="-342900"/>
            <a:r>
              <a:rPr lang="en-US" dirty="0"/>
              <a:t>Divide </a:t>
            </a:r>
            <a:r>
              <a:rPr lang="en-US" dirty="0" smtClean="0"/>
              <a:t>(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div</a:t>
            </a:r>
            <a:r>
              <a:rPr lang="en-US" dirty="0" smtClean="0"/>
              <a:t> and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divu</a:t>
            </a:r>
            <a:r>
              <a:rPr lang="en-US" dirty="0" smtClean="0"/>
              <a:t>) generates </a:t>
            </a:r>
            <a:r>
              <a:rPr lang="en-US" dirty="0"/>
              <a:t>the reminder in </a:t>
            </a:r>
            <a:r>
              <a:rPr lang="en-US" dirty="0">
                <a:latin typeface="Courier New" pitchFamily="49" charset="0"/>
              </a:rPr>
              <a:t>hi</a:t>
            </a:r>
            <a:r>
              <a:rPr lang="en-US" dirty="0"/>
              <a:t> and the quotient in </a:t>
            </a:r>
            <a:r>
              <a:rPr lang="en-US" dirty="0">
                <a:latin typeface="Courier New" pitchFamily="49" charset="0"/>
              </a:rPr>
              <a:t>lo</a:t>
            </a:r>
            <a:endParaRPr lang="en-US" dirty="0"/>
          </a:p>
          <a:p>
            <a:pPr marL="342900" indent="-342900">
              <a:buFont typeface="Wingdings" pitchFamily="2" charset="2"/>
              <a:buNone/>
            </a:pPr>
            <a:r>
              <a:rPr lang="en-US" dirty="0">
                <a:latin typeface="Courier New" pitchFamily="49" charset="0"/>
              </a:rPr>
              <a:t>	div	   $s0, $s1	  # lo = $s0 / $s1</a:t>
            </a:r>
          </a:p>
          <a:p>
            <a:pPr marL="342900" indent="-342900">
              <a:buFont typeface="Wingdings" pitchFamily="2" charset="2"/>
              <a:buNone/>
            </a:pPr>
            <a:r>
              <a:rPr lang="en-US" dirty="0">
                <a:latin typeface="Courier New" pitchFamily="49" charset="0"/>
              </a:rPr>
              <a:t>					  # hi = $s0 mod $s1</a:t>
            </a:r>
          </a:p>
          <a:p>
            <a:pPr marL="342900" indent="-342900">
              <a:buFont typeface="Wingdings" pitchFamily="2" charset="2"/>
              <a:buNone/>
            </a:pPr>
            <a:endParaRPr lang="en-US" dirty="0"/>
          </a:p>
          <a:p>
            <a:pPr marL="342900" indent="-342900">
              <a:buFont typeface="Wingdings" pitchFamily="2" charset="2"/>
              <a:buNone/>
            </a:pPr>
            <a:endParaRPr lang="en-US" dirty="0"/>
          </a:p>
          <a:p>
            <a:pPr marL="742950" lvl="1" indent="-285750"/>
            <a:r>
              <a:rPr lang="en-US" dirty="0"/>
              <a:t>Instructions</a:t>
            </a:r>
            <a:r>
              <a:rPr lang="en-US" dirty="0">
                <a:latin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</a:rPr>
              <a:t>mfhi</a:t>
            </a:r>
            <a:r>
              <a:rPr lang="en-US" dirty="0">
                <a:latin typeface="Courier New" pitchFamily="49" charset="0"/>
              </a:rPr>
              <a:t> rd </a:t>
            </a:r>
            <a:r>
              <a:rPr lang="en-US" dirty="0"/>
              <a:t>and</a:t>
            </a:r>
            <a:r>
              <a:rPr lang="en-US" dirty="0">
                <a:latin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</a:rPr>
              <a:t>mflo</a:t>
            </a:r>
            <a:r>
              <a:rPr lang="en-US" dirty="0">
                <a:latin typeface="Courier New" pitchFamily="49" charset="0"/>
              </a:rPr>
              <a:t> rd </a:t>
            </a:r>
            <a:r>
              <a:rPr lang="en-US" dirty="0"/>
              <a:t>are provided to move the quotient and reminder to (user accessible) registers in the register file</a:t>
            </a:r>
          </a:p>
        </p:txBody>
      </p:sp>
      <p:grpSp>
        <p:nvGrpSpPr>
          <p:cNvPr id="5" name="Group 14"/>
          <p:cNvGrpSpPr>
            <a:grpSpLocks/>
          </p:cNvGrpSpPr>
          <p:nvPr/>
        </p:nvGrpSpPr>
        <p:grpSpPr bwMode="auto">
          <a:xfrm>
            <a:off x="1571604" y="3000372"/>
            <a:ext cx="5791200" cy="369887"/>
            <a:chOff x="1056" y="2640"/>
            <a:chExt cx="3648" cy="233"/>
          </a:xfrm>
        </p:grpSpPr>
        <p:sp>
          <p:nvSpPr>
            <p:cNvPr id="6" name="Rectangle 15"/>
            <p:cNvSpPr>
              <a:spLocks noChangeArrowheads="1"/>
            </p:cNvSpPr>
            <p:nvPr/>
          </p:nvSpPr>
          <p:spPr bwMode="auto">
            <a:xfrm>
              <a:off x="1056" y="2640"/>
              <a:ext cx="3648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" name="Line 16"/>
            <p:cNvSpPr>
              <a:spLocks noChangeShapeType="1"/>
            </p:cNvSpPr>
            <p:nvPr/>
          </p:nvSpPr>
          <p:spPr bwMode="auto">
            <a:xfrm>
              <a:off x="1728" y="2640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Line 17"/>
            <p:cNvSpPr>
              <a:spLocks noChangeShapeType="1"/>
            </p:cNvSpPr>
            <p:nvPr/>
          </p:nvSpPr>
          <p:spPr bwMode="auto">
            <a:xfrm>
              <a:off x="2300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Line 18"/>
            <p:cNvSpPr>
              <a:spLocks noChangeShapeType="1"/>
            </p:cNvSpPr>
            <p:nvPr/>
          </p:nvSpPr>
          <p:spPr bwMode="auto">
            <a:xfrm>
              <a:off x="2876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" name="Line 19"/>
            <p:cNvSpPr>
              <a:spLocks noChangeShapeType="1"/>
            </p:cNvSpPr>
            <p:nvPr/>
          </p:nvSpPr>
          <p:spPr bwMode="auto">
            <a:xfrm>
              <a:off x="3452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Line 20"/>
            <p:cNvSpPr>
              <a:spLocks noChangeShapeType="1"/>
            </p:cNvSpPr>
            <p:nvPr/>
          </p:nvSpPr>
          <p:spPr bwMode="auto">
            <a:xfrm>
              <a:off x="4028" y="2641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Text Box 21"/>
            <p:cNvSpPr txBox="1">
              <a:spLocks noChangeArrowheads="1"/>
            </p:cNvSpPr>
            <p:nvPr/>
          </p:nvSpPr>
          <p:spPr bwMode="auto">
            <a:xfrm>
              <a:off x="1248" y="2640"/>
              <a:ext cx="3315" cy="2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chemeClr val="tx1"/>
                  </a:solidFill>
                </a:rPr>
                <a:t>     0        16           17           0              0        0x1A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639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MIPS Divide Instruction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914400"/>
            <a:ext cx="8153400" cy="5305042"/>
          </a:xfrm>
        </p:spPr>
        <p:txBody>
          <a:bodyPr/>
          <a:lstStyle/>
          <a:p>
            <a:r>
              <a:rPr lang="en-US" dirty="0" smtClean="0"/>
              <a:t>What happens with mixed-sign operands and division?</a:t>
            </a:r>
            <a:br>
              <a:rPr lang="en-US" dirty="0" smtClean="0"/>
            </a:br>
            <a:r>
              <a:rPr lang="en-US" dirty="0" smtClean="0"/>
              <a:t>Let’s try  </a:t>
            </a:r>
            <a:r>
              <a:rPr lang="en-US" dirty="0" smtClean="0">
                <a:latin typeface="Courier New"/>
                <a:cs typeface="Courier New"/>
              </a:rPr>
              <a:t>div $t0, $t1 </a:t>
            </a:r>
            <a:r>
              <a:rPr lang="en-US" dirty="0" smtClean="0"/>
              <a:t>with MARS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Notes</a:t>
            </a:r>
          </a:p>
          <a:p>
            <a:pPr lvl="1"/>
            <a:r>
              <a:rPr lang="en-US" dirty="0" smtClean="0">
                <a:latin typeface="Courier New"/>
                <a:cs typeface="Courier New"/>
              </a:rPr>
              <a:t>lo × t1 + hi</a:t>
            </a:r>
            <a:r>
              <a:rPr lang="en-US" dirty="0" smtClean="0"/>
              <a:t> is always </a:t>
            </a:r>
            <a:r>
              <a:rPr lang="en-US" dirty="0" smtClean="0">
                <a:latin typeface="Courier New"/>
                <a:cs typeface="Courier New"/>
              </a:rPr>
              <a:t>t0</a:t>
            </a:r>
          </a:p>
          <a:p>
            <a:pPr lvl="1"/>
            <a:r>
              <a:rPr lang="en-US" dirty="0" smtClean="0"/>
              <a:t>the sign of </a:t>
            </a:r>
            <a:r>
              <a:rPr lang="en-US" dirty="0" smtClean="0">
                <a:latin typeface="Courier New"/>
                <a:cs typeface="Courier New"/>
              </a:rPr>
              <a:t>lo</a:t>
            </a:r>
            <a:r>
              <a:rPr lang="en-US" dirty="0" smtClean="0"/>
              <a:t> is as expected</a:t>
            </a:r>
          </a:p>
          <a:p>
            <a:pPr lvl="1"/>
            <a:r>
              <a:rPr lang="en-US" dirty="0" smtClean="0"/>
              <a:t>but </a:t>
            </a:r>
            <a:r>
              <a:rPr lang="en-US" dirty="0" smtClean="0">
                <a:latin typeface="Courier New"/>
                <a:cs typeface="Courier New"/>
              </a:rPr>
              <a:t>hi</a:t>
            </a:r>
            <a:r>
              <a:rPr lang="en-US" dirty="0" smtClean="0"/>
              <a:t> could be positive or negative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896" y="1775374"/>
          <a:ext cx="7808208" cy="22860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952052"/>
                <a:gridCol w="1952052"/>
                <a:gridCol w="1952052"/>
                <a:gridCol w="195205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ourier New"/>
                          <a:cs typeface="Courier New"/>
                        </a:rPr>
                        <a:t>t0</a:t>
                      </a:r>
                      <a:endParaRPr lang="en-US" sz="20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ourier New"/>
                          <a:cs typeface="Courier New"/>
                        </a:rPr>
                        <a:t>t1</a:t>
                      </a:r>
                      <a:endParaRPr lang="en-US" sz="20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Courier New"/>
                          <a:cs typeface="Courier New"/>
                        </a:rPr>
                        <a:t>lo</a:t>
                      </a:r>
                      <a:r>
                        <a:rPr lang="en-US" sz="2000" dirty="0" smtClean="0"/>
                        <a:t> (quotient)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Courier New"/>
                          <a:cs typeface="Courier New"/>
                        </a:rPr>
                        <a:t>hi</a:t>
                      </a:r>
                      <a:r>
                        <a:rPr lang="en-US" sz="2000" dirty="0" smtClean="0"/>
                        <a:t> (remainder)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ourier New"/>
                          <a:cs typeface="Courier New"/>
                        </a:rPr>
                        <a:t>10</a:t>
                      </a:r>
                      <a:endParaRPr lang="en-US" sz="20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ourier New"/>
                          <a:cs typeface="Courier New"/>
                        </a:rPr>
                        <a:t>3</a:t>
                      </a:r>
                      <a:endParaRPr lang="en-US" sz="20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ourier New"/>
                          <a:cs typeface="Courier New"/>
                        </a:rPr>
                        <a:t>3</a:t>
                      </a:r>
                      <a:endParaRPr lang="en-US" sz="20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ourier New"/>
                          <a:cs typeface="Courier New"/>
                        </a:rPr>
                        <a:t>1</a:t>
                      </a:r>
                      <a:endParaRPr lang="en-US" sz="20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ourier New"/>
                          <a:cs typeface="Courier New"/>
                        </a:rPr>
                        <a:t>-10</a:t>
                      </a:r>
                      <a:endParaRPr lang="en-US" sz="20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ourier New"/>
                          <a:cs typeface="Courier New"/>
                        </a:rPr>
                        <a:t>3</a:t>
                      </a:r>
                      <a:endParaRPr lang="en-US" sz="20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ourier New"/>
                          <a:cs typeface="Courier New"/>
                        </a:rPr>
                        <a:t>-3</a:t>
                      </a:r>
                      <a:endParaRPr lang="en-US" sz="20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ourier New"/>
                          <a:cs typeface="Courier New"/>
                        </a:rPr>
                        <a:t>-1</a:t>
                      </a:r>
                      <a:endParaRPr lang="en-US" sz="20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ourier New"/>
                          <a:cs typeface="Courier New"/>
                        </a:rPr>
                        <a:t>10</a:t>
                      </a:r>
                      <a:endParaRPr lang="en-US" sz="20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ourier New"/>
                          <a:cs typeface="Courier New"/>
                        </a:rPr>
                        <a:t>-3</a:t>
                      </a:r>
                      <a:endParaRPr lang="en-US" sz="20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ourier New"/>
                          <a:cs typeface="Courier New"/>
                        </a:rPr>
                        <a:t>-3</a:t>
                      </a:r>
                      <a:endParaRPr lang="en-US" sz="20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ourier New"/>
                          <a:cs typeface="Courier New"/>
                        </a:rPr>
                        <a:t>1</a:t>
                      </a:r>
                      <a:endParaRPr lang="en-US" sz="20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ourier New"/>
                          <a:cs typeface="Courier New"/>
                        </a:rPr>
                        <a:t>-10</a:t>
                      </a:r>
                      <a:endParaRPr lang="en-US" sz="20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ourier New"/>
                          <a:cs typeface="Courier New"/>
                        </a:rPr>
                        <a:t>-3</a:t>
                      </a:r>
                      <a:endParaRPr lang="en-US" sz="20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ourier New"/>
                          <a:cs typeface="Courier New"/>
                        </a:rPr>
                        <a:t>3</a:t>
                      </a:r>
                      <a:endParaRPr lang="en-US" sz="20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Courier New"/>
                          <a:cs typeface="Courier New"/>
                        </a:rPr>
                        <a:t>-1</a:t>
                      </a:r>
                      <a:endParaRPr lang="en-US" sz="20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3735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MIPS Logical </a:t>
            </a:r>
            <a:r>
              <a:rPr lang="en-US" dirty="0"/>
              <a:t>Operations</a:t>
            </a:r>
          </a:p>
        </p:txBody>
      </p:sp>
      <p:sp>
        <p:nvSpPr>
          <p:cNvPr id="422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762000"/>
            <a:ext cx="8153400" cy="5575885"/>
          </a:xfrm>
        </p:spPr>
        <p:txBody>
          <a:bodyPr/>
          <a:lstStyle/>
          <a:p>
            <a:r>
              <a:rPr lang="en-US" dirty="0"/>
              <a:t>There are </a:t>
            </a:r>
            <a:r>
              <a:rPr lang="en-US" dirty="0" smtClean="0"/>
              <a:t>also a </a:t>
            </a:r>
            <a:r>
              <a:rPr lang="en-US" dirty="0"/>
              <a:t>number of </a:t>
            </a:r>
            <a:r>
              <a:rPr lang="en-US" dirty="0">
                <a:solidFill>
                  <a:schemeClr val="accent1"/>
                </a:solidFill>
              </a:rPr>
              <a:t>bit-wise</a:t>
            </a:r>
            <a:r>
              <a:rPr lang="en-US" dirty="0"/>
              <a:t> logical operations in the </a:t>
            </a:r>
            <a:r>
              <a:rPr lang="en-US" dirty="0" smtClean="0"/>
              <a:t>MIPS-32 </a:t>
            </a:r>
            <a:r>
              <a:rPr lang="en-US" dirty="0"/>
              <a:t>ISA</a:t>
            </a:r>
          </a:p>
          <a:p>
            <a:pPr>
              <a:spcBef>
                <a:spcPts val="1200"/>
              </a:spcBef>
              <a:buFont typeface="Wingdings" pitchFamily="2" charset="2"/>
              <a:buNone/>
            </a:pPr>
            <a:r>
              <a:rPr lang="en-US" sz="2600" dirty="0">
                <a:latin typeface="Courier New" pitchFamily="49" charset="0"/>
              </a:rPr>
              <a:t>	</a:t>
            </a:r>
            <a:r>
              <a:rPr lang="en-US" sz="2400" dirty="0">
                <a:latin typeface="Courier New" pitchFamily="49" charset="0"/>
              </a:rPr>
              <a:t>and $t0, $t1, $t2	#$t0 = $t1 &amp; $t2</a:t>
            </a:r>
          </a:p>
          <a:p>
            <a:pPr>
              <a:spcBef>
                <a:spcPts val="1200"/>
              </a:spcBef>
              <a:buFont typeface="Wingdings" pitchFamily="2" charset="2"/>
              <a:buNone/>
            </a:pPr>
            <a:r>
              <a:rPr lang="en-US" sz="2600" dirty="0">
                <a:latin typeface="Courier New" pitchFamily="49" charset="0"/>
              </a:rPr>
              <a:t>	</a:t>
            </a:r>
            <a:r>
              <a:rPr lang="en-US" sz="2400" dirty="0">
                <a:latin typeface="Courier New" pitchFamily="49" charset="0"/>
              </a:rPr>
              <a:t>or  $t0, $t1, $t2	#$t0 = $t1 | $t2</a:t>
            </a:r>
          </a:p>
          <a:p>
            <a:pPr>
              <a:spcBef>
                <a:spcPts val="1200"/>
              </a:spcBef>
              <a:buFont typeface="Wingdings" pitchFamily="2" charset="2"/>
              <a:buNone/>
            </a:pPr>
            <a:r>
              <a:rPr lang="en-US" sz="2400" dirty="0">
                <a:latin typeface="Courier New" pitchFamily="49" charset="0"/>
              </a:rPr>
              <a:t>	nor $t0, $t1, $t2	#$t0 = </a:t>
            </a:r>
            <a:r>
              <a:rPr lang="en-US" dirty="0" smtClean="0">
                <a:latin typeface="Courier New" pitchFamily="49" charset="0"/>
              </a:rPr>
              <a:t>~</a:t>
            </a:r>
            <a:r>
              <a:rPr lang="en-US" sz="2400" dirty="0" smtClean="0">
                <a:latin typeface="Courier New" pitchFamily="49" charset="0"/>
              </a:rPr>
              <a:t>($</a:t>
            </a:r>
            <a:r>
              <a:rPr lang="en-US" sz="2400" dirty="0">
                <a:latin typeface="Courier New" pitchFamily="49" charset="0"/>
              </a:rPr>
              <a:t>t1 | $t2</a:t>
            </a:r>
            <a:r>
              <a:rPr lang="en-US" sz="2400" dirty="0" smtClean="0">
                <a:latin typeface="Courier New" pitchFamily="49" charset="0"/>
              </a:rPr>
              <a:t>)</a:t>
            </a:r>
          </a:p>
          <a:p>
            <a:r>
              <a:rPr lang="en-US" dirty="0" smtClean="0">
                <a:latin typeface="+mj-lt"/>
              </a:rPr>
              <a:t>Instruction Format (</a:t>
            </a:r>
            <a:r>
              <a:rPr lang="en-US" dirty="0" smtClean="0">
                <a:solidFill>
                  <a:schemeClr val="accent1"/>
                </a:solidFill>
                <a:latin typeface="+mj-lt"/>
              </a:rPr>
              <a:t>R</a:t>
            </a:r>
            <a:r>
              <a:rPr lang="en-US" dirty="0" smtClean="0">
                <a:latin typeface="+mj-lt"/>
              </a:rPr>
              <a:t> format)</a:t>
            </a:r>
            <a:endParaRPr lang="en-US" sz="2400" dirty="0" smtClean="0">
              <a:latin typeface="+mj-lt"/>
            </a:endParaRPr>
          </a:p>
          <a:p>
            <a:pPr>
              <a:buFont typeface="Wingdings" pitchFamily="2" charset="2"/>
              <a:buNone/>
            </a:pPr>
            <a:r>
              <a:rPr lang="en-US" sz="2600" dirty="0">
                <a:latin typeface="Courier New" pitchFamily="49" charset="0"/>
              </a:rPr>
              <a:t>	</a:t>
            </a:r>
            <a:endParaRPr lang="en-US" sz="2000" dirty="0">
              <a:latin typeface="Courier New" pitchFamily="49" charset="0"/>
            </a:endParaRPr>
          </a:p>
          <a:p>
            <a:pPr>
              <a:spcBef>
                <a:spcPts val="1200"/>
              </a:spcBef>
              <a:buFont typeface="Wingdings" pitchFamily="2" charset="2"/>
              <a:buNone/>
            </a:pPr>
            <a:r>
              <a:rPr lang="en-US" sz="2600" dirty="0">
                <a:latin typeface="Courier New" pitchFamily="49" charset="0"/>
              </a:rPr>
              <a:t>	</a:t>
            </a:r>
            <a:r>
              <a:rPr lang="en-US" sz="2400" dirty="0" err="1">
                <a:latin typeface="Courier New" pitchFamily="49" charset="0"/>
              </a:rPr>
              <a:t>andi</a:t>
            </a:r>
            <a:r>
              <a:rPr lang="en-US" sz="2400" dirty="0">
                <a:latin typeface="Courier New" pitchFamily="49" charset="0"/>
              </a:rPr>
              <a:t> $t0, $t1, </a:t>
            </a:r>
            <a:r>
              <a:rPr lang="en-US" sz="2400" dirty="0" smtClean="0">
                <a:latin typeface="Courier New" pitchFamily="49" charset="0"/>
              </a:rPr>
              <a:t>0xff00</a:t>
            </a:r>
            <a:r>
              <a:rPr lang="en-US" sz="2400" dirty="0">
                <a:latin typeface="Courier New" pitchFamily="49" charset="0"/>
              </a:rPr>
              <a:t>	#$t0 = $t1 &amp; ff00</a:t>
            </a:r>
          </a:p>
          <a:p>
            <a:pPr>
              <a:spcBef>
                <a:spcPts val="1200"/>
              </a:spcBef>
              <a:buFont typeface="Wingdings" pitchFamily="2" charset="2"/>
              <a:buNone/>
            </a:pPr>
            <a:r>
              <a:rPr lang="en-US" sz="2600" dirty="0">
                <a:latin typeface="Courier New" pitchFamily="49" charset="0"/>
              </a:rPr>
              <a:t>	</a:t>
            </a:r>
            <a:r>
              <a:rPr lang="en-US" sz="2400" dirty="0" err="1">
                <a:latin typeface="Courier New" pitchFamily="49" charset="0"/>
              </a:rPr>
              <a:t>ori</a:t>
            </a:r>
            <a:r>
              <a:rPr lang="en-US" sz="2400" dirty="0">
                <a:latin typeface="Courier New" pitchFamily="49" charset="0"/>
              </a:rPr>
              <a:t>  $t0, $t1, </a:t>
            </a:r>
            <a:r>
              <a:rPr lang="en-US" sz="2400" dirty="0" smtClean="0">
                <a:latin typeface="Courier New" pitchFamily="49" charset="0"/>
              </a:rPr>
              <a:t>0xff00</a:t>
            </a:r>
            <a:r>
              <a:rPr lang="en-US" sz="2400" dirty="0">
                <a:latin typeface="Courier New" pitchFamily="49" charset="0"/>
              </a:rPr>
              <a:t>	#$t0 = $t1 | </a:t>
            </a:r>
            <a:r>
              <a:rPr lang="en-US" sz="2400" dirty="0" smtClean="0">
                <a:latin typeface="Courier New" pitchFamily="49" charset="0"/>
              </a:rPr>
              <a:t>ff00</a:t>
            </a:r>
          </a:p>
          <a:p>
            <a:pPr>
              <a:spcBef>
                <a:spcPts val="1200"/>
              </a:spcBef>
            </a:pPr>
            <a:r>
              <a:rPr lang="en-US" dirty="0" smtClean="0"/>
              <a:t>Instruction Format (</a:t>
            </a:r>
            <a:r>
              <a:rPr lang="en-US" dirty="0" smtClean="0">
                <a:solidFill>
                  <a:schemeClr val="accent1"/>
                </a:solidFill>
              </a:rPr>
              <a:t>I</a:t>
            </a:r>
            <a:r>
              <a:rPr lang="en-US" dirty="0" smtClean="0"/>
              <a:t> format)</a:t>
            </a:r>
          </a:p>
          <a:p>
            <a:pPr>
              <a:spcBef>
                <a:spcPts val="1200"/>
              </a:spcBef>
              <a:buFont typeface="Wingdings" pitchFamily="2" charset="2"/>
              <a:buNone/>
            </a:pPr>
            <a:endParaRPr lang="en-US" sz="2400" dirty="0">
              <a:latin typeface="Courier New" pitchFamily="49" charset="0"/>
            </a:endParaRPr>
          </a:p>
        </p:txBody>
      </p:sp>
      <p:sp>
        <p:nvSpPr>
          <p:cNvPr id="422924" name="Rectangle 12"/>
          <p:cNvSpPr>
            <a:spLocks noChangeArrowheads="1"/>
          </p:cNvSpPr>
          <p:nvPr/>
        </p:nvSpPr>
        <p:spPr bwMode="auto">
          <a:xfrm>
            <a:off x="1447800" y="3702610"/>
            <a:ext cx="5791200" cy="2921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22925" name="Line 13"/>
          <p:cNvSpPr>
            <a:spLocks noChangeShapeType="1"/>
          </p:cNvSpPr>
          <p:nvPr/>
        </p:nvSpPr>
        <p:spPr bwMode="auto">
          <a:xfrm>
            <a:off x="2514600" y="3702610"/>
            <a:ext cx="0" cy="2905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2926" name="Line 14"/>
          <p:cNvSpPr>
            <a:spLocks noChangeShapeType="1"/>
          </p:cNvSpPr>
          <p:nvPr/>
        </p:nvSpPr>
        <p:spPr bwMode="auto">
          <a:xfrm>
            <a:off x="3422650" y="3704197"/>
            <a:ext cx="0" cy="2905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2927" name="Line 15"/>
          <p:cNvSpPr>
            <a:spLocks noChangeShapeType="1"/>
          </p:cNvSpPr>
          <p:nvPr/>
        </p:nvSpPr>
        <p:spPr bwMode="auto">
          <a:xfrm>
            <a:off x="4337050" y="3704197"/>
            <a:ext cx="0" cy="2905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2928" name="Text Box 16"/>
          <p:cNvSpPr txBox="1">
            <a:spLocks noChangeArrowheads="1"/>
          </p:cNvSpPr>
          <p:nvPr/>
        </p:nvSpPr>
        <p:spPr bwMode="auto">
          <a:xfrm>
            <a:off x="1442889" y="3702610"/>
            <a:ext cx="6058069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  </a:t>
            </a:r>
            <a:r>
              <a:rPr lang="en-US" dirty="0" smtClean="0">
                <a:solidFill>
                  <a:schemeClr val="tx1"/>
                </a:solidFill>
              </a:rPr>
              <a:t>0x00             </a:t>
            </a:r>
            <a:r>
              <a:rPr lang="en-US" dirty="0">
                <a:solidFill>
                  <a:schemeClr val="tx1"/>
                </a:solidFill>
              </a:rPr>
              <a:t>9           10          8             </a:t>
            </a:r>
            <a:r>
              <a:rPr lang="en-US" dirty="0" smtClean="0">
                <a:solidFill>
                  <a:schemeClr val="tx1"/>
                </a:solidFill>
              </a:rPr>
              <a:t> 0           </a:t>
            </a:r>
            <a:r>
              <a:rPr lang="en-US" dirty="0">
                <a:solidFill>
                  <a:schemeClr val="tx1"/>
                </a:solidFill>
              </a:rPr>
              <a:t>0x24  </a:t>
            </a:r>
          </a:p>
        </p:txBody>
      </p:sp>
      <p:sp>
        <p:nvSpPr>
          <p:cNvPr id="422929" name="Line 17"/>
          <p:cNvSpPr>
            <a:spLocks noChangeShapeType="1"/>
          </p:cNvSpPr>
          <p:nvPr/>
        </p:nvSpPr>
        <p:spPr bwMode="auto">
          <a:xfrm>
            <a:off x="5257800" y="370261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2930" name="Line 18"/>
          <p:cNvSpPr>
            <a:spLocks noChangeShapeType="1"/>
          </p:cNvSpPr>
          <p:nvPr/>
        </p:nvSpPr>
        <p:spPr bwMode="auto">
          <a:xfrm>
            <a:off x="6172200" y="370261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1524000" y="5867400"/>
            <a:ext cx="5791200" cy="2921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Line 13"/>
          <p:cNvSpPr>
            <a:spLocks noChangeShapeType="1"/>
          </p:cNvSpPr>
          <p:nvPr/>
        </p:nvSpPr>
        <p:spPr bwMode="auto">
          <a:xfrm>
            <a:off x="2590800" y="5867400"/>
            <a:ext cx="0" cy="2905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" name="Line 14"/>
          <p:cNvSpPr>
            <a:spLocks noChangeShapeType="1"/>
          </p:cNvSpPr>
          <p:nvPr/>
        </p:nvSpPr>
        <p:spPr bwMode="auto">
          <a:xfrm>
            <a:off x="3498850" y="5868987"/>
            <a:ext cx="0" cy="2905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" name="Line 15"/>
          <p:cNvSpPr>
            <a:spLocks noChangeShapeType="1"/>
          </p:cNvSpPr>
          <p:nvPr/>
        </p:nvSpPr>
        <p:spPr bwMode="auto">
          <a:xfrm>
            <a:off x="4413250" y="5868987"/>
            <a:ext cx="0" cy="2905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" name="Text Box 16"/>
          <p:cNvSpPr txBox="1">
            <a:spLocks noChangeArrowheads="1"/>
          </p:cNvSpPr>
          <p:nvPr/>
        </p:nvSpPr>
        <p:spPr bwMode="auto">
          <a:xfrm>
            <a:off x="1676400" y="5867400"/>
            <a:ext cx="4519186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0x0C          </a:t>
            </a:r>
            <a:r>
              <a:rPr lang="en-US" dirty="0">
                <a:solidFill>
                  <a:schemeClr val="tx1"/>
                </a:solidFill>
              </a:rPr>
              <a:t>9         </a:t>
            </a:r>
            <a:r>
              <a:rPr lang="en-US" dirty="0" smtClean="0">
                <a:solidFill>
                  <a:schemeClr val="tx1"/>
                </a:solidFill>
              </a:rPr>
              <a:t>   8                    0xFF00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ectangle 21"/>
          <p:cNvSpPr>
            <a:spLocks noChangeArrowheads="1"/>
          </p:cNvSpPr>
          <p:nvPr/>
        </p:nvSpPr>
        <p:spPr bwMode="auto">
          <a:xfrm>
            <a:off x="7258080" y="3675067"/>
            <a:ext cx="16002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and</a:t>
            </a:r>
            <a:endParaRPr lang="en-US" sz="2000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Symbol" pitchFamily="18" charset="2"/>
            </a:endParaRPr>
          </a:p>
        </p:txBody>
      </p:sp>
      <p:sp>
        <p:nvSpPr>
          <p:cNvPr id="17" name="Rectangle 21"/>
          <p:cNvSpPr>
            <a:spLocks noChangeArrowheads="1"/>
          </p:cNvSpPr>
          <p:nvPr/>
        </p:nvSpPr>
        <p:spPr bwMode="auto">
          <a:xfrm>
            <a:off x="7329518" y="5857892"/>
            <a:ext cx="16002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Symbol" pitchFamily="18" charset="2"/>
              </a:rPr>
              <a:t>andi</a:t>
            </a:r>
            <a:endParaRPr lang="en-US" sz="2000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19104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Logical Operations in Action</a:t>
            </a:r>
          </a:p>
        </p:txBody>
      </p:sp>
      <p:sp>
        <p:nvSpPr>
          <p:cNvPr id="443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762000"/>
            <a:ext cx="8153400" cy="5191165"/>
          </a:xfrm>
        </p:spPr>
        <p:txBody>
          <a:bodyPr/>
          <a:lstStyle/>
          <a:p>
            <a:r>
              <a:rPr lang="en-US" dirty="0"/>
              <a:t>Logical operations operate on individual bits of the operand.</a:t>
            </a:r>
          </a:p>
          <a:p>
            <a:pPr lvl="1">
              <a:buFont typeface="Monotype Sorts" pitchFamily="2" charset="2"/>
              <a:buNone/>
            </a:pPr>
            <a:r>
              <a:rPr lang="en-US" sz="2200" dirty="0">
                <a:latin typeface="Courier New" pitchFamily="49" charset="0"/>
              </a:rPr>
              <a:t>               	</a:t>
            </a:r>
            <a:r>
              <a:rPr lang="en-US" sz="2200" b="1" dirty="0">
                <a:latin typeface="Courier New" pitchFamily="49" charset="0"/>
              </a:rPr>
              <a:t>$t2 = 0…0 0000 1101 0000</a:t>
            </a:r>
          </a:p>
          <a:p>
            <a:pPr lvl="1">
              <a:buFont typeface="Monotype Sorts" pitchFamily="2" charset="2"/>
              <a:buNone/>
            </a:pPr>
            <a:r>
              <a:rPr lang="en-US" sz="2200" b="1" dirty="0">
                <a:latin typeface="Courier New" pitchFamily="49" charset="0"/>
              </a:rPr>
              <a:t>					$t1 = 0…0 0011 1100 </a:t>
            </a:r>
            <a:r>
              <a:rPr lang="en-US" sz="2200" b="1" dirty="0" smtClean="0">
                <a:latin typeface="Courier New" pitchFamily="49" charset="0"/>
              </a:rPr>
              <a:t>0000</a:t>
            </a:r>
          </a:p>
          <a:p>
            <a:pPr lvl="1">
              <a:buFont typeface="Monotype Sorts" pitchFamily="2" charset="2"/>
              <a:buNone/>
            </a:pPr>
            <a:endParaRPr lang="en-US" sz="2200" b="1" dirty="0" smtClean="0">
              <a:latin typeface="Courier New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en-US" sz="2200" dirty="0" smtClean="0">
                <a:latin typeface="Courier New" pitchFamily="49" charset="0"/>
              </a:rPr>
              <a:t>and	$</a:t>
            </a:r>
            <a:r>
              <a:rPr lang="en-US" sz="2200" dirty="0">
                <a:latin typeface="Courier New" pitchFamily="49" charset="0"/>
              </a:rPr>
              <a:t>t0, $t1, $t2</a:t>
            </a:r>
            <a:r>
              <a:rPr lang="en-US" sz="2200" b="1" dirty="0">
                <a:latin typeface="Courier New" pitchFamily="49" charset="0"/>
              </a:rPr>
              <a:t>	$t0 =</a:t>
            </a:r>
          </a:p>
          <a:p>
            <a:pPr>
              <a:buFont typeface="Monotype Sorts" pitchFamily="2" charset="2"/>
              <a:buNone/>
            </a:pPr>
            <a:endParaRPr lang="en-US" sz="2200" b="1" dirty="0">
              <a:latin typeface="Courier New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en-US" sz="2200" dirty="0" smtClean="0">
                <a:latin typeface="Courier New" pitchFamily="49" charset="0"/>
              </a:rPr>
              <a:t>or	$</a:t>
            </a:r>
            <a:r>
              <a:rPr lang="en-US" sz="2200" dirty="0">
                <a:latin typeface="Courier New" pitchFamily="49" charset="0"/>
              </a:rPr>
              <a:t>t0, $t1 $t2</a:t>
            </a:r>
            <a:r>
              <a:rPr lang="en-US" sz="2200" b="1" dirty="0">
                <a:latin typeface="Courier New" pitchFamily="49" charset="0"/>
              </a:rPr>
              <a:t>	$t0 =</a:t>
            </a:r>
          </a:p>
          <a:p>
            <a:pPr>
              <a:buFont typeface="Monotype Sorts" pitchFamily="2" charset="2"/>
              <a:buNone/>
            </a:pPr>
            <a:endParaRPr lang="en-US" sz="2200" b="1" dirty="0">
              <a:latin typeface="Courier New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en-US" sz="2200" dirty="0" smtClean="0">
                <a:latin typeface="Courier New" pitchFamily="49" charset="0"/>
              </a:rPr>
              <a:t>nor	$</a:t>
            </a:r>
            <a:r>
              <a:rPr lang="en-US" sz="2200" dirty="0">
                <a:latin typeface="Courier New" pitchFamily="49" charset="0"/>
              </a:rPr>
              <a:t>t0, $t1, $</a:t>
            </a:r>
            <a:r>
              <a:rPr lang="en-US" sz="2200" dirty="0" smtClean="0">
                <a:latin typeface="Courier New" pitchFamily="49" charset="0"/>
              </a:rPr>
              <a:t>t2</a:t>
            </a:r>
            <a:r>
              <a:rPr lang="en-US" sz="2200" b="1" dirty="0">
                <a:latin typeface="Courier New" pitchFamily="49" charset="0"/>
              </a:rPr>
              <a:t>	$t0 </a:t>
            </a:r>
            <a:r>
              <a:rPr lang="en-US" sz="2200" b="1" dirty="0" smtClean="0">
                <a:latin typeface="Courier New" pitchFamily="49" charset="0"/>
              </a:rPr>
              <a:t>=</a:t>
            </a:r>
          </a:p>
          <a:p>
            <a:pPr>
              <a:buFont typeface="Monotype Sorts" pitchFamily="2" charset="2"/>
              <a:buNone/>
            </a:pPr>
            <a:endParaRPr lang="en-US" sz="2200" b="1" dirty="0" smtClean="0">
              <a:latin typeface="Courier New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en-US" sz="2200" dirty="0" err="1" smtClean="0">
                <a:latin typeface="Courier New" pitchFamily="49" charset="0"/>
              </a:rPr>
              <a:t>xor</a:t>
            </a:r>
            <a:r>
              <a:rPr lang="en-US" sz="2200" dirty="0" smtClean="0">
                <a:latin typeface="Courier New" pitchFamily="49" charset="0"/>
              </a:rPr>
              <a:t>	$t0, $t1, $t2</a:t>
            </a:r>
            <a:r>
              <a:rPr lang="en-US" sz="2200" b="1" dirty="0" smtClean="0">
                <a:latin typeface="Courier New" pitchFamily="49" charset="0"/>
              </a:rPr>
              <a:t>	$t0 =</a:t>
            </a:r>
            <a:endParaRPr lang="en-US" sz="2200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8938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</a:t>
            </a:r>
            <a:r>
              <a:rPr lang="en-US" dirty="0" smtClean="0"/>
              <a:t>Operations in Action</a:t>
            </a:r>
            <a:endParaRPr lang="en-US" dirty="0"/>
          </a:p>
        </p:txBody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762000"/>
            <a:ext cx="8153400" cy="5191165"/>
          </a:xfrm>
        </p:spPr>
        <p:txBody>
          <a:bodyPr/>
          <a:lstStyle/>
          <a:p>
            <a:r>
              <a:rPr lang="en-US" dirty="0"/>
              <a:t>Logic operations operate on individual bits of the operand.</a:t>
            </a:r>
          </a:p>
          <a:p>
            <a:pPr lvl="1">
              <a:buFont typeface="Monotype Sorts" pitchFamily="2" charset="2"/>
              <a:buNone/>
            </a:pPr>
            <a:r>
              <a:rPr lang="en-US" sz="2200" dirty="0">
                <a:latin typeface="Courier New" pitchFamily="49" charset="0"/>
              </a:rPr>
              <a:t>               	</a:t>
            </a:r>
            <a:r>
              <a:rPr lang="en-US" sz="2200" b="1" dirty="0">
                <a:latin typeface="Courier New" pitchFamily="49" charset="0"/>
              </a:rPr>
              <a:t>$t2 = 0…0 0000 1101 0000</a:t>
            </a:r>
          </a:p>
          <a:p>
            <a:pPr lvl="1">
              <a:buFont typeface="Monotype Sorts" pitchFamily="2" charset="2"/>
              <a:buNone/>
            </a:pPr>
            <a:r>
              <a:rPr lang="en-US" sz="2200" b="1" dirty="0">
                <a:latin typeface="Courier New" pitchFamily="49" charset="0"/>
              </a:rPr>
              <a:t>					$t1 = 0…0 0011 1100 </a:t>
            </a:r>
            <a:r>
              <a:rPr lang="en-US" sz="2200" b="1" dirty="0" smtClean="0">
                <a:latin typeface="Courier New" pitchFamily="49" charset="0"/>
              </a:rPr>
              <a:t>0000</a:t>
            </a:r>
          </a:p>
          <a:p>
            <a:pPr lvl="1">
              <a:buFont typeface="Monotype Sorts" pitchFamily="2" charset="2"/>
              <a:buNone/>
            </a:pPr>
            <a:endParaRPr lang="en-US" sz="2200" b="1" dirty="0">
              <a:latin typeface="Courier New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en-US" sz="2200" dirty="0" smtClean="0">
                <a:latin typeface="Courier New" pitchFamily="49" charset="0"/>
              </a:rPr>
              <a:t>and	$t0, $t1, $t2</a:t>
            </a:r>
            <a:r>
              <a:rPr lang="en-US" sz="2200" b="1" dirty="0" smtClean="0">
                <a:latin typeface="Courier New" pitchFamily="49" charset="0"/>
              </a:rPr>
              <a:t>	$t0 =</a:t>
            </a:r>
          </a:p>
          <a:p>
            <a:pPr>
              <a:buFont typeface="Monotype Sorts" pitchFamily="2" charset="2"/>
              <a:buNone/>
            </a:pPr>
            <a:endParaRPr lang="en-US" sz="2200" b="1" dirty="0" smtClean="0">
              <a:latin typeface="Courier New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en-US" sz="2200" dirty="0" smtClean="0">
                <a:latin typeface="Courier New" pitchFamily="49" charset="0"/>
              </a:rPr>
              <a:t>or	$t0, $t1 $t2</a:t>
            </a:r>
            <a:r>
              <a:rPr lang="en-US" sz="2200" b="1" dirty="0" smtClean="0">
                <a:latin typeface="Courier New" pitchFamily="49" charset="0"/>
              </a:rPr>
              <a:t>	$t0 =</a:t>
            </a:r>
          </a:p>
          <a:p>
            <a:pPr>
              <a:buFont typeface="Monotype Sorts" pitchFamily="2" charset="2"/>
              <a:buNone/>
            </a:pPr>
            <a:endParaRPr lang="en-US" sz="2200" b="1" dirty="0" smtClean="0">
              <a:latin typeface="Courier New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en-US" sz="2200" dirty="0" smtClean="0">
                <a:latin typeface="Courier New" pitchFamily="49" charset="0"/>
              </a:rPr>
              <a:t>nor	$t0, $t1, $t2</a:t>
            </a:r>
            <a:r>
              <a:rPr lang="en-US" sz="2200" b="1" dirty="0" smtClean="0">
                <a:latin typeface="Courier New" pitchFamily="49" charset="0"/>
              </a:rPr>
              <a:t>	$t0 =</a:t>
            </a:r>
          </a:p>
          <a:p>
            <a:pPr>
              <a:buFont typeface="Monotype Sorts" pitchFamily="2" charset="2"/>
              <a:buNone/>
            </a:pPr>
            <a:endParaRPr lang="en-US" sz="2200" b="1" dirty="0" smtClean="0">
              <a:latin typeface="Courier New" pitchFamily="49" charset="0"/>
            </a:endParaRPr>
          </a:p>
          <a:p>
            <a:pPr>
              <a:buFont typeface="Monotype Sorts" pitchFamily="2" charset="2"/>
              <a:buNone/>
            </a:pPr>
            <a:r>
              <a:rPr lang="en-US" sz="2200" dirty="0" err="1" smtClean="0">
                <a:latin typeface="Courier New" pitchFamily="49" charset="0"/>
              </a:rPr>
              <a:t>xor</a:t>
            </a:r>
            <a:r>
              <a:rPr lang="en-US" sz="2200" dirty="0" smtClean="0">
                <a:latin typeface="Courier New" pitchFamily="49" charset="0"/>
              </a:rPr>
              <a:t>	$t0, $t1, $t2</a:t>
            </a:r>
            <a:r>
              <a:rPr lang="en-US" sz="2200" b="1" dirty="0" smtClean="0">
                <a:latin typeface="Courier New" pitchFamily="49" charset="0"/>
              </a:rPr>
              <a:t>	$t0 =</a:t>
            </a:r>
            <a:endParaRPr lang="en-US" sz="2200" b="1" dirty="0"/>
          </a:p>
        </p:txBody>
      </p:sp>
      <p:sp>
        <p:nvSpPr>
          <p:cNvPr id="445444" name="Text Box 4"/>
          <p:cNvSpPr txBox="1">
            <a:spLocks noChangeArrowheads="1"/>
          </p:cNvSpPr>
          <p:nvPr/>
        </p:nvSpPr>
        <p:spPr bwMode="auto">
          <a:xfrm>
            <a:off x="5181600" y="2859856"/>
            <a:ext cx="3429000" cy="46677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r>
              <a:rPr lang="en-US" sz="2200" b="1" dirty="0">
                <a:latin typeface="Courier New" pitchFamily="49" charset="0"/>
              </a:rPr>
              <a:t>0…0 0000 1100 0000</a:t>
            </a:r>
          </a:p>
        </p:txBody>
      </p:sp>
      <p:sp>
        <p:nvSpPr>
          <p:cNvPr id="445445" name="Text Box 5"/>
          <p:cNvSpPr txBox="1">
            <a:spLocks noChangeArrowheads="1"/>
          </p:cNvSpPr>
          <p:nvPr/>
        </p:nvSpPr>
        <p:spPr bwMode="auto">
          <a:xfrm>
            <a:off x="5143500" y="3886200"/>
            <a:ext cx="3771900" cy="3857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r>
              <a:rPr lang="en-US" sz="2200" b="1" dirty="0">
                <a:latin typeface="Courier New" pitchFamily="49" charset="0"/>
              </a:rPr>
              <a:t>0…0 0011 1101 0000</a:t>
            </a:r>
          </a:p>
        </p:txBody>
      </p:sp>
      <p:sp>
        <p:nvSpPr>
          <p:cNvPr id="445447" name="Text Box 7"/>
          <p:cNvSpPr txBox="1">
            <a:spLocks noChangeArrowheads="1"/>
          </p:cNvSpPr>
          <p:nvPr/>
        </p:nvSpPr>
        <p:spPr bwMode="auto">
          <a:xfrm>
            <a:off x="5181600" y="4899846"/>
            <a:ext cx="3429000" cy="3857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r>
              <a:rPr lang="en-US" sz="2200" b="1" dirty="0">
                <a:latin typeface="Courier New" pitchFamily="49" charset="0"/>
              </a:rPr>
              <a:t>1…1 1100 0010 1111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5181600" y="5940465"/>
            <a:ext cx="3429000" cy="3898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r>
              <a:rPr lang="en-US" sz="2200" b="1" dirty="0" smtClean="0">
                <a:latin typeface="Courier New" pitchFamily="49" charset="0"/>
              </a:rPr>
              <a:t>0…0 0011 0001 0000</a:t>
            </a:r>
            <a:endParaRPr lang="en-US" sz="2200" b="1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1899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5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5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5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444" grpId="0" autoUpdateAnimBg="0"/>
      <p:bldP spid="445445" grpId="0" autoUpdateAnimBg="0"/>
      <p:bldP spid="445447" grpId="0" autoUpdateAnimBg="0"/>
      <p:bldP spid="7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Uses of Logical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914400"/>
            <a:ext cx="7848600" cy="5517408"/>
          </a:xfrm>
        </p:spPr>
        <p:txBody>
          <a:bodyPr/>
          <a:lstStyle/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and</a:t>
            </a:r>
            <a:r>
              <a:rPr lang="en-US" dirty="0" smtClean="0"/>
              <a:t> can apply a bit pattern to a set of bits to force zeros where there is a 0 in the bit pattern.  The bit pattern is called a </a:t>
            </a:r>
            <a:r>
              <a:rPr lang="en-US" dirty="0" smtClean="0">
                <a:solidFill>
                  <a:schemeClr val="accent1"/>
                </a:solidFill>
              </a:rPr>
              <a:t>mask</a:t>
            </a:r>
            <a:r>
              <a:rPr lang="en-US" dirty="0" smtClean="0"/>
              <a:t>, since it “conceals” the bits it is zeroing out.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Nor </a:t>
            </a:r>
            <a:r>
              <a:rPr lang="en-US" dirty="0" smtClean="0"/>
              <a:t>is often used to </a:t>
            </a:r>
            <a:r>
              <a:rPr lang="en-US" dirty="0" smtClean="0">
                <a:solidFill>
                  <a:srgbClr val="FF0000"/>
                </a:solidFill>
              </a:rPr>
              <a:t>invert</a:t>
            </a:r>
            <a:r>
              <a:rPr lang="en-US" dirty="0" smtClean="0"/>
              <a:t> the bits of a single operand 									</a:t>
            </a:r>
            <a:r>
              <a:rPr lang="en-US" dirty="0" smtClean="0">
                <a:latin typeface="Courier New" pitchFamily="49" charset="0"/>
              </a:rPr>
              <a:t>nor $t1, $t1, $zero</a:t>
            </a:r>
          </a:p>
          <a:p>
            <a:endParaRPr lang="en-US" dirty="0" smtClean="0">
              <a:latin typeface="Courier New" pitchFamily="49" charset="0"/>
            </a:endParaRPr>
          </a:p>
          <a:p>
            <a:r>
              <a:rPr lang="en-US" dirty="0" smtClean="0"/>
              <a:t>Along with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sll</a:t>
            </a:r>
            <a:r>
              <a:rPr lang="en-US" dirty="0" smtClean="0"/>
              <a:t> and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slr</a:t>
            </a:r>
            <a:r>
              <a:rPr lang="en-US" dirty="0" smtClean="0"/>
              <a:t>, and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and</a:t>
            </a:r>
            <a:r>
              <a:rPr lang="en-US" dirty="0" smtClean="0"/>
              <a:t> </a:t>
            </a:r>
            <a:r>
              <a:rPr lang="en-US" dirty="0" err="1" smtClean="0"/>
              <a:t>and</a:t>
            </a:r>
            <a:r>
              <a:rPr lang="en-US" dirty="0" smtClean="0"/>
              <a:t>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or</a:t>
            </a:r>
            <a:r>
              <a:rPr lang="en-US" dirty="0" smtClean="0"/>
              <a:t> are used to </a:t>
            </a:r>
            <a:r>
              <a:rPr lang="en-US" dirty="0" smtClean="0">
                <a:solidFill>
                  <a:srgbClr val="FF0000"/>
                </a:solidFill>
              </a:rPr>
              <a:t>insert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extract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sub-fields</a:t>
            </a:r>
            <a:r>
              <a:rPr lang="en-US" dirty="0" smtClean="0"/>
              <a:t> within a 32-bit word</a:t>
            </a:r>
          </a:p>
          <a:p>
            <a:endParaRPr lang="en-US" dirty="0" smtClean="0"/>
          </a:p>
          <a:p>
            <a:r>
              <a:rPr lang="en-US" dirty="0" smtClean="0"/>
              <a:t>The full instruction set also include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xor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54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MIPS Logical Instructions (Bit-Wise)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457200" y="869950"/>
          <a:ext cx="8229600" cy="411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0"/>
                <a:gridCol w="2743200"/>
                <a:gridCol w="2743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C operator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R-format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smtClean="0"/>
                        <a:t>I-format</a:t>
                      </a:r>
                      <a:endParaRPr lang="en-US" sz="24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Courier New"/>
                          <a:cs typeface="Courier New"/>
                        </a:rPr>
                        <a:t>&amp; </a:t>
                      </a:r>
                      <a:r>
                        <a:rPr lang="en-US" sz="2400" dirty="0" smtClean="0">
                          <a:latin typeface="+mn-lt"/>
                          <a:cs typeface="Courier New"/>
                        </a:rPr>
                        <a:t>(and)</a:t>
                      </a:r>
                      <a:endParaRPr lang="en-US" sz="2400" dirty="0">
                        <a:latin typeface="+mn-lt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Courier New"/>
                          <a:cs typeface="Courier New"/>
                        </a:rPr>
                        <a:t>and</a:t>
                      </a:r>
                      <a:endParaRPr lang="en-US" sz="24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latin typeface="Courier New"/>
                          <a:cs typeface="Courier New"/>
                        </a:rPr>
                        <a:t>andi</a:t>
                      </a:r>
                      <a:endParaRPr lang="en-US" sz="24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Courier New"/>
                          <a:cs typeface="Courier New"/>
                        </a:rPr>
                        <a:t>| </a:t>
                      </a:r>
                      <a:r>
                        <a:rPr lang="en-US" sz="2400" dirty="0" smtClean="0">
                          <a:latin typeface="+mn-lt"/>
                          <a:cs typeface="Courier New"/>
                        </a:rPr>
                        <a:t>(inclusive or)</a:t>
                      </a:r>
                      <a:endParaRPr lang="en-US" sz="2400" dirty="0">
                        <a:latin typeface="+mn-lt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Courier New"/>
                          <a:cs typeface="Courier New"/>
                        </a:rPr>
                        <a:t>or</a:t>
                      </a:r>
                      <a:endParaRPr lang="en-US" sz="24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latin typeface="Courier New"/>
                          <a:cs typeface="Courier New"/>
                        </a:rPr>
                        <a:t>ori</a:t>
                      </a:r>
                      <a:endParaRPr lang="en-US" sz="24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Courier New"/>
                          <a:cs typeface="Courier New"/>
                        </a:rPr>
                        <a:t>^ </a:t>
                      </a:r>
                      <a:r>
                        <a:rPr lang="en-US" sz="2400" dirty="0" smtClean="0">
                          <a:latin typeface="+mn-lt"/>
                          <a:cs typeface="Courier New"/>
                        </a:rPr>
                        <a:t>(exclusive or)</a:t>
                      </a:r>
                      <a:endParaRPr lang="en-US" sz="2400" dirty="0">
                        <a:latin typeface="+mn-lt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latin typeface="Courier New"/>
                          <a:cs typeface="Courier New"/>
                        </a:rPr>
                        <a:t>xor</a:t>
                      </a:r>
                      <a:endParaRPr lang="en-US" sz="24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latin typeface="Courier New"/>
                          <a:cs typeface="Courier New"/>
                        </a:rPr>
                        <a:t>xori</a:t>
                      </a:r>
                      <a:endParaRPr lang="en-US" sz="24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(none)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Courier New"/>
                          <a:cs typeface="Courier New"/>
                        </a:rPr>
                        <a:t>nor</a:t>
                      </a:r>
                      <a:r>
                        <a:rPr lang="en-US" sz="2400" dirty="0" smtClean="0">
                          <a:latin typeface="+mn-lt"/>
                          <a:cs typeface="Courier New"/>
                        </a:rPr>
                        <a:t>   (</a:t>
                      </a:r>
                      <a:r>
                        <a:rPr lang="en-US" sz="2400" dirty="0" smtClean="0">
                          <a:latin typeface="Courier New"/>
                          <a:cs typeface="Courier New"/>
                        </a:rPr>
                        <a:t>~(</a:t>
                      </a:r>
                      <a:r>
                        <a:rPr lang="en-US" sz="2400" dirty="0" err="1" smtClean="0">
                          <a:latin typeface="Courier New"/>
                          <a:cs typeface="Courier New"/>
                        </a:rPr>
                        <a:t>a|b</a:t>
                      </a:r>
                      <a:r>
                        <a:rPr lang="en-US" sz="2400" dirty="0" smtClean="0">
                          <a:latin typeface="Courier New"/>
                          <a:cs typeface="Courier New"/>
                        </a:rPr>
                        <a:t>)</a:t>
                      </a:r>
                      <a:r>
                        <a:rPr lang="en-US" sz="2400" dirty="0" smtClean="0">
                          <a:latin typeface="+mn-lt"/>
                          <a:cs typeface="Courier New"/>
                        </a:rPr>
                        <a:t>)</a:t>
                      </a:r>
                      <a:endParaRPr lang="en-US" sz="2400" dirty="0">
                        <a:latin typeface="+mn-lt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---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Courier New"/>
                          <a:cs typeface="Courier New"/>
                        </a:rPr>
                        <a:t>~ </a:t>
                      </a:r>
                      <a:r>
                        <a:rPr lang="en-US" sz="2400" dirty="0" smtClean="0"/>
                        <a:t>(complement)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Courier New"/>
                          <a:cs typeface="Courier New"/>
                        </a:rPr>
                        <a:t>not</a:t>
                      </a:r>
                      <a:r>
                        <a:rPr lang="en-US" sz="2400" dirty="0" smtClean="0"/>
                        <a:t>   (*)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---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Courier New"/>
                          <a:cs typeface="Courier New"/>
                        </a:rPr>
                        <a:t>&lt;&lt;</a:t>
                      </a:r>
                      <a:endParaRPr lang="en-US" sz="24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latin typeface="Courier New"/>
                          <a:cs typeface="Courier New"/>
                        </a:rPr>
                        <a:t>sll</a:t>
                      </a:r>
                      <a:endParaRPr lang="en-US" sz="24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---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Courier New"/>
                          <a:cs typeface="Courier New"/>
                        </a:rPr>
                        <a:t>&gt;&gt; </a:t>
                      </a:r>
                      <a:r>
                        <a:rPr lang="en-US" sz="2400" dirty="0" smtClean="0"/>
                        <a:t>(unsigned </a:t>
                      </a:r>
                      <a:r>
                        <a:rPr lang="en-US" sz="2400" dirty="0" err="1" smtClean="0"/>
                        <a:t>int</a:t>
                      </a:r>
                      <a:r>
                        <a:rPr lang="en-US" sz="2400" dirty="0" smtClean="0"/>
                        <a:t>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latin typeface="Courier New"/>
                          <a:cs typeface="Courier New"/>
                        </a:rPr>
                        <a:t>srl</a:t>
                      </a:r>
                      <a:endParaRPr lang="en-US" sz="24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---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Courier New"/>
                          <a:cs typeface="Courier New"/>
                        </a:rPr>
                        <a:t>&gt;&gt; </a:t>
                      </a:r>
                      <a:r>
                        <a:rPr lang="en-US" sz="2400" dirty="0" smtClean="0"/>
                        <a:t>(signed </a:t>
                      </a:r>
                      <a:r>
                        <a:rPr lang="en-US" sz="2400" dirty="0" err="1" smtClean="0"/>
                        <a:t>int</a:t>
                      </a:r>
                      <a:r>
                        <a:rPr lang="en-US" sz="2400" dirty="0" smtClean="0"/>
                        <a:t>)(**)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latin typeface="Courier New"/>
                          <a:cs typeface="Courier New"/>
                        </a:rPr>
                        <a:t>sra</a:t>
                      </a:r>
                      <a:endParaRPr lang="en-US" sz="240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---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227491"/>
            <a:ext cx="822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(*) </a:t>
            </a:r>
            <a:r>
              <a:rPr lang="en-US" sz="2000" dirty="0" err="1" smtClean="0"/>
              <a:t>pseudoinstruction</a:t>
            </a:r>
            <a:r>
              <a:rPr lang="en-US" sz="2000" dirty="0" smtClean="0"/>
              <a:t> – </a:t>
            </a:r>
            <a:r>
              <a:rPr lang="en-US" sz="2000" dirty="0" smtClean="0">
                <a:latin typeface="Courier New"/>
                <a:cs typeface="Courier New"/>
              </a:rPr>
              <a:t>not rd, </a:t>
            </a:r>
            <a:r>
              <a:rPr lang="en-US" sz="2000" dirty="0" err="1" smtClean="0">
                <a:latin typeface="Courier New"/>
                <a:cs typeface="Courier New"/>
              </a:rPr>
              <a:t>rs</a:t>
            </a:r>
            <a:r>
              <a:rPr lang="en-US" sz="2000" dirty="0" smtClean="0">
                <a:latin typeface="Courier New"/>
                <a:cs typeface="Courier New"/>
              </a:rPr>
              <a:t> </a:t>
            </a:r>
            <a:r>
              <a:rPr lang="en-US" sz="2000" dirty="0" smtClean="0"/>
              <a:t>translates to</a:t>
            </a:r>
            <a:r>
              <a:rPr lang="en-US" sz="2000" dirty="0" smtClean="0">
                <a:latin typeface="Courier New"/>
                <a:cs typeface="Courier New"/>
              </a:rPr>
              <a:t> nor rd, </a:t>
            </a:r>
            <a:r>
              <a:rPr lang="en-US" sz="2000" dirty="0" err="1" smtClean="0">
                <a:latin typeface="Courier New"/>
                <a:cs typeface="Courier New"/>
              </a:rPr>
              <a:t>rs</a:t>
            </a:r>
            <a:r>
              <a:rPr lang="en-US" sz="2000" dirty="0" smtClean="0">
                <a:latin typeface="Courier New"/>
                <a:cs typeface="Courier New"/>
              </a:rPr>
              <a:t>, $0</a:t>
            </a:r>
          </a:p>
          <a:p>
            <a:r>
              <a:rPr lang="en-US" sz="2000" dirty="0" smtClean="0">
                <a:cs typeface="Courier New"/>
              </a:rPr>
              <a:t>(**)</a:t>
            </a:r>
            <a:r>
              <a:rPr lang="en-US" sz="2000" dirty="0" smtClean="0">
                <a:latin typeface="Courier New"/>
                <a:cs typeface="Courier New"/>
              </a:rPr>
              <a:t> &gt;&gt; </a:t>
            </a:r>
            <a:r>
              <a:rPr lang="en-US" sz="2000" dirty="0" smtClean="0">
                <a:cs typeface="Courier New"/>
              </a:rPr>
              <a:t>is implementation-defined when the left operand is negative.</a:t>
            </a:r>
          </a:p>
        </p:txBody>
      </p:sp>
    </p:spTree>
    <p:extLst>
      <p:ext uri="{BB962C8B-B14F-4D97-AF65-F5344CB8AC3E}">
        <p14:creationId xmlns:p14="http://schemas.microsoft.com/office/powerpoint/2010/main" val="1111593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Coding Practice #1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857232"/>
            <a:ext cx="7848600" cy="1159292"/>
          </a:xfrm>
        </p:spPr>
        <p:txBody>
          <a:bodyPr>
            <a:normAutofit/>
          </a:bodyPr>
          <a:lstStyle/>
          <a:p>
            <a:r>
              <a:rPr lang="en-US" dirty="0" smtClean="0"/>
              <a:t>Give the shortest sequence of MIPS instructions that can extract the bits in $s3 - from bit position 5 to bit position 22 - and place them in register $t0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 bwMode="auto">
          <a:xfrm>
            <a:off x="1714480" y="2386325"/>
            <a:ext cx="5857916" cy="285752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accent1"/>
              </a:solidFill>
              <a:effectLst/>
              <a:latin typeface="Arial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1714480" y="3029267"/>
            <a:ext cx="5857916" cy="285752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accent1"/>
              </a:solidFill>
              <a:effectLst/>
              <a:latin typeface="Arial" charset="0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714480" y="2100573"/>
            <a:ext cx="6000792" cy="32829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Courier New" pitchFamily="49" charset="0"/>
              </a:rPr>
              <a:t>31        </a:t>
            </a:r>
            <a:r>
              <a:rPr lang="en-US" dirty="0" smtClean="0">
                <a:latin typeface="Courier New" pitchFamily="49" charset="0"/>
              </a:rPr>
              <a:t>23</a:t>
            </a:r>
            <a:r>
              <a:rPr lang="en-US" dirty="0" smtClean="0">
                <a:solidFill>
                  <a:schemeClr val="tx1"/>
                </a:solidFill>
                <a:latin typeface="Courier New" pitchFamily="49" charset="0"/>
              </a:rPr>
              <a:t> 22                     5 4  0</a:t>
            </a:r>
            <a:endParaRPr lang="en-US" dirty="0">
              <a:solidFill>
                <a:schemeClr val="tx1"/>
              </a:solidFill>
              <a:latin typeface="Courier New" pitchFamily="49" charset="0"/>
            </a:endParaRPr>
          </a:p>
        </p:txBody>
      </p:sp>
      <p:cxnSp>
        <p:nvCxnSpPr>
          <p:cNvPr id="8" name="Straight Connector 7"/>
          <p:cNvCxnSpPr/>
          <p:nvPr/>
        </p:nvCxnSpPr>
        <p:spPr bwMode="auto">
          <a:xfrm rot="5400000">
            <a:off x="3357554" y="2529201"/>
            <a:ext cx="285752" cy="1588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Straight Connector 8"/>
          <p:cNvCxnSpPr/>
          <p:nvPr/>
        </p:nvCxnSpPr>
        <p:spPr bwMode="auto">
          <a:xfrm rot="5400000">
            <a:off x="6787372" y="2528407"/>
            <a:ext cx="285752" cy="1588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Straight Arrow Connector 10"/>
          <p:cNvCxnSpPr/>
          <p:nvPr/>
        </p:nvCxnSpPr>
        <p:spPr bwMode="auto">
          <a:xfrm>
            <a:off x="5286380" y="2672077"/>
            <a:ext cx="642942" cy="357190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2" name="Straight Connector 11"/>
          <p:cNvCxnSpPr/>
          <p:nvPr/>
        </p:nvCxnSpPr>
        <p:spPr bwMode="auto">
          <a:xfrm rot="5400000">
            <a:off x="4001290" y="3171349"/>
            <a:ext cx="285752" cy="1588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7643834" y="2314887"/>
            <a:ext cx="714380" cy="35907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r>
              <a:rPr lang="en-US" sz="2000" dirty="0" smtClean="0">
                <a:solidFill>
                  <a:schemeClr val="tx1"/>
                </a:solidFill>
                <a:latin typeface="Courier New" pitchFamily="49" charset="0"/>
              </a:rPr>
              <a:t>$s3</a:t>
            </a:r>
            <a:endParaRPr lang="en-US" sz="2000" dirty="0">
              <a:solidFill>
                <a:schemeClr val="tx1"/>
              </a:solidFill>
              <a:latin typeface="Courier New" pitchFamily="49" charset="0"/>
            </a:endParaRPr>
          </a:p>
        </p:txBody>
      </p:sp>
      <p:sp>
        <p:nvSpPr>
          <p:cNvPr id="18" name="Text Box 4"/>
          <p:cNvSpPr txBox="1">
            <a:spLocks noChangeArrowheads="1"/>
          </p:cNvSpPr>
          <p:nvPr/>
        </p:nvSpPr>
        <p:spPr bwMode="auto">
          <a:xfrm>
            <a:off x="1714480" y="3029267"/>
            <a:ext cx="6000792" cy="32829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Courier New" pitchFamily="49" charset="0"/>
              </a:rPr>
              <a:t>0    . . .      0</a:t>
            </a:r>
            <a:endParaRPr lang="en-US" dirty="0">
              <a:solidFill>
                <a:schemeClr val="tx1"/>
              </a:solidFill>
              <a:latin typeface="Courier New" pitchFamily="49" charset="0"/>
            </a:endParaRPr>
          </a:p>
        </p:txBody>
      </p:sp>
      <p:sp>
        <p:nvSpPr>
          <p:cNvPr id="19" name="Text Box 4"/>
          <p:cNvSpPr txBox="1">
            <a:spLocks noChangeArrowheads="1"/>
          </p:cNvSpPr>
          <p:nvPr/>
        </p:nvSpPr>
        <p:spPr bwMode="auto">
          <a:xfrm>
            <a:off x="7643834" y="2957829"/>
            <a:ext cx="714380" cy="35907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r>
              <a:rPr lang="en-US" sz="2000" dirty="0" smtClean="0">
                <a:solidFill>
                  <a:schemeClr val="tx1"/>
                </a:solidFill>
                <a:latin typeface="Courier New" pitchFamily="49" charset="0"/>
              </a:rPr>
              <a:t>$t0</a:t>
            </a:r>
            <a:endParaRPr lang="en-US" sz="2000" dirty="0">
              <a:solidFill>
                <a:schemeClr val="tx1"/>
              </a:solidFill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838929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Coding Practice #1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857232"/>
            <a:ext cx="7848600" cy="1159292"/>
          </a:xfrm>
        </p:spPr>
        <p:txBody>
          <a:bodyPr>
            <a:normAutofit/>
          </a:bodyPr>
          <a:lstStyle/>
          <a:p>
            <a:r>
              <a:rPr lang="en-US" dirty="0" smtClean="0"/>
              <a:t>Give the shortest sequence of MIPS instructions that can extract the bits in $s3 - from bit position 5 to bit position 22 - and place them in register $t0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 bwMode="auto">
          <a:xfrm>
            <a:off x="1714480" y="2386325"/>
            <a:ext cx="5857916" cy="285752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accent1"/>
              </a:solidFill>
              <a:effectLst/>
              <a:latin typeface="Arial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1714480" y="3029267"/>
            <a:ext cx="5857916" cy="285752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accent1"/>
              </a:solidFill>
              <a:effectLst/>
              <a:latin typeface="Arial" charset="0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714480" y="2100573"/>
            <a:ext cx="6000792" cy="32829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Courier New" pitchFamily="49" charset="0"/>
              </a:rPr>
              <a:t>31        23 22                     5 4  0</a:t>
            </a:r>
            <a:endParaRPr lang="en-US" dirty="0">
              <a:solidFill>
                <a:schemeClr val="tx1"/>
              </a:solidFill>
              <a:latin typeface="Courier New" pitchFamily="49" charset="0"/>
            </a:endParaRPr>
          </a:p>
        </p:txBody>
      </p:sp>
      <p:cxnSp>
        <p:nvCxnSpPr>
          <p:cNvPr id="8" name="Straight Connector 7"/>
          <p:cNvCxnSpPr/>
          <p:nvPr/>
        </p:nvCxnSpPr>
        <p:spPr bwMode="auto">
          <a:xfrm rot="5400000">
            <a:off x="3357554" y="2529201"/>
            <a:ext cx="285752" cy="1588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Straight Connector 8"/>
          <p:cNvCxnSpPr/>
          <p:nvPr/>
        </p:nvCxnSpPr>
        <p:spPr bwMode="auto">
          <a:xfrm rot="5400000">
            <a:off x="6787372" y="2528407"/>
            <a:ext cx="285752" cy="1588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Straight Arrow Connector 10"/>
          <p:cNvCxnSpPr/>
          <p:nvPr/>
        </p:nvCxnSpPr>
        <p:spPr bwMode="auto">
          <a:xfrm>
            <a:off x="5286380" y="2672077"/>
            <a:ext cx="642942" cy="357190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2" name="Straight Connector 11"/>
          <p:cNvCxnSpPr/>
          <p:nvPr/>
        </p:nvCxnSpPr>
        <p:spPr bwMode="auto">
          <a:xfrm rot="5400000">
            <a:off x="4001290" y="3171349"/>
            <a:ext cx="285752" cy="1588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7643834" y="2314887"/>
            <a:ext cx="714380" cy="35907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r>
              <a:rPr lang="en-US" sz="2000" dirty="0" smtClean="0">
                <a:solidFill>
                  <a:schemeClr val="tx1"/>
                </a:solidFill>
                <a:latin typeface="Courier New" pitchFamily="49" charset="0"/>
              </a:rPr>
              <a:t>$s3</a:t>
            </a:r>
            <a:endParaRPr lang="en-US" sz="2000" dirty="0">
              <a:solidFill>
                <a:schemeClr val="tx1"/>
              </a:solidFill>
              <a:latin typeface="Courier New" pitchFamily="49" charset="0"/>
            </a:endParaRPr>
          </a:p>
        </p:txBody>
      </p:sp>
      <p:sp>
        <p:nvSpPr>
          <p:cNvPr id="18" name="Text Box 4"/>
          <p:cNvSpPr txBox="1">
            <a:spLocks noChangeArrowheads="1"/>
          </p:cNvSpPr>
          <p:nvPr/>
        </p:nvSpPr>
        <p:spPr bwMode="auto">
          <a:xfrm>
            <a:off x="1714480" y="3029267"/>
            <a:ext cx="6000792" cy="32829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Courier New" pitchFamily="49" charset="0"/>
              </a:rPr>
              <a:t>0    . . .      0</a:t>
            </a:r>
            <a:endParaRPr lang="en-US" dirty="0">
              <a:solidFill>
                <a:schemeClr val="tx1"/>
              </a:solidFill>
              <a:latin typeface="Courier New" pitchFamily="49" charset="0"/>
            </a:endParaRPr>
          </a:p>
        </p:txBody>
      </p:sp>
      <p:sp>
        <p:nvSpPr>
          <p:cNvPr id="19" name="Text Box 4"/>
          <p:cNvSpPr txBox="1">
            <a:spLocks noChangeArrowheads="1"/>
          </p:cNvSpPr>
          <p:nvPr/>
        </p:nvSpPr>
        <p:spPr bwMode="auto">
          <a:xfrm>
            <a:off x="7643834" y="2957829"/>
            <a:ext cx="714380" cy="35907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63500" tIns="25400" rIns="63500" bIns="25400">
            <a:spAutoFit/>
          </a:bodyPr>
          <a:lstStyle/>
          <a:p>
            <a:r>
              <a:rPr lang="en-US" sz="2000" dirty="0" smtClean="0">
                <a:solidFill>
                  <a:schemeClr val="tx1"/>
                </a:solidFill>
                <a:latin typeface="Courier New" pitchFamily="49" charset="0"/>
              </a:rPr>
              <a:t>$t0</a:t>
            </a:r>
            <a:endParaRPr lang="en-US" sz="2000" dirty="0">
              <a:solidFill>
                <a:schemeClr val="tx1"/>
              </a:solidFill>
              <a:latin typeface="Courier New" pitchFamily="49" charset="0"/>
            </a:endParaRP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1285852" y="4500570"/>
            <a:ext cx="6477000" cy="91917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lnSpc>
                <a:spcPct val="90000"/>
              </a:lnSpc>
              <a:spcBef>
                <a:spcPct val="65000"/>
              </a:spcBef>
              <a:buClr>
                <a:schemeClr val="accent1"/>
              </a:buClr>
              <a:buSzPct val="75000"/>
              <a:buFont typeface="Wingdings" pitchFamily="2" charset="2"/>
              <a:buNone/>
            </a:pPr>
            <a:r>
              <a:rPr lang="en-US" sz="2400" dirty="0">
                <a:solidFill>
                  <a:schemeClr val="accent2"/>
                </a:solidFill>
                <a:latin typeface="Courier New" pitchFamily="49" charset="0"/>
              </a:rPr>
              <a:t>	</a:t>
            </a:r>
            <a:r>
              <a:rPr lang="en-US" sz="2400" dirty="0" smtClean="0">
                <a:solidFill>
                  <a:schemeClr val="accent2"/>
                </a:solidFill>
                <a:latin typeface="Courier New" pitchFamily="49" charset="0"/>
              </a:rPr>
              <a:t>Snip: </a:t>
            </a:r>
            <a:r>
              <a:rPr lang="en-US" sz="2400" dirty="0" err="1" smtClean="0">
                <a:solidFill>
                  <a:schemeClr val="accent2"/>
                </a:solidFill>
                <a:latin typeface="Courier New" pitchFamily="49" charset="0"/>
              </a:rPr>
              <a:t>sll</a:t>
            </a:r>
            <a:r>
              <a:rPr lang="en-US" sz="2400" dirty="0" smtClean="0">
                <a:solidFill>
                  <a:schemeClr val="accent2"/>
                </a:solidFill>
                <a:latin typeface="Courier New" pitchFamily="49" charset="0"/>
              </a:rPr>
              <a:t>  $t0, $</a:t>
            </a:r>
            <a:r>
              <a:rPr lang="en-US" sz="2400" dirty="0">
                <a:solidFill>
                  <a:schemeClr val="accent2"/>
                </a:solidFill>
                <a:latin typeface="Courier New" pitchFamily="49" charset="0"/>
              </a:rPr>
              <a:t>s3</a:t>
            </a:r>
            <a:r>
              <a:rPr lang="en-US" sz="2400" dirty="0" smtClean="0">
                <a:solidFill>
                  <a:schemeClr val="accent2"/>
                </a:solidFill>
                <a:latin typeface="Courier New" pitchFamily="49" charset="0"/>
              </a:rPr>
              <a:t>, 9</a:t>
            </a:r>
            <a:br>
              <a:rPr lang="en-US" sz="2400" dirty="0" smtClean="0">
                <a:solidFill>
                  <a:schemeClr val="accent2"/>
                </a:solidFill>
                <a:latin typeface="Courier New" pitchFamily="49" charset="0"/>
              </a:rPr>
            </a:br>
            <a:r>
              <a:rPr lang="en-US" sz="2400" dirty="0" smtClean="0">
                <a:solidFill>
                  <a:schemeClr val="accent2"/>
                </a:solidFill>
                <a:latin typeface="Courier New" pitchFamily="49" charset="0"/>
              </a:rPr>
              <a:t>      </a:t>
            </a:r>
            <a:r>
              <a:rPr lang="en-US" sz="2400" dirty="0" err="1" smtClean="0">
                <a:solidFill>
                  <a:schemeClr val="accent2"/>
                </a:solidFill>
                <a:latin typeface="Courier New" pitchFamily="49" charset="0"/>
              </a:rPr>
              <a:t>srl</a:t>
            </a:r>
            <a:r>
              <a:rPr lang="en-US" sz="2400" dirty="0" smtClean="0">
                <a:solidFill>
                  <a:schemeClr val="accent2"/>
                </a:solidFill>
                <a:latin typeface="Courier New" pitchFamily="49" charset="0"/>
              </a:rPr>
              <a:t>  $t0, $t0, 14</a:t>
            </a:r>
            <a:r>
              <a:rPr lang="en-US" sz="2400" dirty="0">
                <a:solidFill>
                  <a:schemeClr val="accent2"/>
                </a:solidFill>
                <a:latin typeface="Courier New" pitchFamily="49" charset="0"/>
              </a:rPr>
              <a:t>			</a:t>
            </a:r>
          </a:p>
        </p:txBody>
      </p:sp>
    </p:spTree>
    <p:extLst>
      <p:ext uri="{BB962C8B-B14F-4D97-AF65-F5344CB8AC3E}">
        <p14:creationId xmlns:p14="http://schemas.microsoft.com/office/powerpoint/2010/main" val="19333918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599"/>
            <a:ext cx="8229600" cy="486281"/>
          </a:xfrm>
        </p:spPr>
        <p:txBody>
          <a:bodyPr/>
          <a:lstStyle/>
          <a:p>
            <a:r>
              <a:rPr lang="en-US" dirty="0"/>
              <a:t>Review:  MIPS Instructions, so far</a:t>
            </a:r>
          </a:p>
        </p:txBody>
      </p:sp>
      <p:graphicFrame>
        <p:nvGraphicFramePr>
          <p:cNvPr id="447731" name="Group 243"/>
          <p:cNvGraphicFramePr>
            <a:graphicFrameLocks noGrp="1"/>
          </p:cNvGraphicFramePr>
          <p:nvPr>
            <p:ph type="tbl" idx="1"/>
          </p:nvPr>
        </p:nvGraphicFramePr>
        <p:xfrm>
          <a:off x="142845" y="714356"/>
          <a:ext cx="8858313" cy="5791200"/>
        </p:xfrm>
        <a:graphic>
          <a:graphicData uri="http://schemas.openxmlformats.org/drawingml/2006/table">
            <a:tbl>
              <a:tblPr/>
              <a:tblGrid>
                <a:gridCol w="1071569"/>
                <a:gridCol w="1714512"/>
                <a:gridCol w="857256"/>
                <a:gridCol w="2242788"/>
                <a:gridCol w="2972188"/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Category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Instr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Example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Meaning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0825">
                <a:tc rowSpan="11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Arith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metic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(R &amp; I format)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add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&amp; 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add  $s1, $s2, $s3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$s1 = $s2 + $s3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subtract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 &amp; 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sub  $s1, $s2, $s3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$s1 = $s2 - $s3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add immediate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addi $s1, $s2, 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$s1 = $s2 + 4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D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shift left logical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 &amp; 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sll    $s1, $s2, 4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$s1 = $s2 &lt;&lt; 4 (fill with 0’s)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D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shift right logical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 &amp; 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srl    $s1, $s2, 4</a:t>
                      </a:r>
                      <a:endParaRPr kumimoji="0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$s1 = $s2 &gt;&gt; 4 (fill with 0’s)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D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shift right arithmetic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 &amp; 03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sra</a:t>
                      </a: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$s1, $s2, 4</a:t>
                      </a:r>
                      <a:endParaRPr kumimoji="0" lang="en-US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$s1 = $s2 &gt;&gt; 4 (fill with sign bit)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D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and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 &amp; 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and  $s1, $s2, $s3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$s1 = $s2 &amp; $s3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D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 &amp; 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or    $s1, $s2, $s3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$s1 = $s2 | $s3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D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nor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 &amp; 27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nor  $s1, $s2, $s3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$s1 = not ($s2 | $s3)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D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and immediate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and  $s1, $s2, FF00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$s1 = $s2 &amp; 0xFF00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D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or immediate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0D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or    $s1, $s2, FF00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$s1 = $s2 | 0xFF00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 row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Data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transfer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(I format)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load word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lw    $s1, 100($s2)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$s1 = Memory($s2+100)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 vMerge="1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store word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sw   $s1, 100($s2)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Memory($s2+100) = $s1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3049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22300" y="292081"/>
            <a:ext cx="2995613" cy="422275"/>
          </a:xfrm>
          <a:noFill/>
          <a:ln/>
        </p:spPr>
        <p:txBody>
          <a:bodyPr wrap="none"/>
          <a:lstStyle/>
          <a:p>
            <a:r>
              <a:rPr lang="en-US" altLang="zh-CN" dirty="0">
                <a:ea typeface="宋体" pitchFamily="2" charset="-122"/>
              </a:rPr>
              <a:t>MIPS Data Types</a:t>
            </a:r>
          </a:p>
        </p:txBody>
      </p:sp>
      <p:sp>
        <p:nvSpPr>
          <p:cNvPr id="406531" name="Rectangle 3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62000" y="139700"/>
            <a:ext cx="25400" cy="317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6532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524000" y="914400"/>
            <a:ext cx="6073775" cy="493724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sz="2000" b="1" u="sng" dirty="0">
                <a:solidFill>
                  <a:schemeClr val="tx1"/>
                </a:solidFill>
                <a:ea typeface="宋体" pitchFamily="2" charset="-122"/>
              </a:rPr>
              <a:t>Bit</a:t>
            </a:r>
            <a:r>
              <a:rPr lang="en-US" altLang="zh-CN" sz="2000" b="1" dirty="0">
                <a:solidFill>
                  <a:schemeClr val="tx1"/>
                </a:solidFill>
                <a:ea typeface="宋体" pitchFamily="2" charset="-122"/>
              </a:rPr>
              <a:t>:  </a:t>
            </a:r>
            <a:r>
              <a:rPr lang="en-US" altLang="zh-CN" sz="2000" dirty="0">
                <a:solidFill>
                  <a:srgbClr val="FF0000"/>
                </a:solidFill>
                <a:ea typeface="宋体" pitchFamily="2" charset="-122"/>
              </a:rPr>
              <a:t>0, 1</a:t>
            </a:r>
          </a:p>
          <a:p>
            <a:pPr>
              <a:lnSpc>
                <a:spcPct val="75000"/>
              </a:lnSpc>
            </a:pPr>
            <a:endParaRPr lang="en-US" altLang="zh-CN" sz="2000" dirty="0">
              <a:solidFill>
                <a:schemeClr val="tx1"/>
              </a:solidFill>
              <a:ea typeface="宋体" pitchFamily="2" charset="-122"/>
            </a:endParaRPr>
          </a:p>
          <a:p>
            <a:pPr>
              <a:lnSpc>
                <a:spcPct val="75000"/>
              </a:lnSpc>
            </a:pPr>
            <a:r>
              <a:rPr lang="en-US" altLang="zh-CN" sz="2000" b="1" u="sng" dirty="0">
                <a:solidFill>
                  <a:schemeClr val="tx1"/>
                </a:solidFill>
                <a:ea typeface="宋体" pitchFamily="2" charset="-122"/>
              </a:rPr>
              <a:t>Bit String</a:t>
            </a:r>
            <a:r>
              <a:rPr lang="en-US" altLang="zh-CN" sz="2000" b="1" dirty="0">
                <a:solidFill>
                  <a:schemeClr val="tx1"/>
                </a:solidFill>
                <a:ea typeface="宋体" pitchFamily="2" charset="-122"/>
              </a:rPr>
              <a:t>:  </a:t>
            </a:r>
            <a:r>
              <a:rPr lang="en-US" altLang="zh-CN" sz="2000" dirty="0">
                <a:solidFill>
                  <a:schemeClr val="tx1"/>
                </a:solidFill>
                <a:ea typeface="宋体" pitchFamily="2" charset="-122"/>
              </a:rPr>
              <a:t>sequence of bits of a particular length</a:t>
            </a:r>
          </a:p>
          <a:p>
            <a:r>
              <a:rPr lang="en-US" altLang="zh-CN" dirty="0">
                <a:ea typeface="宋体" pitchFamily="2" charset="-122"/>
              </a:rPr>
              <a:t> </a:t>
            </a:r>
            <a:r>
              <a:rPr lang="en-US" altLang="zh-CN" dirty="0" smtClean="0">
                <a:ea typeface="宋体" pitchFamily="2" charset="-122"/>
              </a:rPr>
              <a:t>     8  </a:t>
            </a:r>
            <a:r>
              <a:rPr lang="en-US" altLang="zh-CN" dirty="0">
                <a:ea typeface="宋体" pitchFamily="2" charset="-122"/>
              </a:rPr>
              <a:t>bits is a byte</a:t>
            </a:r>
          </a:p>
          <a:p>
            <a:r>
              <a:rPr lang="en-US" altLang="zh-CN" dirty="0">
                <a:solidFill>
                  <a:schemeClr val="tx1"/>
                </a:solidFill>
                <a:ea typeface="宋体" pitchFamily="2" charset="-122"/>
              </a:rPr>
              <a:t>     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16 bits is a half-word</a:t>
            </a:r>
          </a:p>
          <a:p>
            <a:r>
              <a:rPr lang="en-US" altLang="zh-CN" dirty="0">
                <a:solidFill>
                  <a:schemeClr val="tx1"/>
                </a:solidFill>
                <a:ea typeface="宋体" pitchFamily="2" charset="-122"/>
              </a:rPr>
              <a:t>     </a:t>
            </a:r>
            <a:r>
              <a:rPr lang="en-US" altLang="zh-CN" dirty="0">
                <a:ea typeface="宋体" pitchFamily="2" charset="-122"/>
              </a:rPr>
              <a:t>32 bits is a word</a:t>
            </a:r>
          </a:p>
          <a:p>
            <a:r>
              <a:rPr lang="en-US" altLang="zh-CN" dirty="0">
                <a:solidFill>
                  <a:schemeClr val="tx1"/>
                </a:solidFill>
                <a:ea typeface="宋体" pitchFamily="2" charset="-122"/>
              </a:rPr>
              <a:t>     64 bits is a double-word</a:t>
            </a:r>
            <a:endParaRPr lang="en-US" altLang="zh-CN" sz="2000" dirty="0">
              <a:solidFill>
                <a:schemeClr val="tx1"/>
              </a:solidFill>
              <a:ea typeface="宋体" pitchFamily="2" charset="-122"/>
            </a:endParaRPr>
          </a:p>
          <a:p>
            <a:pPr>
              <a:lnSpc>
                <a:spcPct val="75000"/>
              </a:lnSpc>
            </a:pPr>
            <a:endParaRPr lang="en-US" altLang="zh-CN" sz="2000" b="1" dirty="0">
              <a:solidFill>
                <a:schemeClr val="tx1"/>
              </a:solidFill>
              <a:ea typeface="宋体" pitchFamily="2" charset="-122"/>
            </a:endParaRPr>
          </a:p>
          <a:p>
            <a:r>
              <a:rPr lang="en-US" altLang="zh-CN" sz="2000" b="1" u="sng" dirty="0">
                <a:solidFill>
                  <a:schemeClr val="tx1"/>
                </a:solidFill>
                <a:ea typeface="宋体" pitchFamily="2" charset="-122"/>
              </a:rPr>
              <a:t>Character</a:t>
            </a:r>
            <a:r>
              <a:rPr lang="en-US" altLang="zh-CN" sz="2000" b="1" dirty="0">
                <a:solidFill>
                  <a:schemeClr val="tx1"/>
                </a:solidFill>
                <a:ea typeface="宋体" pitchFamily="2" charset="-122"/>
              </a:rPr>
              <a:t>:</a:t>
            </a:r>
          </a:p>
          <a:p>
            <a:r>
              <a:rPr lang="en-US" altLang="zh-CN" sz="2000" dirty="0">
                <a:solidFill>
                  <a:schemeClr val="tx1"/>
                </a:solidFill>
                <a:ea typeface="宋体" pitchFamily="2" charset="-122"/>
              </a:rPr>
              <a:t>      </a:t>
            </a:r>
            <a:r>
              <a:rPr lang="en-US" altLang="zh-CN" dirty="0">
                <a:ea typeface="宋体" pitchFamily="2" charset="-122"/>
              </a:rPr>
              <a:t>ASCII  7 bit code</a:t>
            </a:r>
            <a:endParaRPr lang="en-US" altLang="zh-CN" sz="2000" dirty="0">
              <a:ea typeface="宋体" pitchFamily="2" charset="-122"/>
            </a:endParaRPr>
          </a:p>
          <a:p>
            <a:pPr>
              <a:lnSpc>
                <a:spcPct val="75000"/>
              </a:lnSpc>
            </a:pPr>
            <a:endParaRPr lang="en-US" altLang="zh-CN" sz="2000" dirty="0">
              <a:solidFill>
                <a:schemeClr val="tx1"/>
              </a:solidFill>
              <a:ea typeface="宋体" pitchFamily="2" charset="-122"/>
            </a:endParaRPr>
          </a:p>
          <a:p>
            <a:pPr>
              <a:lnSpc>
                <a:spcPct val="75000"/>
              </a:lnSpc>
            </a:pPr>
            <a:r>
              <a:rPr lang="en-US" altLang="zh-CN" sz="2000" b="1" u="sng" dirty="0">
                <a:solidFill>
                  <a:schemeClr val="tx1"/>
                </a:solidFill>
                <a:ea typeface="宋体" pitchFamily="2" charset="-122"/>
              </a:rPr>
              <a:t>Decimal</a:t>
            </a:r>
            <a:r>
              <a:rPr lang="en-US" altLang="zh-CN" sz="2000" b="1" dirty="0">
                <a:solidFill>
                  <a:schemeClr val="tx1"/>
                </a:solidFill>
                <a:ea typeface="宋体" pitchFamily="2" charset="-122"/>
              </a:rPr>
              <a:t>:</a:t>
            </a:r>
          </a:p>
          <a:p>
            <a:r>
              <a:rPr lang="en-US" altLang="zh-CN" dirty="0">
                <a:solidFill>
                  <a:schemeClr val="tx1"/>
                </a:solidFill>
                <a:ea typeface="宋体" pitchFamily="2" charset="-122"/>
              </a:rPr>
              <a:t>      digits 0-9 encoded as 0000</a:t>
            </a:r>
            <a:r>
              <a:rPr lang="en-US" altLang="zh-CN" baseline="-25000" dirty="0">
                <a:solidFill>
                  <a:schemeClr val="tx1"/>
                </a:solidFill>
                <a:ea typeface="宋体" pitchFamily="2" charset="-122"/>
              </a:rPr>
              <a:t>2</a:t>
            </a:r>
            <a:r>
              <a:rPr lang="en-US" altLang="zh-CN" dirty="0">
                <a:solidFill>
                  <a:schemeClr val="tx1"/>
                </a:solidFill>
                <a:ea typeface="宋体" pitchFamily="2" charset="-122"/>
              </a:rPr>
              <a:t> thru 1001</a:t>
            </a:r>
            <a:r>
              <a:rPr lang="en-US" altLang="zh-CN" baseline="-25000" dirty="0">
                <a:solidFill>
                  <a:schemeClr val="tx1"/>
                </a:solidFill>
                <a:ea typeface="宋体" pitchFamily="2" charset="-122"/>
              </a:rPr>
              <a:t>2</a:t>
            </a:r>
          </a:p>
          <a:p>
            <a:r>
              <a:rPr lang="en-US" altLang="zh-CN" dirty="0">
                <a:solidFill>
                  <a:schemeClr val="tx1"/>
                </a:solidFill>
                <a:ea typeface="宋体" pitchFamily="2" charset="-122"/>
              </a:rPr>
              <a:t>      two decimal digits packed per 8 bit byte</a:t>
            </a:r>
            <a:endParaRPr lang="en-US" altLang="zh-CN" sz="2000" dirty="0">
              <a:solidFill>
                <a:schemeClr val="tx1"/>
              </a:solidFill>
              <a:ea typeface="宋体" pitchFamily="2" charset="-122"/>
            </a:endParaRPr>
          </a:p>
          <a:p>
            <a:pPr>
              <a:lnSpc>
                <a:spcPct val="75000"/>
              </a:lnSpc>
            </a:pPr>
            <a:endParaRPr lang="en-US" altLang="zh-CN" sz="2000" dirty="0">
              <a:solidFill>
                <a:schemeClr val="tx1"/>
              </a:solidFill>
              <a:ea typeface="宋体" pitchFamily="2" charset="-122"/>
            </a:endParaRPr>
          </a:p>
          <a:p>
            <a:pPr>
              <a:lnSpc>
                <a:spcPct val="75000"/>
              </a:lnSpc>
            </a:pPr>
            <a:r>
              <a:rPr lang="en-US" altLang="zh-CN" sz="2000" b="1" u="sng" dirty="0">
                <a:solidFill>
                  <a:schemeClr val="tx1"/>
                </a:solidFill>
                <a:ea typeface="宋体" pitchFamily="2" charset="-122"/>
              </a:rPr>
              <a:t>Integers:</a:t>
            </a:r>
            <a:r>
              <a:rPr lang="en-US" altLang="zh-CN" sz="2000" b="1" dirty="0">
                <a:solidFill>
                  <a:schemeClr val="tx1"/>
                </a:solidFill>
                <a:ea typeface="宋体" pitchFamily="2" charset="-122"/>
              </a:rPr>
              <a:t>  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2's complement</a:t>
            </a:r>
            <a:endParaRPr lang="en-US" altLang="zh-CN" sz="2000" dirty="0">
              <a:solidFill>
                <a:srgbClr val="FF0000"/>
              </a:solidFill>
              <a:ea typeface="宋体" pitchFamily="2" charset="-122"/>
            </a:endParaRPr>
          </a:p>
          <a:p>
            <a:pPr>
              <a:lnSpc>
                <a:spcPct val="75000"/>
              </a:lnSpc>
            </a:pPr>
            <a:endParaRPr lang="en-US" altLang="zh-CN" sz="2000" b="1" dirty="0">
              <a:solidFill>
                <a:schemeClr val="tx1"/>
              </a:solidFill>
              <a:ea typeface="宋体" pitchFamily="2" charset="-122"/>
            </a:endParaRPr>
          </a:p>
          <a:p>
            <a:pPr>
              <a:lnSpc>
                <a:spcPct val="75000"/>
              </a:lnSpc>
            </a:pPr>
            <a:r>
              <a:rPr lang="en-US" altLang="zh-CN" sz="2000" b="1" u="sng" dirty="0">
                <a:solidFill>
                  <a:schemeClr val="tx1"/>
                </a:solidFill>
                <a:ea typeface="宋体" pitchFamily="2" charset="-122"/>
              </a:rPr>
              <a:t>Floating Point</a:t>
            </a:r>
          </a:p>
          <a:p>
            <a:pPr>
              <a:lnSpc>
                <a:spcPct val="75000"/>
              </a:lnSpc>
            </a:pPr>
            <a:r>
              <a:rPr lang="en-US" altLang="zh-CN" b="1" dirty="0">
                <a:solidFill>
                  <a:schemeClr val="tx1"/>
                </a:solidFill>
                <a:ea typeface="宋体" pitchFamily="2" charset="-122"/>
              </a:rPr>
              <a:t>      </a:t>
            </a:r>
          </a:p>
        </p:txBody>
      </p:sp>
    </p:spTree>
    <p:extLst>
      <p:ext uri="{BB962C8B-B14F-4D97-AF65-F5344CB8AC3E}">
        <p14:creationId xmlns:p14="http://schemas.microsoft.com/office/powerpoint/2010/main" val="155772131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85800" y="304800"/>
            <a:ext cx="2820988" cy="422275"/>
          </a:xfrm>
        </p:spPr>
        <p:txBody>
          <a:bodyPr/>
          <a:lstStyle/>
          <a:p>
            <a:r>
              <a:rPr lang="en-US" altLang="zh-CN">
                <a:ea typeface="宋体" pitchFamily="2" charset="-122"/>
              </a:rPr>
              <a:t>Byte Addresses</a:t>
            </a:r>
          </a:p>
        </p:txBody>
      </p:sp>
      <p:sp>
        <p:nvSpPr>
          <p:cNvPr id="409603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85800" y="914400"/>
            <a:ext cx="7848600" cy="4872038"/>
          </a:xfrm>
        </p:spPr>
        <p:txBody>
          <a:bodyPr/>
          <a:lstStyle/>
          <a:p>
            <a:r>
              <a:rPr lang="en-US" altLang="zh-CN">
                <a:ea typeface="宋体" pitchFamily="2" charset="-122"/>
              </a:rPr>
              <a:t>Since </a:t>
            </a:r>
            <a:r>
              <a:rPr lang="en-US" altLang="zh-CN">
                <a:solidFill>
                  <a:schemeClr val="accent1"/>
                </a:solidFill>
                <a:ea typeface="宋体" pitchFamily="2" charset="-122"/>
              </a:rPr>
              <a:t>bytes</a:t>
            </a:r>
            <a:r>
              <a:rPr lang="en-US" altLang="zh-CN">
                <a:ea typeface="宋体" pitchFamily="2" charset="-122"/>
              </a:rPr>
              <a:t> (8 bits) are so useful, most ISAs support addressing individual bytes in memory</a:t>
            </a:r>
          </a:p>
          <a:p>
            <a:r>
              <a:rPr lang="en-US" altLang="zh-CN">
                <a:ea typeface="宋体" pitchFamily="2" charset="-122"/>
              </a:rPr>
              <a:t>Therefore, the memory address of a </a:t>
            </a:r>
            <a:r>
              <a:rPr lang="en-US" altLang="zh-CN">
                <a:solidFill>
                  <a:schemeClr val="accent1"/>
                </a:solidFill>
                <a:ea typeface="宋体" pitchFamily="2" charset="-122"/>
              </a:rPr>
              <a:t>word</a:t>
            </a:r>
            <a:r>
              <a:rPr lang="en-US" altLang="zh-CN">
                <a:ea typeface="宋体" pitchFamily="2" charset="-122"/>
              </a:rPr>
              <a:t> must be a multiple of 4 (</a:t>
            </a:r>
            <a:r>
              <a:rPr lang="en-US" altLang="zh-CN">
                <a:solidFill>
                  <a:schemeClr val="accent1"/>
                </a:solidFill>
                <a:ea typeface="宋体" pitchFamily="2" charset="-122"/>
              </a:rPr>
              <a:t>alignment restriction</a:t>
            </a:r>
            <a:r>
              <a:rPr lang="en-US" altLang="zh-CN">
                <a:ea typeface="宋体" pitchFamily="2" charset="-122"/>
              </a:rPr>
              <a:t>)</a:t>
            </a:r>
          </a:p>
          <a:p>
            <a:endParaRPr lang="en-US" altLang="zh-CN">
              <a:ea typeface="宋体" pitchFamily="2" charset="-122"/>
            </a:endParaRPr>
          </a:p>
          <a:p>
            <a:endParaRPr lang="en-US" altLang="zh-CN">
              <a:ea typeface="宋体" pitchFamily="2" charset="-122"/>
            </a:endParaRPr>
          </a:p>
          <a:p>
            <a:r>
              <a:rPr lang="en-US" altLang="zh-CN">
                <a:solidFill>
                  <a:srgbClr val="00B7A5"/>
                </a:solidFill>
                <a:ea typeface="宋体" pitchFamily="2" charset="-122"/>
              </a:rPr>
              <a:t>Big Endian:</a:t>
            </a:r>
            <a:r>
              <a:rPr lang="en-US" altLang="zh-CN">
                <a:ea typeface="宋体" pitchFamily="2" charset="-122"/>
              </a:rPr>
              <a:t>	 leftmost byte is word address</a:t>
            </a:r>
          </a:p>
          <a:p>
            <a:pPr lvl="2">
              <a:buFontTx/>
              <a:buNone/>
            </a:pPr>
            <a:r>
              <a:rPr lang="en-US" altLang="zh-CN">
                <a:ea typeface="宋体" pitchFamily="2" charset="-122"/>
              </a:rPr>
              <a:t>IBM 360/370, Motorola 68k, </a:t>
            </a:r>
            <a:r>
              <a:rPr lang="en-US" altLang="zh-CN">
                <a:solidFill>
                  <a:schemeClr val="accent1"/>
                </a:solidFill>
                <a:ea typeface="宋体" pitchFamily="2" charset="-122"/>
              </a:rPr>
              <a:t>MIPS</a:t>
            </a:r>
            <a:r>
              <a:rPr lang="en-US" altLang="zh-CN">
                <a:ea typeface="宋体" pitchFamily="2" charset="-122"/>
              </a:rPr>
              <a:t>, Sparc, HP PA</a:t>
            </a:r>
            <a:endParaRPr lang="en-US" altLang="zh-CN" sz="2400">
              <a:ea typeface="宋体" pitchFamily="2" charset="-122"/>
            </a:endParaRPr>
          </a:p>
          <a:p>
            <a:r>
              <a:rPr lang="en-US" altLang="zh-CN">
                <a:solidFill>
                  <a:schemeClr val="accent1"/>
                </a:solidFill>
                <a:ea typeface="宋体" pitchFamily="2" charset="-122"/>
              </a:rPr>
              <a:t>Little Endian</a:t>
            </a:r>
            <a:r>
              <a:rPr lang="en-US" altLang="zh-CN">
                <a:ea typeface="宋体" pitchFamily="2" charset="-122"/>
              </a:rPr>
              <a:t>:	rightmost byte is word address</a:t>
            </a:r>
          </a:p>
          <a:p>
            <a:pPr lvl="2">
              <a:buFontTx/>
              <a:buNone/>
            </a:pPr>
            <a:r>
              <a:rPr lang="en-US" altLang="zh-CN">
                <a:ea typeface="宋体" pitchFamily="2" charset="-122"/>
              </a:rPr>
              <a:t>Intel 80x86, DEC Vax, DEC Alpha (Windows NT)</a:t>
            </a:r>
          </a:p>
        </p:txBody>
      </p:sp>
    </p:spTree>
    <p:extLst>
      <p:ext uri="{BB962C8B-B14F-4D97-AF65-F5344CB8AC3E}">
        <p14:creationId xmlns:p14="http://schemas.microsoft.com/office/powerpoint/2010/main" val="1335426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533400" y="304800"/>
            <a:ext cx="8059738" cy="422275"/>
          </a:xfrm>
          <a:noFill/>
          <a:ln/>
        </p:spPr>
        <p:txBody>
          <a:bodyPr wrap="none"/>
          <a:lstStyle/>
          <a:p>
            <a:r>
              <a:rPr lang="en-US" altLang="zh-CN">
                <a:ea typeface="宋体" pitchFamily="2" charset="-122"/>
              </a:rPr>
              <a:t>Addressing Objects: Endianess and Alignment</a:t>
            </a:r>
          </a:p>
        </p:txBody>
      </p:sp>
      <p:sp>
        <p:nvSpPr>
          <p:cNvPr id="410627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419100" y="1066800"/>
            <a:ext cx="8191500" cy="969963"/>
          </a:xfrm>
          <a:noFill/>
          <a:ln/>
        </p:spPr>
        <p:txBody>
          <a:bodyPr/>
          <a:lstStyle/>
          <a:p>
            <a:r>
              <a:rPr lang="en-US" altLang="zh-CN">
                <a:solidFill>
                  <a:srgbClr val="00B7A5"/>
                </a:solidFill>
                <a:ea typeface="宋体" pitchFamily="2" charset="-122"/>
              </a:rPr>
              <a:t>Big Endian:</a:t>
            </a:r>
            <a:r>
              <a:rPr lang="en-US" altLang="zh-CN">
                <a:ea typeface="宋体" pitchFamily="2" charset="-122"/>
              </a:rPr>
              <a:t>	 leftmost byte is word address</a:t>
            </a:r>
            <a:endParaRPr lang="en-US" altLang="zh-CN" sz="3200">
              <a:ea typeface="宋体" pitchFamily="2" charset="-122"/>
            </a:endParaRPr>
          </a:p>
          <a:p>
            <a:r>
              <a:rPr lang="en-US" altLang="zh-CN">
                <a:solidFill>
                  <a:schemeClr val="accent1"/>
                </a:solidFill>
                <a:ea typeface="宋体" pitchFamily="2" charset="-122"/>
              </a:rPr>
              <a:t>Little Endian</a:t>
            </a:r>
            <a:r>
              <a:rPr lang="en-US" altLang="zh-CN">
                <a:ea typeface="宋体" pitchFamily="2" charset="-122"/>
              </a:rPr>
              <a:t>:	 rightmost byte is word address</a:t>
            </a:r>
            <a:endParaRPr lang="en-US" altLang="zh-CN" sz="3200">
              <a:ea typeface="宋体" pitchFamily="2" charset="-122"/>
            </a:endParaRPr>
          </a:p>
        </p:txBody>
      </p:sp>
      <p:sp>
        <p:nvSpPr>
          <p:cNvPr id="410628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743200" y="3124200"/>
            <a:ext cx="3111500" cy="444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0629" name="Line 5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4267200" y="3124200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0630" name="Line 6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3505200" y="3124200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0631" name="Line 7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5029200" y="3124200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0632" name="Rectangle 8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981200" y="3200400"/>
            <a:ext cx="5969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b="1">
                <a:solidFill>
                  <a:schemeClr val="tx1"/>
                </a:solidFill>
                <a:ea typeface="宋体" pitchFamily="2" charset="-122"/>
              </a:rPr>
              <a:t>msb</a:t>
            </a:r>
          </a:p>
        </p:txBody>
      </p:sp>
      <p:sp>
        <p:nvSpPr>
          <p:cNvPr id="410633" name="Rectangle 9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019800" y="3200400"/>
            <a:ext cx="4572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b="1">
                <a:solidFill>
                  <a:schemeClr val="tx1"/>
                </a:solidFill>
                <a:ea typeface="宋体" pitchFamily="2" charset="-122"/>
              </a:rPr>
              <a:t>lsb</a:t>
            </a:r>
          </a:p>
        </p:txBody>
      </p:sp>
      <p:grpSp>
        <p:nvGrpSpPr>
          <p:cNvPr id="2" name="Group 10"/>
          <p:cNvGrpSpPr>
            <a:grpSpLocks/>
          </p:cNvGrpSpPr>
          <p:nvPr>
            <p:custDataLst>
              <p:tags r:id="rId9"/>
            </p:custDataLst>
          </p:nvPr>
        </p:nvGrpSpPr>
        <p:grpSpPr bwMode="auto">
          <a:xfrm>
            <a:off x="3048000" y="2362200"/>
            <a:ext cx="3606800" cy="665163"/>
            <a:chOff x="1440" y="1824"/>
            <a:chExt cx="2272" cy="419"/>
          </a:xfrm>
        </p:grpSpPr>
        <p:sp>
          <p:nvSpPr>
            <p:cNvPr id="410635" name="Rectangle 11"/>
            <p:cNvSpPr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1440" y="2064"/>
              <a:ext cx="80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endParaRPr lang="zh-CN" altLang="en-US" b="1">
                <a:ea typeface="宋体" pitchFamily="2" charset="-122"/>
              </a:endParaRPr>
            </a:p>
          </p:txBody>
        </p:sp>
        <p:sp>
          <p:nvSpPr>
            <p:cNvPr id="410636" name="Rectangle 12"/>
            <p:cNvSpPr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2736" y="1824"/>
              <a:ext cx="976" cy="19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2000" b="1" i="1" dirty="0">
                  <a:ea typeface="宋体" pitchFamily="2" charset="-122"/>
                </a:rPr>
                <a:t>little </a:t>
              </a:r>
              <a:r>
                <a:rPr lang="en-US" altLang="zh-CN" sz="2000" b="1" i="1" dirty="0" err="1">
                  <a:ea typeface="宋体" pitchFamily="2" charset="-122"/>
                </a:rPr>
                <a:t>endian</a:t>
              </a:r>
              <a:endParaRPr lang="en-US" altLang="zh-CN" sz="2000" b="1" i="1" dirty="0">
                <a:ea typeface="宋体" pitchFamily="2" charset="-122"/>
              </a:endParaRPr>
            </a:p>
          </p:txBody>
        </p:sp>
      </p:grpSp>
      <p:grpSp>
        <p:nvGrpSpPr>
          <p:cNvPr id="3" name="Group 13"/>
          <p:cNvGrpSpPr>
            <a:grpSpLocks/>
          </p:cNvGrpSpPr>
          <p:nvPr>
            <p:custDataLst>
              <p:tags r:id="rId10"/>
            </p:custDataLst>
          </p:nvPr>
        </p:nvGrpSpPr>
        <p:grpSpPr bwMode="auto">
          <a:xfrm>
            <a:off x="1295400" y="3733800"/>
            <a:ext cx="2006600" cy="617538"/>
            <a:chOff x="336" y="2688"/>
            <a:chExt cx="1264" cy="389"/>
          </a:xfrm>
        </p:grpSpPr>
        <p:sp>
          <p:nvSpPr>
            <p:cNvPr id="410638" name="Rectangle 14"/>
            <p:cNvSpPr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1392" y="2688"/>
              <a:ext cx="80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endParaRPr lang="zh-CN" altLang="en-US" b="1">
                <a:solidFill>
                  <a:srgbClr val="00B7A5"/>
                </a:solidFill>
                <a:ea typeface="宋体" pitchFamily="2" charset="-122"/>
              </a:endParaRPr>
            </a:p>
          </p:txBody>
        </p:sp>
        <p:sp>
          <p:nvSpPr>
            <p:cNvPr id="410639" name="Rectangle 15"/>
            <p:cNvSpPr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336" y="2880"/>
              <a:ext cx="1264" cy="19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2000" b="1" i="1" dirty="0">
                  <a:solidFill>
                    <a:srgbClr val="00B7A5"/>
                  </a:solidFill>
                  <a:ea typeface="宋体" pitchFamily="2" charset="-122"/>
                </a:rPr>
                <a:t>big </a:t>
              </a:r>
              <a:r>
                <a:rPr lang="en-US" altLang="zh-CN" sz="2000" b="1" i="1" dirty="0" err="1">
                  <a:solidFill>
                    <a:srgbClr val="00B7A5"/>
                  </a:solidFill>
                  <a:ea typeface="宋体" pitchFamily="2" charset="-122"/>
                </a:rPr>
                <a:t>endian</a:t>
              </a:r>
              <a:endParaRPr lang="en-US" altLang="zh-CN" sz="2000" b="1" i="1" dirty="0">
                <a:solidFill>
                  <a:srgbClr val="00B7A5"/>
                </a:solidFill>
                <a:ea typeface="宋体" pitchFamily="2" charset="-122"/>
              </a:endParaRPr>
            </a:p>
          </p:txBody>
        </p:sp>
      </p:grpSp>
      <p:sp>
        <p:nvSpPr>
          <p:cNvPr id="410640" name="Rectangle 16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09600" y="4800600"/>
            <a:ext cx="4413250" cy="115929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ea typeface="宋体" pitchFamily="2" charset="-122"/>
              </a:rPr>
              <a:t>Alignment restriction:  requires that objects fall on address that is multiple of  their size</a:t>
            </a:r>
          </a:p>
        </p:txBody>
      </p:sp>
      <p:sp>
        <p:nvSpPr>
          <p:cNvPr id="410641" name="Rectangle 17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6407150" y="4502150"/>
            <a:ext cx="2044700" cy="18161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0642" name="Rectangle 18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6407150" y="4654550"/>
            <a:ext cx="2044700" cy="215900"/>
          </a:xfrm>
          <a:prstGeom prst="rect">
            <a:avLst/>
          </a:prstGeom>
          <a:solidFill>
            <a:srgbClr val="00FF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0643" name="Rectangle 19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7473950" y="5492750"/>
            <a:ext cx="977900" cy="2159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0644" name="Rectangle 20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6407150" y="5721350"/>
            <a:ext cx="1054100" cy="2159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0645" name="Rectangle 21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6477000" y="4191000"/>
            <a:ext cx="18319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 altLang="zh-CN" b="1" dirty="0">
                <a:solidFill>
                  <a:schemeClr val="tx1"/>
                </a:solidFill>
                <a:ea typeface="宋体" pitchFamily="2" charset="-122"/>
              </a:rPr>
              <a:t>0      1      2      3</a:t>
            </a:r>
          </a:p>
        </p:txBody>
      </p:sp>
      <p:sp>
        <p:nvSpPr>
          <p:cNvPr id="410646" name="Rectangle 22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8007350" y="5873750"/>
            <a:ext cx="444500" cy="2159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0647" name="Rectangle 23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6407150" y="6102350"/>
            <a:ext cx="1587500" cy="2159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0648" name="Rectangle 24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6864350" y="5035550"/>
            <a:ext cx="1587500" cy="2159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0649" name="Rectangle 25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6407150" y="5264150"/>
            <a:ext cx="444500" cy="2159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0650" name="Rectangle 26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5229469" y="4572000"/>
            <a:ext cx="1123707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algn="r"/>
            <a:r>
              <a:rPr lang="en-US" altLang="zh-CN" sz="2000" b="1" i="1" dirty="0">
                <a:solidFill>
                  <a:srgbClr val="51DC00"/>
                </a:solidFill>
                <a:ea typeface="宋体" pitchFamily="2" charset="-122"/>
              </a:rPr>
              <a:t>Aligned</a:t>
            </a:r>
          </a:p>
        </p:txBody>
      </p:sp>
      <p:sp>
        <p:nvSpPr>
          <p:cNvPr id="410651" name="Rectangle 27"/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5051673" y="5500702"/>
            <a:ext cx="1123707" cy="70532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algn="r"/>
            <a:r>
              <a:rPr lang="en-US" altLang="zh-CN" sz="2000" b="1" i="1" dirty="0">
                <a:ea typeface="宋体" pitchFamily="2" charset="-122"/>
              </a:rPr>
              <a:t>Not</a:t>
            </a:r>
          </a:p>
          <a:p>
            <a:pPr algn="r"/>
            <a:r>
              <a:rPr lang="en-US" altLang="zh-CN" sz="2000" b="1" i="1" dirty="0">
                <a:ea typeface="宋体" pitchFamily="2" charset="-122"/>
              </a:rPr>
              <a:t>Aligned</a:t>
            </a:r>
          </a:p>
        </p:txBody>
      </p:sp>
    </p:spTree>
    <p:extLst>
      <p:ext uri="{BB962C8B-B14F-4D97-AF65-F5344CB8AC3E}">
        <p14:creationId xmlns:p14="http://schemas.microsoft.com/office/powerpoint/2010/main" val="116397729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533400" y="304800"/>
            <a:ext cx="8059738" cy="422275"/>
          </a:xfrm>
          <a:noFill/>
          <a:ln/>
        </p:spPr>
        <p:txBody>
          <a:bodyPr wrap="none"/>
          <a:lstStyle/>
          <a:p>
            <a:r>
              <a:rPr lang="en-US" altLang="zh-CN">
                <a:ea typeface="宋体" pitchFamily="2" charset="-122"/>
              </a:rPr>
              <a:t>Addressing Objects: Endianess and Alignment</a:t>
            </a:r>
          </a:p>
        </p:txBody>
      </p:sp>
      <p:sp>
        <p:nvSpPr>
          <p:cNvPr id="412675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419100" y="1066800"/>
            <a:ext cx="8191500" cy="969963"/>
          </a:xfrm>
          <a:noFill/>
          <a:ln/>
        </p:spPr>
        <p:txBody>
          <a:bodyPr/>
          <a:lstStyle/>
          <a:p>
            <a:r>
              <a:rPr lang="en-US" altLang="zh-CN">
                <a:solidFill>
                  <a:srgbClr val="00B7A5"/>
                </a:solidFill>
                <a:ea typeface="宋体" pitchFamily="2" charset="-122"/>
              </a:rPr>
              <a:t>Big Endian:</a:t>
            </a:r>
            <a:r>
              <a:rPr lang="en-US" altLang="zh-CN">
                <a:ea typeface="宋体" pitchFamily="2" charset="-122"/>
              </a:rPr>
              <a:t>	 leftmost byte is word address</a:t>
            </a:r>
            <a:endParaRPr lang="en-US" altLang="zh-CN" sz="3200">
              <a:ea typeface="宋体" pitchFamily="2" charset="-122"/>
            </a:endParaRPr>
          </a:p>
          <a:p>
            <a:r>
              <a:rPr lang="en-US" altLang="zh-CN">
                <a:solidFill>
                  <a:schemeClr val="accent1"/>
                </a:solidFill>
                <a:ea typeface="宋体" pitchFamily="2" charset="-122"/>
              </a:rPr>
              <a:t>Little Endian</a:t>
            </a:r>
            <a:r>
              <a:rPr lang="en-US" altLang="zh-CN">
                <a:ea typeface="宋体" pitchFamily="2" charset="-122"/>
              </a:rPr>
              <a:t>:	 rightmost byte is word address</a:t>
            </a:r>
            <a:endParaRPr lang="en-US" altLang="zh-CN" sz="3200">
              <a:ea typeface="宋体" pitchFamily="2" charset="-122"/>
            </a:endParaRPr>
          </a:p>
        </p:txBody>
      </p:sp>
      <p:sp>
        <p:nvSpPr>
          <p:cNvPr id="412676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743200" y="3124200"/>
            <a:ext cx="3111500" cy="444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2677" name="Line 5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4267200" y="3124200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2678" name="Line 6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3505200" y="3124200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2679" name="Line 7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5029200" y="3124200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2680" name="Rectangle 8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981200" y="3200400"/>
            <a:ext cx="5969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b="1">
                <a:solidFill>
                  <a:schemeClr val="tx1"/>
                </a:solidFill>
                <a:ea typeface="宋体" pitchFamily="2" charset="-122"/>
              </a:rPr>
              <a:t>msb</a:t>
            </a:r>
          </a:p>
        </p:txBody>
      </p:sp>
      <p:sp>
        <p:nvSpPr>
          <p:cNvPr id="412681" name="Rectangle 9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019800" y="3200400"/>
            <a:ext cx="4572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b="1">
                <a:solidFill>
                  <a:schemeClr val="tx1"/>
                </a:solidFill>
                <a:ea typeface="宋体" pitchFamily="2" charset="-122"/>
              </a:rPr>
              <a:t>lsb</a:t>
            </a:r>
          </a:p>
        </p:txBody>
      </p:sp>
      <p:grpSp>
        <p:nvGrpSpPr>
          <p:cNvPr id="2" name="Group 10"/>
          <p:cNvGrpSpPr>
            <a:grpSpLocks/>
          </p:cNvGrpSpPr>
          <p:nvPr>
            <p:custDataLst>
              <p:tags r:id="rId9"/>
            </p:custDataLst>
          </p:nvPr>
        </p:nvGrpSpPr>
        <p:grpSpPr bwMode="auto">
          <a:xfrm>
            <a:off x="3048000" y="2362200"/>
            <a:ext cx="4418013" cy="665163"/>
            <a:chOff x="1440" y="1824"/>
            <a:chExt cx="2783" cy="419"/>
          </a:xfrm>
        </p:grpSpPr>
        <p:sp>
          <p:nvSpPr>
            <p:cNvPr id="412683" name="Rectangle 11"/>
            <p:cNvSpPr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1440" y="2064"/>
              <a:ext cx="1640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b="1">
                  <a:ea typeface="宋体" pitchFamily="2" charset="-122"/>
                </a:rPr>
                <a:t>3          2          1           0</a:t>
              </a:r>
            </a:p>
          </p:txBody>
        </p:sp>
        <p:sp>
          <p:nvSpPr>
            <p:cNvPr id="412684" name="Rectangle 12"/>
            <p:cNvSpPr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2736" y="1824"/>
              <a:ext cx="1487" cy="19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2000" b="1" i="1" dirty="0">
                  <a:ea typeface="宋体" pitchFamily="2" charset="-122"/>
                </a:rPr>
                <a:t>little </a:t>
              </a:r>
              <a:r>
                <a:rPr lang="en-US" altLang="zh-CN" sz="2000" b="1" i="1" dirty="0" err="1">
                  <a:ea typeface="宋体" pitchFamily="2" charset="-122"/>
                </a:rPr>
                <a:t>endian</a:t>
              </a:r>
              <a:r>
                <a:rPr lang="en-US" altLang="zh-CN" sz="2000" b="1" i="1" dirty="0">
                  <a:ea typeface="宋体" pitchFamily="2" charset="-122"/>
                </a:rPr>
                <a:t> byte 0</a:t>
              </a:r>
            </a:p>
          </p:txBody>
        </p:sp>
      </p:grpSp>
      <p:grpSp>
        <p:nvGrpSpPr>
          <p:cNvPr id="3" name="Group 13"/>
          <p:cNvGrpSpPr>
            <a:grpSpLocks/>
          </p:cNvGrpSpPr>
          <p:nvPr>
            <p:custDataLst>
              <p:tags r:id="rId10"/>
            </p:custDataLst>
          </p:nvPr>
        </p:nvGrpSpPr>
        <p:grpSpPr bwMode="auto">
          <a:xfrm>
            <a:off x="1295400" y="3733800"/>
            <a:ext cx="4279900" cy="617538"/>
            <a:chOff x="336" y="2688"/>
            <a:chExt cx="2696" cy="389"/>
          </a:xfrm>
        </p:grpSpPr>
        <p:sp>
          <p:nvSpPr>
            <p:cNvPr id="412686" name="Rectangle 14"/>
            <p:cNvSpPr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1392" y="2688"/>
              <a:ext cx="1640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b="1">
                  <a:solidFill>
                    <a:srgbClr val="00B7A5"/>
                  </a:solidFill>
                  <a:ea typeface="宋体" pitchFamily="2" charset="-122"/>
                </a:rPr>
                <a:t>0          1          2           3</a:t>
              </a:r>
            </a:p>
          </p:txBody>
        </p:sp>
        <p:sp>
          <p:nvSpPr>
            <p:cNvPr id="412687" name="Rectangle 15"/>
            <p:cNvSpPr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336" y="2880"/>
              <a:ext cx="1434" cy="19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2000" b="1" i="1" dirty="0">
                  <a:solidFill>
                    <a:srgbClr val="00B7A5"/>
                  </a:solidFill>
                  <a:ea typeface="宋体" pitchFamily="2" charset="-122"/>
                </a:rPr>
                <a:t>big </a:t>
              </a:r>
              <a:r>
                <a:rPr lang="en-US" altLang="zh-CN" sz="2000" b="1" i="1" dirty="0" err="1">
                  <a:solidFill>
                    <a:srgbClr val="00B7A5"/>
                  </a:solidFill>
                  <a:ea typeface="宋体" pitchFamily="2" charset="-122"/>
                </a:rPr>
                <a:t>endian</a:t>
              </a:r>
              <a:r>
                <a:rPr lang="en-US" altLang="zh-CN" sz="2000" b="1" i="1" dirty="0">
                  <a:solidFill>
                    <a:srgbClr val="00B7A5"/>
                  </a:solidFill>
                  <a:ea typeface="宋体" pitchFamily="2" charset="-122"/>
                </a:rPr>
                <a:t> byte 0</a:t>
              </a:r>
            </a:p>
          </p:txBody>
        </p:sp>
      </p:grpSp>
      <p:sp>
        <p:nvSpPr>
          <p:cNvPr id="412688" name="Rectangle 16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09600" y="5029200"/>
            <a:ext cx="4413250" cy="115929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  <a:ea typeface="宋体" pitchFamily="2" charset="-122"/>
              </a:rPr>
              <a:t>Alignment restriction:  requires that objects fall on address that is multiple of  their size</a:t>
            </a:r>
          </a:p>
        </p:txBody>
      </p:sp>
      <p:sp>
        <p:nvSpPr>
          <p:cNvPr id="412689" name="Rectangle 17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6407150" y="4502150"/>
            <a:ext cx="2044700" cy="18161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2690" name="Rectangle 18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6407150" y="4654550"/>
            <a:ext cx="2044700" cy="215900"/>
          </a:xfrm>
          <a:prstGeom prst="rect">
            <a:avLst/>
          </a:prstGeom>
          <a:solidFill>
            <a:srgbClr val="00FF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2691" name="Rectangle 19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7473950" y="5492750"/>
            <a:ext cx="977900" cy="2159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2692" name="Rectangle 20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6407150" y="5721350"/>
            <a:ext cx="1054100" cy="2159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2693" name="Rectangle 21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6553200" y="4191000"/>
            <a:ext cx="18319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 altLang="zh-CN" b="1">
                <a:solidFill>
                  <a:schemeClr val="tx1"/>
                </a:solidFill>
                <a:ea typeface="宋体" pitchFamily="2" charset="-122"/>
              </a:rPr>
              <a:t>0      1      2      3</a:t>
            </a:r>
          </a:p>
        </p:txBody>
      </p:sp>
      <p:sp>
        <p:nvSpPr>
          <p:cNvPr id="412694" name="Rectangle 22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8007350" y="5873750"/>
            <a:ext cx="444500" cy="2159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2695" name="Rectangle 23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6407150" y="6102350"/>
            <a:ext cx="1587500" cy="2159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2696" name="Rectangle 24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6864350" y="5035550"/>
            <a:ext cx="1587500" cy="2159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2697" name="Rectangle 25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6407150" y="5264150"/>
            <a:ext cx="444500" cy="2159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2698" name="Rectangle 26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5229469" y="4572000"/>
            <a:ext cx="1123707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algn="r"/>
            <a:r>
              <a:rPr lang="en-US" altLang="zh-CN" sz="2000" b="1" i="1" dirty="0">
                <a:solidFill>
                  <a:srgbClr val="51DC00"/>
                </a:solidFill>
                <a:ea typeface="宋体" pitchFamily="2" charset="-122"/>
              </a:rPr>
              <a:t>Aligned</a:t>
            </a:r>
          </a:p>
        </p:txBody>
      </p:sp>
      <p:sp>
        <p:nvSpPr>
          <p:cNvPr id="412699" name="Rectangle 27"/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5145332" y="5534025"/>
            <a:ext cx="1123707" cy="70532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algn="r"/>
            <a:r>
              <a:rPr lang="en-US" altLang="zh-CN" sz="2000" b="1" i="1" dirty="0">
                <a:ea typeface="宋体" pitchFamily="2" charset="-122"/>
              </a:rPr>
              <a:t>Not</a:t>
            </a:r>
          </a:p>
          <a:p>
            <a:pPr algn="r"/>
            <a:r>
              <a:rPr lang="en-US" altLang="zh-CN" sz="2000" b="1" i="1" dirty="0">
                <a:ea typeface="宋体" pitchFamily="2" charset="-122"/>
              </a:rPr>
              <a:t>Aligned</a:t>
            </a:r>
          </a:p>
        </p:txBody>
      </p:sp>
      <p:sp>
        <p:nvSpPr>
          <p:cNvPr id="412700" name="Rectangle 28"/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6553200" y="4191000"/>
            <a:ext cx="1831975" cy="3635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r>
              <a:rPr lang="en-US" altLang="zh-CN" b="1">
                <a:solidFill>
                  <a:schemeClr val="hlink"/>
                </a:solidFill>
                <a:ea typeface="宋体" pitchFamily="2" charset="-122"/>
              </a:rPr>
              <a:t>0      1      2      3</a:t>
            </a:r>
          </a:p>
        </p:txBody>
      </p:sp>
    </p:spTree>
    <p:extLst>
      <p:ext uri="{BB962C8B-B14F-4D97-AF65-F5344CB8AC3E}">
        <p14:creationId xmlns:p14="http://schemas.microsoft.com/office/powerpoint/2010/main" val="20667660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12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12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700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7772400" cy="422275"/>
          </a:xfrm>
        </p:spPr>
        <p:txBody>
          <a:bodyPr/>
          <a:lstStyle/>
          <a:p>
            <a:r>
              <a:rPr lang="en-US" dirty="0" smtClean="0"/>
              <a:t>Loading </a:t>
            </a:r>
            <a:r>
              <a:rPr lang="en-US" dirty="0"/>
              <a:t>and Storing Bytes</a:t>
            </a:r>
          </a:p>
        </p:txBody>
      </p:sp>
      <p:sp>
        <p:nvSpPr>
          <p:cNvPr id="65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914400"/>
            <a:ext cx="8229600" cy="1512888"/>
          </a:xfrm>
        </p:spPr>
        <p:txBody>
          <a:bodyPr/>
          <a:lstStyle/>
          <a:p>
            <a:r>
              <a:rPr lang="en-US"/>
              <a:t>MIPS provides special instructions to move bytes</a:t>
            </a:r>
          </a:p>
          <a:p>
            <a:pPr algn="ctr">
              <a:buFont typeface="Wingdings" pitchFamily="2" charset="2"/>
              <a:buNone/>
            </a:pPr>
            <a:r>
              <a:rPr lang="en-US">
                <a:latin typeface="Courier New" pitchFamily="49" charset="0"/>
              </a:rPr>
              <a:t>lb	$t0, 1($s3)  #load byte from memory</a:t>
            </a:r>
          </a:p>
          <a:p>
            <a:pPr algn="ctr">
              <a:buFont typeface="Wingdings" pitchFamily="2" charset="2"/>
              <a:buNone/>
            </a:pPr>
            <a:r>
              <a:rPr lang="en-US">
                <a:latin typeface="Courier New" pitchFamily="49" charset="0"/>
              </a:rPr>
              <a:t>sb	$t0, 6($s3)  #store byte to  memory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571604" y="3130550"/>
            <a:ext cx="5791200" cy="369888"/>
            <a:chOff x="1056" y="3024"/>
            <a:chExt cx="3648" cy="233"/>
          </a:xfrm>
        </p:grpSpPr>
        <p:sp>
          <p:nvSpPr>
            <p:cNvPr id="650245" name="Rectangle 5"/>
            <p:cNvSpPr>
              <a:spLocks noChangeArrowheads="1"/>
            </p:cNvSpPr>
            <p:nvPr/>
          </p:nvSpPr>
          <p:spPr bwMode="auto">
            <a:xfrm>
              <a:off x="1056" y="3024"/>
              <a:ext cx="3648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50246" name="Line 6"/>
            <p:cNvSpPr>
              <a:spLocks noChangeShapeType="1"/>
            </p:cNvSpPr>
            <p:nvPr/>
          </p:nvSpPr>
          <p:spPr bwMode="auto">
            <a:xfrm>
              <a:off x="1728" y="3024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50247" name="Line 7"/>
            <p:cNvSpPr>
              <a:spLocks noChangeShapeType="1"/>
            </p:cNvSpPr>
            <p:nvPr/>
          </p:nvSpPr>
          <p:spPr bwMode="auto">
            <a:xfrm>
              <a:off x="2300" y="3025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50248" name="Line 8"/>
            <p:cNvSpPr>
              <a:spLocks noChangeShapeType="1"/>
            </p:cNvSpPr>
            <p:nvPr/>
          </p:nvSpPr>
          <p:spPr bwMode="auto">
            <a:xfrm>
              <a:off x="2876" y="3025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50249" name="Text Box 9"/>
            <p:cNvSpPr txBox="1">
              <a:spLocks noChangeArrowheads="1"/>
            </p:cNvSpPr>
            <p:nvPr/>
          </p:nvSpPr>
          <p:spPr bwMode="auto">
            <a:xfrm>
              <a:off x="1152" y="3024"/>
              <a:ext cx="3046" cy="2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chemeClr val="tx1"/>
                  </a:solidFill>
                </a:rPr>
                <a:t>0x28          19             8                 </a:t>
              </a:r>
              <a:r>
                <a:rPr lang="en-US" dirty="0">
                  <a:solidFill>
                    <a:schemeClr val="tx1"/>
                  </a:solidFill>
                </a:rPr>
                <a:t>16 bit offset</a:t>
              </a:r>
            </a:p>
          </p:txBody>
        </p:sp>
      </p:grpSp>
      <p:sp>
        <p:nvSpPr>
          <p:cNvPr id="650251" name="Rectangle 11"/>
          <p:cNvSpPr>
            <a:spLocks noChangeArrowheads="1"/>
          </p:cNvSpPr>
          <p:nvPr/>
        </p:nvSpPr>
        <p:spPr bwMode="auto">
          <a:xfrm>
            <a:off x="457200" y="3792538"/>
            <a:ext cx="8229600" cy="26114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marL="287338" indent="-287338">
              <a:lnSpc>
                <a:spcPct val="90000"/>
              </a:lnSpc>
              <a:spcBef>
                <a:spcPct val="65000"/>
              </a:spcBef>
              <a:buClr>
                <a:schemeClr val="accent1"/>
              </a:buClr>
              <a:buSzPct val="75000"/>
              <a:buFont typeface="Wingdings" pitchFamily="2" charset="2"/>
              <a:buChar char="q"/>
            </a:pPr>
            <a:r>
              <a:rPr lang="en-US" sz="2400" dirty="0">
                <a:solidFill>
                  <a:schemeClr val="tx1"/>
                </a:solidFill>
              </a:rPr>
              <a:t>What 8 bits get loaded and stored?</a:t>
            </a:r>
          </a:p>
          <a:p>
            <a:pPr marL="741363" lvl="1" indent="-246063">
              <a:spcBef>
                <a:spcPct val="4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sz="2000" dirty="0">
                <a:solidFill>
                  <a:schemeClr val="tx1"/>
                </a:solidFill>
              </a:rPr>
              <a:t>load byte places the byte from memory in the rightmost 8 bits of the destination register</a:t>
            </a:r>
          </a:p>
          <a:p>
            <a:pPr marL="1146175" lvl="2" indent="-176213">
              <a:spcBef>
                <a:spcPct val="40000"/>
              </a:spcBef>
              <a:buClr>
                <a:schemeClr val="accent1"/>
              </a:buClr>
              <a:buSzPct val="100000"/>
              <a:buFontTx/>
              <a:buChar char="-"/>
            </a:pPr>
            <a:r>
              <a:rPr lang="en-US" dirty="0">
                <a:solidFill>
                  <a:schemeClr val="tx1"/>
                </a:solidFill>
              </a:rPr>
              <a:t>what happens to the other bits in the register?</a:t>
            </a:r>
          </a:p>
          <a:p>
            <a:pPr marL="741363" lvl="1" indent="-246063">
              <a:spcBef>
                <a:spcPct val="4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sz="2000" dirty="0">
                <a:solidFill>
                  <a:schemeClr val="tx1"/>
                </a:solidFill>
              </a:rPr>
              <a:t>store byte takes the byte from the rightmost 8 bits of a register and writes it to a byte in memory</a:t>
            </a:r>
          </a:p>
          <a:p>
            <a:pPr marL="1146175" lvl="2" indent="-176213">
              <a:spcBef>
                <a:spcPct val="40000"/>
              </a:spcBef>
              <a:buClr>
                <a:schemeClr val="accent1"/>
              </a:buClr>
              <a:buSzPct val="100000"/>
              <a:buFontTx/>
              <a:buChar char="-"/>
            </a:pPr>
            <a:r>
              <a:rPr lang="en-US" dirty="0">
                <a:solidFill>
                  <a:schemeClr val="tx1"/>
                </a:solidFill>
              </a:rPr>
              <a:t>what happens to the other bits in the memory word?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72362" y="3087684"/>
            <a:ext cx="4924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sb</a:t>
            </a:r>
            <a:endParaRPr lang="en-US" sz="2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12" name="Group 4"/>
          <p:cNvGrpSpPr>
            <a:grpSpLocks/>
          </p:cNvGrpSpPr>
          <p:nvPr/>
        </p:nvGrpSpPr>
        <p:grpSpPr bwMode="auto">
          <a:xfrm>
            <a:off x="1571604" y="2516180"/>
            <a:ext cx="5791200" cy="369888"/>
            <a:chOff x="1056" y="3024"/>
            <a:chExt cx="3648" cy="233"/>
          </a:xfrm>
        </p:grpSpPr>
        <p:sp>
          <p:nvSpPr>
            <p:cNvPr id="13" name="Rectangle 5"/>
            <p:cNvSpPr>
              <a:spLocks noChangeArrowheads="1"/>
            </p:cNvSpPr>
            <p:nvPr/>
          </p:nvSpPr>
          <p:spPr bwMode="auto">
            <a:xfrm>
              <a:off x="1056" y="3024"/>
              <a:ext cx="3648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Line 6"/>
            <p:cNvSpPr>
              <a:spLocks noChangeShapeType="1"/>
            </p:cNvSpPr>
            <p:nvPr/>
          </p:nvSpPr>
          <p:spPr bwMode="auto">
            <a:xfrm>
              <a:off x="1728" y="3024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Line 7"/>
            <p:cNvSpPr>
              <a:spLocks noChangeShapeType="1"/>
            </p:cNvSpPr>
            <p:nvPr/>
          </p:nvSpPr>
          <p:spPr bwMode="auto">
            <a:xfrm>
              <a:off x="2300" y="3025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Line 8"/>
            <p:cNvSpPr>
              <a:spLocks noChangeShapeType="1"/>
            </p:cNvSpPr>
            <p:nvPr/>
          </p:nvSpPr>
          <p:spPr bwMode="auto">
            <a:xfrm>
              <a:off x="2876" y="3025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Text Box 9"/>
            <p:cNvSpPr txBox="1">
              <a:spLocks noChangeArrowheads="1"/>
            </p:cNvSpPr>
            <p:nvPr/>
          </p:nvSpPr>
          <p:spPr bwMode="auto">
            <a:xfrm>
              <a:off x="1152" y="3024"/>
              <a:ext cx="3046" cy="2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chemeClr val="tx1"/>
                  </a:solidFill>
                </a:rPr>
                <a:t>0x24          19             8                 </a:t>
              </a:r>
              <a:r>
                <a:rPr lang="en-US" dirty="0">
                  <a:solidFill>
                    <a:schemeClr val="tx1"/>
                  </a:solidFill>
                </a:rPr>
                <a:t>16 bit offset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7472362" y="2473314"/>
            <a:ext cx="6463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lbu</a:t>
            </a:r>
            <a:endParaRPr lang="en-US" sz="2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1566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025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85800" y="292081"/>
            <a:ext cx="7848600" cy="422275"/>
          </a:xfrm>
        </p:spPr>
        <p:txBody>
          <a:bodyPr/>
          <a:lstStyle/>
          <a:p>
            <a:r>
              <a:rPr lang="en-US" altLang="zh-CN" dirty="0">
                <a:ea typeface="宋体" pitchFamily="2" charset="-122"/>
              </a:rPr>
              <a:t>Example of Loading and Storing Bytes</a:t>
            </a:r>
          </a:p>
        </p:txBody>
      </p:sp>
      <p:sp>
        <p:nvSpPr>
          <p:cNvPr id="416771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457200" y="762000"/>
            <a:ext cx="8305800" cy="1824089"/>
          </a:xfrm>
        </p:spPr>
        <p:txBody>
          <a:bodyPr/>
          <a:lstStyle/>
          <a:p>
            <a:r>
              <a:rPr lang="en-US" altLang="zh-CN" dirty="0">
                <a:ea typeface="宋体" pitchFamily="2" charset="-122"/>
              </a:rPr>
              <a:t>Given following code sequence and memory state what is the state of the memory after executing the code?</a:t>
            </a:r>
          </a:p>
          <a:p>
            <a:pPr>
              <a:lnSpc>
                <a:spcPct val="60000"/>
              </a:lnSpc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  <a:ea typeface="宋体" pitchFamily="2" charset="-122"/>
              </a:rPr>
              <a:t>		</a:t>
            </a:r>
            <a:r>
              <a:rPr lang="en-US" altLang="zh-CN" sz="2400" dirty="0">
                <a:latin typeface="Courier New" pitchFamily="49" charset="0"/>
                <a:ea typeface="宋体" pitchFamily="2" charset="-122"/>
              </a:rPr>
              <a:t>add	$s3, $zero, $zero</a:t>
            </a:r>
          </a:p>
          <a:p>
            <a:pPr>
              <a:lnSpc>
                <a:spcPct val="60000"/>
              </a:lnSpc>
              <a:buFont typeface="Wingdings" pitchFamily="2" charset="2"/>
              <a:buNone/>
            </a:pPr>
            <a:r>
              <a:rPr lang="en-US" altLang="zh-CN" sz="2400" dirty="0">
                <a:latin typeface="Courier New" pitchFamily="49" charset="0"/>
                <a:ea typeface="宋体" pitchFamily="2" charset="-122"/>
              </a:rPr>
              <a:t>		</a:t>
            </a:r>
            <a:r>
              <a:rPr lang="en-US" altLang="zh-CN" sz="2400" dirty="0" err="1" smtClean="0">
                <a:latin typeface="Courier New" pitchFamily="49" charset="0"/>
                <a:ea typeface="宋体" pitchFamily="2" charset="-122"/>
              </a:rPr>
              <a:t>lbu</a:t>
            </a:r>
            <a:r>
              <a:rPr lang="en-US" altLang="zh-CN" sz="2400" dirty="0">
                <a:latin typeface="Courier New" pitchFamily="49" charset="0"/>
                <a:ea typeface="宋体" pitchFamily="2" charset="-122"/>
              </a:rPr>
              <a:t>	$t0, 1($s3)</a:t>
            </a:r>
          </a:p>
          <a:p>
            <a:pPr>
              <a:lnSpc>
                <a:spcPct val="60000"/>
              </a:lnSpc>
              <a:buFont typeface="Wingdings" pitchFamily="2" charset="2"/>
              <a:buNone/>
            </a:pPr>
            <a:r>
              <a:rPr lang="en-US" altLang="zh-CN" sz="2400" dirty="0">
                <a:latin typeface="Courier New" pitchFamily="49" charset="0"/>
                <a:ea typeface="宋体" pitchFamily="2" charset="-122"/>
              </a:rPr>
              <a:t>		</a:t>
            </a:r>
            <a:r>
              <a:rPr lang="en-US" altLang="zh-CN" sz="2400" dirty="0" err="1">
                <a:latin typeface="Courier New" pitchFamily="49" charset="0"/>
                <a:ea typeface="宋体" pitchFamily="2" charset="-122"/>
              </a:rPr>
              <a:t>sb</a:t>
            </a:r>
            <a:r>
              <a:rPr lang="en-US" altLang="zh-CN" sz="2400" dirty="0">
                <a:latin typeface="Courier New" pitchFamily="49" charset="0"/>
                <a:ea typeface="宋体" pitchFamily="2" charset="-122"/>
              </a:rPr>
              <a:t>	$t0, 6($s3)</a:t>
            </a:r>
          </a:p>
        </p:txBody>
      </p:sp>
      <p:sp>
        <p:nvSpPr>
          <p:cNvPr id="416772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38200" y="3571875"/>
            <a:ext cx="2057400" cy="2667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6773" name="Line 5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838200" y="5857875"/>
            <a:ext cx="2057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6774" name="Line 6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838200" y="5476875"/>
            <a:ext cx="2057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6775" name="Line 7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838200" y="5095875"/>
            <a:ext cx="2057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6776" name="Line 8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838200" y="4714875"/>
            <a:ext cx="2057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6777" name="Line 9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838200" y="4333875"/>
            <a:ext cx="2057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6778" name="Line 10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838200" y="3952875"/>
            <a:ext cx="2057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6779" name="Rectangle 11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371600" y="3190875"/>
            <a:ext cx="10033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b="1">
                <a:solidFill>
                  <a:schemeClr val="tx1"/>
                </a:solidFill>
                <a:ea typeface="宋体" pitchFamily="2" charset="-122"/>
              </a:rPr>
              <a:t>Memory</a:t>
            </a:r>
          </a:p>
        </p:txBody>
      </p:sp>
      <p:sp>
        <p:nvSpPr>
          <p:cNvPr id="416780" name="Rectangle 12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914400" y="5934075"/>
            <a:ext cx="19177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0x 0 0 9 0 1 2 A 0</a:t>
            </a:r>
          </a:p>
        </p:txBody>
      </p:sp>
      <p:sp>
        <p:nvSpPr>
          <p:cNvPr id="416781" name="Rectangle 13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1524000" y="6238875"/>
            <a:ext cx="555625" cy="2587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sz="1600">
                <a:solidFill>
                  <a:schemeClr val="tx1"/>
                </a:solidFill>
                <a:ea typeface="宋体" pitchFamily="2" charset="-122"/>
              </a:rPr>
              <a:t>Data</a:t>
            </a:r>
          </a:p>
        </p:txBody>
      </p:sp>
      <p:sp>
        <p:nvSpPr>
          <p:cNvPr id="416782" name="Rectangle 14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3048000" y="6238875"/>
            <a:ext cx="1797050" cy="4667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sz="1600">
                <a:solidFill>
                  <a:schemeClr val="tx1"/>
                </a:solidFill>
                <a:ea typeface="宋体" pitchFamily="2" charset="-122"/>
              </a:rPr>
              <a:t>Word</a:t>
            </a:r>
          </a:p>
          <a:p>
            <a:pPr>
              <a:lnSpc>
                <a:spcPct val="85000"/>
              </a:lnSpc>
            </a:pPr>
            <a:r>
              <a:rPr lang="en-US" altLang="zh-CN" sz="1600">
                <a:solidFill>
                  <a:schemeClr val="tx1"/>
                </a:solidFill>
                <a:ea typeface="宋体" pitchFamily="2" charset="-122"/>
              </a:rPr>
              <a:t>Address (Decimal)</a:t>
            </a:r>
          </a:p>
        </p:txBody>
      </p:sp>
      <p:sp>
        <p:nvSpPr>
          <p:cNvPr id="416783" name="Rectangle 15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3048000" y="5934075"/>
            <a:ext cx="2540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0</a:t>
            </a:r>
          </a:p>
        </p:txBody>
      </p:sp>
      <p:sp>
        <p:nvSpPr>
          <p:cNvPr id="416784" name="Rectangle 16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3048000" y="5553075"/>
            <a:ext cx="2540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4</a:t>
            </a:r>
          </a:p>
        </p:txBody>
      </p:sp>
      <p:sp>
        <p:nvSpPr>
          <p:cNvPr id="416785" name="Rectangle 17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3048000" y="5172075"/>
            <a:ext cx="2540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8</a:t>
            </a:r>
          </a:p>
        </p:txBody>
      </p:sp>
      <p:sp>
        <p:nvSpPr>
          <p:cNvPr id="416786" name="Rectangle 18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3048000" y="4791075"/>
            <a:ext cx="3810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12</a:t>
            </a:r>
          </a:p>
        </p:txBody>
      </p:sp>
      <p:sp>
        <p:nvSpPr>
          <p:cNvPr id="416787" name="Rectangle 19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3048000" y="4410075"/>
            <a:ext cx="3810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16</a:t>
            </a:r>
          </a:p>
        </p:txBody>
      </p:sp>
      <p:sp>
        <p:nvSpPr>
          <p:cNvPr id="416788" name="Rectangle 20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3048000" y="4029075"/>
            <a:ext cx="3810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20</a:t>
            </a:r>
          </a:p>
        </p:txBody>
      </p:sp>
      <p:sp>
        <p:nvSpPr>
          <p:cNvPr id="416789" name="Rectangle 21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3048000" y="3648075"/>
            <a:ext cx="3810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24</a:t>
            </a:r>
          </a:p>
        </p:txBody>
      </p:sp>
      <p:sp>
        <p:nvSpPr>
          <p:cNvPr id="416790" name="Rectangle 22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914400" y="5553075"/>
            <a:ext cx="19939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0x F F F F F F F F</a:t>
            </a:r>
          </a:p>
        </p:txBody>
      </p:sp>
      <p:sp>
        <p:nvSpPr>
          <p:cNvPr id="416791" name="Line 23"/>
          <p:cNvSpPr>
            <a:spLocks noChangeShapeType="1"/>
          </p:cNvSpPr>
          <p:nvPr>
            <p:custDataLst>
              <p:tags r:id="rId22"/>
            </p:custDataLst>
          </p:nvPr>
        </p:nvSpPr>
        <p:spPr bwMode="auto">
          <a:xfrm flipV="1">
            <a:off x="2895600" y="3267075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6792" name="Line 24"/>
          <p:cNvSpPr>
            <a:spLocks noChangeShapeType="1"/>
          </p:cNvSpPr>
          <p:nvPr>
            <p:custDataLst>
              <p:tags r:id="rId23"/>
            </p:custDataLst>
          </p:nvPr>
        </p:nvSpPr>
        <p:spPr bwMode="auto">
          <a:xfrm flipV="1">
            <a:off x="838200" y="3190875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6793" name="Rectangle 25"/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914400" y="5172075"/>
            <a:ext cx="18923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0x 0 1 0 0 0 4 0 2</a:t>
            </a:r>
          </a:p>
        </p:txBody>
      </p:sp>
      <p:sp>
        <p:nvSpPr>
          <p:cNvPr id="416794" name="Rectangle 26"/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914400" y="4791075"/>
            <a:ext cx="18923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0x 1 0 0 0 0 0 1 0</a:t>
            </a:r>
          </a:p>
        </p:txBody>
      </p:sp>
      <p:sp>
        <p:nvSpPr>
          <p:cNvPr id="416795" name="Rectangle 27"/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914400" y="4410075"/>
            <a:ext cx="18923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0x 0 0 0 0 0 0 0 0</a:t>
            </a:r>
          </a:p>
        </p:txBody>
      </p:sp>
      <p:sp>
        <p:nvSpPr>
          <p:cNvPr id="416796" name="Rectangle 28"/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914400" y="4029075"/>
            <a:ext cx="18923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0x 0 0 0 0 0 0 0 0</a:t>
            </a:r>
          </a:p>
        </p:txBody>
      </p:sp>
      <p:sp>
        <p:nvSpPr>
          <p:cNvPr id="416797" name="Rectangle 29"/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838200" y="3648075"/>
            <a:ext cx="19558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zh-CN" altLang="en-US">
                <a:solidFill>
                  <a:schemeClr val="tx1"/>
                </a:solidFill>
                <a:ea typeface="宋体" pitchFamily="2" charset="-122"/>
              </a:rPr>
              <a:t> </a:t>
            </a: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0x 0 0 0 0 0 0 0 0</a:t>
            </a:r>
          </a:p>
        </p:txBody>
      </p:sp>
      <p:sp>
        <p:nvSpPr>
          <p:cNvPr id="416798" name="Rectangle 30"/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4800600" y="2743200"/>
            <a:ext cx="3962400" cy="3794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marL="287338" indent="-287338">
              <a:lnSpc>
                <a:spcPct val="90000"/>
              </a:lnSpc>
              <a:spcBef>
                <a:spcPct val="65000"/>
              </a:spcBef>
              <a:buClr>
                <a:schemeClr val="accent1"/>
              </a:buClr>
              <a:buSzPct val="75000"/>
              <a:buFont typeface="Wingdings" pitchFamily="2" charset="2"/>
              <a:buChar char="q"/>
            </a:pPr>
            <a:r>
              <a:rPr lang="en-US" altLang="zh-CN" sz="2400">
                <a:solidFill>
                  <a:schemeClr val="tx1"/>
                </a:solidFill>
                <a:ea typeface="宋体" pitchFamily="2" charset="-122"/>
              </a:rPr>
              <a:t>What value is left in $t0?</a:t>
            </a:r>
            <a:endParaRPr lang="en-US" altLang="zh-CN" sz="2400">
              <a:solidFill>
                <a:schemeClr val="tx1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416799" name="Rectangle 31"/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3657600" y="5181600"/>
            <a:ext cx="4800600" cy="708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marL="287338" indent="-287338">
              <a:lnSpc>
                <a:spcPct val="90000"/>
              </a:lnSpc>
              <a:spcBef>
                <a:spcPct val="65000"/>
              </a:spcBef>
              <a:buClr>
                <a:schemeClr val="accent1"/>
              </a:buClr>
              <a:buSzPct val="75000"/>
              <a:buFont typeface="Wingdings" pitchFamily="2" charset="2"/>
              <a:buChar char="q"/>
            </a:pPr>
            <a:r>
              <a:rPr lang="en-US" altLang="zh-CN" sz="2400">
                <a:solidFill>
                  <a:schemeClr val="tx1"/>
                </a:solidFill>
                <a:ea typeface="宋体" pitchFamily="2" charset="-122"/>
              </a:rPr>
              <a:t>What if the machine was little Endian?</a:t>
            </a:r>
            <a:endParaRPr lang="en-US" altLang="zh-CN" sz="2400">
              <a:solidFill>
                <a:schemeClr val="tx1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416802" name="Rectangle 34"/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3733800" y="3886200"/>
            <a:ext cx="5105400" cy="708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marL="287338" indent="-287338">
              <a:lnSpc>
                <a:spcPct val="90000"/>
              </a:lnSpc>
              <a:spcBef>
                <a:spcPct val="65000"/>
              </a:spcBef>
              <a:buClr>
                <a:schemeClr val="accent1"/>
              </a:buClr>
              <a:buSzPct val="75000"/>
              <a:buFont typeface="Wingdings" pitchFamily="2" charset="2"/>
              <a:buChar char="q"/>
            </a:pPr>
            <a:r>
              <a:rPr lang="en-US" altLang="zh-CN" sz="2400">
                <a:solidFill>
                  <a:schemeClr val="tx1"/>
                </a:solidFill>
                <a:ea typeface="宋体" pitchFamily="2" charset="-122"/>
              </a:rPr>
              <a:t>What word is changed in Memory and to what?</a:t>
            </a:r>
            <a:endParaRPr lang="en-US" altLang="zh-CN" sz="2400">
              <a:solidFill>
                <a:schemeClr val="tx1"/>
              </a:solidFill>
              <a:latin typeface="Courier New" pitchFamily="49" charset="0"/>
              <a:ea typeface="宋体" pitchFamily="2" charset="-122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050" name="Ink 3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022600" y="5889625"/>
              <a:ext cx="7938" cy="1588"/>
            </p14:xfrm>
          </p:contentPart>
        </mc:Choice>
        <mc:Fallback xmlns="">
          <p:pic>
            <p:nvPicPr>
              <p:cNvPr id="2050" name="Ink 3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014344" y="5879303"/>
                <a:ext cx="24449" cy="222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051" name="Ink 3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78175" y="5892800"/>
              <a:ext cx="7938" cy="14288"/>
            </p14:xfrm>
          </p:contentPart>
        </mc:Choice>
        <mc:Fallback xmlns="">
          <p:pic>
            <p:nvPicPr>
              <p:cNvPr id="2051" name="Ink 3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166709" y="5882760"/>
                <a:ext cx="30870" cy="3436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3715069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10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85800" y="292081"/>
            <a:ext cx="7848600" cy="422275"/>
          </a:xfrm>
        </p:spPr>
        <p:txBody>
          <a:bodyPr/>
          <a:lstStyle/>
          <a:p>
            <a:r>
              <a:rPr lang="en-US" altLang="zh-CN" dirty="0">
                <a:ea typeface="宋体" pitchFamily="2" charset="-122"/>
              </a:rPr>
              <a:t>Example of Loading and Storing Bytes</a:t>
            </a:r>
          </a:p>
        </p:txBody>
      </p:sp>
      <p:sp>
        <p:nvSpPr>
          <p:cNvPr id="431107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457200" y="762000"/>
            <a:ext cx="8305800" cy="1824089"/>
          </a:xfrm>
        </p:spPr>
        <p:txBody>
          <a:bodyPr/>
          <a:lstStyle/>
          <a:p>
            <a:r>
              <a:rPr lang="en-US" altLang="zh-CN" dirty="0">
                <a:ea typeface="宋体" pitchFamily="2" charset="-122"/>
              </a:rPr>
              <a:t>Given following code sequence and memory state what is the state of the memory after executing the code?</a:t>
            </a:r>
          </a:p>
          <a:p>
            <a:pPr>
              <a:lnSpc>
                <a:spcPct val="60000"/>
              </a:lnSpc>
              <a:buFont typeface="Wingdings" pitchFamily="2" charset="2"/>
              <a:buNone/>
            </a:pPr>
            <a:r>
              <a:rPr lang="en-US" altLang="zh-CN" dirty="0">
                <a:latin typeface="Courier New" pitchFamily="49" charset="0"/>
                <a:ea typeface="宋体" pitchFamily="2" charset="-122"/>
              </a:rPr>
              <a:t>		</a:t>
            </a:r>
            <a:r>
              <a:rPr lang="en-US" altLang="zh-CN" sz="2400" dirty="0">
                <a:latin typeface="Courier New" pitchFamily="49" charset="0"/>
                <a:ea typeface="宋体" pitchFamily="2" charset="-122"/>
              </a:rPr>
              <a:t>add	$s3, $zero, $zero</a:t>
            </a:r>
          </a:p>
          <a:p>
            <a:pPr>
              <a:lnSpc>
                <a:spcPct val="60000"/>
              </a:lnSpc>
              <a:buFont typeface="Wingdings" pitchFamily="2" charset="2"/>
              <a:buNone/>
            </a:pPr>
            <a:r>
              <a:rPr lang="en-US" altLang="zh-CN" sz="2400" dirty="0">
                <a:latin typeface="Courier New" pitchFamily="49" charset="0"/>
                <a:ea typeface="宋体" pitchFamily="2" charset="-122"/>
              </a:rPr>
              <a:t>		</a:t>
            </a:r>
            <a:r>
              <a:rPr lang="en-US" altLang="zh-CN" sz="2400" dirty="0" err="1" smtClean="0">
                <a:latin typeface="Courier New" pitchFamily="49" charset="0"/>
                <a:ea typeface="宋体" pitchFamily="2" charset="-122"/>
              </a:rPr>
              <a:t>lbu</a:t>
            </a:r>
            <a:r>
              <a:rPr lang="en-US" altLang="zh-CN" sz="2400" dirty="0">
                <a:latin typeface="Courier New" pitchFamily="49" charset="0"/>
                <a:ea typeface="宋体" pitchFamily="2" charset="-122"/>
              </a:rPr>
              <a:t>	$t0, 1($s3)</a:t>
            </a:r>
          </a:p>
          <a:p>
            <a:pPr>
              <a:lnSpc>
                <a:spcPct val="60000"/>
              </a:lnSpc>
              <a:buFont typeface="Wingdings" pitchFamily="2" charset="2"/>
              <a:buNone/>
            </a:pPr>
            <a:r>
              <a:rPr lang="en-US" altLang="zh-CN" sz="2400" dirty="0">
                <a:latin typeface="Courier New" pitchFamily="49" charset="0"/>
                <a:ea typeface="宋体" pitchFamily="2" charset="-122"/>
              </a:rPr>
              <a:t>		</a:t>
            </a:r>
            <a:r>
              <a:rPr lang="en-US" altLang="zh-CN" sz="2400" dirty="0" err="1">
                <a:latin typeface="Courier New" pitchFamily="49" charset="0"/>
                <a:ea typeface="宋体" pitchFamily="2" charset="-122"/>
              </a:rPr>
              <a:t>sb</a:t>
            </a:r>
            <a:r>
              <a:rPr lang="en-US" altLang="zh-CN" sz="2400" dirty="0">
                <a:latin typeface="Courier New" pitchFamily="49" charset="0"/>
                <a:ea typeface="宋体" pitchFamily="2" charset="-122"/>
              </a:rPr>
              <a:t>	$t0, 6($s3)</a:t>
            </a:r>
          </a:p>
        </p:txBody>
      </p:sp>
      <p:sp>
        <p:nvSpPr>
          <p:cNvPr id="431108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38200" y="3571875"/>
            <a:ext cx="2057400" cy="2667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31109" name="Line 5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838200" y="5857875"/>
            <a:ext cx="2057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1110" name="Line 6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838200" y="5476875"/>
            <a:ext cx="2057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1111" name="Line 7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838200" y="5095875"/>
            <a:ext cx="2057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1112" name="Line 8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838200" y="4714875"/>
            <a:ext cx="2057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1113" name="Line 9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>
            <a:off x="838200" y="4333875"/>
            <a:ext cx="2057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1114" name="Line 10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838200" y="3952875"/>
            <a:ext cx="2057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1115" name="Rectangle 11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371600" y="3190875"/>
            <a:ext cx="10033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b="1">
                <a:solidFill>
                  <a:schemeClr val="tx1"/>
                </a:solidFill>
                <a:ea typeface="宋体" pitchFamily="2" charset="-122"/>
              </a:rPr>
              <a:t>Memory</a:t>
            </a:r>
          </a:p>
        </p:txBody>
      </p:sp>
      <p:sp>
        <p:nvSpPr>
          <p:cNvPr id="431116" name="Rectangle 12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914400" y="5934075"/>
            <a:ext cx="19177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0x 0 0 9 0 1 2 A 0</a:t>
            </a:r>
          </a:p>
        </p:txBody>
      </p:sp>
      <p:sp>
        <p:nvSpPr>
          <p:cNvPr id="431117" name="Rectangle 13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1524000" y="6238875"/>
            <a:ext cx="555625" cy="2587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sz="1600">
                <a:solidFill>
                  <a:schemeClr val="tx1"/>
                </a:solidFill>
                <a:ea typeface="宋体" pitchFamily="2" charset="-122"/>
              </a:rPr>
              <a:t>Data</a:t>
            </a:r>
          </a:p>
        </p:txBody>
      </p:sp>
      <p:sp>
        <p:nvSpPr>
          <p:cNvPr id="431118" name="Rectangle 14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3048000" y="6238875"/>
            <a:ext cx="1797050" cy="4667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sz="1600">
                <a:solidFill>
                  <a:schemeClr val="tx1"/>
                </a:solidFill>
                <a:ea typeface="宋体" pitchFamily="2" charset="-122"/>
              </a:rPr>
              <a:t>Word</a:t>
            </a:r>
          </a:p>
          <a:p>
            <a:pPr>
              <a:lnSpc>
                <a:spcPct val="85000"/>
              </a:lnSpc>
            </a:pPr>
            <a:r>
              <a:rPr lang="en-US" altLang="zh-CN" sz="1600">
                <a:solidFill>
                  <a:schemeClr val="tx1"/>
                </a:solidFill>
                <a:ea typeface="宋体" pitchFamily="2" charset="-122"/>
              </a:rPr>
              <a:t>Address (Decimal)</a:t>
            </a:r>
          </a:p>
        </p:txBody>
      </p:sp>
      <p:sp>
        <p:nvSpPr>
          <p:cNvPr id="431119" name="Rectangle 15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3048000" y="5934075"/>
            <a:ext cx="2540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0</a:t>
            </a:r>
          </a:p>
        </p:txBody>
      </p:sp>
      <p:sp>
        <p:nvSpPr>
          <p:cNvPr id="431120" name="Rectangle 16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3048000" y="5553075"/>
            <a:ext cx="2540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4</a:t>
            </a:r>
          </a:p>
        </p:txBody>
      </p:sp>
      <p:sp>
        <p:nvSpPr>
          <p:cNvPr id="431121" name="Rectangle 17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3048000" y="5172075"/>
            <a:ext cx="2540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8</a:t>
            </a:r>
          </a:p>
        </p:txBody>
      </p:sp>
      <p:sp>
        <p:nvSpPr>
          <p:cNvPr id="431122" name="Rectangle 18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3048000" y="4791075"/>
            <a:ext cx="3810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12</a:t>
            </a:r>
          </a:p>
        </p:txBody>
      </p:sp>
      <p:sp>
        <p:nvSpPr>
          <p:cNvPr id="431123" name="Rectangle 19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3048000" y="4410075"/>
            <a:ext cx="3810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16</a:t>
            </a:r>
          </a:p>
        </p:txBody>
      </p:sp>
      <p:sp>
        <p:nvSpPr>
          <p:cNvPr id="431124" name="Rectangle 20"/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3048000" y="4029075"/>
            <a:ext cx="3810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20</a:t>
            </a:r>
          </a:p>
        </p:txBody>
      </p:sp>
      <p:sp>
        <p:nvSpPr>
          <p:cNvPr id="431125" name="Rectangle 21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3048000" y="3648075"/>
            <a:ext cx="3810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24</a:t>
            </a:r>
          </a:p>
        </p:txBody>
      </p:sp>
      <p:sp>
        <p:nvSpPr>
          <p:cNvPr id="431126" name="Rectangle 22"/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914400" y="5553075"/>
            <a:ext cx="19939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0x F F F F F F F F</a:t>
            </a:r>
          </a:p>
        </p:txBody>
      </p:sp>
      <p:sp>
        <p:nvSpPr>
          <p:cNvPr id="431127" name="Line 23"/>
          <p:cNvSpPr>
            <a:spLocks noChangeShapeType="1"/>
          </p:cNvSpPr>
          <p:nvPr>
            <p:custDataLst>
              <p:tags r:id="rId22"/>
            </p:custDataLst>
          </p:nvPr>
        </p:nvSpPr>
        <p:spPr bwMode="auto">
          <a:xfrm flipV="1">
            <a:off x="2895600" y="3267075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1128" name="Line 24"/>
          <p:cNvSpPr>
            <a:spLocks noChangeShapeType="1"/>
          </p:cNvSpPr>
          <p:nvPr>
            <p:custDataLst>
              <p:tags r:id="rId23"/>
            </p:custDataLst>
          </p:nvPr>
        </p:nvSpPr>
        <p:spPr bwMode="auto">
          <a:xfrm flipV="1">
            <a:off x="838200" y="3190875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1129" name="Rectangle 25"/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914400" y="5172075"/>
            <a:ext cx="18923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0x 0 1 0 0 0 4 0 2</a:t>
            </a:r>
          </a:p>
        </p:txBody>
      </p:sp>
      <p:sp>
        <p:nvSpPr>
          <p:cNvPr id="431130" name="Rectangle 26"/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914400" y="4791075"/>
            <a:ext cx="18923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0x 1 0 0 0 0 0 1 0</a:t>
            </a:r>
          </a:p>
        </p:txBody>
      </p:sp>
      <p:sp>
        <p:nvSpPr>
          <p:cNvPr id="431131" name="Rectangle 27"/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914400" y="4410075"/>
            <a:ext cx="18923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0x 0 0 0 0 0 0 0 0</a:t>
            </a:r>
          </a:p>
        </p:txBody>
      </p:sp>
      <p:sp>
        <p:nvSpPr>
          <p:cNvPr id="431132" name="Rectangle 28"/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914400" y="4029075"/>
            <a:ext cx="18923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0x 0 0 0 0 0 0 0 0</a:t>
            </a:r>
          </a:p>
        </p:txBody>
      </p:sp>
      <p:sp>
        <p:nvSpPr>
          <p:cNvPr id="431133" name="Rectangle 29"/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838200" y="3648075"/>
            <a:ext cx="19558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zh-CN" altLang="en-US">
                <a:solidFill>
                  <a:schemeClr val="tx1"/>
                </a:solidFill>
                <a:ea typeface="宋体" pitchFamily="2" charset="-122"/>
              </a:rPr>
              <a:t> </a:t>
            </a: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0x 0 0 0 0 0 0 0 0</a:t>
            </a:r>
          </a:p>
        </p:txBody>
      </p:sp>
      <p:sp>
        <p:nvSpPr>
          <p:cNvPr id="431138" name="Rectangle 34"/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5105400" y="3276600"/>
            <a:ext cx="2578100" cy="4159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2400">
                <a:solidFill>
                  <a:schemeClr val="accent2"/>
                </a:solidFill>
                <a:ea typeface="宋体" pitchFamily="2" charset="-122"/>
              </a:rPr>
              <a:t>$t0 = 0x00000090</a:t>
            </a:r>
          </a:p>
        </p:txBody>
      </p:sp>
      <p:sp>
        <p:nvSpPr>
          <p:cNvPr id="431139" name="Rectangle 35"/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4114800" y="4648200"/>
            <a:ext cx="3300413" cy="4159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2400">
                <a:solidFill>
                  <a:schemeClr val="accent2"/>
                </a:solidFill>
                <a:ea typeface="宋体" pitchFamily="2" charset="-122"/>
              </a:rPr>
              <a:t>mem(4) = 0xFFFF90FF</a:t>
            </a:r>
          </a:p>
        </p:txBody>
      </p:sp>
      <p:sp>
        <p:nvSpPr>
          <p:cNvPr id="431140" name="Rectangle 36"/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5181600" y="6172200"/>
            <a:ext cx="3300413" cy="4159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2400">
                <a:solidFill>
                  <a:schemeClr val="accent2"/>
                </a:solidFill>
                <a:ea typeface="宋体" pitchFamily="2" charset="-122"/>
              </a:rPr>
              <a:t>mem(4) = 0xFF12FFFF</a:t>
            </a:r>
          </a:p>
        </p:txBody>
      </p:sp>
      <p:sp>
        <p:nvSpPr>
          <p:cNvPr id="431141" name="Rectangle 37"/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4800600" y="2743200"/>
            <a:ext cx="3962400" cy="3794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marL="287338" indent="-287338">
              <a:lnSpc>
                <a:spcPct val="90000"/>
              </a:lnSpc>
              <a:spcBef>
                <a:spcPct val="65000"/>
              </a:spcBef>
              <a:buClr>
                <a:schemeClr val="accent1"/>
              </a:buClr>
              <a:buSzPct val="75000"/>
              <a:buFont typeface="Wingdings" pitchFamily="2" charset="2"/>
              <a:buChar char="q"/>
            </a:pPr>
            <a:r>
              <a:rPr lang="en-US" altLang="zh-CN" sz="2400">
                <a:solidFill>
                  <a:schemeClr val="tx1"/>
                </a:solidFill>
                <a:ea typeface="宋体" pitchFamily="2" charset="-122"/>
              </a:rPr>
              <a:t>What value is left in $t0?</a:t>
            </a:r>
            <a:endParaRPr lang="en-US" altLang="zh-CN" sz="2400">
              <a:solidFill>
                <a:schemeClr val="tx1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431142" name="Rectangle 38"/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3657600" y="5181600"/>
            <a:ext cx="4800600" cy="708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marL="287338" indent="-287338">
              <a:lnSpc>
                <a:spcPct val="90000"/>
              </a:lnSpc>
              <a:spcBef>
                <a:spcPct val="65000"/>
              </a:spcBef>
              <a:buClr>
                <a:schemeClr val="accent1"/>
              </a:buClr>
              <a:buSzPct val="75000"/>
              <a:buFont typeface="Wingdings" pitchFamily="2" charset="2"/>
              <a:buChar char="q"/>
            </a:pPr>
            <a:r>
              <a:rPr lang="en-US" altLang="zh-CN" sz="2400">
                <a:solidFill>
                  <a:schemeClr val="tx1"/>
                </a:solidFill>
                <a:ea typeface="宋体" pitchFamily="2" charset="-122"/>
              </a:rPr>
              <a:t>What if the machine was </a:t>
            </a:r>
            <a:r>
              <a:rPr lang="en-US" altLang="zh-CN" sz="2400">
                <a:ea typeface="宋体" pitchFamily="2" charset="-122"/>
              </a:rPr>
              <a:t>little Endian</a:t>
            </a:r>
            <a:r>
              <a:rPr lang="en-US" altLang="zh-CN" sz="2400">
                <a:solidFill>
                  <a:schemeClr val="tx1"/>
                </a:solidFill>
                <a:ea typeface="宋体" pitchFamily="2" charset="-122"/>
              </a:rPr>
              <a:t>?</a:t>
            </a:r>
            <a:endParaRPr lang="en-US" altLang="zh-CN" sz="2400">
              <a:solidFill>
                <a:schemeClr val="tx1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431143" name="Rectangle 39"/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3733800" y="3886200"/>
            <a:ext cx="5105400" cy="7080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marL="287338" indent="-287338">
              <a:lnSpc>
                <a:spcPct val="90000"/>
              </a:lnSpc>
              <a:spcBef>
                <a:spcPct val="65000"/>
              </a:spcBef>
              <a:buClr>
                <a:schemeClr val="accent1"/>
              </a:buClr>
              <a:buSzPct val="75000"/>
              <a:buFont typeface="Wingdings" pitchFamily="2" charset="2"/>
              <a:buChar char="q"/>
            </a:pPr>
            <a:r>
              <a:rPr lang="en-US" altLang="zh-CN" sz="2400">
                <a:solidFill>
                  <a:schemeClr val="tx1"/>
                </a:solidFill>
                <a:ea typeface="宋体" pitchFamily="2" charset="-122"/>
              </a:rPr>
              <a:t>What word is changed in Memory and to what?</a:t>
            </a:r>
            <a:endParaRPr lang="en-US" altLang="zh-CN" sz="2400">
              <a:solidFill>
                <a:schemeClr val="tx1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431144" name="Rectangle 40"/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5194300" y="5715000"/>
            <a:ext cx="2578100" cy="4159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r>
              <a:rPr lang="en-US" altLang="zh-CN" sz="2400">
                <a:solidFill>
                  <a:schemeClr val="accent2"/>
                </a:solidFill>
                <a:ea typeface="宋体" pitchFamily="2" charset="-122"/>
              </a:rPr>
              <a:t>$t0 = 0x00000012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074" name="Ink 3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022600" y="5889625"/>
              <a:ext cx="7938" cy="1588"/>
            </p14:xfrm>
          </p:contentPart>
        </mc:Choice>
        <mc:Fallback xmlns="">
          <p:pic>
            <p:nvPicPr>
              <p:cNvPr id="3074" name="Ink 3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014344" y="5879303"/>
                <a:ext cx="24449" cy="222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075" name="Ink 33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178175" y="5892800"/>
              <a:ext cx="7938" cy="14288"/>
            </p14:xfrm>
          </p:contentPart>
        </mc:Choice>
        <mc:Fallback xmlns="">
          <p:pic>
            <p:nvPicPr>
              <p:cNvPr id="3075" name="Ink 33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166709" y="5882760"/>
                <a:ext cx="30870" cy="3436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30454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1138" grpId="0" autoUpdateAnimBg="0"/>
      <p:bldP spid="431139" grpId="0" autoUpdateAnimBg="0"/>
      <p:bldP spid="431140" grpId="0" autoUpdateAnimBg="0"/>
      <p:bldP spid="431144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85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609600" y="292081"/>
            <a:ext cx="5562600" cy="422275"/>
          </a:xfrm>
        </p:spPr>
        <p:txBody>
          <a:bodyPr/>
          <a:lstStyle/>
          <a:p>
            <a:r>
              <a:rPr lang="en-US" altLang="zh-CN" dirty="0">
                <a:ea typeface="宋体" pitchFamily="2" charset="-122"/>
              </a:rPr>
              <a:t>Loading and Storing Half Words</a:t>
            </a:r>
          </a:p>
        </p:txBody>
      </p:sp>
      <p:sp>
        <p:nvSpPr>
          <p:cNvPr id="462851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533400" y="857232"/>
            <a:ext cx="8382000" cy="1380891"/>
          </a:xfrm>
        </p:spPr>
        <p:txBody>
          <a:bodyPr/>
          <a:lstStyle/>
          <a:p>
            <a:r>
              <a:rPr lang="en-US" altLang="zh-CN" dirty="0" smtClean="0">
                <a:ea typeface="宋体" pitchFamily="2" charset="-122"/>
              </a:rPr>
              <a:t>So MIPS </a:t>
            </a:r>
            <a:r>
              <a:rPr lang="en-US" altLang="zh-CN" dirty="0">
                <a:ea typeface="宋体" pitchFamily="2" charset="-122"/>
              </a:rPr>
              <a:t>also provides special instructions </a:t>
            </a:r>
            <a:r>
              <a:rPr lang="en-US" altLang="zh-CN" dirty="0" smtClean="0">
                <a:ea typeface="宋体" pitchFamily="2" charset="-122"/>
              </a:rPr>
              <a:t>for half </a:t>
            </a:r>
            <a:r>
              <a:rPr lang="en-US" altLang="zh-CN" dirty="0">
                <a:ea typeface="宋体" pitchFamily="2" charset="-122"/>
              </a:rPr>
              <a:t>words</a:t>
            </a:r>
          </a:p>
          <a:p>
            <a:pPr algn="ctr">
              <a:buFont typeface="Wingdings" pitchFamily="2" charset="2"/>
              <a:buNone/>
            </a:pPr>
            <a:r>
              <a:rPr lang="en-US" altLang="zh-CN" sz="2400" dirty="0" err="1">
                <a:latin typeface="Courier New" pitchFamily="49" charset="0"/>
                <a:ea typeface="宋体" pitchFamily="2" charset="-122"/>
              </a:rPr>
              <a:t>lh</a:t>
            </a:r>
            <a:r>
              <a:rPr lang="en-US" altLang="zh-CN" sz="2400" dirty="0">
                <a:latin typeface="Courier New" pitchFamily="49" charset="0"/>
                <a:ea typeface="宋体" pitchFamily="2" charset="-122"/>
              </a:rPr>
              <a:t>	$t0, 1($s3)  #load half word from memory</a:t>
            </a:r>
          </a:p>
          <a:p>
            <a:pPr>
              <a:buFont typeface="Wingdings" pitchFamily="2" charset="2"/>
              <a:buNone/>
            </a:pPr>
            <a:r>
              <a:rPr lang="en-US" altLang="zh-CN" sz="2400" dirty="0" err="1">
                <a:latin typeface="Courier New" pitchFamily="49" charset="0"/>
                <a:ea typeface="宋体" pitchFamily="2" charset="-122"/>
              </a:rPr>
              <a:t>sh</a:t>
            </a:r>
            <a:r>
              <a:rPr lang="en-US" altLang="zh-CN" sz="2400" dirty="0">
                <a:latin typeface="Courier New" pitchFamily="49" charset="0"/>
                <a:ea typeface="宋体" pitchFamily="2" charset="-122"/>
              </a:rPr>
              <a:t>	$t0, 6($s3)  #store half word to </a:t>
            </a:r>
            <a:r>
              <a:rPr lang="en-US" altLang="zh-CN" sz="2400" dirty="0" smtClean="0">
                <a:latin typeface="Courier New" pitchFamily="49" charset="0"/>
                <a:ea typeface="宋体" pitchFamily="2" charset="-122"/>
              </a:rPr>
              <a:t>memory</a:t>
            </a:r>
            <a:endParaRPr lang="en-US" altLang="zh-CN" sz="2400" dirty="0">
              <a:latin typeface="Courier New" pitchFamily="49" charset="0"/>
              <a:ea typeface="宋体" pitchFamily="2" charset="-122"/>
            </a:endParaRPr>
          </a:p>
        </p:txBody>
      </p:sp>
      <p:grpSp>
        <p:nvGrpSpPr>
          <p:cNvPr id="2" name="Group 4"/>
          <p:cNvGrpSpPr>
            <a:grpSpLocks/>
          </p:cNvGrpSpPr>
          <p:nvPr>
            <p:custDataLst>
              <p:tags r:id="rId3"/>
            </p:custDataLst>
          </p:nvPr>
        </p:nvGrpSpPr>
        <p:grpSpPr bwMode="auto">
          <a:xfrm>
            <a:off x="1571604" y="2428868"/>
            <a:ext cx="5791200" cy="369887"/>
            <a:chOff x="1056" y="3024"/>
            <a:chExt cx="3648" cy="233"/>
          </a:xfrm>
        </p:grpSpPr>
        <p:sp>
          <p:nvSpPr>
            <p:cNvPr id="462853" name="Rectangle 5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056" y="3024"/>
              <a:ext cx="3648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2854" name="Line 6"/>
            <p:cNvSpPr>
              <a:spLocks noChangeShapeType="1"/>
            </p:cNvSpPr>
            <p:nvPr>
              <p:custDataLst>
                <p:tags r:id="rId12"/>
              </p:custDataLst>
            </p:nvPr>
          </p:nvSpPr>
          <p:spPr bwMode="auto">
            <a:xfrm>
              <a:off x="1728" y="3024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62855" name="Line 7"/>
            <p:cNvSpPr>
              <a:spLocks noChangeShapeType="1"/>
            </p:cNvSpPr>
            <p:nvPr>
              <p:custDataLst>
                <p:tags r:id="rId13"/>
              </p:custDataLst>
            </p:nvPr>
          </p:nvSpPr>
          <p:spPr bwMode="auto">
            <a:xfrm>
              <a:off x="2300" y="3025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62856" name="Line 8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>
              <a:off x="2876" y="3025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62857" name="Text Box 9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200" y="3024"/>
              <a:ext cx="3259" cy="2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dirty="0" smtClean="0">
                  <a:solidFill>
                    <a:schemeClr val="tx1"/>
                  </a:solidFill>
                  <a:ea typeface="宋体" pitchFamily="2" charset="-122"/>
                </a:rPr>
                <a:t>0x25            19             8                 </a:t>
              </a:r>
              <a:r>
                <a:rPr lang="en-US" altLang="zh-CN" dirty="0">
                  <a:solidFill>
                    <a:schemeClr val="tx1"/>
                  </a:solidFill>
                  <a:ea typeface="宋体" pitchFamily="2" charset="-122"/>
                </a:rPr>
                <a:t>16 bit number</a:t>
              </a:r>
            </a:p>
          </p:txBody>
        </p:sp>
      </p:grpSp>
      <p:sp>
        <p:nvSpPr>
          <p:cNvPr id="462858" name="Rectangle 10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28596" y="3357562"/>
            <a:ext cx="8382000" cy="32496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63500" tIns="25400" rIns="63500" bIns="25400">
            <a:spAutoFit/>
          </a:bodyPr>
          <a:lstStyle/>
          <a:p>
            <a:pPr marL="287338" indent="-287338">
              <a:spcBef>
                <a:spcPct val="30000"/>
              </a:spcBef>
              <a:buClr>
                <a:schemeClr val="accent1"/>
              </a:buClr>
              <a:buSzPct val="75000"/>
              <a:buFont typeface="Wingdings" pitchFamily="2" charset="2"/>
              <a:buChar char="q"/>
            </a:pPr>
            <a:r>
              <a:rPr lang="en-US" altLang="zh-CN" sz="2400" dirty="0">
                <a:solidFill>
                  <a:schemeClr val="tx1"/>
                </a:solidFill>
                <a:ea typeface="宋体" pitchFamily="2" charset="-122"/>
              </a:rPr>
              <a:t>What 16 bits get loaded and stored?</a:t>
            </a:r>
          </a:p>
          <a:p>
            <a:pPr marL="741363" lvl="1" indent="-246063">
              <a:spcBef>
                <a:spcPct val="25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altLang="zh-CN" sz="2400" dirty="0">
                <a:solidFill>
                  <a:schemeClr val="tx1"/>
                </a:solidFill>
                <a:ea typeface="宋体" pitchFamily="2" charset="-122"/>
              </a:rPr>
              <a:t>load half word places the half word from memory in the rightmost 16 bits of the destination register</a:t>
            </a:r>
          </a:p>
          <a:p>
            <a:pPr marL="1146175" lvl="2" indent="-176213">
              <a:spcBef>
                <a:spcPct val="25000"/>
              </a:spcBef>
              <a:buClr>
                <a:schemeClr val="accent1"/>
              </a:buClr>
              <a:buSzPct val="100000"/>
              <a:buFontTx/>
              <a:buChar char="-"/>
            </a:pPr>
            <a:r>
              <a:rPr lang="en-US" altLang="zh-CN" sz="2000" dirty="0">
                <a:solidFill>
                  <a:schemeClr val="tx1"/>
                </a:solidFill>
                <a:ea typeface="宋体" pitchFamily="2" charset="-122"/>
              </a:rPr>
              <a:t>what happens to the other bits in the register?</a:t>
            </a:r>
          </a:p>
          <a:p>
            <a:pPr marL="741363" lvl="1" indent="-246063">
              <a:spcBef>
                <a:spcPct val="25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altLang="zh-CN" sz="2400" dirty="0">
                <a:solidFill>
                  <a:schemeClr val="tx1"/>
                </a:solidFill>
                <a:ea typeface="宋体" pitchFamily="2" charset="-122"/>
              </a:rPr>
              <a:t>store half word takes the half word from the rightmost 16 bits of the register and writes it to the half word in memory</a:t>
            </a:r>
          </a:p>
          <a:p>
            <a:pPr marL="1146175" lvl="2" indent="-176213">
              <a:spcBef>
                <a:spcPct val="25000"/>
              </a:spcBef>
              <a:buClr>
                <a:schemeClr val="accent1"/>
              </a:buClr>
              <a:buSzPct val="100000"/>
              <a:buFontTx/>
              <a:buChar char="-"/>
            </a:pPr>
            <a:r>
              <a:rPr lang="en-US" altLang="zh-CN" sz="2000" dirty="0">
                <a:solidFill>
                  <a:schemeClr val="tx1"/>
                </a:solidFill>
                <a:ea typeface="宋体" pitchFamily="2" charset="-122"/>
              </a:rPr>
              <a:t>leaving the other half word in the memory word unchanged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72362" y="2886014"/>
            <a:ext cx="4924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sh</a:t>
            </a:r>
            <a:endParaRPr lang="en-US" sz="2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72362" y="2357430"/>
            <a:ext cx="6463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lhu</a:t>
            </a:r>
            <a:endParaRPr lang="en-US" sz="2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3" name="Group 4"/>
          <p:cNvGrpSpPr>
            <a:grpSpLocks/>
          </p:cNvGrpSpPr>
          <p:nvPr>
            <p:custDataLst>
              <p:tags r:id="rId5"/>
            </p:custDataLst>
          </p:nvPr>
        </p:nvGrpSpPr>
        <p:grpSpPr bwMode="auto">
          <a:xfrm>
            <a:off x="1566882" y="2928934"/>
            <a:ext cx="5791200" cy="369887"/>
            <a:chOff x="1056" y="3024"/>
            <a:chExt cx="3648" cy="233"/>
          </a:xfrm>
        </p:grpSpPr>
        <p:sp>
          <p:nvSpPr>
            <p:cNvPr id="14" name="Rectangle 5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056" y="3024"/>
              <a:ext cx="3648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Line 6"/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>
              <a:off x="1728" y="3024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7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>
              <a:off x="2300" y="3025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8"/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>
              <a:off x="2876" y="3025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Box 9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200" y="3024"/>
              <a:ext cx="3259" cy="2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dirty="0" smtClean="0">
                  <a:solidFill>
                    <a:schemeClr val="tx1"/>
                  </a:solidFill>
                  <a:ea typeface="宋体" pitchFamily="2" charset="-122"/>
                </a:rPr>
                <a:t>0x29            19             8                 </a:t>
              </a:r>
              <a:r>
                <a:rPr lang="en-US" altLang="zh-CN" dirty="0">
                  <a:solidFill>
                    <a:schemeClr val="tx1"/>
                  </a:solidFill>
                  <a:ea typeface="宋体" pitchFamily="2" charset="-122"/>
                </a:rPr>
                <a:t>16 bit number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64595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285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533400" y="304800"/>
            <a:ext cx="3842399" cy="426142"/>
          </a:xfrm>
          <a:noFill/>
          <a:ln/>
        </p:spPr>
        <p:txBody>
          <a:bodyPr wrap="none"/>
          <a:lstStyle/>
          <a:p>
            <a:r>
              <a:rPr lang="en-US" altLang="zh-CN" dirty="0" smtClean="0">
                <a:ea typeface="宋体" pitchFamily="2" charset="-122"/>
              </a:rPr>
              <a:t>Half Word: </a:t>
            </a:r>
            <a:r>
              <a:rPr lang="en-US" altLang="zh-CN" dirty="0" err="1" smtClean="0">
                <a:ea typeface="宋体" pitchFamily="2" charset="-122"/>
              </a:rPr>
              <a:t>Endianess</a:t>
            </a:r>
            <a:endParaRPr lang="en-US" altLang="zh-CN" dirty="0">
              <a:ea typeface="宋体" pitchFamily="2" charset="-122"/>
            </a:endParaRPr>
          </a:p>
        </p:txBody>
      </p:sp>
      <p:sp>
        <p:nvSpPr>
          <p:cNvPr id="412675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428596" y="857232"/>
            <a:ext cx="8191500" cy="900759"/>
          </a:xfrm>
          <a:noFill/>
          <a:ln/>
        </p:spPr>
        <p:txBody>
          <a:bodyPr/>
          <a:lstStyle/>
          <a:p>
            <a:r>
              <a:rPr lang="en-US" altLang="zh-CN" dirty="0">
                <a:solidFill>
                  <a:srgbClr val="00B7A5"/>
                </a:solidFill>
                <a:ea typeface="宋体" pitchFamily="2" charset="-122"/>
              </a:rPr>
              <a:t>Big </a:t>
            </a:r>
            <a:r>
              <a:rPr lang="en-US" altLang="zh-CN" dirty="0" err="1">
                <a:solidFill>
                  <a:srgbClr val="00B7A5"/>
                </a:solidFill>
                <a:ea typeface="宋体" pitchFamily="2" charset="-122"/>
              </a:rPr>
              <a:t>Endian</a:t>
            </a:r>
            <a:r>
              <a:rPr lang="en-US" altLang="zh-CN" dirty="0">
                <a:solidFill>
                  <a:srgbClr val="00B7A5"/>
                </a:solidFill>
                <a:ea typeface="宋体" pitchFamily="2" charset="-122"/>
              </a:rPr>
              <a:t>:</a:t>
            </a:r>
            <a:r>
              <a:rPr lang="en-US" altLang="zh-CN" dirty="0">
                <a:ea typeface="宋体" pitchFamily="2" charset="-122"/>
              </a:rPr>
              <a:t>	 leftmost </a:t>
            </a:r>
            <a:r>
              <a:rPr lang="en-US" altLang="zh-CN" dirty="0" smtClean="0">
                <a:ea typeface="宋体" pitchFamily="2" charset="-122"/>
              </a:rPr>
              <a:t>byte is </a:t>
            </a:r>
            <a:r>
              <a:rPr lang="en-US" altLang="zh-CN" dirty="0">
                <a:ea typeface="宋体" pitchFamily="2" charset="-122"/>
              </a:rPr>
              <a:t>word address</a:t>
            </a:r>
            <a:endParaRPr lang="en-US" altLang="zh-CN" sz="3200" dirty="0">
              <a:ea typeface="宋体" pitchFamily="2" charset="-122"/>
            </a:endParaRPr>
          </a:p>
          <a:p>
            <a:r>
              <a:rPr lang="en-US" altLang="zh-CN" dirty="0">
                <a:solidFill>
                  <a:schemeClr val="accent1"/>
                </a:solidFill>
                <a:ea typeface="宋体" pitchFamily="2" charset="-122"/>
              </a:rPr>
              <a:t>Little </a:t>
            </a:r>
            <a:r>
              <a:rPr lang="en-US" altLang="zh-CN" dirty="0" err="1">
                <a:solidFill>
                  <a:schemeClr val="accent1"/>
                </a:solidFill>
                <a:ea typeface="宋体" pitchFamily="2" charset="-122"/>
              </a:rPr>
              <a:t>Endian</a:t>
            </a:r>
            <a:r>
              <a:rPr lang="en-US" altLang="zh-CN" dirty="0">
                <a:ea typeface="宋体" pitchFamily="2" charset="-122"/>
              </a:rPr>
              <a:t>:	 rightmost byte is word address</a:t>
            </a:r>
            <a:endParaRPr lang="en-US" altLang="zh-CN" sz="3200" dirty="0">
              <a:ea typeface="宋体" pitchFamily="2" charset="-122"/>
            </a:endParaRPr>
          </a:p>
        </p:txBody>
      </p:sp>
      <p:sp>
        <p:nvSpPr>
          <p:cNvPr id="412676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90842" y="3405182"/>
            <a:ext cx="3111500" cy="4445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2677" name="Line 5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4614842" y="3405182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2678" name="Line 6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3852842" y="3405182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2679" name="Line 7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5376842" y="3405182"/>
            <a:ext cx="0" cy="444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12680" name="Rectangle 8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2328842" y="3481382"/>
            <a:ext cx="5969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b="1">
                <a:solidFill>
                  <a:schemeClr val="tx1"/>
                </a:solidFill>
                <a:ea typeface="宋体" pitchFamily="2" charset="-122"/>
              </a:rPr>
              <a:t>msb</a:t>
            </a:r>
          </a:p>
        </p:txBody>
      </p:sp>
      <p:sp>
        <p:nvSpPr>
          <p:cNvPr id="412681" name="Rectangle 9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367442" y="3481382"/>
            <a:ext cx="4572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zh-CN" b="1" dirty="0" err="1">
                <a:solidFill>
                  <a:schemeClr val="tx1"/>
                </a:solidFill>
                <a:ea typeface="宋体" pitchFamily="2" charset="-122"/>
              </a:rPr>
              <a:t>lsb</a:t>
            </a:r>
            <a:endParaRPr lang="en-US" altLang="zh-CN" b="1" dirty="0">
              <a:solidFill>
                <a:schemeClr val="tx1"/>
              </a:solidFill>
              <a:ea typeface="宋体" pitchFamily="2" charset="-122"/>
            </a:endParaRPr>
          </a:p>
        </p:txBody>
      </p:sp>
      <p:grpSp>
        <p:nvGrpSpPr>
          <p:cNvPr id="2" name="Group 10"/>
          <p:cNvGrpSpPr>
            <a:grpSpLocks/>
          </p:cNvGrpSpPr>
          <p:nvPr>
            <p:custDataLst>
              <p:tags r:id="rId9"/>
            </p:custDataLst>
          </p:nvPr>
        </p:nvGrpSpPr>
        <p:grpSpPr bwMode="auto">
          <a:xfrm>
            <a:off x="3395642" y="2643182"/>
            <a:ext cx="4418013" cy="665163"/>
            <a:chOff x="1440" y="1824"/>
            <a:chExt cx="2783" cy="419"/>
          </a:xfrm>
        </p:grpSpPr>
        <p:sp>
          <p:nvSpPr>
            <p:cNvPr id="412683" name="Rectangle 11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440" y="2064"/>
              <a:ext cx="1640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b="1">
                  <a:ea typeface="宋体" pitchFamily="2" charset="-122"/>
                </a:rPr>
                <a:t>3          2          1           0</a:t>
              </a:r>
            </a:p>
          </p:txBody>
        </p:sp>
        <p:sp>
          <p:nvSpPr>
            <p:cNvPr id="412684" name="Rectangle 12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736" y="1824"/>
              <a:ext cx="1487" cy="19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2000" b="1" i="1" dirty="0">
                  <a:ea typeface="宋体" pitchFamily="2" charset="-122"/>
                </a:rPr>
                <a:t>little </a:t>
              </a:r>
              <a:r>
                <a:rPr lang="en-US" altLang="zh-CN" sz="2000" b="1" i="1" dirty="0" err="1">
                  <a:ea typeface="宋体" pitchFamily="2" charset="-122"/>
                </a:rPr>
                <a:t>endian</a:t>
              </a:r>
              <a:r>
                <a:rPr lang="en-US" altLang="zh-CN" sz="2000" b="1" i="1" dirty="0">
                  <a:ea typeface="宋体" pitchFamily="2" charset="-122"/>
                </a:rPr>
                <a:t> byte 0</a:t>
              </a:r>
            </a:p>
          </p:txBody>
        </p:sp>
      </p:grpSp>
      <p:grpSp>
        <p:nvGrpSpPr>
          <p:cNvPr id="3" name="Group 13"/>
          <p:cNvGrpSpPr>
            <a:grpSpLocks/>
          </p:cNvGrpSpPr>
          <p:nvPr>
            <p:custDataLst>
              <p:tags r:id="rId10"/>
            </p:custDataLst>
          </p:nvPr>
        </p:nvGrpSpPr>
        <p:grpSpPr bwMode="auto">
          <a:xfrm>
            <a:off x="1643042" y="4014782"/>
            <a:ext cx="4279900" cy="617538"/>
            <a:chOff x="336" y="2688"/>
            <a:chExt cx="2696" cy="389"/>
          </a:xfrm>
        </p:grpSpPr>
        <p:sp>
          <p:nvSpPr>
            <p:cNvPr id="412686" name="Rectangle 14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392" y="2688"/>
              <a:ext cx="1640" cy="17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b="1">
                  <a:solidFill>
                    <a:srgbClr val="00B7A5"/>
                  </a:solidFill>
                  <a:ea typeface="宋体" pitchFamily="2" charset="-122"/>
                </a:rPr>
                <a:t>0          1          2           3</a:t>
              </a:r>
            </a:p>
          </p:txBody>
        </p:sp>
        <p:sp>
          <p:nvSpPr>
            <p:cNvPr id="412687" name="Rectangle 15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336" y="2880"/>
              <a:ext cx="1440" cy="19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2000" b="1" i="1" dirty="0">
                  <a:solidFill>
                    <a:srgbClr val="00B7A5"/>
                  </a:solidFill>
                  <a:ea typeface="宋体" pitchFamily="2" charset="-122"/>
                </a:rPr>
                <a:t>big </a:t>
              </a:r>
              <a:r>
                <a:rPr lang="en-US" altLang="zh-CN" sz="2000" b="1" i="1" dirty="0" err="1">
                  <a:solidFill>
                    <a:srgbClr val="00B7A5"/>
                  </a:solidFill>
                  <a:ea typeface="宋体" pitchFamily="2" charset="-122"/>
                </a:rPr>
                <a:t>endian</a:t>
              </a:r>
              <a:r>
                <a:rPr lang="en-US" altLang="zh-CN" sz="2000" b="1" i="1" dirty="0">
                  <a:solidFill>
                    <a:srgbClr val="00B7A5"/>
                  </a:solidFill>
                  <a:ea typeface="宋体" pitchFamily="2" charset="-122"/>
                </a:rPr>
                <a:t> byte 0</a:t>
              </a:r>
            </a:p>
          </p:txBody>
        </p:sp>
      </p:grpSp>
      <p:grpSp>
        <p:nvGrpSpPr>
          <p:cNvPr id="4" name="Group 33"/>
          <p:cNvGrpSpPr/>
          <p:nvPr/>
        </p:nvGrpSpPr>
        <p:grpSpPr>
          <a:xfrm>
            <a:off x="3143240" y="4729162"/>
            <a:ext cx="1500198" cy="670096"/>
            <a:chOff x="3143240" y="4729162"/>
            <a:chExt cx="1500198" cy="670096"/>
          </a:xfrm>
        </p:grpSpPr>
        <p:sp>
          <p:nvSpPr>
            <p:cNvPr id="29" name="Rectangle 9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143240" y="5086352"/>
              <a:ext cx="1479572" cy="31290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2000" b="1" dirty="0" smtClean="0">
                  <a:solidFill>
                    <a:srgbClr val="00B7A5"/>
                  </a:solidFill>
                  <a:ea typeface="宋体" pitchFamily="2" charset="-122"/>
                </a:rPr>
                <a:t>half word 0</a:t>
              </a:r>
              <a:endParaRPr lang="en-US" altLang="zh-CN" sz="2000" b="1" dirty="0">
                <a:solidFill>
                  <a:srgbClr val="00B7A5"/>
                </a:solidFill>
                <a:ea typeface="宋体" pitchFamily="2" charset="-122"/>
              </a:endParaRPr>
            </a:p>
          </p:txBody>
        </p:sp>
        <p:sp>
          <p:nvSpPr>
            <p:cNvPr id="30" name="Right Brace 29"/>
            <p:cNvSpPr/>
            <p:nvPr/>
          </p:nvSpPr>
          <p:spPr bwMode="auto">
            <a:xfrm rot="5400000">
              <a:off x="3714744" y="4157658"/>
              <a:ext cx="357190" cy="1500198"/>
            </a:xfrm>
            <a:prstGeom prst="rightBrac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 smtClean="0">
                <a:ln>
                  <a:noFill/>
                </a:ln>
                <a:solidFill>
                  <a:srgbClr val="00B7A5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5" name="Group 32"/>
          <p:cNvGrpSpPr/>
          <p:nvPr/>
        </p:nvGrpSpPr>
        <p:grpSpPr>
          <a:xfrm>
            <a:off x="4643438" y="4729162"/>
            <a:ext cx="1551010" cy="670096"/>
            <a:chOff x="4643438" y="4729162"/>
            <a:chExt cx="1551010" cy="670096"/>
          </a:xfrm>
        </p:grpSpPr>
        <p:sp>
          <p:nvSpPr>
            <p:cNvPr id="31" name="Rectangle 9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714876" y="5086352"/>
              <a:ext cx="1479572" cy="31290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altLang="zh-CN" sz="2000" b="1" dirty="0" smtClean="0">
                  <a:solidFill>
                    <a:srgbClr val="00B7A5"/>
                  </a:solidFill>
                  <a:ea typeface="宋体" pitchFamily="2" charset="-122"/>
                </a:rPr>
                <a:t>half word 2</a:t>
              </a:r>
              <a:endParaRPr lang="en-US" altLang="zh-CN" sz="2000" b="1" dirty="0">
                <a:solidFill>
                  <a:srgbClr val="00B7A5"/>
                </a:solidFill>
                <a:ea typeface="宋体" pitchFamily="2" charset="-122"/>
              </a:endParaRPr>
            </a:p>
          </p:txBody>
        </p:sp>
        <p:sp>
          <p:nvSpPr>
            <p:cNvPr id="32" name="Right Brace 31"/>
            <p:cNvSpPr/>
            <p:nvPr/>
          </p:nvSpPr>
          <p:spPr bwMode="auto">
            <a:xfrm rot="5400000">
              <a:off x="5214942" y="4157658"/>
              <a:ext cx="357190" cy="1500198"/>
            </a:xfrm>
            <a:prstGeom prst="rightBrac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 smtClean="0">
                <a:ln>
                  <a:noFill/>
                </a:ln>
                <a:solidFill>
                  <a:srgbClr val="00B7A5"/>
                </a:solidFill>
                <a:effectLst/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90329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858" name="Rectangle 2"/>
          <p:cNvSpPr>
            <a:spLocks noChangeArrowheads="1"/>
          </p:cNvSpPr>
          <p:nvPr/>
        </p:nvSpPr>
        <p:spPr bwMode="auto">
          <a:xfrm>
            <a:off x="225425" y="312738"/>
            <a:ext cx="1190625" cy="4778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761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9156" y="3857628"/>
            <a:ext cx="8382000" cy="1419363"/>
          </a:xfrm>
          <a:noFill/>
          <a:ln/>
        </p:spPr>
        <p:txBody>
          <a:bodyPr lIns="90488" tIns="44450" rIns="90488" bIns="44450"/>
          <a:lstStyle/>
          <a:p>
            <a:pPr marL="342900" indent="-342900">
              <a:buFont typeface="Wingdings" pitchFamily="2" charset="2"/>
              <a:buNone/>
            </a:pPr>
            <a:r>
              <a:rPr lang="en-US" dirty="0"/>
              <a:t>	      </a:t>
            </a:r>
            <a:r>
              <a:rPr lang="en-US" dirty="0" err="1">
                <a:latin typeface="Courier New" pitchFamily="49" charset="0"/>
              </a:rPr>
              <a:t>addi</a:t>
            </a:r>
            <a:r>
              <a:rPr lang="en-US" dirty="0">
                <a:latin typeface="Courier New" pitchFamily="49" charset="0"/>
              </a:rPr>
              <a:t>	$sp, $sp, 4	#$sp = $sp + 4</a:t>
            </a:r>
          </a:p>
          <a:p>
            <a:pPr marL="342900" indent="-342900">
              <a:buFont typeface="Wingdings" pitchFamily="2" charset="2"/>
              <a:buNone/>
            </a:pPr>
            <a:r>
              <a:rPr lang="en-US" dirty="0">
                <a:latin typeface="Courier New" pitchFamily="49" charset="0"/>
              </a:rPr>
              <a:t>    </a:t>
            </a:r>
            <a:r>
              <a:rPr lang="en-US" dirty="0"/>
              <a:t> </a:t>
            </a:r>
            <a:r>
              <a:rPr lang="en-US" dirty="0" err="1" smtClean="0">
                <a:latin typeface="Courier New" pitchFamily="49" charset="0"/>
              </a:rPr>
              <a:t>slti</a:t>
            </a:r>
            <a:r>
              <a:rPr lang="en-US" dirty="0" smtClean="0">
                <a:latin typeface="Courier New" pitchFamily="49" charset="0"/>
              </a:rPr>
              <a:t> </a:t>
            </a:r>
            <a:r>
              <a:rPr lang="en-US" dirty="0">
                <a:latin typeface="Courier New" pitchFamily="49" charset="0"/>
              </a:rPr>
              <a:t>$t0, $s2, 15	#$t0 = 1 if $s2&lt;15</a:t>
            </a:r>
            <a:endParaRPr lang="en-US" dirty="0"/>
          </a:p>
          <a:p>
            <a:pPr marL="342900" indent="-342900"/>
            <a:r>
              <a:rPr lang="en-US" dirty="0"/>
              <a:t>Machine format (</a:t>
            </a:r>
            <a:r>
              <a:rPr lang="en-US" dirty="0">
                <a:solidFill>
                  <a:schemeClr val="accent1"/>
                </a:solidFill>
              </a:rPr>
              <a:t>I</a:t>
            </a:r>
            <a:r>
              <a:rPr lang="en-US" dirty="0"/>
              <a:t> format):</a:t>
            </a:r>
          </a:p>
        </p:txBody>
      </p:sp>
      <p:sp>
        <p:nvSpPr>
          <p:cNvPr id="761860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285728"/>
            <a:ext cx="7342188" cy="464614"/>
          </a:xfrm>
          <a:noFill/>
          <a:ln/>
        </p:spPr>
        <p:txBody>
          <a:bodyPr lIns="90488" tIns="44450" rIns="90488" bIns="44450" anchor="ctr"/>
          <a:lstStyle/>
          <a:p>
            <a:r>
              <a:rPr lang="en-US" dirty="0" smtClean="0"/>
              <a:t>Review:  MIPS </a:t>
            </a:r>
            <a:r>
              <a:rPr lang="en-US" dirty="0"/>
              <a:t>Immediate Instructions</a:t>
            </a:r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1566882" y="5559442"/>
            <a:ext cx="5791200" cy="369888"/>
            <a:chOff x="912" y="2304"/>
            <a:chExt cx="3648" cy="233"/>
          </a:xfrm>
        </p:grpSpPr>
        <p:sp>
          <p:nvSpPr>
            <p:cNvPr id="761861" name="Rectangle 5"/>
            <p:cNvSpPr>
              <a:spLocks noChangeArrowheads="1"/>
            </p:cNvSpPr>
            <p:nvPr/>
          </p:nvSpPr>
          <p:spPr bwMode="auto">
            <a:xfrm>
              <a:off x="912" y="2313"/>
              <a:ext cx="3648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61862" name="Line 6"/>
            <p:cNvSpPr>
              <a:spLocks noChangeShapeType="1"/>
            </p:cNvSpPr>
            <p:nvPr/>
          </p:nvSpPr>
          <p:spPr bwMode="auto">
            <a:xfrm>
              <a:off x="1584" y="2313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61863" name="Text Box 7"/>
            <p:cNvSpPr txBox="1">
              <a:spLocks noChangeArrowheads="1"/>
            </p:cNvSpPr>
            <p:nvPr/>
          </p:nvSpPr>
          <p:spPr bwMode="auto">
            <a:xfrm>
              <a:off x="1104" y="2304"/>
              <a:ext cx="2823" cy="2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chemeClr val="tx1"/>
                  </a:solidFill>
                </a:rPr>
                <a:t>0x0A          18          8                     0x000F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61869" name="Line 13"/>
            <p:cNvSpPr>
              <a:spLocks noChangeShapeType="1"/>
            </p:cNvSpPr>
            <p:nvPr/>
          </p:nvSpPr>
          <p:spPr bwMode="auto">
            <a:xfrm>
              <a:off x="2160" y="2313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61870" name="Line 14"/>
            <p:cNvSpPr>
              <a:spLocks noChangeShapeType="1"/>
            </p:cNvSpPr>
            <p:nvPr/>
          </p:nvSpPr>
          <p:spPr bwMode="auto">
            <a:xfrm>
              <a:off x="2736" y="2313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761879" name="Rectangle 23"/>
          <p:cNvSpPr>
            <a:spLocks noChangeArrowheads="1"/>
          </p:cNvSpPr>
          <p:nvPr/>
        </p:nvSpPr>
        <p:spPr bwMode="auto">
          <a:xfrm>
            <a:off x="533400" y="762000"/>
            <a:ext cx="7924800" cy="295275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q"/>
            </a:pPr>
            <a:r>
              <a:rPr lang="en-US" sz="2400" dirty="0">
                <a:solidFill>
                  <a:schemeClr val="tx1"/>
                </a:solidFill>
              </a:rPr>
              <a:t>Small constants are used often in typical </a:t>
            </a:r>
            <a:r>
              <a:rPr lang="en-US" sz="2400" dirty="0" smtClean="0">
                <a:solidFill>
                  <a:schemeClr val="tx1"/>
                </a:solidFill>
              </a:rPr>
              <a:t>code</a:t>
            </a:r>
          </a:p>
          <a:p>
            <a:pPr marL="800100" lvl="1" indent="-342900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q"/>
            </a:pPr>
            <a:r>
              <a:rPr lang="en-US" sz="2000" dirty="0" smtClean="0">
                <a:solidFill>
                  <a:schemeClr val="tx1"/>
                </a:solidFill>
              </a:rPr>
              <a:t>In </a:t>
            </a:r>
            <a:r>
              <a:rPr lang="en-US" sz="2000" dirty="0" err="1" smtClean="0">
                <a:solidFill>
                  <a:schemeClr val="tx1"/>
                </a:solidFill>
              </a:rPr>
              <a:t>gcc</a:t>
            </a:r>
            <a:r>
              <a:rPr lang="en-US" sz="2000" dirty="0" smtClean="0">
                <a:solidFill>
                  <a:schemeClr val="tx1"/>
                </a:solidFill>
              </a:rPr>
              <a:t>, 52% of the arithmetic operations involve constants</a:t>
            </a: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spcBef>
                <a:spcPts val="600"/>
              </a:spcBef>
              <a:buClr>
                <a:schemeClr val="accent1"/>
              </a:buClr>
              <a:buSzPct val="75000"/>
              <a:buFont typeface="Wingdings" pitchFamily="2" charset="2"/>
              <a:buChar char="q"/>
            </a:pPr>
            <a:r>
              <a:rPr lang="en-US" sz="2400" dirty="0" smtClean="0">
                <a:solidFill>
                  <a:schemeClr val="tx1"/>
                </a:solidFill>
              </a:rPr>
              <a:t>In MIPS immediate instructions, the constant is kept </a:t>
            </a:r>
            <a:r>
              <a:rPr lang="en-US" sz="2400" dirty="0" smtClean="0"/>
              <a:t>inside</a:t>
            </a:r>
            <a:r>
              <a:rPr lang="en-US" sz="2400" dirty="0" smtClean="0">
                <a:solidFill>
                  <a:schemeClr val="tx1"/>
                </a:solidFill>
              </a:rPr>
              <a:t> the instruction itself (making the common case fast !)</a:t>
            </a:r>
          </a:p>
          <a:p>
            <a:pPr marL="742950" lvl="1" indent="-285750">
              <a:spcBef>
                <a:spcPts val="6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</a:pPr>
            <a:r>
              <a:rPr lang="en-US" sz="2000" dirty="0" smtClean="0">
                <a:solidFill>
                  <a:schemeClr val="tx1"/>
                </a:solidFill>
              </a:rPr>
              <a:t>Immediate format – which allows only 16 bits to be used to represent the signed (two’s complement) constant – </a:t>
            </a:r>
            <a:r>
              <a:rPr lang="en-US" sz="2000" dirty="0" smtClean="0"/>
              <a:t>limits </a:t>
            </a:r>
            <a:r>
              <a:rPr lang="en-US" sz="2000" dirty="0" smtClean="0">
                <a:solidFill>
                  <a:schemeClr val="tx1"/>
                </a:solidFill>
              </a:rPr>
              <a:t>values to the range +2</a:t>
            </a:r>
            <a:r>
              <a:rPr lang="en-US" sz="2000" baseline="30000" dirty="0" smtClean="0">
                <a:solidFill>
                  <a:schemeClr val="tx1"/>
                </a:solidFill>
              </a:rPr>
              <a:t>15</a:t>
            </a:r>
            <a:r>
              <a:rPr lang="en-US" sz="2000" dirty="0" smtClean="0">
                <a:solidFill>
                  <a:schemeClr val="tx1"/>
                </a:solidFill>
              </a:rPr>
              <a:t>–1 to -2</a:t>
            </a:r>
            <a:r>
              <a:rPr lang="en-US" sz="2000" baseline="30000" dirty="0" smtClean="0">
                <a:solidFill>
                  <a:schemeClr val="tx1"/>
                </a:solidFill>
              </a:rPr>
              <a:t>15</a:t>
            </a:r>
            <a:r>
              <a:rPr lang="en-US" sz="2000" dirty="0" smtClean="0">
                <a:solidFill>
                  <a:schemeClr val="tx1"/>
                </a:solidFill>
              </a:rPr>
              <a:t>	</a:t>
            </a:r>
            <a:endParaRPr lang="en-US" sz="2000" dirty="0">
              <a:solidFill>
                <a:schemeClr val="tx1"/>
              </a:solidFill>
              <a:latin typeface="Courier New" pitchFamily="49" charset="0"/>
            </a:endParaRPr>
          </a:p>
        </p:txBody>
      </p:sp>
      <p:sp>
        <p:nvSpPr>
          <p:cNvPr id="761880" name="Rectangle 24"/>
          <p:cNvSpPr>
            <a:spLocks noChangeArrowheads="1"/>
          </p:cNvSpPr>
          <p:nvPr/>
        </p:nvSpPr>
        <p:spPr bwMode="auto">
          <a:xfrm>
            <a:off x="609600" y="5334000"/>
            <a:ext cx="8382000" cy="914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lnSpc>
                <a:spcPct val="90000"/>
              </a:lnSpc>
              <a:spcBef>
                <a:spcPct val="65000"/>
              </a:spcBef>
              <a:buClr>
                <a:schemeClr val="accent1"/>
              </a:buClr>
              <a:buSzPct val="75000"/>
              <a:buFont typeface="Wingdings" pitchFamily="2" charset="2"/>
              <a:buChar char="q"/>
            </a:pPr>
            <a:endParaRPr lang="en-US" sz="2000" dirty="0">
              <a:solidFill>
                <a:schemeClr val="tx1"/>
              </a:solidFill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9259777"/>
      </p:ext>
    </p:extLst>
  </p:cSld>
  <p:clrMapOvr>
    <a:masterClrMapping/>
  </p:clrMapOvr>
  <p:transition advTm="2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1880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30" name="Rectangle 2"/>
          <p:cNvSpPr>
            <a:spLocks noChangeArrowheads="1"/>
          </p:cNvSpPr>
          <p:nvPr/>
        </p:nvSpPr>
        <p:spPr bwMode="auto">
          <a:xfrm>
            <a:off x="225425" y="312738"/>
            <a:ext cx="4259263" cy="4778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57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838200"/>
            <a:ext cx="8153400" cy="3376822"/>
          </a:xfrm>
          <a:noFill/>
          <a:ln/>
        </p:spPr>
        <p:txBody>
          <a:bodyPr lIns="90488" tIns="44450" rIns="90488" bIns="44450"/>
          <a:lstStyle/>
          <a:p>
            <a:pPr marL="342900" indent="-342900"/>
            <a:r>
              <a:rPr lang="en-US" dirty="0"/>
              <a:t>We'd also like to be able to load a 32-bit constant into a register</a:t>
            </a:r>
          </a:p>
          <a:p>
            <a:pPr marL="342900" indent="-342900"/>
            <a:r>
              <a:rPr lang="en-US" dirty="0"/>
              <a:t>Must use two instructions, new "load upper immediate" instruction</a:t>
            </a:r>
            <a:br>
              <a:rPr lang="en-US" dirty="0"/>
            </a:br>
            <a:r>
              <a:rPr lang="en-US" dirty="0">
                <a:latin typeface="Courier New" pitchFamily="49" charset="0"/>
              </a:rPr>
              <a:t>	</a:t>
            </a:r>
            <a:r>
              <a:rPr lang="en-US" dirty="0" err="1">
                <a:latin typeface="Courier New" pitchFamily="49" charset="0"/>
              </a:rPr>
              <a:t>lui</a:t>
            </a:r>
            <a:r>
              <a:rPr lang="en-US" dirty="0">
                <a:latin typeface="Courier New" pitchFamily="49" charset="0"/>
              </a:rPr>
              <a:t> $t0, </a:t>
            </a:r>
            <a:r>
              <a:rPr lang="en-US" dirty="0" smtClean="0">
                <a:latin typeface="Courier New" pitchFamily="49" charset="0"/>
              </a:rPr>
              <a:t>0xAAAA</a:t>
            </a:r>
            <a:endParaRPr lang="en-US" dirty="0">
              <a:latin typeface="Courier New" pitchFamily="49" charset="0"/>
            </a:endParaRPr>
          </a:p>
          <a:p>
            <a:pPr marL="342900" indent="-342900"/>
            <a:endParaRPr lang="en-US" dirty="0"/>
          </a:p>
          <a:p>
            <a:pPr marL="342900" indent="-342900"/>
            <a:r>
              <a:rPr lang="en-US" dirty="0"/>
              <a:t>Then must get the lower order bits right, i.e.,                  	</a:t>
            </a:r>
            <a:r>
              <a:rPr lang="en-US" dirty="0" err="1">
                <a:latin typeface="Courier New" pitchFamily="49" charset="0"/>
              </a:rPr>
              <a:t>ori</a:t>
            </a:r>
            <a:r>
              <a:rPr lang="en-US" dirty="0">
                <a:latin typeface="Courier New" pitchFamily="49" charset="0"/>
              </a:rPr>
              <a:t> $t0, $t0, </a:t>
            </a:r>
            <a:r>
              <a:rPr lang="en-US" dirty="0" smtClean="0">
                <a:latin typeface="Courier New" pitchFamily="49" charset="0"/>
              </a:rPr>
              <a:t>0xAAAA</a:t>
            </a:r>
            <a:endParaRPr lang="en-US" dirty="0">
              <a:latin typeface="Courier New" pitchFamily="49" charset="0"/>
            </a:endParaRPr>
          </a:p>
        </p:txBody>
      </p:sp>
      <p:sp>
        <p:nvSpPr>
          <p:cNvPr id="457732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 anchor="ctr"/>
          <a:lstStyle/>
          <a:p>
            <a:r>
              <a:rPr lang="en-US"/>
              <a:t>How About Larger Constants?</a:t>
            </a:r>
          </a:p>
        </p:txBody>
      </p:sp>
      <p:sp>
        <p:nvSpPr>
          <p:cNvPr id="457733" name="Rectangle 5"/>
          <p:cNvSpPr>
            <a:spLocks noChangeArrowheads="1"/>
          </p:cNvSpPr>
          <p:nvPr/>
        </p:nvSpPr>
        <p:spPr bwMode="auto">
          <a:xfrm>
            <a:off x="1709758" y="2928934"/>
            <a:ext cx="5791200" cy="2921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57734" name="Line 6"/>
          <p:cNvSpPr>
            <a:spLocks noChangeShapeType="1"/>
          </p:cNvSpPr>
          <p:nvPr/>
        </p:nvSpPr>
        <p:spPr bwMode="auto">
          <a:xfrm>
            <a:off x="2776558" y="2928934"/>
            <a:ext cx="0" cy="2905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57735" name="Text Box 7"/>
          <p:cNvSpPr txBox="1">
            <a:spLocks noChangeArrowheads="1"/>
          </p:cNvSpPr>
          <p:nvPr/>
        </p:nvSpPr>
        <p:spPr bwMode="auto">
          <a:xfrm>
            <a:off x="2014558" y="2928934"/>
            <a:ext cx="5237331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0x0f             </a:t>
            </a:r>
            <a:r>
              <a:rPr lang="en-US" dirty="0">
                <a:solidFill>
                  <a:schemeClr val="tx1"/>
                </a:solidFill>
              </a:rPr>
              <a:t>0           8           1010101010101010</a:t>
            </a:r>
          </a:p>
        </p:txBody>
      </p:sp>
      <p:sp>
        <p:nvSpPr>
          <p:cNvPr id="457736" name="Line 8"/>
          <p:cNvSpPr>
            <a:spLocks noChangeShapeType="1"/>
          </p:cNvSpPr>
          <p:nvPr/>
        </p:nvSpPr>
        <p:spPr bwMode="auto">
          <a:xfrm>
            <a:off x="3690958" y="2928934"/>
            <a:ext cx="0" cy="2905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57737" name="Line 9"/>
          <p:cNvSpPr>
            <a:spLocks noChangeShapeType="1"/>
          </p:cNvSpPr>
          <p:nvPr/>
        </p:nvSpPr>
        <p:spPr bwMode="auto">
          <a:xfrm>
            <a:off x="4605358" y="2928934"/>
            <a:ext cx="0" cy="2905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57738" name="Rectangle 10"/>
          <p:cNvSpPr>
            <a:spLocks noChangeArrowheads="1"/>
          </p:cNvSpPr>
          <p:nvPr/>
        </p:nvSpPr>
        <p:spPr bwMode="auto">
          <a:xfrm>
            <a:off x="1524000" y="4724400"/>
            <a:ext cx="5791200" cy="2921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57739" name="Rectangle 11"/>
          <p:cNvSpPr>
            <a:spLocks noChangeArrowheads="1"/>
          </p:cNvSpPr>
          <p:nvPr/>
        </p:nvSpPr>
        <p:spPr bwMode="auto">
          <a:xfrm>
            <a:off x="1524000" y="5257800"/>
            <a:ext cx="5791200" cy="2921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57740" name="Rectangle 12"/>
          <p:cNvSpPr>
            <a:spLocks noChangeArrowheads="1"/>
          </p:cNvSpPr>
          <p:nvPr/>
        </p:nvSpPr>
        <p:spPr bwMode="auto">
          <a:xfrm>
            <a:off x="1524000" y="6019800"/>
            <a:ext cx="5791200" cy="2921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57741" name="Text Box 13"/>
          <p:cNvSpPr txBox="1">
            <a:spLocks noChangeArrowheads="1"/>
          </p:cNvSpPr>
          <p:nvPr/>
        </p:nvSpPr>
        <p:spPr bwMode="auto">
          <a:xfrm>
            <a:off x="1828800" y="4724400"/>
            <a:ext cx="2216150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1010101010101010</a:t>
            </a:r>
          </a:p>
        </p:txBody>
      </p:sp>
      <p:sp>
        <p:nvSpPr>
          <p:cNvPr id="457742" name="Line 14"/>
          <p:cNvSpPr>
            <a:spLocks noChangeShapeType="1"/>
          </p:cNvSpPr>
          <p:nvPr/>
        </p:nvSpPr>
        <p:spPr bwMode="auto">
          <a:xfrm>
            <a:off x="4419600" y="4724400"/>
            <a:ext cx="0" cy="2905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57743" name="Line 15"/>
          <p:cNvSpPr>
            <a:spLocks noChangeShapeType="1"/>
          </p:cNvSpPr>
          <p:nvPr/>
        </p:nvSpPr>
        <p:spPr bwMode="auto">
          <a:xfrm>
            <a:off x="4419600" y="5257800"/>
            <a:ext cx="0" cy="2905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57744" name="Line 16"/>
          <p:cNvSpPr>
            <a:spLocks noChangeShapeType="1"/>
          </p:cNvSpPr>
          <p:nvPr/>
        </p:nvSpPr>
        <p:spPr bwMode="auto">
          <a:xfrm>
            <a:off x="4419600" y="6019800"/>
            <a:ext cx="0" cy="2905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57745" name="Line 17"/>
          <p:cNvSpPr>
            <a:spLocks noChangeShapeType="1"/>
          </p:cNvSpPr>
          <p:nvPr/>
        </p:nvSpPr>
        <p:spPr bwMode="auto">
          <a:xfrm flipV="1">
            <a:off x="1219200" y="5791200"/>
            <a:ext cx="6553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57746" name="Text Box 18"/>
          <p:cNvSpPr txBox="1">
            <a:spLocks noChangeArrowheads="1"/>
          </p:cNvSpPr>
          <p:nvPr/>
        </p:nvSpPr>
        <p:spPr bwMode="auto">
          <a:xfrm>
            <a:off x="1828800" y="5257800"/>
            <a:ext cx="2216150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0000000000000000</a:t>
            </a:r>
          </a:p>
        </p:txBody>
      </p:sp>
      <p:sp>
        <p:nvSpPr>
          <p:cNvPr id="457747" name="Text Box 19"/>
          <p:cNvSpPr txBox="1">
            <a:spLocks noChangeArrowheads="1"/>
          </p:cNvSpPr>
          <p:nvPr/>
        </p:nvSpPr>
        <p:spPr bwMode="auto">
          <a:xfrm>
            <a:off x="4724400" y="5257800"/>
            <a:ext cx="2216150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1010101010101010</a:t>
            </a:r>
          </a:p>
        </p:txBody>
      </p:sp>
      <p:sp>
        <p:nvSpPr>
          <p:cNvPr id="457748" name="Text Box 20"/>
          <p:cNvSpPr txBox="1">
            <a:spLocks noChangeArrowheads="1"/>
          </p:cNvSpPr>
          <p:nvPr/>
        </p:nvSpPr>
        <p:spPr bwMode="auto">
          <a:xfrm>
            <a:off x="4724400" y="4724400"/>
            <a:ext cx="2216150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0000000000000000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2362" y="2886014"/>
            <a:ext cx="6463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lui</a:t>
            </a:r>
            <a:endParaRPr lang="en-US" sz="2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5425038"/>
      </p:ext>
    </p:extLst>
  </p:cSld>
  <p:clrMapOvr>
    <a:masterClrMapping/>
  </p:clrMapOvr>
  <p:transition advTm="2000"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78" name="Rectangle 2"/>
          <p:cNvSpPr>
            <a:spLocks noChangeArrowheads="1"/>
          </p:cNvSpPr>
          <p:nvPr/>
        </p:nvSpPr>
        <p:spPr bwMode="auto">
          <a:xfrm>
            <a:off x="225425" y="312738"/>
            <a:ext cx="4259263" cy="4778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59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838200"/>
            <a:ext cx="8153400" cy="3376822"/>
          </a:xfrm>
          <a:noFill/>
          <a:ln/>
        </p:spPr>
        <p:txBody>
          <a:bodyPr lIns="90488" tIns="44450" rIns="90488" bIns="44450"/>
          <a:lstStyle/>
          <a:p>
            <a:pPr marL="342900" indent="-342900"/>
            <a:r>
              <a:rPr lang="en-US" dirty="0"/>
              <a:t>We'd also like to be able to load a 32-bit constant into a register</a:t>
            </a:r>
          </a:p>
          <a:p>
            <a:pPr marL="342900" indent="-342900"/>
            <a:r>
              <a:rPr lang="en-US" dirty="0"/>
              <a:t>Must use two instructions, new "load upper immediate" instruction</a:t>
            </a:r>
            <a:br>
              <a:rPr lang="en-US" dirty="0"/>
            </a:br>
            <a:r>
              <a:rPr lang="en-US" dirty="0">
                <a:latin typeface="Courier New" pitchFamily="49" charset="0"/>
              </a:rPr>
              <a:t>	</a:t>
            </a:r>
            <a:r>
              <a:rPr lang="en-US" dirty="0" err="1">
                <a:latin typeface="Courier New" pitchFamily="49" charset="0"/>
              </a:rPr>
              <a:t>lui</a:t>
            </a:r>
            <a:r>
              <a:rPr lang="en-US" dirty="0">
                <a:latin typeface="Courier New" pitchFamily="49" charset="0"/>
              </a:rPr>
              <a:t> $t0, </a:t>
            </a:r>
            <a:r>
              <a:rPr lang="en-US" dirty="0" smtClean="0">
                <a:latin typeface="Courier New" pitchFamily="49" charset="0"/>
              </a:rPr>
              <a:t>0xAAAA</a:t>
            </a:r>
            <a:endParaRPr lang="en-US" dirty="0">
              <a:latin typeface="Courier New" pitchFamily="49" charset="0"/>
            </a:endParaRPr>
          </a:p>
          <a:p>
            <a:pPr marL="342900" indent="-342900"/>
            <a:endParaRPr lang="en-US" dirty="0"/>
          </a:p>
          <a:p>
            <a:pPr marL="342900" indent="-342900"/>
            <a:r>
              <a:rPr lang="en-US" dirty="0"/>
              <a:t>Then must get the lower order bits right, i.e.,                  	</a:t>
            </a:r>
            <a:r>
              <a:rPr lang="en-US" dirty="0" err="1">
                <a:latin typeface="Courier New" pitchFamily="49" charset="0"/>
              </a:rPr>
              <a:t>ori</a:t>
            </a:r>
            <a:r>
              <a:rPr lang="en-US" dirty="0">
                <a:latin typeface="Courier New" pitchFamily="49" charset="0"/>
              </a:rPr>
              <a:t> $t0, $t0, </a:t>
            </a:r>
            <a:r>
              <a:rPr lang="en-US" dirty="0" smtClean="0">
                <a:latin typeface="Courier New" pitchFamily="49" charset="0"/>
              </a:rPr>
              <a:t>0xAAAA</a:t>
            </a:r>
            <a:endParaRPr lang="en-US" dirty="0">
              <a:latin typeface="Courier New" pitchFamily="49" charset="0"/>
            </a:endParaRPr>
          </a:p>
        </p:txBody>
      </p:sp>
      <p:sp>
        <p:nvSpPr>
          <p:cNvPr id="459780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 anchor="ctr"/>
          <a:lstStyle/>
          <a:p>
            <a:r>
              <a:rPr lang="en-US"/>
              <a:t>How About Larger Constants?</a:t>
            </a:r>
          </a:p>
        </p:txBody>
      </p:sp>
      <p:sp>
        <p:nvSpPr>
          <p:cNvPr id="459786" name="Rectangle 10"/>
          <p:cNvSpPr>
            <a:spLocks noChangeArrowheads="1"/>
          </p:cNvSpPr>
          <p:nvPr/>
        </p:nvSpPr>
        <p:spPr bwMode="auto">
          <a:xfrm>
            <a:off x="1524000" y="4724400"/>
            <a:ext cx="5791200" cy="2921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59787" name="Rectangle 11"/>
          <p:cNvSpPr>
            <a:spLocks noChangeArrowheads="1"/>
          </p:cNvSpPr>
          <p:nvPr/>
        </p:nvSpPr>
        <p:spPr bwMode="auto">
          <a:xfrm>
            <a:off x="1524000" y="5257800"/>
            <a:ext cx="5791200" cy="2921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59788" name="Rectangle 12"/>
          <p:cNvSpPr>
            <a:spLocks noChangeArrowheads="1"/>
          </p:cNvSpPr>
          <p:nvPr/>
        </p:nvSpPr>
        <p:spPr bwMode="auto">
          <a:xfrm>
            <a:off x="1524000" y="6019800"/>
            <a:ext cx="5791200" cy="2921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59789" name="Text Box 13"/>
          <p:cNvSpPr txBox="1">
            <a:spLocks noChangeArrowheads="1"/>
          </p:cNvSpPr>
          <p:nvPr/>
        </p:nvSpPr>
        <p:spPr bwMode="auto">
          <a:xfrm>
            <a:off x="1828800" y="4724400"/>
            <a:ext cx="2216150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1010101010101010</a:t>
            </a:r>
          </a:p>
        </p:txBody>
      </p:sp>
      <p:sp>
        <p:nvSpPr>
          <p:cNvPr id="459790" name="Line 14"/>
          <p:cNvSpPr>
            <a:spLocks noChangeShapeType="1"/>
          </p:cNvSpPr>
          <p:nvPr/>
        </p:nvSpPr>
        <p:spPr bwMode="auto">
          <a:xfrm>
            <a:off x="4419600" y="4724400"/>
            <a:ext cx="0" cy="2905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59791" name="Line 15"/>
          <p:cNvSpPr>
            <a:spLocks noChangeShapeType="1"/>
          </p:cNvSpPr>
          <p:nvPr/>
        </p:nvSpPr>
        <p:spPr bwMode="auto">
          <a:xfrm>
            <a:off x="4419600" y="5257800"/>
            <a:ext cx="0" cy="2905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59792" name="Line 16"/>
          <p:cNvSpPr>
            <a:spLocks noChangeShapeType="1"/>
          </p:cNvSpPr>
          <p:nvPr/>
        </p:nvSpPr>
        <p:spPr bwMode="auto">
          <a:xfrm>
            <a:off x="4419600" y="6019800"/>
            <a:ext cx="0" cy="2905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59793" name="Line 17"/>
          <p:cNvSpPr>
            <a:spLocks noChangeShapeType="1"/>
          </p:cNvSpPr>
          <p:nvPr/>
        </p:nvSpPr>
        <p:spPr bwMode="auto">
          <a:xfrm flipV="1">
            <a:off x="1219200" y="5791200"/>
            <a:ext cx="6553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59794" name="Text Box 18"/>
          <p:cNvSpPr txBox="1">
            <a:spLocks noChangeArrowheads="1"/>
          </p:cNvSpPr>
          <p:nvPr/>
        </p:nvSpPr>
        <p:spPr bwMode="auto">
          <a:xfrm>
            <a:off x="1828800" y="5257800"/>
            <a:ext cx="2216150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0000000000000000</a:t>
            </a:r>
          </a:p>
        </p:txBody>
      </p:sp>
      <p:sp>
        <p:nvSpPr>
          <p:cNvPr id="459795" name="Line 19"/>
          <p:cNvSpPr>
            <a:spLocks noChangeShapeType="1"/>
          </p:cNvSpPr>
          <p:nvPr/>
        </p:nvSpPr>
        <p:spPr bwMode="auto">
          <a:xfrm flipH="1">
            <a:off x="2971800" y="2786058"/>
            <a:ext cx="671506" cy="2014542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59796" name="Text Box 20"/>
          <p:cNvSpPr txBox="1">
            <a:spLocks noChangeArrowheads="1"/>
          </p:cNvSpPr>
          <p:nvPr/>
        </p:nvSpPr>
        <p:spPr bwMode="auto">
          <a:xfrm>
            <a:off x="4724400" y="5257800"/>
            <a:ext cx="2216150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1010101010101010</a:t>
            </a:r>
          </a:p>
        </p:txBody>
      </p:sp>
      <p:sp>
        <p:nvSpPr>
          <p:cNvPr id="459797" name="Text Box 21"/>
          <p:cNvSpPr txBox="1">
            <a:spLocks noChangeArrowheads="1"/>
          </p:cNvSpPr>
          <p:nvPr/>
        </p:nvSpPr>
        <p:spPr bwMode="auto">
          <a:xfrm>
            <a:off x="4724400" y="4724400"/>
            <a:ext cx="2216150" cy="3667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0000000000000000</a:t>
            </a:r>
          </a:p>
        </p:txBody>
      </p:sp>
      <p:sp>
        <p:nvSpPr>
          <p:cNvPr id="459798" name="Text Box 22"/>
          <p:cNvSpPr txBox="1">
            <a:spLocks noChangeArrowheads="1"/>
          </p:cNvSpPr>
          <p:nvPr/>
        </p:nvSpPr>
        <p:spPr bwMode="auto">
          <a:xfrm>
            <a:off x="1746250" y="6034088"/>
            <a:ext cx="5264150" cy="3667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1010101010101010               1010101010101010</a:t>
            </a:r>
          </a:p>
        </p:txBody>
      </p:sp>
      <p:sp>
        <p:nvSpPr>
          <p:cNvPr id="459799" name="Line 23"/>
          <p:cNvSpPr>
            <a:spLocks noChangeShapeType="1"/>
          </p:cNvSpPr>
          <p:nvPr/>
        </p:nvSpPr>
        <p:spPr bwMode="auto">
          <a:xfrm>
            <a:off x="4500562" y="4071942"/>
            <a:ext cx="1290638" cy="1338258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4" name="Rectangle 5"/>
          <p:cNvSpPr>
            <a:spLocks noChangeArrowheads="1"/>
          </p:cNvSpPr>
          <p:nvPr/>
        </p:nvSpPr>
        <p:spPr bwMode="auto">
          <a:xfrm>
            <a:off x="1709758" y="2928934"/>
            <a:ext cx="5791200" cy="2921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Line 6"/>
          <p:cNvSpPr>
            <a:spLocks noChangeShapeType="1"/>
          </p:cNvSpPr>
          <p:nvPr/>
        </p:nvSpPr>
        <p:spPr bwMode="auto">
          <a:xfrm>
            <a:off x="2776558" y="2928934"/>
            <a:ext cx="0" cy="2905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" name="Text Box 7"/>
          <p:cNvSpPr txBox="1">
            <a:spLocks noChangeArrowheads="1"/>
          </p:cNvSpPr>
          <p:nvPr/>
        </p:nvSpPr>
        <p:spPr bwMode="auto">
          <a:xfrm>
            <a:off x="2014558" y="2928934"/>
            <a:ext cx="5237331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0x0f             </a:t>
            </a:r>
            <a:r>
              <a:rPr lang="en-US" dirty="0">
                <a:solidFill>
                  <a:schemeClr val="tx1"/>
                </a:solidFill>
              </a:rPr>
              <a:t>0           8           1010101010101010</a:t>
            </a:r>
          </a:p>
        </p:txBody>
      </p:sp>
      <p:sp>
        <p:nvSpPr>
          <p:cNvPr id="27" name="Line 8"/>
          <p:cNvSpPr>
            <a:spLocks noChangeShapeType="1"/>
          </p:cNvSpPr>
          <p:nvPr/>
        </p:nvSpPr>
        <p:spPr bwMode="auto">
          <a:xfrm>
            <a:off x="3690958" y="2928934"/>
            <a:ext cx="0" cy="2905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8" name="Line 9"/>
          <p:cNvSpPr>
            <a:spLocks noChangeShapeType="1"/>
          </p:cNvSpPr>
          <p:nvPr/>
        </p:nvSpPr>
        <p:spPr bwMode="auto">
          <a:xfrm>
            <a:off x="4605358" y="2928934"/>
            <a:ext cx="0" cy="2905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7472362" y="2886014"/>
            <a:ext cx="6463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lui</a:t>
            </a:r>
            <a:endParaRPr lang="en-US" sz="2000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0" name="Text Box 13"/>
          <p:cNvSpPr txBox="1">
            <a:spLocks noChangeArrowheads="1"/>
          </p:cNvSpPr>
          <p:nvPr/>
        </p:nvSpPr>
        <p:spPr bwMode="auto">
          <a:xfrm>
            <a:off x="1743973" y="6482625"/>
            <a:ext cx="4788490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 err="1" smtClean="0">
                <a:solidFill>
                  <a:schemeClr val="tx1"/>
                </a:solidFill>
              </a:rPr>
              <a:t>Psuedo</a:t>
            </a:r>
            <a:r>
              <a:rPr lang="en-US" dirty="0" smtClean="0">
                <a:solidFill>
                  <a:schemeClr val="tx1"/>
                </a:solidFill>
              </a:rPr>
              <a:t> instruction:  --- li $t0, 0xAAAAAAAA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9925602"/>
      </p:ext>
    </p:extLst>
  </p:cSld>
  <p:clrMapOvr>
    <a:masterClrMapping/>
  </p:clrMapOvr>
  <p:transition advTm="2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59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59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9795" grpId="0" animBg="1"/>
      <p:bldP spid="459798" grpId="0"/>
      <p:bldP spid="45979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722" name="Rectangle 2"/>
          <p:cNvSpPr>
            <a:spLocks noChangeArrowheads="1"/>
          </p:cNvSpPr>
          <p:nvPr/>
        </p:nvSpPr>
        <p:spPr bwMode="auto">
          <a:xfrm>
            <a:off x="225425" y="312738"/>
            <a:ext cx="1190625" cy="4778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7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762000"/>
            <a:ext cx="8382000" cy="3112134"/>
          </a:xfrm>
          <a:noFill/>
          <a:ln/>
        </p:spPr>
        <p:txBody>
          <a:bodyPr lIns="90488" tIns="44450" rIns="90488" bIns="44450"/>
          <a:lstStyle/>
          <a:p>
            <a:pPr marL="342900" indent="-342900"/>
            <a:r>
              <a:rPr lang="en-US" dirty="0"/>
              <a:t>MIPS </a:t>
            </a:r>
            <a:r>
              <a:rPr lang="en-US" dirty="0">
                <a:solidFill>
                  <a:schemeClr val="accent1"/>
                </a:solidFill>
              </a:rPr>
              <a:t>conditional branch</a:t>
            </a:r>
            <a:r>
              <a:rPr lang="en-US" dirty="0"/>
              <a:t> instructions:</a:t>
            </a:r>
          </a:p>
          <a:p>
            <a:pPr marL="342900" indent="-342900">
              <a:buFont typeface="Wingdings" pitchFamily="2" charset="2"/>
              <a:buNone/>
            </a:pPr>
            <a:r>
              <a:rPr lang="en-US" dirty="0">
                <a:latin typeface="Courier New" pitchFamily="49" charset="0"/>
              </a:rPr>
              <a:t>	</a:t>
            </a:r>
            <a:r>
              <a:rPr lang="en-US" dirty="0" err="1">
                <a:latin typeface="Courier New" pitchFamily="49" charset="0"/>
              </a:rPr>
              <a:t>bne</a:t>
            </a:r>
            <a:r>
              <a:rPr lang="en-US" dirty="0">
                <a:latin typeface="Courier New" pitchFamily="49" charset="0"/>
              </a:rPr>
              <a:t> $s0, $s1, </a:t>
            </a:r>
            <a:r>
              <a:rPr lang="en-US" dirty="0" err="1">
                <a:latin typeface="Courier New" pitchFamily="49" charset="0"/>
              </a:rPr>
              <a:t>Lbl</a:t>
            </a:r>
            <a:r>
              <a:rPr lang="en-US" dirty="0">
                <a:latin typeface="Courier New" pitchFamily="49" charset="0"/>
              </a:rPr>
              <a:t>	#go to </a:t>
            </a:r>
            <a:r>
              <a:rPr lang="en-US" dirty="0" err="1">
                <a:latin typeface="Courier New" pitchFamily="49" charset="0"/>
              </a:rPr>
              <a:t>Lbl</a:t>
            </a:r>
            <a:r>
              <a:rPr lang="en-US" dirty="0">
                <a:latin typeface="Courier New" pitchFamily="49" charset="0"/>
              </a:rPr>
              <a:t> if $s0</a:t>
            </a:r>
            <a:r>
              <a:rPr lang="en-US" dirty="0">
                <a:latin typeface="Courier New" pitchFamily="49" charset="0"/>
                <a:sym typeface="Symbol" pitchFamily="18" charset="2"/>
              </a:rPr>
              <a:t></a:t>
            </a:r>
            <a:r>
              <a:rPr lang="en-US" dirty="0">
                <a:latin typeface="Courier New" pitchFamily="49" charset="0"/>
              </a:rPr>
              <a:t>$s1 </a:t>
            </a:r>
            <a:br>
              <a:rPr lang="en-US" dirty="0">
                <a:latin typeface="Courier New" pitchFamily="49" charset="0"/>
              </a:rPr>
            </a:br>
            <a:r>
              <a:rPr lang="en-US" dirty="0" err="1">
                <a:latin typeface="Courier New" pitchFamily="49" charset="0"/>
              </a:rPr>
              <a:t>beq</a:t>
            </a:r>
            <a:r>
              <a:rPr lang="en-US" dirty="0">
                <a:latin typeface="Courier New" pitchFamily="49" charset="0"/>
              </a:rPr>
              <a:t> $s0, $s1, </a:t>
            </a:r>
            <a:r>
              <a:rPr lang="en-US" dirty="0" err="1">
                <a:latin typeface="Courier New" pitchFamily="49" charset="0"/>
              </a:rPr>
              <a:t>Lbl</a:t>
            </a:r>
            <a:r>
              <a:rPr lang="en-US" dirty="0">
                <a:latin typeface="Courier New" pitchFamily="49" charset="0"/>
              </a:rPr>
              <a:t>	#go to </a:t>
            </a:r>
            <a:r>
              <a:rPr lang="en-US" dirty="0" err="1">
                <a:latin typeface="Courier New" pitchFamily="49" charset="0"/>
              </a:rPr>
              <a:t>Lbl</a:t>
            </a:r>
            <a:r>
              <a:rPr lang="en-US" dirty="0">
                <a:latin typeface="Courier New" pitchFamily="49" charset="0"/>
              </a:rPr>
              <a:t> if $s0=$s1</a:t>
            </a:r>
            <a:r>
              <a:rPr lang="en-US" sz="2000" dirty="0">
                <a:latin typeface="Courier New" pitchFamily="49" charset="0"/>
              </a:rPr>
              <a:t>	</a:t>
            </a:r>
            <a:endParaRPr lang="en-US" sz="2000" dirty="0"/>
          </a:p>
          <a:p>
            <a:pPr marL="742950" lvl="1" indent="-285750"/>
            <a:r>
              <a:rPr lang="en-US" dirty="0"/>
              <a:t>Ex:	</a:t>
            </a:r>
            <a:r>
              <a:rPr lang="en-US" dirty="0">
                <a:latin typeface="Courier New" pitchFamily="49" charset="0"/>
              </a:rPr>
              <a:t>if (</a:t>
            </a:r>
            <a:r>
              <a:rPr lang="en-US" dirty="0" err="1">
                <a:latin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</a:rPr>
              <a:t>==j) h = </a:t>
            </a:r>
            <a:r>
              <a:rPr lang="en-US" dirty="0" err="1">
                <a:latin typeface="Courier New" pitchFamily="49" charset="0"/>
              </a:rPr>
              <a:t>i</a:t>
            </a:r>
            <a:r>
              <a:rPr lang="en-US" dirty="0">
                <a:latin typeface="Courier New" pitchFamily="49" charset="0"/>
              </a:rPr>
              <a:t> + j;</a:t>
            </a:r>
          </a:p>
          <a:p>
            <a:pPr marL="342900" indent="-342900">
              <a:lnSpc>
                <a:spcPct val="100000"/>
              </a:lnSpc>
              <a:buFont typeface="Wingdings" pitchFamily="2" charset="2"/>
              <a:buNone/>
            </a:pPr>
            <a:r>
              <a:rPr lang="en-US" dirty="0">
                <a:latin typeface="Courier New" pitchFamily="49" charset="0"/>
              </a:rPr>
              <a:t>			</a:t>
            </a:r>
            <a:r>
              <a:rPr lang="en-US" sz="2000" dirty="0" err="1">
                <a:latin typeface="Courier New" pitchFamily="49" charset="0"/>
              </a:rPr>
              <a:t>bne</a:t>
            </a:r>
            <a:r>
              <a:rPr lang="en-US" sz="2000" dirty="0">
                <a:latin typeface="Courier New" pitchFamily="49" charset="0"/>
              </a:rPr>
              <a:t> $s0, $s1, Lbl1</a:t>
            </a:r>
            <a:br>
              <a:rPr lang="en-US" sz="2000" dirty="0">
                <a:latin typeface="Courier New" pitchFamily="49" charset="0"/>
              </a:rPr>
            </a:br>
            <a:r>
              <a:rPr lang="en-US" sz="2000" dirty="0">
                <a:latin typeface="Courier New" pitchFamily="49" charset="0"/>
              </a:rPr>
              <a:t>		add $s3, $s0, $s1</a:t>
            </a:r>
            <a:br>
              <a:rPr lang="en-US" sz="2000" dirty="0">
                <a:latin typeface="Courier New" pitchFamily="49" charset="0"/>
              </a:rPr>
            </a:br>
            <a:r>
              <a:rPr lang="en-US" sz="2000" dirty="0">
                <a:latin typeface="Courier New" pitchFamily="49" charset="0"/>
              </a:rPr>
              <a:t>Lbl1:	...</a:t>
            </a:r>
          </a:p>
        </p:txBody>
      </p:sp>
      <p:sp>
        <p:nvSpPr>
          <p:cNvPr id="670724" name="Rectangle 4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 anchor="ctr"/>
          <a:lstStyle/>
          <a:p>
            <a:r>
              <a:rPr lang="en-US"/>
              <a:t>MIPS Control Flow Instructions</a:t>
            </a:r>
          </a:p>
        </p:txBody>
      </p:sp>
      <p:sp>
        <p:nvSpPr>
          <p:cNvPr id="670725" name="Rectangle 5"/>
          <p:cNvSpPr>
            <a:spLocks noChangeArrowheads="1"/>
          </p:cNvSpPr>
          <p:nvPr/>
        </p:nvSpPr>
        <p:spPr bwMode="auto">
          <a:xfrm>
            <a:off x="461994" y="4000504"/>
            <a:ext cx="8610600" cy="57150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lnSpc>
                <a:spcPct val="90000"/>
              </a:lnSpc>
              <a:spcBef>
                <a:spcPct val="65000"/>
              </a:spcBef>
              <a:buClr>
                <a:schemeClr val="accent1"/>
              </a:buClr>
              <a:buSzPct val="75000"/>
              <a:buFont typeface="Wingdings" pitchFamily="2" charset="2"/>
              <a:buChar char="q"/>
            </a:pPr>
            <a:r>
              <a:rPr lang="en-US" sz="2400" dirty="0">
                <a:solidFill>
                  <a:schemeClr val="tx1"/>
                </a:solidFill>
              </a:rPr>
              <a:t>Instruction Format (</a:t>
            </a:r>
            <a:r>
              <a:rPr lang="en-US" sz="2400" dirty="0"/>
              <a:t>I</a:t>
            </a:r>
            <a:r>
              <a:rPr lang="en-US" sz="2400" dirty="0">
                <a:solidFill>
                  <a:schemeClr val="tx1"/>
                </a:solidFill>
              </a:rPr>
              <a:t> format):</a:t>
            </a:r>
            <a:br>
              <a:rPr lang="en-US" sz="2400" dirty="0">
                <a:solidFill>
                  <a:schemeClr val="tx1"/>
                </a:solidFill>
              </a:rPr>
            </a:br>
            <a:endParaRPr lang="en-US" sz="2800" dirty="0">
              <a:solidFill>
                <a:schemeClr val="tx1"/>
              </a:solidFill>
            </a:endParaRP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566882" y="5202252"/>
            <a:ext cx="5791200" cy="369888"/>
            <a:chOff x="1056" y="3024"/>
            <a:chExt cx="3648" cy="233"/>
          </a:xfrm>
        </p:grpSpPr>
        <p:sp>
          <p:nvSpPr>
            <p:cNvPr id="670727" name="Rectangle 7"/>
            <p:cNvSpPr>
              <a:spLocks noChangeArrowheads="1"/>
            </p:cNvSpPr>
            <p:nvPr/>
          </p:nvSpPr>
          <p:spPr bwMode="auto">
            <a:xfrm>
              <a:off x="1056" y="3024"/>
              <a:ext cx="3648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70728" name="Line 8"/>
            <p:cNvSpPr>
              <a:spLocks noChangeShapeType="1"/>
            </p:cNvSpPr>
            <p:nvPr/>
          </p:nvSpPr>
          <p:spPr bwMode="auto">
            <a:xfrm>
              <a:off x="1728" y="3024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70729" name="Line 9"/>
            <p:cNvSpPr>
              <a:spLocks noChangeShapeType="1"/>
            </p:cNvSpPr>
            <p:nvPr/>
          </p:nvSpPr>
          <p:spPr bwMode="auto">
            <a:xfrm>
              <a:off x="2300" y="3025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70730" name="Line 10"/>
            <p:cNvSpPr>
              <a:spLocks noChangeShapeType="1"/>
            </p:cNvSpPr>
            <p:nvPr/>
          </p:nvSpPr>
          <p:spPr bwMode="auto">
            <a:xfrm>
              <a:off x="2876" y="3025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70731" name="Text Box 11"/>
            <p:cNvSpPr txBox="1">
              <a:spLocks noChangeArrowheads="1"/>
            </p:cNvSpPr>
            <p:nvPr/>
          </p:nvSpPr>
          <p:spPr bwMode="auto">
            <a:xfrm>
              <a:off x="1200" y="3024"/>
              <a:ext cx="2734" cy="2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chemeClr val="tx1"/>
                  </a:solidFill>
                </a:rPr>
                <a:t>0x05          16          17              </a:t>
              </a:r>
              <a:r>
                <a:rPr lang="en-US" dirty="0" smtClean="0"/>
                <a:t>        ???</a:t>
              </a:r>
              <a:endParaRPr lang="en-US" dirty="0"/>
            </a:p>
          </p:txBody>
        </p:sp>
      </p:grpSp>
      <p:sp>
        <p:nvSpPr>
          <p:cNvPr id="670733" name="Rectangle 13"/>
          <p:cNvSpPr>
            <a:spLocks noChangeArrowheads="1"/>
          </p:cNvSpPr>
          <p:nvPr/>
        </p:nvSpPr>
        <p:spPr bwMode="auto">
          <a:xfrm>
            <a:off x="509614" y="5819796"/>
            <a:ext cx="7848600" cy="609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>
              <a:lnSpc>
                <a:spcPct val="90000"/>
              </a:lnSpc>
              <a:spcBef>
                <a:spcPct val="65000"/>
              </a:spcBef>
              <a:buClr>
                <a:schemeClr val="accent1"/>
              </a:buClr>
              <a:buSzPct val="75000"/>
              <a:buFont typeface="Wingdings" pitchFamily="2" charset="2"/>
              <a:buChar char="q"/>
            </a:pPr>
            <a:r>
              <a:rPr lang="en-US" sz="2400" dirty="0">
                <a:solidFill>
                  <a:schemeClr val="tx1"/>
                </a:solidFill>
              </a:rPr>
              <a:t>How is the branch destination address specified?</a:t>
            </a:r>
            <a:r>
              <a:rPr lang="en-US" sz="2800" dirty="0">
                <a:solidFill>
                  <a:schemeClr val="tx1"/>
                </a:solidFill>
              </a:rPr>
              <a:t/>
            </a:r>
            <a:br>
              <a:rPr lang="en-US" sz="2800" dirty="0">
                <a:solidFill>
                  <a:schemeClr val="tx1"/>
                </a:solidFill>
              </a:rPr>
            </a:br>
            <a:endParaRPr lang="en-US" sz="2800" dirty="0">
              <a:solidFill>
                <a:schemeClr val="tx1"/>
              </a:solidFill>
            </a:endParaRPr>
          </a:p>
        </p:txBody>
      </p:sp>
      <p:grpSp>
        <p:nvGrpSpPr>
          <p:cNvPr id="13" name="Group 11"/>
          <p:cNvGrpSpPr>
            <a:grpSpLocks/>
          </p:cNvGrpSpPr>
          <p:nvPr/>
        </p:nvGrpSpPr>
        <p:grpSpPr bwMode="auto">
          <a:xfrm>
            <a:off x="1566882" y="4491048"/>
            <a:ext cx="5791200" cy="369887"/>
            <a:chOff x="1056" y="3024"/>
            <a:chExt cx="3648" cy="233"/>
          </a:xfrm>
        </p:grpSpPr>
        <p:sp>
          <p:nvSpPr>
            <p:cNvPr id="14" name="Rectangle 12"/>
            <p:cNvSpPr>
              <a:spLocks noChangeArrowheads="1"/>
            </p:cNvSpPr>
            <p:nvPr/>
          </p:nvSpPr>
          <p:spPr bwMode="auto">
            <a:xfrm>
              <a:off x="1056" y="3024"/>
              <a:ext cx="3648" cy="18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1728" y="3024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>
              <a:off x="2300" y="3025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15"/>
            <p:cNvSpPr>
              <a:spLocks noChangeShapeType="1"/>
            </p:cNvSpPr>
            <p:nvPr/>
          </p:nvSpPr>
          <p:spPr bwMode="auto">
            <a:xfrm>
              <a:off x="2876" y="3025"/>
              <a:ext cx="0" cy="1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Box 16"/>
            <p:cNvSpPr txBox="1">
              <a:spLocks noChangeArrowheads="1"/>
            </p:cNvSpPr>
            <p:nvPr/>
          </p:nvSpPr>
          <p:spPr bwMode="auto">
            <a:xfrm>
              <a:off x="1200" y="3024"/>
              <a:ext cx="2928" cy="2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op            </a:t>
              </a:r>
              <a:r>
                <a:rPr lang="en-US" dirty="0" err="1">
                  <a:solidFill>
                    <a:schemeClr val="tx1"/>
                  </a:solidFill>
                </a:rPr>
                <a:t>rs</a:t>
              </a:r>
              <a:r>
                <a:rPr lang="en-US" dirty="0">
                  <a:solidFill>
                    <a:schemeClr val="tx1"/>
                  </a:solidFill>
                </a:rPr>
                <a:t>             </a:t>
              </a:r>
              <a:r>
                <a:rPr lang="en-US" dirty="0" err="1">
                  <a:solidFill>
                    <a:schemeClr val="tx1"/>
                  </a:solidFill>
                </a:rPr>
                <a:t>rt</a:t>
              </a:r>
              <a:r>
                <a:rPr lang="en-US" dirty="0">
                  <a:solidFill>
                    <a:schemeClr val="tx1"/>
                  </a:solidFill>
                </a:rPr>
                <a:t>                 </a:t>
              </a:r>
              <a:r>
                <a:rPr lang="en-US" dirty="0" smtClean="0">
                  <a:solidFill>
                    <a:srgbClr val="FF0000"/>
                  </a:solidFill>
                </a:rPr>
                <a:t>16-bit value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19" name="AutoShape 18"/>
          <p:cNvSpPr>
            <a:spLocks noChangeArrowheads="1"/>
          </p:cNvSpPr>
          <p:nvPr/>
        </p:nvSpPr>
        <p:spPr bwMode="auto">
          <a:xfrm>
            <a:off x="4114800" y="4929198"/>
            <a:ext cx="381000" cy="152400"/>
          </a:xfrm>
          <a:prstGeom prst="downArrow">
            <a:avLst>
              <a:gd name="adj1" fmla="val 50000"/>
              <a:gd name="adj2" fmla="val 25000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090866"/>
      </p:ext>
    </p:extLst>
  </p:cSld>
  <p:clrMapOvr>
    <a:masterClrMapping/>
  </p:clrMapOvr>
  <p:transition advTm="2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073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mjicse431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mjicse43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accent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accent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mjicse43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jicse43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jicse43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jicse43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jicse43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jicse43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jicse43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23182</TotalTime>
  <Pages>47</Pages>
  <Words>4267</Words>
  <Application>Microsoft Macintosh PowerPoint</Application>
  <PresentationFormat>Letter Paper (8.5x11 in)</PresentationFormat>
  <Paragraphs>940</Paragraphs>
  <Slides>50</Slides>
  <Notes>40</Notes>
  <HiddenSlides>12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50</vt:i4>
      </vt:variant>
    </vt:vector>
  </HeadingPairs>
  <TitlesOfParts>
    <vt:vector size="62" baseType="lpstr">
      <vt:lpstr>Arial</vt:lpstr>
      <vt:lpstr>Calibri</vt:lpstr>
      <vt:lpstr>Calibri Light</vt:lpstr>
      <vt:lpstr>Courier New</vt:lpstr>
      <vt:lpstr>Monotype Sorts</vt:lpstr>
      <vt:lpstr>Symbol</vt:lpstr>
      <vt:lpstr>Times New Roman</vt:lpstr>
      <vt:lpstr>Wingdings</vt:lpstr>
      <vt:lpstr>宋体</vt:lpstr>
      <vt:lpstr>mjicse431</vt:lpstr>
      <vt:lpstr>1_Custom Design</vt:lpstr>
      <vt:lpstr>Custom Design</vt:lpstr>
      <vt:lpstr>CSE 424  Computer Architecture    MIPS ISA (contd.)</vt:lpstr>
      <vt:lpstr>MIPS Instruction Fields</vt:lpstr>
      <vt:lpstr>Machine Language - Load Instruction</vt:lpstr>
      <vt:lpstr>Machine Language - Load Instruction</vt:lpstr>
      <vt:lpstr>Memory Address Location</vt:lpstr>
      <vt:lpstr>Memory Address Location</vt:lpstr>
      <vt:lpstr>Machine Language - Store Instruction</vt:lpstr>
      <vt:lpstr>Machine Language - Store Instruction</vt:lpstr>
      <vt:lpstr>Machine Language – Immediate Instructions</vt:lpstr>
      <vt:lpstr>Machine Language – Immediate Instructions</vt:lpstr>
      <vt:lpstr>Instruction Format Encoding, so far</vt:lpstr>
      <vt:lpstr>Assembling Code</vt:lpstr>
      <vt:lpstr>Assembling Code</vt:lpstr>
      <vt:lpstr>Review:  MIPS Instructions, so far</vt:lpstr>
      <vt:lpstr>Review:  Addressing Modes, so far</vt:lpstr>
      <vt:lpstr>MIPS32 ISA</vt:lpstr>
      <vt:lpstr>Representing Instructions in the Machine</vt:lpstr>
      <vt:lpstr>Representing Instructions in the Machine</vt:lpstr>
      <vt:lpstr>Representing Instructions in the Machine</vt:lpstr>
      <vt:lpstr>Assemble these … (in hex)</vt:lpstr>
      <vt:lpstr>Assemble these … (in hex)</vt:lpstr>
      <vt:lpstr>MIPS-32 Shift Operations</vt:lpstr>
      <vt:lpstr>One More Shift Operation</vt:lpstr>
      <vt:lpstr>Shift Examples and Decimal Equivalents</vt:lpstr>
      <vt:lpstr>Shift Examples and Decimal Equivalents</vt:lpstr>
      <vt:lpstr>MIPS Multiply Instruction</vt:lpstr>
      <vt:lpstr>MIPS Multiply Instruction</vt:lpstr>
      <vt:lpstr>MIPS Divide Instruction</vt:lpstr>
      <vt:lpstr>MIPS Divide Instruction</vt:lpstr>
      <vt:lpstr>MIPS Logical Operations</vt:lpstr>
      <vt:lpstr>Logical Operations in Action</vt:lpstr>
      <vt:lpstr>Logic Operations in Action</vt:lpstr>
      <vt:lpstr>Uses of Logical Operations</vt:lpstr>
      <vt:lpstr>MIPS Logical Instructions (Bit-Wise)</vt:lpstr>
      <vt:lpstr>Coding Practice #1</vt:lpstr>
      <vt:lpstr>Coding Practice #1</vt:lpstr>
      <vt:lpstr>Review:  MIPS Instructions, so far</vt:lpstr>
      <vt:lpstr>MIPS Data Types</vt:lpstr>
      <vt:lpstr>Byte Addresses</vt:lpstr>
      <vt:lpstr>Addressing Objects: Endianess and Alignment</vt:lpstr>
      <vt:lpstr>Addressing Objects: Endianess and Alignment</vt:lpstr>
      <vt:lpstr>Loading and Storing Bytes</vt:lpstr>
      <vt:lpstr>Example of Loading and Storing Bytes</vt:lpstr>
      <vt:lpstr>Example of Loading and Storing Bytes</vt:lpstr>
      <vt:lpstr>Loading and Storing Half Words</vt:lpstr>
      <vt:lpstr>Half Word: Endianess</vt:lpstr>
      <vt:lpstr>Review:  MIPS Immediate Instructions</vt:lpstr>
      <vt:lpstr>How About Larger Constants?</vt:lpstr>
      <vt:lpstr>How About Larger Constants?</vt:lpstr>
      <vt:lpstr>MIPS Control Flow Instructions</vt:lpstr>
    </vt:vector>
  </TitlesOfParts>
  <LinksUpToDate>false</LinksUpToDate>
  <SharedDoc>false</SharedDoc>
  <HyperlinksChanged>false</HyperlinksChanged>
  <AppVersion>15.0035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431. Computer Architecture</dc:title>
  <dc:subject>Lecture 01</dc:subject>
  <dc:creator>Janie Irwin</dc:creator>
  <cp:lastModifiedBy>Jog, Adwait</cp:lastModifiedBy>
  <cp:revision>774</cp:revision>
  <cp:lastPrinted>1997-08-27T08:28:34Z</cp:lastPrinted>
  <dcterms:created xsi:type="dcterms:W3CDTF">1997-08-19T16:58:46Z</dcterms:created>
  <dcterms:modified xsi:type="dcterms:W3CDTF">2019-09-18T21:00:26Z</dcterms:modified>
</cp:coreProperties>
</file>