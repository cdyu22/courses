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676" r:id="rId2"/>
    <p:sldMasterId id="2147483663" r:id="rId3"/>
  </p:sldMasterIdLst>
  <p:notesMasterIdLst>
    <p:notesMasterId r:id="rId77"/>
  </p:notesMasterIdLst>
  <p:handoutMasterIdLst>
    <p:handoutMasterId r:id="rId78"/>
  </p:handoutMasterIdLst>
  <p:sldIdLst>
    <p:sldId id="312" r:id="rId4"/>
    <p:sldId id="294" r:id="rId5"/>
    <p:sldId id="295" r:id="rId6"/>
    <p:sldId id="296" r:id="rId7"/>
    <p:sldId id="297" r:id="rId8"/>
    <p:sldId id="298" r:id="rId9"/>
    <p:sldId id="299" r:id="rId10"/>
    <p:sldId id="300" r:id="rId11"/>
    <p:sldId id="301" r:id="rId12"/>
    <p:sldId id="302" r:id="rId13"/>
    <p:sldId id="303" r:id="rId14"/>
    <p:sldId id="304" r:id="rId15"/>
    <p:sldId id="305" r:id="rId16"/>
    <p:sldId id="308" r:id="rId17"/>
    <p:sldId id="309" r:id="rId18"/>
    <p:sldId id="321" r:id="rId19"/>
    <p:sldId id="322" r:id="rId20"/>
    <p:sldId id="323" r:id="rId21"/>
    <p:sldId id="324" r:id="rId22"/>
    <p:sldId id="325" r:id="rId23"/>
    <p:sldId id="432" r:id="rId24"/>
    <p:sldId id="433" r:id="rId25"/>
    <p:sldId id="434" r:id="rId26"/>
    <p:sldId id="435" r:id="rId27"/>
    <p:sldId id="436" r:id="rId28"/>
    <p:sldId id="328" r:id="rId29"/>
    <p:sldId id="329" r:id="rId30"/>
    <p:sldId id="463" r:id="rId31"/>
    <p:sldId id="462" r:id="rId32"/>
    <p:sldId id="330" r:id="rId33"/>
    <p:sldId id="331" r:id="rId34"/>
    <p:sldId id="332" r:id="rId35"/>
    <p:sldId id="333" r:id="rId36"/>
    <p:sldId id="334" r:id="rId37"/>
    <p:sldId id="335" r:id="rId38"/>
    <p:sldId id="336" r:id="rId39"/>
    <p:sldId id="337" r:id="rId40"/>
    <p:sldId id="338" r:id="rId41"/>
    <p:sldId id="339" r:id="rId42"/>
    <p:sldId id="340" r:id="rId43"/>
    <p:sldId id="437" r:id="rId44"/>
    <p:sldId id="438" r:id="rId45"/>
    <p:sldId id="439" r:id="rId46"/>
    <p:sldId id="440" r:id="rId47"/>
    <p:sldId id="441" r:id="rId48"/>
    <p:sldId id="442" r:id="rId49"/>
    <p:sldId id="443" r:id="rId50"/>
    <p:sldId id="444" r:id="rId51"/>
    <p:sldId id="445" r:id="rId52"/>
    <p:sldId id="446" r:id="rId53"/>
    <p:sldId id="447" r:id="rId54"/>
    <p:sldId id="448" r:id="rId55"/>
    <p:sldId id="380" r:id="rId56"/>
    <p:sldId id="381" r:id="rId57"/>
    <p:sldId id="426" r:id="rId58"/>
    <p:sldId id="427" r:id="rId59"/>
    <p:sldId id="428" r:id="rId60"/>
    <p:sldId id="429" r:id="rId61"/>
    <p:sldId id="430" r:id="rId62"/>
    <p:sldId id="431" r:id="rId63"/>
    <p:sldId id="449" r:id="rId64"/>
    <p:sldId id="450" r:id="rId65"/>
    <p:sldId id="451" r:id="rId66"/>
    <p:sldId id="452" r:id="rId67"/>
    <p:sldId id="453" r:id="rId68"/>
    <p:sldId id="454" r:id="rId69"/>
    <p:sldId id="455" r:id="rId70"/>
    <p:sldId id="456" r:id="rId71"/>
    <p:sldId id="457" r:id="rId72"/>
    <p:sldId id="458" r:id="rId73"/>
    <p:sldId id="459" r:id="rId74"/>
    <p:sldId id="460" r:id="rId75"/>
    <p:sldId id="461" r:id="rId76"/>
  </p:sldIdLst>
  <p:sldSz cx="9144000" cy="6858000" type="letter"/>
  <p:notesSz cx="6985000" cy="92837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kern="1200">
        <a:solidFill>
          <a:schemeClr val="accent1"/>
        </a:solidFill>
        <a:latin typeface="Arial" charset="0"/>
        <a:ea typeface="+mn-ea"/>
        <a:cs typeface="+mn-cs"/>
      </a:defRPr>
    </a:lvl1pPr>
    <a:lvl2pPr marL="457200" algn="l" rtl="0" eaLnBrk="0" fontAlgn="base" hangingPunct="0">
      <a:spcBef>
        <a:spcPct val="0"/>
      </a:spcBef>
      <a:spcAft>
        <a:spcPct val="0"/>
      </a:spcAft>
      <a:defRPr kern="1200">
        <a:solidFill>
          <a:schemeClr val="accent1"/>
        </a:solidFill>
        <a:latin typeface="Arial" charset="0"/>
        <a:ea typeface="+mn-ea"/>
        <a:cs typeface="+mn-cs"/>
      </a:defRPr>
    </a:lvl2pPr>
    <a:lvl3pPr marL="914400" algn="l" rtl="0" eaLnBrk="0" fontAlgn="base" hangingPunct="0">
      <a:spcBef>
        <a:spcPct val="0"/>
      </a:spcBef>
      <a:spcAft>
        <a:spcPct val="0"/>
      </a:spcAft>
      <a:defRPr kern="1200">
        <a:solidFill>
          <a:schemeClr val="accent1"/>
        </a:solidFill>
        <a:latin typeface="Arial" charset="0"/>
        <a:ea typeface="+mn-ea"/>
        <a:cs typeface="+mn-cs"/>
      </a:defRPr>
    </a:lvl3pPr>
    <a:lvl4pPr marL="1371600" algn="l" rtl="0" eaLnBrk="0" fontAlgn="base" hangingPunct="0">
      <a:spcBef>
        <a:spcPct val="0"/>
      </a:spcBef>
      <a:spcAft>
        <a:spcPct val="0"/>
      </a:spcAft>
      <a:defRPr kern="1200">
        <a:solidFill>
          <a:schemeClr val="accent1"/>
        </a:solidFill>
        <a:latin typeface="Arial" charset="0"/>
        <a:ea typeface="+mn-ea"/>
        <a:cs typeface="+mn-cs"/>
      </a:defRPr>
    </a:lvl4pPr>
    <a:lvl5pPr marL="1828800" algn="l" rtl="0" eaLnBrk="0" fontAlgn="base" hangingPunct="0">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584">
          <p15:clr>
            <a:srgbClr val="A4A3A4"/>
          </p15:clr>
        </p15:guide>
      </p15:sldGuideLst>
    </p:ext>
    <p:ext uri="{2D200454-40CA-4A62-9FC3-DE9A4176ACB9}">
      <p15:notesGuideLst xmlns:p15="http://schemas.microsoft.com/office/powerpoint/2012/main">
        <p15:guide id="1" orient="horz" pos="2923">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8901F3"/>
    <a:srgbClr val="00A091"/>
    <a:srgbClr val="51DC00"/>
    <a:srgbClr val="5A11FD"/>
    <a:srgbClr val="000000"/>
    <a:srgbClr val="CC3399"/>
    <a:srgbClr val="0082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885" autoAdjust="0"/>
    <p:restoredTop sz="92994" autoAdjust="0"/>
  </p:normalViewPr>
  <p:slideViewPr>
    <p:cSldViewPr>
      <p:cViewPr>
        <p:scale>
          <a:sx n="100" d="100"/>
          <a:sy n="100" d="100"/>
        </p:scale>
        <p:origin x="440" y="176"/>
      </p:cViewPr>
      <p:guideLst>
        <p:guide orient="horz" pos="2160"/>
        <p:guide pos="15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840"/>
    </p:cViewPr>
  </p:sorterViewPr>
  <p:notesViewPr>
    <p:cSldViewPr>
      <p:cViewPr varScale="1">
        <p:scale>
          <a:sx n="84" d="100"/>
          <a:sy n="84" d="100"/>
        </p:scale>
        <p:origin x="-1932" y="-84"/>
      </p:cViewPr>
      <p:guideLst>
        <p:guide orient="horz" pos="2923"/>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notesMaster" Target="notesMasters/notesMaster1.xml"/><Relationship Id="rId78" Type="http://schemas.openxmlformats.org/officeDocument/2006/relationships/handoutMaster" Target="handoutMasters/handoutMaster1.xml"/><Relationship Id="rId79" Type="http://schemas.openxmlformats.org/officeDocument/2006/relationships/presProps" Target="presProps.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755636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idx="2"/>
          </p:nvPr>
        </p:nvSpPr>
        <p:spPr bwMode="auto">
          <a:xfrm>
            <a:off x="1189038" y="598488"/>
            <a:ext cx="4622800" cy="3467100"/>
          </a:xfrm>
          <a:prstGeom prst="rect">
            <a:avLst/>
          </a:prstGeom>
          <a:noFill/>
          <a:ln w="12700">
            <a:noFill/>
            <a:miter lim="800000"/>
            <a:headEnd/>
            <a:tailEnd/>
          </a:ln>
        </p:spPr>
      </p:sp>
      <p:sp>
        <p:nvSpPr>
          <p:cNvPr id="2051" name="Rectangle 3"/>
          <p:cNvSpPr>
            <a:spLocks noGrp="1" noChangeArrowheads="1"/>
          </p:cNvSpPr>
          <p:nvPr>
            <p:ph type="body" sz="quarter" idx="3"/>
          </p:nvPr>
        </p:nvSpPr>
        <p:spPr bwMode="auto">
          <a:xfrm>
            <a:off x="525493" y="4408146"/>
            <a:ext cx="6019711" cy="4177665"/>
          </a:xfrm>
          <a:prstGeom prst="rect">
            <a:avLst/>
          </a:prstGeom>
          <a:noFill/>
          <a:ln w="12700">
            <a:solidFill>
              <a:schemeClr val="tx1"/>
            </a:solidFill>
            <a:miter lim="800000"/>
            <a:headEnd/>
            <a:tailEnd/>
          </a:ln>
          <a:effectLst/>
        </p:spPr>
        <p:txBody>
          <a:bodyPr vert="horz" wrap="square" lIns="93520" tIns="45939" rIns="93520" bIns="45939" numCol="1" anchor="t" anchorCtr="0" compatLnSpc="1">
            <a:prstTxWarp prst="textNoShape">
              <a:avLst/>
            </a:prstTxWarp>
          </a:bodyPr>
          <a:lstStyle/>
          <a:p>
            <a:pPr lvl="0"/>
            <a:r>
              <a:rPr lang="en-US" noProof="0" smtClean="0"/>
              <a:t>we want this to be in font 11 and justify.</a:t>
            </a:r>
          </a:p>
        </p:txBody>
      </p:sp>
    </p:spTree>
    <p:extLst>
      <p:ext uri="{BB962C8B-B14F-4D97-AF65-F5344CB8AC3E}">
        <p14:creationId xmlns:p14="http://schemas.microsoft.com/office/powerpoint/2010/main" val="1934733741"/>
      </p:ext>
    </p:extLst>
  </p:cSld>
  <p:clrMap bg1="lt1" tx1="dk1" bg2="lt2" tx2="dk2" accent1="accent1" accent2="accent2" accent3="accent3" accent4="accent4" accent5="accent5" accent6="accent6" hlink="hlink" folHlink="folHlink"/>
  <p:hf hdr="0" dt="0"/>
  <p:notesStyle>
    <a:lvl1pPr algn="just" rtl="0" eaLnBrk="0" fontAlgn="base" hangingPunct="0">
      <a:lnSpc>
        <a:spcPct val="90000"/>
      </a:lnSpc>
      <a:spcBef>
        <a:spcPct val="40000"/>
      </a:spcBef>
      <a:spcAft>
        <a:spcPct val="0"/>
      </a:spcAft>
      <a:defRPr sz="1100"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body" idx="1"/>
          </p:nvPr>
        </p:nvSpPr>
        <p:spPr>
          <a:noFill/>
          <a:ln w="9525">
            <a:noFill/>
          </a:ln>
        </p:spPr>
        <p:txBody>
          <a:bodyPr/>
          <a:lstStyle/>
          <a:p>
            <a:endParaRPr lang="en-US" dirty="0" smtClean="0"/>
          </a:p>
        </p:txBody>
      </p:sp>
      <p:sp>
        <p:nvSpPr>
          <p:cNvPr id="56323" name="Rectangle 3"/>
          <p:cNvSpPr>
            <a:spLocks noGrp="1" noRot="1" noChangeAspect="1" noChangeArrowheads="1" noTextEdit="1"/>
          </p:cNvSpPr>
          <p:nvPr>
            <p:ph type="sldImg"/>
          </p:nvPr>
        </p:nvSpPr>
        <p:spPr/>
      </p:sp>
    </p:spTree>
    <p:extLst>
      <p:ext uri="{BB962C8B-B14F-4D97-AF65-F5344CB8AC3E}">
        <p14:creationId xmlns:p14="http://schemas.microsoft.com/office/powerpoint/2010/main" val="1945809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body" idx="1"/>
          </p:nvPr>
        </p:nvSpPr>
        <p:spPr>
          <a:xfrm>
            <a:off x="936345" y="4415790"/>
            <a:ext cx="5137714" cy="4181767"/>
          </a:xfrm>
          <a:ln>
            <a:noFill/>
          </a:ln>
        </p:spPr>
        <p:txBody>
          <a:bodyPr lIns="93736" tIns="46044" rIns="93736" bIns="46044"/>
          <a:lstStyle/>
          <a:p>
            <a:endParaRPr lang="en-US"/>
          </a:p>
        </p:txBody>
      </p:sp>
      <p:sp>
        <p:nvSpPr>
          <p:cNvPr id="671747" name="Rectangle 3"/>
          <p:cNvSpPr>
            <a:spLocks noGrp="1" noRot="1" noChangeAspect="1" noChangeArrowheads="1" noTextEdit="1"/>
          </p:cNvSpPr>
          <p:nvPr>
            <p:ph type="sldImg"/>
          </p:nvPr>
        </p:nvSpPr>
        <p:spPr>
          <a:xfrm>
            <a:off x="1193800" y="704850"/>
            <a:ext cx="4624388" cy="3470275"/>
          </a:xfrm>
          <a:ln cap="flat">
            <a:solidFill>
              <a:schemeClr val="tx1"/>
            </a:solidFill>
          </a:ln>
        </p:spPr>
      </p:sp>
    </p:spTree>
    <p:extLst>
      <p:ext uri="{BB962C8B-B14F-4D97-AF65-F5344CB8AC3E}">
        <p14:creationId xmlns:p14="http://schemas.microsoft.com/office/powerpoint/2010/main" val="294565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Rot="1" noChangeAspect="1" noChangeArrowheads="1" noTextEdit="1"/>
          </p:cNvSpPr>
          <p:nvPr>
            <p:ph type="sldImg"/>
          </p:nvPr>
        </p:nvSpPr>
        <p:spPr/>
      </p:sp>
      <p:sp>
        <p:nvSpPr>
          <p:cNvPr id="297987" name="Rectangle 3"/>
          <p:cNvSpPr>
            <a:spLocks noGrp="1" noChangeArrowheads="1"/>
          </p:cNvSpPr>
          <p:nvPr>
            <p:ph type="body" idx="1"/>
          </p:nvPr>
        </p:nvSpPr>
        <p:spPr>
          <a:ln/>
        </p:spPr>
        <p:txBody>
          <a:bodyPr/>
          <a:lstStyle/>
          <a:p>
            <a:r>
              <a:rPr lang="en-US"/>
              <a:t>Note that two low order 0’s are concatenated to the 16 bit field giving an eighteen bit address</a:t>
            </a:r>
          </a:p>
          <a:p>
            <a:r>
              <a:rPr lang="en-US"/>
              <a:t>	 0111111111111111 00  = 2**15 –1 words  (2**17 – 1 bytes)</a:t>
            </a:r>
          </a:p>
          <a:p>
            <a:endParaRPr lang="en-US"/>
          </a:p>
        </p:txBody>
      </p:sp>
    </p:spTree>
    <p:extLst>
      <p:ext uri="{BB962C8B-B14F-4D97-AF65-F5344CB8AC3E}">
        <p14:creationId xmlns:p14="http://schemas.microsoft.com/office/powerpoint/2010/main" val="681398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body" idx="1"/>
          </p:nvPr>
        </p:nvSpPr>
        <p:spPr bwMode="auto">
          <a:xfrm>
            <a:off x="935634" y="4416098"/>
            <a:ext cx="5139134" cy="4180921"/>
          </a:xfrm>
          <a:prstGeom prst="rect">
            <a:avLst/>
          </a:prstGeom>
          <a:noFill/>
          <a:ln w="12700">
            <a:miter lim="800000"/>
            <a:headEnd/>
            <a:tailEnd/>
          </a:ln>
        </p:spPr>
        <p:txBody>
          <a:bodyPr lIns="93754" tIns="46054" rIns="93754" bIns="46054"/>
          <a:lstStyle/>
          <a:p>
            <a:r>
              <a:rPr lang="en-US"/>
              <a:t>For class handout</a:t>
            </a:r>
          </a:p>
        </p:txBody>
      </p:sp>
      <p:sp>
        <p:nvSpPr>
          <p:cNvPr id="365571" name="Rectangle 3"/>
          <p:cNvSpPr>
            <a:spLocks noGrp="1" noRot="1" noChangeAspect="1" noChangeArrowheads="1" noTextEdit="1"/>
          </p:cNvSpPr>
          <p:nvPr>
            <p:ph type="sldImg"/>
          </p:nvPr>
        </p:nvSpPr>
        <p:spPr bwMode="auto">
          <a:xfrm>
            <a:off x="1192213" y="704850"/>
            <a:ext cx="4625975" cy="3470275"/>
          </a:xfrm>
          <a:prstGeom prst="rect">
            <a:avLst/>
          </a:prstGeom>
          <a:noFill/>
          <a:ln w="12700" cap="flat">
            <a:solidFill>
              <a:schemeClr val="tx1"/>
            </a:solidFill>
            <a:miter lim="800000"/>
            <a:headEnd/>
            <a:tailEnd/>
          </a:ln>
        </p:spPr>
      </p:sp>
    </p:spTree>
    <p:extLst>
      <p:ext uri="{BB962C8B-B14F-4D97-AF65-F5344CB8AC3E}">
        <p14:creationId xmlns:p14="http://schemas.microsoft.com/office/powerpoint/2010/main" val="518770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body" idx="1"/>
          </p:nvPr>
        </p:nvSpPr>
        <p:spPr bwMode="auto">
          <a:xfrm>
            <a:off x="935634" y="4416098"/>
            <a:ext cx="5139134" cy="4180921"/>
          </a:xfrm>
          <a:prstGeom prst="rect">
            <a:avLst/>
          </a:prstGeom>
          <a:noFill/>
          <a:ln w="12700">
            <a:miter lim="800000"/>
            <a:headEnd/>
            <a:tailEnd/>
          </a:ln>
        </p:spPr>
        <p:txBody>
          <a:bodyPr lIns="93754" tIns="46054" rIns="93754" bIns="46054"/>
          <a:lstStyle/>
          <a:p>
            <a:r>
              <a:rPr lang="en-US"/>
              <a:t>For lecture.</a:t>
            </a:r>
          </a:p>
          <a:p>
            <a:endParaRPr lang="en-US"/>
          </a:p>
          <a:p>
            <a:r>
              <a:rPr lang="en-US"/>
              <a:t>For the code shown, the offset field should be 1 instruction (resulting in 4 = 1|00) not two instructions (resulting in 8 = 10|00) since the PC is now pointing to the add instruction (after the bne is fetched).</a:t>
            </a:r>
          </a:p>
        </p:txBody>
      </p:sp>
      <p:sp>
        <p:nvSpPr>
          <p:cNvPr id="402435" name="Rectangle 3"/>
          <p:cNvSpPr>
            <a:spLocks noGrp="1" noRot="1" noChangeAspect="1" noChangeArrowheads="1" noTextEdit="1"/>
          </p:cNvSpPr>
          <p:nvPr>
            <p:ph type="sldImg"/>
          </p:nvPr>
        </p:nvSpPr>
        <p:spPr bwMode="auto">
          <a:xfrm>
            <a:off x="1192213" y="704850"/>
            <a:ext cx="4625975" cy="3470275"/>
          </a:xfrm>
          <a:prstGeom prst="rect">
            <a:avLst/>
          </a:prstGeom>
          <a:noFill/>
          <a:ln w="12700" cap="flat">
            <a:solidFill>
              <a:schemeClr val="tx1"/>
            </a:solidFill>
            <a:miter lim="800000"/>
            <a:headEnd/>
            <a:tailEnd/>
          </a:ln>
        </p:spPr>
      </p:sp>
    </p:spTree>
    <p:extLst>
      <p:ext uri="{BB962C8B-B14F-4D97-AF65-F5344CB8AC3E}">
        <p14:creationId xmlns:p14="http://schemas.microsoft.com/office/powerpoint/2010/main" val="776596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Rot="1" noChangeAspect="1" noChangeArrowheads="1" noTextEdit="1"/>
          </p:cNvSpPr>
          <p:nvPr>
            <p:ph type="sldImg"/>
          </p:nvPr>
        </p:nvSpPr>
        <p:spPr>
          <a:xfrm>
            <a:off x="1193800" y="704850"/>
            <a:ext cx="4624388" cy="3470275"/>
          </a:xfrm>
          <a:ln cap="flat">
            <a:solidFill>
              <a:schemeClr val="tx1"/>
            </a:solidFill>
          </a:ln>
        </p:spPr>
      </p:sp>
      <p:sp>
        <p:nvSpPr>
          <p:cNvPr id="698371" name="Rectangle 3"/>
          <p:cNvSpPr>
            <a:spLocks noGrp="1" noChangeArrowheads="1"/>
          </p:cNvSpPr>
          <p:nvPr>
            <p:ph type="body" idx="1"/>
          </p:nvPr>
        </p:nvSpPr>
        <p:spPr>
          <a:xfrm>
            <a:off x="441396" y="4930644"/>
            <a:ext cx="4751493" cy="492256"/>
          </a:xfrm>
          <a:ln>
            <a:noFill/>
          </a:ln>
        </p:spPr>
        <p:txBody>
          <a:bodyPr wrap="none" lIns="19734" tIns="27957" rIns="19734" bIns="27957"/>
          <a:lstStyle/>
          <a:p>
            <a:pPr>
              <a:lnSpc>
                <a:spcPts val="1834"/>
              </a:lnSpc>
              <a:spcBef>
                <a:spcPct val="0"/>
              </a:spcBef>
              <a:buClr>
                <a:srgbClr val="000000"/>
              </a:buClr>
              <a:tabLst>
                <a:tab pos="465859" algn="l"/>
                <a:tab pos="931717" algn="l"/>
                <a:tab pos="1397576" algn="l"/>
              </a:tabLst>
            </a:pPr>
            <a:r>
              <a:rPr lang="en-US" dirty="0" smtClean="0">
                <a:solidFill>
                  <a:srgbClr val="000000"/>
                </a:solidFill>
              </a:rPr>
              <a:t>Unsigned (u) versus signed integer</a:t>
            </a:r>
            <a:r>
              <a:rPr lang="en-US" baseline="0" dirty="0" smtClean="0">
                <a:solidFill>
                  <a:srgbClr val="000000"/>
                </a:solidFill>
              </a:rPr>
              <a:t> comparison</a:t>
            </a:r>
            <a:endParaRPr lang="en-US" dirty="0">
              <a:solidFill>
                <a:srgbClr val="000000"/>
              </a:solidFill>
            </a:endParaRPr>
          </a:p>
        </p:txBody>
      </p:sp>
    </p:spTree>
    <p:extLst>
      <p:ext uri="{BB962C8B-B14F-4D97-AF65-F5344CB8AC3E}">
        <p14:creationId xmlns:p14="http://schemas.microsoft.com/office/powerpoint/2010/main" val="1355794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Rot="1" noChangeAspect="1" noChangeArrowheads="1" noTextEdit="1"/>
          </p:cNvSpPr>
          <p:nvPr>
            <p:ph type="sldImg"/>
          </p:nvPr>
        </p:nvSpPr>
        <p:spPr>
          <a:xfrm>
            <a:off x="1200150" y="598488"/>
            <a:ext cx="4629150" cy="3471862"/>
          </a:xfrm>
        </p:spPr>
      </p:sp>
      <p:sp>
        <p:nvSpPr>
          <p:cNvPr id="702467" name="Rectangle 3"/>
          <p:cNvSpPr>
            <a:spLocks noGrp="1" noChangeArrowheads="1"/>
          </p:cNvSpPr>
          <p:nvPr>
            <p:ph type="body" idx="1"/>
          </p:nvPr>
        </p:nvSpPr>
        <p:spPr>
          <a:xfrm>
            <a:off x="527404" y="4415790"/>
            <a:ext cx="6041601" cy="4181767"/>
          </a:xfrm>
          <a:ln/>
        </p:spPr>
        <p:txBody>
          <a:bodyPr/>
          <a:lstStyle/>
          <a:p>
            <a:r>
              <a:rPr lang="en-US" dirty="0" smtClean="0"/>
              <a:t>For class handout</a:t>
            </a:r>
            <a:endParaRPr lang="en-US" dirty="0"/>
          </a:p>
          <a:p>
            <a:endParaRPr lang="en-US" dirty="0"/>
          </a:p>
        </p:txBody>
      </p:sp>
    </p:spTree>
    <p:extLst>
      <p:ext uri="{BB962C8B-B14F-4D97-AF65-F5344CB8AC3E}">
        <p14:creationId xmlns:p14="http://schemas.microsoft.com/office/powerpoint/2010/main" val="2089230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Rot="1" noChangeAspect="1" noChangeArrowheads="1" noTextEdit="1"/>
          </p:cNvSpPr>
          <p:nvPr>
            <p:ph type="sldImg"/>
          </p:nvPr>
        </p:nvSpPr>
        <p:spPr>
          <a:xfrm>
            <a:off x="1200150" y="598488"/>
            <a:ext cx="4629150" cy="3471862"/>
          </a:xfrm>
        </p:spPr>
      </p:sp>
      <p:sp>
        <p:nvSpPr>
          <p:cNvPr id="702467" name="Rectangle 3"/>
          <p:cNvSpPr>
            <a:spLocks noGrp="1" noChangeArrowheads="1"/>
          </p:cNvSpPr>
          <p:nvPr>
            <p:ph type="body" idx="1"/>
          </p:nvPr>
        </p:nvSpPr>
        <p:spPr>
          <a:xfrm>
            <a:off x="527404" y="4415790"/>
            <a:ext cx="6041601" cy="4181767"/>
          </a:xfrm>
          <a:ln/>
        </p:spPr>
        <p:txBody>
          <a:bodyPr/>
          <a:lstStyle/>
          <a:p>
            <a:r>
              <a:rPr lang="en-US"/>
              <a:t>For lecture</a:t>
            </a:r>
          </a:p>
          <a:p>
            <a:endParaRPr lang="en-US"/>
          </a:p>
          <a:p>
            <a:r>
              <a:rPr lang="en-US"/>
              <a:t>blt	$s1,$s2 Label =</a:t>
            </a:r>
          </a:p>
          <a:p>
            <a:endParaRPr lang="en-US"/>
          </a:p>
          <a:p>
            <a:endParaRPr lang="en-US"/>
          </a:p>
          <a:p>
            <a:r>
              <a:rPr lang="en-US"/>
              <a:t>slt	$at,$s1,$s2		#at gets 1 if $s1 &lt; $s2</a:t>
            </a:r>
          </a:p>
          <a:p>
            <a:r>
              <a:rPr lang="en-US"/>
              <a:t>bne	$at,$zero,Label</a:t>
            </a:r>
          </a:p>
        </p:txBody>
      </p:sp>
    </p:spTree>
    <p:extLst>
      <p:ext uri="{BB962C8B-B14F-4D97-AF65-F5344CB8AC3E}">
        <p14:creationId xmlns:p14="http://schemas.microsoft.com/office/powerpoint/2010/main" val="742980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body" idx="1"/>
          </p:nvPr>
        </p:nvSpPr>
        <p:spPr bwMode="auto">
          <a:xfrm>
            <a:off x="935634" y="4416098"/>
            <a:ext cx="5139134" cy="4180921"/>
          </a:xfrm>
          <a:prstGeom prst="rect">
            <a:avLst/>
          </a:prstGeom>
          <a:noFill/>
          <a:ln w="12700">
            <a:miter lim="800000"/>
            <a:headEnd/>
            <a:tailEnd/>
          </a:ln>
        </p:spPr>
        <p:txBody>
          <a:bodyPr lIns="93754" tIns="46054" rIns="93754" bIns="46054"/>
          <a:lstStyle/>
          <a:p>
            <a:r>
              <a:rPr lang="en-US"/>
              <a:t>If-then-else code compilation</a:t>
            </a:r>
          </a:p>
        </p:txBody>
      </p:sp>
      <p:sp>
        <p:nvSpPr>
          <p:cNvPr id="301059" name="Rectangle 3"/>
          <p:cNvSpPr>
            <a:spLocks noGrp="1" noRot="1" noChangeAspect="1" noChangeArrowheads="1" noTextEdit="1"/>
          </p:cNvSpPr>
          <p:nvPr>
            <p:ph type="sldImg"/>
          </p:nvPr>
        </p:nvSpPr>
        <p:spPr bwMode="auto">
          <a:xfrm>
            <a:off x="1192213" y="704850"/>
            <a:ext cx="4625975" cy="3470275"/>
          </a:xfrm>
          <a:prstGeom prst="rect">
            <a:avLst/>
          </a:prstGeom>
          <a:noFill/>
          <a:ln w="12700" cap="flat">
            <a:solidFill>
              <a:schemeClr val="tx1"/>
            </a:solidFill>
            <a:miter lim="800000"/>
            <a:headEnd/>
            <a:tailEnd/>
          </a:ln>
        </p:spPr>
      </p:sp>
    </p:spTree>
    <p:extLst>
      <p:ext uri="{BB962C8B-B14F-4D97-AF65-F5344CB8AC3E}">
        <p14:creationId xmlns:p14="http://schemas.microsoft.com/office/powerpoint/2010/main" val="741140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body" idx="1"/>
          </p:nvPr>
        </p:nvSpPr>
        <p:spPr bwMode="auto">
          <a:xfrm>
            <a:off x="935634" y="4416098"/>
            <a:ext cx="5139134" cy="4180921"/>
          </a:xfrm>
          <a:prstGeom prst="rect">
            <a:avLst/>
          </a:prstGeom>
          <a:noFill/>
          <a:ln w="12700">
            <a:miter lim="800000"/>
            <a:headEnd/>
            <a:tailEnd/>
          </a:ln>
        </p:spPr>
        <p:txBody>
          <a:bodyPr lIns="93755" tIns="46055" rIns="93755" bIns="46055"/>
          <a:lstStyle/>
          <a:p>
            <a:endParaRPr lang="en-US"/>
          </a:p>
        </p:txBody>
      </p:sp>
      <p:sp>
        <p:nvSpPr>
          <p:cNvPr id="303107" name="Rectangle 3"/>
          <p:cNvSpPr>
            <a:spLocks noGrp="1" noRot="1" noChangeAspect="1" noChangeArrowheads="1" noTextEdit="1"/>
          </p:cNvSpPr>
          <p:nvPr>
            <p:ph type="sldImg"/>
          </p:nvPr>
        </p:nvSpPr>
        <p:spPr bwMode="auto">
          <a:xfrm>
            <a:off x="1192213" y="706438"/>
            <a:ext cx="4625975" cy="3468687"/>
          </a:xfrm>
          <a:prstGeom prst="rect">
            <a:avLst/>
          </a:prstGeom>
          <a:noFill/>
          <a:ln w="12700" cap="flat">
            <a:solidFill>
              <a:schemeClr val="tx1"/>
            </a:solidFill>
            <a:miter lim="800000"/>
            <a:headEnd/>
            <a:tailEnd/>
          </a:ln>
        </p:spPr>
      </p:sp>
    </p:spTree>
    <p:extLst>
      <p:ext uri="{BB962C8B-B14F-4D97-AF65-F5344CB8AC3E}">
        <p14:creationId xmlns:p14="http://schemas.microsoft.com/office/powerpoint/2010/main" val="296642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Rot="1" noChangeAspect="1" noChangeArrowheads="1" noTextEdit="1"/>
          </p:cNvSpPr>
          <p:nvPr>
            <p:ph type="sldImg"/>
          </p:nvPr>
        </p:nvSpPr>
        <p:spPr/>
      </p:sp>
      <p:sp>
        <p:nvSpPr>
          <p:cNvPr id="464899" name="Rectangle 3"/>
          <p:cNvSpPr>
            <a:spLocks noGrp="1" noChangeArrowheads="1"/>
          </p:cNvSpPr>
          <p:nvPr>
            <p:ph type="body" idx="1"/>
          </p:nvPr>
        </p:nvSpPr>
        <p:spPr>
          <a:ln/>
        </p:spPr>
        <p:txBody>
          <a:bodyPr/>
          <a:lstStyle/>
          <a:p>
            <a:r>
              <a:rPr lang="en-US"/>
              <a:t>The loader and linker must be careful to avoid placing a program across an address boundary of 256 MB (64 million instructions) – otherwise a jump must be replaced by a jump register instruction preceded by other instructions to load the full 32-bit address into a register</a:t>
            </a:r>
          </a:p>
        </p:txBody>
      </p:sp>
    </p:spTree>
    <p:extLst>
      <p:ext uri="{BB962C8B-B14F-4D97-AF65-F5344CB8AC3E}">
        <p14:creationId xmlns:p14="http://schemas.microsoft.com/office/powerpoint/2010/main" val="726648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body" idx="1"/>
          </p:nvPr>
        </p:nvSpPr>
        <p:spPr bwMode="auto">
          <a:xfrm>
            <a:off x="527911" y="4416098"/>
            <a:ext cx="6039776" cy="4182458"/>
          </a:xfrm>
          <a:prstGeom prst="rect">
            <a:avLst/>
          </a:prstGeom>
          <a:noFill/>
          <a:ln w="12700">
            <a:miter lim="800000"/>
            <a:headEnd/>
            <a:tailEnd/>
          </a:ln>
        </p:spPr>
        <p:txBody>
          <a:bodyPr lIns="94445" tIns="46393" rIns="94445" bIns="46393"/>
          <a:lstStyle/>
          <a:p>
            <a:endParaRPr lang="zh-CN" altLang="en-US"/>
          </a:p>
        </p:txBody>
      </p:sp>
      <p:sp>
        <p:nvSpPr>
          <p:cNvPr id="257027" name="Rectangle 3"/>
          <p:cNvSpPr>
            <a:spLocks noGrp="1" noRot="1" noChangeAspect="1" noChangeArrowheads="1"/>
          </p:cNvSpPr>
          <p:nvPr>
            <p:ph type="sldImg"/>
          </p:nvPr>
        </p:nvSpPr>
        <p:spPr bwMode="auto">
          <a:xfrm>
            <a:off x="1196975" y="596900"/>
            <a:ext cx="4630738" cy="3473450"/>
          </a:xfrm>
          <a:prstGeom prst="rect">
            <a:avLst/>
          </a:prstGeom>
          <a:noFill/>
          <a:ln w="12700">
            <a:miter lim="800000"/>
            <a:headEnd/>
            <a:tailEnd/>
          </a:ln>
        </p:spPr>
      </p:sp>
    </p:spTree>
    <p:extLst>
      <p:ext uri="{BB962C8B-B14F-4D97-AF65-F5344CB8AC3E}">
        <p14:creationId xmlns:p14="http://schemas.microsoft.com/office/powerpoint/2010/main" val="1234665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body" idx="1"/>
          </p:nvPr>
        </p:nvSpPr>
        <p:spPr bwMode="auto">
          <a:xfrm>
            <a:off x="932244" y="4410065"/>
            <a:ext cx="5120514" cy="4175209"/>
          </a:xfrm>
          <a:prstGeom prst="rect">
            <a:avLst/>
          </a:prstGeom>
          <a:noFill/>
          <a:ln w="12700">
            <a:miter lim="800000"/>
            <a:headEnd/>
            <a:tailEnd/>
          </a:ln>
        </p:spPr>
        <p:txBody>
          <a:bodyPr lIns="93540" tIns="45949" rIns="93540" bIns="45949"/>
          <a:lstStyle/>
          <a:p>
            <a:r>
              <a:rPr lang="en-US"/>
              <a:t>For class handout</a:t>
            </a:r>
          </a:p>
        </p:txBody>
      </p:sp>
      <p:sp>
        <p:nvSpPr>
          <p:cNvPr id="305155" name="Rectangle 3"/>
          <p:cNvSpPr>
            <a:spLocks noGrp="1" noRot="1" noChangeAspect="1" noChangeArrowheads="1" noTextEdit="1"/>
          </p:cNvSpPr>
          <p:nvPr>
            <p:ph type="sldImg"/>
          </p:nvPr>
        </p:nvSpPr>
        <p:spPr bwMode="auto">
          <a:xfrm>
            <a:off x="1184275" y="704850"/>
            <a:ext cx="4616450" cy="3463925"/>
          </a:xfrm>
          <a:prstGeom prst="rect">
            <a:avLst/>
          </a:prstGeom>
          <a:noFill/>
          <a:ln w="12700" cap="flat">
            <a:solidFill>
              <a:schemeClr val="tx1"/>
            </a:solidFill>
            <a:miter lim="800000"/>
            <a:headEnd/>
            <a:tailEnd/>
          </a:ln>
        </p:spPr>
      </p:sp>
    </p:spTree>
    <p:extLst>
      <p:ext uri="{BB962C8B-B14F-4D97-AF65-F5344CB8AC3E}">
        <p14:creationId xmlns:p14="http://schemas.microsoft.com/office/powerpoint/2010/main" val="2090488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body" idx="1"/>
          </p:nvPr>
        </p:nvSpPr>
        <p:spPr bwMode="auto">
          <a:xfrm>
            <a:off x="932244" y="4410065"/>
            <a:ext cx="5120514" cy="4175209"/>
          </a:xfrm>
          <a:prstGeom prst="rect">
            <a:avLst/>
          </a:prstGeom>
          <a:noFill/>
          <a:ln w="12700">
            <a:miter lim="800000"/>
            <a:headEnd/>
            <a:tailEnd/>
          </a:ln>
        </p:spPr>
        <p:txBody>
          <a:bodyPr lIns="93540" tIns="45949" rIns="93540" bIns="45949"/>
          <a:lstStyle/>
          <a:p>
            <a:r>
              <a:rPr lang="en-US" dirty="0"/>
              <a:t>For lecture</a:t>
            </a:r>
          </a:p>
          <a:p>
            <a:endParaRPr lang="en-US" dirty="0"/>
          </a:p>
          <a:p>
            <a:r>
              <a:rPr lang="en-US" dirty="0"/>
              <a:t>0x00400020		4	16	17	2</a:t>
            </a:r>
          </a:p>
          <a:p>
            <a:r>
              <a:rPr lang="en-US" dirty="0"/>
              <a:t>0x00400024		0	16	17	19	0	32</a:t>
            </a:r>
          </a:p>
          <a:p>
            <a:r>
              <a:rPr lang="en-US" dirty="0"/>
              <a:t>0x00400028		2	0000 0100 0000 0000 0000 0011 00 = (0) 0x040003 00(00)	</a:t>
            </a:r>
          </a:p>
          <a:p>
            <a:r>
              <a:rPr lang="en-US" dirty="0"/>
              <a:t>0x0040002c		0	16	17	19	0	34</a:t>
            </a:r>
          </a:p>
          <a:p>
            <a:r>
              <a:rPr lang="en-US" dirty="0" smtClean="0"/>
              <a:t>0x00400030</a:t>
            </a:r>
            <a:r>
              <a:rPr lang="en-US" dirty="0"/>
              <a:t>		. . </a:t>
            </a:r>
            <a:r>
              <a:rPr lang="en-US" dirty="0" smtClean="0"/>
              <a:t>.</a:t>
            </a:r>
          </a:p>
          <a:p>
            <a:endParaRPr lang="en-US" dirty="0" smtClean="0"/>
          </a:p>
          <a:p>
            <a:r>
              <a:rPr lang="en-US" dirty="0" smtClean="0"/>
              <a:t>Note: for the jump address the decimal number is 32+8 +8 = 48; which is 3 in Hex notation. So, the</a:t>
            </a:r>
            <a:r>
              <a:rPr lang="en-US" baseline="0" dirty="0" smtClean="0"/>
              <a:t> address is 0x00400030.</a:t>
            </a:r>
            <a:endParaRPr lang="en-US" dirty="0"/>
          </a:p>
        </p:txBody>
      </p:sp>
      <p:sp>
        <p:nvSpPr>
          <p:cNvPr id="349187" name="Rectangle 3"/>
          <p:cNvSpPr>
            <a:spLocks noGrp="1" noRot="1" noChangeAspect="1" noChangeArrowheads="1" noTextEdit="1"/>
          </p:cNvSpPr>
          <p:nvPr>
            <p:ph type="sldImg"/>
          </p:nvPr>
        </p:nvSpPr>
        <p:spPr bwMode="auto">
          <a:xfrm>
            <a:off x="1184275" y="704850"/>
            <a:ext cx="4616450" cy="3463925"/>
          </a:xfrm>
          <a:prstGeom prst="rect">
            <a:avLst/>
          </a:prstGeom>
          <a:noFill/>
          <a:ln w="12700" cap="flat">
            <a:solidFill>
              <a:schemeClr val="tx1"/>
            </a:solidFill>
            <a:miter lim="800000"/>
            <a:headEnd/>
            <a:tailEnd/>
          </a:ln>
        </p:spPr>
      </p:sp>
    </p:spTree>
    <p:extLst>
      <p:ext uri="{BB962C8B-B14F-4D97-AF65-F5344CB8AC3E}">
        <p14:creationId xmlns:p14="http://schemas.microsoft.com/office/powerpoint/2010/main" val="659097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Rot="1" noChangeAspect="1" noChangeArrowheads="1" noTextEdit="1"/>
          </p:cNvSpPr>
          <p:nvPr>
            <p:ph type="sldImg"/>
          </p:nvPr>
        </p:nvSpPr>
        <p:spPr/>
      </p:sp>
      <p:sp>
        <p:nvSpPr>
          <p:cNvPr id="312323" name="Rectangle 3"/>
          <p:cNvSpPr>
            <a:spLocks noGrp="1" noChangeArrowheads="1"/>
          </p:cNvSpPr>
          <p:nvPr>
            <p:ph type="body" idx="1"/>
          </p:nvPr>
        </p:nvSpPr>
        <p:spPr>
          <a:ln/>
        </p:spPr>
        <p:txBody>
          <a:bodyPr/>
          <a:lstStyle/>
          <a:p>
            <a:r>
              <a:rPr lang="en-US"/>
              <a:t>For class handout</a:t>
            </a:r>
          </a:p>
        </p:txBody>
      </p:sp>
    </p:spTree>
    <p:extLst>
      <p:ext uri="{BB962C8B-B14F-4D97-AF65-F5344CB8AC3E}">
        <p14:creationId xmlns:p14="http://schemas.microsoft.com/office/powerpoint/2010/main" val="14749060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Rot="1" noChangeAspect="1" noChangeArrowheads="1" noTextEdit="1"/>
          </p:cNvSpPr>
          <p:nvPr>
            <p:ph type="sldImg"/>
          </p:nvPr>
        </p:nvSpPr>
        <p:spPr/>
      </p:sp>
      <p:sp>
        <p:nvSpPr>
          <p:cNvPr id="351235" name="Rectangle 3"/>
          <p:cNvSpPr>
            <a:spLocks noGrp="1" noChangeArrowheads="1"/>
          </p:cNvSpPr>
          <p:nvPr>
            <p:ph type="body" idx="1"/>
          </p:nvPr>
        </p:nvSpPr>
        <p:spPr>
          <a:ln/>
        </p:spPr>
        <p:txBody>
          <a:bodyPr/>
          <a:lstStyle/>
          <a:p>
            <a:r>
              <a:rPr lang="en-US"/>
              <a:t>For lecture</a:t>
            </a:r>
          </a:p>
          <a:p>
            <a:endParaRPr lang="en-US"/>
          </a:p>
          <a:p>
            <a:r>
              <a:rPr lang="en-US"/>
              <a:t>Loop	beq	$s0, $s2, Exit</a:t>
            </a:r>
          </a:p>
          <a:p>
            <a:r>
              <a:rPr lang="en-US"/>
              <a:t>	add	$s0, $s0, $s1</a:t>
            </a:r>
          </a:p>
          <a:p>
            <a:r>
              <a:rPr lang="en-US"/>
              <a:t>	j	Loop</a:t>
            </a:r>
          </a:p>
          <a:p>
            <a:r>
              <a:rPr lang="en-US"/>
              <a:t>Exit:	. . .</a:t>
            </a:r>
          </a:p>
        </p:txBody>
      </p:sp>
    </p:spTree>
    <p:extLst>
      <p:ext uri="{BB962C8B-B14F-4D97-AF65-F5344CB8AC3E}">
        <p14:creationId xmlns:p14="http://schemas.microsoft.com/office/powerpoint/2010/main" val="21094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Rot="1" noChangeAspect="1" noChangeArrowheads="1" noTextEdit="1"/>
          </p:cNvSpPr>
          <p:nvPr>
            <p:ph type="sldImg"/>
          </p:nvPr>
        </p:nvSpPr>
        <p:spPr bwMode="auto">
          <a:xfrm>
            <a:off x="1274763" y="617538"/>
            <a:ext cx="4781550" cy="3586162"/>
          </a:xfrm>
          <a:prstGeom prst="rect">
            <a:avLst/>
          </a:prstGeom>
          <a:solidFill>
            <a:srgbClr val="FFFFFF"/>
          </a:solidFill>
          <a:ln>
            <a:solidFill>
              <a:srgbClr val="000000"/>
            </a:solidFill>
            <a:miter lim="800000"/>
            <a:headEnd/>
            <a:tailEnd/>
          </a:ln>
        </p:spPr>
      </p:sp>
      <p:sp>
        <p:nvSpPr>
          <p:cNvPr id="448515" name="Rectangle 3"/>
          <p:cNvSpPr>
            <a:spLocks noGrp="1" noChangeArrowheads="1"/>
          </p:cNvSpPr>
          <p:nvPr>
            <p:ph type="body" idx="1"/>
          </p:nvPr>
        </p:nvSpPr>
        <p:spPr bwMode="auto">
          <a:xfrm>
            <a:off x="550863" y="4560888"/>
            <a:ext cx="6303962" cy="4318000"/>
          </a:xfrm>
          <a:prstGeom prst="rect">
            <a:avLst/>
          </a:prstGeom>
          <a:solidFill>
            <a:srgbClr val="FFFFFF"/>
          </a:solidFill>
          <a:ln>
            <a:solidFill>
              <a:srgbClr val="000000"/>
            </a:solidFill>
            <a:miter lim="800000"/>
            <a:headEnd/>
            <a:tailEnd/>
          </a:ln>
        </p:spPr>
        <p:txBody>
          <a:bodyPr lIns="98288" tIns="49144" rIns="98288" bIns="49144"/>
          <a:lstStyle/>
          <a:p>
            <a:endParaRPr lang="en-US"/>
          </a:p>
        </p:txBody>
      </p:sp>
    </p:spTree>
    <p:extLst>
      <p:ext uri="{BB962C8B-B14F-4D97-AF65-F5344CB8AC3E}">
        <p14:creationId xmlns:p14="http://schemas.microsoft.com/office/powerpoint/2010/main" val="1283672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Rot="1" noChangeAspect="1" noChangeArrowheads="1" noTextEdit="1"/>
          </p:cNvSpPr>
          <p:nvPr>
            <p:ph type="sldImg"/>
          </p:nvPr>
        </p:nvSpPr>
        <p:spPr>
          <a:xfrm>
            <a:off x="1273175" y="617538"/>
            <a:ext cx="4781550" cy="3586162"/>
          </a:xfrm>
        </p:spPr>
      </p:sp>
      <p:sp>
        <p:nvSpPr>
          <p:cNvPr id="420867" name="Rectangle 3"/>
          <p:cNvSpPr>
            <a:spLocks noGrp="1" noChangeArrowheads="1"/>
          </p:cNvSpPr>
          <p:nvPr>
            <p:ph type="body" idx="1"/>
          </p:nvPr>
        </p:nvSpPr>
        <p:spPr>
          <a:ln/>
        </p:spPr>
        <p:txBody>
          <a:bodyPr lIns="98288" tIns="49144" rIns="98288" bIns="49144"/>
          <a:lstStyle/>
          <a:p>
            <a:endParaRPr lang="en-US"/>
          </a:p>
        </p:txBody>
      </p:sp>
    </p:spTree>
    <p:extLst>
      <p:ext uri="{BB962C8B-B14F-4D97-AF65-F5344CB8AC3E}">
        <p14:creationId xmlns:p14="http://schemas.microsoft.com/office/powerpoint/2010/main" val="302793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body" idx="1"/>
          </p:nvPr>
        </p:nvSpPr>
        <p:spPr>
          <a:xfrm>
            <a:off x="550863" y="4560888"/>
            <a:ext cx="6302375" cy="4319587"/>
          </a:xfrm>
          <a:ln>
            <a:noFill/>
          </a:ln>
        </p:spPr>
        <p:txBody>
          <a:bodyPr lIns="97981" tIns="48130" rIns="97981" bIns="48130"/>
          <a:lstStyle/>
          <a:p>
            <a:endParaRPr lang="zh-CN" altLang="en-US"/>
          </a:p>
        </p:txBody>
      </p:sp>
      <p:sp>
        <p:nvSpPr>
          <p:cNvPr id="422915" name="Rectangle 3"/>
          <p:cNvSpPr>
            <a:spLocks noGrp="1" noRot="1" noChangeAspect="1" noChangeArrowheads="1" noTextEdit="1"/>
          </p:cNvSpPr>
          <p:nvPr>
            <p:ph type="sldImg"/>
          </p:nvPr>
        </p:nvSpPr>
        <p:spPr>
          <a:xfrm>
            <a:off x="1273175" y="615950"/>
            <a:ext cx="4783138" cy="3587750"/>
          </a:xfrm>
          <a:ln/>
        </p:spPr>
      </p:sp>
    </p:spTree>
    <p:extLst>
      <p:ext uri="{BB962C8B-B14F-4D97-AF65-F5344CB8AC3E}">
        <p14:creationId xmlns:p14="http://schemas.microsoft.com/office/powerpoint/2010/main" val="1706604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60663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Rot="1" noChangeAspect="1" noChangeArrowheads="1" noTextEdit="1"/>
          </p:cNvSpPr>
          <p:nvPr>
            <p:ph type="sldImg"/>
          </p:nvPr>
        </p:nvSpPr>
        <p:spPr bwMode="auto">
          <a:xfrm>
            <a:off x="1184275" y="704850"/>
            <a:ext cx="4616450" cy="3463925"/>
          </a:xfrm>
          <a:prstGeom prst="rect">
            <a:avLst/>
          </a:prstGeom>
          <a:noFill/>
          <a:ln w="12700" cap="flat">
            <a:solidFill>
              <a:schemeClr val="tx1"/>
            </a:solidFill>
            <a:miter lim="800000"/>
            <a:headEnd/>
            <a:tailEnd/>
          </a:ln>
        </p:spPr>
      </p:sp>
      <p:sp>
        <p:nvSpPr>
          <p:cNvPr id="308227" name="Rectangle 3"/>
          <p:cNvSpPr>
            <a:spLocks noGrp="1" noChangeArrowheads="1"/>
          </p:cNvSpPr>
          <p:nvPr>
            <p:ph type="body" idx="1"/>
          </p:nvPr>
        </p:nvSpPr>
        <p:spPr bwMode="auto">
          <a:xfrm>
            <a:off x="439595" y="4924291"/>
            <a:ext cx="4733975" cy="491201"/>
          </a:xfrm>
          <a:prstGeom prst="rect">
            <a:avLst/>
          </a:prstGeom>
          <a:noFill/>
          <a:ln w="12700">
            <a:miter lim="800000"/>
            <a:headEnd/>
            <a:tailEnd/>
          </a:ln>
        </p:spPr>
        <p:txBody>
          <a:bodyPr wrap="none" lIns="19693" tIns="27898" rIns="19693" bIns="27898"/>
          <a:lstStyle/>
          <a:p>
            <a:pPr>
              <a:lnSpc>
                <a:spcPts val="1731"/>
              </a:lnSpc>
              <a:spcBef>
                <a:spcPct val="0"/>
              </a:spcBef>
              <a:buClr>
                <a:srgbClr val="000000"/>
              </a:buClr>
              <a:tabLst>
                <a:tab pos="439689" algn="l"/>
                <a:tab pos="879378" algn="l"/>
                <a:tab pos="1319068" algn="l"/>
              </a:tabLst>
            </a:pPr>
            <a:endParaRPr lang="en-US">
              <a:solidFill>
                <a:srgbClr val="000000"/>
              </a:solidFill>
            </a:endParaRPr>
          </a:p>
        </p:txBody>
      </p:sp>
    </p:spTree>
    <p:extLst>
      <p:ext uri="{BB962C8B-B14F-4D97-AF65-F5344CB8AC3E}">
        <p14:creationId xmlns:p14="http://schemas.microsoft.com/office/powerpoint/2010/main" val="698279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Rot="1" noChangeAspect="1" noChangeArrowheads="1" noTextEdit="1"/>
          </p:cNvSpPr>
          <p:nvPr>
            <p:ph type="sldImg"/>
          </p:nvPr>
        </p:nvSpPr>
        <p:spPr/>
      </p:sp>
      <p:sp>
        <p:nvSpPr>
          <p:cNvPr id="314371" name="Rectangle 3"/>
          <p:cNvSpPr>
            <a:spLocks noGrp="1" noChangeArrowheads="1"/>
          </p:cNvSpPr>
          <p:nvPr>
            <p:ph type="body" idx="1"/>
          </p:nvPr>
        </p:nvSpPr>
        <p:spPr>
          <a:ln/>
        </p:spPr>
        <p:txBody>
          <a:bodyPr/>
          <a:lstStyle/>
          <a:p>
            <a:r>
              <a:rPr lang="en-US"/>
              <a:t>Skips the code to check first to make sure k is in the range of 0 to 2</a:t>
            </a:r>
          </a:p>
        </p:txBody>
      </p:sp>
    </p:spTree>
    <p:extLst>
      <p:ext uri="{BB962C8B-B14F-4D97-AF65-F5344CB8AC3E}">
        <p14:creationId xmlns:p14="http://schemas.microsoft.com/office/powerpoint/2010/main" val="8082602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Rot="1" noChangeAspect="1" noChangeArrowheads="1" noTextEdit="1"/>
          </p:cNvSpPr>
          <p:nvPr>
            <p:ph type="sldImg"/>
          </p:nvPr>
        </p:nvSpPr>
        <p:spPr/>
      </p:sp>
      <p:sp>
        <p:nvSpPr>
          <p:cNvPr id="452611" name="Rectangle 3"/>
          <p:cNvSpPr>
            <a:spLocks noGrp="1" noChangeArrowheads="1"/>
          </p:cNvSpPr>
          <p:nvPr>
            <p:ph type="body" idx="1"/>
          </p:nvPr>
        </p:nvSpPr>
        <p:spPr>
          <a:ln/>
        </p:spPr>
        <p:txBody>
          <a:bodyPr/>
          <a:lstStyle/>
          <a:p>
            <a:r>
              <a:rPr lang="en-US"/>
              <a:t>For class handout</a:t>
            </a:r>
          </a:p>
        </p:txBody>
      </p:sp>
    </p:spTree>
    <p:extLst>
      <p:ext uri="{BB962C8B-B14F-4D97-AF65-F5344CB8AC3E}">
        <p14:creationId xmlns:p14="http://schemas.microsoft.com/office/powerpoint/2010/main" val="875314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Rot="1" noChangeAspect="1" noChangeArrowheads="1" noTextEdit="1"/>
          </p:cNvSpPr>
          <p:nvPr>
            <p:ph type="sldImg"/>
          </p:nvPr>
        </p:nvSpPr>
        <p:spPr/>
      </p:sp>
      <p:sp>
        <p:nvSpPr>
          <p:cNvPr id="454659" name="Rectangle 3"/>
          <p:cNvSpPr>
            <a:spLocks noGrp="1" noChangeArrowheads="1"/>
          </p:cNvSpPr>
          <p:nvPr>
            <p:ph type="body" idx="1"/>
          </p:nvPr>
        </p:nvSpPr>
        <p:spPr>
          <a:ln/>
        </p:spPr>
        <p:txBody>
          <a:bodyPr/>
          <a:lstStyle/>
          <a:p>
            <a:r>
              <a:rPr lang="en-US"/>
              <a:t>For lecture</a:t>
            </a:r>
          </a:p>
        </p:txBody>
      </p:sp>
    </p:spTree>
    <p:extLst>
      <p:ext uri="{BB962C8B-B14F-4D97-AF65-F5344CB8AC3E}">
        <p14:creationId xmlns:p14="http://schemas.microsoft.com/office/powerpoint/2010/main" val="9917901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Rot="1" noChangeAspect="1" noChangeArrowheads="1" noTextEdit="1"/>
          </p:cNvSpPr>
          <p:nvPr>
            <p:ph type="sldImg"/>
          </p:nvPr>
        </p:nvSpPr>
        <p:spPr/>
      </p:sp>
      <p:sp>
        <p:nvSpPr>
          <p:cNvPr id="377859" name="Rectangle 3"/>
          <p:cNvSpPr>
            <a:spLocks noGrp="1" noChangeArrowheads="1"/>
          </p:cNvSpPr>
          <p:nvPr>
            <p:ph type="body" idx="1"/>
          </p:nvPr>
        </p:nvSpPr>
        <p:spPr>
          <a:xfrm>
            <a:off x="525998" y="4410065"/>
            <a:ext cx="6017893" cy="4175209"/>
          </a:xfrm>
          <a:ln/>
        </p:spPr>
        <p:txBody>
          <a:bodyPr/>
          <a:lstStyle/>
          <a:p>
            <a:r>
              <a:rPr lang="en-US"/>
              <a:t>barriers concept is important!!</a:t>
            </a:r>
          </a:p>
        </p:txBody>
      </p:sp>
    </p:spTree>
    <p:extLst>
      <p:ext uri="{BB962C8B-B14F-4D97-AF65-F5344CB8AC3E}">
        <p14:creationId xmlns:p14="http://schemas.microsoft.com/office/powerpoint/2010/main" val="11905900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body" idx="1"/>
          </p:nvPr>
        </p:nvSpPr>
        <p:spPr>
          <a:xfrm>
            <a:off x="932244" y="4410065"/>
            <a:ext cx="5120514" cy="4175209"/>
          </a:xfrm>
          <a:noFill/>
          <a:ln>
            <a:noFill/>
          </a:ln>
        </p:spPr>
        <p:txBody>
          <a:bodyPr lIns="95846" tIns="47082" rIns="95846" bIns="47082"/>
          <a:lstStyle/>
          <a:p>
            <a:r>
              <a:rPr lang="en-US"/>
              <a:t>jr jumps to the address stored in the register – in this case $ra – which is just what we want.</a:t>
            </a:r>
          </a:p>
        </p:txBody>
      </p:sp>
      <p:sp>
        <p:nvSpPr>
          <p:cNvPr id="380931" name="Rectangle 3"/>
          <p:cNvSpPr>
            <a:spLocks noGrp="1" noRot="1" noChangeAspect="1" noChangeArrowheads="1" noTextEdit="1"/>
          </p:cNvSpPr>
          <p:nvPr>
            <p:ph type="sldImg"/>
          </p:nvPr>
        </p:nvSpPr>
        <p:spPr>
          <a:xfrm>
            <a:off x="1184275" y="704850"/>
            <a:ext cx="4618038" cy="3463925"/>
          </a:xfrm>
          <a:ln cap="flat">
            <a:solidFill>
              <a:schemeClr val="tx1"/>
            </a:solidFill>
          </a:ln>
        </p:spPr>
      </p:sp>
    </p:spTree>
    <p:extLst>
      <p:ext uri="{BB962C8B-B14F-4D97-AF65-F5344CB8AC3E}">
        <p14:creationId xmlns:p14="http://schemas.microsoft.com/office/powerpoint/2010/main" val="1540605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Rot="1" noChangeAspect="1" noChangeArrowheads="1" noTextEdit="1"/>
          </p:cNvSpPr>
          <p:nvPr>
            <p:ph type="sldImg"/>
          </p:nvPr>
        </p:nvSpPr>
        <p:spPr/>
      </p:sp>
      <p:sp>
        <p:nvSpPr>
          <p:cNvPr id="382979" name="Rectangle 3"/>
          <p:cNvSpPr>
            <a:spLocks noGrp="1" noChangeArrowheads="1"/>
          </p:cNvSpPr>
          <p:nvPr>
            <p:ph type="body" idx="1"/>
          </p:nvPr>
        </p:nvSpPr>
        <p:spPr>
          <a:xfrm>
            <a:off x="525998" y="4410065"/>
            <a:ext cx="6017893" cy="4175209"/>
          </a:xfrm>
          <a:ln/>
        </p:spPr>
        <p:txBody>
          <a:bodyPr lIns="95244" tIns="47621" rIns="95244" bIns="47621"/>
          <a:lstStyle/>
          <a:p>
            <a:r>
              <a:rPr lang="en-US"/>
              <a:t>Note that temporary registers $t0 through $t9 can also be used as by MIPS convention they are not preserved by the callee (kept intact) across subroutine boundaries</a:t>
            </a:r>
          </a:p>
          <a:p>
            <a:endParaRPr lang="en-US"/>
          </a:p>
          <a:p>
            <a:r>
              <a:rPr lang="en-US"/>
              <a:t>However, saved registers $s0 through $s7 must be preserved by the calle - I.e., if the callee uses one, it must first save it and then restore it to its old value before returning control to the caller</a:t>
            </a:r>
          </a:p>
        </p:txBody>
      </p:sp>
    </p:spTree>
    <p:extLst>
      <p:ext uri="{BB962C8B-B14F-4D97-AF65-F5344CB8AC3E}">
        <p14:creationId xmlns:p14="http://schemas.microsoft.com/office/powerpoint/2010/main" val="9221701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p:sp>
      <p:sp>
        <p:nvSpPr>
          <p:cNvPr id="445443" name="Rectangle 3"/>
          <p:cNvSpPr>
            <a:spLocks noGrp="1" noChangeArrowheads="1"/>
          </p:cNvSpPr>
          <p:nvPr>
            <p:ph type="body" idx="1"/>
          </p:nvPr>
        </p:nvSpPr>
        <p:spPr>
          <a:ln/>
        </p:spPr>
        <p:txBody>
          <a:bodyPr/>
          <a:lstStyle/>
          <a:p>
            <a:r>
              <a:rPr lang="en-US"/>
              <a:t>On the other hand, the stack pointer (sp) might change during the procedure (not the case for all of our examples) so references to a local variable in memory might have different offsets wrt the sp depending on where they are in the procedure.</a:t>
            </a:r>
          </a:p>
        </p:txBody>
      </p:sp>
    </p:spTree>
    <p:extLst>
      <p:ext uri="{BB962C8B-B14F-4D97-AF65-F5344CB8AC3E}">
        <p14:creationId xmlns:p14="http://schemas.microsoft.com/office/powerpoint/2010/main" val="1821111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Rot="1" noChangeAspect="1" noChangeArrowheads="1" noTextEdit="1"/>
          </p:cNvSpPr>
          <p:nvPr>
            <p:ph type="sldImg"/>
          </p:nvPr>
        </p:nvSpPr>
        <p:spPr/>
      </p:sp>
      <p:sp>
        <p:nvSpPr>
          <p:cNvPr id="446467" name="Rectangle 3"/>
          <p:cNvSpPr>
            <a:spLocks noGrp="1" noChangeArrowheads="1"/>
          </p:cNvSpPr>
          <p:nvPr>
            <p:ph type="body" idx="1"/>
          </p:nvPr>
        </p:nvSpPr>
        <p:spPr>
          <a:ln/>
        </p:spPr>
        <p:txBody>
          <a:bodyPr/>
          <a:lstStyle/>
          <a:p>
            <a:r>
              <a:rPr lang="en-US"/>
              <a:t>Stack and heap grow towards each other.</a:t>
            </a:r>
          </a:p>
          <a:p>
            <a:r>
              <a:rPr lang="en-US"/>
              <a:t>Malloc() allocates space on the heap and returns a pointer to it.  Memory allocation is controlled by programs (in C) and is the source of many common and difficult bugs.  Forgetting to free space leads to “memory leak” and the need for “garbage collection” and freeing space to early to “dangling pointers”.</a:t>
            </a:r>
          </a:p>
        </p:txBody>
      </p:sp>
    </p:spTree>
    <p:extLst>
      <p:ext uri="{BB962C8B-B14F-4D97-AF65-F5344CB8AC3E}">
        <p14:creationId xmlns:p14="http://schemas.microsoft.com/office/powerpoint/2010/main" val="10787240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Rot="1" noChangeAspect="1" noChangeArrowheads="1" noTextEdit="1"/>
          </p:cNvSpPr>
          <p:nvPr>
            <p:ph type="sldImg"/>
          </p:nvPr>
        </p:nvSpPr>
        <p:spPr/>
      </p:sp>
      <p:sp>
        <p:nvSpPr>
          <p:cNvPr id="387075" name="Rectangle 3"/>
          <p:cNvSpPr>
            <a:spLocks noGrp="1" noChangeArrowheads="1"/>
          </p:cNvSpPr>
          <p:nvPr>
            <p:ph type="body" idx="1"/>
          </p:nvPr>
        </p:nvSpPr>
        <p:spPr>
          <a:xfrm>
            <a:off x="525998" y="4410065"/>
            <a:ext cx="6017893" cy="4175209"/>
          </a:xfrm>
          <a:ln/>
        </p:spPr>
        <p:txBody>
          <a:bodyPr lIns="95244" tIns="47621" rIns="95244" bIns="47621"/>
          <a:lstStyle/>
          <a:p>
            <a:r>
              <a:rPr lang="en-US"/>
              <a:t>For class handout</a:t>
            </a:r>
          </a:p>
        </p:txBody>
      </p:sp>
    </p:spTree>
    <p:extLst>
      <p:ext uri="{BB962C8B-B14F-4D97-AF65-F5344CB8AC3E}">
        <p14:creationId xmlns:p14="http://schemas.microsoft.com/office/powerpoint/2010/main" val="15807934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Rot="1" noChangeAspect="1" noChangeArrowheads="1" noTextEdit="1"/>
          </p:cNvSpPr>
          <p:nvPr>
            <p:ph type="sldImg"/>
          </p:nvPr>
        </p:nvSpPr>
        <p:spPr/>
      </p:sp>
      <p:sp>
        <p:nvSpPr>
          <p:cNvPr id="427011" name="Rectangle 3"/>
          <p:cNvSpPr>
            <a:spLocks noGrp="1" noChangeArrowheads="1"/>
          </p:cNvSpPr>
          <p:nvPr>
            <p:ph type="body" idx="1"/>
          </p:nvPr>
        </p:nvSpPr>
        <p:spPr>
          <a:xfrm>
            <a:off x="525998" y="4410065"/>
            <a:ext cx="6017893" cy="4175209"/>
          </a:xfrm>
          <a:ln/>
        </p:spPr>
        <p:txBody>
          <a:bodyPr lIns="95244" tIns="47621" rIns="95244" bIns="47621"/>
          <a:lstStyle/>
          <a:p>
            <a:r>
              <a:rPr lang="en-US" dirty="0"/>
              <a:t>For lecture</a:t>
            </a:r>
          </a:p>
          <a:p>
            <a:endParaRPr lang="en-US" dirty="0"/>
          </a:p>
          <a:p>
            <a:r>
              <a:rPr lang="en-US" dirty="0"/>
              <a:t>When using temporary registers, must assume their old values must be saved and restored</a:t>
            </a:r>
            <a:r>
              <a:rPr lang="en-US" dirty="0" smtClean="0"/>
              <a:t>.</a:t>
            </a:r>
          </a:p>
          <a:p>
            <a:r>
              <a:rPr lang="en-US" dirty="0" smtClean="0"/>
              <a:t>(But the convention is to not expect them to be</a:t>
            </a:r>
            <a:r>
              <a:rPr lang="en-US" baseline="0" dirty="0" smtClean="0"/>
              <a:t> saved, so don’t really have to go through the stack pushing and popping.)</a:t>
            </a:r>
            <a:endParaRPr lang="en-US" dirty="0"/>
          </a:p>
          <a:p>
            <a:r>
              <a:rPr lang="en-US" dirty="0"/>
              <a:t>Show the stack contents on the board as you progress through the code</a:t>
            </a:r>
          </a:p>
        </p:txBody>
      </p:sp>
    </p:spTree>
    <p:extLst>
      <p:ext uri="{BB962C8B-B14F-4D97-AF65-F5344CB8AC3E}">
        <p14:creationId xmlns:p14="http://schemas.microsoft.com/office/powerpoint/2010/main" val="854813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xfrm>
            <a:off x="3884613" y="8685213"/>
            <a:ext cx="2971800" cy="457200"/>
          </a:xfrm>
          <a:prstGeom prst="rect">
            <a:avLst/>
          </a:prstGeom>
          <a:noFill/>
        </p:spPr>
        <p:txBody>
          <a:bodyPr/>
          <a:lstStyle/>
          <a:p>
            <a:fld id="{8BC1505D-834D-423D-AB8C-A5707B81ECAF}" type="slidenum">
              <a:rPr lang="en-US" smtClean="0"/>
              <a:pPr/>
              <a:t>42</a:t>
            </a:fld>
            <a:endParaRPr lang="en-US" smtClean="0"/>
          </a:p>
        </p:txBody>
      </p:sp>
      <p:sp>
        <p:nvSpPr>
          <p:cNvPr id="64515" name="Rectangle 2"/>
          <p:cNvSpPr>
            <a:spLocks noGrp="1" noRot="1" noChangeAspect="1" noChangeArrowheads="1" noTextEdit="1"/>
          </p:cNvSpPr>
          <p:nvPr>
            <p:ph type="sldImg"/>
          </p:nvPr>
        </p:nvSpPr>
        <p:spPr>
          <a:xfrm>
            <a:off x="1158875" y="587375"/>
            <a:ext cx="4554538" cy="3416300"/>
          </a:xfrm>
          <a:ln/>
        </p:spPr>
      </p:sp>
      <p:sp>
        <p:nvSpPr>
          <p:cNvPr id="64516" name="Rectangle 3"/>
          <p:cNvSpPr>
            <a:spLocks noGrp="1" noChangeArrowheads="1"/>
          </p:cNvSpPr>
          <p:nvPr>
            <p:ph type="body" idx="1"/>
          </p:nvPr>
        </p:nvSpPr>
        <p:spPr>
          <a:xfrm>
            <a:off x="515938" y="4343400"/>
            <a:ext cx="5910262" cy="4113213"/>
          </a:xfrm>
          <a:noFill/>
          <a:ln/>
        </p:spPr>
        <p:txBody>
          <a:bodyPr lIns="91430" tIns="45715" rIns="91430" bIns="45715"/>
          <a:lstStyle/>
          <a:p>
            <a:r>
              <a:rPr lang="en-US" smtClean="0"/>
              <a:t>Note, no need to load $ra, and $a0, since they have not changed values (expect when n is &gt;= to 1 as on next page)</a:t>
            </a:r>
          </a:p>
        </p:txBody>
      </p:sp>
    </p:spTree>
    <p:extLst>
      <p:ext uri="{BB962C8B-B14F-4D97-AF65-F5344CB8AC3E}">
        <p14:creationId xmlns:p14="http://schemas.microsoft.com/office/powerpoint/2010/main" val="11530743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xfrm>
            <a:off x="3884613" y="8685213"/>
            <a:ext cx="2971800" cy="457200"/>
          </a:xfrm>
          <a:prstGeom prst="rect">
            <a:avLst/>
          </a:prstGeom>
          <a:noFill/>
        </p:spPr>
        <p:txBody>
          <a:bodyPr/>
          <a:lstStyle/>
          <a:p>
            <a:fld id="{96098F7D-EC05-461A-9919-C4E388D832E4}" type="slidenum">
              <a:rPr lang="en-US" smtClean="0"/>
              <a:pPr/>
              <a:t>43</a:t>
            </a:fld>
            <a:endParaRPr lang="en-US" smtClean="0"/>
          </a:p>
        </p:txBody>
      </p:sp>
      <p:sp>
        <p:nvSpPr>
          <p:cNvPr id="65539" name="Rectangle 2"/>
          <p:cNvSpPr>
            <a:spLocks noGrp="1" noRot="1" noChangeAspect="1" noChangeArrowheads="1" noTextEdit="1"/>
          </p:cNvSpPr>
          <p:nvPr>
            <p:ph type="sldImg"/>
          </p:nvPr>
        </p:nvSpPr>
        <p:spPr>
          <a:xfrm>
            <a:off x="1158875" y="587375"/>
            <a:ext cx="4554538" cy="3416300"/>
          </a:xfrm>
          <a:ln/>
        </p:spPr>
      </p:sp>
      <p:sp>
        <p:nvSpPr>
          <p:cNvPr id="65540"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18842729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xfrm>
            <a:off x="3884613" y="8685213"/>
            <a:ext cx="2971800" cy="457200"/>
          </a:xfrm>
          <a:prstGeom prst="rect">
            <a:avLst/>
          </a:prstGeom>
          <a:noFill/>
        </p:spPr>
        <p:txBody>
          <a:bodyPr/>
          <a:lstStyle/>
          <a:p>
            <a:fld id="{0572EC16-01C5-4193-B087-6799D487F768}" type="slidenum">
              <a:rPr lang="en-US" smtClean="0"/>
              <a:pPr/>
              <a:t>44</a:t>
            </a:fld>
            <a:endParaRPr lang="en-US" smtClean="0"/>
          </a:p>
        </p:txBody>
      </p:sp>
      <p:sp>
        <p:nvSpPr>
          <p:cNvPr id="66563" name="Rectangle 2"/>
          <p:cNvSpPr>
            <a:spLocks noGrp="1" noRot="1" noChangeAspect="1" noChangeArrowheads="1" noTextEdit="1"/>
          </p:cNvSpPr>
          <p:nvPr>
            <p:ph type="sldImg"/>
          </p:nvPr>
        </p:nvSpPr>
        <p:spPr>
          <a:xfrm>
            <a:off x="1158875" y="587375"/>
            <a:ext cx="4554538" cy="3416300"/>
          </a:xfrm>
          <a:ln/>
        </p:spPr>
      </p:sp>
      <p:sp>
        <p:nvSpPr>
          <p:cNvPr id="66564"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16326284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xfrm>
            <a:off x="3884613" y="8685213"/>
            <a:ext cx="2971800" cy="457200"/>
          </a:xfrm>
          <a:prstGeom prst="rect">
            <a:avLst/>
          </a:prstGeom>
          <a:noFill/>
        </p:spPr>
        <p:txBody>
          <a:bodyPr/>
          <a:lstStyle/>
          <a:p>
            <a:fld id="{C4FA3183-7470-4BE5-9DA0-45E41D3E91F8}" type="slidenum">
              <a:rPr lang="en-US" smtClean="0"/>
              <a:pPr/>
              <a:t>45</a:t>
            </a:fld>
            <a:endParaRPr lang="en-US" smtClean="0"/>
          </a:p>
        </p:txBody>
      </p:sp>
      <p:sp>
        <p:nvSpPr>
          <p:cNvPr id="67587" name="Rectangle 2"/>
          <p:cNvSpPr>
            <a:spLocks noGrp="1" noRot="1" noChangeAspect="1" noChangeArrowheads="1" noTextEdit="1"/>
          </p:cNvSpPr>
          <p:nvPr>
            <p:ph type="sldImg"/>
          </p:nvPr>
        </p:nvSpPr>
        <p:spPr>
          <a:xfrm>
            <a:off x="1158875" y="587375"/>
            <a:ext cx="4554538" cy="3416300"/>
          </a:xfrm>
          <a:ln/>
        </p:spPr>
      </p:sp>
      <p:sp>
        <p:nvSpPr>
          <p:cNvPr id="67588"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20655197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xfrm>
            <a:off x="3884613" y="8685213"/>
            <a:ext cx="2971800" cy="457200"/>
          </a:xfrm>
          <a:prstGeom prst="rect">
            <a:avLst/>
          </a:prstGeom>
          <a:noFill/>
        </p:spPr>
        <p:txBody>
          <a:bodyPr/>
          <a:lstStyle/>
          <a:p>
            <a:fld id="{6E2980EE-27D7-48EF-95AA-38B03B835A3B}" type="slidenum">
              <a:rPr lang="en-US" smtClean="0"/>
              <a:pPr/>
              <a:t>46</a:t>
            </a:fld>
            <a:endParaRPr lang="en-US" smtClean="0"/>
          </a:p>
        </p:txBody>
      </p:sp>
      <p:sp>
        <p:nvSpPr>
          <p:cNvPr id="68611" name="Rectangle 2"/>
          <p:cNvSpPr>
            <a:spLocks noGrp="1" noRot="1" noChangeAspect="1" noChangeArrowheads="1" noTextEdit="1"/>
          </p:cNvSpPr>
          <p:nvPr>
            <p:ph type="sldImg"/>
          </p:nvPr>
        </p:nvSpPr>
        <p:spPr>
          <a:xfrm>
            <a:off x="1158875" y="587375"/>
            <a:ext cx="4554538" cy="3416300"/>
          </a:xfrm>
          <a:ln/>
        </p:spPr>
      </p:sp>
      <p:sp>
        <p:nvSpPr>
          <p:cNvPr id="68612" name="Rectangle 3"/>
          <p:cNvSpPr>
            <a:spLocks noGrp="1" noChangeArrowheads="1"/>
          </p:cNvSpPr>
          <p:nvPr>
            <p:ph type="body" idx="1"/>
          </p:nvPr>
        </p:nvSpPr>
        <p:spPr>
          <a:xfrm>
            <a:off x="515938" y="4343400"/>
            <a:ext cx="5910262" cy="4113213"/>
          </a:xfrm>
          <a:noFill/>
          <a:ln/>
        </p:spPr>
        <p:txBody>
          <a:bodyPr/>
          <a:lstStyle/>
          <a:p>
            <a:r>
              <a:rPr lang="en-US" smtClean="0"/>
              <a:t>For lecture</a:t>
            </a:r>
          </a:p>
        </p:txBody>
      </p:sp>
    </p:spTree>
    <p:extLst>
      <p:ext uri="{BB962C8B-B14F-4D97-AF65-F5344CB8AC3E}">
        <p14:creationId xmlns:p14="http://schemas.microsoft.com/office/powerpoint/2010/main" val="15598834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xfrm>
            <a:off x="3884613" y="8685213"/>
            <a:ext cx="2971800" cy="457200"/>
          </a:xfrm>
          <a:prstGeom prst="rect">
            <a:avLst/>
          </a:prstGeom>
          <a:noFill/>
        </p:spPr>
        <p:txBody>
          <a:bodyPr/>
          <a:lstStyle/>
          <a:p>
            <a:fld id="{A0FEDD79-4F5A-4D61-9B12-858293396AAF}" type="slidenum">
              <a:rPr lang="en-US" smtClean="0"/>
              <a:pPr/>
              <a:t>47</a:t>
            </a:fld>
            <a:endParaRPr lang="en-US" smtClean="0"/>
          </a:p>
        </p:txBody>
      </p:sp>
      <p:sp>
        <p:nvSpPr>
          <p:cNvPr id="69635" name="Rectangle 2"/>
          <p:cNvSpPr>
            <a:spLocks noGrp="1" noRot="1" noChangeAspect="1" noChangeArrowheads="1" noTextEdit="1"/>
          </p:cNvSpPr>
          <p:nvPr>
            <p:ph type="sldImg"/>
          </p:nvPr>
        </p:nvSpPr>
        <p:spPr>
          <a:xfrm>
            <a:off x="1158875" y="587375"/>
            <a:ext cx="4554538" cy="3416300"/>
          </a:xfrm>
          <a:ln/>
        </p:spPr>
      </p:sp>
      <p:sp>
        <p:nvSpPr>
          <p:cNvPr id="69636"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6482103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xfrm>
            <a:off x="3884613" y="8685213"/>
            <a:ext cx="2971800" cy="457200"/>
          </a:xfrm>
          <a:prstGeom prst="rect">
            <a:avLst/>
          </a:prstGeom>
          <a:noFill/>
        </p:spPr>
        <p:txBody>
          <a:bodyPr/>
          <a:lstStyle/>
          <a:p>
            <a:fld id="{2860B9D9-F6B2-479F-BF0E-0AAB6CF33A7B}" type="slidenum">
              <a:rPr lang="en-US" smtClean="0"/>
              <a:pPr/>
              <a:t>48</a:t>
            </a:fld>
            <a:endParaRPr lang="en-US" smtClean="0"/>
          </a:p>
        </p:txBody>
      </p:sp>
      <p:sp>
        <p:nvSpPr>
          <p:cNvPr id="70659" name="Rectangle 2"/>
          <p:cNvSpPr>
            <a:spLocks noGrp="1" noRot="1" noChangeAspect="1" noChangeArrowheads="1" noTextEdit="1"/>
          </p:cNvSpPr>
          <p:nvPr>
            <p:ph type="sldImg"/>
          </p:nvPr>
        </p:nvSpPr>
        <p:spPr>
          <a:xfrm>
            <a:off x="1158875" y="587375"/>
            <a:ext cx="4554538" cy="3416300"/>
          </a:xfrm>
          <a:ln/>
        </p:spPr>
      </p:sp>
      <p:sp>
        <p:nvSpPr>
          <p:cNvPr id="70660"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1145898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xfrm>
            <a:off x="3884613" y="8685213"/>
            <a:ext cx="2971800" cy="457200"/>
          </a:xfrm>
          <a:prstGeom prst="rect">
            <a:avLst/>
          </a:prstGeom>
          <a:noFill/>
        </p:spPr>
        <p:txBody>
          <a:bodyPr/>
          <a:lstStyle/>
          <a:p>
            <a:fld id="{B2FCE430-6C51-4E38-86C7-40CF4341A971}" type="slidenum">
              <a:rPr lang="en-US" smtClean="0"/>
              <a:pPr/>
              <a:t>49</a:t>
            </a:fld>
            <a:endParaRPr lang="en-US" smtClean="0"/>
          </a:p>
        </p:txBody>
      </p:sp>
      <p:sp>
        <p:nvSpPr>
          <p:cNvPr id="71683" name="Rectangle 2"/>
          <p:cNvSpPr>
            <a:spLocks noGrp="1" noRot="1" noChangeAspect="1" noChangeArrowheads="1" noTextEdit="1"/>
          </p:cNvSpPr>
          <p:nvPr>
            <p:ph type="sldImg"/>
          </p:nvPr>
        </p:nvSpPr>
        <p:spPr>
          <a:xfrm>
            <a:off x="1158875" y="587375"/>
            <a:ext cx="4554538" cy="3416300"/>
          </a:xfrm>
          <a:ln/>
        </p:spPr>
      </p:sp>
      <p:sp>
        <p:nvSpPr>
          <p:cNvPr id="71684"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1146846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xfrm>
            <a:off x="3884613" y="8685213"/>
            <a:ext cx="2971800" cy="457200"/>
          </a:xfrm>
          <a:prstGeom prst="rect">
            <a:avLst/>
          </a:prstGeom>
          <a:noFill/>
        </p:spPr>
        <p:txBody>
          <a:bodyPr/>
          <a:lstStyle/>
          <a:p>
            <a:fld id="{49FF4A9A-D9B3-4CAA-9FF6-6AE14AE8EA13}" type="slidenum">
              <a:rPr lang="en-US" smtClean="0"/>
              <a:pPr/>
              <a:t>50</a:t>
            </a:fld>
            <a:endParaRPr lang="en-US" smtClean="0"/>
          </a:p>
        </p:txBody>
      </p:sp>
      <p:sp>
        <p:nvSpPr>
          <p:cNvPr id="72707" name="Rectangle 2"/>
          <p:cNvSpPr>
            <a:spLocks noGrp="1" noRot="1" noChangeAspect="1" noChangeArrowheads="1" noTextEdit="1"/>
          </p:cNvSpPr>
          <p:nvPr>
            <p:ph type="sldImg"/>
          </p:nvPr>
        </p:nvSpPr>
        <p:spPr>
          <a:xfrm>
            <a:off x="1158875" y="587375"/>
            <a:ext cx="4554538" cy="3416300"/>
          </a:xfrm>
          <a:ln/>
        </p:spPr>
      </p:sp>
      <p:sp>
        <p:nvSpPr>
          <p:cNvPr id="72708"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1182031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xfrm>
            <a:off x="3884613" y="8685213"/>
            <a:ext cx="2971800" cy="457200"/>
          </a:xfrm>
          <a:prstGeom prst="rect">
            <a:avLst/>
          </a:prstGeom>
          <a:noFill/>
        </p:spPr>
        <p:txBody>
          <a:bodyPr/>
          <a:lstStyle/>
          <a:p>
            <a:fld id="{FBD91832-9C97-421B-8489-C900CBBE1D85}" type="slidenum">
              <a:rPr lang="en-US" smtClean="0"/>
              <a:pPr/>
              <a:t>51</a:t>
            </a:fld>
            <a:endParaRPr lang="en-US" smtClean="0"/>
          </a:p>
        </p:txBody>
      </p:sp>
      <p:sp>
        <p:nvSpPr>
          <p:cNvPr id="73731" name="Rectangle 2"/>
          <p:cNvSpPr>
            <a:spLocks noGrp="1" noRot="1" noChangeAspect="1" noChangeArrowheads="1" noTextEdit="1"/>
          </p:cNvSpPr>
          <p:nvPr>
            <p:ph type="sldImg"/>
          </p:nvPr>
        </p:nvSpPr>
        <p:spPr>
          <a:xfrm>
            <a:off x="1158875" y="587375"/>
            <a:ext cx="4554538" cy="3416300"/>
          </a:xfrm>
          <a:ln/>
        </p:spPr>
      </p:sp>
      <p:sp>
        <p:nvSpPr>
          <p:cNvPr id="73732" name="Rectangle 3"/>
          <p:cNvSpPr>
            <a:spLocks noGrp="1" noChangeArrowheads="1"/>
          </p:cNvSpPr>
          <p:nvPr>
            <p:ph type="body" idx="1"/>
          </p:nvPr>
        </p:nvSpPr>
        <p:spPr>
          <a:xfrm>
            <a:off x="515938" y="4343400"/>
            <a:ext cx="5910262" cy="4113213"/>
          </a:xfrm>
          <a:noFill/>
          <a:ln/>
        </p:spPr>
        <p:txBody>
          <a:bodyPr/>
          <a:lstStyle/>
          <a:p>
            <a:r>
              <a:rPr lang="en-US" smtClean="0"/>
              <a:t>For lecture</a:t>
            </a:r>
          </a:p>
          <a:p>
            <a:endParaRPr lang="en-US" smtClean="0"/>
          </a:p>
          <a:p>
            <a:r>
              <a:rPr lang="en-US" smtClean="0"/>
              <a:t>NEXT TIME - Add tracking of the PC to the animation!!</a:t>
            </a:r>
          </a:p>
        </p:txBody>
      </p:sp>
    </p:spTree>
    <p:extLst>
      <p:ext uri="{BB962C8B-B14F-4D97-AF65-F5344CB8AC3E}">
        <p14:creationId xmlns:p14="http://schemas.microsoft.com/office/powerpoint/2010/main" val="9258032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xfrm>
            <a:off x="3884613" y="8685213"/>
            <a:ext cx="2971800" cy="457200"/>
          </a:xfrm>
          <a:prstGeom prst="rect">
            <a:avLst/>
          </a:prstGeom>
          <a:noFill/>
        </p:spPr>
        <p:txBody>
          <a:bodyPr/>
          <a:lstStyle/>
          <a:p>
            <a:fld id="{EDEAEB1D-5D92-4E5B-B26B-DD0721E280CB}" type="slidenum">
              <a:rPr lang="en-US" smtClean="0"/>
              <a:pPr/>
              <a:t>52</a:t>
            </a:fld>
            <a:endParaRPr lang="en-US" smtClean="0"/>
          </a:p>
        </p:txBody>
      </p:sp>
      <p:sp>
        <p:nvSpPr>
          <p:cNvPr id="74755" name="Rectangle 2"/>
          <p:cNvSpPr>
            <a:spLocks noGrp="1" noRot="1" noChangeAspect="1" noChangeArrowheads="1" noTextEdit="1"/>
          </p:cNvSpPr>
          <p:nvPr>
            <p:ph type="sldImg"/>
          </p:nvPr>
        </p:nvSpPr>
        <p:spPr>
          <a:xfrm>
            <a:off x="1158875" y="587375"/>
            <a:ext cx="4554538" cy="3416300"/>
          </a:xfrm>
          <a:ln/>
        </p:spPr>
      </p:sp>
      <p:sp>
        <p:nvSpPr>
          <p:cNvPr id="74756" name="Rectangle 3"/>
          <p:cNvSpPr>
            <a:spLocks noGrp="1" noChangeArrowheads="1"/>
          </p:cNvSpPr>
          <p:nvPr>
            <p:ph type="body" idx="1"/>
          </p:nvPr>
        </p:nvSpPr>
        <p:spPr>
          <a:xfrm>
            <a:off x="515938" y="4343400"/>
            <a:ext cx="5910262" cy="4113213"/>
          </a:xfrm>
          <a:noFill/>
          <a:ln/>
        </p:spPr>
        <p:txBody>
          <a:bodyPr/>
          <a:lstStyle/>
          <a:p>
            <a:r>
              <a:rPr lang="en-US" smtClean="0"/>
              <a:t>For lecture</a:t>
            </a:r>
          </a:p>
        </p:txBody>
      </p:sp>
    </p:spTree>
    <p:extLst>
      <p:ext uri="{BB962C8B-B14F-4D97-AF65-F5344CB8AC3E}">
        <p14:creationId xmlns:p14="http://schemas.microsoft.com/office/powerpoint/2010/main" val="16915469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Rot="1" noChangeAspect="1" noChangeArrowheads="1" noTextEdit="1"/>
          </p:cNvSpPr>
          <p:nvPr>
            <p:ph type="sldImg"/>
          </p:nvPr>
        </p:nvSpPr>
        <p:spPr/>
      </p:sp>
      <p:sp>
        <p:nvSpPr>
          <p:cNvPr id="424963" name="Rectangle 3"/>
          <p:cNvSpPr>
            <a:spLocks noGrp="1" noChangeArrowheads="1"/>
          </p:cNvSpPr>
          <p:nvPr>
            <p:ph type="body" idx="1"/>
          </p:nvPr>
        </p:nvSpPr>
        <p:spPr>
          <a:xfrm>
            <a:off x="525998" y="4410065"/>
            <a:ext cx="6017893" cy="4175209"/>
          </a:xfrm>
          <a:ln/>
        </p:spPr>
        <p:txBody>
          <a:bodyPr lIns="95244" tIns="47621" rIns="95244" bIns="47621"/>
          <a:lstStyle/>
          <a:p>
            <a:r>
              <a:rPr lang="en-US"/>
              <a:t>So caller must save $ra on the stack and callee must save any other registers that it uses on the stack</a:t>
            </a:r>
          </a:p>
        </p:txBody>
      </p:sp>
    </p:spTree>
    <p:extLst>
      <p:ext uri="{BB962C8B-B14F-4D97-AF65-F5344CB8AC3E}">
        <p14:creationId xmlns:p14="http://schemas.microsoft.com/office/powerpoint/2010/main" val="1954129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Rot="1" noChangeAspect="1" noChangeArrowheads="1" noTextEdit="1"/>
          </p:cNvSpPr>
          <p:nvPr>
            <p:ph type="sldImg"/>
          </p:nvPr>
        </p:nvSpPr>
        <p:spPr/>
      </p:sp>
      <p:sp>
        <p:nvSpPr>
          <p:cNvPr id="389123" name="Rectangle 3"/>
          <p:cNvSpPr>
            <a:spLocks noGrp="1" noChangeArrowheads="1"/>
          </p:cNvSpPr>
          <p:nvPr>
            <p:ph type="body" idx="1"/>
          </p:nvPr>
        </p:nvSpPr>
        <p:spPr>
          <a:xfrm>
            <a:off x="525998" y="4410065"/>
            <a:ext cx="6017893" cy="4175209"/>
          </a:xfrm>
          <a:ln/>
        </p:spPr>
        <p:txBody>
          <a:bodyPr lIns="95244" tIns="47621" rIns="95244" bIns="47621"/>
          <a:lstStyle/>
          <a:p>
            <a:r>
              <a:rPr lang="en-US" dirty="0"/>
              <a:t>So caller must save $</a:t>
            </a:r>
            <a:r>
              <a:rPr lang="en-US" dirty="0" err="1"/>
              <a:t>ra</a:t>
            </a:r>
            <a:r>
              <a:rPr lang="en-US" dirty="0"/>
              <a:t> on the stack and </a:t>
            </a:r>
            <a:r>
              <a:rPr lang="en-US" dirty="0" err="1"/>
              <a:t>callee</a:t>
            </a:r>
            <a:r>
              <a:rPr lang="en-US" dirty="0"/>
              <a:t> must save any other registers that it uses on the stack</a:t>
            </a:r>
          </a:p>
        </p:txBody>
      </p:sp>
    </p:spTree>
    <p:extLst>
      <p:ext uri="{BB962C8B-B14F-4D97-AF65-F5344CB8AC3E}">
        <p14:creationId xmlns:p14="http://schemas.microsoft.com/office/powerpoint/2010/main" val="16548841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Rot="1" noChangeAspect="1" noChangeArrowheads="1" noTextEdit="1"/>
          </p:cNvSpPr>
          <p:nvPr>
            <p:ph type="sldImg"/>
          </p:nvPr>
        </p:nvSpPr>
        <p:spPr/>
      </p:sp>
      <p:sp>
        <p:nvSpPr>
          <p:cNvPr id="391171" name="Rectangle 3"/>
          <p:cNvSpPr>
            <a:spLocks noGrp="1" noChangeArrowheads="1"/>
          </p:cNvSpPr>
          <p:nvPr>
            <p:ph type="body" idx="1"/>
          </p:nvPr>
        </p:nvSpPr>
        <p:spPr>
          <a:xfrm>
            <a:off x="525998" y="4410065"/>
            <a:ext cx="6017893" cy="4175209"/>
          </a:xfrm>
          <a:ln/>
        </p:spPr>
        <p:txBody>
          <a:bodyPr lIns="95244" tIns="47621" rIns="95244" bIns="47621"/>
          <a:lstStyle/>
          <a:p>
            <a:r>
              <a:rPr lang="en-US"/>
              <a:t>For class handout</a:t>
            </a:r>
          </a:p>
        </p:txBody>
      </p:sp>
    </p:spTree>
    <p:extLst>
      <p:ext uri="{BB962C8B-B14F-4D97-AF65-F5344CB8AC3E}">
        <p14:creationId xmlns:p14="http://schemas.microsoft.com/office/powerpoint/2010/main" val="5409488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Rot="1" noChangeAspect="1" noChangeArrowheads="1" noTextEdit="1"/>
          </p:cNvSpPr>
          <p:nvPr>
            <p:ph type="sldImg"/>
          </p:nvPr>
        </p:nvSpPr>
        <p:spPr/>
      </p:sp>
      <p:sp>
        <p:nvSpPr>
          <p:cNvPr id="393219" name="Rectangle 3"/>
          <p:cNvSpPr>
            <a:spLocks noGrp="1" noChangeArrowheads="1"/>
          </p:cNvSpPr>
          <p:nvPr>
            <p:ph type="body" idx="1"/>
          </p:nvPr>
        </p:nvSpPr>
        <p:spPr>
          <a:xfrm>
            <a:off x="525998" y="4410065"/>
            <a:ext cx="6017893" cy="4175209"/>
          </a:xfrm>
          <a:ln/>
        </p:spPr>
        <p:txBody>
          <a:bodyPr lIns="95244" tIns="47621" rIns="95244" bIns="47621"/>
          <a:lstStyle/>
          <a:p>
            <a:r>
              <a:rPr lang="en-US" dirty="0"/>
              <a:t>For lecture</a:t>
            </a:r>
          </a:p>
          <a:p>
            <a:endParaRPr lang="en-US" dirty="0"/>
          </a:p>
          <a:p>
            <a:r>
              <a:rPr lang="en-US" dirty="0"/>
              <a:t>Note that the original values of $</a:t>
            </a:r>
            <a:r>
              <a:rPr lang="en-US" dirty="0" err="1"/>
              <a:t>ra</a:t>
            </a:r>
            <a:r>
              <a:rPr lang="en-US" dirty="0"/>
              <a:t> and I ($a0) are restored on </a:t>
            </a:r>
            <a:r>
              <a:rPr lang="en-US" dirty="0" smtClean="0"/>
              <a:t>return</a:t>
            </a:r>
            <a:endParaRPr lang="en-US" dirty="0"/>
          </a:p>
        </p:txBody>
      </p:sp>
    </p:spTree>
    <p:extLst>
      <p:ext uri="{BB962C8B-B14F-4D97-AF65-F5344CB8AC3E}">
        <p14:creationId xmlns:p14="http://schemas.microsoft.com/office/powerpoint/2010/main" val="2607490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Rot="1" noChangeAspect="1" noChangeArrowheads="1" noTextEdit="1"/>
          </p:cNvSpPr>
          <p:nvPr>
            <p:ph type="sldImg"/>
          </p:nvPr>
        </p:nvSpPr>
        <p:spPr/>
      </p:sp>
      <p:sp>
        <p:nvSpPr>
          <p:cNvPr id="429059" name="Rectangle 3"/>
          <p:cNvSpPr>
            <a:spLocks noGrp="1" noChangeArrowheads="1"/>
          </p:cNvSpPr>
          <p:nvPr>
            <p:ph type="body" idx="1"/>
          </p:nvPr>
        </p:nvSpPr>
        <p:spPr>
          <a:xfrm>
            <a:off x="525998" y="4410065"/>
            <a:ext cx="6017893" cy="4175209"/>
          </a:xfrm>
          <a:ln/>
        </p:spPr>
        <p:txBody>
          <a:bodyPr lIns="95244" tIns="47621" rIns="95244" bIns="47621"/>
          <a:lstStyle/>
          <a:p>
            <a:r>
              <a:rPr lang="en-US"/>
              <a:t>For class handout</a:t>
            </a:r>
          </a:p>
        </p:txBody>
      </p:sp>
    </p:spTree>
    <p:extLst>
      <p:ext uri="{BB962C8B-B14F-4D97-AF65-F5344CB8AC3E}">
        <p14:creationId xmlns:p14="http://schemas.microsoft.com/office/powerpoint/2010/main" val="10880034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Rot="1" noChangeAspect="1" noChangeArrowheads="1" noTextEdit="1"/>
          </p:cNvSpPr>
          <p:nvPr>
            <p:ph type="sldImg"/>
          </p:nvPr>
        </p:nvSpPr>
        <p:spPr/>
      </p:sp>
      <p:sp>
        <p:nvSpPr>
          <p:cNvPr id="395267" name="Rectangle 3"/>
          <p:cNvSpPr>
            <a:spLocks noGrp="1" noChangeArrowheads="1"/>
          </p:cNvSpPr>
          <p:nvPr>
            <p:ph type="body" idx="1"/>
          </p:nvPr>
        </p:nvSpPr>
        <p:spPr>
          <a:xfrm>
            <a:off x="525998" y="4410065"/>
            <a:ext cx="6017893" cy="4175209"/>
          </a:xfrm>
          <a:ln/>
        </p:spPr>
        <p:txBody>
          <a:bodyPr lIns="95244" tIns="47621" rIns="95244" bIns="47621"/>
          <a:lstStyle/>
          <a:p>
            <a:r>
              <a:rPr lang="en-US"/>
              <a:t>For lecture</a:t>
            </a:r>
          </a:p>
        </p:txBody>
      </p:sp>
    </p:spTree>
    <p:extLst>
      <p:ext uri="{BB962C8B-B14F-4D97-AF65-F5344CB8AC3E}">
        <p14:creationId xmlns:p14="http://schemas.microsoft.com/office/powerpoint/2010/main" val="18430097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Rot="1" noChangeAspect="1" noChangeArrowheads="1" noTextEdit="1"/>
          </p:cNvSpPr>
          <p:nvPr>
            <p:ph type="sldImg"/>
          </p:nvPr>
        </p:nvSpPr>
        <p:spPr/>
      </p:sp>
      <p:sp>
        <p:nvSpPr>
          <p:cNvPr id="398339" name="Rectangle 3"/>
          <p:cNvSpPr>
            <a:spLocks noGrp="1" noChangeArrowheads="1"/>
          </p:cNvSpPr>
          <p:nvPr>
            <p:ph type="body" idx="1"/>
          </p:nvPr>
        </p:nvSpPr>
        <p:spPr>
          <a:xfrm>
            <a:off x="525998" y="4410065"/>
            <a:ext cx="6017893" cy="4175209"/>
          </a:xfrm>
          <a:ln/>
        </p:spPr>
        <p:txBody>
          <a:bodyPr lIns="95244" tIns="47621" rIns="95244" bIns="47621"/>
          <a:lstStyle/>
          <a:p>
            <a:r>
              <a:rPr lang="en-US" dirty="0"/>
              <a:t>Note, no need to load $</a:t>
            </a:r>
            <a:r>
              <a:rPr lang="en-US" dirty="0" err="1"/>
              <a:t>ra</a:t>
            </a:r>
            <a:r>
              <a:rPr lang="en-US" dirty="0"/>
              <a:t>, and $a0, since they have not changed values (expect when n is &gt;= to 1 as on next page)</a:t>
            </a:r>
          </a:p>
          <a:p>
            <a:endParaRPr lang="en-US" dirty="0"/>
          </a:p>
          <a:p>
            <a:r>
              <a:rPr lang="en-US" dirty="0"/>
              <a:t>We assume a multiply instruction is available, even though we haven’t covered it yet!</a:t>
            </a:r>
          </a:p>
        </p:txBody>
      </p:sp>
    </p:spTree>
    <p:extLst>
      <p:ext uri="{BB962C8B-B14F-4D97-AF65-F5344CB8AC3E}">
        <p14:creationId xmlns:p14="http://schemas.microsoft.com/office/powerpoint/2010/main" val="18935387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Rot="1" noChangeAspect="1" noChangeArrowheads="1" noTextEdit="1"/>
          </p:cNvSpPr>
          <p:nvPr>
            <p:ph type="sldImg"/>
          </p:nvPr>
        </p:nvSpPr>
        <p:spPr/>
      </p:sp>
      <p:sp>
        <p:nvSpPr>
          <p:cNvPr id="458755" name="Rectangle 3"/>
          <p:cNvSpPr>
            <a:spLocks noGrp="1" noChangeArrowheads="1"/>
          </p:cNvSpPr>
          <p:nvPr>
            <p:ph type="body" idx="1"/>
          </p:nvPr>
        </p:nvSpPr>
        <p:spPr>
          <a:xfrm>
            <a:off x="525998" y="4410065"/>
            <a:ext cx="6017893" cy="4175209"/>
          </a:xfrm>
          <a:ln/>
        </p:spPr>
        <p:txBody>
          <a:bodyPr/>
          <a:lstStyle/>
          <a:p>
            <a:r>
              <a:rPr lang="en-US"/>
              <a:t>For class handout</a:t>
            </a:r>
          </a:p>
        </p:txBody>
      </p:sp>
    </p:spTree>
    <p:extLst>
      <p:ext uri="{BB962C8B-B14F-4D97-AF65-F5344CB8AC3E}">
        <p14:creationId xmlns:p14="http://schemas.microsoft.com/office/powerpoint/2010/main" val="9871150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Rot="1" noChangeAspect="1" noChangeArrowheads="1" noTextEdit="1"/>
          </p:cNvSpPr>
          <p:nvPr>
            <p:ph type="sldImg"/>
          </p:nvPr>
        </p:nvSpPr>
        <p:spPr/>
      </p:sp>
      <p:sp>
        <p:nvSpPr>
          <p:cNvPr id="402435" name="Rectangle 3"/>
          <p:cNvSpPr>
            <a:spLocks noGrp="1" noChangeArrowheads="1"/>
          </p:cNvSpPr>
          <p:nvPr>
            <p:ph type="body" idx="1"/>
          </p:nvPr>
        </p:nvSpPr>
        <p:spPr>
          <a:xfrm>
            <a:off x="525998" y="4410065"/>
            <a:ext cx="6017893" cy="4175209"/>
          </a:xfrm>
          <a:ln/>
        </p:spPr>
        <p:txBody>
          <a:bodyPr/>
          <a:lstStyle/>
          <a:p>
            <a:r>
              <a:rPr lang="en-US"/>
              <a:t>For lecture</a:t>
            </a:r>
          </a:p>
          <a:p>
            <a:endParaRPr lang="en-US"/>
          </a:p>
          <a:p>
            <a:r>
              <a:rPr lang="en-US"/>
              <a:t>NEXT TIME - Add tracking of the PC to the animation!!</a:t>
            </a:r>
          </a:p>
        </p:txBody>
      </p:sp>
    </p:spTree>
    <p:extLst>
      <p:ext uri="{BB962C8B-B14F-4D97-AF65-F5344CB8AC3E}">
        <p14:creationId xmlns:p14="http://schemas.microsoft.com/office/powerpoint/2010/main" val="18133739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Rot="1" noChangeAspect="1" noChangeArrowheads="1" noTextEdit="1"/>
          </p:cNvSpPr>
          <p:nvPr>
            <p:ph type="sldImg"/>
          </p:nvPr>
        </p:nvSpPr>
        <p:spPr/>
      </p:sp>
      <p:sp>
        <p:nvSpPr>
          <p:cNvPr id="415747" name="Rectangle 3"/>
          <p:cNvSpPr>
            <a:spLocks noGrp="1" noChangeArrowheads="1"/>
          </p:cNvSpPr>
          <p:nvPr>
            <p:ph type="body" idx="1"/>
          </p:nvPr>
        </p:nvSpPr>
        <p:spPr>
          <a:xfrm>
            <a:off x="525998" y="4410065"/>
            <a:ext cx="6017893" cy="4175209"/>
          </a:xfrm>
          <a:ln/>
        </p:spPr>
        <p:txBody>
          <a:bodyPr/>
          <a:lstStyle/>
          <a:p>
            <a:r>
              <a:rPr lang="en-US"/>
              <a:t>For class handout</a:t>
            </a:r>
          </a:p>
        </p:txBody>
      </p:sp>
    </p:spTree>
    <p:extLst>
      <p:ext uri="{BB962C8B-B14F-4D97-AF65-F5344CB8AC3E}">
        <p14:creationId xmlns:p14="http://schemas.microsoft.com/office/powerpoint/2010/main" val="3638433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p:sp>
      <p:sp>
        <p:nvSpPr>
          <p:cNvPr id="404483" name="Rectangle 3"/>
          <p:cNvSpPr>
            <a:spLocks noGrp="1" noChangeArrowheads="1"/>
          </p:cNvSpPr>
          <p:nvPr>
            <p:ph type="body" idx="1"/>
          </p:nvPr>
        </p:nvSpPr>
        <p:spPr>
          <a:xfrm>
            <a:off x="525998" y="4410065"/>
            <a:ext cx="6017893" cy="4175209"/>
          </a:xfrm>
          <a:ln/>
        </p:spPr>
        <p:txBody>
          <a:bodyPr/>
          <a:lstStyle/>
          <a:p>
            <a:r>
              <a:rPr lang="en-US"/>
              <a:t>For lecture</a:t>
            </a:r>
          </a:p>
        </p:txBody>
      </p:sp>
    </p:spTree>
    <p:extLst>
      <p:ext uri="{BB962C8B-B14F-4D97-AF65-F5344CB8AC3E}">
        <p14:creationId xmlns:p14="http://schemas.microsoft.com/office/powerpoint/2010/main" val="7655737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Rot="1" noChangeAspect="1" noChangeArrowheads="1" noTextEdit="1"/>
          </p:cNvSpPr>
          <p:nvPr>
            <p:ph type="sldImg"/>
          </p:nvPr>
        </p:nvSpPr>
        <p:spPr/>
      </p:sp>
      <p:sp>
        <p:nvSpPr>
          <p:cNvPr id="417795" name="Rectangle 3"/>
          <p:cNvSpPr>
            <a:spLocks noGrp="1" noChangeArrowheads="1"/>
          </p:cNvSpPr>
          <p:nvPr>
            <p:ph type="body" idx="1"/>
          </p:nvPr>
        </p:nvSpPr>
        <p:spPr>
          <a:xfrm>
            <a:off x="525998" y="4410065"/>
            <a:ext cx="6017893" cy="4175209"/>
          </a:xfrm>
          <a:ln/>
        </p:spPr>
        <p:txBody>
          <a:bodyPr/>
          <a:lstStyle/>
          <a:p>
            <a:r>
              <a:rPr lang="en-US"/>
              <a:t>For class handout</a:t>
            </a:r>
          </a:p>
        </p:txBody>
      </p:sp>
    </p:spTree>
    <p:extLst>
      <p:ext uri="{BB962C8B-B14F-4D97-AF65-F5344CB8AC3E}">
        <p14:creationId xmlns:p14="http://schemas.microsoft.com/office/powerpoint/2010/main" val="9599780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Rot="1" noChangeAspect="1" noChangeArrowheads="1" noTextEdit="1"/>
          </p:cNvSpPr>
          <p:nvPr>
            <p:ph type="sldImg"/>
          </p:nvPr>
        </p:nvSpPr>
        <p:spPr/>
      </p:sp>
      <p:sp>
        <p:nvSpPr>
          <p:cNvPr id="406531" name="Rectangle 3"/>
          <p:cNvSpPr>
            <a:spLocks noGrp="1" noChangeArrowheads="1"/>
          </p:cNvSpPr>
          <p:nvPr>
            <p:ph type="body" idx="1"/>
          </p:nvPr>
        </p:nvSpPr>
        <p:spPr>
          <a:xfrm>
            <a:off x="525998" y="4410065"/>
            <a:ext cx="6017893" cy="4175209"/>
          </a:xfrm>
          <a:ln/>
        </p:spPr>
        <p:txBody>
          <a:bodyPr/>
          <a:lstStyle/>
          <a:p>
            <a:r>
              <a:rPr lang="en-US"/>
              <a:t>For lecture</a:t>
            </a:r>
          </a:p>
        </p:txBody>
      </p:sp>
    </p:spTree>
    <p:extLst>
      <p:ext uri="{BB962C8B-B14F-4D97-AF65-F5344CB8AC3E}">
        <p14:creationId xmlns:p14="http://schemas.microsoft.com/office/powerpoint/2010/main" val="20795726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Rot="1" noChangeAspect="1" noChangeArrowheads="1" noTextEdit="1"/>
          </p:cNvSpPr>
          <p:nvPr>
            <p:ph type="sldImg"/>
          </p:nvPr>
        </p:nvSpPr>
        <p:spPr/>
      </p:sp>
      <p:sp>
        <p:nvSpPr>
          <p:cNvPr id="433155" name="Rectangle 3"/>
          <p:cNvSpPr>
            <a:spLocks noGrp="1" noChangeArrowheads="1"/>
          </p:cNvSpPr>
          <p:nvPr>
            <p:ph type="body" idx="1"/>
          </p:nvPr>
        </p:nvSpPr>
        <p:spPr>
          <a:xfrm>
            <a:off x="525998" y="4410065"/>
            <a:ext cx="6017893" cy="4175209"/>
          </a:xfrm>
          <a:ln/>
        </p:spPr>
        <p:txBody>
          <a:bodyPr/>
          <a:lstStyle/>
          <a:p>
            <a:r>
              <a:rPr lang="en-US"/>
              <a:t>For class handout</a:t>
            </a:r>
          </a:p>
        </p:txBody>
      </p:sp>
    </p:spTree>
    <p:extLst>
      <p:ext uri="{BB962C8B-B14F-4D97-AF65-F5344CB8AC3E}">
        <p14:creationId xmlns:p14="http://schemas.microsoft.com/office/powerpoint/2010/main" val="19330900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Rot="1" noChangeAspect="1" noChangeArrowheads="1" noTextEdit="1"/>
          </p:cNvSpPr>
          <p:nvPr>
            <p:ph type="sldImg"/>
          </p:nvPr>
        </p:nvSpPr>
        <p:spPr/>
      </p:sp>
      <p:sp>
        <p:nvSpPr>
          <p:cNvPr id="408579" name="Rectangle 3"/>
          <p:cNvSpPr>
            <a:spLocks noGrp="1" noChangeArrowheads="1"/>
          </p:cNvSpPr>
          <p:nvPr>
            <p:ph type="body" idx="1"/>
          </p:nvPr>
        </p:nvSpPr>
        <p:spPr>
          <a:xfrm>
            <a:off x="525998" y="4410065"/>
            <a:ext cx="6017893" cy="4175209"/>
          </a:xfrm>
          <a:ln/>
        </p:spPr>
        <p:txBody>
          <a:bodyPr/>
          <a:lstStyle/>
          <a:p>
            <a:r>
              <a:rPr lang="en-US"/>
              <a:t>For lecture</a:t>
            </a:r>
          </a:p>
        </p:txBody>
      </p:sp>
    </p:spTree>
    <p:extLst>
      <p:ext uri="{BB962C8B-B14F-4D97-AF65-F5344CB8AC3E}">
        <p14:creationId xmlns:p14="http://schemas.microsoft.com/office/powerpoint/2010/main" val="1373300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Rot="1" noChangeAspect="1" noChangeArrowheads="1" noTextEdit="1"/>
          </p:cNvSpPr>
          <p:nvPr>
            <p:ph type="sldImg"/>
          </p:nvPr>
        </p:nvSpPr>
        <p:spPr/>
      </p:sp>
      <p:sp>
        <p:nvSpPr>
          <p:cNvPr id="435203" name="Rectangle 3"/>
          <p:cNvSpPr>
            <a:spLocks noGrp="1" noChangeArrowheads="1"/>
          </p:cNvSpPr>
          <p:nvPr>
            <p:ph type="body" idx="1"/>
          </p:nvPr>
        </p:nvSpPr>
        <p:spPr>
          <a:xfrm>
            <a:off x="525998" y="4410065"/>
            <a:ext cx="6017893" cy="4175209"/>
          </a:xfrm>
          <a:ln/>
        </p:spPr>
        <p:txBody>
          <a:bodyPr/>
          <a:lstStyle/>
          <a:p>
            <a:r>
              <a:rPr lang="en-US"/>
              <a:t>For class handout</a:t>
            </a:r>
          </a:p>
        </p:txBody>
      </p:sp>
    </p:spTree>
    <p:extLst>
      <p:ext uri="{BB962C8B-B14F-4D97-AF65-F5344CB8AC3E}">
        <p14:creationId xmlns:p14="http://schemas.microsoft.com/office/powerpoint/2010/main" val="1641896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Rot="1" noChangeAspect="1" noChangeArrowheads="1" noTextEdit="1"/>
          </p:cNvSpPr>
          <p:nvPr>
            <p:ph type="sldImg"/>
          </p:nvPr>
        </p:nvSpPr>
        <p:spPr/>
      </p:sp>
      <p:sp>
        <p:nvSpPr>
          <p:cNvPr id="410627" name="Rectangle 3"/>
          <p:cNvSpPr>
            <a:spLocks noGrp="1" noChangeArrowheads="1"/>
          </p:cNvSpPr>
          <p:nvPr>
            <p:ph type="body" idx="1"/>
          </p:nvPr>
        </p:nvSpPr>
        <p:spPr>
          <a:xfrm>
            <a:off x="525998" y="4410065"/>
            <a:ext cx="6017893" cy="4175209"/>
          </a:xfrm>
          <a:ln/>
        </p:spPr>
        <p:txBody>
          <a:bodyPr/>
          <a:lstStyle/>
          <a:p>
            <a:r>
              <a:rPr lang="en-US"/>
              <a:t>For lecture</a:t>
            </a:r>
          </a:p>
        </p:txBody>
      </p:sp>
    </p:spTree>
    <p:extLst>
      <p:ext uri="{BB962C8B-B14F-4D97-AF65-F5344CB8AC3E}">
        <p14:creationId xmlns:p14="http://schemas.microsoft.com/office/powerpoint/2010/main" val="1696619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6" name="Slide Number Placeholder 5"/>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extLst>
      <p:ext uri="{BB962C8B-B14F-4D97-AF65-F5344CB8AC3E}">
        <p14:creationId xmlns:p14="http://schemas.microsoft.com/office/powerpoint/2010/main" val="97029368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914400"/>
            <a:ext cx="4000500" cy="239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914400"/>
            <a:ext cx="4000500" cy="239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304800"/>
            <a:ext cx="2038350" cy="30035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304800"/>
            <a:ext cx="5962650" cy="30035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422275"/>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533400" y="914400"/>
            <a:ext cx="8153400" cy="2393950"/>
          </a:xfrm>
        </p:spPr>
        <p:txBody>
          <a:bodyPr/>
          <a:lstStyle/>
          <a:p>
            <a:pPr lvl="0"/>
            <a:endParaRPr lang="en-US" noProof="0" smtClean="0"/>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extLst>
      <p:ext uri="{BB962C8B-B14F-4D97-AF65-F5344CB8AC3E}">
        <p14:creationId xmlns:p14="http://schemas.microsoft.com/office/powerpoint/2010/main" val="8105265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342188" cy="42227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914400"/>
            <a:ext cx="7848600" cy="2398713"/>
          </a:xfrm>
        </p:spPr>
        <p:txBody>
          <a:bodyPr/>
          <a:lstStyle/>
          <a:p>
            <a:endParaRPr lang="en-US"/>
          </a:p>
        </p:txBody>
      </p:sp>
    </p:spTree>
    <p:extLst>
      <p:ext uri="{BB962C8B-B14F-4D97-AF65-F5344CB8AC3E}">
        <p14:creationId xmlns:p14="http://schemas.microsoft.com/office/powerpoint/2010/main" val="1431111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76545875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63821614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61084360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47655254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28650" y="6356350"/>
            <a:ext cx="20574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9751504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28650" y="6356350"/>
            <a:ext cx="20574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40538907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556055241"/>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564582321"/>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352316601"/>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56567680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212951751"/>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82080724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076376372"/>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878732638"/>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3518295816"/>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504837136"/>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4534769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199444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0987029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9412670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2513981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8492778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2" Type="http://schemas.openxmlformats.org/officeDocument/2006/relationships/theme" Target="../theme/theme2.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2" Type="http://schemas.openxmlformats.org/officeDocument/2006/relationships/theme" Target="../theme/theme3.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533400" y="304800"/>
            <a:ext cx="8153400" cy="422275"/>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smtClean="0"/>
              <a:t>Title goes here</a:t>
            </a:r>
          </a:p>
        </p:txBody>
      </p:sp>
      <p:sp>
        <p:nvSpPr>
          <p:cNvPr id="5125" name="Rectangle 5"/>
          <p:cNvSpPr>
            <a:spLocks noGrp="1" noChangeArrowheads="1"/>
          </p:cNvSpPr>
          <p:nvPr>
            <p:ph type="body" idx="1"/>
          </p:nvPr>
        </p:nvSpPr>
        <p:spPr bwMode="auto">
          <a:xfrm>
            <a:off x="533400" y="914400"/>
            <a:ext cx="8153400" cy="2393950"/>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dirty="0" smtClean="0"/>
              <a:t>This is our 1st Level Bullet</a:t>
            </a:r>
          </a:p>
          <a:p>
            <a:pPr lvl="1"/>
            <a:r>
              <a:rPr lang="en-US" dirty="0" smtClean="0"/>
              <a:t>this is our 2nd level bullet</a:t>
            </a:r>
          </a:p>
          <a:p>
            <a:pPr lvl="2"/>
            <a:r>
              <a:rPr lang="en-US" dirty="0" smtClean="0"/>
              <a:t>this is our 3rd level bullet</a:t>
            </a:r>
          </a:p>
          <a:p>
            <a:pPr lvl="0"/>
            <a:r>
              <a:rPr lang="en-US" dirty="0" smtClean="0"/>
              <a:t>This is our next 1st Level Bullet</a:t>
            </a:r>
          </a:p>
          <a:p>
            <a:pPr lvl="1"/>
            <a:r>
              <a:rPr lang="en-US" dirty="0" smtClean="0"/>
              <a:t>this is our 2nd level bullet</a:t>
            </a:r>
          </a:p>
          <a:p>
            <a:pPr lvl="2"/>
            <a:r>
              <a:rPr lang="en-US" dirty="0" smtClean="0"/>
              <a:t>this is our 3rd level bullet</a:t>
            </a:r>
          </a:p>
        </p:txBody>
      </p:sp>
      <p:sp>
        <p:nvSpPr>
          <p:cNvPr id="1030" name="Line 6"/>
          <p:cNvSpPr>
            <a:spLocks noChangeShapeType="1"/>
          </p:cNvSpPr>
          <p:nvPr/>
        </p:nvSpPr>
        <p:spPr bwMode="auto">
          <a:xfrm>
            <a:off x="533400" y="685800"/>
            <a:ext cx="8153400" cy="0"/>
          </a:xfrm>
          <a:prstGeom prst="line">
            <a:avLst/>
          </a:prstGeom>
          <a:noFill/>
          <a:ln w="57150" cmpd="thickThin">
            <a:solidFill>
              <a:schemeClr val="accent2"/>
            </a:solidFill>
            <a:round/>
            <a:headEnd/>
            <a:tailEnd/>
          </a:ln>
          <a:effectLst/>
        </p:spPr>
        <p:txBody>
          <a:bodyPr wrap="none" anchor="ctr"/>
          <a:lstStyle/>
          <a:p>
            <a:pPr>
              <a:defRPr/>
            </a:pPr>
            <a:endParaRPr lang="en-US"/>
          </a:p>
        </p:txBody>
      </p:sp>
      <p:sp>
        <p:nvSpPr>
          <p:cNvPr id="3" name="Slide Number Placeholder 2"/>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E0CC70-9BD5-7543-A524-72E5137DC4F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75" r:id="rId14"/>
    <p:sldLayoutId id="2147483688" r:id="rId15"/>
  </p:sldLayoutIdLst>
  <p:timing>
    <p:tnLst>
      <p:par>
        <p:cTn id="1" dur="indefinite" restart="never" nodeType="tmRoot"/>
      </p:par>
    </p:tnLst>
  </p:timing>
  <p:hf hdr="0" ftr="0" dt="0"/>
  <p:txStyles>
    <p:titleStyle>
      <a:lvl1pPr algn="l" rtl="0" eaLnBrk="0" fontAlgn="base" hangingPunct="0">
        <a:lnSpc>
          <a:spcPct val="87000"/>
        </a:lnSpc>
        <a:spcBef>
          <a:spcPct val="0"/>
        </a:spcBef>
        <a:spcAft>
          <a:spcPct val="0"/>
        </a:spcAft>
        <a:defRPr sz="2800" b="1">
          <a:solidFill>
            <a:schemeClr val="accent2"/>
          </a:solidFill>
          <a:latin typeface="+mj-lt"/>
          <a:ea typeface="+mj-ea"/>
          <a:cs typeface="+mj-cs"/>
        </a:defRPr>
      </a:lvl1pPr>
      <a:lvl2pPr algn="l" rtl="0" eaLnBrk="0" fontAlgn="base" hangingPunct="0">
        <a:lnSpc>
          <a:spcPct val="87000"/>
        </a:lnSpc>
        <a:spcBef>
          <a:spcPct val="0"/>
        </a:spcBef>
        <a:spcAft>
          <a:spcPct val="0"/>
        </a:spcAft>
        <a:defRPr sz="2800" b="1">
          <a:solidFill>
            <a:schemeClr val="accent2"/>
          </a:solidFill>
          <a:latin typeface="Arial" charset="0"/>
        </a:defRPr>
      </a:lvl2pPr>
      <a:lvl3pPr algn="l" rtl="0" eaLnBrk="0" fontAlgn="base" hangingPunct="0">
        <a:lnSpc>
          <a:spcPct val="87000"/>
        </a:lnSpc>
        <a:spcBef>
          <a:spcPct val="0"/>
        </a:spcBef>
        <a:spcAft>
          <a:spcPct val="0"/>
        </a:spcAft>
        <a:defRPr sz="2800" b="1">
          <a:solidFill>
            <a:schemeClr val="accent2"/>
          </a:solidFill>
          <a:latin typeface="Arial" charset="0"/>
        </a:defRPr>
      </a:lvl3pPr>
      <a:lvl4pPr algn="l" rtl="0" eaLnBrk="0" fontAlgn="base" hangingPunct="0">
        <a:lnSpc>
          <a:spcPct val="87000"/>
        </a:lnSpc>
        <a:spcBef>
          <a:spcPct val="0"/>
        </a:spcBef>
        <a:spcAft>
          <a:spcPct val="0"/>
        </a:spcAft>
        <a:defRPr sz="2800" b="1">
          <a:solidFill>
            <a:schemeClr val="accent2"/>
          </a:solidFill>
          <a:latin typeface="Arial" charset="0"/>
        </a:defRPr>
      </a:lvl4pPr>
      <a:lvl5pPr algn="l" rtl="0" eaLnBrk="0" fontAlgn="base" hangingPunct="0">
        <a:lnSpc>
          <a:spcPct val="87000"/>
        </a:lnSpc>
        <a:spcBef>
          <a:spcPct val="0"/>
        </a:spcBef>
        <a:spcAft>
          <a:spcPct val="0"/>
        </a:spcAft>
        <a:defRPr sz="2800" b="1">
          <a:solidFill>
            <a:schemeClr val="accent2"/>
          </a:solidFill>
          <a:latin typeface="Arial" charset="0"/>
        </a:defRPr>
      </a:lvl5pPr>
      <a:lvl6pPr marL="457200" algn="l" rtl="0" eaLnBrk="0" fontAlgn="base" hangingPunct="0">
        <a:lnSpc>
          <a:spcPct val="87000"/>
        </a:lnSpc>
        <a:spcBef>
          <a:spcPct val="0"/>
        </a:spcBef>
        <a:spcAft>
          <a:spcPct val="0"/>
        </a:spcAft>
        <a:defRPr sz="2800" b="1">
          <a:solidFill>
            <a:schemeClr val="accent2"/>
          </a:solidFill>
          <a:latin typeface="Arial" charset="0"/>
        </a:defRPr>
      </a:lvl6pPr>
      <a:lvl7pPr marL="914400" algn="l" rtl="0" eaLnBrk="0" fontAlgn="base" hangingPunct="0">
        <a:lnSpc>
          <a:spcPct val="87000"/>
        </a:lnSpc>
        <a:spcBef>
          <a:spcPct val="0"/>
        </a:spcBef>
        <a:spcAft>
          <a:spcPct val="0"/>
        </a:spcAft>
        <a:defRPr sz="2800" b="1">
          <a:solidFill>
            <a:schemeClr val="accent2"/>
          </a:solidFill>
          <a:latin typeface="Arial" charset="0"/>
        </a:defRPr>
      </a:lvl7pPr>
      <a:lvl8pPr marL="1371600" algn="l" rtl="0" eaLnBrk="0" fontAlgn="base" hangingPunct="0">
        <a:lnSpc>
          <a:spcPct val="87000"/>
        </a:lnSpc>
        <a:spcBef>
          <a:spcPct val="0"/>
        </a:spcBef>
        <a:spcAft>
          <a:spcPct val="0"/>
        </a:spcAft>
        <a:defRPr sz="2800" b="1">
          <a:solidFill>
            <a:schemeClr val="accent2"/>
          </a:solidFill>
          <a:latin typeface="Arial" charset="0"/>
        </a:defRPr>
      </a:lvl8pPr>
      <a:lvl9pPr marL="1828800" algn="l" rtl="0" eaLnBrk="0" fontAlgn="base" hangingPunct="0">
        <a:lnSpc>
          <a:spcPct val="87000"/>
        </a:lnSpc>
        <a:spcBef>
          <a:spcPct val="0"/>
        </a:spcBef>
        <a:spcAft>
          <a:spcPct val="0"/>
        </a:spcAft>
        <a:defRPr sz="2800" b="1">
          <a:solidFill>
            <a:schemeClr val="accent2"/>
          </a:solidFill>
          <a:latin typeface="Arial" charset="0"/>
        </a:defRPr>
      </a:lvl9pPr>
    </p:titleStyle>
    <p:bodyStyle>
      <a:lvl1pPr marL="287338" indent="-287338" algn="l" rtl="0" eaLnBrk="0" fontAlgn="base" hangingPunct="0">
        <a:lnSpc>
          <a:spcPct val="90000"/>
        </a:lnSpc>
        <a:spcBef>
          <a:spcPct val="65000"/>
        </a:spcBef>
        <a:spcAft>
          <a:spcPct val="0"/>
        </a:spcAft>
        <a:buClr>
          <a:schemeClr val="accent1"/>
        </a:buClr>
        <a:buSzPct val="75000"/>
        <a:buFont typeface="Wingdings" pitchFamily="2" charset="2"/>
        <a:buChar char="q"/>
        <a:defRPr sz="2400">
          <a:solidFill>
            <a:schemeClr val="tx1"/>
          </a:solidFill>
          <a:latin typeface="+mn-lt"/>
          <a:ea typeface="+mn-ea"/>
          <a:cs typeface="+mn-cs"/>
        </a:defRPr>
      </a:lvl1pPr>
      <a:lvl2pPr marL="741363" indent="-246063" algn="l" rtl="0" eaLnBrk="0" fontAlgn="base" hangingPunct="0">
        <a:lnSpc>
          <a:spcPct val="85000"/>
        </a:lnSpc>
        <a:spcBef>
          <a:spcPct val="40000"/>
        </a:spcBef>
        <a:spcAft>
          <a:spcPct val="0"/>
        </a:spcAft>
        <a:buClr>
          <a:schemeClr val="accent1"/>
        </a:buClr>
        <a:buSzPct val="75000"/>
        <a:buFont typeface="Monotype Sorts" pitchFamily="2" charset="2"/>
        <a:buChar char="l"/>
        <a:defRPr sz="2000">
          <a:solidFill>
            <a:schemeClr val="tx1"/>
          </a:solidFill>
          <a:latin typeface="+mn-lt"/>
        </a:defRPr>
      </a:lvl2pPr>
      <a:lvl3pPr marL="1146175" indent="-176213" algn="l" rtl="0" eaLnBrk="0" fontAlgn="base" hangingPunct="0">
        <a:lnSpc>
          <a:spcPct val="85000"/>
        </a:lnSpc>
        <a:spcBef>
          <a:spcPct val="40000"/>
        </a:spcBef>
        <a:spcAft>
          <a:spcPct val="0"/>
        </a:spcAft>
        <a:buClr>
          <a:schemeClr val="accent1"/>
        </a:buClr>
        <a:buSzPct val="100000"/>
        <a:buChar char="-"/>
        <a:defRPr>
          <a:solidFill>
            <a:schemeClr val="tx1"/>
          </a:solidFill>
          <a:latin typeface="+mn-lt"/>
        </a:defRPr>
      </a:lvl3pPr>
      <a:lvl4pPr marL="1714500" indent="-342900" algn="l" rtl="0" eaLnBrk="0" fontAlgn="base" hangingPunct="0">
        <a:spcBef>
          <a:spcPct val="20000"/>
        </a:spcBef>
        <a:spcAft>
          <a:spcPct val="0"/>
        </a:spcAft>
        <a:buChar char="–"/>
        <a:defRPr sz="2000">
          <a:solidFill>
            <a:schemeClr val="tx1"/>
          </a:solidFill>
          <a:latin typeface="Times New Roman" pitchFamily="18" charset="0"/>
        </a:defRPr>
      </a:lvl4pPr>
      <a:lvl5pPr marL="2171700" indent="-342900" algn="l" rtl="0" eaLnBrk="0" fontAlgn="base" hangingPunct="0">
        <a:spcBef>
          <a:spcPct val="20000"/>
        </a:spcBef>
        <a:spcAft>
          <a:spcPct val="0"/>
        </a:spcAft>
        <a:buChar char="»"/>
        <a:defRPr sz="2000">
          <a:solidFill>
            <a:schemeClr val="tx1"/>
          </a:solidFill>
          <a:latin typeface="Times New Roman"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D6FB8-7834-7D49-B54B-F715DBAE56F1}" type="slidenum">
              <a:rPr lang="en-US" smtClean="0"/>
              <a:t>‹#›</a:t>
            </a:fld>
            <a:endParaRPr lang="en-US"/>
          </a:p>
        </p:txBody>
      </p:sp>
    </p:spTree>
    <p:extLst>
      <p:ext uri="{BB962C8B-B14F-4D97-AF65-F5344CB8AC3E}">
        <p14:creationId xmlns:p14="http://schemas.microsoft.com/office/powerpoint/2010/main" val="74739080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4D9223-CC43-4007-8255-F9F13EA03B73}" type="slidenum">
              <a:rPr lang="en-US" smtClean="0"/>
              <a:pPr/>
              <a:t>‹#›</a:t>
            </a:fld>
            <a:endParaRPr lang="en-US"/>
          </a:p>
        </p:txBody>
      </p:sp>
    </p:spTree>
    <p:extLst>
      <p:ext uri="{BB962C8B-B14F-4D97-AF65-F5344CB8AC3E}">
        <p14:creationId xmlns:p14="http://schemas.microsoft.com/office/powerpoint/2010/main" val="248306751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46" Type="http://schemas.openxmlformats.org/officeDocument/2006/relationships/notesSlide" Target="../notesSlides/notesSlide12.xml"/><Relationship Id="rId20" Type="http://schemas.openxmlformats.org/officeDocument/2006/relationships/tags" Target="../tags/tag20.xml"/><Relationship Id="rId21" Type="http://schemas.openxmlformats.org/officeDocument/2006/relationships/tags" Target="../tags/tag21.xml"/><Relationship Id="rId22" Type="http://schemas.openxmlformats.org/officeDocument/2006/relationships/tags" Target="../tags/tag22.xml"/><Relationship Id="rId23" Type="http://schemas.openxmlformats.org/officeDocument/2006/relationships/tags" Target="../tags/tag23.xml"/><Relationship Id="rId24" Type="http://schemas.openxmlformats.org/officeDocument/2006/relationships/tags" Target="../tags/tag24.xml"/><Relationship Id="rId25" Type="http://schemas.openxmlformats.org/officeDocument/2006/relationships/tags" Target="../tags/tag25.xml"/><Relationship Id="rId26" Type="http://schemas.openxmlformats.org/officeDocument/2006/relationships/tags" Target="../tags/tag26.xml"/><Relationship Id="rId27" Type="http://schemas.openxmlformats.org/officeDocument/2006/relationships/tags" Target="../tags/tag27.xml"/><Relationship Id="rId28" Type="http://schemas.openxmlformats.org/officeDocument/2006/relationships/tags" Target="../tags/tag28.xml"/><Relationship Id="rId29" Type="http://schemas.openxmlformats.org/officeDocument/2006/relationships/tags" Target="../tags/tag29.xml"/><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30" Type="http://schemas.openxmlformats.org/officeDocument/2006/relationships/tags" Target="../tags/tag30.xml"/><Relationship Id="rId31" Type="http://schemas.openxmlformats.org/officeDocument/2006/relationships/tags" Target="../tags/tag31.xml"/><Relationship Id="rId32" Type="http://schemas.openxmlformats.org/officeDocument/2006/relationships/tags" Target="../tags/tag32.xml"/><Relationship Id="rId9" Type="http://schemas.openxmlformats.org/officeDocument/2006/relationships/tags" Target="../tags/tag9.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33" Type="http://schemas.openxmlformats.org/officeDocument/2006/relationships/tags" Target="../tags/tag33.xml"/><Relationship Id="rId34" Type="http://schemas.openxmlformats.org/officeDocument/2006/relationships/tags" Target="../tags/tag34.xml"/><Relationship Id="rId35" Type="http://schemas.openxmlformats.org/officeDocument/2006/relationships/tags" Target="../tags/tag35.xml"/><Relationship Id="rId36" Type="http://schemas.openxmlformats.org/officeDocument/2006/relationships/tags" Target="../tags/tag36.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tags" Target="../tags/tag19.xml"/><Relationship Id="rId37" Type="http://schemas.openxmlformats.org/officeDocument/2006/relationships/tags" Target="../tags/tag37.xml"/><Relationship Id="rId38" Type="http://schemas.openxmlformats.org/officeDocument/2006/relationships/tags" Target="../tags/tag38.xml"/><Relationship Id="rId39" Type="http://schemas.openxmlformats.org/officeDocument/2006/relationships/tags" Target="../tags/tag39.xml"/><Relationship Id="rId40" Type="http://schemas.openxmlformats.org/officeDocument/2006/relationships/tags" Target="../tags/tag40.xml"/><Relationship Id="rId41" Type="http://schemas.openxmlformats.org/officeDocument/2006/relationships/tags" Target="../tags/tag41.xml"/><Relationship Id="rId42" Type="http://schemas.openxmlformats.org/officeDocument/2006/relationships/tags" Target="../tags/tag42.xml"/><Relationship Id="rId43" Type="http://schemas.openxmlformats.org/officeDocument/2006/relationships/tags" Target="../tags/tag43.xml"/><Relationship Id="rId44" Type="http://schemas.openxmlformats.org/officeDocument/2006/relationships/tags" Target="../tags/tag44.xml"/><Relationship Id="rId45"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46" Type="http://schemas.openxmlformats.org/officeDocument/2006/relationships/notesSlide" Target="../notesSlides/notesSlide19.xml"/><Relationship Id="rId20" Type="http://schemas.openxmlformats.org/officeDocument/2006/relationships/tags" Target="../tags/tag64.xml"/><Relationship Id="rId21" Type="http://schemas.openxmlformats.org/officeDocument/2006/relationships/tags" Target="../tags/tag65.xml"/><Relationship Id="rId22" Type="http://schemas.openxmlformats.org/officeDocument/2006/relationships/tags" Target="../tags/tag66.xml"/><Relationship Id="rId23" Type="http://schemas.openxmlformats.org/officeDocument/2006/relationships/tags" Target="../tags/tag67.xml"/><Relationship Id="rId24" Type="http://schemas.openxmlformats.org/officeDocument/2006/relationships/tags" Target="../tags/tag68.xml"/><Relationship Id="rId25" Type="http://schemas.openxmlformats.org/officeDocument/2006/relationships/tags" Target="../tags/tag69.xml"/><Relationship Id="rId26" Type="http://schemas.openxmlformats.org/officeDocument/2006/relationships/tags" Target="../tags/tag70.xml"/><Relationship Id="rId27" Type="http://schemas.openxmlformats.org/officeDocument/2006/relationships/tags" Target="../tags/tag71.xml"/><Relationship Id="rId28" Type="http://schemas.openxmlformats.org/officeDocument/2006/relationships/tags" Target="../tags/tag72.xml"/><Relationship Id="rId29" Type="http://schemas.openxmlformats.org/officeDocument/2006/relationships/tags" Target="../tags/tag73.xml"/><Relationship Id="rId1" Type="http://schemas.openxmlformats.org/officeDocument/2006/relationships/tags" Target="../tags/tag45.xml"/><Relationship Id="rId2" Type="http://schemas.openxmlformats.org/officeDocument/2006/relationships/tags" Target="../tags/tag46.xml"/><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30" Type="http://schemas.openxmlformats.org/officeDocument/2006/relationships/tags" Target="../tags/tag74.xml"/><Relationship Id="rId31" Type="http://schemas.openxmlformats.org/officeDocument/2006/relationships/tags" Target="../tags/tag75.xml"/><Relationship Id="rId32" Type="http://schemas.openxmlformats.org/officeDocument/2006/relationships/tags" Target="../tags/tag76.xml"/><Relationship Id="rId9" Type="http://schemas.openxmlformats.org/officeDocument/2006/relationships/tags" Target="../tags/tag53.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33" Type="http://schemas.openxmlformats.org/officeDocument/2006/relationships/tags" Target="../tags/tag77.xml"/><Relationship Id="rId34" Type="http://schemas.openxmlformats.org/officeDocument/2006/relationships/tags" Target="../tags/tag78.xml"/><Relationship Id="rId35" Type="http://schemas.openxmlformats.org/officeDocument/2006/relationships/tags" Target="../tags/tag79.xml"/><Relationship Id="rId36" Type="http://schemas.openxmlformats.org/officeDocument/2006/relationships/tags" Target="../tags/tag80.xml"/><Relationship Id="rId10" Type="http://schemas.openxmlformats.org/officeDocument/2006/relationships/tags" Target="../tags/tag54.xml"/><Relationship Id="rId11" Type="http://schemas.openxmlformats.org/officeDocument/2006/relationships/tags" Target="../tags/tag55.xml"/><Relationship Id="rId12" Type="http://schemas.openxmlformats.org/officeDocument/2006/relationships/tags" Target="../tags/tag56.xml"/><Relationship Id="rId13" Type="http://schemas.openxmlformats.org/officeDocument/2006/relationships/tags" Target="../tags/tag57.xml"/><Relationship Id="rId14" Type="http://schemas.openxmlformats.org/officeDocument/2006/relationships/tags" Target="../tags/tag58.xml"/><Relationship Id="rId15" Type="http://schemas.openxmlformats.org/officeDocument/2006/relationships/tags" Target="../tags/tag59.xml"/><Relationship Id="rId16" Type="http://schemas.openxmlformats.org/officeDocument/2006/relationships/tags" Target="../tags/tag60.xml"/><Relationship Id="rId17" Type="http://schemas.openxmlformats.org/officeDocument/2006/relationships/tags" Target="../tags/tag61.xml"/><Relationship Id="rId18" Type="http://schemas.openxmlformats.org/officeDocument/2006/relationships/tags" Target="../tags/tag62.xml"/><Relationship Id="rId19" Type="http://schemas.openxmlformats.org/officeDocument/2006/relationships/tags" Target="../tags/tag63.xml"/><Relationship Id="rId37" Type="http://schemas.openxmlformats.org/officeDocument/2006/relationships/tags" Target="../tags/tag81.xml"/><Relationship Id="rId38" Type="http://schemas.openxmlformats.org/officeDocument/2006/relationships/tags" Target="../tags/tag82.xml"/><Relationship Id="rId39" Type="http://schemas.openxmlformats.org/officeDocument/2006/relationships/tags" Target="../tags/tag83.xml"/><Relationship Id="rId40" Type="http://schemas.openxmlformats.org/officeDocument/2006/relationships/tags" Target="../tags/tag84.xml"/><Relationship Id="rId41" Type="http://schemas.openxmlformats.org/officeDocument/2006/relationships/tags" Target="../tags/tag85.xml"/><Relationship Id="rId42" Type="http://schemas.openxmlformats.org/officeDocument/2006/relationships/tags" Target="../tags/tag86.xml"/><Relationship Id="rId43" Type="http://schemas.openxmlformats.org/officeDocument/2006/relationships/tags" Target="../tags/tag87.xml"/><Relationship Id="rId44" Type="http://schemas.openxmlformats.org/officeDocument/2006/relationships/tags" Target="../tags/tag88.xml"/><Relationship Id="rId45"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2160485" y="1314638"/>
            <a:ext cx="4820230" cy="2193549"/>
          </a:xfrm>
          <a:noFill/>
        </p:spPr>
        <p:txBody>
          <a:bodyPr wrap="none" anchor="ctr"/>
          <a:lstStyle/>
          <a:p>
            <a:pPr algn="ctr"/>
            <a:r>
              <a:rPr lang="en-US" sz="3200" dirty="0" smtClean="0"/>
              <a:t>CSE 424</a:t>
            </a:r>
            <a:br>
              <a:rPr lang="en-US" sz="3200" dirty="0" smtClean="0"/>
            </a:br>
            <a:r>
              <a:rPr lang="en-US" sz="3200" dirty="0" smtClean="0"/>
              <a:t> Computer Architecture </a:t>
            </a:r>
            <a:r>
              <a:rPr lang="en-US" sz="3200" smtClean="0"/>
              <a:t/>
            </a:r>
            <a:br>
              <a:rPr lang="en-US" sz="3200" smtClean="0"/>
            </a:br>
            <a:r>
              <a:rPr lang="en-US" sz="3200" dirty="0" smtClean="0"/>
              <a:t/>
            </a:r>
            <a:br>
              <a:rPr lang="en-US" sz="3200" dirty="0" smtClean="0"/>
            </a:br>
            <a:r>
              <a:rPr lang="en-US" sz="3200" dirty="0" smtClean="0"/>
              <a:t/>
            </a:r>
            <a:br>
              <a:rPr lang="en-US" sz="3200" dirty="0" smtClean="0"/>
            </a:br>
            <a:r>
              <a:rPr lang="en-US" sz="3200" dirty="0" smtClean="0"/>
              <a:t>MIPS ISA (contd.)</a:t>
            </a:r>
          </a:p>
        </p:txBody>
      </p:sp>
      <p:sp>
        <p:nvSpPr>
          <p:cNvPr id="6147" name="Rectangle 3"/>
          <p:cNvSpPr>
            <a:spLocks noGrp="1" noChangeArrowheads="1"/>
          </p:cNvSpPr>
          <p:nvPr>
            <p:ph type="subTitle" idx="1"/>
          </p:nvPr>
        </p:nvSpPr>
        <p:spPr>
          <a:xfrm>
            <a:off x="1371600" y="4114800"/>
            <a:ext cx="6400800" cy="2430409"/>
          </a:xfrm>
          <a:noFill/>
        </p:spPr>
        <p:txBody>
          <a:bodyPr/>
          <a:lstStyle/>
          <a:p>
            <a:pPr marL="203200" indent="-203200"/>
            <a:r>
              <a:rPr lang="en-US" dirty="0" smtClean="0"/>
              <a:t>Adwait </a:t>
            </a:r>
            <a:r>
              <a:rPr lang="en-US" dirty="0"/>
              <a:t>Jog (http://</a:t>
            </a:r>
            <a:r>
              <a:rPr lang="en-US" dirty="0" err="1"/>
              <a:t>adwaitjog.github.io</a:t>
            </a:r>
            <a:r>
              <a:rPr lang="en-US" dirty="0"/>
              <a:t>/) </a:t>
            </a:r>
            <a:endParaRPr lang="en-US" dirty="0" smtClean="0"/>
          </a:p>
          <a:p>
            <a:pPr marL="203200" indent="-203200"/>
            <a:endParaRPr lang="en-US" dirty="0" smtClean="0"/>
          </a:p>
          <a:p>
            <a:pPr marL="203200" indent="-203200"/>
            <a:r>
              <a:rPr lang="en-US" sz="2000" dirty="0" smtClean="0"/>
              <a:t>Based on the slides from Mary. J. Irwin (Penn State)</a:t>
            </a:r>
          </a:p>
          <a:p>
            <a:pPr marL="203200" indent="-203200">
              <a:spcBef>
                <a:spcPct val="30000"/>
              </a:spcBef>
            </a:pPr>
            <a:r>
              <a:rPr lang="en-US" sz="1800" dirty="0" smtClean="0"/>
              <a:t>[Adapted from </a:t>
            </a:r>
            <a:r>
              <a:rPr lang="en-US" sz="1800" i="1" dirty="0" smtClean="0"/>
              <a:t>Computer Organization and Design, </a:t>
            </a:r>
          </a:p>
          <a:p>
            <a:pPr marL="203200" indent="-203200">
              <a:spcBef>
                <a:spcPct val="30000"/>
              </a:spcBef>
            </a:pPr>
            <a:r>
              <a:rPr lang="en-US" sz="1800" i="1" dirty="0" smtClean="0"/>
              <a:t>5</a:t>
            </a:r>
            <a:r>
              <a:rPr lang="en-US" sz="1800" i="1" baseline="30000" dirty="0" smtClean="0"/>
              <a:t>th</a:t>
            </a:r>
            <a:r>
              <a:rPr lang="en-US" sz="1800" i="1" dirty="0" smtClean="0"/>
              <a:t> Edition</a:t>
            </a:r>
            <a:r>
              <a:rPr lang="en-US" sz="1800" dirty="0"/>
              <a:t>, Patterson &amp; </a:t>
            </a:r>
            <a:r>
              <a:rPr lang="en-US" sz="1800" dirty="0" smtClean="0"/>
              <a:t>Hennessy, </a:t>
            </a:r>
          </a:p>
          <a:p>
            <a:pPr marL="203200" indent="-203200">
              <a:spcBef>
                <a:spcPct val="30000"/>
              </a:spcBef>
            </a:pPr>
            <a:r>
              <a:rPr lang="en-US" sz="1800" dirty="0" smtClean="0"/>
              <a:t>Morgan Kaufmann]</a:t>
            </a:r>
          </a:p>
        </p:txBody>
      </p:sp>
    </p:spTree>
    <p:extLst>
      <p:ext uri="{BB962C8B-B14F-4D97-AF65-F5344CB8AC3E}">
        <p14:creationId xmlns:p14="http://schemas.microsoft.com/office/powerpoint/2010/main" val="201829297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ChangeArrowheads="1"/>
          </p:cNvSpPr>
          <p:nvPr/>
        </p:nvSpPr>
        <p:spPr bwMode="auto">
          <a:xfrm>
            <a:off x="225425" y="312738"/>
            <a:ext cx="1190625" cy="477837"/>
          </a:xfrm>
          <a:prstGeom prst="rect">
            <a:avLst/>
          </a:prstGeom>
          <a:noFill/>
          <a:ln w="12700">
            <a:noFill/>
            <a:miter lim="800000"/>
            <a:headEnd/>
            <a:tailEnd/>
          </a:ln>
          <a:effectLst/>
        </p:spPr>
        <p:txBody>
          <a:bodyPr wrap="none" anchor="ctr"/>
          <a:lstStyle/>
          <a:p>
            <a:endParaRPr lang="en-US"/>
          </a:p>
        </p:txBody>
      </p:sp>
      <p:sp>
        <p:nvSpPr>
          <p:cNvPr id="670723" name="Rectangle 3"/>
          <p:cNvSpPr>
            <a:spLocks noGrp="1" noChangeArrowheads="1"/>
          </p:cNvSpPr>
          <p:nvPr>
            <p:ph type="body" idx="1"/>
          </p:nvPr>
        </p:nvSpPr>
        <p:spPr>
          <a:xfrm>
            <a:off x="457200" y="762000"/>
            <a:ext cx="8382000" cy="3112134"/>
          </a:xfrm>
          <a:noFill/>
          <a:ln/>
        </p:spPr>
        <p:txBody>
          <a:bodyPr lIns="90488" tIns="44450" rIns="90488" bIns="44450"/>
          <a:lstStyle/>
          <a:p>
            <a:pPr marL="342900" indent="-342900"/>
            <a:r>
              <a:rPr lang="en-US" dirty="0"/>
              <a:t>MIPS </a:t>
            </a:r>
            <a:r>
              <a:rPr lang="en-US" dirty="0">
                <a:solidFill>
                  <a:schemeClr val="accent1"/>
                </a:solidFill>
              </a:rPr>
              <a:t>conditional branch</a:t>
            </a:r>
            <a:r>
              <a:rPr lang="en-US" dirty="0"/>
              <a:t> instructions:</a:t>
            </a:r>
          </a:p>
          <a:p>
            <a:pPr marL="342900" indent="-342900">
              <a:buFont typeface="Wingdings" pitchFamily="2" charset="2"/>
              <a:buNone/>
            </a:pPr>
            <a:r>
              <a:rPr lang="en-US" dirty="0">
                <a:latin typeface="Courier New" pitchFamily="49" charset="0"/>
              </a:rPr>
              <a:t>	</a:t>
            </a:r>
            <a:r>
              <a:rPr lang="en-US" dirty="0" err="1">
                <a:latin typeface="Courier New" pitchFamily="49" charset="0"/>
              </a:rPr>
              <a:t>bne</a:t>
            </a:r>
            <a:r>
              <a:rPr lang="en-US" dirty="0">
                <a:latin typeface="Courier New" pitchFamily="49" charset="0"/>
              </a:rPr>
              <a:t> $s0, $s1, </a:t>
            </a:r>
            <a:r>
              <a:rPr lang="en-US" dirty="0" err="1">
                <a:latin typeface="Courier New" pitchFamily="49" charset="0"/>
              </a:rPr>
              <a:t>Lbl</a:t>
            </a:r>
            <a:r>
              <a:rPr lang="en-US" dirty="0">
                <a:latin typeface="Courier New" pitchFamily="49" charset="0"/>
              </a:rPr>
              <a:t>	#go to </a:t>
            </a:r>
            <a:r>
              <a:rPr lang="en-US" dirty="0" err="1">
                <a:latin typeface="Courier New" pitchFamily="49" charset="0"/>
              </a:rPr>
              <a:t>Lbl</a:t>
            </a:r>
            <a:r>
              <a:rPr lang="en-US" dirty="0">
                <a:latin typeface="Courier New" pitchFamily="49" charset="0"/>
              </a:rPr>
              <a:t> if $s0</a:t>
            </a:r>
            <a:r>
              <a:rPr lang="en-US" dirty="0">
                <a:latin typeface="Courier New" pitchFamily="49" charset="0"/>
                <a:sym typeface="Symbol" pitchFamily="18" charset="2"/>
              </a:rPr>
              <a:t></a:t>
            </a:r>
            <a:r>
              <a:rPr lang="en-US" dirty="0">
                <a:latin typeface="Courier New" pitchFamily="49" charset="0"/>
              </a:rPr>
              <a:t>$s1 </a:t>
            </a:r>
            <a:br>
              <a:rPr lang="en-US" dirty="0">
                <a:latin typeface="Courier New" pitchFamily="49" charset="0"/>
              </a:rPr>
            </a:br>
            <a:r>
              <a:rPr lang="en-US" dirty="0" err="1">
                <a:latin typeface="Courier New" pitchFamily="49" charset="0"/>
              </a:rPr>
              <a:t>beq</a:t>
            </a:r>
            <a:r>
              <a:rPr lang="en-US" dirty="0">
                <a:latin typeface="Courier New" pitchFamily="49" charset="0"/>
              </a:rPr>
              <a:t> $s0, $s1, </a:t>
            </a:r>
            <a:r>
              <a:rPr lang="en-US" dirty="0" err="1">
                <a:latin typeface="Courier New" pitchFamily="49" charset="0"/>
              </a:rPr>
              <a:t>Lbl</a:t>
            </a:r>
            <a:r>
              <a:rPr lang="en-US" dirty="0">
                <a:latin typeface="Courier New" pitchFamily="49" charset="0"/>
              </a:rPr>
              <a:t>	#go to </a:t>
            </a:r>
            <a:r>
              <a:rPr lang="en-US" dirty="0" err="1">
                <a:latin typeface="Courier New" pitchFamily="49" charset="0"/>
              </a:rPr>
              <a:t>Lbl</a:t>
            </a:r>
            <a:r>
              <a:rPr lang="en-US" dirty="0">
                <a:latin typeface="Courier New" pitchFamily="49" charset="0"/>
              </a:rPr>
              <a:t> if $s0=$s1</a:t>
            </a:r>
            <a:r>
              <a:rPr lang="en-US" sz="2000" dirty="0">
                <a:latin typeface="Courier New" pitchFamily="49" charset="0"/>
              </a:rPr>
              <a:t>	</a:t>
            </a:r>
            <a:endParaRPr lang="en-US" sz="2000" dirty="0"/>
          </a:p>
          <a:p>
            <a:pPr marL="742950" lvl="1" indent="-285750"/>
            <a:r>
              <a:rPr lang="en-US" dirty="0"/>
              <a:t>Ex:	</a:t>
            </a:r>
            <a:r>
              <a:rPr lang="en-US" dirty="0">
                <a:latin typeface="Courier New" pitchFamily="49" charset="0"/>
              </a:rPr>
              <a:t>if (</a:t>
            </a:r>
            <a:r>
              <a:rPr lang="en-US" dirty="0" err="1">
                <a:latin typeface="Courier New" pitchFamily="49" charset="0"/>
              </a:rPr>
              <a:t>i</a:t>
            </a:r>
            <a:r>
              <a:rPr lang="en-US" dirty="0">
                <a:latin typeface="Courier New" pitchFamily="49" charset="0"/>
              </a:rPr>
              <a:t>==j) h = </a:t>
            </a:r>
            <a:r>
              <a:rPr lang="en-US" dirty="0" err="1">
                <a:latin typeface="Courier New" pitchFamily="49" charset="0"/>
              </a:rPr>
              <a:t>i</a:t>
            </a:r>
            <a:r>
              <a:rPr lang="en-US" dirty="0">
                <a:latin typeface="Courier New" pitchFamily="49" charset="0"/>
              </a:rPr>
              <a:t> + j;</a:t>
            </a:r>
          </a:p>
          <a:p>
            <a:pPr marL="342900" indent="-342900">
              <a:lnSpc>
                <a:spcPct val="100000"/>
              </a:lnSpc>
              <a:buFont typeface="Wingdings" pitchFamily="2" charset="2"/>
              <a:buNone/>
            </a:pPr>
            <a:r>
              <a:rPr lang="en-US" dirty="0">
                <a:latin typeface="Courier New" pitchFamily="49" charset="0"/>
              </a:rPr>
              <a:t>			</a:t>
            </a:r>
            <a:r>
              <a:rPr lang="en-US" sz="2000" dirty="0" err="1">
                <a:latin typeface="Courier New" pitchFamily="49" charset="0"/>
              </a:rPr>
              <a:t>bne</a:t>
            </a:r>
            <a:r>
              <a:rPr lang="en-US" sz="2000" dirty="0">
                <a:latin typeface="Courier New" pitchFamily="49" charset="0"/>
              </a:rPr>
              <a:t> $s0, $s1, Lbl1</a:t>
            </a:r>
            <a:br>
              <a:rPr lang="en-US" sz="2000" dirty="0">
                <a:latin typeface="Courier New" pitchFamily="49" charset="0"/>
              </a:rPr>
            </a:br>
            <a:r>
              <a:rPr lang="en-US" sz="2000" dirty="0">
                <a:latin typeface="Courier New" pitchFamily="49" charset="0"/>
              </a:rPr>
              <a:t>		add $s3, $s0, $s1</a:t>
            </a:r>
            <a:br>
              <a:rPr lang="en-US" sz="2000" dirty="0">
                <a:latin typeface="Courier New" pitchFamily="49" charset="0"/>
              </a:rPr>
            </a:br>
            <a:r>
              <a:rPr lang="en-US" sz="2000" dirty="0">
                <a:latin typeface="Courier New" pitchFamily="49" charset="0"/>
              </a:rPr>
              <a:t>Lbl1:	...</a:t>
            </a:r>
          </a:p>
        </p:txBody>
      </p:sp>
      <p:sp>
        <p:nvSpPr>
          <p:cNvPr id="670724" name="Rectangle 4"/>
          <p:cNvSpPr>
            <a:spLocks noGrp="1" noChangeArrowheads="1"/>
          </p:cNvSpPr>
          <p:nvPr>
            <p:ph type="title"/>
          </p:nvPr>
        </p:nvSpPr>
        <p:spPr>
          <a:noFill/>
          <a:ln/>
        </p:spPr>
        <p:txBody>
          <a:bodyPr lIns="90488" tIns="44450" rIns="90488" bIns="44450" anchor="ctr"/>
          <a:lstStyle/>
          <a:p>
            <a:r>
              <a:rPr lang="en-US"/>
              <a:t>MIPS Control Flow Instructions</a:t>
            </a:r>
          </a:p>
        </p:txBody>
      </p:sp>
      <p:sp>
        <p:nvSpPr>
          <p:cNvPr id="670725" name="Rectangle 5"/>
          <p:cNvSpPr>
            <a:spLocks noChangeArrowheads="1"/>
          </p:cNvSpPr>
          <p:nvPr/>
        </p:nvSpPr>
        <p:spPr bwMode="auto">
          <a:xfrm>
            <a:off x="461994" y="4000504"/>
            <a:ext cx="8610600" cy="571504"/>
          </a:xfrm>
          <a:prstGeom prst="rect">
            <a:avLst/>
          </a:prstGeom>
          <a:noFill/>
          <a:ln w="12700">
            <a:noFill/>
            <a:miter lim="800000"/>
            <a:headEnd/>
            <a:tailEnd/>
          </a:ln>
          <a:effectLst/>
        </p:spPr>
        <p:txBody>
          <a:bodyPr lIns="90488" tIns="44450" rIns="90488" bIns="44450"/>
          <a:lstStyle/>
          <a:p>
            <a:pPr marL="342900" indent="-342900">
              <a:lnSpc>
                <a:spcPct val="90000"/>
              </a:lnSpc>
              <a:spcBef>
                <a:spcPct val="65000"/>
              </a:spcBef>
              <a:buClr>
                <a:schemeClr val="accent1"/>
              </a:buClr>
              <a:buSzPct val="75000"/>
              <a:buFont typeface="Wingdings" pitchFamily="2" charset="2"/>
              <a:buChar char="q"/>
            </a:pPr>
            <a:r>
              <a:rPr lang="en-US" sz="2400" dirty="0">
                <a:solidFill>
                  <a:schemeClr val="tx1"/>
                </a:solidFill>
              </a:rPr>
              <a:t>Instruction Format (</a:t>
            </a:r>
            <a:r>
              <a:rPr lang="en-US" sz="2400" dirty="0"/>
              <a:t>I</a:t>
            </a:r>
            <a:r>
              <a:rPr lang="en-US" sz="2400" dirty="0">
                <a:solidFill>
                  <a:schemeClr val="tx1"/>
                </a:solidFill>
              </a:rPr>
              <a:t> format):</a:t>
            </a:r>
            <a:br>
              <a:rPr lang="en-US" sz="2400" dirty="0">
                <a:solidFill>
                  <a:schemeClr val="tx1"/>
                </a:solidFill>
              </a:rPr>
            </a:br>
            <a:endParaRPr lang="en-US" sz="2800" dirty="0">
              <a:solidFill>
                <a:schemeClr val="tx1"/>
              </a:solidFill>
            </a:endParaRPr>
          </a:p>
        </p:txBody>
      </p:sp>
      <p:grpSp>
        <p:nvGrpSpPr>
          <p:cNvPr id="2" name="Group 6"/>
          <p:cNvGrpSpPr>
            <a:grpSpLocks/>
          </p:cNvGrpSpPr>
          <p:nvPr/>
        </p:nvGrpSpPr>
        <p:grpSpPr bwMode="auto">
          <a:xfrm>
            <a:off x="1566882" y="5202252"/>
            <a:ext cx="5791200" cy="369888"/>
            <a:chOff x="1056" y="3024"/>
            <a:chExt cx="3648" cy="233"/>
          </a:xfrm>
        </p:grpSpPr>
        <p:sp>
          <p:nvSpPr>
            <p:cNvPr id="670727" name="Rectangle 7"/>
            <p:cNvSpPr>
              <a:spLocks noChangeArrowheads="1"/>
            </p:cNvSpPr>
            <p:nvPr/>
          </p:nvSpPr>
          <p:spPr bwMode="auto">
            <a:xfrm>
              <a:off x="1056" y="3024"/>
              <a:ext cx="3648" cy="184"/>
            </a:xfrm>
            <a:prstGeom prst="rect">
              <a:avLst/>
            </a:prstGeom>
            <a:noFill/>
            <a:ln w="12700">
              <a:solidFill>
                <a:schemeClr val="tx1"/>
              </a:solidFill>
              <a:miter lim="800000"/>
              <a:headEnd/>
              <a:tailEnd/>
            </a:ln>
            <a:effectLst/>
          </p:spPr>
          <p:txBody>
            <a:bodyPr wrap="none" anchor="ctr"/>
            <a:lstStyle/>
            <a:p>
              <a:endParaRPr lang="en-US">
                <a:solidFill>
                  <a:schemeClr val="tx1"/>
                </a:solidFill>
              </a:endParaRPr>
            </a:p>
          </p:txBody>
        </p:sp>
        <p:sp>
          <p:nvSpPr>
            <p:cNvPr id="670728" name="Line 8"/>
            <p:cNvSpPr>
              <a:spLocks noChangeShapeType="1"/>
            </p:cNvSpPr>
            <p:nvPr/>
          </p:nvSpPr>
          <p:spPr bwMode="auto">
            <a:xfrm>
              <a:off x="1728" y="3024"/>
              <a:ext cx="0" cy="183"/>
            </a:xfrm>
            <a:prstGeom prst="line">
              <a:avLst/>
            </a:prstGeom>
            <a:noFill/>
            <a:ln w="12700">
              <a:solidFill>
                <a:schemeClr val="tx1"/>
              </a:solidFill>
              <a:round/>
              <a:headEnd/>
              <a:tailEnd/>
            </a:ln>
            <a:effectLst/>
          </p:spPr>
          <p:txBody>
            <a:bodyPr/>
            <a:lstStyle/>
            <a:p>
              <a:endParaRPr lang="en-US">
                <a:solidFill>
                  <a:schemeClr val="tx1"/>
                </a:solidFill>
              </a:endParaRPr>
            </a:p>
          </p:txBody>
        </p:sp>
        <p:sp>
          <p:nvSpPr>
            <p:cNvPr id="670729" name="Line 9"/>
            <p:cNvSpPr>
              <a:spLocks noChangeShapeType="1"/>
            </p:cNvSpPr>
            <p:nvPr/>
          </p:nvSpPr>
          <p:spPr bwMode="auto">
            <a:xfrm>
              <a:off x="2300" y="3025"/>
              <a:ext cx="0" cy="183"/>
            </a:xfrm>
            <a:prstGeom prst="line">
              <a:avLst/>
            </a:prstGeom>
            <a:noFill/>
            <a:ln w="12700">
              <a:solidFill>
                <a:schemeClr val="tx1"/>
              </a:solidFill>
              <a:round/>
              <a:headEnd/>
              <a:tailEnd/>
            </a:ln>
            <a:effectLst/>
          </p:spPr>
          <p:txBody>
            <a:bodyPr/>
            <a:lstStyle/>
            <a:p>
              <a:endParaRPr lang="en-US">
                <a:solidFill>
                  <a:schemeClr val="tx1"/>
                </a:solidFill>
              </a:endParaRPr>
            </a:p>
          </p:txBody>
        </p:sp>
        <p:sp>
          <p:nvSpPr>
            <p:cNvPr id="670730" name="Line 10"/>
            <p:cNvSpPr>
              <a:spLocks noChangeShapeType="1"/>
            </p:cNvSpPr>
            <p:nvPr/>
          </p:nvSpPr>
          <p:spPr bwMode="auto">
            <a:xfrm>
              <a:off x="2876" y="3025"/>
              <a:ext cx="0" cy="183"/>
            </a:xfrm>
            <a:prstGeom prst="line">
              <a:avLst/>
            </a:prstGeom>
            <a:noFill/>
            <a:ln w="12700">
              <a:solidFill>
                <a:schemeClr val="tx1"/>
              </a:solidFill>
              <a:round/>
              <a:headEnd/>
              <a:tailEnd/>
            </a:ln>
            <a:effectLst/>
          </p:spPr>
          <p:txBody>
            <a:bodyPr/>
            <a:lstStyle/>
            <a:p>
              <a:endParaRPr lang="en-US">
                <a:solidFill>
                  <a:schemeClr val="tx1"/>
                </a:solidFill>
              </a:endParaRPr>
            </a:p>
          </p:txBody>
        </p:sp>
        <p:sp>
          <p:nvSpPr>
            <p:cNvPr id="670731" name="Text Box 11"/>
            <p:cNvSpPr txBox="1">
              <a:spLocks noChangeArrowheads="1"/>
            </p:cNvSpPr>
            <p:nvPr/>
          </p:nvSpPr>
          <p:spPr bwMode="auto">
            <a:xfrm>
              <a:off x="1200" y="3024"/>
              <a:ext cx="2734" cy="233"/>
            </a:xfrm>
            <a:prstGeom prst="rect">
              <a:avLst/>
            </a:prstGeom>
            <a:noFill/>
            <a:ln w="12700">
              <a:noFill/>
              <a:miter lim="800000"/>
              <a:headEnd/>
              <a:tailEnd/>
            </a:ln>
            <a:effectLst/>
          </p:spPr>
          <p:txBody>
            <a:bodyPr wrap="none">
              <a:spAutoFit/>
            </a:bodyPr>
            <a:lstStyle/>
            <a:p>
              <a:r>
                <a:rPr lang="en-US" dirty="0" smtClean="0">
                  <a:solidFill>
                    <a:schemeClr val="tx1"/>
                  </a:solidFill>
                </a:rPr>
                <a:t>0x05          16          17              </a:t>
              </a:r>
              <a:r>
                <a:rPr lang="en-US" dirty="0" smtClean="0"/>
                <a:t>        ???</a:t>
              </a:r>
              <a:endParaRPr lang="en-US" dirty="0"/>
            </a:p>
          </p:txBody>
        </p:sp>
      </p:grpSp>
      <p:sp>
        <p:nvSpPr>
          <p:cNvPr id="670733" name="Rectangle 13"/>
          <p:cNvSpPr>
            <a:spLocks noChangeArrowheads="1"/>
          </p:cNvSpPr>
          <p:nvPr/>
        </p:nvSpPr>
        <p:spPr bwMode="auto">
          <a:xfrm>
            <a:off x="509614" y="5819796"/>
            <a:ext cx="7848600" cy="609600"/>
          </a:xfrm>
          <a:prstGeom prst="rect">
            <a:avLst/>
          </a:prstGeom>
          <a:noFill/>
          <a:ln w="12700">
            <a:noFill/>
            <a:miter lim="800000"/>
            <a:headEnd/>
            <a:tailEnd/>
          </a:ln>
          <a:effectLst/>
        </p:spPr>
        <p:txBody>
          <a:bodyPr lIns="90488" tIns="44450" rIns="90488" bIns="44450"/>
          <a:lstStyle/>
          <a:p>
            <a:pPr marL="342900" indent="-342900">
              <a:lnSpc>
                <a:spcPct val="90000"/>
              </a:lnSpc>
              <a:spcBef>
                <a:spcPct val="65000"/>
              </a:spcBef>
              <a:buClr>
                <a:schemeClr val="accent1"/>
              </a:buClr>
              <a:buSzPct val="75000"/>
              <a:buFont typeface="Wingdings" pitchFamily="2" charset="2"/>
              <a:buChar char="q"/>
            </a:pPr>
            <a:r>
              <a:rPr lang="en-US" sz="2400" dirty="0">
                <a:solidFill>
                  <a:schemeClr val="tx1"/>
                </a:solidFill>
              </a:rPr>
              <a:t>How is the branch destination address specified?</a:t>
            </a:r>
            <a:r>
              <a:rPr lang="en-US" sz="2800" dirty="0">
                <a:solidFill>
                  <a:schemeClr val="tx1"/>
                </a:solidFill>
              </a:rPr>
              <a:t/>
            </a:r>
            <a:br>
              <a:rPr lang="en-US" sz="2800" dirty="0">
                <a:solidFill>
                  <a:schemeClr val="tx1"/>
                </a:solidFill>
              </a:rPr>
            </a:br>
            <a:endParaRPr lang="en-US" sz="2800" dirty="0">
              <a:solidFill>
                <a:schemeClr val="tx1"/>
              </a:solidFill>
            </a:endParaRPr>
          </a:p>
        </p:txBody>
      </p:sp>
      <p:grpSp>
        <p:nvGrpSpPr>
          <p:cNvPr id="13" name="Group 11"/>
          <p:cNvGrpSpPr>
            <a:grpSpLocks/>
          </p:cNvGrpSpPr>
          <p:nvPr/>
        </p:nvGrpSpPr>
        <p:grpSpPr bwMode="auto">
          <a:xfrm>
            <a:off x="1566882" y="4491048"/>
            <a:ext cx="5791200" cy="369887"/>
            <a:chOff x="1056" y="3024"/>
            <a:chExt cx="3648" cy="233"/>
          </a:xfrm>
        </p:grpSpPr>
        <p:sp>
          <p:nvSpPr>
            <p:cNvPr id="14" name="Rectangle 12"/>
            <p:cNvSpPr>
              <a:spLocks noChangeArrowheads="1"/>
            </p:cNvSpPr>
            <p:nvPr/>
          </p:nvSpPr>
          <p:spPr bwMode="auto">
            <a:xfrm>
              <a:off x="1056" y="3024"/>
              <a:ext cx="3648" cy="184"/>
            </a:xfrm>
            <a:prstGeom prst="rect">
              <a:avLst/>
            </a:prstGeom>
            <a:noFill/>
            <a:ln w="12700">
              <a:solidFill>
                <a:schemeClr val="tx1"/>
              </a:solidFill>
              <a:miter lim="800000"/>
              <a:headEnd/>
              <a:tailEnd/>
            </a:ln>
            <a:effectLst/>
          </p:spPr>
          <p:txBody>
            <a:bodyPr wrap="none" anchor="ctr"/>
            <a:lstStyle/>
            <a:p>
              <a:endParaRPr lang="en-US"/>
            </a:p>
          </p:txBody>
        </p:sp>
        <p:sp>
          <p:nvSpPr>
            <p:cNvPr id="15" name="Line 13"/>
            <p:cNvSpPr>
              <a:spLocks noChangeShapeType="1"/>
            </p:cNvSpPr>
            <p:nvPr/>
          </p:nvSpPr>
          <p:spPr bwMode="auto">
            <a:xfrm>
              <a:off x="1728" y="3024"/>
              <a:ext cx="0" cy="183"/>
            </a:xfrm>
            <a:prstGeom prst="line">
              <a:avLst/>
            </a:prstGeom>
            <a:noFill/>
            <a:ln w="12700">
              <a:solidFill>
                <a:schemeClr val="tx1"/>
              </a:solidFill>
              <a:round/>
              <a:headEnd/>
              <a:tailEnd/>
            </a:ln>
            <a:effectLst/>
          </p:spPr>
          <p:txBody>
            <a:bodyPr/>
            <a:lstStyle/>
            <a:p>
              <a:endParaRPr lang="en-US"/>
            </a:p>
          </p:txBody>
        </p:sp>
        <p:sp>
          <p:nvSpPr>
            <p:cNvPr id="16" name="Line 14"/>
            <p:cNvSpPr>
              <a:spLocks noChangeShapeType="1"/>
            </p:cNvSpPr>
            <p:nvPr/>
          </p:nvSpPr>
          <p:spPr bwMode="auto">
            <a:xfrm>
              <a:off x="2300" y="3025"/>
              <a:ext cx="0" cy="183"/>
            </a:xfrm>
            <a:prstGeom prst="line">
              <a:avLst/>
            </a:prstGeom>
            <a:noFill/>
            <a:ln w="12700">
              <a:solidFill>
                <a:schemeClr val="tx1"/>
              </a:solidFill>
              <a:round/>
              <a:headEnd/>
              <a:tailEnd/>
            </a:ln>
            <a:effectLst/>
          </p:spPr>
          <p:txBody>
            <a:bodyPr/>
            <a:lstStyle/>
            <a:p>
              <a:endParaRPr lang="en-US"/>
            </a:p>
          </p:txBody>
        </p:sp>
        <p:sp>
          <p:nvSpPr>
            <p:cNvPr id="17" name="Line 15"/>
            <p:cNvSpPr>
              <a:spLocks noChangeShapeType="1"/>
            </p:cNvSpPr>
            <p:nvPr/>
          </p:nvSpPr>
          <p:spPr bwMode="auto">
            <a:xfrm>
              <a:off x="2876" y="3025"/>
              <a:ext cx="0" cy="183"/>
            </a:xfrm>
            <a:prstGeom prst="line">
              <a:avLst/>
            </a:prstGeom>
            <a:noFill/>
            <a:ln w="12700">
              <a:solidFill>
                <a:schemeClr val="tx1"/>
              </a:solidFill>
              <a:round/>
              <a:headEnd/>
              <a:tailEnd/>
            </a:ln>
            <a:effectLst/>
          </p:spPr>
          <p:txBody>
            <a:bodyPr/>
            <a:lstStyle/>
            <a:p>
              <a:endParaRPr lang="en-US"/>
            </a:p>
          </p:txBody>
        </p:sp>
        <p:sp>
          <p:nvSpPr>
            <p:cNvPr id="18" name="Text Box 16"/>
            <p:cNvSpPr txBox="1">
              <a:spLocks noChangeArrowheads="1"/>
            </p:cNvSpPr>
            <p:nvPr/>
          </p:nvSpPr>
          <p:spPr bwMode="auto">
            <a:xfrm>
              <a:off x="1200" y="3024"/>
              <a:ext cx="2928" cy="233"/>
            </a:xfrm>
            <a:prstGeom prst="rect">
              <a:avLst/>
            </a:prstGeom>
            <a:noFill/>
            <a:ln w="12700">
              <a:noFill/>
              <a:miter lim="800000"/>
              <a:headEnd/>
              <a:tailEnd/>
            </a:ln>
            <a:effectLst/>
          </p:spPr>
          <p:txBody>
            <a:bodyPr wrap="none">
              <a:spAutoFit/>
            </a:bodyPr>
            <a:lstStyle/>
            <a:p>
              <a:r>
                <a:rPr lang="en-US" dirty="0">
                  <a:solidFill>
                    <a:schemeClr val="tx1"/>
                  </a:solidFill>
                </a:rPr>
                <a:t>op            </a:t>
              </a:r>
              <a:r>
                <a:rPr lang="en-US" dirty="0" err="1">
                  <a:solidFill>
                    <a:schemeClr val="tx1"/>
                  </a:solidFill>
                </a:rPr>
                <a:t>rs</a:t>
              </a:r>
              <a:r>
                <a:rPr lang="en-US" dirty="0">
                  <a:solidFill>
                    <a:schemeClr val="tx1"/>
                  </a:solidFill>
                </a:rPr>
                <a:t>             </a:t>
              </a:r>
              <a:r>
                <a:rPr lang="en-US" dirty="0" err="1">
                  <a:solidFill>
                    <a:schemeClr val="tx1"/>
                  </a:solidFill>
                </a:rPr>
                <a:t>rt</a:t>
              </a:r>
              <a:r>
                <a:rPr lang="en-US" dirty="0">
                  <a:solidFill>
                    <a:schemeClr val="tx1"/>
                  </a:solidFill>
                </a:rPr>
                <a:t>                 </a:t>
              </a:r>
              <a:r>
                <a:rPr lang="en-US" dirty="0" smtClean="0">
                  <a:solidFill>
                    <a:srgbClr val="FF0000"/>
                  </a:solidFill>
                </a:rPr>
                <a:t>16-bit value</a:t>
              </a:r>
              <a:endParaRPr lang="en-US" dirty="0">
                <a:solidFill>
                  <a:srgbClr val="FF0000"/>
                </a:solidFill>
              </a:endParaRPr>
            </a:p>
          </p:txBody>
        </p:sp>
      </p:grpSp>
      <p:sp>
        <p:nvSpPr>
          <p:cNvPr id="19" name="AutoShape 18"/>
          <p:cNvSpPr>
            <a:spLocks noChangeArrowheads="1"/>
          </p:cNvSpPr>
          <p:nvPr/>
        </p:nvSpPr>
        <p:spPr bwMode="auto">
          <a:xfrm>
            <a:off x="4114800" y="4929198"/>
            <a:ext cx="381000" cy="152400"/>
          </a:xfrm>
          <a:prstGeom prst="downArrow">
            <a:avLst>
              <a:gd name="adj1" fmla="val 50000"/>
              <a:gd name="adj2" fmla="val 25000"/>
            </a:avLst>
          </a:prstGeom>
          <a:noFill/>
          <a:ln w="12700">
            <a:solidFill>
              <a:schemeClr val="tx1"/>
            </a:solidFill>
            <a:miter lim="800000"/>
            <a:headEnd/>
            <a:tailEnd/>
          </a:ln>
          <a:effectLst/>
        </p:spPr>
        <p:txBody>
          <a:bodyPr wrap="none" anchor="ctr"/>
          <a:lstStyle/>
          <a:p>
            <a:endParaRPr lang="en-US"/>
          </a:p>
        </p:txBody>
      </p:sp>
    </p:spTree>
    <p:extLst>
      <p:ext uri="{BB962C8B-B14F-4D97-AF65-F5344CB8AC3E}">
        <p14:creationId xmlns:p14="http://schemas.microsoft.com/office/powerpoint/2010/main" val="585090866"/>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07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33"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r>
              <a:rPr lang="en-US"/>
              <a:t>Specifying Branch Destinations</a:t>
            </a:r>
          </a:p>
        </p:txBody>
      </p:sp>
      <p:sp>
        <p:nvSpPr>
          <p:cNvPr id="296963" name="Rectangle 3"/>
          <p:cNvSpPr>
            <a:spLocks noGrp="1" noChangeArrowheads="1"/>
          </p:cNvSpPr>
          <p:nvPr>
            <p:ph type="body" idx="1"/>
          </p:nvPr>
        </p:nvSpPr>
        <p:spPr>
          <a:xfrm>
            <a:off x="3581400" y="1641475"/>
            <a:ext cx="5334000" cy="4394023"/>
          </a:xfrm>
        </p:spPr>
        <p:txBody>
          <a:bodyPr/>
          <a:lstStyle/>
          <a:p>
            <a:pPr>
              <a:spcBef>
                <a:spcPts val="600"/>
              </a:spcBef>
            </a:pPr>
            <a:r>
              <a:rPr lang="en-US" dirty="0"/>
              <a:t>Could use a “base” register and add to it the 16-bit offset</a:t>
            </a:r>
          </a:p>
          <a:p>
            <a:pPr lvl="1">
              <a:spcBef>
                <a:spcPts val="600"/>
              </a:spcBef>
            </a:pPr>
            <a:r>
              <a:rPr lang="en-US" dirty="0"/>
              <a:t>which register?</a:t>
            </a:r>
          </a:p>
          <a:p>
            <a:pPr lvl="2">
              <a:spcBef>
                <a:spcPts val="600"/>
              </a:spcBef>
            </a:pPr>
            <a:r>
              <a:rPr lang="en-US" dirty="0"/>
              <a:t>Instruction Address Register        </a:t>
            </a:r>
            <a:r>
              <a:rPr lang="en-US" dirty="0" smtClean="0"/>
              <a:t>     </a:t>
            </a:r>
            <a:r>
              <a:rPr lang="en-US" dirty="0"/>
              <a:t>(</a:t>
            </a:r>
            <a:r>
              <a:rPr lang="en-US" dirty="0">
                <a:solidFill>
                  <a:schemeClr val="accent1"/>
                </a:solidFill>
              </a:rPr>
              <a:t>PC = program counter</a:t>
            </a:r>
            <a:r>
              <a:rPr lang="en-US" dirty="0"/>
              <a:t>) - its use is automatically </a:t>
            </a:r>
            <a:r>
              <a:rPr lang="en-US" dirty="0">
                <a:solidFill>
                  <a:schemeClr val="accent1"/>
                </a:solidFill>
              </a:rPr>
              <a:t>implied</a:t>
            </a:r>
            <a:r>
              <a:rPr lang="en-US" dirty="0"/>
              <a:t> by branch</a:t>
            </a:r>
          </a:p>
          <a:p>
            <a:pPr lvl="2">
              <a:spcBef>
                <a:spcPts val="600"/>
              </a:spcBef>
            </a:pPr>
            <a:r>
              <a:rPr lang="en-US" dirty="0"/>
              <a:t>PC gets updated (PC+4) during the </a:t>
            </a:r>
            <a:r>
              <a:rPr lang="en-US" dirty="0">
                <a:solidFill>
                  <a:schemeClr val="accent1"/>
                </a:solidFill>
              </a:rPr>
              <a:t>Fetch</a:t>
            </a:r>
            <a:r>
              <a:rPr lang="en-US" dirty="0"/>
              <a:t> cycle so that it holds the address of the next instruction</a:t>
            </a:r>
          </a:p>
          <a:p>
            <a:pPr lvl="1">
              <a:spcBef>
                <a:spcPts val="600"/>
              </a:spcBef>
            </a:pPr>
            <a:r>
              <a:rPr lang="en-US" dirty="0"/>
              <a:t>limits the branch distance to      </a:t>
            </a:r>
            <a:r>
              <a:rPr lang="en-US" dirty="0" smtClean="0"/>
              <a:t>             </a:t>
            </a:r>
            <a:r>
              <a:rPr lang="en-US" dirty="0">
                <a:solidFill>
                  <a:schemeClr val="accent1"/>
                </a:solidFill>
              </a:rPr>
              <a:t>-2</a:t>
            </a:r>
            <a:r>
              <a:rPr lang="en-US" baseline="30000" dirty="0">
                <a:solidFill>
                  <a:schemeClr val="accent1"/>
                </a:solidFill>
              </a:rPr>
              <a:t>15</a:t>
            </a:r>
            <a:r>
              <a:rPr lang="en-US" dirty="0">
                <a:solidFill>
                  <a:schemeClr val="accent1"/>
                </a:solidFill>
              </a:rPr>
              <a:t> to +2</a:t>
            </a:r>
            <a:r>
              <a:rPr lang="en-US" baseline="30000" dirty="0">
                <a:solidFill>
                  <a:schemeClr val="accent1"/>
                </a:solidFill>
              </a:rPr>
              <a:t>15</a:t>
            </a:r>
            <a:r>
              <a:rPr lang="en-US" dirty="0">
                <a:solidFill>
                  <a:schemeClr val="accent1"/>
                </a:solidFill>
              </a:rPr>
              <a:t>-1</a:t>
            </a:r>
            <a:r>
              <a:rPr lang="en-US" dirty="0"/>
              <a:t> </a:t>
            </a:r>
            <a:r>
              <a:rPr lang="en-US" dirty="0" smtClean="0"/>
              <a:t>instructions </a:t>
            </a:r>
            <a:r>
              <a:rPr lang="en-US" dirty="0"/>
              <a:t>from the (instruction after the) branch</a:t>
            </a:r>
          </a:p>
          <a:p>
            <a:pPr lvl="2">
              <a:spcBef>
                <a:spcPts val="600"/>
              </a:spcBef>
            </a:pPr>
            <a:r>
              <a:rPr lang="en-US" dirty="0"/>
              <a:t>but most branches are local anyway</a:t>
            </a:r>
          </a:p>
        </p:txBody>
      </p:sp>
      <p:sp>
        <p:nvSpPr>
          <p:cNvPr id="296964" name="Line 4"/>
          <p:cNvSpPr>
            <a:spLocks noChangeShapeType="1"/>
          </p:cNvSpPr>
          <p:nvPr/>
        </p:nvSpPr>
        <p:spPr bwMode="auto">
          <a:xfrm>
            <a:off x="1295400" y="2438400"/>
            <a:ext cx="0" cy="2895600"/>
          </a:xfrm>
          <a:prstGeom prst="line">
            <a:avLst/>
          </a:prstGeom>
          <a:noFill/>
          <a:ln w="12700">
            <a:solidFill>
              <a:schemeClr val="tx1"/>
            </a:solidFill>
            <a:round/>
            <a:headEnd/>
            <a:tailEnd/>
          </a:ln>
          <a:effectLst/>
        </p:spPr>
        <p:txBody>
          <a:bodyPr/>
          <a:lstStyle/>
          <a:p>
            <a:endParaRPr lang="en-US"/>
          </a:p>
        </p:txBody>
      </p:sp>
      <p:sp>
        <p:nvSpPr>
          <p:cNvPr id="296966" name="Line 6"/>
          <p:cNvSpPr>
            <a:spLocks noChangeShapeType="1"/>
          </p:cNvSpPr>
          <p:nvPr/>
        </p:nvSpPr>
        <p:spPr bwMode="auto">
          <a:xfrm>
            <a:off x="3733800" y="2514600"/>
            <a:ext cx="0" cy="2895600"/>
          </a:xfrm>
          <a:prstGeom prst="line">
            <a:avLst/>
          </a:prstGeom>
          <a:noFill/>
          <a:ln w="12700">
            <a:solidFill>
              <a:schemeClr val="tx1"/>
            </a:solidFill>
            <a:round/>
            <a:headEnd/>
            <a:tailEnd/>
          </a:ln>
          <a:effectLst/>
        </p:spPr>
        <p:txBody>
          <a:bodyPr/>
          <a:lstStyle/>
          <a:p>
            <a:endParaRPr lang="en-US"/>
          </a:p>
        </p:txBody>
      </p:sp>
      <p:sp>
        <p:nvSpPr>
          <p:cNvPr id="296967" name="Line 7"/>
          <p:cNvSpPr>
            <a:spLocks noChangeShapeType="1"/>
          </p:cNvSpPr>
          <p:nvPr/>
        </p:nvSpPr>
        <p:spPr bwMode="auto">
          <a:xfrm>
            <a:off x="1295400" y="3352800"/>
            <a:ext cx="2438400" cy="0"/>
          </a:xfrm>
          <a:prstGeom prst="line">
            <a:avLst/>
          </a:prstGeom>
          <a:noFill/>
          <a:ln w="12700">
            <a:solidFill>
              <a:schemeClr val="tx1"/>
            </a:solidFill>
            <a:round/>
            <a:headEnd/>
            <a:tailEnd/>
          </a:ln>
          <a:effectLst/>
        </p:spPr>
        <p:txBody>
          <a:bodyPr/>
          <a:lstStyle/>
          <a:p>
            <a:endParaRPr lang="en-US"/>
          </a:p>
        </p:txBody>
      </p:sp>
      <p:sp>
        <p:nvSpPr>
          <p:cNvPr id="296968" name="Line 8"/>
          <p:cNvSpPr>
            <a:spLocks noChangeShapeType="1"/>
          </p:cNvSpPr>
          <p:nvPr/>
        </p:nvSpPr>
        <p:spPr bwMode="auto">
          <a:xfrm>
            <a:off x="1295400" y="3886200"/>
            <a:ext cx="2438400" cy="0"/>
          </a:xfrm>
          <a:prstGeom prst="line">
            <a:avLst/>
          </a:prstGeom>
          <a:noFill/>
          <a:ln w="12700">
            <a:solidFill>
              <a:schemeClr val="tx1"/>
            </a:solidFill>
            <a:round/>
            <a:headEnd/>
            <a:tailEnd/>
          </a:ln>
          <a:effectLst/>
        </p:spPr>
        <p:txBody>
          <a:bodyPr/>
          <a:lstStyle/>
          <a:p>
            <a:endParaRPr lang="en-US"/>
          </a:p>
        </p:txBody>
      </p:sp>
      <p:sp>
        <p:nvSpPr>
          <p:cNvPr id="296969" name="Line 9"/>
          <p:cNvSpPr>
            <a:spLocks noChangeShapeType="1"/>
          </p:cNvSpPr>
          <p:nvPr/>
        </p:nvSpPr>
        <p:spPr bwMode="auto">
          <a:xfrm>
            <a:off x="1295400" y="4343400"/>
            <a:ext cx="2438400" cy="0"/>
          </a:xfrm>
          <a:prstGeom prst="line">
            <a:avLst/>
          </a:prstGeom>
          <a:noFill/>
          <a:ln w="12700">
            <a:solidFill>
              <a:schemeClr val="tx1"/>
            </a:solidFill>
            <a:round/>
            <a:headEnd/>
            <a:tailEnd/>
          </a:ln>
          <a:effectLst/>
        </p:spPr>
        <p:txBody>
          <a:bodyPr/>
          <a:lstStyle/>
          <a:p>
            <a:endParaRPr lang="en-US"/>
          </a:p>
        </p:txBody>
      </p:sp>
      <p:sp>
        <p:nvSpPr>
          <p:cNvPr id="296970" name="Line 10"/>
          <p:cNvSpPr>
            <a:spLocks noChangeShapeType="1"/>
          </p:cNvSpPr>
          <p:nvPr/>
        </p:nvSpPr>
        <p:spPr bwMode="auto">
          <a:xfrm>
            <a:off x="1295400" y="4800600"/>
            <a:ext cx="2438400" cy="0"/>
          </a:xfrm>
          <a:prstGeom prst="line">
            <a:avLst/>
          </a:prstGeom>
          <a:noFill/>
          <a:ln w="12700">
            <a:solidFill>
              <a:schemeClr val="tx1"/>
            </a:solidFill>
            <a:round/>
            <a:headEnd/>
            <a:tailEnd/>
          </a:ln>
          <a:effectLst/>
        </p:spPr>
        <p:txBody>
          <a:bodyPr/>
          <a:lstStyle/>
          <a:p>
            <a:endParaRPr lang="en-US"/>
          </a:p>
        </p:txBody>
      </p:sp>
      <p:sp>
        <p:nvSpPr>
          <p:cNvPr id="296972" name="Text Box 12"/>
          <p:cNvSpPr txBox="1">
            <a:spLocks noChangeArrowheads="1"/>
          </p:cNvSpPr>
          <p:nvPr/>
        </p:nvSpPr>
        <p:spPr bwMode="auto">
          <a:xfrm>
            <a:off x="1219200" y="3429000"/>
            <a:ext cx="2622550" cy="396875"/>
          </a:xfrm>
          <a:prstGeom prst="rect">
            <a:avLst/>
          </a:prstGeom>
          <a:noFill/>
          <a:ln w="12700">
            <a:noFill/>
            <a:miter lim="800000"/>
            <a:headEnd/>
            <a:tailEnd/>
          </a:ln>
          <a:effectLst/>
        </p:spPr>
        <p:txBody>
          <a:bodyPr wrap="none">
            <a:spAutoFit/>
          </a:bodyPr>
          <a:lstStyle/>
          <a:p>
            <a:r>
              <a:rPr lang="en-US" sz="2000">
                <a:solidFill>
                  <a:schemeClr val="tx1"/>
                </a:solidFill>
                <a:latin typeface="Courier New" pitchFamily="49" charset="0"/>
              </a:rPr>
              <a:t>bne $s0,$s1,Lbl1</a:t>
            </a:r>
          </a:p>
        </p:txBody>
      </p:sp>
      <p:sp>
        <p:nvSpPr>
          <p:cNvPr id="296973" name="Text Box 13"/>
          <p:cNvSpPr txBox="1">
            <a:spLocks noChangeArrowheads="1"/>
          </p:cNvSpPr>
          <p:nvPr/>
        </p:nvSpPr>
        <p:spPr bwMode="auto">
          <a:xfrm>
            <a:off x="1219200" y="3843338"/>
            <a:ext cx="2470150" cy="396875"/>
          </a:xfrm>
          <a:prstGeom prst="rect">
            <a:avLst/>
          </a:prstGeom>
          <a:noFill/>
          <a:ln w="12700">
            <a:noFill/>
            <a:miter lim="800000"/>
            <a:headEnd/>
            <a:tailEnd/>
          </a:ln>
          <a:effectLst/>
        </p:spPr>
        <p:txBody>
          <a:bodyPr wrap="none">
            <a:spAutoFit/>
          </a:bodyPr>
          <a:lstStyle/>
          <a:p>
            <a:r>
              <a:rPr lang="en-US" sz="2000">
                <a:solidFill>
                  <a:schemeClr val="tx1"/>
                </a:solidFill>
                <a:latin typeface="Courier New" pitchFamily="49" charset="0"/>
              </a:rPr>
              <a:t>add $s3,$s0,$s1</a:t>
            </a:r>
          </a:p>
        </p:txBody>
      </p:sp>
      <p:sp>
        <p:nvSpPr>
          <p:cNvPr id="296974" name="Text Box 14"/>
          <p:cNvSpPr txBox="1">
            <a:spLocks noChangeArrowheads="1"/>
          </p:cNvSpPr>
          <p:nvPr/>
        </p:nvSpPr>
        <p:spPr bwMode="auto">
          <a:xfrm>
            <a:off x="1431925" y="4403725"/>
            <a:ext cx="641350" cy="396875"/>
          </a:xfrm>
          <a:prstGeom prst="rect">
            <a:avLst/>
          </a:prstGeom>
          <a:noFill/>
          <a:ln w="12700">
            <a:noFill/>
            <a:miter lim="800000"/>
            <a:headEnd/>
            <a:tailEnd/>
          </a:ln>
          <a:effectLst/>
        </p:spPr>
        <p:txBody>
          <a:bodyPr wrap="none">
            <a:spAutoFit/>
          </a:bodyPr>
          <a:lstStyle/>
          <a:p>
            <a:r>
              <a:rPr lang="en-US" sz="2000">
                <a:solidFill>
                  <a:schemeClr val="tx1"/>
                </a:solidFill>
                <a:latin typeface="Courier New" pitchFamily="49" charset="0"/>
              </a:rPr>
              <a:t>...</a:t>
            </a:r>
          </a:p>
        </p:txBody>
      </p:sp>
      <p:sp>
        <p:nvSpPr>
          <p:cNvPr id="296975" name="Text Box 15"/>
          <p:cNvSpPr txBox="1">
            <a:spLocks noChangeArrowheads="1"/>
          </p:cNvSpPr>
          <p:nvPr/>
        </p:nvSpPr>
        <p:spPr bwMode="auto">
          <a:xfrm>
            <a:off x="381000" y="4402138"/>
            <a:ext cx="946150" cy="396875"/>
          </a:xfrm>
          <a:prstGeom prst="rect">
            <a:avLst/>
          </a:prstGeom>
          <a:noFill/>
          <a:ln w="12700">
            <a:noFill/>
            <a:miter lim="800000"/>
            <a:headEnd/>
            <a:tailEnd/>
          </a:ln>
          <a:effectLst/>
        </p:spPr>
        <p:txBody>
          <a:bodyPr wrap="none">
            <a:spAutoFit/>
          </a:bodyPr>
          <a:lstStyle/>
          <a:p>
            <a:r>
              <a:rPr lang="en-US" sz="2000">
                <a:solidFill>
                  <a:schemeClr val="tx1"/>
                </a:solidFill>
                <a:latin typeface="Courier New" pitchFamily="49" charset="0"/>
              </a:rPr>
              <a:t>Lbl1:</a:t>
            </a:r>
          </a:p>
        </p:txBody>
      </p:sp>
      <p:cxnSp>
        <p:nvCxnSpPr>
          <p:cNvPr id="296976" name="AutoShape 16"/>
          <p:cNvCxnSpPr>
            <a:cxnSpLocks noChangeShapeType="1"/>
            <a:stCxn id="296972" idx="3"/>
            <a:endCxn id="296975" idx="0"/>
          </p:cNvCxnSpPr>
          <p:nvPr/>
        </p:nvCxnSpPr>
        <p:spPr bwMode="auto">
          <a:xfrm flipH="1">
            <a:off x="854075" y="3627438"/>
            <a:ext cx="2987675" cy="774700"/>
          </a:xfrm>
          <a:prstGeom prst="curvedConnector4">
            <a:avLst>
              <a:gd name="adj1" fmla="val -7653"/>
              <a:gd name="adj2" fmla="val 62704"/>
            </a:avLst>
          </a:prstGeom>
          <a:noFill/>
          <a:ln w="28575">
            <a:solidFill>
              <a:schemeClr val="accent1"/>
            </a:solidFill>
            <a:round/>
            <a:headEnd/>
            <a:tailEnd type="triangle" w="med" len="med"/>
          </a:ln>
          <a:effectLst/>
        </p:spPr>
      </p:cxnSp>
      <p:sp>
        <p:nvSpPr>
          <p:cNvPr id="296977" name="Rectangle 17"/>
          <p:cNvSpPr>
            <a:spLocks noChangeArrowheads="1"/>
          </p:cNvSpPr>
          <p:nvPr/>
        </p:nvSpPr>
        <p:spPr bwMode="auto">
          <a:xfrm>
            <a:off x="609600" y="762000"/>
            <a:ext cx="7848600" cy="789960"/>
          </a:xfrm>
          <a:prstGeom prst="rect">
            <a:avLst/>
          </a:prstGeom>
          <a:noFill/>
          <a:ln w="12700">
            <a:noFill/>
            <a:miter lim="800000"/>
            <a:headEnd/>
            <a:tailEnd/>
          </a:ln>
          <a:effectLst/>
        </p:spPr>
        <p:txBody>
          <a:bodyPr lIns="63500" tIns="25400" rIns="63500" bIns="25400">
            <a:spAutoFit/>
          </a:bodyPr>
          <a:lstStyle/>
          <a:p>
            <a:pPr marL="287338" indent="-287338">
              <a:spcBef>
                <a:spcPts val="0"/>
              </a:spcBef>
              <a:buClr>
                <a:schemeClr val="accent1"/>
              </a:buClr>
              <a:buSzPct val="75000"/>
              <a:buFont typeface="Wingdings" pitchFamily="2" charset="2"/>
              <a:buChar char="q"/>
            </a:pPr>
            <a:r>
              <a:rPr lang="en-US" sz="2400" dirty="0">
                <a:solidFill>
                  <a:schemeClr val="tx1"/>
                </a:solidFill>
              </a:rPr>
              <a:t>Could specify the memory </a:t>
            </a:r>
            <a:r>
              <a:rPr lang="en-US" sz="2400" dirty="0" smtClean="0">
                <a:solidFill>
                  <a:schemeClr val="tx1"/>
                </a:solidFill>
              </a:rPr>
              <a:t>address of the branch target </a:t>
            </a:r>
            <a:r>
              <a:rPr lang="en-US" sz="2400" dirty="0">
                <a:solidFill>
                  <a:schemeClr val="tx1"/>
                </a:solidFill>
              </a:rPr>
              <a:t>- but that would require a </a:t>
            </a:r>
            <a:r>
              <a:rPr lang="en-US" sz="2400" dirty="0" smtClean="0">
                <a:solidFill>
                  <a:schemeClr val="tx1"/>
                </a:solidFill>
              </a:rPr>
              <a:t>32-bit </a:t>
            </a:r>
            <a:r>
              <a:rPr lang="en-US" sz="2400" dirty="0">
                <a:solidFill>
                  <a:schemeClr val="tx1"/>
                </a:solidFill>
              </a:rPr>
              <a:t>field</a:t>
            </a:r>
          </a:p>
        </p:txBody>
      </p:sp>
      <p:sp>
        <p:nvSpPr>
          <p:cNvPr id="296978" name="Text Box 18"/>
          <p:cNvSpPr txBox="1">
            <a:spLocks noChangeArrowheads="1"/>
          </p:cNvSpPr>
          <p:nvPr/>
        </p:nvSpPr>
        <p:spPr bwMode="auto">
          <a:xfrm>
            <a:off x="468313" y="3413125"/>
            <a:ext cx="979487" cy="396875"/>
          </a:xfrm>
          <a:prstGeom prst="rect">
            <a:avLst/>
          </a:prstGeom>
          <a:noFill/>
          <a:ln w="12700">
            <a:noFill/>
            <a:miter lim="800000"/>
            <a:headEnd/>
            <a:tailEnd/>
          </a:ln>
          <a:effectLst/>
        </p:spPr>
        <p:txBody>
          <a:bodyPr>
            <a:spAutoFit/>
          </a:bodyPr>
          <a:lstStyle/>
          <a:p>
            <a:r>
              <a:rPr lang="en-US" sz="2000">
                <a:latin typeface="Courier New" pitchFamily="49" charset="0"/>
              </a:rPr>
              <a:t>PC </a:t>
            </a:r>
            <a:r>
              <a:rPr lang="en-US" sz="2000">
                <a:latin typeface="Courier New" pitchFamily="49" charset="0"/>
                <a:sym typeface="Symbol" pitchFamily="18" charset="2"/>
              </a:rPr>
              <a:t></a:t>
            </a:r>
            <a:endParaRPr lang="en-US" sz="2000">
              <a:latin typeface="Courier New" pitchFamily="49" charset="0"/>
            </a:endParaRPr>
          </a:p>
        </p:txBody>
      </p:sp>
    </p:spTree>
    <p:extLst>
      <p:ext uri="{BB962C8B-B14F-4D97-AF65-F5344CB8AC3E}">
        <p14:creationId xmlns:p14="http://schemas.microsoft.com/office/powerpoint/2010/main" val="80833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96976"/>
                                        </p:tgtEl>
                                        <p:attrNameLst>
                                          <p:attrName>style.visibility</p:attrName>
                                        </p:attrNameLst>
                                      </p:cBhvr>
                                      <p:to>
                                        <p:strVal val="visible"/>
                                      </p:to>
                                    </p:set>
                                    <p:animEffect transition="in" filter="wipe(up)">
                                      <p:cBhvr>
                                        <p:cTn id="7" dur="500"/>
                                        <p:tgtEl>
                                          <p:spTgt spid="29697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9696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96963">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499"/>
                                          </p:stCondLst>
                                        </p:cTn>
                                        <p:tgtEl>
                                          <p:spTgt spid="296963">
                                            <p:txEl>
                                              <p:pRg st="2" end="2"/>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499"/>
                                          </p:stCondLst>
                                        </p:cTn>
                                        <p:tgtEl>
                                          <p:spTgt spid="296963">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296963">
                                            <p:txEl>
                                              <p:pRg st="4" end="4"/>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499"/>
                                          </p:stCondLst>
                                        </p:cTn>
                                        <p:tgtEl>
                                          <p:spTgt spid="296963">
                                            <p:txEl>
                                              <p:pRg st="5" end="5"/>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499"/>
                                          </p:stCondLst>
                                        </p:cTn>
                                        <p:tgtEl>
                                          <p:spTgt spid="2969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build="p" bldLvl="2" autoUpdateAnimBg="0"/>
      <p:bldP spid="29697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1026"/>
          <p:cNvSpPr>
            <a:spLocks noGrp="1" noChangeArrowheads="1"/>
          </p:cNvSpPr>
          <p:nvPr>
            <p:ph type="title"/>
          </p:nvPr>
        </p:nvSpPr>
        <p:spPr/>
        <p:txBody>
          <a:bodyPr/>
          <a:lstStyle/>
          <a:p>
            <a:r>
              <a:rPr lang="en-US"/>
              <a:t>Disassembling Branch Destinations</a:t>
            </a:r>
          </a:p>
        </p:txBody>
      </p:sp>
      <p:sp>
        <p:nvSpPr>
          <p:cNvPr id="388099" name="Rectangle 1027"/>
          <p:cNvSpPr>
            <a:spLocks noGrp="1" noChangeArrowheads="1"/>
          </p:cNvSpPr>
          <p:nvPr>
            <p:ph type="body" idx="1"/>
          </p:nvPr>
        </p:nvSpPr>
        <p:spPr>
          <a:xfrm>
            <a:off x="381000" y="793750"/>
            <a:ext cx="8305800" cy="2144177"/>
          </a:xfrm>
        </p:spPr>
        <p:txBody>
          <a:bodyPr/>
          <a:lstStyle/>
          <a:p>
            <a:pPr>
              <a:spcBef>
                <a:spcPts val="0"/>
              </a:spcBef>
            </a:pPr>
            <a:r>
              <a:rPr lang="en-US" dirty="0"/>
              <a:t>The contents of the updated PC (PC+4) is added to the 16 bit branch offset which is converted into a </a:t>
            </a:r>
            <a:r>
              <a:rPr lang="en-US" dirty="0" smtClean="0"/>
              <a:t>32-bit </a:t>
            </a:r>
            <a:r>
              <a:rPr lang="en-US" dirty="0"/>
              <a:t>value by</a:t>
            </a:r>
          </a:p>
          <a:p>
            <a:pPr lvl="1">
              <a:spcBef>
                <a:spcPts val="0"/>
              </a:spcBef>
            </a:pPr>
            <a:r>
              <a:rPr lang="en-US" dirty="0"/>
              <a:t>concatenating two low-order zeros to make it a word address and then sign-extending those 18 bits</a:t>
            </a:r>
          </a:p>
          <a:p>
            <a:pPr>
              <a:spcBef>
                <a:spcPts val="0"/>
              </a:spcBef>
            </a:pPr>
            <a:r>
              <a:rPr lang="en-US" dirty="0"/>
              <a:t>The result is written into the PC if the branch condition is </a:t>
            </a:r>
            <a:r>
              <a:rPr lang="en-US" dirty="0" smtClean="0"/>
              <a:t>true as part of the </a:t>
            </a:r>
            <a:r>
              <a:rPr lang="en-US" dirty="0" smtClean="0">
                <a:solidFill>
                  <a:srgbClr val="FF0000"/>
                </a:solidFill>
              </a:rPr>
              <a:t>Exec</a:t>
            </a:r>
            <a:r>
              <a:rPr lang="en-US" dirty="0" smtClean="0"/>
              <a:t> cycle </a:t>
            </a:r>
            <a:r>
              <a:rPr lang="en-US" dirty="0"/>
              <a:t>- before the next </a:t>
            </a:r>
            <a:r>
              <a:rPr lang="en-US" dirty="0">
                <a:solidFill>
                  <a:srgbClr val="FF0000"/>
                </a:solidFill>
              </a:rPr>
              <a:t>Fetch</a:t>
            </a:r>
            <a:r>
              <a:rPr lang="en-US" dirty="0"/>
              <a:t> cycle</a:t>
            </a:r>
          </a:p>
        </p:txBody>
      </p:sp>
      <p:grpSp>
        <p:nvGrpSpPr>
          <p:cNvPr id="2" name="Group 1101"/>
          <p:cNvGrpSpPr>
            <a:grpSpLocks/>
          </p:cNvGrpSpPr>
          <p:nvPr/>
        </p:nvGrpSpPr>
        <p:grpSpPr bwMode="auto">
          <a:xfrm>
            <a:off x="990600" y="3286124"/>
            <a:ext cx="6324600" cy="2819400"/>
            <a:chOff x="912" y="2304"/>
            <a:chExt cx="3984" cy="1776"/>
          </a:xfrm>
        </p:grpSpPr>
        <p:sp>
          <p:nvSpPr>
            <p:cNvPr id="388100" name="Rectangle 1028"/>
            <p:cNvSpPr>
              <a:spLocks noChangeArrowheads="1"/>
            </p:cNvSpPr>
            <p:nvPr/>
          </p:nvSpPr>
          <p:spPr bwMode="auto">
            <a:xfrm>
              <a:off x="1296" y="3552"/>
              <a:ext cx="1440" cy="144"/>
            </a:xfrm>
            <a:prstGeom prst="rect">
              <a:avLst/>
            </a:prstGeom>
            <a:noFill/>
            <a:ln w="12700">
              <a:solidFill>
                <a:schemeClr val="tx1"/>
              </a:solidFill>
              <a:miter lim="800000"/>
              <a:headEnd/>
              <a:tailEnd/>
            </a:ln>
            <a:effectLst/>
          </p:spPr>
          <p:txBody>
            <a:bodyPr wrap="none" anchor="ctr"/>
            <a:lstStyle/>
            <a:p>
              <a:endParaRPr lang="en-US"/>
            </a:p>
          </p:txBody>
        </p:sp>
        <p:sp>
          <p:nvSpPr>
            <p:cNvPr id="388101" name="Rectangle 1029"/>
            <p:cNvSpPr>
              <a:spLocks noChangeArrowheads="1"/>
            </p:cNvSpPr>
            <p:nvPr/>
          </p:nvSpPr>
          <p:spPr bwMode="auto">
            <a:xfrm>
              <a:off x="1903" y="3552"/>
              <a:ext cx="257" cy="186"/>
            </a:xfrm>
            <a:prstGeom prst="rect">
              <a:avLst/>
            </a:prstGeom>
            <a:noFill/>
            <a:ln w="12700">
              <a:noFill/>
              <a:miter lim="800000"/>
              <a:headEnd/>
              <a:tailEnd/>
            </a:ln>
            <a:effectLst/>
          </p:spPr>
          <p:txBody>
            <a:bodyPr wrap="none" lIns="63500" tIns="25400" rIns="63500" bIns="25400">
              <a:spAutoFit/>
            </a:bodyPr>
            <a:lstStyle/>
            <a:p>
              <a:r>
                <a:rPr lang="en-US" sz="1600">
                  <a:solidFill>
                    <a:schemeClr val="tx1"/>
                  </a:solidFill>
                </a:rPr>
                <a:t>PC</a:t>
              </a:r>
            </a:p>
          </p:txBody>
        </p:sp>
        <p:grpSp>
          <p:nvGrpSpPr>
            <p:cNvPr id="3" name="Group 1030"/>
            <p:cNvGrpSpPr>
              <a:grpSpLocks/>
            </p:cNvGrpSpPr>
            <p:nvPr/>
          </p:nvGrpSpPr>
          <p:grpSpPr bwMode="auto">
            <a:xfrm>
              <a:off x="3648" y="3312"/>
              <a:ext cx="288" cy="480"/>
              <a:chOff x="1392" y="2880"/>
              <a:chExt cx="288" cy="480"/>
            </a:xfrm>
          </p:grpSpPr>
          <p:sp>
            <p:nvSpPr>
              <p:cNvPr id="388103" name="Line 1031"/>
              <p:cNvSpPr>
                <a:spLocks noChangeShapeType="1"/>
              </p:cNvSpPr>
              <p:nvPr/>
            </p:nvSpPr>
            <p:spPr bwMode="auto">
              <a:xfrm>
                <a:off x="1392" y="3072"/>
                <a:ext cx="48" cy="48"/>
              </a:xfrm>
              <a:prstGeom prst="line">
                <a:avLst/>
              </a:prstGeom>
              <a:noFill/>
              <a:ln w="12700">
                <a:solidFill>
                  <a:schemeClr val="tx1"/>
                </a:solidFill>
                <a:round/>
                <a:headEnd/>
                <a:tailEnd/>
              </a:ln>
              <a:effectLst/>
            </p:spPr>
            <p:txBody>
              <a:bodyPr/>
              <a:lstStyle/>
              <a:p>
                <a:endParaRPr lang="en-US"/>
              </a:p>
            </p:txBody>
          </p:sp>
          <p:sp>
            <p:nvSpPr>
              <p:cNvPr id="388104" name="Line 1032"/>
              <p:cNvSpPr>
                <a:spLocks noChangeShapeType="1"/>
              </p:cNvSpPr>
              <p:nvPr/>
            </p:nvSpPr>
            <p:spPr bwMode="auto">
              <a:xfrm flipH="1">
                <a:off x="1392" y="3120"/>
                <a:ext cx="48" cy="48"/>
              </a:xfrm>
              <a:prstGeom prst="line">
                <a:avLst/>
              </a:prstGeom>
              <a:noFill/>
              <a:ln w="12700">
                <a:solidFill>
                  <a:schemeClr val="tx1"/>
                </a:solidFill>
                <a:round/>
                <a:headEnd/>
                <a:tailEnd/>
              </a:ln>
              <a:effectLst/>
            </p:spPr>
            <p:txBody>
              <a:bodyPr/>
              <a:lstStyle/>
              <a:p>
                <a:endParaRPr lang="en-US"/>
              </a:p>
            </p:txBody>
          </p:sp>
          <p:sp>
            <p:nvSpPr>
              <p:cNvPr id="388105" name="Line 1033"/>
              <p:cNvSpPr>
                <a:spLocks noChangeShapeType="1"/>
              </p:cNvSpPr>
              <p:nvPr/>
            </p:nvSpPr>
            <p:spPr bwMode="auto">
              <a:xfrm flipV="1">
                <a:off x="1392" y="2880"/>
                <a:ext cx="0" cy="192"/>
              </a:xfrm>
              <a:prstGeom prst="line">
                <a:avLst/>
              </a:prstGeom>
              <a:noFill/>
              <a:ln w="12700">
                <a:solidFill>
                  <a:schemeClr val="tx1"/>
                </a:solidFill>
                <a:round/>
                <a:headEnd/>
                <a:tailEnd/>
              </a:ln>
              <a:effectLst/>
            </p:spPr>
            <p:txBody>
              <a:bodyPr/>
              <a:lstStyle/>
              <a:p>
                <a:endParaRPr lang="en-US"/>
              </a:p>
            </p:txBody>
          </p:sp>
          <p:sp>
            <p:nvSpPr>
              <p:cNvPr id="388106" name="Line 1034"/>
              <p:cNvSpPr>
                <a:spLocks noChangeShapeType="1"/>
              </p:cNvSpPr>
              <p:nvPr/>
            </p:nvSpPr>
            <p:spPr bwMode="auto">
              <a:xfrm flipV="1">
                <a:off x="1392" y="3168"/>
                <a:ext cx="0" cy="192"/>
              </a:xfrm>
              <a:prstGeom prst="line">
                <a:avLst/>
              </a:prstGeom>
              <a:noFill/>
              <a:ln w="12700">
                <a:solidFill>
                  <a:schemeClr val="tx1"/>
                </a:solidFill>
                <a:round/>
                <a:headEnd/>
                <a:tailEnd/>
              </a:ln>
              <a:effectLst/>
            </p:spPr>
            <p:txBody>
              <a:bodyPr/>
              <a:lstStyle/>
              <a:p>
                <a:endParaRPr lang="en-US"/>
              </a:p>
            </p:txBody>
          </p:sp>
          <p:sp>
            <p:nvSpPr>
              <p:cNvPr id="388107" name="Line 1035"/>
              <p:cNvSpPr>
                <a:spLocks noChangeShapeType="1"/>
              </p:cNvSpPr>
              <p:nvPr/>
            </p:nvSpPr>
            <p:spPr bwMode="auto">
              <a:xfrm flipV="1">
                <a:off x="1392" y="3216"/>
                <a:ext cx="288" cy="144"/>
              </a:xfrm>
              <a:prstGeom prst="line">
                <a:avLst/>
              </a:prstGeom>
              <a:noFill/>
              <a:ln w="12700">
                <a:solidFill>
                  <a:schemeClr val="tx1"/>
                </a:solidFill>
                <a:round/>
                <a:headEnd/>
                <a:tailEnd/>
              </a:ln>
              <a:effectLst/>
            </p:spPr>
            <p:txBody>
              <a:bodyPr/>
              <a:lstStyle/>
              <a:p>
                <a:endParaRPr lang="en-US"/>
              </a:p>
            </p:txBody>
          </p:sp>
          <p:sp>
            <p:nvSpPr>
              <p:cNvPr id="388108" name="Line 1036"/>
              <p:cNvSpPr>
                <a:spLocks noChangeShapeType="1"/>
              </p:cNvSpPr>
              <p:nvPr/>
            </p:nvSpPr>
            <p:spPr bwMode="auto">
              <a:xfrm flipV="1">
                <a:off x="1680" y="3024"/>
                <a:ext cx="0" cy="192"/>
              </a:xfrm>
              <a:prstGeom prst="line">
                <a:avLst/>
              </a:prstGeom>
              <a:noFill/>
              <a:ln w="12700">
                <a:solidFill>
                  <a:schemeClr val="tx1"/>
                </a:solidFill>
                <a:round/>
                <a:headEnd/>
                <a:tailEnd/>
              </a:ln>
              <a:effectLst/>
            </p:spPr>
            <p:txBody>
              <a:bodyPr/>
              <a:lstStyle/>
              <a:p>
                <a:endParaRPr lang="en-US"/>
              </a:p>
            </p:txBody>
          </p:sp>
          <p:sp>
            <p:nvSpPr>
              <p:cNvPr id="388109" name="Line 1037"/>
              <p:cNvSpPr>
                <a:spLocks noChangeShapeType="1"/>
              </p:cNvSpPr>
              <p:nvPr/>
            </p:nvSpPr>
            <p:spPr bwMode="auto">
              <a:xfrm>
                <a:off x="1392" y="2880"/>
                <a:ext cx="288" cy="144"/>
              </a:xfrm>
              <a:prstGeom prst="line">
                <a:avLst/>
              </a:prstGeom>
              <a:noFill/>
              <a:ln w="12700">
                <a:solidFill>
                  <a:schemeClr val="tx1"/>
                </a:solidFill>
                <a:round/>
                <a:headEnd/>
                <a:tailEnd/>
              </a:ln>
              <a:effectLst/>
            </p:spPr>
            <p:txBody>
              <a:bodyPr/>
              <a:lstStyle/>
              <a:p>
                <a:endParaRPr lang="en-US"/>
              </a:p>
            </p:txBody>
          </p:sp>
        </p:grpSp>
        <p:sp>
          <p:nvSpPr>
            <p:cNvPr id="388110" name="Rectangle 1038"/>
            <p:cNvSpPr>
              <a:spLocks noChangeArrowheads="1"/>
            </p:cNvSpPr>
            <p:nvPr/>
          </p:nvSpPr>
          <p:spPr bwMode="auto">
            <a:xfrm>
              <a:off x="3648" y="3456"/>
              <a:ext cx="279" cy="166"/>
            </a:xfrm>
            <a:prstGeom prst="rect">
              <a:avLst/>
            </a:prstGeom>
            <a:noFill/>
            <a:ln w="12700">
              <a:noFill/>
              <a:miter lim="800000"/>
              <a:headEnd/>
              <a:tailEnd/>
            </a:ln>
            <a:effectLst/>
          </p:spPr>
          <p:txBody>
            <a:bodyPr wrap="none" lIns="63500" tIns="25400" rIns="63500" bIns="25400">
              <a:spAutoFit/>
            </a:bodyPr>
            <a:lstStyle/>
            <a:p>
              <a:r>
                <a:rPr lang="en-US" sz="1400">
                  <a:solidFill>
                    <a:schemeClr val="tx1"/>
                  </a:solidFill>
                </a:rPr>
                <a:t>Add</a:t>
              </a:r>
            </a:p>
          </p:txBody>
        </p:sp>
        <p:sp>
          <p:nvSpPr>
            <p:cNvPr id="388111" name="Line 1039"/>
            <p:cNvSpPr>
              <a:spLocks noChangeShapeType="1"/>
            </p:cNvSpPr>
            <p:nvPr/>
          </p:nvSpPr>
          <p:spPr bwMode="auto">
            <a:xfrm flipV="1">
              <a:off x="3024" y="3408"/>
              <a:ext cx="624" cy="0"/>
            </a:xfrm>
            <a:prstGeom prst="line">
              <a:avLst/>
            </a:prstGeom>
            <a:noFill/>
            <a:ln w="12700">
              <a:solidFill>
                <a:schemeClr val="tx1"/>
              </a:solidFill>
              <a:round/>
              <a:headEnd/>
              <a:tailEnd type="triangle" w="med" len="med"/>
            </a:ln>
            <a:effectLst/>
          </p:spPr>
          <p:txBody>
            <a:bodyPr/>
            <a:lstStyle/>
            <a:p>
              <a:endParaRPr lang="en-US"/>
            </a:p>
          </p:txBody>
        </p:sp>
        <p:sp>
          <p:nvSpPr>
            <p:cNvPr id="388112" name="Line 1040"/>
            <p:cNvSpPr>
              <a:spLocks noChangeShapeType="1"/>
            </p:cNvSpPr>
            <p:nvPr/>
          </p:nvSpPr>
          <p:spPr bwMode="auto">
            <a:xfrm flipV="1">
              <a:off x="3312" y="3696"/>
              <a:ext cx="336" cy="0"/>
            </a:xfrm>
            <a:prstGeom prst="line">
              <a:avLst/>
            </a:prstGeom>
            <a:noFill/>
            <a:ln w="12700">
              <a:solidFill>
                <a:schemeClr val="tx1"/>
              </a:solidFill>
              <a:round/>
              <a:headEnd/>
              <a:tailEnd type="triangle" w="med" len="med"/>
            </a:ln>
            <a:effectLst/>
          </p:spPr>
          <p:txBody>
            <a:bodyPr/>
            <a:lstStyle/>
            <a:p>
              <a:endParaRPr lang="en-US"/>
            </a:p>
          </p:txBody>
        </p:sp>
        <p:sp>
          <p:nvSpPr>
            <p:cNvPr id="388113" name="Line 1041"/>
            <p:cNvSpPr>
              <a:spLocks noChangeShapeType="1"/>
            </p:cNvSpPr>
            <p:nvPr/>
          </p:nvSpPr>
          <p:spPr bwMode="auto">
            <a:xfrm flipV="1">
              <a:off x="3936" y="3552"/>
              <a:ext cx="336" cy="0"/>
            </a:xfrm>
            <a:prstGeom prst="line">
              <a:avLst/>
            </a:prstGeom>
            <a:noFill/>
            <a:ln w="12700">
              <a:solidFill>
                <a:schemeClr val="tx1"/>
              </a:solidFill>
              <a:round/>
              <a:headEnd/>
              <a:tailEnd type="triangle" w="med" len="med"/>
            </a:ln>
            <a:effectLst/>
          </p:spPr>
          <p:txBody>
            <a:bodyPr/>
            <a:lstStyle/>
            <a:p>
              <a:endParaRPr lang="en-US"/>
            </a:p>
          </p:txBody>
        </p:sp>
        <p:sp>
          <p:nvSpPr>
            <p:cNvPr id="388115" name="Line 1043"/>
            <p:cNvSpPr>
              <a:spLocks noChangeShapeType="1"/>
            </p:cNvSpPr>
            <p:nvPr/>
          </p:nvSpPr>
          <p:spPr bwMode="auto">
            <a:xfrm flipV="1">
              <a:off x="2736" y="3600"/>
              <a:ext cx="288" cy="0"/>
            </a:xfrm>
            <a:prstGeom prst="line">
              <a:avLst/>
            </a:prstGeom>
            <a:noFill/>
            <a:ln w="12700">
              <a:solidFill>
                <a:schemeClr val="tx1"/>
              </a:solidFill>
              <a:round/>
              <a:headEnd/>
              <a:tailEnd type="triangle" w="med" len="med"/>
            </a:ln>
            <a:effectLst/>
          </p:spPr>
          <p:txBody>
            <a:bodyPr/>
            <a:lstStyle/>
            <a:p>
              <a:endParaRPr lang="en-US"/>
            </a:p>
          </p:txBody>
        </p:sp>
        <p:sp>
          <p:nvSpPr>
            <p:cNvPr id="388116" name="Line 1044"/>
            <p:cNvSpPr>
              <a:spLocks noChangeShapeType="1"/>
            </p:cNvSpPr>
            <p:nvPr/>
          </p:nvSpPr>
          <p:spPr bwMode="auto">
            <a:xfrm flipH="1">
              <a:off x="1968" y="3792"/>
              <a:ext cx="96" cy="96"/>
            </a:xfrm>
            <a:prstGeom prst="line">
              <a:avLst/>
            </a:prstGeom>
            <a:noFill/>
            <a:ln w="28575">
              <a:solidFill>
                <a:schemeClr val="accent1"/>
              </a:solidFill>
              <a:round/>
              <a:headEnd/>
              <a:tailEnd/>
            </a:ln>
            <a:effectLst/>
          </p:spPr>
          <p:txBody>
            <a:bodyPr/>
            <a:lstStyle/>
            <a:p>
              <a:endParaRPr lang="en-US"/>
            </a:p>
          </p:txBody>
        </p:sp>
        <p:sp>
          <p:nvSpPr>
            <p:cNvPr id="388117" name="Line 1045"/>
            <p:cNvSpPr>
              <a:spLocks noChangeShapeType="1"/>
            </p:cNvSpPr>
            <p:nvPr/>
          </p:nvSpPr>
          <p:spPr bwMode="auto">
            <a:xfrm flipH="1">
              <a:off x="2772" y="3552"/>
              <a:ext cx="96" cy="96"/>
            </a:xfrm>
            <a:prstGeom prst="line">
              <a:avLst/>
            </a:prstGeom>
            <a:noFill/>
            <a:ln w="28575">
              <a:solidFill>
                <a:schemeClr val="accent1"/>
              </a:solidFill>
              <a:round/>
              <a:headEnd/>
              <a:tailEnd/>
            </a:ln>
            <a:effectLst/>
          </p:spPr>
          <p:txBody>
            <a:bodyPr/>
            <a:lstStyle/>
            <a:p>
              <a:endParaRPr lang="en-US"/>
            </a:p>
          </p:txBody>
        </p:sp>
        <p:sp>
          <p:nvSpPr>
            <p:cNvPr id="388118" name="Line 1046"/>
            <p:cNvSpPr>
              <a:spLocks noChangeShapeType="1"/>
            </p:cNvSpPr>
            <p:nvPr/>
          </p:nvSpPr>
          <p:spPr bwMode="auto">
            <a:xfrm flipH="1">
              <a:off x="3936" y="3504"/>
              <a:ext cx="96" cy="96"/>
            </a:xfrm>
            <a:prstGeom prst="line">
              <a:avLst/>
            </a:prstGeom>
            <a:noFill/>
            <a:ln w="28575">
              <a:solidFill>
                <a:schemeClr val="accent1"/>
              </a:solidFill>
              <a:round/>
              <a:headEnd/>
              <a:tailEnd/>
            </a:ln>
            <a:effectLst/>
          </p:spPr>
          <p:txBody>
            <a:bodyPr/>
            <a:lstStyle/>
            <a:p>
              <a:endParaRPr lang="en-US"/>
            </a:p>
          </p:txBody>
        </p:sp>
        <p:sp>
          <p:nvSpPr>
            <p:cNvPr id="388119" name="Line 1047"/>
            <p:cNvSpPr>
              <a:spLocks noChangeShapeType="1"/>
            </p:cNvSpPr>
            <p:nvPr/>
          </p:nvSpPr>
          <p:spPr bwMode="auto">
            <a:xfrm flipH="1">
              <a:off x="3456" y="3360"/>
              <a:ext cx="96" cy="96"/>
            </a:xfrm>
            <a:prstGeom prst="line">
              <a:avLst/>
            </a:prstGeom>
            <a:noFill/>
            <a:ln w="28575">
              <a:solidFill>
                <a:schemeClr val="accent1"/>
              </a:solidFill>
              <a:round/>
              <a:headEnd/>
              <a:tailEnd/>
            </a:ln>
            <a:effectLst/>
          </p:spPr>
          <p:txBody>
            <a:bodyPr/>
            <a:lstStyle/>
            <a:p>
              <a:endParaRPr lang="en-US"/>
            </a:p>
          </p:txBody>
        </p:sp>
        <p:sp>
          <p:nvSpPr>
            <p:cNvPr id="388120" name="Line 1048"/>
            <p:cNvSpPr>
              <a:spLocks noChangeShapeType="1"/>
            </p:cNvSpPr>
            <p:nvPr/>
          </p:nvSpPr>
          <p:spPr bwMode="auto">
            <a:xfrm flipH="1">
              <a:off x="3456" y="3648"/>
              <a:ext cx="96" cy="96"/>
            </a:xfrm>
            <a:prstGeom prst="line">
              <a:avLst/>
            </a:prstGeom>
            <a:noFill/>
            <a:ln w="28575">
              <a:solidFill>
                <a:schemeClr val="accent1"/>
              </a:solidFill>
              <a:round/>
              <a:headEnd/>
              <a:tailEnd/>
            </a:ln>
            <a:effectLst/>
          </p:spPr>
          <p:txBody>
            <a:bodyPr/>
            <a:lstStyle/>
            <a:p>
              <a:endParaRPr lang="en-US"/>
            </a:p>
          </p:txBody>
        </p:sp>
        <p:sp>
          <p:nvSpPr>
            <p:cNvPr id="388121" name="Rectangle 1049"/>
            <p:cNvSpPr>
              <a:spLocks noChangeArrowheads="1"/>
            </p:cNvSpPr>
            <p:nvPr/>
          </p:nvSpPr>
          <p:spPr bwMode="auto">
            <a:xfrm>
              <a:off x="2016" y="3792"/>
              <a:ext cx="204" cy="166"/>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8122" name="Rectangle 1050"/>
            <p:cNvSpPr>
              <a:spLocks noChangeArrowheads="1"/>
            </p:cNvSpPr>
            <p:nvPr/>
          </p:nvSpPr>
          <p:spPr bwMode="auto">
            <a:xfrm>
              <a:off x="2772" y="3600"/>
              <a:ext cx="204" cy="166"/>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8123" name="Rectangle 1051"/>
            <p:cNvSpPr>
              <a:spLocks noChangeArrowheads="1"/>
            </p:cNvSpPr>
            <p:nvPr/>
          </p:nvSpPr>
          <p:spPr bwMode="auto">
            <a:xfrm>
              <a:off x="3936" y="3552"/>
              <a:ext cx="204" cy="166"/>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8124" name="Rectangle 1052"/>
            <p:cNvSpPr>
              <a:spLocks noChangeArrowheads="1"/>
            </p:cNvSpPr>
            <p:nvPr/>
          </p:nvSpPr>
          <p:spPr bwMode="auto">
            <a:xfrm>
              <a:off x="3456" y="3408"/>
              <a:ext cx="204" cy="166"/>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8125" name="Rectangle 1053"/>
            <p:cNvSpPr>
              <a:spLocks noChangeArrowheads="1"/>
            </p:cNvSpPr>
            <p:nvPr/>
          </p:nvSpPr>
          <p:spPr bwMode="auto">
            <a:xfrm>
              <a:off x="3456" y="3696"/>
              <a:ext cx="204" cy="166"/>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8126" name="Rectangle 1054"/>
            <p:cNvSpPr>
              <a:spLocks noChangeArrowheads="1"/>
            </p:cNvSpPr>
            <p:nvPr/>
          </p:nvSpPr>
          <p:spPr bwMode="auto">
            <a:xfrm>
              <a:off x="1920" y="2688"/>
              <a:ext cx="672" cy="144"/>
            </a:xfrm>
            <a:prstGeom prst="rect">
              <a:avLst/>
            </a:prstGeom>
            <a:noFill/>
            <a:ln w="12700">
              <a:solidFill>
                <a:schemeClr val="tx1"/>
              </a:solidFill>
              <a:miter lim="800000"/>
              <a:headEnd/>
              <a:tailEnd/>
            </a:ln>
            <a:effectLst/>
          </p:spPr>
          <p:txBody>
            <a:bodyPr wrap="none" anchor="ctr"/>
            <a:lstStyle/>
            <a:p>
              <a:endParaRPr lang="en-US"/>
            </a:p>
          </p:txBody>
        </p:sp>
        <p:sp>
          <p:nvSpPr>
            <p:cNvPr id="388127" name="Rectangle 1055"/>
            <p:cNvSpPr>
              <a:spLocks noChangeArrowheads="1"/>
            </p:cNvSpPr>
            <p:nvPr/>
          </p:nvSpPr>
          <p:spPr bwMode="auto">
            <a:xfrm>
              <a:off x="2064" y="2688"/>
              <a:ext cx="394" cy="186"/>
            </a:xfrm>
            <a:prstGeom prst="rect">
              <a:avLst/>
            </a:prstGeom>
            <a:noFill/>
            <a:ln w="12700">
              <a:noFill/>
              <a:miter lim="800000"/>
              <a:headEnd/>
              <a:tailEnd/>
            </a:ln>
            <a:effectLst/>
          </p:spPr>
          <p:txBody>
            <a:bodyPr wrap="none" lIns="63500" tIns="25400" rIns="63500" bIns="25400">
              <a:spAutoFit/>
            </a:bodyPr>
            <a:lstStyle/>
            <a:p>
              <a:r>
                <a:rPr lang="en-US" sz="1600">
                  <a:solidFill>
                    <a:schemeClr val="tx1"/>
                  </a:solidFill>
                </a:rPr>
                <a:t>offset</a:t>
              </a:r>
            </a:p>
          </p:txBody>
        </p:sp>
        <p:sp>
          <p:nvSpPr>
            <p:cNvPr id="388130" name="Line 1058"/>
            <p:cNvSpPr>
              <a:spLocks noChangeShapeType="1"/>
            </p:cNvSpPr>
            <p:nvPr/>
          </p:nvSpPr>
          <p:spPr bwMode="auto">
            <a:xfrm flipH="1">
              <a:off x="2160" y="2544"/>
              <a:ext cx="96" cy="96"/>
            </a:xfrm>
            <a:prstGeom prst="line">
              <a:avLst/>
            </a:prstGeom>
            <a:noFill/>
            <a:ln w="28575">
              <a:solidFill>
                <a:schemeClr val="accent1"/>
              </a:solidFill>
              <a:round/>
              <a:headEnd/>
              <a:tailEnd/>
            </a:ln>
            <a:effectLst/>
          </p:spPr>
          <p:txBody>
            <a:bodyPr/>
            <a:lstStyle/>
            <a:p>
              <a:endParaRPr lang="en-US"/>
            </a:p>
          </p:txBody>
        </p:sp>
        <p:sp>
          <p:nvSpPr>
            <p:cNvPr id="388131" name="Line 1059"/>
            <p:cNvSpPr>
              <a:spLocks noChangeShapeType="1"/>
            </p:cNvSpPr>
            <p:nvPr/>
          </p:nvSpPr>
          <p:spPr bwMode="auto">
            <a:xfrm flipH="1">
              <a:off x="2304" y="3360"/>
              <a:ext cx="96" cy="96"/>
            </a:xfrm>
            <a:prstGeom prst="line">
              <a:avLst/>
            </a:prstGeom>
            <a:noFill/>
            <a:ln w="28575">
              <a:solidFill>
                <a:schemeClr val="accent1"/>
              </a:solidFill>
              <a:round/>
              <a:headEnd/>
              <a:tailEnd/>
            </a:ln>
            <a:effectLst/>
          </p:spPr>
          <p:txBody>
            <a:bodyPr/>
            <a:lstStyle/>
            <a:p>
              <a:endParaRPr lang="en-US"/>
            </a:p>
          </p:txBody>
        </p:sp>
        <p:sp>
          <p:nvSpPr>
            <p:cNvPr id="388132" name="Rectangle 1060"/>
            <p:cNvSpPr>
              <a:spLocks noChangeArrowheads="1"/>
            </p:cNvSpPr>
            <p:nvPr/>
          </p:nvSpPr>
          <p:spPr bwMode="auto">
            <a:xfrm>
              <a:off x="2208" y="2496"/>
              <a:ext cx="204" cy="166"/>
            </a:xfrm>
            <a:prstGeom prst="rect">
              <a:avLst/>
            </a:prstGeom>
            <a:noFill/>
            <a:ln w="12700">
              <a:noFill/>
              <a:miter lim="800000"/>
              <a:headEnd/>
              <a:tailEnd/>
            </a:ln>
            <a:effectLst/>
          </p:spPr>
          <p:txBody>
            <a:bodyPr wrap="none" lIns="63500" tIns="25400" rIns="63500" bIns="25400">
              <a:spAutoFit/>
            </a:bodyPr>
            <a:lstStyle/>
            <a:p>
              <a:r>
                <a:rPr lang="en-US" sz="1400"/>
                <a:t>16</a:t>
              </a:r>
            </a:p>
          </p:txBody>
        </p:sp>
        <p:sp>
          <p:nvSpPr>
            <p:cNvPr id="388133" name="Rectangle 1061"/>
            <p:cNvSpPr>
              <a:spLocks noChangeArrowheads="1"/>
            </p:cNvSpPr>
            <p:nvPr/>
          </p:nvSpPr>
          <p:spPr bwMode="auto">
            <a:xfrm>
              <a:off x="2304" y="3408"/>
              <a:ext cx="204" cy="166"/>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8134" name="Line 1062"/>
            <p:cNvSpPr>
              <a:spLocks noChangeShapeType="1"/>
            </p:cNvSpPr>
            <p:nvPr/>
          </p:nvSpPr>
          <p:spPr bwMode="auto">
            <a:xfrm>
              <a:off x="2208" y="2496"/>
              <a:ext cx="0" cy="192"/>
            </a:xfrm>
            <a:prstGeom prst="line">
              <a:avLst/>
            </a:prstGeom>
            <a:noFill/>
            <a:ln w="12700">
              <a:solidFill>
                <a:schemeClr val="tx1"/>
              </a:solidFill>
              <a:round/>
              <a:headEnd/>
              <a:tailEnd type="triangle" w="med" len="med"/>
            </a:ln>
            <a:effectLst/>
          </p:spPr>
          <p:txBody>
            <a:bodyPr/>
            <a:lstStyle/>
            <a:p>
              <a:endParaRPr lang="en-US"/>
            </a:p>
          </p:txBody>
        </p:sp>
        <p:sp>
          <p:nvSpPr>
            <p:cNvPr id="388135" name="Line 1063"/>
            <p:cNvSpPr>
              <a:spLocks noChangeShapeType="1"/>
            </p:cNvSpPr>
            <p:nvPr/>
          </p:nvSpPr>
          <p:spPr bwMode="auto">
            <a:xfrm>
              <a:off x="2016" y="2688"/>
              <a:ext cx="0" cy="144"/>
            </a:xfrm>
            <a:prstGeom prst="line">
              <a:avLst/>
            </a:prstGeom>
            <a:noFill/>
            <a:ln w="12700">
              <a:solidFill>
                <a:schemeClr val="tx1"/>
              </a:solidFill>
              <a:round/>
              <a:headEnd/>
              <a:tailEnd/>
            </a:ln>
            <a:effectLst/>
          </p:spPr>
          <p:txBody>
            <a:bodyPr/>
            <a:lstStyle/>
            <a:p>
              <a:endParaRPr lang="en-US"/>
            </a:p>
          </p:txBody>
        </p:sp>
        <p:sp>
          <p:nvSpPr>
            <p:cNvPr id="388136" name="Rectangle 1064"/>
            <p:cNvSpPr>
              <a:spLocks noChangeArrowheads="1"/>
            </p:cNvSpPr>
            <p:nvPr/>
          </p:nvSpPr>
          <p:spPr bwMode="auto">
            <a:xfrm>
              <a:off x="2580" y="3072"/>
              <a:ext cx="204" cy="166"/>
            </a:xfrm>
            <a:prstGeom prst="rect">
              <a:avLst/>
            </a:prstGeom>
            <a:noFill/>
            <a:ln w="12700">
              <a:noFill/>
              <a:miter lim="800000"/>
              <a:headEnd/>
              <a:tailEnd/>
            </a:ln>
            <a:effectLst/>
          </p:spPr>
          <p:txBody>
            <a:bodyPr wrap="none" lIns="63500" tIns="25400" rIns="63500" bIns="25400">
              <a:spAutoFit/>
            </a:bodyPr>
            <a:lstStyle/>
            <a:p>
              <a:r>
                <a:rPr lang="en-US" sz="1400">
                  <a:solidFill>
                    <a:schemeClr val="tx1"/>
                  </a:solidFill>
                </a:rPr>
                <a:t>00</a:t>
              </a:r>
            </a:p>
          </p:txBody>
        </p:sp>
        <p:sp>
          <p:nvSpPr>
            <p:cNvPr id="388137" name="Rectangle 1065"/>
            <p:cNvSpPr>
              <a:spLocks noChangeArrowheads="1"/>
            </p:cNvSpPr>
            <p:nvPr/>
          </p:nvSpPr>
          <p:spPr bwMode="auto">
            <a:xfrm>
              <a:off x="2016" y="3072"/>
              <a:ext cx="720" cy="144"/>
            </a:xfrm>
            <a:prstGeom prst="rect">
              <a:avLst/>
            </a:prstGeom>
            <a:noFill/>
            <a:ln w="12700">
              <a:solidFill>
                <a:schemeClr val="tx1"/>
              </a:solidFill>
              <a:miter lim="800000"/>
              <a:headEnd/>
              <a:tailEnd/>
            </a:ln>
            <a:effectLst/>
          </p:spPr>
          <p:txBody>
            <a:bodyPr wrap="none" anchor="ctr"/>
            <a:lstStyle/>
            <a:p>
              <a:endParaRPr lang="en-US"/>
            </a:p>
          </p:txBody>
        </p:sp>
        <p:sp>
          <p:nvSpPr>
            <p:cNvPr id="388139" name="Line 1067"/>
            <p:cNvSpPr>
              <a:spLocks noChangeShapeType="1"/>
            </p:cNvSpPr>
            <p:nvPr/>
          </p:nvSpPr>
          <p:spPr bwMode="auto">
            <a:xfrm>
              <a:off x="1920" y="3072"/>
              <a:ext cx="0" cy="144"/>
            </a:xfrm>
            <a:prstGeom prst="line">
              <a:avLst/>
            </a:prstGeom>
            <a:noFill/>
            <a:ln w="12700">
              <a:solidFill>
                <a:schemeClr val="tx1"/>
              </a:solidFill>
              <a:round/>
              <a:headEnd/>
              <a:tailEnd/>
            </a:ln>
            <a:effectLst/>
          </p:spPr>
          <p:txBody>
            <a:bodyPr/>
            <a:lstStyle/>
            <a:p>
              <a:endParaRPr lang="en-US"/>
            </a:p>
          </p:txBody>
        </p:sp>
        <p:sp>
          <p:nvSpPr>
            <p:cNvPr id="388140" name="Rectangle 1068"/>
            <p:cNvSpPr>
              <a:spLocks noChangeArrowheads="1"/>
            </p:cNvSpPr>
            <p:nvPr/>
          </p:nvSpPr>
          <p:spPr bwMode="auto">
            <a:xfrm>
              <a:off x="1296" y="3072"/>
              <a:ext cx="720" cy="144"/>
            </a:xfrm>
            <a:prstGeom prst="rect">
              <a:avLst/>
            </a:prstGeom>
            <a:noFill/>
            <a:ln w="12700">
              <a:solidFill>
                <a:schemeClr val="tx1"/>
              </a:solidFill>
              <a:miter lim="800000"/>
              <a:headEnd/>
              <a:tailEnd/>
            </a:ln>
            <a:effectLst/>
          </p:spPr>
          <p:txBody>
            <a:bodyPr wrap="none" anchor="ctr"/>
            <a:lstStyle/>
            <a:p>
              <a:endParaRPr lang="en-US"/>
            </a:p>
          </p:txBody>
        </p:sp>
        <p:sp>
          <p:nvSpPr>
            <p:cNvPr id="388141" name="Line 1069"/>
            <p:cNvSpPr>
              <a:spLocks noChangeShapeType="1"/>
            </p:cNvSpPr>
            <p:nvPr/>
          </p:nvSpPr>
          <p:spPr bwMode="auto">
            <a:xfrm>
              <a:off x="2208" y="2832"/>
              <a:ext cx="0" cy="240"/>
            </a:xfrm>
            <a:prstGeom prst="line">
              <a:avLst/>
            </a:prstGeom>
            <a:noFill/>
            <a:ln w="12700">
              <a:solidFill>
                <a:schemeClr val="tx1"/>
              </a:solidFill>
              <a:round/>
              <a:headEnd/>
              <a:tailEnd type="triangle" w="med" len="med"/>
            </a:ln>
            <a:effectLst/>
          </p:spPr>
          <p:txBody>
            <a:bodyPr/>
            <a:lstStyle/>
            <a:p>
              <a:endParaRPr lang="en-US"/>
            </a:p>
          </p:txBody>
        </p:sp>
        <p:sp>
          <p:nvSpPr>
            <p:cNvPr id="388143" name="Oval 1071"/>
            <p:cNvSpPr>
              <a:spLocks noChangeArrowheads="1"/>
            </p:cNvSpPr>
            <p:nvPr/>
          </p:nvSpPr>
          <p:spPr bwMode="auto">
            <a:xfrm>
              <a:off x="1968" y="3120"/>
              <a:ext cx="48" cy="48"/>
            </a:xfrm>
            <a:prstGeom prst="ellipse">
              <a:avLst/>
            </a:prstGeom>
            <a:noFill/>
            <a:ln w="12700">
              <a:noFill/>
              <a:round/>
              <a:headEnd/>
              <a:tailEnd/>
            </a:ln>
            <a:effectLst/>
          </p:spPr>
          <p:txBody>
            <a:bodyPr wrap="none" anchor="ctr"/>
            <a:lstStyle/>
            <a:p>
              <a:endParaRPr lang="en-US"/>
            </a:p>
          </p:txBody>
        </p:sp>
        <p:cxnSp>
          <p:nvCxnSpPr>
            <p:cNvPr id="388144" name="AutoShape 1072"/>
            <p:cNvCxnSpPr>
              <a:cxnSpLocks noChangeShapeType="1"/>
              <a:stCxn id="388143" idx="3"/>
              <a:endCxn id="388140" idx="0"/>
            </p:cNvCxnSpPr>
            <p:nvPr/>
          </p:nvCxnSpPr>
          <p:spPr bwMode="auto">
            <a:xfrm rot="16200000" flipV="1">
              <a:off x="1771" y="2957"/>
              <a:ext cx="89" cy="319"/>
            </a:xfrm>
            <a:prstGeom prst="curvedConnector5">
              <a:avLst>
                <a:gd name="adj1" fmla="val 315727"/>
                <a:gd name="adj2" fmla="val 84949"/>
                <a:gd name="adj3" fmla="val 261796"/>
              </a:avLst>
            </a:prstGeom>
            <a:noFill/>
            <a:ln w="12700">
              <a:solidFill>
                <a:schemeClr val="tx1"/>
              </a:solidFill>
              <a:round/>
              <a:headEnd/>
              <a:tailEnd type="triangle" w="med" len="med"/>
            </a:ln>
            <a:effectLst/>
          </p:spPr>
        </p:cxnSp>
        <p:sp>
          <p:nvSpPr>
            <p:cNvPr id="388145" name="Rectangle 1073"/>
            <p:cNvSpPr>
              <a:spLocks noChangeArrowheads="1"/>
            </p:cNvSpPr>
            <p:nvPr/>
          </p:nvSpPr>
          <p:spPr bwMode="auto">
            <a:xfrm>
              <a:off x="960" y="2688"/>
              <a:ext cx="824" cy="205"/>
            </a:xfrm>
            <a:prstGeom prst="rect">
              <a:avLst/>
            </a:prstGeom>
            <a:noFill/>
            <a:ln w="12700">
              <a:noFill/>
              <a:miter lim="800000"/>
              <a:headEnd/>
              <a:tailEnd/>
            </a:ln>
            <a:effectLst/>
          </p:spPr>
          <p:txBody>
            <a:bodyPr wrap="none" lIns="63500" tIns="25400" rIns="63500" bIns="25400">
              <a:spAutoFit/>
            </a:bodyPr>
            <a:lstStyle/>
            <a:p>
              <a:r>
                <a:rPr lang="en-US">
                  <a:solidFill>
                    <a:schemeClr val="tx1"/>
                  </a:solidFill>
                </a:rPr>
                <a:t>sign-extend</a:t>
              </a:r>
            </a:p>
          </p:txBody>
        </p:sp>
        <p:sp>
          <p:nvSpPr>
            <p:cNvPr id="388146" name="Line 1074"/>
            <p:cNvSpPr>
              <a:spLocks noChangeShapeType="1"/>
            </p:cNvSpPr>
            <p:nvPr/>
          </p:nvSpPr>
          <p:spPr bwMode="auto">
            <a:xfrm>
              <a:off x="1968" y="3216"/>
              <a:ext cx="0" cy="192"/>
            </a:xfrm>
            <a:prstGeom prst="line">
              <a:avLst/>
            </a:prstGeom>
            <a:noFill/>
            <a:ln w="12700">
              <a:solidFill>
                <a:schemeClr val="tx1"/>
              </a:solidFill>
              <a:round/>
              <a:headEnd/>
              <a:tailEnd/>
            </a:ln>
            <a:effectLst/>
          </p:spPr>
          <p:txBody>
            <a:bodyPr/>
            <a:lstStyle/>
            <a:p>
              <a:endParaRPr lang="en-US"/>
            </a:p>
          </p:txBody>
        </p:sp>
        <p:sp>
          <p:nvSpPr>
            <p:cNvPr id="388147" name="Line 1075"/>
            <p:cNvSpPr>
              <a:spLocks noChangeShapeType="1"/>
            </p:cNvSpPr>
            <p:nvPr/>
          </p:nvSpPr>
          <p:spPr bwMode="auto">
            <a:xfrm>
              <a:off x="1968" y="3408"/>
              <a:ext cx="1056" cy="0"/>
            </a:xfrm>
            <a:prstGeom prst="line">
              <a:avLst/>
            </a:prstGeom>
            <a:noFill/>
            <a:ln w="12700">
              <a:solidFill>
                <a:schemeClr val="tx1"/>
              </a:solidFill>
              <a:round/>
              <a:headEnd/>
              <a:tailEnd type="triangle" w="med" len="med"/>
            </a:ln>
            <a:effectLst/>
          </p:spPr>
          <p:txBody>
            <a:bodyPr/>
            <a:lstStyle/>
            <a:p>
              <a:endParaRPr lang="en-US"/>
            </a:p>
          </p:txBody>
        </p:sp>
        <p:sp>
          <p:nvSpPr>
            <p:cNvPr id="388149" name="Line 1077"/>
            <p:cNvSpPr>
              <a:spLocks noChangeShapeType="1"/>
            </p:cNvSpPr>
            <p:nvPr/>
          </p:nvSpPr>
          <p:spPr bwMode="auto">
            <a:xfrm flipV="1">
              <a:off x="2016" y="3696"/>
              <a:ext cx="0" cy="384"/>
            </a:xfrm>
            <a:prstGeom prst="line">
              <a:avLst/>
            </a:prstGeom>
            <a:noFill/>
            <a:ln w="12700">
              <a:solidFill>
                <a:schemeClr val="tx1"/>
              </a:solidFill>
              <a:round/>
              <a:headEnd/>
              <a:tailEnd type="triangle" w="med" len="med"/>
            </a:ln>
            <a:effectLst/>
          </p:spPr>
          <p:txBody>
            <a:bodyPr/>
            <a:lstStyle/>
            <a:p>
              <a:endParaRPr lang="en-US"/>
            </a:p>
          </p:txBody>
        </p:sp>
        <p:sp>
          <p:nvSpPr>
            <p:cNvPr id="388151" name="Line 1079"/>
            <p:cNvSpPr>
              <a:spLocks noChangeShapeType="1"/>
            </p:cNvSpPr>
            <p:nvPr/>
          </p:nvSpPr>
          <p:spPr bwMode="auto">
            <a:xfrm>
              <a:off x="2016" y="4080"/>
              <a:ext cx="2256" cy="0"/>
            </a:xfrm>
            <a:prstGeom prst="line">
              <a:avLst/>
            </a:prstGeom>
            <a:noFill/>
            <a:ln w="12700">
              <a:solidFill>
                <a:schemeClr val="tx1"/>
              </a:solidFill>
              <a:round/>
              <a:headEnd/>
              <a:tailEnd/>
            </a:ln>
            <a:effectLst/>
          </p:spPr>
          <p:txBody>
            <a:bodyPr/>
            <a:lstStyle/>
            <a:p>
              <a:endParaRPr lang="en-US"/>
            </a:p>
          </p:txBody>
        </p:sp>
        <p:sp>
          <p:nvSpPr>
            <p:cNvPr id="388152" name="Line 1080"/>
            <p:cNvSpPr>
              <a:spLocks noChangeShapeType="1"/>
            </p:cNvSpPr>
            <p:nvPr/>
          </p:nvSpPr>
          <p:spPr bwMode="auto">
            <a:xfrm flipV="1">
              <a:off x="4272" y="3552"/>
              <a:ext cx="0" cy="144"/>
            </a:xfrm>
            <a:prstGeom prst="line">
              <a:avLst/>
            </a:prstGeom>
            <a:noFill/>
            <a:ln w="12700">
              <a:solidFill>
                <a:schemeClr val="tx1"/>
              </a:solidFill>
              <a:round/>
              <a:headEnd/>
              <a:tailEnd/>
            </a:ln>
            <a:effectLst/>
          </p:spPr>
          <p:txBody>
            <a:bodyPr/>
            <a:lstStyle/>
            <a:p>
              <a:endParaRPr lang="en-US"/>
            </a:p>
          </p:txBody>
        </p:sp>
        <p:sp>
          <p:nvSpPr>
            <p:cNvPr id="388153" name="Rectangle 1081"/>
            <p:cNvSpPr>
              <a:spLocks noChangeArrowheads="1"/>
            </p:cNvSpPr>
            <p:nvPr/>
          </p:nvSpPr>
          <p:spPr bwMode="auto">
            <a:xfrm>
              <a:off x="912" y="2304"/>
              <a:ext cx="3280" cy="205"/>
            </a:xfrm>
            <a:prstGeom prst="rect">
              <a:avLst/>
            </a:prstGeom>
            <a:noFill/>
            <a:ln w="12700">
              <a:noFill/>
              <a:miter lim="800000"/>
              <a:headEnd/>
              <a:tailEnd/>
            </a:ln>
            <a:effectLst/>
          </p:spPr>
          <p:txBody>
            <a:bodyPr wrap="none" lIns="63500" tIns="25400" rIns="63500" bIns="25400">
              <a:spAutoFit/>
            </a:bodyPr>
            <a:lstStyle/>
            <a:p>
              <a:r>
                <a:rPr lang="en-US">
                  <a:solidFill>
                    <a:schemeClr val="tx1"/>
                  </a:solidFill>
                </a:rPr>
                <a:t>from the low order 16 bits of the branch instruction</a:t>
              </a:r>
            </a:p>
          </p:txBody>
        </p:sp>
        <p:sp>
          <p:nvSpPr>
            <p:cNvPr id="388154" name="Line 1082"/>
            <p:cNvSpPr>
              <a:spLocks noChangeShapeType="1"/>
            </p:cNvSpPr>
            <p:nvPr/>
          </p:nvSpPr>
          <p:spPr bwMode="auto">
            <a:xfrm>
              <a:off x="2592" y="3072"/>
              <a:ext cx="0" cy="144"/>
            </a:xfrm>
            <a:prstGeom prst="line">
              <a:avLst/>
            </a:prstGeom>
            <a:noFill/>
            <a:ln w="12700">
              <a:solidFill>
                <a:schemeClr val="tx1"/>
              </a:solidFill>
              <a:round/>
              <a:headEnd/>
              <a:tailEnd/>
            </a:ln>
            <a:effectLst/>
          </p:spPr>
          <p:txBody>
            <a:bodyPr/>
            <a:lstStyle/>
            <a:p>
              <a:endParaRPr lang="en-US"/>
            </a:p>
          </p:txBody>
        </p:sp>
        <p:sp>
          <p:nvSpPr>
            <p:cNvPr id="388155" name="Rectangle 1083"/>
            <p:cNvSpPr>
              <a:spLocks noChangeArrowheads="1"/>
            </p:cNvSpPr>
            <p:nvPr/>
          </p:nvSpPr>
          <p:spPr bwMode="auto">
            <a:xfrm>
              <a:off x="3959" y="3264"/>
              <a:ext cx="937" cy="381"/>
            </a:xfrm>
            <a:prstGeom prst="rect">
              <a:avLst/>
            </a:prstGeom>
            <a:noFill/>
            <a:ln w="12700">
              <a:noFill/>
              <a:miter lim="800000"/>
              <a:headEnd/>
              <a:tailEnd/>
            </a:ln>
            <a:effectLst/>
          </p:spPr>
          <p:txBody>
            <a:bodyPr wrap="none" lIns="63500" tIns="25400" rIns="63500" bIns="25400">
              <a:spAutoFit/>
            </a:bodyPr>
            <a:lstStyle/>
            <a:p>
              <a:pPr algn="r"/>
              <a:r>
                <a:rPr lang="en-US" dirty="0">
                  <a:solidFill>
                    <a:schemeClr val="tx1"/>
                  </a:solidFill>
                </a:rPr>
                <a:t>branch </a:t>
              </a:r>
              <a:r>
                <a:rPr lang="en-US" dirty="0" smtClean="0">
                  <a:solidFill>
                    <a:schemeClr val="tx1"/>
                  </a:solidFill>
                </a:rPr>
                <a:t>target</a:t>
              </a:r>
              <a:endParaRPr lang="en-US" dirty="0">
                <a:solidFill>
                  <a:schemeClr val="tx1"/>
                </a:solidFill>
              </a:endParaRPr>
            </a:p>
            <a:p>
              <a:pPr algn="r"/>
              <a:r>
                <a:rPr lang="en-US" dirty="0">
                  <a:solidFill>
                    <a:schemeClr val="tx1"/>
                  </a:solidFill>
                </a:rPr>
                <a:t>address</a:t>
              </a:r>
            </a:p>
          </p:txBody>
        </p:sp>
        <p:grpSp>
          <p:nvGrpSpPr>
            <p:cNvPr id="4" name="Group 1086"/>
            <p:cNvGrpSpPr>
              <a:grpSpLocks/>
            </p:cNvGrpSpPr>
            <p:nvPr/>
          </p:nvGrpSpPr>
          <p:grpSpPr bwMode="auto">
            <a:xfrm>
              <a:off x="4128" y="3696"/>
              <a:ext cx="240" cy="254"/>
              <a:chOff x="4896" y="3696"/>
              <a:chExt cx="240" cy="254"/>
            </a:xfrm>
          </p:grpSpPr>
          <p:sp>
            <p:nvSpPr>
              <p:cNvPr id="388156" name="Oval 1084"/>
              <p:cNvSpPr>
                <a:spLocks noChangeArrowheads="1"/>
              </p:cNvSpPr>
              <p:nvPr/>
            </p:nvSpPr>
            <p:spPr bwMode="auto">
              <a:xfrm>
                <a:off x="4896" y="3696"/>
                <a:ext cx="240" cy="240"/>
              </a:xfrm>
              <a:prstGeom prst="ellipse">
                <a:avLst/>
              </a:prstGeom>
              <a:noFill/>
              <a:ln w="12700">
                <a:solidFill>
                  <a:schemeClr val="tx1"/>
                </a:solidFill>
                <a:round/>
                <a:headEnd/>
                <a:tailEnd/>
              </a:ln>
              <a:effectLst/>
            </p:spPr>
            <p:txBody>
              <a:bodyPr wrap="none" anchor="ctr"/>
              <a:lstStyle/>
              <a:p>
                <a:endParaRPr lang="en-US"/>
              </a:p>
            </p:txBody>
          </p:sp>
          <p:sp>
            <p:nvSpPr>
              <p:cNvPr id="388157" name="Text Box 1085"/>
              <p:cNvSpPr txBox="1">
                <a:spLocks noChangeArrowheads="1"/>
              </p:cNvSpPr>
              <p:nvPr/>
            </p:nvSpPr>
            <p:spPr bwMode="auto">
              <a:xfrm>
                <a:off x="4896" y="3719"/>
                <a:ext cx="186" cy="231"/>
              </a:xfrm>
              <a:prstGeom prst="rect">
                <a:avLst/>
              </a:prstGeom>
              <a:noFill/>
              <a:ln w="12700">
                <a:noFill/>
                <a:miter lim="800000"/>
                <a:headEnd/>
                <a:tailEnd/>
              </a:ln>
              <a:effectLst/>
            </p:spPr>
            <p:txBody>
              <a:bodyPr>
                <a:spAutoFit/>
              </a:bodyPr>
              <a:lstStyle/>
              <a:p>
                <a:r>
                  <a:rPr lang="en-US">
                    <a:solidFill>
                      <a:schemeClr val="tx1"/>
                    </a:solidFill>
                  </a:rPr>
                  <a:t>?</a:t>
                </a:r>
              </a:p>
            </p:txBody>
          </p:sp>
        </p:grpSp>
        <p:sp>
          <p:nvSpPr>
            <p:cNvPr id="388159" name="Line 1087"/>
            <p:cNvSpPr>
              <a:spLocks noChangeShapeType="1"/>
            </p:cNvSpPr>
            <p:nvPr/>
          </p:nvSpPr>
          <p:spPr bwMode="auto">
            <a:xfrm flipV="1">
              <a:off x="4272" y="3936"/>
              <a:ext cx="0" cy="144"/>
            </a:xfrm>
            <a:prstGeom prst="line">
              <a:avLst/>
            </a:prstGeom>
            <a:noFill/>
            <a:ln w="12700">
              <a:solidFill>
                <a:schemeClr val="tx1"/>
              </a:solidFill>
              <a:round/>
              <a:headEnd/>
              <a:tailEnd/>
            </a:ln>
            <a:effectLst/>
          </p:spPr>
          <p:txBody>
            <a:bodyPr/>
            <a:lstStyle/>
            <a:p>
              <a:endParaRPr lang="en-US"/>
            </a:p>
          </p:txBody>
        </p:sp>
        <p:grpSp>
          <p:nvGrpSpPr>
            <p:cNvPr id="5" name="Group 1088"/>
            <p:cNvGrpSpPr>
              <a:grpSpLocks/>
            </p:cNvGrpSpPr>
            <p:nvPr/>
          </p:nvGrpSpPr>
          <p:grpSpPr bwMode="auto">
            <a:xfrm>
              <a:off x="3024" y="3456"/>
              <a:ext cx="288" cy="480"/>
              <a:chOff x="1392" y="2880"/>
              <a:chExt cx="288" cy="480"/>
            </a:xfrm>
          </p:grpSpPr>
          <p:sp>
            <p:nvSpPr>
              <p:cNvPr id="388161" name="Line 1089"/>
              <p:cNvSpPr>
                <a:spLocks noChangeShapeType="1"/>
              </p:cNvSpPr>
              <p:nvPr/>
            </p:nvSpPr>
            <p:spPr bwMode="auto">
              <a:xfrm>
                <a:off x="1392" y="3072"/>
                <a:ext cx="48" cy="48"/>
              </a:xfrm>
              <a:prstGeom prst="line">
                <a:avLst/>
              </a:prstGeom>
              <a:noFill/>
              <a:ln w="12700">
                <a:solidFill>
                  <a:schemeClr val="tx1"/>
                </a:solidFill>
                <a:round/>
                <a:headEnd/>
                <a:tailEnd/>
              </a:ln>
              <a:effectLst/>
            </p:spPr>
            <p:txBody>
              <a:bodyPr/>
              <a:lstStyle/>
              <a:p>
                <a:endParaRPr lang="en-US"/>
              </a:p>
            </p:txBody>
          </p:sp>
          <p:sp>
            <p:nvSpPr>
              <p:cNvPr id="388162" name="Line 1090"/>
              <p:cNvSpPr>
                <a:spLocks noChangeShapeType="1"/>
              </p:cNvSpPr>
              <p:nvPr/>
            </p:nvSpPr>
            <p:spPr bwMode="auto">
              <a:xfrm flipH="1">
                <a:off x="1392" y="3120"/>
                <a:ext cx="48" cy="48"/>
              </a:xfrm>
              <a:prstGeom prst="line">
                <a:avLst/>
              </a:prstGeom>
              <a:noFill/>
              <a:ln w="12700">
                <a:solidFill>
                  <a:schemeClr val="tx1"/>
                </a:solidFill>
                <a:round/>
                <a:headEnd/>
                <a:tailEnd/>
              </a:ln>
              <a:effectLst/>
            </p:spPr>
            <p:txBody>
              <a:bodyPr/>
              <a:lstStyle/>
              <a:p>
                <a:endParaRPr lang="en-US"/>
              </a:p>
            </p:txBody>
          </p:sp>
          <p:sp>
            <p:nvSpPr>
              <p:cNvPr id="388163" name="Line 1091"/>
              <p:cNvSpPr>
                <a:spLocks noChangeShapeType="1"/>
              </p:cNvSpPr>
              <p:nvPr/>
            </p:nvSpPr>
            <p:spPr bwMode="auto">
              <a:xfrm flipV="1">
                <a:off x="1392" y="2880"/>
                <a:ext cx="0" cy="192"/>
              </a:xfrm>
              <a:prstGeom prst="line">
                <a:avLst/>
              </a:prstGeom>
              <a:noFill/>
              <a:ln w="12700">
                <a:solidFill>
                  <a:schemeClr val="tx1"/>
                </a:solidFill>
                <a:round/>
                <a:headEnd/>
                <a:tailEnd/>
              </a:ln>
              <a:effectLst/>
            </p:spPr>
            <p:txBody>
              <a:bodyPr/>
              <a:lstStyle/>
              <a:p>
                <a:endParaRPr lang="en-US"/>
              </a:p>
            </p:txBody>
          </p:sp>
          <p:sp>
            <p:nvSpPr>
              <p:cNvPr id="388164" name="Line 1092"/>
              <p:cNvSpPr>
                <a:spLocks noChangeShapeType="1"/>
              </p:cNvSpPr>
              <p:nvPr/>
            </p:nvSpPr>
            <p:spPr bwMode="auto">
              <a:xfrm flipV="1">
                <a:off x="1392" y="3168"/>
                <a:ext cx="0" cy="192"/>
              </a:xfrm>
              <a:prstGeom prst="line">
                <a:avLst/>
              </a:prstGeom>
              <a:noFill/>
              <a:ln w="12700">
                <a:solidFill>
                  <a:schemeClr val="tx1"/>
                </a:solidFill>
                <a:round/>
                <a:headEnd/>
                <a:tailEnd/>
              </a:ln>
              <a:effectLst/>
            </p:spPr>
            <p:txBody>
              <a:bodyPr/>
              <a:lstStyle/>
              <a:p>
                <a:endParaRPr lang="en-US"/>
              </a:p>
            </p:txBody>
          </p:sp>
          <p:sp>
            <p:nvSpPr>
              <p:cNvPr id="388165" name="Line 1093"/>
              <p:cNvSpPr>
                <a:spLocks noChangeShapeType="1"/>
              </p:cNvSpPr>
              <p:nvPr/>
            </p:nvSpPr>
            <p:spPr bwMode="auto">
              <a:xfrm flipV="1">
                <a:off x="1392" y="3216"/>
                <a:ext cx="288" cy="144"/>
              </a:xfrm>
              <a:prstGeom prst="line">
                <a:avLst/>
              </a:prstGeom>
              <a:noFill/>
              <a:ln w="12700">
                <a:solidFill>
                  <a:schemeClr val="tx1"/>
                </a:solidFill>
                <a:round/>
                <a:headEnd/>
                <a:tailEnd/>
              </a:ln>
              <a:effectLst/>
            </p:spPr>
            <p:txBody>
              <a:bodyPr/>
              <a:lstStyle/>
              <a:p>
                <a:endParaRPr lang="en-US"/>
              </a:p>
            </p:txBody>
          </p:sp>
          <p:sp>
            <p:nvSpPr>
              <p:cNvPr id="388166" name="Line 1094"/>
              <p:cNvSpPr>
                <a:spLocks noChangeShapeType="1"/>
              </p:cNvSpPr>
              <p:nvPr/>
            </p:nvSpPr>
            <p:spPr bwMode="auto">
              <a:xfrm flipV="1">
                <a:off x="1680" y="3024"/>
                <a:ext cx="0" cy="192"/>
              </a:xfrm>
              <a:prstGeom prst="line">
                <a:avLst/>
              </a:prstGeom>
              <a:noFill/>
              <a:ln w="12700">
                <a:solidFill>
                  <a:schemeClr val="tx1"/>
                </a:solidFill>
                <a:round/>
                <a:headEnd/>
                <a:tailEnd/>
              </a:ln>
              <a:effectLst/>
            </p:spPr>
            <p:txBody>
              <a:bodyPr/>
              <a:lstStyle/>
              <a:p>
                <a:endParaRPr lang="en-US"/>
              </a:p>
            </p:txBody>
          </p:sp>
          <p:sp>
            <p:nvSpPr>
              <p:cNvPr id="388167" name="Line 1095"/>
              <p:cNvSpPr>
                <a:spLocks noChangeShapeType="1"/>
              </p:cNvSpPr>
              <p:nvPr/>
            </p:nvSpPr>
            <p:spPr bwMode="auto">
              <a:xfrm>
                <a:off x="1392" y="2880"/>
                <a:ext cx="288" cy="144"/>
              </a:xfrm>
              <a:prstGeom prst="line">
                <a:avLst/>
              </a:prstGeom>
              <a:noFill/>
              <a:ln w="12700">
                <a:solidFill>
                  <a:schemeClr val="tx1"/>
                </a:solidFill>
                <a:round/>
                <a:headEnd/>
                <a:tailEnd/>
              </a:ln>
              <a:effectLst/>
            </p:spPr>
            <p:txBody>
              <a:bodyPr/>
              <a:lstStyle/>
              <a:p>
                <a:endParaRPr lang="en-US"/>
              </a:p>
            </p:txBody>
          </p:sp>
        </p:grpSp>
        <p:sp>
          <p:nvSpPr>
            <p:cNvPr id="388168" name="Rectangle 1096"/>
            <p:cNvSpPr>
              <a:spLocks noChangeArrowheads="1"/>
            </p:cNvSpPr>
            <p:nvPr/>
          </p:nvSpPr>
          <p:spPr bwMode="auto">
            <a:xfrm>
              <a:off x="3024" y="3600"/>
              <a:ext cx="279" cy="166"/>
            </a:xfrm>
            <a:prstGeom prst="rect">
              <a:avLst/>
            </a:prstGeom>
            <a:noFill/>
            <a:ln w="12700">
              <a:noFill/>
              <a:miter lim="800000"/>
              <a:headEnd/>
              <a:tailEnd/>
            </a:ln>
            <a:effectLst/>
          </p:spPr>
          <p:txBody>
            <a:bodyPr wrap="none" lIns="63500" tIns="25400" rIns="63500" bIns="25400">
              <a:spAutoFit/>
            </a:bodyPr>
            <a:lstStyle/>
            <a:p>
              <a:r>
                <a:rPr lang="en-US" sz="1400">
                  <a:solidFill>
                    <a:schemeClr val="tx1"/>
                  </a:solidFill>
                </a:rPr>
                <a:t>Add</a:t>
              </a:r>
            </a:p>
          </p:txBody>
        </p:sp>
        <p:sp>
          <p:nvSpPr>
            <p:cNvPr id="388169" name="Line 1097"/>
            <p:cNvSpPr>
              <a:spLocks noChangeShapeType="1"/>
            </p:cNvSpPr>
            <p:nvPr/>
          </p:nvSpPr>
          <p:spPr bwMode="auto">
            <a:xfrm flipV="1">
              <a:off x="2736" y="3840"/>
              <a:ext cx="288" cy="0"/>
            </a:xfrm>
            <a:prstGeom prst="line">
              <a:avLst/>
            </a:prstGeom>
            <a:noFill/>
            <a:ln w="12700">
              <a:solidFill>
                <a:schemeClr val="tx1"/>
              </a:solidFill>
              <a:round/>
              <a:headEnd/>
              <a:tailEnd type="triangle" w="med" len="med"/>
            </a:ln>
            <a:effectLst/>
          </p:spPr>
          <p:txBody>
            <a:bodyPr/>
            <a:lstStyle/>
            <a:p>
              <a:endParaRPr lang="en-US"/>
            </a:p>
          </p:txBody>
        </p:sp>
        <p:sp>
          <p:nvSpPr>
            <p:cNvPr id="388170" name="Rectangle 1098"/>
            <p:cNvSpPr>
              <a:spLocks noChangeArrowheads="1"/>
            </p:cNvSpPr>
            <p:nvPr/>
          </p:nvSpPr>
          <p:spPr bwMode="auto">
            <a:xfrm>
              <a:off x="2592" y="3744"/>
              <a:ext cx="142" cy="166"/>
            </a:xfrm>
            <a:prstGeom prst="rect">
              <a:avLst/>
            </a:prstGeom>
            <a:noFill/>
            <a:ln w="12700">
              <a:noFill/>
              <a:miter lim="800000"/>
              <a:headEnd/>
              <a:tailEnd/>
            </a:ln>
            <a:effectLst/>
          </p:spPr>
          <p:txBody>
            <a:bodyPr wrap="none" lIns="63500" tIns="25400" rIns="63500" bIns="25400">
              <a:spAutoFit/>
            </a:bodyPr>
            <a:lstStyle/>
            <a:p>
              <a:r>
                <a:rPr lang="en-US" sz="1400">
                  <a:solidFill>
                    <a:schemeClr val="tx1"/>
                  </a:solidFill>
                </a:rPr>
                <a:t>4</a:t>
              </a:r>
            </a:p>
          </p:txBody>
        </p:sp>
        <p:sp>
          <p:nvSpPr>
            <p:cNvPr id="388171" name="Line 1099"/>
            <p:cNvSpPr>
              <a:spLocks noChangeShapeType="1"/>
            </p:cNvSpPr>
            <p:nvPr/>
          </p:nvSpPr>
          <p:spPr bwMode="auto">
            <a:xfrm flipH="1">
              <a:off x="2736" y="3792"/>
              <a:ext cx="96" cy="96"/>
            </a:xfrm>
            <a:prstGeom prst="line">
              <a:avLst/>
            </a:prstGeom>
            <a:noFill/>
            <a:ln w="28575">
              <a:solidFill>
                <a:schemeClr val="accent1"/>
              </a:solidFill>
              <a:round/>
              <a:headEnd/>
              <a:tailEnd/>
            </a:ln>
            <a:effectLst/>
          </p:spPr>
          <p:txBody>
            <a:bodyPr/>
            <a:lstStyle/>
            <a:p>
              <a:endParaRPr lang="en-US"/>
            </a:p>
          </p:txBody>
        </p:sp>
        <p:sp>
          <p:nvSpPr>
            <p:cNvPr id="388172" name="Rectangle 1100"/>
            <p:cNvSpPr>
              <a:spLocks noChangeArrowheads="1"/>
            </p:cNvSpPr>
            <p:nvPr/>
          </p:nvSpPr>
          <p:spPr bwMode="auto">
            <a:xfrm>
              <a:off x="2784" y="3792"/>
              <a:ext cx="204" cy="166"/>
            </a:xfrm>
            <a:prstGeom prst="rect">
              <a:avLst/>
            </a:prstGeom>
            <a:noFill/>
            <a:ln w="12700">
              <a:noFill/>
              <a:miter lim="800000"/>
              <a:headEnd/>
              <a:tailEnd/>
            </a:ln>
            <a:effectLst/>
          </p:spPr>
          <p:txBody>
            <a:bodyPr wrap="none" lIns="63500" tIns="25400" rIns="63500" bIns="25400">
              <a:spAutoFit/>
            </a:bodyPr>
            <a:lstStyle/>
            <a:p>
              <a:r>
                <a:rPr lang="en-US" sz="1400"/>
                <a:t>32</a:t>
              </a:r>
            </a:p>
          </p:txBody>
        </p:sp>
      </p:grpSp>
      <p:grpSp>
        <p:nvGrpSpPr>
          <p:cNvPr id="6" name="Group 1117"/>
          <p:cNvGrpSpPr>
            <a:grpSpLocks/>
          </p:cNvGrpSpPr>
          <p:nvPr/>
        </p:nvGrpSpPr>
        <p:grpSpPr bwMode="auto">
          <a:xfrm>
            <a:off x="6629400" y="3071810"/>
            <a:ext cx="1938338" cy="992188"/>
            <a:chOff x="432" y="2736"/>
            <a:chExt cx="1221" cy="625"/>
          </a:xfrm>
        </p:grpSpPr>
        <p:sp>
          <p:nvSpPr>
            <p:cNvPr id="388190" name="Oval 1118"/>
            <p:cNvSpPr>
              <a:spLocks noChangeArrowheads="1"/>
            </p:cNvSpPr>
            <p:nvPr/>
          </p:nvSpPr>
          <p:spPr bwMode="auto">
            <a:xfrm>
              <a:off x="672" y="2736"/>
              <a:ext cx="624" cy="288"/>
            </a:xfrm>
            <a:prstGeom prst="ellipse">
              <a:avLst/>
            </a:prstGeom>
            <a:noFill/>
            <a:ln w="12700">
              <a:solidFill>
                <a:schemeClr val="tx1"/>
              </a:solidFill>
              <a:round/>
              <a:headEnd/>
              <a:tailEnd/>
            </a:ln>
            <a:effectLst/>
          </p:spPr>
          <p:txBody>
            <a:bodyPr wrap="none" anchor="ctr"/>
            <a:lstStyle/>
            <a:p>
              <a:endParaRPr lang="en-US"/>
            </a:p>
          </p:txBody>
        </p:sp>
        <p:sp>
          <p:nvSpPr>
            <p:cNvPr id="388191" name="Text Box 1119"/>
            <p:cNvSpPr txBox="1">
              <a:spLocks noChangeArrowheads="1"/>
            </p:cNvSpPr>
            <p:nvPr/>
          </p:nvSpPr>
          <p:spPr bwMode="auto">
            <a:xfrm>
              <a:off x="624" y="2736"/>
              <a:ext cx="720" cy="326"/>
            </a:xfrm>
            <a:prstGeom prst="rect">
              <a:avLst/>
            </a:prstGeom>
            <a:noFill/>
            <a:ln w="12700">
              <a:noFill/>
              <a:miter lim="800000"/>
              <a:headEnd/>
              <a:tailEnd/>
            </a:ln>
            <a:effectLst/>
          </p:spPr>
          <p:txBody>
            <a:bodyPr>
              <a:spAutoFit/>
            </a:bodyPr>
            <a:lstStyle/>
            <a:p>
              <a:pPr algn="ctr"/>
              <a:r>
                <a:rPr lang="en-US" sz="1400"/>
                <a:t>Fetch</a:t>
              </a:r>
            </a:p>
            <a:p>
              <a:pPr algn="ctr"/>
              <a:r>
                <a:rPr lang="en-US" sz="1400"/>
                <a:t>PC = PC+4</a:t>
              </a:r>
            </a:p>
          </p:txBody>
        </p:sp>
        <p:sp>
          <p:nvSpPr>
            <p:cNvPr id="388192" name="Oval 1120"/>
            <p:cNvSpPr>
              <a:spLocks noChangeArrowheads="1"/>
            </p:cNvSpPr>
            <p:nvPr/>
          </p:nvSpPr>
          <p:spPr bwMode="auto">
            <a:xfrm>
              <a:off x="1196" y="3148"/>
              <a:ext cx="364" cy="212"/>
            </a:xfrm>
            <a:prstGeom prst="ellipse">
              <a:avLst/>
            </a:prstGeom>
            <a:noFill/>
            <a:ln w="12700">
              <a:solidFill>
                <a:schemeClr val="tx1"/>
              </a:solidFill>
              <a:round/>
              <a:headEnd/>
              <a:tailEnd/>
            </a:ln>
            <a:effectLst/>
          </p:spPr>
          <p:txBody>
            <a:bodyPr wrap="none" anchor="ctr"/>
            <a:lstStyle/>
            <a:p>
              <a:endParaRPr lang="en-US"/>
            </a:p>
          </p:txBody>
        </p:sp>
        <p:sp>
          <p:nvSpPr>
            <p:cNvPr id="388193" name="Text Box 1121"/>
            <p:cNvSpPr txBox="1">
              <a:spLocks noChangeArrowheads="1"/>
            </p:cNvSpPr>
            <p:nvPr/>
          </p:nvSpPr>
          <p:spPr bwMode="auto">
            <a:xfrm>
              <a:off x="1152" y="3168"/>
              <a:ext cx="501" cy="192"/>
            </a:xfrm>
            <a:prstGeom prst="rect">
              <a:avLst/>
            </a:prstGeom>
            <a:noFill/>
            <a:ln w="12700">
              <a:noFill/>
              <a:miter lim="800000"/>
              <a:headEnd/>
              <a:tailEnd/>
            </a:ln>
            <a:effectLst/>
          </p:spPr>
          <p:txBody>
            <a:bodyPr wrap="none">
              <a:spAutoFit/>
            </a:bodyPr>
            <a:lstStyle/>
            <a:p>
              <a:r>
                <a:rPr lang="en-US" sz="1400"/>
                <a:t>Decode</a:t>
              </a:r>
            </a:p>
          </p:txBody>
        </p:sp>
        <p:sp>
          <p:nvSpPr>
            <p:cNvPr id="388194" name="Oval 1122"/>
            <p:cNvSpPr>
              <a:spLocks noChangeArrowheads="1"/>
            </p:cNvSpPr>
            <p:nvPr/>
          </p:nvSpPr>
          <p:spPr bwMode="auto">
            <a:xfrm>
              <a:off x="480" y="3148"/>
              <a:ext cx="338" cy="212"/>
            </a:xfrm>
            <a:prstGeom prst="ellipse">
              <a:avLst/>
            </a:prstGeom>
            <a:noFill/>
            <a:ln w="12700">
              <a:solidFill>
                <a:schemeClr val="tx1"/>
              </a:solidFill>
              <a:round/>
              <a:headEnd/>
              <a:tailEnd/>
            </a:ln>
            <a:effectLst/>
          </p:spPr>
          <p:txBody>
            <a:bodyPr wrap="none" anchor="ctr"/>
            <a:lstStyle/>
            <a:p>
              <a:endParaRPr lang="en-US"/>
            </a:p>
          </p:txBody>
        </p:sp>
        <p:sp>
          <p:nvSpPr>
            <p:cNvPr id="388195" name="Text Box 1123"/>
            <p:cNvSpPr txBox="1">
              <a:spLocks noChangeArrowheads="1"/>
            </p:cNvSpPr>
            <p:nvPr/>
          </p:nvSpPr>
          <p:spPr bwMode="auto">
            <a:xfrm>
              <a:off x="432" y="3168"/>
              <a:ext cx="365" cy="192"/>
            </a:xfrm>
            <a:prstGeom prst="rect">
              <a:avLst/>
            </a:prstGeom>
            <a:noFill/>
            <a:ln w="12700">
              <a:noFill/>
              <a:miter lim="800000"/>
              <a:headEnd/>
              <a:tailEnd/>
            </a:ln>
            <a:effectLst/>
          </p:spPr>
          <p:txBody>
            <a:bodyPr wrap="none">
              <a:spAutoFit/>
            </a:bodyPr>
            <a:lstStyle/>
            <a:p>
              <a:r>
                <a:rPr lang="en-US" sz="1400"/>
                <a:t>Exec</a:t>
              </a:r>
            </a:p>
          </p:txBody>
        </p:sp>
        <p:cxnSp>
          <p:nvCxnSpPr>
            <p:cNvPr id="388196" name="AutoShape 1124"/>
            <p:cNvCxnSpPr>
              <a:cxnSpLocks noChangeShapeType="1"/>
              <a:stCxn id="388190" idx="6"/>
              <a:endCxn id="388192" idx="0"/>
            </p:cNvCxnSpPr>
            <p:nvPr/>
          </p:nvCxnSpPr>
          <p:spPr bwMode="auto">
            <a:xfrm>
              <a:off x="1296" y="2880"/>
              <a:ext cx="82" cy="268"/>
            </a:xfrm>
            <a:prstGeom prst="curvedConnector2">
              <a:avLst/>
            </a:prstGeom>
            <a:noFill/>
            <a:ln w="12700">
              <a:solidFill>
                <a:schemeClr val="tx1"/>
              </a:solidFill>
              <a:round/>
              <a:headEnd/>
              <a:tailEnd type="triangle" w="med" len="med"/>
            </a:ln>
            <a:effectLst/>
          </p:spPr>
        </p:cxnSp>
        <p:cxnSp>
          <p:nvCxnSpPr>
            <p:cNvPr id="388197" name="AutoShape 1125"/>
            <p:cNvCxnSpPr>
              <a:cxnSpLocks noChangeShapeType="1"/>
              <a:stCxn id="388192" idx="4"/>
              <a:endCxn id="388194" idx="4"/>
            </p:cNvCxnSpPr>
            <p:nvPr/>
          </p:nvCxnSpPr>
          <p:spPr bwMode="auto">
            <a:xfrm rot="5400000">
              <a:off x="1013" y="2996"/>
              <a:ext cx="1" cy="729"/>
            </a:xfrm>
            <a:prstGeom prst="curvedConnector3">
              <a:avLst>
                <a:gd name="adj1" fmla="val 14400000"/>
              </a:avLst>
            </a:prstGeom>
            <a:noFill/>
            <a:ln w="12700">
              <a:solidFill>
                <a:schemeClr val="tx1"/>
              </a:solidFill>
              <a:round/>
              <a:headEnd/>
              <a:tailEnd type="triangle" w="med" len="med"/>
            </a:ln>
            <a:effectLst/>
          </p:spPr>
        </p:cxnSp>
        <p:cxnSp>
          <p:nvCxnSpPr>
            <p:cNvPr id="388198" name="AutoShape 1126"/>
            <p:cNvCxnSpPr>
              <a:cxnSpLocks noChangeShapeType="1"/>
              <a:stCxn id="388194" idx="0"/>
              <a:endCxn id="388190" idx="2"/>
            </p:cNvCxnSpPr>
            <p:nvPr/>
          </p:nvCxnSpPr>
          <p:spPr bwMode="auto">
            <a:xfrm rot="16200000">
              <a:off x="527" y="3002"/>
              <a:ext cx="268" cy="23"/>
            </a:xfrm>
            <a:prstGeom prst="curvedConnector2">
              <a:avLst/>
            </a:prstGeom>
            <a:noFill/>
            <a:ln w="12700">
              <a:solidFill>
                <a:schemeClr val="tx1"/>
              </a:solidFill>
              <a:round/>
              <a:headEnd/>
              <a:tailEnd type="triangle" w="med" len="med"/>
            </a:ln>
            <a:effectLst/>
          </p:spPr>
        </p:cxnSp>
      </p:grpSp>
    </p:spTree>
    <p:extLst>
      <p:ext uri="{BB962C8B-B14F-4D97-AF65-F5344CB8AC3E}">
        <p14:creationId xmlns:p14="http://schemas.microsoft.com/office/powerpoint/2010/main" val="1885716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80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80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US"/>
              <a:t>Offset Tradeoffs</a:t>
            </a:r>
          </a:p>
        </p:txBody>
      </p:sp>
      <p:sp>
        <p:nvSpPr>
          <p:cNvPr id="461827" name="Rectangle 3"/>
          <p:cNvSpPr>
            <a:spLocks noGrp="1" noChangeArrowheads="1"/>
          </p:cNvSpPr>
          <p:nvPr>
            <p:ph type="body" idx="1"/>
          </p:nvPr>
        </p:nvSpPr>
        <p:spPr>
          <a:xfrm>
            <a:off x="685800" y="914400"/>
            <a:ext cx="7848600" cy="1290464"/>
          </a:xfrm>
        </p:spPr>
        <p:txBody>
          <a:bodyPr/>
          <a:lstStyle/>
          <a:p>
            <a:r>
              <a:rPr lang="en-US" dirty="0"/>
              <a:t>Why not just store the </a:t>
            </a:r>
            <a:r>
              <a:rPr lang="en-US" dirty="0">
                <a:solidFill>
                  <a:schemeClr val="accent1"/>
                </a:solidFill>
              </a:rPr>
              <a:t>word </a:t>
            </a:r>
            <a:r>
              <a:rPr lang="en-US" dirty="0"/>
              <a:t>offset in the low order 16 bits?  Then the two low order zeros wouldn’t have to be concatenated, it would be less confusing, …</a:t>
            </a:r>
          </a:p>
        </p:txBody>
      </p:sp>
      <p:sp>
        <p:nvSpPr>
          <p:cNvPr id="461828" name="Rectangle 4"/>
          <p:cNvSpPr>
            <a:spLocks noChangeArrowheads="1"/>
          </p:cNvSpPr>
          <p:nvPr/>
        </p:nvSpPr>
        <p:spPr bwMode="auto">
          <a:xfrm>
            <a:off x="609600" y="2564904"/>
            <a:ext cx="7848600" cy="2488886"/>
          </a:xfrm>
          <a:prstGeom prst="rect">
            <a:avLst/>
          </a:prstGeom>
          <a:noFill/>
          <a:ln w="12700">
            <a:noFill/>
            <a:miter lim="800000"/>
            <a:headEnd/>
            <a:tailEnd/>
          </a:ln>
          <a:effectLst/>
        </p:spPr>
        <p:txBody>
          <a:bodyPr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dirty="0">
                <a:solidFill>
                  <a:schemeClr val="tx1"/>
                </a:solidFill>
              </a:rPr>
              <a:t>That would limit the branch distance to -2</a:t>
            </a:r>
            <a:r>
              <a:rPr lang="en-US" sz="2400" baseline="30000" dirty="0">
                <a:solidFill>
                  <a:schemeClr val="tx1"/>
                </a:solidFill>
              </a:rPr>
              <a:t>13</a:t>
            </a:r>
            <a:r>
              <a:rPr lang="en-US" sz="2400" dirty="0">
                <a:solidFill>
                  <a:schemeClr val="tx1"/>
                </a:solidFill>
              </a:rPr>
              <a:t> to +2</a:t>
            </a:r>
            <a:r>
              <a:rPr lang="en-US" sz="2400" baseline="30000" dirty="0">
                <a:solidFill>
                  <a:schemeClr val="tx1"/>
                </a:solidFill>
              </a:rPr>
              <a:t>13</a:t>
            </a:r>
            <a:r>
              <a:rPr lang="en-US" sz="2400" dirty="0">
                <a:solidFill>
                  <a:schemeClr val="tx1"/>
                </a:solidFill>
              </a:rPr>
              <a:t>-1 </a:t>
            </a:r>
            <a:r>
              <a:rPr lang="en-US" sz="2400" dirty="0" smtClean="0">
                <a:solidFill>
                  <a:schemeClr val="tx1"/>
                </a:solidFill>
              </a:rPr>
              <a:t>instructions </a:t>
            </a:r>
            <a:r>
              <a:rPr lang="en-US" sz="2400" dirty="0">
                <a:solidFill>
                  <a:schemeClr val="tx1"/>
                </a:solidFill>
              </a:rPr>
              <a:t>from the (instruction after the) </a:t>
            </a:r>
            <a:r>
              <a:rPr lang="en-US" sz="2400" dirty="0" smtClean="0">
                <a:solidFill>
                  <a:schemeClr val="tx1"/>
                </a:solidFill>
              </a:rPr>
              <a:t>branch</a:t>
            </a:r>
          </a:p>
          <a:p>
            <a:pPr marL="287338" indent="-287338">
              <a:spcBef>
                <a:spcPct val="30000"/>
              </a:spcBef>
              <a:buClr>
                <a:schemeClr val="accent1"/>
              </a:buClr>
              <a:buSzPct val="75000"/>
              <a:buFont typeface="Wingdings" pitchFamily="2" charset="2"/>
              <a:buChar char="q"/>
            </a:pPr>
            <a:endParaRPr lang="en-US" sz="2400" dirty="0">
              <a:solidFill>
                <a:schemeClr val="tx1"/>
              </a:solidFill>
            </a:endParaRPr>
          </a:p>
          <a:p>
            <a:pPr marL="287338" indent="-287338">
              <a:spcBef>
                <a:spcPct val="30000"/>
              </a:spcBef>
              <a:buClr>
                <a:schemeClr val="accent1"/>
              </a:buClr>
              <a:buSzPct val="75000"/>
              <a:buFont typeface="Wingdings" pitchFamily="2" charset="2"/>
              <a:buChar char="q"/>
            </a:pPr>
            <a:r>
              <a:rPr lang="en-US" sz="2400" dirty="0">
                <a:solidFill>
                  <a:schemeClr val="tx1"/>
                </a:solidFill>
              </a:rPr>
              <a:t>And concatenating the two zero bits costs us very little in additional hardware and has no impact on the clock cycle time</a:t>
            </a:r>
          </a:p>
        </p:txBody>
      </p:sp>
    </p:spTree>
    <p:extLst>
      <p:ext uri="{BB962C8B-B14F-4D97-AF65-F5344CB8AC3E}">
        <p14:creationId xmlns:p14="http://schemas.microsoft.com/office/powerpoint/2010/main" val="674124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8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8"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4546" name="Rectangle 1026"/>
          <p:cNvSpPr>
            <a:spLocks noChangeArrowheads="1"/>
          </p:cNvSpPr>
          <p:nvPr/>
        </p:nvSpPr>
        <p:spPr bwMode="auto">
          <a:xfrm>
            <a:off x="225425" y="312738"/>
            <a:ext cx="3457575" cy="477837"/>
          </a:xfrm>
          <a:prstGeom prst="rect">
            <a:avLst/>
          </a:prstGeom>
          <a:noFill/>
          <a:ln w="12700">
            <a:noFill/>
            <a:miter lim="800000"/>
            <a:headEnd/>
            <a:tailEnd/>
          </a:ln>
          <a:effectLst/>
        </p:spPr>
        <p:txBody>
          <a:bodyPr wrap="none" anchor="ctr"/>
          <a:lstStyle/>
          <a:p>
            <a:endParaRPr lang="en-US"/>
          </a:p>
        </p:txBody>
      </p:sp>
      <p:sp>
        <p:nvSpPr>
          <p:cNvPr id="364547" name="Rectangle 1027"/>
          <p:cNvSpPr>
            <a:spLocks noGrp="1" noChangeArrowheads="1"/>
          </p:cNvSpPr>
          <p:nvPr>
            <p:ph type="body" idx="1"/>
          </p:nvPr>
        </p:nvSpPr>
        <p:spPr>
          <a:xfrm>
            <a:off x="381000" y="762000"/>
            <a:ext cx="8610600" cy="2514600"/>
          </a:xfrm>
          <a:noFill/>
          <a:ln/>
        </p:spPr>
        <p:txBody>
          <a:bodyPr lIns="90488" tIns="44450" rIns="90488" bIns="44450"/>
          <a:lstStyle/>
          <a:p>
            <a:pPr marL="342900" indent="-342900"/>
            <a:r>
              <a:rPr lang="en-US" dirty="0"/>
              <a:t>Assembly code</a:t>
            </a:r>
          </a:p>
          <a:p>
            <a:pPr marL="342900" indent="-342900">
              <a:spcBef>
                <a:spcPct val="0"/>
              </a:spcBef>
              <a:buClrTx/>
              <a:buSzTx/>
              <a:buFontTx/>
              <a:buNone/>
            </a:pPr>
            <a:r>
              <a:rPr lang="en-US" sz="2400" dirty="0"/>
              <a:t>		 	</a:t>
            </a:r>
            <a:r>
              <a:rPr lang="en-US" sz="2400" dirty="0" err="1">
                <a:latin typeface="Courier New" pitchFamily="49" charset="0"/>
              </a:rPr>
              <a:t>bne</a:t>
            </a:r>
            <a:r>
              <a:rPr lang="en-US" sz="2400" dirty="0">
                <a:latin typeface="Courier New" pitchFamily="49" charset="0"/>
              </a:rPr>
              <a:t> $s0, $s1, Lbl1</a:t>
            </a:r>
            <a:br>
              <a:rPr lang="en-US" sz="2400" dirty="0">
                <a:latin typeface="Courier New" pitchFamily="49" charset="0"/>
              </a:rPr>
            </a:br>
            <a:r>
              <a:rPr lang="en-US" sz="2400" dirty="0">
                <a:latin typeface="Courier New" pitchFamily="49" charset="0"/>
              </a:rPr>
              <a:t>		add $s3, $s0, $s1</a:t>
            </a:r>
            <a:br>
              <a:rPr lang="en-US" sz="2400" dirty="0">
                <a:latin typeface="Courier New" pitchFamily="49" charset="0"/>
              </a:rPr>
            </a:br>
            <a:r>
              <a:rPr lang="en-US" sz="2400" dirty="0">
                <a:latin typeface="Courier New" pitchFamily="49" charset="0"/>
              </a:rPr>
              <a:t>Lbl1:	...</a:t>
            </a:r>
            <a:endParaRPr lang="en-US" sz="2400" dirty="0"/>
          </a:p>
          <a:p>
            <a:pPr marL="342900" indent="-342900">
              <a:spcBef>
                <a:spcPct val="0"/>
              </a:spcBef>
              <a:spcAft>
                <a:spcPct val="40000"/>
              </a:spcAft>
            </a:pPr>
            <a:r>
              <a:rPr lang="en-US" dirty="0"/>
              <a:t>Machine Format of </a:t>
            </a:r>
            <a:r>
              <a:rPr lang="en-US" dirty="0" err="1">
                <a:latin typeface="Courier New" pitchFamily="49" charset="0"/>
              </a:rPr>
              <a:t>bne</a:t>
            </a:r>
            <a:r>
              <a:rPr lang="en-US" dirty="0"/>
              <a:t>:</a:t>
            </a:r>
            <a:br>
              <a:rPr lang="en-US" dirty="0"/>
            </a:br>
            <a:endParaRPr lang="en-US" dirty="0"/>
          </a:p>
        </p:txBody>
      </p:sp>
      <p:sp>
        <p:nvSpPr>
          <p:cNvPr id="364548" name="Rectangle 1028"/>
          <p:cNvSpPr>
            <a:spLocks noGrp="1" noChangeArrowheads="1"/>
          </p:cNvSpPr>
          <p:nvPr>
            <p:ph type="title"/>
          </p:nvPr>
        </p:nvSpPr>
        <p:spPr>
          <a:noFill/>
          <a:ln/>
        </p:spPr>
        <p:txBody>
          <a:bodyPr lIns="90488" tIns="44450" rIns="90488" bIns="44450" anchor="ctr"/>
          <a:lstStyle/>
          <a:p>
            <a:r>
              <a:rPr lang="en-US"/>
              <a:t>Assembling Branches Example</a:t>
            </a:r>
          </a:p>
        </p:txBody>
      </p:sp>
      <p:grpSp>
        <p:nvGrpSpPr>
          <p:cNvPr id="2" name="Group 1029"/>
          <p:cNvGrpSpPr>
            <a:grpSpLocks/>
          </p:cNvGrpSpPr>
          <p:nvPr/>
        </p:nvGrpSpPr>
        <p:grpSpPr bwMode="auto">
          <a:xfrm>
            <a:off x="1295400" y="2790820"/>
            <a:ext cx="5791200" cy="369888"/>
            <a:chOff x="1056" y="3024"/>
            <a:chExt cx="3648" cy="233"/>
          </a:xfrm>
        </p:grpSpPr>
        <p:sp>
          <p:nvSpPr>
            <p:cNvPr id="364550" name="Rectangle 1030"/>
            <p:cNvSpPr>
              <a:spLocks noChangeArrowheads="1"/>
            </p:cNvSpPr>
            <p:nvPr/>
          </p:nvSpPr>
          <p:spPr bwMode="auto">
            <a:xfrm>
              <a:off x="1056" y="3024"/>
              <a:ext cx="3648" cy="184"/>
            </a:xfrm>
            <a:prstGeom prst="rect">
              <a:avLst/>
            </a:prstGeom>
            <a:noFill/>
            <a:ln w="12700">
              <a:solidFill>
                <a:schemeClr val="tx1"/>
              </a:solidFill>
              <a:miter lim="800000"/>
              <a:headEnd/>
              <a:tailEnd/>
            </a:ln>
            <a:effectLst/>
          </p:spPr>
          <p:txBody>
            <a:bodyPr wrap="none" anchor="ctr"/>
            <a:lstStyle/>
            <a:p>
              <a:endParaRPr lang="en-US"/>
            </a:p>
          </p:txBody>
        </p:sp>
        <p:sp>
          <p:nvSpPr>
            <p:cNvPr id="364551" name="Line 1031"/>
            <p:cNvSpPr>
              <a:spLocks noChangeShapeType="1"/>
            </p:cNvSpPr>
            <p:nvPr/>
          </p:nvSpPr>
          <p:spPr bwMode="auto">
            <a:xfrm>
              <a:off x="1728" y="3024"/>
              <a:ext cx="0" cy="183"/>
            </a:xfrm>
            <a:prstGeom prst="line">
              <a:avLst/>
            </a:prstGeom>
            <a:noFill/>
            <a:ln w="12700">
              <a:solidFill>
                <a:schemeClr val="tx1"/>
              </a:solidFill>
              <a:round/>
              <a:headEnd/>
              <a:tailEnd/>
            </a:ln>
            <a:effectLst/>
          </p:spPr>
          <p:txBody>
            <a:bodyPr/>
            <a:lstStyle/>
            <a:p>
              <a:endParaRPr lang="en-US"/>
            </a:p>
          </p:txBody>
        </p:sp>
        <p:sp>
          <p:nvSpPr>
            <p:cNvPr id="364552" name="Line 1032"/>
            <p:cNvSpPr>
              <a:spLocks noChangeShapeType="1"/>
            </p:cNvSpPr>
            <p:nvPr/>
          </p:nvSpPr>
          <p:spPr bwMode="auto">
            <a:xfrm>
              <a:off x="2300" y="3025"/>
              <a:ext cx="0" cy="183"/>
            </a:xfrm>
            <a:prstGeom prst="line">
              <a:avLst/>
            </a:prstGeom>
            <a:noFill/>
            <a:ln w="12700">
              <a:solidFill>
                <a:schemeClr val="tx1"/>
              </a:solidFill>
              <a:round/>
              <a:headEnd/>
              <a:tailEnd/>
            </a:ln>
            <a:effectLst/>
          </p:spPr>
          <p:txBody>
            <a:bodyPr/>
            <a:lstStyle/>
            <a:p>
              <a:endParaRPr lang="en-US"/>
            </a:p>
          </p:txBody>
        </p:sp>
        <p:sp>
          <p:nvSpPr>
            <p:cNvPr id="364553" name="Line 1033"/>
            <p:cNvSpPr>
              <a:spLocks noChangeShapeType="1"/>
            </p:cNvSpPr>
            <p:nvPr/>
          </p:nvSpPr>
          <p:spPr bwMode="auto">
            <a:xfrm>
              <a:off x="2876" y="3025"/>
              <a:ext cx="0" cy="183"/>
            </a:xfrm>
            <a:prstGeom prst="line">
              <a:avLst/>
            </a:prstGeom>
            <a:noFill/>
            <a:ln w="12700">
              <a:solidFill>
                <a:schemeClr val="tx1"/>
              </a:solidFill>
              <a:round/>
              <a:headEnd/>
              <a:tailEnd/>
            </a:ln>
            <a:effectLst/>
          </p:spPr>
          <p:txBody>
            <a:bodyPr/>
            <a:lstStyle/>
            <a:p>
              <a:endParaRPr lang="en-US"/>
            </a:p>
          </p:txBody>
        </p:sp>
        <p:sp>
          <p:nvSpPr>
            <p:cNvPr id="364554" name="Text Box 1034"/>
            <p:cNvSpPr txBox="1">
              <a:spLocks noChangeArrowheads="1"/>
            </p:cNvSpPr>
            <p:nvPr/>
          </p:nvSpPr>
          <p:spPr bwMode="auto">
            <a:xfrm>
              <a:off x="1200" y="3024"/>
              <a:ext cx="2941" cy="233"/>
            </a:xfrm>
            <a:prstGeom prst="rect">
              <a:avLst/>
            </a:prstGeom>
            <a:noFill/>
            <a:ln w="12700">
              <a:noFill/>
              <a:miter lim="800000"/>
              <a:headEnd/>
              <a:tailEnd/>
            </a:ln>
            <a:effectLst/>
          </p:spPr>
          <p:txBody>
            <a:bodyPr wrap="none">
              <a:spAutoFit/>
            </a:bodyPr>
            <a:lstStyle/>
            <a:p>
              <a:r>
                <a:rPr lang="en-US" dirty="0">
                  <a:solidFill>
                    <a:schemeClr val="tx1"/>
                  </a:solidFill>
                </a:rPr>
                <a:t>op            </a:t>
              </a:r>
              <a:r>
                <a:rPr lang="en-US" dirty="0" err="1">
                  <a:solidFill>
                    <a:schemeClr val="tx1"/>
                  </a:solidFill>
                </a:rPr>
                <a:t>rs</a:t>
              </a:r>
              <a:r>
                <a:rPr lang="en-US" dirty="0">
                  <a:solidFill>
                    <a:schemeClr val="tx1"/>
                  </a:solidFill>
                </a:rPr>
                <a:t>             </a:t>
              </a:r>
              <a:r>
                <a:rPr lang="en-US" dirty="0" err="1">
                  <a:solidFill>
                    <a:schemeClr val="tx1"/>
                  </a:solidFill>
                </a:rPr>
                <a:t>rt</a:t>
              </a:r>
              <a:r>
                <a:rPr lang="en-US" dirty="0">
                  <a:solidFill>
                    <a:schemeClr val="tx1"/>
                  </a:solidFill>
                </a:rPr>
                <a:t>                 </a:t>
              </a:r>
              <a:r>
                <a:rPr lang="en-US" dirty="0" smtClean="0">
                  <a:solidFill>
                    <a:srgbClr val="FF0000"/>
                  </a:solidFill>
                </a:rPr>
                <a:t>16-bit </a:t>
              </a:r>
              <a:r>
                <a:rPr lang="en-US" dirty="0">
                  <a:solidFill>
                    <a:srgbClr val="FF0000"/>
                  </a:solidFill>
                </a:rPr>
                <a:t>offset</a:t>
              </a:r>
            </a:p>
          </p:txBody>
        </p:sp>
      </p:grpSp>
      <p:sp>
        <p:nvSpPr>
          <p:cNvPr id="364555" name="Rectangle 1035"/>
          <p:cNvSpPr>
            <a:spLocks noChangeArrowheads="1"/>
          </p:cNvSpPr>
          <p:nvPr/>
        </p:nvSpPr>
        <p:spPr bwMode="auto">
          <a:xfrm>
            <a:off x="7162800" y="2714620"/>
            <a:ext cx="1600200" cy="396875"/>
          </a:xfrm>
          <a:prstGeom prst="rect">
            <a:avLst/>
          </a:prstGeom>
          <a:noFill/>
          <a:ln w="12700">
            <a:noFill/>
            <a:miter lim="800000"/>
            <a:headEnd/>
            <a:tailEnd/>
          </a:ln>
          <a:effectLst/>
        </p:spPr>
        <p:txBody>
          <a:bodyPr>
            <a:spAutoFit/>
          </a:bodyPr>
          <a:lstStyle/>
          <a:p>
            <a:r>
              <a:rPr lang="en-US" sz="2000">
                <a:solidFill>
                  <a:schemeClr val="tx1"/>
                </a:solidFill>
                <a:sym typeface="Symbol" pitchFamily="18" charset="2"/>
              </a:rPr>
              <a:t>I  format</a:t>
            </a:r>
          </a:p>
        </p:txBody>
      </p:sp>
      <p:sp>
        <p:nvSpPr>
          <p:cNvPr id="364556" name="AutoShape 1036"/>
          <p:cNvSpPr>
            <a:spLocks noChangeArrowheads="1"/>
          </p:cNvSpPr>
          <p:nvPr/>
        </p:nvSpPr>
        <p:spPr bwMode="auto">
          <a:xfrm>
            <a:off x="4038600" y="3248020"/>
            <a:ext cx="381000" cy="152400"/>
          </a:xfrm>
          <a:prstGeom prst="downArrow">
            <a:avLst>
              <a:gd name="adj1" fmla="val 50000"/>
              <a:gd name="adj2" fmla="val 25000"/>
            </a:avLst>
          </a:prstGeom>
          <a:noFill/>
          <a:ln w="12700">
            <a:solidFill>
              <a:schemeClr val="tx1"/>
            </a:solidFill>
            <a:miter lim="800000"/>
            <a:headEnd/>
            <a:tailEnd/>
          </a:ln>
          <a:effectLst/>
        </p:spPr>
        <p:txBody>
          <a:bodyPr wrap="none" anchor="ctr"/>
          <a:lstStyle/>
          <a:p>
            <a:endParaRPr lang="en-US"/>
          </a:p>
        </p:txBody>
      </p:sp>
      <p:grpSp>
        <p:nvGrpSpPr>
          <p:cNvPr id="3" name="Group 1038"/>
          <p:cNvGrpSpPr>
            <a:grpSpLocks/>
          </p:cNvGrpSpPr>
          <p:nvPr/>
        </p:nvGrpSpPr>
        <p:grpSpPr bwMode="auto">
          <a:xfrm>
            <a:off x="1295400" y="3629020"/>
            <a:ext cx="5791200" cy="292100"/>
            <a:chOff x="1008" y="3120"/>
            <a:chExt cx="3648" cy="184"/>
          </a:xfrm>
        </p:grpSpPr>
        <p:sp>
          <p:nvSpPr>
            <p:cNvPr id="364559" name="Rectangle 1039"/>
            <p:cNvSpPr>
              <a:spLocks noChangeArrowheads="1"/>
            </p:cNvSpPr>
            <p:nvPr/>
          </p:nvSpPr>
          <p:spPr bwMode="auto">
            <a:xfrm>
              <a:off x="1008" y="3120"/>
              <a:ext cx="3648" cy="184"/>
            </a:xfrm>
            <a:prstGeom prst="rect">
              <a:avLst/>
            </a:prstGeom>
            <a:noFill/>
            <a:ln w="12700">
              <a:solidFill>
                <a:schemeClr val="tx1"/>
              </a:solidFill>
              <a:miter lim="800000"/>
              <a:headEnd/>
              <a:tailEnd/>
            </a:ln>
            <a:effectLst/>
          </p:spPr>
          <p:txBody>
            <a:bodyPr wrap="none" anchor="ctr"/>
            <a:lstStyle/>
            <a:p>
              <a:endParaRPr lang="en-US"/>
            </a:p>
          </p:txBody>
        </p:sp>
        <p:sp>
          <p:nvSpPr>
            <p:cNvPr id="364560" name="Line 1040"/>
            <p:cNvSpPr>
              <a:spLocks noChangeShapeType="1"/>
            </p:cNvSpPr>
            <p:nvPr/>
          </p:nvSpPr>
          <p:spPr bwMode="auto">
            <a:xfrm>
              <a:off x="1680" y="3120"/>
              <a:ext cx="0" cy="183"/>
            </a:xfrm>
            <a:prstGeom prst="line">
              <a:avLst/>
            </a:prstGeom>
            <a:noFill/>
            <a:ln w="12700">
              <a:solidFill>
                <a:schemeClr val="tx1"/>
              </a:solidFill>
              <a:round/>
              <a:headEnd/>
              <a:tailEnd/>
            </a:ln>
            <a:effectLst/>
          </p:spPr>
          <p:txBody>
            <a:bodyPr/>
            <a:lstStyle/>
            <a:p>
              <a:endParaRPr lang="en-US"/>
            </a:p>
          </p:txBody>
        </p:sp>
        <p:sp>
          <p:nvSpPr>
            <p:cNvPr id="364561" name="Line 1041"/>
            <p:cNvSpPr>
              <a:spLocks noChangeShapeType="1"/>
            </p:cNvSpPr>
            <p:nvPr/>
          </p:nvSpPr>
          <p:spPr bwMode="auto">
            <a:xfrm>
              <a:off x="2252" y="3121"/>
              <a:ext cx="0" cy="183"/>
            </a:xfrm>
            <a:prstGeom prst="line">
              <a:avLst/>
            </a:prstGeom>
            <a:noFill/>
            <a:ln w="12700">
              <a:solidFill>
                <a:schemeClr val="tx1"/>
              </a:solidFill>
              <a:round/>
              <a:headEnd/>
              <a:tailEnd/>
            </a:ln>
            <a:effectLst/>
          </p:spPr>
          <p:txBody>
            <a:bodyPr/>
            <a:lstStyle/>
            <a:p>
              <a:endParaRPr lang="en-US"/>
            </a:p>
          </p:txBody>
        </p:sp>
        <p:sp>
          <p:nvSpPr>
            <p:cNvPr id="364562" name="Line 1042"/>
            <p:cNvSpPr>
              <a:spLocks noChangeShapeType="1"/>
            </p:cNvSpPr>
            <p:nvPr/>
          </p:nvSpPr>
          <p:spPr bwMode="auto">
            <a:xfrm>
              <a:off x="2828" y="3121"/>
              <a:ext cx="0" cy="183"/>
            </a:xfrm>
            <a:prstGeom prst="line">
              <a:avLst/>
            </a:prstGeom>
            <a:noFill/>
            <a:ln w="12700">
              <a:solidFill>
                <a:schemeClr val="tx1"/>
              </a:solidFill>
              <a:round/>
              <a:headEnd/>
              <a:tailEnd/>
            </a:ln>
            <a:effectLst/>
          </p:spPr>
          <p:txBody>
            <a:bodyPr/>
            <a:lstStyle/>
            <a:p>
              <a:endParaRPr lang="en-US"/>
            </a:p>
          </p:txBody>
        </p:sp>
      </p:grpSp>
      <p:sp>
        <p:nvSpPr>
          <p:cNvPr id="364563" name="Text Box 1043"/>
          <p:cNvSpPr txBox="1">
            <a:spLocks noChangeArrowheads="1"/>
          </p:cNvSpPr>
          <p:nvPr/>
        </p:nvSpPr>
        <p:spPr bwMode="auto">
          <a:xfrm>
            <a:off x="1571604" y="3629020"/>
            <a:ext cx="2416046" cy="369332"/>
          </a:xfrm>
          <a:prstGeom prst="rect">
            <a:avLst/>
          </a:prstGeom>
          <a:noFill/>
          <a:ln w="12700">
            <a:noFill/>
            <a:miter lim="800000"/>
            <a:headEnd/>
            <a:tailEnd/>
          </a:ln>
          <a:effectLst/>
        </p:spPr>
        <p:txBody>
          <a:bodyPr wrap="none">
            <a:spAutoFit/>
          </a:bodyPr>
          <a:lstStyle/>
          <a:p>
            <a:r>
              <a:rPr lang="en-US" dirty="0" smtClean="0">
                <a:solidFill>
                  <a:schemeClr val="tx1"/>
                </a:solidFill>
              </a:rPr>
              <a:t>0x05         </a:t>
            </a:r>
            <a:r>
              <a:rPr lang="en-US" dirty="0">
                <a:solidFill>
                  <a:schemeClr val="tx1"/>
                </a:solidFill>
              </a:rPr>
              <a:t>16        </a:t>
            </a:r>
            <a:r>
              <a:rPr lang="en-US" dirty="0" smtClean="0">
                <a:solidFill>
                  <a:schemeClr val="tx1"/>
                </a:solidFill>
              </a:rPr>
              <a:t> </a:t>
            </a:r>
            <a:r>
              <a:rPr lang="en-US" dirty="0">
                <a:solidFill>
                  <a:schemeClr val="tx1"/>
                </a:solidFill>
              </a:rPr>
              <a:t>17</a:t>
            </a:r>
          </a:p>
        </p:txBody>
      </p:sp>
      <p:sp>
        <p:nvSpPr>
          <p:cNvPr id="364572" name="Rectangle 1052"/>
          <p:cNvSpPr>
            <a:spLocks noChangeArrowheads="1"/>
          </p:cNvSpPr>
          <p:nvPr/>
        </p:nvSpPr>
        <p:spPr bwMode="auto">
          <a:xfrm>
            <a:off x="381000" y="4071942"/>
            <a:ext cx="8334404" cy="2500330"/>
          </a:xfrm>
          <a:prstGeom prst="rect">
            <a:avLst/>
          </a:prstGeom>
          <a:noFill/>
          <a:ln w="12700">
            <a:noFill/>
            <a:miter lim="800000"/>
            <a:headEnd/>
            <a:tailEnd/>
          </a:ln>
          <a:effectLst/>
        </p:spPr>
        <p:txBody>
          <a:bodyPr lIns="90488" tIns="44450" rIns="90488" bIns="44450"/>
          <a:lstStyle/>
          <a:p>
            <a:pPr marL="342900" indent="-342900">
              <a:lnSpc>
                <a:spcPct val="95000"/>
              </a:lnSpc>
              <a:spcBef>
                <a:spcPct val="25000"/>
              </a:spcBef>
              <a:buClr>
                <a:schemeClr val="accent1"/>
              </a:buClr>
              <a:buSzPct val="75000"/>
              <a:buFont typeface="Wingdings" pitchFamily="2" charset="2"/>
              <a:buChar char="q"/>
            </a:pPr>
            <a:r>
              <a:rPr lang="en-US" sz="2800" dirty="0">
                <a:solidFill>
                  <a:schemeClr val="tx1"/>
                </a:solidFill>
              </a:rPr>
              <a:t>Remember</a:t>
            </a:r>
          </a:p>
          <a:p>
            <a:pPr marL="742950" lvl="1" indent="-285750">
              <a:lnSpc>
                <a:spcPct val="95000"/>
              </a:lnSpc>
              <a:spcBef>
                <a:spcPct val="25000"/>
              </a:spcBef>
              <a:buClr>
                <a:schemeClr val="accent1"/>
              </a:buClr>
              <a:buSzPct val="75000"/>
              <a:buFont typeface="Wingdings" pitchFamily="2" charset="2"/>
              <a:buChar char="l"/>
            </a:pPr>
            <a:r>
              <a:rPr lang="en-US" sz="2400" dirty="0">
                <a:solidFill>
                  <a:schemeClr val="tx1"/>
                </a:solidFill>
              </a:rPr>
              <a:t>After the </a:t>
            </a:r>
            <a:r>
              <a:rPr lang="en-US" sz="2400" dirty="0" err="1">
                <a:solidFill>
                  <a:schemeClr val="tx1"/>
                </a:solidFill>
                <a:latin typeface="Courier New" pitchFamily="49" charset="0"/>
              </a:rPr>
              <a:t>bne</a:t>
            </a:r>
            <a:r>
              <a:rPr lang="en-US" sz="2400" dirty="0">
                <a:solidFill>
                  <a:schemeClr val="tx1"/>
                </a:solidFill>
              </a:rPr>
              <a:t> instruction is fetched, the PC is updated so that it is addressing the </a:t>
            </a:r>
            <a:r>
              <a:rPr lang="en-US" sz="2400" dirty="0">
                <a:solidFill>
                  <a:schemeClr val="tx1"/>
                </a:solidFill>
                <a:latin typeface="Courier New" pitchFamily="49" charset="0"/>
              </a:rPr>
              <a:t>add</a:t>
            </a:r>
            <a:r>
              <a:rPr lang="en-US" sz="2400" dirty="0">
                <a:solidFill>
                  <a:schemeClr val="tx1"/>
                </a:solidFill>
              </a:rPr>
              <a:t> </a:t>
            </a:r>
            <a:r>
              <a:rPr lang="en-US" sz="2400" dirty="0" smtClean="0">
                <a:solidFill>
                  <a:schemeClr val="tx1"/>
                </a:solidFill>
              </a:rPr>
              <a:t>instruction</a:t>
            </a:r>
            <a:endParaRPr lang="en-US" sz="2400" dirty="0">
              <a:solidFill>
                <a:schemeClr val="tx1"/>
              </a:solidFill>
            </a:endParaRPr>
          </a:p>
          <a:p>
            <a:pPr marL="742950" lvl="1" indent="-285750">
              <a:lnSpc>
                <a:spcPct val="95000"/>
              </a:lnSpc>
              <a:spcBef>
                <a:spcPct val="25000"/>
              </a:spcBef>
              <a:buClr>
                <a:schemeClr val="accent1"/>
              </a:buClr>
              <a:buSzPct val="75000"/>
              <a:buFont typeface="Wingdings" pitchFamily="2" charset="2"/>
              <a:buChar char="l"/>
            </a:pPr>
            <a:r>
              <a:rPr lang="en-US" sz="2400" dirty="0">
                <a:solidFill>
                  <a:schemeClr val="tx1"/>
                </a:solidFill>
              </a:rPr>
              <a:t>The offset (plus 2 low-order zeros) is sign-extended and added to the (updated) PC</a:t>
            </a:r>
          </a:p>
        </p:txBody>
      </p:sp>
    </p:spTree>
    <p:extLst>
      <p:ext uri="{BB962C8B-B14F-4D97-AF65-F5344CB8AC3E}">
        <p14:creationId xmlns:p14="http://schemas.microsoft.com/office/powerpoint/2010/main" val="2034435259"/>
      </p:ext>
    </p:extLst>
  </p:cSld>
  <p:clrMapOvr>
    <a:masterClrMapping/>
  </p:clrMapOvr>
  <p:transition advTm="200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ChangeArrowheads="1"/>
          </p:cNvSpPr>
          <p:nvPr/>
        </p:nvSpPr>
        <p:spPr bwMode="auto">
          <a:xfrm>
            <a:off x="225425" y="312738"/>
            <a:ext cx="3457575" cy="477837"/>
          </a:xfrm>
          <a:prstGeom prst="rect">
            <a:avLst/>
          </a:prstGeom>
          <a:noFill/>
          <a:ln w="12700">
            <a:noFill/>
            <a:miter lim="800000"/>
            <a:headEnd/>
            <a:tailEnd/>
          </a:ln>
          <a:effectLst/>
        </p:spPr>
        <p:txBody>
          <a:bodyPr wrap="none" anchor="ctr"/>
          <a:lstStyle/>
          <a:p>
            <a:endParaRPr lang="en-US"/>
          </a:p>
        </p:txBody>
      </p:sp>
      <p:sp>
        <p:nvSpPr>
          <p:cNvPr id="401411" name="Rectangle 3"/>
          <p:cNvSpPr>
            <a:spLocks noGrp="1" noChangeArrowheads="1"/>
          </p:cNvSpPr>
          <p:nvPr>
            <p:ph type="body" idx="1"/>
          </p:nvPr>
        </p:nvSpPr>
        <p:spPr>
          <a:xfrm>
            <a:off x="381000" y="762000"/>
            <a:ext cx="8610600" cy="2514600"/>
          </a:xfrm>
          <a:noFill/>
          <a:ln/>
        </p:spPr>
        <p:txBody>
          <a:bodyPr lIns="90488" tIns="44450" rIns="90488" bIns="44450"/>
          <a:lstStyle/>
          <a:p>
            <a:pPr marL="342900" indent="-342900"/>
            <a:r>
              <a:rPr lang="en-US"/>
              <a:t>Assembly code</a:t>
            </a:r>
          </a:p>
          <a:p>
            <a:pPr marL="342900" indent="-342900">
              <a:spcBef>
                <a:spcPct val="0"/>
              </a:spcBef>
              <a:buClrTx/>
              <a:buSzTx/>
              <a:buFontTx/>
              <a:buNone/>
            </a:pPr>
            <a:r>
              <a:rPr lang="en-US" sz="2400"/>
              <a:t>		 	</a:t>
            </a:r>
            <a:r>
              <a:rPr lang="en-US" sz="2400">
                <a:latin typeface="Courier New" pitchFamily="49" charset="0"/>
              </a:rPr>
              <a:t>bne $s0, $s1, Lbl1</a:t>
            </a:r>
            <a:br>
              <a:rPr lang="en-US" sz="2400">
                <a:latin typeface="Courier New" pitchFamily="49" charset="0"/>
              </a:rPr>
            </a:br>
            <a:r>
              <a:rPr lang="en-US" sz="2400">
                <a:latin typeface="Courier New" pitchFamily="49" charset="0"/>
              </a:rPr>
              <a:t>		add $s3, $s0, $s1</a:t>
            </a:r>
            <a:br>
              <a:rPr lang="en-US" sz="2400">
                <a:latin typeface="Courier New" pitchFamily="49" charset="0"/>
              </a:rPr>
            </a:br>
            <a:r>
              <a:rPr lang="en-US" sz="2400">
                <a:latin typeface="Courier New" pitchFamily="49" charset="0"/>
              </a:rPr>
              <a:t>Lbl1:	...</a:t>
            </a:r>
            <a:endParaRPr lang="en-US" sz="2400"/>
          </a:p>
          <a:p>
            <a:pPr marL="342900" indent="-342900">
              <a:spcBef>
                <a:spcPct val="0"/>
              </a:spcBef>
              <a:spcAft>
                <a:spcPct val="40000"/>
              </a:spcAft>
            </a:pPr>
            <a:r>
              <a:rPr lang="en-US"/>
              <a:t>Machine Format of </a:t>
            </a:r>
            <a:r>
              <a:rPr lang="en-US">
                <a:latin typeface="Courier New" pitchFamily="49" charset="0"/>
              </a:rPr>
              <a:t>bne</a:t>
            </a:r>
            <a:r>
              <a:rPr lang="en-US"/>
              <a:t>:</a:t>
            </a:r>
            <a:br>
              <a:rPr lang="en-US"/>
            </a:br>
            <a:endParaRPr lang="en-US"/>
          </a:p>
        </p:txBody>
      </p:sp>
      <p:sp>
        <p:nvSpPr>
          <p:cNvPr id="401412" name="Rectangle 4"/>
          <p:cNvSpPr>
            <a:spLocks noGrp="1" noChangeArrowheads="1"/>
          </p:cNvSpPr>
          <p:nvPr>
            <p:ph type="title"/>
          </p:nvPr>
        </p:nvSpPr>
        <p:spPr>
          <a:noFill/>
          <a:ln/>
        </p:spPr>
        <p:txBody>
          <a:bodyPr lIns="90488" tIns="44450" rIns="90488" bIns="44450" anchor="ctr"/>
          <a:lstStyle/>
          <a:p>
            <a:r>
              <a:rPr lang="en-US"/>
              <a:t>Assembling Branches Example</a:t>
            </a:r>
          </a:p>
        </p:txBody>
      </p:sp>
      <p:grpSp>
        <p:nvGrpSpPr>
          <p:cNvPr id="2" name="Group 5"/>
          <p:cNvGrpSpPr>
            <a:grpSpLocks/>
          </p:cNvGrpSpPr>
          <p:nvPr/>
        </p:nvGrpSpPr>
        <p:grpSpPr bwMode="auto">
          <a:xfrm>
            <a:off x="1295400" y="2790820"/>
            <a:ext cx="5791200" cy="369888"/>
            <a:chOff x="1056" y="3024"/>
            <a:chExt cx="3648" cy="233"/>
          </a:xfrm>
        </p:grpSpPr>
        <p:sp>
          <p:nvSpPr>
            <p:cNvPr id="401414" name="Rectangle 6"/>
            <p:cNvSpPr>
              <a:spLocks noChangeArrowheads="1"/>
            </p:cNvSpPr>
            <p:nvPr/>
          </p:nvSpPr>
          <p:spPr bwMode="auto">
            <a:xfrm>
              <a:off x="1056" y="3024"/>
              <a:ext cx="3648" cy="184"/>
            </a:xfrm>
            <a:prstGeom prst="rect">
              <a:avLst/>
            </a:prstGeom>
            <a:noFill/>
            <a:ln w="12700">
              <a:solidFill>
                <a:schemeClr val="tx1"/>
              </a:solidFill>
              <a:miter lim="800000"/>
              <a:headEnd/>
              <a:tailEnd/>
            </a:ln>
            <a:effectLst/>
          </p:spPr>
          <p:txBody>
            <a:bodyPr wrap="none" anchor="ctr"/>
            <a:lstStyle/>
            <a:p>
              <a:endParaRPr lang="en-US"/>
            </a:p>
          </p:txBody>
        </p:sp>
        <p:sp>
          <p:nvSpPr>
            <p:cNvPr id="401415" name="Line 7"/>
            <p:cNvSpPr>
              <a:spLocks noChangeShapeType="1"/>
            </p:cNvSpPr>
            <p:nvPr/>
          </p:nvSpPr>
          <p:spPr bwMode="auto">
            <a:xfrm>
              <a:off x="1728" y="3024"/>
              <a:ext cx="0" cy="183"/>
            </a:xfrm>
            <a:prstGeom prst="line">
              <a:avLst/>
            </a:prstGeom>
            <a:noFill/>
            <a:ln w="12700">
              <a:solidFill>
                <a:schemeClr val="tx1"/>
              </a:solidFill>
              <a:round/>
              <a:headEnd/>
              <a:tailEnd/>
            </a:ln>
            <a:effectLst/>
          </p:spPr>
          <p:txBody>
            <a:bodyPr/>
            <a:lstStyle/>
            <a:p>
              <a:endParaRPr lang="en-US"/>
            </a:p>
          </p:txBody>
        </p:sp>
        <p:sp>
          <p:nvSpPr>
            <p:cNvPr id="401416" name="Line 8"/>
            <p:cNvSpPr>
              <a:spLocks noChangeShapeType="1"/>
            </p:cNvSpPr>
            <p:nvPr/>
          </p:nvSpPr>
          <p:spPr bwMode="auto">
            <a:xfrm>
              <a:off x="2300" y="3025"/>
              <a:ext cx="0" cy="183"/>
            </a:xfrm>
            <a:prstGeom prst="line">
              <a:avLst/>
            </a:prstGeom>
            <a:noFill/>
            <a:ln w="12700">
              <a:solidFill>
                <a:schemeClr val="tx1"/>
              </a:solidFill>
              <a:round/>
              <a:headEnd/>
              <a:tailEnd/>
            </a:ln>
            <a:effectLst/>
          </p:spPr>
          <p:txBody>
            <a:bodyPr/>
            <a:lstStyle/>
            <a:p>
              <a:endParaRPr lang="en-US"/>
            </a:p>
          </p:txBody>
        </p:sp>
        <p:sp>
          <p:nvSpPr>
            <p:cNvPr id="401417" name="Line 9"/>
            <p:cNvSpPr>
              <a:spLocks noChangeShapeType="1"/>
            </p:cNvSpPr>
            <p:nvPr/>
          </p:nvSpPr>
          <p:spPr bwMode="auto">
            <a:xfrm>
              <a:off x="2876" y="3025"/>
              <a:ext cx="0" cy="183"/>
            </a:xfrm>
            <a:prstGeom prst="line">
              <a:avLst/>
            </a:prstGeom>
            <a:noFill/>
            <a:ln w="12700">
              <a:solidFill>
                <a:schemeClr val="tx1"/>
              </a:solidFill>
              <a:round/>
              <a:headEnd/>
              <a:tailEnd/>
            </a:ln>
            <a:effectLst/>
          </p:spPr>
          <p:txBody>
            <a:bodyPr/>
            <a:lstStyle/>
            <a:p>
              <a:endParaRPr lang="en-US"/>
            </a:p>
          </p:txBody>
        </p:sp>
        <p:sp>
          <p:nvSpPr>
            <p:cNvPr id="401418" name="Text Box 10"/>
            <p:cNvSpPr txBox="1">
              <a:spLocks noChangeArrowheads="1"/>
            </p:cNvSpPr>
            <p:nvPr/>
          </p:nvSpPr>
          <p:spPr bwMode="auto">
            <a:xfrm>
              <a:off x="1200" y="3024"/>
              <a:ext cx="2941" cy="233"/>
            </a:xfrm>
            <a:prstGeom prst="rect">
              <a:avLst/>
            </a:prstGeom>
            <a:noFill/>
            <a:ln w="12700">
              <a:noFill/>
              <a:miter lim="800000"/>
              <a:headEnd/>
              <a:tailEnd/>
            </a:ln>
            <a:effectLst/>
          </p:spPr>
          <p:txBody>
            <a:bodyPr wrap="none">
              <a:spAutoFit/>
            </a:bodyPr>
            <a:lstStyle/>
            <a:p>
              <a:r>
                <a:rPr lang="en-US" dirty="0">
                  <a:solidFill>
                    <a:schemeClr val="tx1"/>
                  </a:solidFill>
                </a:rPr>
                <a:t>op            </a:t>
              </a:r>
              <a:r>
                <a:rPr lang="en-US" dirty="0" err="1">
                  <a:solidFill>
                    <a:schemeClr val="tx1"/>
                  </a:solidFill>
                </a:rPr>
                <a:t>rs</a:t>
              </a:r>
              <a:r>
                <a:rPr lang="en-US" dirty="0">
                  <a:solidFill>
                    <a:schemeClr val="tx1"/>
                  </a:solidFill>
                </a:rPr>
                <a:t>             </a:t>
              </a:r>
              <a:r>
                <a:rPr lang="en-US" dirty="0" err="1">
                  <a:solidFill>
                    <a:schemeClr val="tx1"/>
                  </a:solidFill>
                </a:rPr>
                <a:t>rt</a:t>
              </a:r>
              <a:r>
                <a:rPr lang="en-US" dirty="0">
                  <a:solidFill>
                    <a:schemeClr val="tx1"/>
                  </a:solidFill>
                </a:rPr>
                <a:t>                 </a:t>
              </a:r>
              <a:r>
                <a:rPr lang="en-US" dirty="0" smtClean="0">
                  <a:solidFill>
                    <a:srgbClr val="FF0000"/>
                  </a:solidFill>
                </a:rPr>
                <a:t>16-bit </a:t>
              </a:r>
              <a:r>
                <a:rPr lang="en-US" dirty="0">
                  <a:solidFill>
                    <a:srgbClr val="FF0000"/>
                  </a:solidFill>
                </a:rPr>
                <a:t>offset</a:t>
              </a:r>
            </a:p>
          </p:txBody>
        </p:sp>
      </p:grpSp>
      <p:sp>
        <p:nvSpPr>
          <p:cNvPr id="401419" name="Rectangle 11"/>
          <p:cNvSpPr>
            <a:spLocks noChangeArrowheads="1"/>
          </p:cNvSpPr>
          <p:nvPr/>
        </p:nvSpPr>
        <p:spPr bwMode="auto">
          <a:xfrm>
            <a:off x="7162800" y="2714620"/>
            <a:ext cx="1600200" cy="396875"/>
          </a:xfrm>
          <a:prstGeom prst="rect">
            <a:avLst/>
          </a:prstGeom>
          <a:noFill/>
          <a:ln w="12700">
            <a:noFill/>
            <a:miter lim="800000"/>
            <a:headEnd/>
            <a:tailEnd/>
          </a:ln>
          <a:effectLst/>
        </p:spPr>
        <p:txBody>
          <a:bodyPr>
            <a:spAutoFit/>
          </a:bodyPr>
          <a:lstStyle/>
          <a:p>
            <a:r>
              <a:rPr lang="en-US" sz="2000">
                <a:solidFill>
                  <a:schemeClr val="tx1"/>
                </a:solidFill>
                <a:sym typeface="Symbol" pitchFamily="18" charset="2"/>
              </a:rPr>
              <a:t>I  format</a:t>
            </a:r>
          </a:p>
        </p:txBody>
      </p:sp>
      <p:sp>
        <p:nvSpPr>
          <p:cNvPr id="401420" name="AutoShape 12"/>
          <p:cNvSpPr>
            <a:spLocks noChangeArrowheads="1"/>
          </p:cNvSpPr>
          <p:nvPr/>
        </p:nvSpPr>
        <p:spPr bwMode="auto">
          <a:xfrm>
            <a:off x="4038600" y="3248020"/>
            <a:ext cx="381000" cy="152400"/>
          </a:xfrm>
          <a:prstGeom prst="downArrow">
            <a:avLst>
              <a:gd name="adj1" fmla="val 50000"/>
              <a:gd name="adj2" fmla="val 25000"/>
            </a:avLst>
          </a:prstGeom>
          <a:noFill/>
          <a:ln w="12700">
            <a:solidFill>
              <a:schemeClr val="tx1"/>
            </a:solidFill>
            <a:miter lim="800000"/>
            <a:headEnd/>
            <a:tailEnd/>
          </a:ln>
          <a:effectLst/>
        </p:spPr>
        <p:txBody>
          <a:bodyPr wrap="none" anchor="ctr"/>
          <a:lstStyle/>
          <a:p>
            <a:endParaRPr lang="en-US"/>
          </a:p>
        </p:txBody>
      </p:sp>
      <p:grpSp>
        <p:nvGrpSpPr>
          <p:cNvPr id="3" name="Group 13"/>
          <p:cNvGrpSpPr>
            <a:grpSpLocks/>
          </p:cNvGrpSpPr>
          <p:nvPr/>
        </p:nvGrpSpPr>
        <p:grpSpPr bwMode="auto">
          <a:xfrm>
            <a:off x="1295400" y="3629020"/>
            <a:ext cx="5791200" cy="292100"/>
            <a:chOff x="1008" y="3120"/>
            <a:chExt cx="3648" cy="184"/>
          </a:xfrm>
        </p:grpSpPr>
        <p:sp>
          <p:nvSpPr>
            <p:cNvPr id="401422" name="Rectangle 14"/>
            <p:cNvSpPr>
              <a:spLocks noChangeArrowheads="1"/>
            </p:cNvSpPr>
            <p:nvPr/>
          </p:nvSpPr>
          <p:spPr bwMode="auto">
            <a:xfrm>
              <a:off x="1008" y="3120"/>
              <a:ext cx="3648" cy="184"/>
            </a:xfrm>
            <a:prstGeom prst="rect">
              <a:avLst/>
            </a:prstGeom>
            <a:noFill/>
            <a:ln w="12700">
              <a:solidFill>
                <a:schemeClr val="tx1"/>
              </a:solidFill>
              <a:miter lim="800000"/>
              <a:headEnd/>
              <a:tailEnd/>
            </a:ln>
            <a:effectLst/>
          </p:spPr>
          <p:txBody>
            <a:bodyPr wrap="none" anchor="ctr"/>
            <a:lstStyle/>
            <a:p>
              <a:endParaRPr lang="en-US"/>
            </a:p>
          </p:txBody>
        </p:sp>
        <p:sp>
          <p:nvSpPr>
            <p:cNvPr id="401423" name="Line 15"/>
            <p:cNvSpPr>
              <a:spLocks noChangeShapeType="1"/>
            </p:cNvSpPr>
            <p:nvPr/>
          </p:nvSpPr>
          <p:spPr bwMode="auto">
            <a:xfrm>
              <a:off x="1680" y="3120"/>
              <a:ext cx="0" cy="183"/>
            </a:xfrm>
            <a:prstGeom prst="line">
              <a:avLst/>
            </a:prstGeom>
            <a:noFill/>
            <a:ln w="12700">
              <a:solidFill>
                <a:schemeClr val="tx1"/>
              </a:solidFill>
              <a:round/>
              <a:headEnd/>
              <a:tailEnd/>
            </a:ln>
            <a:effectLst/>
          </p:spPr>
          <p:txBody>
            <a:bodyPr/>
            <a:lstStyle/>
            <a:p>
              <a:endParaRPr lang="en-US"/>
            </a:p>
          </p:txBody>
        </p:sp>
        <p:sp>
          <p:nvSpPr>
            <p:cNvPr id="401424" name="Line 16"/>
            <p:cNvSpPr>
              <a:spLocks noChangeShapeType="1"/>
            </p:cNvSpPr>
            <p:nvPr/>
          </p:nvSpPr>
          <p:spPr bwMode="auto">
            <a:xfrm>
              <a:off x="2252" y="3121"/>
              <a:ext cx="0" cy="183"/>
            </a:xfrm>
            <a:prstGeom prst="line">
              <a:avLst/>
            </a:prstGeom>
            <a:noFill/>
            <a:ln w="12700">
              <a:solidFill>
                <a:schemeClr val="tx1"/>
              </a:solidFill>
              <a:round/>
              <a:headEnd/>
              <a:tailEnd/>
            </a:ln>
            <a:effectLst/>
          </p:spPr>
          <p:txBody>
            <a:bodyPr/>
            <a:lstStyle/>
            <a:p>
              <a:endParaRPr lang="en-US"/>
            </a:p>
          </p:txBody>
        </p:sp>
        <p:sp>
          <p:nvSpPr>
            <p:cNvPr id="401425" name="Line 17"/>
            <p:cNvSpPr>
              <a:spLocks noChangeShapeType="1"/>
            </p:cNvSpPr>
            <p:nvPr/>
          </p:nvSpPr>
          <p:spPr bwMode="auto">
            <a:xfrm>
              <a:off x="2828" y="3121"/>
              <a:ext cx="0" cy="183"/>
            </a:xfrm>
            <a:prstGeom prst="line">
              <a:avLst/>
            </a:prstGeom>
            <a:noFill/>
            <a:ln w="12700">
              <a:solidFill>
                <a:schemeClr val="tx1"/>
              </a:solidFill>
              <a:round/>
              <a:headEnd/>
              <a:tailEnd/>
            </a:ln>
            <a:effectLst/>
          </p:spPr>
          <p:txBody>
            <a:bodyPr/>
            <a:lstStyle/>
            <a:p>
              <a:endParaRPr lang="en-US"/>
            </a:p>
          </p:txBody>
        </p:sp>
      </p:grpSp>
      <p:sp>
        <p:nvSpPr>
          <p:cNvPr id="401426" name="Text Box 18"/>
          <p:cNvSpPr txBox="1">
            <a:spLocks noChangeArrowheads="1"/>
          </p:cNvSpPr>
          <p:nvPr/>
        </p:nvSpPr>
        <p:spPr bwMode="auto">
          <a:xfrm>
            <a:off x="1571604" y="3629020"/>
            <a:ext cx="2544286" cy="369332"/>
          </a:xfrm>
          <a:prstGeom prst="rect">
            <a:avLst/>
          </a:prstGeom>
          <a:noFill/>
          <a:ln w="12700">
            <a:noFill/>
            <a:miter lim="800000"/>
            <a:headEnd/>
            <a:tailEnd/>
          </a:ln>
          <a:effectLst/>
        </p:spPr>
        <p:txBody>
          <a:bodyPr wrap="none">
            <a:spAutoFit/>
          </a:bodyPr>
          <a:lstStyle/>
          <a:p>
            <a:r>
              <a:rPr lang="en-US" dirty="0" smtClean="0">
                <a:solidFill>
                  <a:schemeClr val="tx1"/>
                </a:solidFill>
              </a:rPr>
              <a:t>0x05          </a:t>
            </a:r>
            <a:r>
              <a:rPr lang="en-US" dirty="0">
                <a:solidFill>
                  <a:schemeClr val="tx1"/>
                </a:solidFill>
              </a:rPr>
              <a:t>16       </a:t>
            </a:r>
            <a:r>
              <a:rPr lang="en-US" dirty="0" smtClean="0">
                <a:solidFill>
                  <a:schemeClr val="tx1"/>
                </a:solidFill>
              </a:rPr>
              <a:t>   </a:t>
            </a:r>
            <a:r>
              <a:rPr lang="en-US" dirty="0">
                <a:solidFill>
                  <a:schemeClr val="tx1"/>
                </a:solidFill>
              </a:rPr>
              <a:t>17</a:t>
            </a:r>
          </a:p>
        </p:txBody>
      </p:sp>
      <p:sp>
        <p:nvSpPr>
          <p:cNvPr id="401427" name="Rectangle 19"/>
          <p:cNvSpPr>
            <a:spLocks noChangeArrowheads="1"/>
          </p:cNvSpPr>
          <p:nvPr/>
        </p:nvSpPr>
        <p:spPr bwMode="auto">
          <a:xfrm>
            <a:off x="381000" y="4143380"/>
            <a:ext cx="8405842" cy="2428892"/>
          </a:xfrm>
          <a:prstGeom prst="rect">
            <a:avLst/>
          </a:prstGeom>
          <a:noFill/>
          <a:ln w="12700">
            <a:noFill/>
            <a:miter lim="800000"/>
            <a:headEnd/>
            <a:tailEnd/>
          </a:ln>
          <a:effectLst/>
        </p:spPr>
        <p:txBody>
          <a:bodyPr lIns="90488" tIns="44450" rIns="90488" bIns="44450"/>
          <a:lstStyle/>
          <a:p>
            <a:pPr marL="342900" indent="-342900">
              <a:lnSpc>
                <a:spcPct val="95000"/>
              </a:lnSpc>
              <a:spcBef>
                <a:spcPct val="25000"/>
              </a:spcBef>
              <a:buClr>
                <a:schemeClr val="accent1"/>
              </a:buClr>
              <a:buSzPct val="75000"/>
              <a:buFont typeface="Wingdings" pitchFamily="2" charset="2"/>
              <a:buChar char="q"/>
            </a:pPr>
            <a:r>
              <a:rPr lang="en-US" sz="2800" dirty="0">
                <a:solidFill>
                  <a:schemeClr val="tx1"/>
                </a:solidFill>
              </a:rPr>
              <a:t>Remember</a:t>
            </a:r>
          </a:p>
          <a:p>
            <a:pPr marL="742950" lvl="1" indent="-285750">
              <a:lnSpc>
                <a:spcPct val="95000"/>
              </a:lnSpc>
              <a:spcBef>
                <a:spcPct val="25000"/>
              </a:spcBef>
              <a:buClr>
                <a:schemeClr val="accent1"/>
              </a:buClr>
              <a:buSzPct val="75000"/>
              <a:buFont typeface="Wingdings" pitchFamily="2" charset="2"/>
              <a:buChar char="l"/>
            </a:pPr>
            <a:r>
              <a:rPr lang="en-US" sz="2400" dirty="0">
                <a:solidFill>
                  <a:schemeClr val="tx1"/>
                </a:solidFill>
              </a:rPr>
              <a:t>After the </a:t>
            </a:r>
            <a:r>
              <a:rPr lang="en-US" sz="2400" dirty="0" err="1">
                <a:solidFill>
                  <a:schemeClr val="tx1"/>
                </a:solidFill>
                <a:latin typeface="Courier New" pitchFamily="49" charset="0"/>
              </a:rPr>
              <a:t>bne</a:t>
            </a:r>
            <a:r>
              <a:rPr lang="en-US" sz="2400" dirty="0">
                <a:solidFill>
                  <a:schemeClr val="tx1"/>
                </a:solidFill>
              </a:rPr>
              <a:t> instruction is fetched, the PC is updated so that it is addressing the </a:t>
            </a:r>
            <a:r>
              <a:rPr lang="en-US" sz="2400" dirty="0">
                <a:solidFill>
                  <a:schemeClr val="tx1"/>
                </a:solidFill>
                <a:latin typeface="Courier New" pitchFamily="49" charset="0"/>
              </a:rPr>
              <a:t>add</a:t>
            </a:r>
            <a:r>
              <a:rPr lang="en-US" sz="2400" dirty="0">
                <a:solidFill>
                  <a:schemeClr val="tx1"/>
                </a:solidFill>
              </a:rPr>
              <a:t> </a:t>
            </a:r>
            <a:r>
              <a:rPr lang="en-US" sz="2400" dirty="0" smtClean="0">
                <a:solidFill>
                  <a:schemeClr val="tx1"/>
                </a:solidFill>
              </a:rPr>
              <a:t>instruction</a:t>
            </a:r>
            <a:endParaRPr lang="en-US" sz="2400" dirty="0">
              <a:solidFill>
                <a:schemeClr val="tx1"/>
              </a:solidFill>
            </a:endParaRPr>
          </a:p>
          <a:p>
            <a:pPr marL="742950" lvl="1" indent="-285750">
              <a:lnSpc>
                <a:spcPct val="95000"/>
              </a:lnSpc>
              <a:spcBef>
                <a:spcPct val="25000"/>
              </a:spcBef>
              <a:buClr>
                <a:schemeClr val="accent1"/>
              </a:buClr>
              <a:buSzPct val="75000"/>
              <a:buFont typeface="Wingdings" pitchFamily="2" charset="2"/>
              <a:buChar char="l"/>
            </a:pPr>
            <a:r>
              <a:rPr lang="en-US" sz="2400" dirty="0">
                <a:solidFill>
                  <a:schemeClr val="tx1"/>
                </a:solidFill>
              </a:rPr>
              <a:t>The offset (plus 2 low-order zeros) is sign-extended and added to the (updated) PC</a:t>
            </a:r>
          </a:p>
        </p:txBody>
      </p:sp>
      <p:sp>
        <p:nvSpPr>
          <p:cNvPr id="401428" name="Text Box 20"/>
          <p:cNvSpPr txBox="1">
            <a:spLocks noChangeArrowheads="1"/>
          </p:cNvSpPr>
          <p:nvPr/>
        </p:nvSpPr>
        <p:spPr bwMode="auto">
          <a:xfrm>
            <a:off x="5072066" y="3629020"/>
            <a:ext cx="933450" cy="366713"/>
          </a:xfrm>
          <a:prstGeom prst="rect">
            <a:avLst/>
          </a:prstGeom>
          <a:noFill/>
          <a:ln w="12700">
            <a:noFill/>
            <a:miter lim="800000"/>
            <a:headEnd/>
            <a:tailEnd/>
          </a:ln>
          <a:effectLst/>
        </p:spPr>
        <p:txBody>
          <a:bodyPr wrap="none">
            <a:spAutoFit/>
          </a:bodyPr>
          <a:lstStyle/>
          <a:p>
            <a:r>
              <a:rPr lang="en-US" dirty="0">
                <a:solidFill>
                  <a:schemeClr val="accent2"/>
                </a:solidFill>
              </a:rPr>
              <a:t>0x0001</a:t>
            </a:r>
          </a:p>
        </p:txBody>
      </p:sp>
    </p:spTree>
    <p:extLst>
      <p:ext uri="{BB962C8B-B14F-4D97-AF65-F5344CB8AC3E}">
        <p14:creationId xmlns:p14="http://schemas.microsoft.com/office/powerpoint/2010/main" val="191833733"/>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14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1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27" grpId="0" autoUpdateAnimBg="0"/>
      <p:bldP spid="40142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body" idx="1"/>
          </p:nvPr>
        </p:nvSpPr>
        <p:spPr>
          <a:xfrm>
            <a:off x="457200" y="714356"/>
            <a:ext cx="8458200" cy="5355825"/>
          </a:xfrm>
          <a:noFill/>
          <a:ln/>
        </p:spPr>
        <p:txBody>
          <a:bodyPr lIns="90488" tIns="44450" rIns="90488" bIns="44450"/>
          <a:lstStyle/>
          <a:p>
            <a:pPr marL="342900" indent="-342900">
              <a:spcBef>
                <a:spcPts val="600"/>
              </a:spcBef>
            </a:pPr>
            <a:r>
              <a:rPr lang="en-US" dirty="0"/>
              <a:t>We have  </a:t>
            </a:r>
            <a:r>
              <a:rPr lang="en-US" dirty="0" err="1">
                <a:latin typeface="Courier New" pitchFamily="49" charset="0"/>
              </a:rPr>
              <a:t>beq</a:t>
            </a:r>
            <a:r>
              <a:rPr lang="en-US" dirty="0"/>
              <a:t>, </a:t>
            </a:r>
            <a:r>
              <a:rPr lang="en-US" dirty="0" err="1">
                <a:latin typeface="Courier New" pitchFamily="49" charset="0"/>
              </a:rPr>
              <a:t>bne</a:t>
            </a:r>
            <a:r>
              <a:rPr lang="en-US" dirty="0"/>
              <a:t>, but what about other kinds of </a:t>
            </a:r>
            <a:r>
              <a:rPr lang="en-US" dirty="0" smtClean="0"/>
              <a:t>branches </a:t>
            </a:r>
            <a:r>
              <a:rPr lang="en-US" dirty="0"/>
              <a:t>(e.g., branch-if-less-than)?  For this, we need </a:t>
            </a:r>
            <a:r>
              <a:rPr lang="en-US" dirty="0" smtClean="0"/>
              <a:t> yet </a:t>
            </a:r>
            <a:r>
              <a:rPr lang="en-US" dirty="0"/>
              <a:t>another instruction, </a:t>
            </a:r>
            <a:r>
              <a:rPr lang="en-US" dirty="0" err="1">
                <a:latin typeface="Courier New" pitchFamily="49" charset="0"/>
              </a:rPr>
              <a:t>slt</a:t>
            </a:r>
            <a:endParaRPr lang="en-US" dirty="0">
              <a:latin typeface="Courier New" pitchFamily="49" charset="0"/>
            </a:endParaRPr>
          </a:p>
          <a:p>
            <a:pPr marL="342900" indent="-342900">
              <a:spcBef>
                <a:spcPts val="600"/>
              </a:spcBef>
            </a:pPr>
            <a:r>
              <a:rPr lang="en-US" dirty="0"/>
              <a:t>Set on less than instruction:</a:t>
            </a:r>
          </a:p>
          <a:p>
            <a:pPr marL="342900" indent="-342900">
              <a:spcBef>
                <a:spcPts val="600"/>
              </a:spcBef>
              <a:buFont typeface="Wingdings" pitchFamily="2" charset="2"/>
              <a:buNone/>
            </a:pPr>
            <a:r>
              <a:rPr lang="en-US" dirty="0">
                <a:latin typeface="Courier New" pitchFamily="49" charset="0"/>
              </a:rPr>
              <a:t>	</a:t>
            </a:r>
            <a:r>
              <a:rPr lang="en-US" sz="2000" dirty="0">
                <a:latin typeface="Courier New" pitchFamily="49" charset="0"/>
              </a:rPr>
              <a:t> </a:t>
            </a:r>
            <a:r>
              <a:rPr lang="en-US" sz="2000" dirty="0" err="1">
                <a:latin typeface="Courier New" pitchFamily="49" charset="0"/>
              </a:rPr>
              <a:t>slt</a:t>
            </a:r>
            <a:r>
              <a:rPr lang="en-US" sz="2000" dirty="0">
                <a:latin typeface="Courier New" pitchFamily="49" charset="0"/>
              </a:rPr>
              <a:t> $t0, $s0, $s1 	# if $s0 &lt; $s1 	then</a:t>
            </a:r>
            <a:br>
              <a:rPr lang="en-US" sz="2000" dirty="0">
                <a:latin typeface="Courier New" pitchFamily="49" charset="0"/>
              </a:rPr>
            </a:br>
            <a:r>
              <a:rPr lang="en-US" sz="2000" dirty="0">
                <a:latin typeface="Courier New" pitchFamily="49" charset="0"/>
              </a:rPr>
              <a:t>				# $t0 = 1		else </a:t>
            </a:r>
            <a:br>
              <a:rPr lang="en-US" sz="2000" dirty="0">
                <a:latin typeface="Courier New" pitchFamily="49" charset="0"/>
              </a:rPr>
            </a:br>
            <a:r>
              <a:rPr lang="en-US" sz="2000" dirty="0">
                <a:latin typeface="Courier New" pitchFamily="49" charset="0"/>
              </a:rPr>
              <a:t>				# $t0 = 0</a:t>
            </a:r>
            <a:endParaRPr lang="en-US" sz="2000" dirty="0"/>
          </a:p>
          <a:p>
            <a:pPr marL="342900" indent="-342900">
              <a:spcBef>
                <a:spcPts val="600"/>
              </a:spcBef>
            </a:pPr>
            <a:r>
              <a:rPr lang="en-US" dirty="0" smtClean="0"/>
              <a:t>Instruction </a:t>
            </a:r>
            <a:r>
              <a:rPr lang="en-US" dirty="0"/>
              <a:t>format (</a:t>
            </a:r>
            <a:r>
              <a:rPr lang="en-US" dirty="0">
                <a:solidFill>
                  <a:schemeClr val="accent1"/>
                </a:solidFill>
              </a:rPr>
              <a:t>R</a:t>
            </a:r>
            <a:r>
              <a:rPr lang="en-US" dirty="0"/>
              <a:t> format</a:t>
            </a:r>
            <a:r>
              <a:rPr lang="en-US" dirty="0" smtClean="0"/>
              <a:t>):</a:t>
            </a:r>
          </a:p>
          <a:p>
            <a:pPr marL="796925" lvl="1" indent="-342900">
              <a:spcBef>
                <a:spcPts val="600"/>
              </a:spcBef>
            </a:pPr>
            <a:endParaRPr lang="en-US" dirty="0" smtClean="0"/>
          </a:p>
          <a:p>
            <a:pPr marL="796925" lvl="1" indent="-342900">
              <a:spcBef>
                <a:spcPts val="600"/>
              </a:spcBef>
            </a:pPr>
            <a:endParaRPr lang="en-US" dirty="0" smtClean="0"/>
          </a:p>
          <a:p>
            <a:pPr marL="796925" lvl="1" indent="-342900">
              <a:spcBef>
                <a:spcPts val="600"/>
              </a:spcBef>
            </a:pPr>
            <a:endParaRPr lang="en-US" dirty="0" smtClean="0"/>
          </a:p>
          <a:p>
            <a:pPr marL="342900" indent="-342900">
              <a:spcBef>
                <a:spcPts val="600"/>
              </a:spcBef>
            </a:pPr>
            <a:r>
              <a:rPr lang="en-US" dirty="0" smtClean="0"/>
              <a:t>Alternate versions of </a:t>
            </a:r>
            <a:r>
              <a:rPr lang="en-US" dirty="0" err="1" smtClean="0">
                <a:latin typeface="Courier New" pitchFamily="49" charset="0"/>
                <a:cs typeface="Courier New" pitchFamily="49" charset="0"/>
              </a:rPr>
              <a:t>slt</a:t>
            </a:r>
            <a:endParaRPr lang="en-US" dirty="0" smtClean="0">
              <a:latin typeface="Courier New" pitchFamily="49" charset="0"/>
              <a:cs typeface="Courier New" pitchFamily="49" charset="0"/>
            </a:endParaRPr>
          </a:p>
          <a:p>
            <a:pPr marL="342900" indent="-342900">
              <a:spcBef>
                <a:spcPts val="600"/>
              </a:spcBef>
              <a:buNone/>
            </a:pPr>
            <a:r>
              <a:rPr lang="en-US" sz="2000" dirty="0" smtClean="0">
                <a:latin typeface="Courier New" pitchFamily="49" charset="0"/>
              </a:rPr>
              <a:t>   </a:t>
            </a:r>
            <a:r>
              <a:rPr lang="en-US" sz="2000" dirty="0" err="1" smtClean="0">
                <a:latin typeface="Courier New" pitchFamily="49" charset="0"/>
              </a:rPr>
              <a:t>slti</a:t>
            </a:r>
            <a:r>
              <a:rPr lang="en-US" sz="2000" dirty="0" smtClean="0">
                <a:latin typeface="Courier New" pitchFamily="49" charset="0"/>
              </a:rPr>
              <a:t> $t0, $s0, 25	# if $s0 &lt; 25 then $t0=1 ...</a:t>
            </a:r>
          </a:p>
          <a:p>
            <a:pPr marL="342900" indent="-342900">
              <a:spcBef>
                <a:spcPts val="600"/>
              </a:spcBef>
              <a:buNone/>
            </a:pPr>
            <a:r>
              <a:rPr lang="en-US" sz="2000" dirty="0" smtClean="0">
                <a:latin typeface="Courier New" pitchFamily="49" charset="0"/>
              </a:rPr>
              <a:t>   </a:t>
            </a:r>
            <a:r>
              <a:rPr lang="en-US" sz="2000" dirty="0" err="1" smtClean="0">
                <a:latin typeface="Courier New" pitchFamily="49" charset="0"/>
              </a:rPr>
              <a:t>sltu</a:t>
            </a:r>
            <a:r>
              <a:rPr lang="en-US" sz="2000" dirty="0" smtClean="0">
                <a:latin typeface="Courier New" pitchFamily="49" charset="0"/>
              </a:rPr>
              <a:t> $t0, $s0, $s1	# if $s0 &lt; $s1 then $t0=1 ...</a:t>
            </a:r>
          </a:p>
          <a:p>
            <a:pPr marL="342900" indent="-342900">
              <a:spcBef>
                <a:spcPts val="600"/>
              </a:spcBef>
              <a:buNone/>
            </a:pPr>
            <a:r>
              <a:rPr lang="en-US" sz="2000" dirty="0" smtClean="0">
                <a:latin typeface="Courier New" pitchFamily="49" charset="0"/>
              </a:rPr>
              <a:t>   </a:t>
            </a:r>
            <a:r>
              <a:rPr lang="en-US" sz="2000" dirty="0" err="1" smtClean="0">
                <a:latin typeface="Courier New" pitchFamily="49" charset="0"/>
              </a:rPr>
              <a:t>sltiu</a:t>
            </a:r>
            <a:r>
              <a:rPr lang="en-US" sz="2000" dirty="0" smtClean="0">
                <a:latin typeface="Courier New" pitchFamily="49" charset="0"/>
              </a:rPr>
              <a:t> $t0, $s0, 25	# if $s0 &lt; 25 then $t0=1 ...	</a:t>
            </a:r>
            <a:endParaRPr lang="en-US" sz="2000" dirty="0" smtClean="0"/>
          </a:p>
        </p:txBody>
      </p:sp>
      <p:sp>
        <p:nvSpPr>
          <p:cNvPr id="697347" name="Rectangle 3"/>
          <p:cNvSpPr>
            <a:spLocks noChangeArrowheads="1"/>
          </p:cNvSpPr>
          <p:nvPr/>
        </p:nvSpPr>
        <p:spPr bwMode="auto">
          <a:xfrm>
            <a:off x="225425" y="312738"/>
            <a:ext cx="1954213" cy="477837"/>
          </a:xfrm>
          <a:prstGeom prst="rect">
            <a:avLst/>
          </a:prstGeom>
          <a:noFill/>
          <a:ln w="12700">
            <a:noFill/>
            <a:miter lim="800000"/>
            <a:headEnd/>
            <a:tailEnd/>
          </a:ln>
          <a:effectLst/>
        </p:spPr>
        <p:txBody>
          <a:bodyPr wrap="none" anchor="ctr"/>
          <a:lstStyle/>
          <a:p>
            <a:endParaRPr lang="en-US"/>
          </a:p>
        </p:txBody>
      </p:sp>
      <p:sp>
        <p:nvSpPr>
          <p:cNvPr id="697349" name="Rectangle 5"/>
          <p:cNvSpPr>
            <a:spLocks noGrp="1" noChangeArrowheads="1"/>
          </p:cNvSpPr>
          <p:nvPr>
            <p:ph type="title"/>
          </p:nvPr>
        </p:nvSpPr>
        <p:spPr>
          <a:xfrm>
            <a:off x="562004" y="285728"/>
            <a:ext cx="8153400" cy="464614"/>
          </a:xfrm>
          <a:noFill/>
          <a:ln/>
        </p:spPr>
        <p:txBody>
          <a:bodyPr lIns="90488" tIns="44450" rIns="90488" bIns="44450" anchor="ctr"/>
          <a:lstStyle/>
          <a:p>
            <a:r>
              <a:rPr lang="en-US" dirty="0" smtClean="0"/>
              <a:t>In Support of Branch Instructions</a:t>
            </a:r>
            <a:endParaRPr lang="en-US" dirty="0"/>
          </a:p>
        </p:txBody>
      </p:sp>
      <p:sp>
        <p:nvSpPr>
          <p:cNvPr id="697350" name="Rectangle 6"/>
          <p:cNvSpPr>
            <a:spLocks noChangeArrowheads="1"/>
          </p:cNvSpPr>
          <p:nvPr/>
        </p:nvSpPr>
        <p:spPr bwMode="auto">
          <a:xfrm>
            <a:off x="1371600" y="3988362"/>
            <a:ext cx="5791200" cy="292100"/>
          </a:xfrm>
          <a:prstGeom prst="rect">
            <a:avLst/>
          </a:prstGeom>
          <a:noFill/>
          <a:ln w="12700">
            <a:solidFill>
              <a:schemeClr val="tx1"/>
            </a:solidFill>
            <a:miter lim="800000"/>
            <a:headEnd/>
            <a:tailEnd/>
          </a:ln>
          <a:effectLst/>
        </p:spPr>
        <p:txBody>
          <a:bodyPr wrap="none" anchor="ctr"/>
          <a:lstStyle/>
          <a:p>
            <a:endParaRPr lang="en-US">
              <a:solidFill>
                <a:schemeClr val="tx1"/>
              </a:solidFill>
            </a:endParaRPr>
          </a:p>
        </p:txBody>
      </p:sp>
      <p:sp>
        <p:nvSpPr>
          <p:cNvPr id="697351" name="Line 7"/>
          <p:cNvSpPr>
            <a:spLocks noChangeShapeType="1"/>
          </p:cNvSpPr>
          <p:nvPr/>
        </p:nvSpPr>
        <p:spPr bwMode="auto">
          <a:xfrm>
            <a:off x="2438400" y="3988362"/>
            <a:ext cx="0" cy="290512"/>
          </a:xfrm>
          <a:prstGeom prst="line">
            <a:avLst/>
          </a:prstGeom>
          <a:noFill/>
          <a:ln w="12700">
            <a:solidFill>
              <a:schemeClr val="tx1"/>
            </a:solidFill>
            <a:round/>
            <a:headEnd/>
            <a:tailEnd/>
          </a:ln>
          <a:effectLst/>
        </p:spPr>
        <p:txBody>
          <a:bodyPr/>
          <a:lstStyle/>
          <a:p>
            <a:endParaRPr lang="en-US">
              <a:solidFill>
                <a:schemeClr val="tx1"/>
              </a:solidFill>
            </a:endParaRPr>
          </a:p>
        </p:txBody>
      </p:sp>
      <p:sp>
        <p:nvSpPr>
          <p:cNvPr id="697352" name="Line 8"/>
          <p:cNvSpPr>
            <a:spLocks noChangeShapeType="1"/>
          </p:cNvSpPr>
          <p:nvPr/>
        </p:nvSpPr>
        <p:spPr bwMode="auto">
          <a:xfrm>
            <a:off x="3346450" y="3989949"/>
            <a:ext cx="0" cy="290513"/>
          </a:xfrm>
          <a:prstGeom prst="line">
            <a:avLst/>
          </a:prstGeom>
          <a:noFill/>
          <a:ln w="12700">
            <a:solidFill>
              <a:schemeClr val="tx1"/>
            </a:solidFill>
            <a:round/>
            <a:headEnd/>
            <a:tailEnd/>
          </a:ln>
          <a:effectLst/>
        </p:spPr>
        <p:txBody>
          <a:bodyPr/>
          <a:lstStyle/>
          <a:p>
            <a:endParaRPr lang="en-US">
              <a:solidFill>
                <a:schemeClr val="tx1"/>
              </a:solidFill>
            </a:endParaRPr>
          </a:p>
        </p:txBody>
      </p:sp>
      <p:sp>
        <p:nvSpPr>
          <p:cNvPr id="697353" name="Line 9"/>
          <p:cNvSpPr>
            <a:spLocks noChangeShapeType="1"/>
          </p:cNvSpPr>
          <p:nvPr/>
        </p:nvSpPr>
        <p:spPr bwMode="auto">
          <a:xfrm>
            <a:off x="4260850" y="3989949"/>
            <a:ext cx="0" cy="290513"/>
          </a:xfrm>
          <a:prstGeom prst="line">
            <a:avLst/>
          </a:prstGeom>
          <a:noFill/>
          <a:ln w="12700">
            <a:solidFill>
              <a:schemeClr val="tx1"/>
            </a:solidFill>
            <a:round/>
            <a:headEnd/>
            <a:tailEnd/>
          </a:ln>
          <a:effectLst/>
        </p:spPr>
        <p:txBody>
          <a:bodyPr/>
          <a:lstStyle/>
          <a:p>
            <a:endParaRPr lang="en-US">
              <a:solidFill>
                <a:schemeClr val="tx1"/>
              </a:solidFill>
            </a:endParaRPr>
          </a:p>
        </p:txBody>
      </p:sp>
      <p:sp>
        <p:nvSpPr>
          <p:cNvPr id="697354" name="Text Box 10"/>
          <p:cNvSpPr txBox="1">
            <a:spLocks noChangeArrowheads="1"/>
          </p:cNvSpPr>
          <p:nvPr/>
        </p:nvSpPr>
        <p:spPr bwMode="auto">
          <a:xfrm>
            <a:off x="1371600" y="3923830"/>
            <a:ext cx="5545108" cy="369332"/>
          </a:xfrm>
          <a:prstGeom prst="rect">
            <a:avLst/>
          </a:prstGeom>
          <a:noFill/>
          <a:ln w="12700">
            <a:noFill/>
            <a:miter lim="800000"/>
            <a:headEnd/>
            <a:tailEnd/>
          </a:ln>
          <a:effectLst/>
        </p:spPr>
        <p:txBody>
          <a:bodyPr wrap="none">
            <a:spAutoFit/>
          </a:bodyPr>
          <a:lstStyle/>
          <a:p>
            <a:r>
              <a:rPr lang="en-US" dirty="0" smtClean="0">
                <a:solidFill>
                  <a:schemeClr val="tx1"/>
                </a:solidFill>
              </a:rPr>
              <a:t>  0x00          16           17          8                        0x24</a:t>
            </a:r>
            <a:endParaRPr lang="en-US" dirty="0">
              <a:solidFill>
                <a:schemeClr val="tx1"/>
              </a:solidFill>
            </a:endParaRPr>
          </a:p>
        </p:txBody>
      </p:sp>
      <p:sp>
        <p:nvSpPr>
          <p:cNvPr id="697355" name="Line 11"/>
          <p:cNvSpPr>
            <a:spLocks noChangeShapeType="1"/>
          </p:cNvSpPr>
          <p:nvPr/>
        </p:nvSpPr>
        <p:spPr bwMode="auto">
          <a:xfrm>
            <a:off x="5181600" y="3988362"/>
            <a:ext cx="0" cy="304800"/>
          </a:xfrm>
          <a:prstGeom prst="line">
            <a:avLst/>
          </a:prstGeom>
          <a:noFill/>
          <a:ln w="12700">
            <a:solidFill>
              <a:schemeClr val="tx1"/>
            </a:solidFill>
            <a:round/>
            <a:headEnd/>
            <a:tailEnd/>
          </a:ln>
          <a:effectLst/>
        </p:spPr>
        <p:txBody>
          <a:bodyPr/>
          <a:lstStyle/>
          <a:p>
            <a:endParaRPr lang="en-US">
              <a:solidFill>
                <a:schemeClr val="tx1"/>
              </a:solidFill>
            </a:endParaRPr>
          </a:p>
        </p:txBody>
      </p:sp>
      <p:sp>
        <p:nvSpPr>
          <p:cNvPr id="697356" name="Line 12"/>
          <p:cNvSpPr>
            <a:spLocks noChangeShapeType="1"/>
          </p:cNvSpPr>
          <p:nvPr/>
        </p:nvSpPr>
        <p:spPr bwMode="auto">
          <a:xfrm>
            <a:off x="6096000" y="3988362"/>
            <a:ext cx="0" cy="304800"/>
          </a:xfrm>
          <a:prstGeom prst="line">
            <a:avLst/>
          </a:prstGeom>
          <a:noFill/>
          <a:ln w="12700">
            <a:solidFill>
              <a:schemeClr val="tx1"/>
            </a:solidFill>
            <a:round/>
            <a:headEnd/>
            <a:tailEnd/>
          </a:ln>
          <a:effectLst/>
        </p:spPr>
        <p:txBody>
          <a:bodyPr/>
          <a:lstStyle/>
          <a:p>
            <a:endParaRPr lang="en-US">
              <a:solidFill>
                <a:schemeClr val="tx1"/>
              </a:solidFill>
            </a:endParaRPr>
          </a:p>
        </p:txBody>
      </p:sp>
    </p:spTree>
    <p:extLst>
      <p:ext uri="{BB962C8B-B14F-4D97-AF65-F5344CB8AC3E}">
        <p14:creationId xmlns:p14="http://schemas.microsoft.com/office/powerpoint/2010/main" val="1997303069"/>
      </p:ext>
    </p:extLst>
  </p:cSld>
  <p:clrMapOvr>
    <a:masterClrMapping/>
  </p:clrMapOvr>
  <p:transition advTm="200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r>
              <a:rPr lang="en-US" dirty="0" smtClean="0"/>
              <a:t>More </a:t>
            </a:r>
            <a:r>
              <a:rPr lang="en-US" dirty="0"/>
              <a:t>Branch </a:t>
            </a:r>
            <a:r>
              <a:rPr lang="en-US" dirty="0" smtClean="0"/>
              <a:t>Instructions</a:t>
            </a:r>
            <a:endParaRPr lang="en-US" dirty="0"/>
          </a:p>
        </p:txBody>
      </p:sp>
      <p:sp>
        <p:nvSpPr>
          <p:cNvPr id="701443" name="Rectangle 3"/>
          <p:cNvSpPr>
            <a:spLocks noGrp="1" noChangeArrowheads="1"/>
          </p:cNvSpPr>
          <p:nvPr>
            <p:ph type="body" idx="1"/>
          </p:nvPr>
        </p:nvSpPr>
        <p:spPr>
          <a:xfrm>
            <a:off x="609600" y="838200"/>
            <a:ext cx="8077200" cy="3756025"/>
          </a:xfrm>
        </p:spPr>
        <p:txBody>
          <a:bodyPr/>
          <a:lstStyle/>
          <a:p>
            <a:r>
              <a:rPr lang="en-US" dirty="0"/>
              <a:t>Can use </a:t>
            </a:r>
            <a:r>
              <a:rPr lang="en-US" dirty="0" err="1">
                <a:latin typeface="Courier New" pitchFamily="49" charset="0"/>
              </a:rPr>
              <a:t>slt</a:t>
            </a:r>
            <a:r>
              <a:rPr lang="en-US" dirty="0"/>
              <a:t>,</a:t>
            </a:r>
            <a:r>
              <a:rPr lang="en-US" dirty="0">
                <a:latin typeface="Courier New" pitchFamily="49" charset="0"/>
              </a:rPr>
              <a:t> </a:t>
            </a:r>
            <a:r>
              <a:rPr lang="en-US" dirty="0" err="1">
                <a:latin typeface="Courier New" pitchFamily="49" charset="0"/>
              </a:rPr>
              <a:t>beq</a:t>
            </a:r>
            <a:r>
              <a:rPr lang="en-US" dirty="0"/>
              <a:t>,</a:t>
            </a:r>
            <a:r>
              <a:rPr lang="en-US" dirty="0">
                <a:latin typeface="Courier New" pitchFamily="49" charset="0"/>
              </a:rPr>
              <a:t> </a:t>
            </a:r>
            <a:r>
              <a:rPr lang="en-US" dirty="0" err="1">
                <a:latin typeface="Courier New" pitchFamily="49" charset="0"/>
              </a:rPr>
              <a:t>bne</a:t>
            </a:r>
            <a:r>
              <a:rPr lang="en-US" dirty="0"/>
              <a:t>, and the fixed value of 0 in register </a:t>
            </a:r>
            <a:r>
              <a:rPr lang="en-US" dirty="0">
                <a:latin typeface="Courier New" pitchFamily="49" charset="0"/>
              </a:rPr>
              <a:t>$zero</a:t>
            </a:r>
            <a:r>
              <a:rPr lang="en-US" dirty="0"/>
              <a:t> to </a:t>
            </a:r>
            <a:r>
              <a:rPr lang="en-US" dirty="0">
                <a:solidFill>
                  <a:schemeClr val="accent1"/>
                </a:solidFill>
              </a:rPr>
              <a:t>create</a:t>
            </a:r>
            <a:r>
              <a:rPr lang="en-US" dirty="0"/>
              <a:t> other conditions</a:t>
            </a:r>
          </a:p>
          <a:p>
            <a:pPr lvl="1"/>
            <a:r>
              <a:rPr lang="en-US" dirty="0"/>
              <a:t>less than  		</a:t>
            </a:r>
            <a:r>
              <a:rPr lang="en-US" dirty="0" err="1">
                <a:latin typeface="Courier New" pitchFamily="49" charset="0"/>
              </a:rPr>
              <a:t>blt</a:t>
            </a:r>
            <a:r>
              <a:rPr lang="en-US" dirty="0">
                <a:latin typeface="Courier New" pitchFamily="49" charset="0"/>
              </a:rPr>
              <a:t> $s1, $s2, Label</a:t>
            </a:r>
          </a:p>
          <a:p>
            <a:pPr lvl="1"/>
            <a:endParaRPr lang="en-US" dirty="0">
              <a:latin typeface="Courier New" pitchFamily="49" charset="0"/>
            </a:endParaRPr>
          </a:p>
          <a:p>
            <a:pPr lvl="1"/>
            <a:endParaRPr lang="en-US" dirty="0"/>
          </a:p>
          <a:p>
            <a:pPr lvl="1"/>
            <a:endParaRPr lang="en-US" dirty="0"/>
          </a:p>
          <a:p>
            <a:pPr lvl="1"/>
            <a:r>
              <a:rPr lang="en-US" dirty="0"/>
              <a:t>less than or equal to 	</a:t>
            </a:r>
            <a:r>
              <a:rPr lang="en-US" dirty="0" err="1">
                <a:latin typeface="Courier New" pitchFamily="49" charset="0"/>
              </a:rPr>
              <a:t>ble</a:t>
            </a:r>
            <a:r>
              <a:rPr lang="en-US" dirty="0">
                <a:latin typeface="Courier New" pitchFamily="49" charset="0"/>
              </a:rPr>
              <a:t> $s1, $s2, Label</a:t>
            </a:r>
            <a:endParaRPr lang="en-US" dirty="0"/>
          </a:p>
          <a:p>
            <a:pPr lvl="1"/>
            <a:r>
              <a:rPr lang="en-US" dirty="0"/>
              <a:t>greater than  		</a:t>
            </a:r>
            <a:r>
              <a:rPr lang="en-US" dirty="0" err="1">
                <a:latin typeface="Courier New" pitchFamily="49" charset="0"/>
              </a:rPr>
              <a:t>bgt</a:t>
            </a:r>
            <a:r>
              <a:rPr lang="en-US" dirty="0">
                <a:latin typeface="Courier New" pitchFamily="49" charset="0"/>
              </a:rPr>
              <a:t> $s1, $s2, Label</a:t>
            </a:r>
            <a:endParaRPr lang="en-US" dirty="0"/>
          </a:p>
          <a:p>
            <a:pPr lvl="1"/>
            <a:r>
              <a:rPr lang="en-US" dirty="0"/>
              <a:t>great than or equal to  	</a:t>
            </a:r>
            <a:r>
              <a:rPr lang="en-US" dirty="0" err="1">
                <a:latin typeface="Courier New" pitchFamily="49" charset="0"/>
              </a:rPr>
              <a:t>bge</a:t>
            </a:r>
            <a:r>
              <a:rPr lang="en-US" dirty="0">
                <a:latin typeface="Courier New" pitchFamily="49" charset="0"/>
              </a:rPr>
              <a:t> $s1, $s2, Label</a:t>
            </a:r>
          </a:p>
          <a:p>
            <a:pPr lvl="1"/>
            <a:endParaRPr lang="en-US" dirty="0"/>
          </a:p>
        </p:txBody>
      </p:sp>
      <p:sp>
        <p:nvSpPr>
          <p:cNvPr id="701445" name="Rectangle 5"/>
          <p:cNvSpPr>
            <a:spLocks noChangeArrowheads="1"/>
          </p:cNvSpPr>
          <p:nvPr/>
        </p:nvSpPr>
        <p:spPr bwMode="auto">
          <a:xfrm>
            <a:off x="457200" y="4724400"/>
            <a:ext cx="8077200" cy="1443665"/>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dirty="0">
                <a:solidFill>
                  <a:schemeClr val="tx1"/>
                </a:solidFill>
              </a:rPr>
              <a:t>Such branches are included in the instruction set as pseudo instructions - recognized (and expanded</a:t>
            </a:r>
            <a:r>
              <a:rPr lang="en-US" sz="2400" dirty="0" smtClean="0">
                <a:solidFill>
                  <a:schemeClr val="tx1"/>
                </a:solidFill>
              </a:rPr>
              <a:t>) </a:t>
            </a:r>
            <a:r>
              <a:rPr lang="en-US" sz="2400" dirty="0">
                <a:solidFill>
                  <a:schemeClr val="tx1"/>
                </a:solidFill>
              </a:rPr>
              <a:t>by the assembler</a:t>
            </a:r>
          </a:p>
          <a:p>
            <a:pPr marL="741363" lvl="1" indent="-246063">
              <a:lnSpc>
                <a:spcPct val="85000"/>
              </a:lnSpc>
              <a:spcBef>
                <a:spcPct val="40000"/>
              </a:spcBef>
              <a:buClr>
                <a:schemeClr val="accent1"/>
              </a:buClr>
              <a:buSzPct val="75000"/>
              <a:buFont typeface="Monotype Sorts" pitchFamily="2" charset="2"/>
              <a:buChar char="l"/>
            </a:pPr>
            <a:r>
              <a:rPr lang="en-US" sz="2000" dirty="0">
                <a:solidFill>
                  <a:schemeClr val="tx1"/>
                </a:solidFill>
              </a:rPr>
              <a:t>Its why the assembler needs a reserved register (</a:t>
            </a:r>
            <a:r>
              <a:rPr lang="en-US" sz="2000" dirty="0">
                <a:solidFill>
                  <a:schemeClr val="tx1"/>
                </a:solidFill>
                <a:latin typeface="Courier New" pitchFamily="49" charset="0"/>
              </a:rPr>
              <a:t>$at</a:t>
            </a:r>
            <a:r>
              <a:rPr lang="en-US" sz="2000" dirty="0">
                <a:solidFill>
                  <a:schemeClr val="tx1"/>
                </a:solidFill>
              </a:rPr>
              <a:t>)</a:t>
            </a:r>
          </a:p>
        </p:txBody>
      </p:sp>
    </p:spTree>
    <p:extLst>
      <p:ext uri="{BB962C8B-B14F-4D97-AF65-F5344CB8AC3E}">
        <p14:creationId xmlns:p14="http://schemas.microsoft.com/office/powerpoint/2010/main" val="20354231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r>
              <a:rPr lang="en-US" dirty="0" smtClean="0"/>
              <a:t>More </a:t>
            </a:r>
            <a:r>
              <a:rPr lang="en-US" dirty="0"/>
              <a:t>Branch </a:t>
            </a:r>
            <a:r>
              <a:rPr lang="en-US" dirty="0" smtClean="0"/>
              <a:t>Instructions</a:t>
            </a:r>
            <a:endParaRPr lang="en-US" dirty="0"/>
          </a:p>
        </p:txBody>
      </p:sp>
      <p:sp>
        <p:nvSpPr>
          <p:cNvPr id="701443" name="Rectangle 3"/>
          <p:cNvSpPr>
            <a:spLocks noGrp="1" noChangeArrowheads="1"/>
          </p:cNvSpPr>
          <p:nvPr>
            <p:ph type="body" idx="1"/>
          </p:nvPr>
        </p:nvSpPr>
        <p:spPr>
          <a:xfrm>
            <a:off x="609600" y="838200"/>
            <a:ext cx="8077200" cy="3756025"/>
          </a:xfrm>
        </p:spPr>
        <p:txBody>
          <a:bodyPr/>
          <a:lstStyle/>
          <a:p>
            <a:r>
              <a:rPr lang="en-US" dirty="0"/>
              <a:t>Can use </a:t>
            </a:r>
            <a:r>
              <a:rPr lang="en-US" dirty="0" err="1">
                <a:latin typeface="Courier New" pitchFamily="49" charset="0"/>
              </a:rPr>
              <a:t>slt</a:t>
            </a:r>
            <a:r>
              <a:rPr lang="en-US" dirty="0"/>
              <a:t>,</a:t>
            </a:r>
            <a:r>
              <a:rPr lang="en-US" dirty="0">
                <a:latin typeface="Courier New" pitchFamily="49" charset="0"/>
              </a:rPr>
              <a:t> </a:t>
            </a:r>
            <a:r>
              <a:rPr lang="en-US" dirty="0" err="1">
                <a:latin typeface="Courier New" pitchFamily="49" charset="0"/>
              </a:rPr>
              <a:t>beq</a:t>
            </a:r>
            <a:r>
              <a:rPr lang="en-US" dirty="0"/>
              <a:t>,</a:t>
            </a:r>
            <a:r>
              <a:rPr lang="en-US" dirty="0">
                <a:latin typeface="Courier New" pitchFamily="49" charset="0"/>
              </a:rPr>
              <a:t> </a:t>
            </a:r>
            <a:r>
              <a:rPr lang="en-US" dirty="0" err="1">
                <a:latin typeface="Courier New" pitchFamily="49" charset="0"/>
              </a:rPr>
              <a:t>bne</a:t>
            </a:r>
            <a:r>
              <a:rPr lang="en-US" dirty="0"/>
              <a:t>, and the fixed value of 0 in register </a:t>
            </a:r>
            <a:r>
              <a:rPr lang="en-US" dirty="0">
                <a:latin typeface="Courier New" pitchFamily="49" charset="0"/>
              </a:rPr>
              <a:t>$zero</a:t>
            </a:r>
            <a:r>
              <a:rPr lang="en-US" dirty="0"/>
              <a:t> to </a:t>
            </a:r>
            <a:r>
              <a:rPr lang="en-US" dirty="0">
                <a:solidFill>
                  <a:schemeClr val="accent1"/>
                </a:solidFill>
              </a:rPr>
              <a:t>create</a:t>
            </a:r>
            <a:r>
              <a:rPr lang="en-US" dirty="0"/>
              <a:t> other conditions</a:t>
            </a:r>
          </a:p>
          <a:p>
            <a:pPr lvl="1"/>
            <a:r>
              <a:rPr lang="en-US" dirty="0"/>
              <a:t>less than  		</a:t>
            </a:r>
            <a:r>
              <a:rPr lang="en-US" dirty="0" err="1">
                <a:latin typeface="Courier New" pitchFamily="49" charset="0"/>
              </a:rPr>
              <a:t>blt</a:t>
            </a:r>
            <a:r>
              <a:rPr lang="en-US" dirty="0">
                <a:latin typeface="Courier New" pitchFamily="49" charset="0"/>
              </a:rPr>
              <a:t> $s1, $s2, Label</a:t>
            </a:r>
          </a:p>
          <a:p>
            <a:pPr lvl="1"/>
            <a:endParaRPr lang="en-US" dirty="0">
              <a:latin typeface="Courier New" pitchFamily="49" charset="0"/>
            </a:endParaRPr>
          </a:p>
          <a:p>
            <a:pPr lvl="1"/>
            <a:endParaRPr lang="en-US" dirty="0"/>
          </a:p>
          <a:p>
            <a:pPr lvl="1"/>
            <a:endParaRPr lang="en-US" dirty="0"/>
          </a:p>
          <a:p>
            <a:pPr lvl="1"/>
            <a:r>
              <a:rPr lang="en-US" dirty="0"/>
              <a:t>less than or equal to 	</a:t>
            </a:r>
            <a:r>
              <a:rPr lang="en-US" dirty="0" err="1">
                <a:latin typeface="Courier New" pitchFamily="49" charset="0"/>
              </a:rPr>
              <a:t>ble</a:t>
            </a:r>
            <a:r>
              <a:rPr lang="en-US" dirty="0">
                <a:latin typeface="Courier New" pitchFamily="49" charset="0"/>
              </a:rPr>
              <a:t> $s1, $s2, Label</a:t>
            </a:r>
            <a:endParaRPr lang="en-US" dirty="0"/>
          </a:p>
          <a:p>
            <a:pPr lvl="1"/>
            <a:r>
              <a:rPr lang="en-US" dirty="0"/>
              <a:t>greater than  		</a:t>
            </a:r>
            <a:r>
              <a:rPr lang="en-US" dirty="0" err="1">
                <a:latin typeface="Courier New" pitchFamily="49" charset="0"/>
              </a:rPr>
              <a:t>bgt</a:t>
            </a:r>
            <a:r>
              <a:rPr lang="en-US" dirty="0">
                <a:latin typeface="Courier New" pitchFamily="49" charset="0"/>
              </a:rPr>
              <a:t> $s1, $s2, Label</a:t>
            </a:r>
            <a:endParaRPr lang="en-US" dirty="0"/>
          </a:p>
          <a:p>
            <a:pPr lvl="1"/>
            <a:r>
              <a:rPr lang="en-US" dirty="0"/>
              <a:t>great than or equal to  	</a:t>
            </a:r>
            <a:r>
              <a:rPr lang="en-US" dirty="0" err="1">
                <a:latin typeface="Courier New" pitchFamily="49" charset="0"/>
              </a:rPr>
              <a:t>bge</a:t>
            </a:r>
            <a:r>
              <a:rPr lang="en-US" dirty="0">
                <a:latin typeface="Courier New" pitchFamily="49" charset="0"/>
              </a:rPr>
              <a:t> $s1, $s2, Label</a:t>
            </a:r>
          </a:p>
          <a:p>
            <a:pPr lvl="1"/>
            <a:endParaRPr lang="en-US" dirty="0"/>
          </a:p>
        </p:txBody>
      </p:sp>
      <p:sp>
        <p:nvSpPr>
          <p:cNvPr id="701444" name="Rectangle 4"/>
          <p:cNvSpPr>
            <a:spLocks noChangeArrowheads="1"/>
          </p:cNvSpPr>
          <p:nvPr/>
        </p:nvSpPr>
        <p:spPr bwMode="auto">
          <a:xfrm>
            <a:off x="1428728" y="2214554"/>
            <a:ext cx="6781800" cy="762000"/>
          </a:xfrm>
          <a:prstGeom prst="rect">
            <a:avLst/>
          </a:prstGeom>
          <a:noFill/>
          <a:ln w="12700">
            <a:noFill/>
            <a:miter lim="800000"/>
            <a:headEnd/>
            <a:tailEnd/>
          </a:ln>
          <a:effectLst/>
        </p:spPr>
        <p:txBody>
          <a:bodyPr lIns="90488" tIns="44450" rIns="90488" bIns="44450"/>
          <a:lstStyle/>
          <a:p>
            <a:pPr marL="342900" indent="-342900">
              <a:spcBef>
                <a:spcPts val="600"/>
              </a:spcBef>
              <a:buClr>
                <a:schemeClr val="accent1"/>
              </a:buClr>
              <a:buSzPct val="75000"/>
              <a:buFont typeface="Wingdings" pitchFamily="2" charset="2"/>
              <a:buNone/>
            </a:pPr>
            <a:r>
              <a:rPr lang="en-US" sz="2000" dirty="0" err="1">
                <a:solidFill>
                  <a:schemeClr val="accent2"/>
                </a:solidFill>
                <a:latin typeface="Courier New" pitchFamily="49" charset="0"/>
              </a:rPr>
              <a:t>slt</a:t>
            </a:r>
            <a:r>
              <a:rPr lang="en-US" sz="2000" dirty="0">
                <a:solidFill>
                  <a:schemeClr val="accent2"/>
                </a:solidFill>
                <a:latin typeface="Courier New" pitchFamily="49" charset="0"/>
              </a:rPr>
              <a:t>  $at, $s1, $s2	#$at set to 1 if</a:t>
            </a:r>
          </a:p>
          <a:p>
            <a:pPr marL="342900" indent="-342900">
              <a:spcBef>
                <a:spcPts val="600"/>
              </a:spcBef>
              <a:buClr>
                <a:schemeClr val="accent1"/>
              </a:buClr>
              <a:buSzPct val="75000"/>
              <a:buFont typeface="Wingdings" pitchFamily="2" charset="2"/>
              <a:buNone/>
            </a:pPr>
            <a:r>
              <a:rPr lang="en-US" sz="2000" dirty="0" err="1">
                <a:solidFill>
                  <a:schemeClr val="accent2"/>
                </a:solidFill>
                <a:latin typeface="Courier New" pitchFamily="49" charset="0"/>
              </a:rPr>
              <a:t>bne</a:t>
            </a:r>
            <a:r>
              <a:rPr lang="en-US" sz="2000" dirty="0">
                <a:solidFill>
                  <a:schemeClr val="accent2"/>
                </a:solidFill>
                <a:latin typeface="Courier New" pitchFamily="49" charset="0"/>
              </a:rPr>
              <a:t>  $at, $zero, Label	</a:t>
            </a:r>
            <a:r>
              <a:rPr lang="en-US" sz="2000" dirty="0" smtClean="0">
                <a:solidFill>
                  <a:schemeClr val="accent2"/>
                </a:solidFill>
                <a:latin typeface="Courier New" pitchFamily="49" charset="0"/>
              </a:rPr>
              <a:t>#$</a:t>
            </a:r>
            <a:r>
              <a:rPr lang="en-US" sz="2000" dirty="0">
                <a:solidFill>
                  <a:schemeClr val="accent2"/>
                </a:solidFill>
                <a:latin typeface="Courier New" pitchFamily="49" charset="0"/>
              </a:rPr>
              <a:t>s1 &lt; $s2</a:t>
            </a:r>
          </a:p>
        </p:txBody>
      </p:sp>
      <p:sp>
        <p:nvSpPr>
          <p:cNvPr id="701445" name="Rectangle 5"/>
          <p:cNvSpPr>
            <a:spLocks noChangeArrowheads="1"/>
          </p:cNvSpPr>
          <p:nvPr/>
        </p:nvSpPr>
        <p:spPr bwMode="auto">
          <a:xfrm>
            <a:off x="457200" y="4724400"/>
            <a:ext cx="8077200" cy="1443665"/>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dirty="0">
                <a:solidFill>
                  <a:schemeClr val="tx1"/>
                </a:solidFill>
              </a:rPr>
              <a:t>Such branches are included in the instruction set as pseudo instructions - recognized (and expanded</a:t>
            </a:r>
            <a:r>
              <a:rPr lang="en-US" sz="2400" dirty="0" smtClean="0">
                <a:solidFill>
                  <a:schemeClr val="tx1"/>
                </a:solidFill>
              </a:rPr>
              <a:t>) </a:t>
            </a:r>
            <a:r>
              <a:rPr lang="en-US" sz="2400" dirty="0">
                <a:solidFill>
                  <a:schemeClr val="tx1"/>
                </a:solidFill>
              </a:rPr>
              <a:t>by the assembler</a:t>
            </a:r>
          </a:p>
          <a:p>
            <a:pPr marL="741363" lvl="1" indent="-246063">
              <a:lnSpc>
                <a:spcPct val="85000"/>
              </a:lnSpc>
              <a:spcBef>
                <a:spcPct val="40000"/>
              </a:spcBef>
              <a:buClr>
                <a:schemeClr val="accent1"/>
              </a:buClr>
              <a:buSzPct val="75000"/>
              <a:buFont typeface="Monotype Sorts" pitchFamily="2" charset="2"/>
              <a:buChar char="l"/>
            </a:pPr>
            <a:r>
              <a:rPr lang="en-US" sz="2000" dirty="0">
                <a:solidFill>
                  <a:schemeClr val="tx1"/>
                </a:solidFill>
              </a:rPr>
              <a:t>Its why the assembler needs a reserved register (</a:t>
            </a:r>
            <a:r>
              <a:rPr lang="en-US" sz="2000" dirty="0">
                <a:solidFill>
                  <a:schemeClr val="tx1"/>
                </a:solidFill>
                <a:latin typeface="Courier New" pitchFamily="49" charset="0"/>
              </a:rPr>
              <a:t>$at</a:t>
            </a:r>
            <a:r>
              <a:rPr lang="en-US" sz="2000" dirty="0">
                <a:solidFill>
                  <a:schemeClr val="tx1"/>
                </a:solidFill>
              </a:rPr>
              <a:t>)</a:t>
            </a:r>
          </a:p>
        </p:txBody>
      </p:sp>
    </p:spTree>
    <p:extLst>
      <p:ext uri="{BB962C8B-B14F-4D97-AF65-F5344CB8AC3E}">
        <p14:creationId xmlns:p14="http://schemas.microsoft.com/office/powerpoint/2010/main" val="1888929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14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1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4" grpId="0" autoUpdateAnimBg="0"/>
      <p:bldP spid="7014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ChangeArrowheads="1"/>
          </p:cNvSpPr>
          <p:nvPr/>
        </p:nvSpPr>
        <p:spPr bwMode="auto">
          <a:xfrm>
            <a:off x="225425" y="312738"/>
            <a:ext cx="1190625" cy="477837"/>
          </a:xfrm>
          <a:prstGeom prst="rect">
            <a:avLst/>
          </a:prstGeom>
          <a:noFill/>
          <a:ln w="12700">
            <a:noFill/>
            <a:miter lim="800000"/>
            <a:headEnd/>
            <a:tailEnd/>
          </a:ln>
          <a:effectLst/>
        </p:spPr>
        <p:txBody>
          <a:bodyPr wrap="none" anchor="ctr"/>
          <a:lstStyle/>
          <a:p>
            <a:endParaRPr lang="en-US"/>
          </a:p>
        </p:txBody>
      </p:sp>
      <p:sp>
        <p:nvSpPr>
          <p:cNvPr id="300035" name="Rectangle 3"/>
          <p:cNvSpPr>
            <a:spLocks noGrp="1" noChangeArrowheads="1"/>
          </p:cNvSpPr>
          <p:nvPr>
            <p:ph type="body" idx="1"/>
          </p:nvPr>
        </p:nvSpPr>
        <p:spPr>
          <a:xfrm>
            <a:off x="533400" y="833438"/>
            <a:ext cx="8382000" cy="5568191"/>
          </a:xfrm>
          <a:noFill/>
          <a:ln/>
        </p:spPr>
        <p:txBody>
          <a:bodyPr lIns="90488" tIns="44450" rIns="90488" bIns="44450"/>
          <a:lstStyle/>
          <a:p>
            <a:pPr marL="342900" indent="-342900">
              <a:spcBef>
                <a:spcPts val="0"/>
              </a:spcBef>
            </a:pPr>
            <a:r>
              <a:rPr lang="en-US" dirty="0"/>
              <a:t>MIPS also has an </a:t>
            </a:r>
            <a:r>
              <a:rPr lang="en-US" dirty="0">
                <a:solidFill>
                  <a:schemeClr val="accent1"/>
                </a:solidFill>
              </a:rPr>
              <a:t>unconditional branch</a:t>
            </a:r>
            <a:r>
              <a:rPr lang="en-US" dirty="0"/>
              <a:t> instruction or </a:t>
            </a:r>
            <a:r>
              <a:rPr lang="en-US" dirty="0">
                <a:solidFill>
                  <a:schemeClr val="accent1"/>
                </a:solidFill>
              </a:rPr>
              <a:t>jump</a:t>
            </a:r>
            <a:r>
              <a:rPr lang="en-US" dirty="0"/>
              <a:t> instruction:</a:t>
            </a:r>
            <a:br>
              <a:rPr lang="en-US" dirty="0"/>
            </a:br>
            <a:r>
              <a:rPr lang="en-US" sz="2000" dirty="0"/>
              <a:t/>
            </a:r>
            <a:br>
              <a:rPr lang="en-US" sz="2000" dirty="0"/>
            </a:br>
            <a:r>
              <a:rPr lang="en-US" sz="2000" dirty="0"/>
              <a:t>	 </a:t>
            </a:r>
            <a:r>
              <a:rPr lang="en-US" dirty="0">
                <a:latin typeface="Courier New" pitchFamily="49" charset="0"/>
              </a:rPr>
              <a:t>j  </a:t>
            </a:r>
            <a:r>
              <a:rPr lang="en-US" dirty="0" err="1">
                <a:latin typeface="Courier New" pitchFamily="49" charset="0"/>
              </a:rPr>
              <a:t>Lbl</a:t>
            </a:r>
            <a:r>
              <a:rPr lang="en-US" dirty="0">
                <a:latin typeface="Courier New" pitchFamily="49" charset="0"/>
              </a:rPr>
              <a:t>		#go to </a:t>
            </a:r>
            <a:r>
              <a:rPr lang="en-US" dirty="0" err="1">
                <a:latin typeface="Courier New" pitchFamily="49" charset="0"/>
              </a:rPr>
              <a:t>Lbl</a:t>
            </a:r>
            <a:r>
              <a:rPr lang="en-US" dirty="0">
                <a:latin typeface="Courier New" pitchFamily="49" charset="0"/>
              </a:rPr>
              <a:t>	</a:t>
            </a:r>
            <a:endParaRPr lang="en-US" dirty="0"/>
          </a:p>
          <a:p>
            <a:pPr marL="742950" lvl="1" indent="-285750">
              <a:spcBef>
                <a:spcPts val="0"/>
              </a:spcBef>
            </a:pPr>
            <a:endParaRPr lang="en-US" dirty="0"/>
          </a:p>
          <a:p>
            <a:pPr marL="342900" indent="-342900">
              <a:spcBef>
                <a:spcPts val="0"/>
              </a:spcBef>
            </a:pPr>
            <a:r>
              <a:rPr lang="en-US" dirty="0"/>
              <a:t>Example:	 	</a:t>
            </a:r>
            <a:r>
              <a:rPr lang="en-US" dirty="0">
                <a:latin typeface="Courier New" pitchFamily="49" charset="0"/>
              </a:rPr>
              <a:t>if (</a:t>
            </a:r>
            <a:r>
              <a:rPr lang="en-US" dirty="0" err="1">
                <a:latin typeface="Courier New" pitchFamily="49" charset="0"/>
              </a:rPr>
              <a:t>i</a:t>
            </a:r>
            <a:r>
              <a:rPr lang="en-US" dirty="0">
                <a:latin typeface="Courier New" pitchFamily="49" charset="0"/>
              </a:rPr>
              <a:t>!=j) </a:t>
            </a:r>
            <a:br>
              <a:rPr lang="en-US" dirty="0">
                <a:latin typeface="Courier New" pitchFamily="49" charset="0"/>
              </a:rPr>
            </a:br>
            <a:r>
              <a:rPr lang="en-US" dirty="0">
                <a:latin typeface="Courier New" pitchFamily="49" charset="0"/>
              </a:rPr>
              <a:t>				h=</a:t>
            </a:r>
            <a:r>
              <a:rPr lang="en-US" dirty="0" err="1">
                <a:latin typeface="Courier New" pitchFamily="49" charset="0"/>
              </a:rPr>
              <a:t>i+j</a:t>
            </a:r>
            <a:r>
              <a:rPr lang="en-US" dirty="0">
                <a:latin typeface="Courier New" pitchFamily="49" charset="0"/>
              </a:rPr>
              <a:t>;						else									h=</a:t>
            </a:r>
            <a:r>
              <a:rPr lang="en-US" dirty="0" err="1">
                <a:latin typeface="Courier New" pitchFamily="49" charset="0"/>
              </a:rPr>
              <a:t>i</a:t>
            </a:r>
            <a:r>
              <a:rPr lang="en-US" dirty="0">
                <a:latin typeface="Courier New" pitchFamily="49" charset="0"/>
              </a:rPr>
              <a:t>-j;</a:t>
            </a:r>
          </a:p>
          <a:p>
            <a:pPr marL="342900" indent="-342900">
              <a:spcBef>
                <a:spcPts val="0"/>
              </a:spcBef>
              <a:buFont typeface="Wingdings" pitchFamily="2" charset="2"/>
              <a:buNone/>
            </a:pPr>
            <a:r>
              <a:rPr lang="en-US" dirty="0">
                <a:latin typeface="Courier New" pitchFamily="49" charset="0"/>
              </a:rPr>
              <a:t>			</a:t>
            </a:r>
          </a:p>
          <a:p>
            <a:pPr marL="342900" indent="-342900">
              <a:spcBef>
                <a:spcPts val="0"/>
              </a:spcBef>
              <a:buFont typeface="Wingdings" pitchFamily="2" charset="2"/>
              <a:buNone/>
            </a:pPr>
            <a:r>
              <a:rPr lang="en-US" dirty="0">
                <a:latin typeface="Courier New" pitchFamily="49" charset="0"/>
              </a:rPr>
              <a:t>			</a:t>
            </a:r>
            <a:r>
              <a:rPr lang="en-US" dirty="0" err="1">
                <a:latin typeface="Courier New" pitchFamily="49" charset="0"/>
              </a:rPr>
              <a:t>beq</a:t>
            </a:r>
            <a:r>
              <a:rPr lang="en-US" dirty="0">
                <a:latin typeface="Courier New" pitchFamily="49" charset="0"/>
              </a:rPr>
              <a:t>	$s0, $s1, Else</a:t>
            </a:r>
            <a:br>
              <a:rPr lang="en-US" dirty="0">
                <a:latin typeface="Courier New" pitchFamily="49" charset="0"/>
              </a:rPr>
            </a:br>
            <a:r>
              <a:rPr lang="en-US" dirty="0">
                <a:latin typeface="Courier New" pitchFamily="49" charset="0"/>
              </a:rPr>
              <a:t>		add	$s3, $s0, $s1</a:t>
            </a:r>
            <a:br>
              <a:rPr lang="en-US" dirty="0">
                <a:latin typeface="Courier New" pitchFamily="49" charset="0"/>
              </a:rPr>
            </a:br>
            <a:r>
              <a:rPr lang="en-US" dirty="0">
                <a:latin typeface="Courier New" pitchFamily="49" charset="0"/>
              </a:rPr>
              <a:t>		j	Exit</a:t>
            </a:r>
            <a:br>
              <a:rPr lang="en-US" dirty="0">
                <a:latin typeface="Courier New" pitchFamily="49" charset="0"/>
              </a:rPr>
            </a:br>
            <a:r>
              <a:rPr lang="en-US" dirty="0">
                <a:latin typeface="Courier New" pitchFamily="49" charset="0"/>
              </a:rPr>
              <a:t>Else:	sub	$s3, $s0, $s1</a:t>
            </a:r>
            <a:br>
              <a:rPr lang="en-US" dirty="0">
                <a:latin typeface="Courier New" pitchFamily="49" charset="0"/>
              </a:rPr>
            </a:br>
            <a:r>
              <a:rPr lang="en-US" dirty="0">
                <a:latin typeface="Courier New" pitchFamily="49" charset="0"/>
              </a:rPr>
              <a:t>Exit:	...</a:t>
            </a:r>
          </a:p>
        </p:txBody>
      </p:sp>
      <p:sp>
        <p:nvSpPr>
          <p:cNvPr id="300036" name="Rectangle 4"/>
          <p:cNvSpPr>
            <a:spLocks noGrp="1" noChangeArrowheads="1"/>
          </p:cNvSpPr>
          <p:nvPr>
            <p:ph type="title"/>
          </p:nvPr>
        </p:nvSpPr>
        <p:spPr>
          <a:noFill/>
          <a:ln/>
        </p:spPr>
        <p:txBody>
          <a:bodyPr lIns="90488" tIns="44450" rIns="90488" bIns="44450" anchor="ctr"/>
          <a:lstStyle/>
          <a:p>
            <a:r>
              <a:rPr lang="en-US"/>
              <a:t>Another Instruction for Changing Flow</a:t>
            </a:r>
          </a:p>
        </p:txBody>
      </p:sp>
    </p:spTree>
    <p:extLst>
      <p:ext uri="{BB962C8B-B14F-4D97-AF65-F5344CB8AC3E}">
        <p14:creationId xmlns:p14="http://schemas.microsoft.com/office/powerpoint/2010/main" val="1801390230"/>
      </p:ext>
    </p:extLst>
  </p:cSld>
  <p:clrMapOvr>
    <a:masterClrMapping/>
  </p:clrMapOvr>
  <p:transition advTm="200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ChangeArrowheads="1"/>
          </p:cNvSpPr>
          <p:nvPr/>
        </p:nvSpPr>
        <p:spPr bwMode="auto">
          <a:xfrm>
            <a:off x="225425" y="312738"/>
            <a:ext cx="3457575" cy="477837"/>
          </a:xfrm>
          <a:prstGeom prst="rect">
            <a:avLst/>
          </a:prstGeom>
          <a:noFill/>
          <a:ln w="12700">
            <a:noFill/>
            <a:miter lim="800000"/>
            <a:headEnd/>
            <a:tailEnd/>
          </a:ln>
          <a:effectLst/>
        </p:spPr>
        <p:txBody>
          <a:bodyPr wrap="none" anchor="ctr"/>
          <a:lstStyle/>
          <a:p>
            <a:endParaRPr lang="en-US"/>
          </a:p>
        </p:txBody>
      </p:sp>
      <p:sp>
        <p:nvSpPr>
          <p:cNvPr id="302083" name="Rectangle 3"/>
          <p:cNvSpPr>
            <a:spLocks noGrp="1" noChangeArrowheads="1"/>
          </p:cNvSpPr>
          <p:nvPr>
            <p:ph type="body" idx="1"/>
          </p:nvPr>
        </p:nvSpPr>
        <p:spPr>
          <a:xfrm>
            <a:off x="381000" y="762000"/>
            <a:ext cx="8153400" cy="1585562"/>
          </a:xfrm>
          <a:noFill/>
          <a:ln/>
        </p:spPr>
        <p:txBody>
          <a:bodyPr lIns="90488" tIns="44450" rIns="90488" bIns="44450"/>
          <a:lstStyle/>
          <a:p>
            <a:pPr marL="342900" indent="-342900"/>
            <a:r>
              <a:rPr lang="en-US" dirty="0"/>
              <a:t>Instruction:</a:t>
            </a:r>
          </a:p>
          <a:p>
            <a:pPr marL="342900" indent="-342900">
              <a:spcBef>
                <a:spcPct val="0"/>
              </a:spcBef>
              <a:buClrTx/>
              <a:buSzTx/>
              <a:buFontTx/>
              <a:buNone/>
            </a:pPr>
            <a:r>
              <a:rPr lang="en-US" dirty="0"/>
              <a:t>		 </a:t>
            </a:r>
            <a:r>
              <a:rPr lang="en-US" dirty="0">
                <a:latin typeface="Courier New" pitchFamily="49" charset="0"/>
              </a:rPr>
              <a:t>j  </a:t>
            </a:r>
            <a:r>
              <a:rPr lang="en-US" dirty="0" err="1">
                <a:latin typeface="Courier New" pitchFamily="49" charset="0"/>
              </a:rPr>
              <a:t>Lbl</a:t>
            </a:r>
            <a:r>
              <a:rPr lang="en-US" dirty="0">
                <a:latin typeface="Courier New" pitchFamily="49" charset="0"/>
              </a:rPr>
              <a:t>		#go to </a:t>
            </a:r>
            <a:r>
              <a:rPr lang="en-US" dirty="0" err="1">
                <a:latin typeface="Courier New" pitchFamily="49" charset="0"/>
              </a:rPr>
              <a:t>Lbl</a:t>
            </a:r>
            <a:endParaRPr lang="en-US" dirty="0"/>
          </a:p>
          <a:p>
            <a:pPr marL="1143000" lvl="2" indent="-228600">
              <a:spcBef>
                <a:spcPct val="0"/>
              </a:spcBef>
              <a:spcAft>
                <a:spcPct val="40000"/>
              </a:spcAft>
            </a:pPr>
            <a:endParaRPr lang="en-US" dirty="0"/>
          </a:p>
          <a:p>
            <a:pPr marL="342900" indent="-342900">
              <a:spcBef>
                <a:spcPct val="0"/>
              </a:spcBef>
              <a:spcAft>
                <a:spcPct val="40000"/>
              </a:spcAft>
            </a:pPr>
            <a:r>
              <a:rPr lang="en-US" dirty="0"/>
              <a:t>Machine </a:t>
            </a:r>
            <a:r>
              <a:rPr lang="en-US" dirty="0" smtClean="0"/>
              <a:t>Format (</a:t>
            </a:r>
            <a:r>
              <a:rPr lang="en-US" dirty="0" smtClean="0">
                <a:solidFill>
                  <a:srgbClr val="FF0000"/>
                </a:solidFill>
              </a:rPr>
              <a:t>J</a:t>
            </a:r>
            <a:r>
              <a:rPr lang="en-US" dirty="0" smtClean="0"/>
              <a:t> format):</a:t>
            </a:r>
            <a:endParaRPr lang="en-US" dirty="0"/>
          </a:p>
        </p:txBody>
      </p:sp>
      <p:sp>
        <p:nvSpPr>
          <p:cNvPr id="302084" name="Rectangle 4"/>
          <p:cNvSpPr>
            <a:spLocks noGrp="1" noChangeArrowheads="1"/>
          </p:cNvSpPr>
          <p:nvPr>
            <p:ph type="title"/>
          </p:nvPr>
        </p:nvSpPr>
        <p:spPr>
          <a:noFill/>
          <a:ln/>
        </p:spPr>
        <p:txBody>
          <a:bodyPr lIns="90488" tIns="44450" rIns="90488" bIns="44450" anchor="ctr"/>
          <a:lstStyle/>
          <a:p>
            <a:r>
              <a:rPr lang="en-US"/>
              <a:t>Assembling Jumps</a:t>
            </a:r>
          </a:p>
        </p:txBody>
      </p:sp>
      <p:sp>
        <p:nvSpPr>
          <p:cNvPr id="302086" name="Rectangle 6"/>
          <p:cNvSpPr>
            <a:spLocks noChangeArrowheads="1"/>
          </p:cNvSpPr>
          <p:nvPr/>
        </p:nvSpPr>
        <p:spPr bwMode="auto">
          <a:xfrm>
            <a:off x="1371600" y="2433630"/>
            <a:ext cx="5791200" cy="292100"/>
          </a:xfrm>
          <a:prstGeom prst="rect">
            <a:avLst/>
          </a:prstGeom>
          <a:noFill/>
          <a:ln w="12700">
            <a:solidFill>
              <a:schemeClr val="tx1"/>
            </a:solidFill>
            <a:miter lim="800000"/>
            <a:headEnd/>
            <a:tailEnd/>
          </a:ln>
          <a:effectLst/>
        </p:spPr>
        <p:txBody>
          <a:bodyPr wrap="none" anchor="ctr"/>
          <a:lstStyle/>
          <a:p>
            <a:endParaRPr lang="en-US"/>
          </a:p>
        </p:txBody>
      </p:sp>
      <p:sp>
        <p:nvSpPr>
          <p:cNvPr id="302087" name="Line 7"/>
          <p:cNvSpPr>
            <a:spLocks noChangeShapeType="1"/>
          </p:cNvSpPr>
          <p:nvPr/>
        </p:nvSpPr>
        <p:spPr bwMode="auto">
          <a:xfrm>
            <a:off x="2438400" y="2433630"/>
            <a:ext cx="0" cy="290512"/>
          </a:xfrm>
          <a:prstGeom prst="line">
            <a:avLst/>
          </a:prstGeom>
          <a:noFill/>
          <a:ln w="12700">
            <a:solidFill>
              <a:schemeClr val="tx1"/>
            </a:solidFill>
            <a:round/>
            <a:headEnd/>
            <a:tailEnd/>
          </a:ln>
          <a:effectLst/>
        </p:spPr>
        <p:txBody>
          <a:bodyPr/>
          <a:lstStyle/>
          <a:p>
            <a:endParaRPr lang="en-US"/>
          </a:p>
        </p:txBody>
      </p:sp>
      <p:sp>
        <p:nvSpPr>
          <p:cNvPr id="302090" name="Text Box 10"/>
          <p:cNvSpPr txBox="1">
            <a:spLocks noChangeArrowheads="1"/>
          </p:cNvSpPr>
          <p:nvPr/>
        </p:nvSpPr>
        <p:spPr bwMode="auto">
          <a:xfrm>
            <a:off x="1676400" y="2433630"/>
            <a:ext cx="4044950" cy="366712"/>
          </a:xfrm>
          <a:prstGeom prst="rect">
            <a:avLst/>
          </a:prstGeom>
          <a:noFill/>
          <a:ln w="12700">
            <a:noFill/>
            <a:miter lim="800000"/>
            <a:headEnd/>
            <a:tailEnd/>
          </a:ln>
          <a:effectLst/>
        </p:spPr>
        <p:txBody>
          <a:bodyPr wrap="none">
            <a:spAutoFit/>
          </a:bodyPr>
          <a:lstStyle/>
          <a:p>
            <a:r>
              <a:rPr lang="en-US">
                <a:solidFill>
                  <a:schemeClr val="tx1"/>
                </a:solidFill>
              </a:rPr>
              <a:t>op                                  26-bit address</a:t>
            </a:r>
          </a:p>
        </p:txBody>
      </p:sp>
      <p:sp>
        <p:nvSpPr>
          <p:cNvPr id="302092" name="AutoShape 12"/>
          <p:cNvSpPr>
            <a:spLocks noChangeArrowheads="1"/>
          </p:cNvSpPr>
          <p:nvPr/>
        </p:nvSpPr>
        <p:spPr bwMode="auto">
          <a:xfrm>
            <a:off x="4114800" y="2890830"/>
            <a:ext cx="381000" cy="152400"/>
          </a:xfrm>
          <a:prstGeom prst="downArrow">
            <a:avLst>
              <a:gd name="adj1" fmla="val 50000"/>
              <a:gd name="adj2" fmla="val 25000"/>
            </a:avLst>
          </a:prstGeom>
          <a:noFill/>
          <a:ln w="12700">
            <a:solidFill>
              <a:schemeClr val="tx1"/>
            </a:solidFill>
            <a:miter lim="800000"/>
            <a:headEnd/>
            <a:tailEnd/>
          </a:ln>
          <a:effectLst/>
        </p:spPr>
        <p:txBody>
          <a:bodyPr wrap="none" anchor="ctr"/>
          <a:lstStyle/>
          <a:p>
            <a:endParaRPr lang="en-US"/>
          </a:p>
        </p:txBody>
      </p:sp>
      <p:grpSp>
        <p:nvGrpSpPr>
          <p:cNvPr id="2" name="Group 27"/>
          <p:cNvGrpSpPr>
            <a:grpSpLocks/>
          </p:cNvGrpSpPr>
          <p:nvPr/>
        </p:nvGrpSpPr>
        <p:grpSpPr bwMode="auto">
          <a:xfrm>
            <a:off x="1371600" y="3195630"/>
            <a:ext cx="5791200" cy="369887"/>
            <a:chOff x="864" y="2208"/>
            <a:chExt cx="3648" cy="233"/>
          </a:xfrm>
        </p:grpSpPr>
        <p:sp>
          <p:nvSpPr>
            <p:cNvPr id="302095" name="Rectangle 15"/>
            <p:cNvSpPr>
              <a:spLocks noChangeArrowheads="1"/>
            </p:cNvSpPr>
            <p:nvPr/>
          </p:nvSpPr>
          <p:spPr bwMode="auto">
            <a:xfrm>
              <a:off x="864" y="2208"/>
              <a:ext cx="3648" cy="184"/>
            </a:xfrm>
            <a:prstGeom prst="rect">
              <a:avLst/>
            </a:prstGeom>
            <a:noFill/>
            <a:ln w="12700">
              <a:solidFill>
                <a:schemeClr val="tx1"/>
              </a:solidFill>
              <a:miter lim="800000"/>
              <a:headEnd/>
              <a:tailEnd/>
            </a:ln>
            <a:effectLst/>
          </p:spPr>
          <p:txBody>
            <a:bodyPr wrap="none" anchor="ctr"/>
            <a:lstStyle/>
            <a:p>
              <a:endParaRPr lang="en-US"/>
            </a:p>
          </p:txBody>
        </p:sp>
        <p:sp>
          <p:nvSpPr>
            <p:cNvPr id="302096" name="Line 16"/>
            <p:cNvSpPr>
              <a:spLocks noChangeShapeType="1"/>
            </p:cNvSpPr>
            <p:nvPr/>
          </p:nvSpPr>
          <p:spPr bwMode="auto">
            <a:xfrm>
              <a:off x="1536" y="2208"/>
              <a:ext cx="0" cy="183"/>
            </a:xfrm>
            <a:prstGeom prst="line">
              <a:avLst/>
            </a:prstGeom>
            <a:noFill/>
            <a:ln w="12700">
              <a:solidFill>
                <a:schemeClr val="tx1"/>
              </a:solidFill>
              <a:round/>
              <a:headEnd/>
              <a:tailEnd/>
            </a:ln>
            <a:effectLst/>
          </p:spPr>
          <p:txBody>
            <a:bodyPr/>
            <a:lstStyle/>
            <a:p>
              <a:endParaRPr lang="en-US"/>
            </a:p>
          </p:txBody>
        </p:sp>
        <p:sp>
          <p:nvSpPr>
            <p:cNvPr id="302099" name="Text Box 19"/>
            <p:cNvSpPr txBox="1">
              <a:spLocks noChangeArrowheads="1"/>
            </p:cNvSpPr>
            <p:nvPr/>
          </p:nvSpPr>
          <p:spPr bwMode="auto">
            <a:xfrm>
              <a:off x="990" y="2208"/>
              <a:ext cx="2128" cy="233"/>
            </a:xfrm>
            <a:prstGeom prst="rect">
              <a:avLst/>
            </a:prstGeom>
            <a:noFill/>
            <a:ln w="12700">
              <a:noFill/>
              <a:miter lim="800000"/>
              <a:headEnd/>
              <a:tailEnd/>
            </a:ln>
            <a:effectLst/>
          </p:spPr>
          <p:txBody>
            <a:bodyPr wrap="none">
              <a:spAutoFit/>
            </a:bodyPr>
            <a:lstStyle/>
            <a:p>
              <a:r>
                <a:rPr lang="en-US" dirty="0" smtClean="0">
                  <a:solidFill>
                    <a:schemeClr val="tx1"/>
                  </a:solidFill>
                </a:rPr>
                <a:t>0x02                                  </a:t>
              </a:r>
              <a:r>
                <a:rPr lang="en-US" dirty="0">
                  <a:solidFill>
                    <a:schemeClr val="tx1"/>
                  </a:solidFill>
                </a:rPr>
                <a:t>????</a:t>
              </a:r>
            </a:p>
          </p:txBody>
        </p:sp>
      </p:grpSp>
      <p:sp>
        <p:nvSpPr>
          <p:cNvPr id="302108" name="Rectangle 28"/>
          <p:cNvSpPr>
            <a:spLocks noChangeArrowheads="1"/>
          </p:cNvSpPr>
          <p:nvPr/>
        </p:nvSpPr>
        <p:spPr bwMode="auto">
          <a:xfrm>
            <a:off x="457200" y="3929066"/>
            <a:ext cx="8153400" cy="2057400"/>
          </a:xfrm>
          <a:prstGeom prst="rect">
            <a:avLst/>
          </a:prstGeom>
          <a:noFill/>
          <a:ln w="12700">
            <a:noFill/>
            <a:miter lim="800000"/>
            <a:headEnd/>
            <a:tailEnd/>
          </a:ln>
          <a:effectLst/>
        </p:spPr>
        <p:txBody>
          <a:bodyPr lIns="90488" tIns="44450" rIns="90488" bIns="44450"/>
          <a:lstStyle/>
          <a:p>
            <a:pPr marL="342900" indent="-342900">
              <a:spcBef>
                <a:spcPct val="30000"/>
              </a:spcBef>
              <a:buClr>
                <a:schemeClr val="accent1"/>
              </a:buClr>
              <a:buSzPct val="75000"/>
              <a:buFont typeface="Wingdings" pitchFamily="2" charset="2"/>
              <a:buChar char="q"/>
            </a:pPr>
            <a:r>
              <a:rPr lang="en-US" sz="2800" dirty="0">
                <a:solidFill>
                  <a:schemeClr val="tx1"/>
                </a:solidFill>
              </a:rPr>
              <a:t>How is the jump destination address specified?</a:t>
            </a:r>
          </a:p>
          <a:p>
            <a:pPr marL="742950" lvl="1" indent="-285750">
              <a:spcBef>
                <a:spcPct val="25000"/>
              </a:spcBef>
              <a:buClr>
                <a:schemeClr val="accent1"/>
              </a:buClr>
              <a:buSzPct val="75000"/>
              <a:buFont typeface="Monotype Sorts" pitchFamily="2" charset="2"/>
              <a:buChar char="l"/>
            </a:pPr>
            <a:r>
              <a:rPr lang="en-US" sz="2400" dirty="0">
                <a:solidFill>
                  <a:schemeClr val="tx1"/>
                </a:solidFill>
              </a:rPr>
              <a:t>As an absolute address formed by</a:t>
            </a:r>
          </a:p>
          <a:p>
            <a:pPr marL="1143000" lvl="2" indent="-228600">
              <a:spcBef>
                <a:spcPct val="25000"/>
              </a:spcBef>
              <a:buClr>
                <a:schemeClr val="accent1"/>
              </a:buClr>
              <a:buSzPct val="100000"/>
              <a:buFontTx/>
              <a:buChar char="-"/>
            </a:pPr>
            <a:r>
              <a:rPr lang="en-US" sz="2000" dirty="0">
                <a:solidFill>
                  <a:schemeClr val="tx1"/>
                </a:solidFill>
              </a:rPr>
              <a:t>concatenating 00 as the 2 low-order bits to make it a word address</a:t>
            </a:r>
          </a:p>
          <a:p>
            <a:pPr marL="1143000" lvl="2" indent="-228600">
              <a:spcBef>
                <a:spcPct val="25000"/>
              </a:spcBef>
              <a:buClr>
                <a:schemeClr val="accent1"/>
              </a:buClr>
              <a:buSzPct val="100000"/>
              <a:buFontTx/>
              <a:buChar char="-"/>
            </a:pPr>
            <a:r>
              <a:rPr lang="en-US" sz="2000" dirty="0">
                <a:solidFill>
                  <a:schemeClr val="tx1"/>
                </a:solidFill>
              </a:rPr>
              <a:t>concatenating the upper 4 bits of the current PC (now PC+4)</a:t>
            </a:r>
          </a:p>
        </p:txBody>
      </p:sp>
    </p:spTree>
    <p:extLst>
      <p:ext uri="{BB962C8B-B14F-4D97-AF65-F5344CB8AC3E}">
        <p14:creationId xmlns:p14="http://schemas.microsoft.com/office/powerpoint/2010/main" val="938256028"/>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2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10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050"/>
          <p:cNvSpPr>
            <a:spLocks noGrp="1" noChangeArrowheads="1"/>
          </p:cNvSpPr>
          <p:nvPr>
            <p:ph type="title"/>
          </p:nvPr>
        </p:nvSpPr>
        <p:spPr/>
        <p:txBody>
          <a:bodyPr/>
          <a:lstStyle/>
          <a:p>
            <a:r>
              <a:rPr lang="en-US"/>
              <a:t>Disassembling Jump Destinations</a:t>
            </a:r>
          </a:p>
        </p:txBody>
      </p:sp>
      <p:sp>
        <p:nvSpPr>
          <p:cNvPr id="389123" name="Rectangle 2051"/>
          <p:cNvSpPr>
            <a:spLocks noGrp="1" noChangeArrowheads="1"/>
          </p:cNvSpPr>
          <p:nvPr>
            <p:ph type="body" idx="1"/>
          </p:nvPr>
        </p:nvSpPr>
        <p:spPr>
          <a:xfrm>
            <a:off x="533400" y="838200"/>
            <a:ext cx="8382000" cy="2082621"/>
          </a:xfrm>
        </p:spPr>
        <p:txBody>
          <a:bodyPr/>
          <a:lstStyle/>
          <a:p>
            <a:pPr>
              <a:spcBef>
                <a:spcPts val="0"/>
              </a:spcBef>
            </a:pPr>
            <a:r>
              <a:rPr lang="en-US" dirty="0"/>
              <a:t>The </a:t>
            </a:r>
            <a:r>
              <a:rPr lang="en-US" dirty="0" smtClean="0"/>
              <a:t>low-order </a:t>
            </a:r>
            <a:r>
              <a:rPr lang="en-US" dirty="0"/>
              <a:t>26 bits of the jump </a:t>
            </a:r>
            <a:r>
              <a:rPr lang="en-US" dirty="0" smtClean="0"/>
              <a:t>instruction is converted </a:t>
            </a:r>
            <a:r>
              <a:rPr lang="en-US" dirty="0"/>
              <a:t>into a </a:t>
            </a:r>
            <a:r>
              <a:rPr lang="en-US" dirty="0" smtClean="0"/>
              <a:t>32-bit </a:t>
            </a:r>
            <a:r>
              <a:rPr lang="en-US" dirty="0"/>
              <a:t>jump destination address by</a:t>
            </a:r>
          </a:p>
          <a:p>
            <a:pPr lvl="1">
              <a:spcBef>
                <a:spcPts val="0"/>
              </a:spcBef>
            </a:pPr>
            <a:r>
              <a:rPr lang="en-US" dirty="0"/>
              <a:t>concatenating two low-order zeros to create an 28 bit (word) address and then concatenating the upper 4 bits of the current PC (now PC+4) to create a 32 bit (word) address</a:t>
            </a:r>
          </a:p>
          <a:p>
            <a:pPr>
              <a:spcBef>
                <a:spcPts val="0"/>
              </a:spcBef>
              <a:buFont typeface="Wingdings" pitchFamily="2" charset="2"/>
              <a:buNone/>
            </a:pPr>
            <a:r>
              <a:rPr lang="en-US" dirty="0"/>
              <a:t>   that is put into the PC prior to the next </a:t>
            </a:r>
            <a:r>
              <a:rPr lang="en-US" dirty="0">
                <a:solidFill>
                  <a:srgbClr val="FF0000"/>
                </a:solidFill>
              </a:rPr>
              <a:t>Fetch</a:t>
            </a:r>
            <a:r>
              <a:rPr lang="en-US" dirty="0"/>
              <a:t> cycle</a:t>
            </a:r>
          </a:p>
        </p:txBody>
      </p:sp>
      <p:sp>
        <p:nvSpPr>
          <p:cNvPr id="389124" name="Rectangle 2052"/>
          <p:cNvSpPr>
            <a:spLocks noChangeArrowheads="1"/>
          </p:cNvSpPr>
          <p:nvPr/>
        </p:nvSpPr>
        <p:spPr bwMode="auto">
          <a:xfrm>
            <a:off x="2133600" y="5634038"/>
            <a:ext cx="2286000" cy="228600"/>
          </a:xfrm>
          <a:prstGeom prst="rect">
            <a:avLst/>
          </a:prstGeom>
          <a:noFill/>
          <a:ln w="12700">
            <a:solidFill>
              <a:schemeClr val="tx1"/>
            </a:solidFill>
            <a:miter lim="800000"/>
            <a:headEnd/>
            <a:tailEnd/>
          </a:ln>
          <a:effectLst/>
        </p:spPr>
        <p:txBody>
          <a:bodyPr wrap="none" anchor="ctr"/>
          <a:lstStyle/>
          <a:p>
            <a:endParaRPr lang="en-US"/>
          </a:p>
        </p:txBody>
      </p:sp>
      <p:sp>
        <p:nvSpPr>
          <p:cNvPr id="389125" name="Rectangle 2053"/>
          <p:cNvSpPr>
            <a:spLocks noChangeArrowheads="1"/>
          </p:cNvSpPr>
          <p:nvPr/>
        </p:nvSpPr>
        <p:spPr bwMode="auto">
          <a:xfrm>
            <a:off x="3048000" y="5634038"/>
            <a:ext cx="407988" cy="295275"/>
          </a:xfrm>
          <a:prstGeom prst="rect">
            <a:avLst/>
          </a:prstGeom>
          <a:noFill/>
          <a:ln w="12700">
            <a:noFill/>
            <a:miter lim="800000"/>
            <a:headEnd/>
            <a:tailEnd/>
          </a:ln>
          <a:effectLst/>
        </p:spPr>
        <p:txBody>
          <a:bodyPr wrap="none" lIns="63500" tIns="25400" rIns="63500" bIns="25400">
            <a:spAutoFit/>
          </a:bodyPr>
          <a:lstStyle/>
          <a:p>
            <a:r>
              <a:rPr lang="en-US" sz="1600">
                <a:solidFill>
                  <a:schemeClr val="tx1"/>
                </a:solidFill>
              </a:rPr>
              <a:t>PC</a:t>
            </a:r>
          </a:p>
        </p:txBody>
      </p:sp>
      <p:sp>
        <p:nvSpPr>
          <p:cNvPr id="389138" name="Line 2066"/>
          <p:cNvSpPr>
            <a:spLocks noChangeShapeType="1"/>
          </p:cNvSpPr>
          <p:nvPr/>
        </p:nvSpPr>
        <p:spPr bwMode="auto">
          <a:xfrm flipV="1">
            <a:off x="4419600" y="5710238"/>
            <a:ext cx="457200" cy="0"/>
          </a:xfrm>
          <a:prstGeom prst="line">
            <a:avLst/>
          </a:prstGeom>
          <a:noFill/>
          <a:ln w="12700">
            <a:solidFill>
              <a:schemeClr val="tx1"/>
            </a:solidFill>
            <a:round/>
            <a:headEnd/>
            <a:tailEnd type="triangle" w="med" len="med"/>
          </a:ln>
          <a:effectLst/>
        </p:spPr>
        <p:txBody>
          <a:bodyPr/>
          <a:lstStyle/>
          <a:p>
            <a:endParaRPr lang="en-US"/>
          </a:p>
        </p:txBody>
      </p:sp>
      <p:sp>
        <p:nvSpPr>
          <p:cNvPr id="389139" name="Line 2067"/>
          <p:cNvSpPr>
            <a:spLocks noChangeShapeType="1"/>
          </p:cNvSpPr>
          <p:nvPr/>
        </p:nvSpPr>
        <p:spPr bwMode="auto">
          <a:xfrm flipH="1">
            <a:off x="1905000" y="5634038"/>
            <a:ext cx="152400" cy="152400"/>
          </a:xfrm>
          <a:prstGeom prst="line">
            <a:avLst/>
          </a:prstGeom>
          <a:noFill/>
          <a:ln w="28575">
            <a:solidFill>
              <a:schemeClr val="accent1"/>
            </a:solidFill>
            <a:round/>
            <a:headEnd/>
            <a:tailEnd/>
          </a:ln>
          <a:effectLst/>
        </p:spPr>
        <p:txBody>
          <a:bodyPr/>
          <a:lstStyle/>
          <a:p>
            <a:endParaRPr lang="en-US"/>
          </a:p>
        </p:txBody>
      </p:sp>
      <p:sp>
        <p:nvSpPr>
          <p:cNvPr id="389140" name="Line 2068"/>
          <p:cNvSpPr>
            <a:spLocks noChangeShapeType="1"/>
          </p:cNvSpPr>
          <p:nvPr/>
        </p:nvSpPr>
        <p:spPr bwMode="auto">
          <a:xfrm flipH="1">
            <a:off x="4419600" y="5634038"/>
            <a:ext cx="152400" cy="152400"/>
          </a:xfrm>
          <a:prstGeom prst="line">
            <a:avLst/>
          </a:prstGeom>
          <a:noFill/>
          <a:ln w="28575">
            <a:solidFill>
              <a:schemeClr val="accent1"/>
            </a:solidFill>
            <a:round/>
            <a:headEnd/>
            <a:tailEnd/>
          </a:ln>
          <a:effectLst/>
        </p:spPr>
        <p:txBody>
          <a:bodyPr/>
          <a:lstStyle/>
          <a:p>
            <a:endParaRPr lang="en-US"/>
          </a:p>
        </p:txBody>
      </p:sp>
      <p:sp>
        <p:nvSpPr>
          <p:cNvPr id="389144" name="Rectangle 2072"/>
          <p:cNvSpPr>
            <a:spLocks noChangeArrowheads="1"/>
          </p:cNvSpPr>
          <p:nvPr/>
        </p:nvSpPr>
        <p:spPr bwMode="auto">
          <a:xfrm>
            <a:off x="1828800" y="5751513"/>
            <a:ext cx="225425" cy="263525"/>
          </a:xfrm>
          <a:prstGeom prst="rect">
            <a:avLst/>
          </a:prstGeom>
          <a:noFill/>
          <a:ln w="12700">
            <a:noFill/>
            <a:miter lim="800000"/>
            <a:headEnd/>
            <a:tailEnd/>
          </a:ln>
          <a:effectLst/>
        </p:spPr>
        <p:txBody>
          <a:bodyPr wrap="none" lIns="63500" tIns="25400" rIns="63500" bIns="25400">
            <a:spAutoFit/>
          </a:bodyPr>
          <a:lstStyle/>
          <a:p>
            <a:r>
              <a:rPr lang="en-US" sz="1400"/>
              <a:t>4</a:t>
            </a:r>
          </a:p>
        </p:txBody>
      </p:sp>
      <p:sp>
        <p:nvSpPr>
          <p:cNvPr id="389145" name="Rectangle 2073"/>
          <p:cNvSpPr>
            <a:spLocks noChangeArrowheads="1"/>
          </p:cNvSpPr>
          <p:nvPr/>
        </p:nvSpPr>
        <p:spPr bwMode="auto">
          <a:xfrm>
            <a:off x="4419600" y="5710238"/>
            <a:ext cx="323850" cy="263525"/>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9149" name="Rectangle 2077"/>
          <p:cNvSpPr>
            <a:spLocks noChangeArrowheads="1"/>
          </p:cNvSpPr>
          <p:nvPr/>
        </p:nvSpPr>
        <p:spPr bwMode="auto">
          <a:xfrm>
            <a:off x="2438400" y="4110038"/>
            <a:ext cx="1752600" cy="228600"/>
          </a:xfrm>
          <a:prstGeom prst="rect">
            <a:avLst/>
          </a:prstGeom>
          <a:noFill/>
          <a:ln w="12700">
            <a:solidFill>
              <a:schemeClr val="tx1"/>
            </a:solidFill>
            <a:miter lim="800000"/>
            <a:headEnd/>
            <a:tailEnd/>
          </a:ln>
          <a:effectLst/>
        </p:spPr>
        <p:txBody>
          <a:bodyPr wrap="none" anchor="ctr"/>
          <a:lstStyle/>
          <a:p>
            <a:endParaRPr lang="en-US"/>
          </a:p>
        </p:txBody>
      </p:sp>
      <p:sp>
        <p:nvSpPr>
          <p:cNvPr id="389151" name="Line 2079"/>
          <p:cNvSpPr>
            <a:spLocks noChangeShapeType="1"/>
          </p:cNvSpPr>
          <p:nvPr/>
        </p:nvSpPr>
        <p:spPr bwMode="auto">
          <a:xfrm flipH="1">
            <a:off x="3200400" y="3881438"/>
            <a:ext cx="152400" cy="152400"/>
          </a:xfrm>
          <a:prstGeom prst="line">
            <a:avLst/>
          </a:prstGeom>
          <a:noFill/>
          <a:ln w="28575">
            <a:solidFill>
              <a:schemeClr val="accent1"/>
            </a:solidFill>
            <a:round/>
            <a:headEnd/>
            <a:tailEnd/>
          </a:ln>
          <a:effectLst/>
        </p:spPr>
        <p:txBody>
          <a:bodyPr/>
          <a:lstStyle/>
          <a:p>
            <a:endParaRPr lang="en-US"/>
          </a:p>
        </p:txBody>
      </p:sp>
      <p:sp>
        <p:nvSpPr>
          <p:cNvPr id="389152" name="Line 2080"/>
          <p:cNvSpPr>
            <a:spLocks noChangeShapeType="1"/>
          </p:cNvSpPr>
          <p:nvPr/>
        </p:nvSpPr>
        <p:spPr bwMode="auto">
          <a:xfrm flipH="1">
            <a:off x="3733800" y="5176838"/>
            <a:ext cx="152400" cy="152400"/>
          </a:xfrm>
          <a:prstGeom prst="line">
            <a:avLst/>
          </a:prstGeom>
          <a:noFill/>
          <a:ln w="28575">
            <a:solidFill>
              <a:schemeClr val="accent1"/>
            </a:solidFill>
            <a:round/>
            <a:headEnd/>
            <a:tailEnd/>
          </a:ln>
          <a:effectLst/>
        </p:spPr>
        <p:txBody>
          <a:bodyPr/>
          <a:lstStyle/>
          <a:p>
            <a:endParaRPr lang="en-US"/>
          </a:p>
        </p:txBody>
      </p:sp>
      <p:sp>
        <p:nvSpPr>
          <p:cNvPr id="389153" name="Rectangle 2081"/>
          <p:cNvSpPr>
            <a:spLocks noChangeArrowheads="1"/>
          </p:cNvSpPr>
          <p:nvPr/>
        </p:nvSpPr>
        <p:spPr bwMode="auto">
          <a:xfrm>
            <a:off x="3276600" y="3805238"/>
            <a:ext cx="323850" cy="263525"/>
          </a:xfrm>
          <a:prstGeom prst="rect">
            <a:avLst/>
          </a:prstGeom>
          <a:noFill/>
          <a:ln w="12700">
            <a:noFill/>
            <a:miter lim="800000"/>
            <a:headEnd/>
            <a:tailEnd/>
          </a:ln>
          <a:effectLst/>
        </p:spPr>
        <p:txBody>
          <a:bodyPr wrap="none" lIns="63500" tIns="25400" rIns="63500" bIns="25400">
            <a:spAutoFit/>
          </a:bodyPr>
          <a:lstStyle/>
          <a:p>
            <a:r>
              <a:rPr lang="en-US" sz="1400"/>
              <a:t>26</a:t>
            </a:r>
          </a:p>
        </p:txBody>
      </p:sp>
      <p:sp>
        <p:nvSpPr>
          <p:cNvPr id="389154" name="Rectangle 2082"/>
          <p:cNvSpPr>
            <a:spLocks noChangeArrowheads="1"/>
          </p:cNvSpPr>
          <p:nvPr/>
        </p:nvSpPr>
        <p:spPr bwMode="auto">
          <a:xfrm>
            <a:off x="3733800" y="5253038"/>
            <a:ext cx="323850" cy="263525"/>
          </a:xfrm>
          <a:prstGeom prst="rect">
            <a:avLst/>
          </a:prstGeom>
          <a:noFill/>
          <a:ln w="12700">
            <a:noFill/>
            <a:miter lim="800000"/>
            <a:headEnd/>
            <a:tailEnd/>
          </a:ln>
          <a:effectLst/>
        </p:spPr>
        <p:txBody>
          <a:bodyPr wrap="none" lIns="63500" tIns="25400" rIns="63500" bIns="25400">
            <a:spAutoFit/>
          </a:bodyPr>
          <a:lstStyle/>
          <a:p>
            <a:r>
              <a:rPr lang="en-US" sz="1400"/>
              <a:t>32</a:t>
            </a:r>
          </a:p>
        </p:txBody>
      </p:sp>
      <p:sp>
        <p:nvSpPr>
          <p:cNvPr id="389155" name="Line 2083"/>
          <p:cNvSpPr>
            <a:spLocks noChangeShapeType="1"/>
          </p:cNvSpPr>
          <p:nvPr/>
        </p:nvSpPr>
        <p:spPr bwMode="auto">
          <a:xfrm>
            <a:off x="3276600" y="3805238"/>
            <a:ext cx="0" cy="304800"/>
          </a:xfrm>
          <a:prstGeom prst="line">
            <a:avLst/>
          </a:prstGeom>
          <a:noFill/>
          <a:ln w="12700">
            <a:solidFill>
              <a:schemeClr val="tx1"/>
            </a:solidFill>
            <a:round/>
            <a:headEnd/>
            <a:tailEnd type="triangle" w="med" len="med"/>
          </a:ln>
          <a:effectLst/>
        </p:spPr>
        <p:txBody>
          <a:bodyPr/>
          <a:lstStyle/>
          <a:p>
            <a:endParaRPr lang="en-US"/>
          </a:p>
        </p:txBody>
      </p:sp>
      <p:sp>
        <p:nvSpPr>
          <p:cNvPr id="389157" name="Rectangle 2085"/>
          <p:cNvSpPr>
            <a:spLocks noChangeArrowheads="1"/>
          </p:cNvSpPr>
          <p:nvPr/>
        </p:nvSpPr>
        <p:spPr bwMode="auto">
          <a:xfrm>
            <a:off x="4171950" y="4719638"/>
            <a:ext cx="323850" cy="263525"/>
          </a:xfrm>
          <a:prstGeom prst="rect">
            <a:avLst/>
          </a:prstGeom>
          <a:noFill/>
          <a:ln w="12700">
            <a:noFill/>
            <a:miter lim="800000"/>
            <a:headEnd/>
            <a:tailEnd/>
          </a:ln>
          <a:effectLst/>
        </p:spPr>
        <p:txBody>
          <a:bodyPr wrap="none" lIns="63500" tIns="25400" rIns="63500" bIns="25400">
            <a:spAutoFit/>
          </a:bodyPr>
          <a:lstStyle/>
          <a:p>
            <a:r>
              <a:rPr lang="en-US" sz="1400">
                <a:solidFill>
                  <a:schemeClr val="tx1"/>
                </a:solidFill>
              </a:rPr>
              <a:t>00</a:t>
            </a:r>
          </a:p>
        </p:txBody>
      </p:sp>
      <p:sp>
        <p:nvSpPr>
          <p:cNvPr id="389158" name="Rectangle 2086"/>
          <p:cNvSpPr>
            <a:spLocks noChangeArrowheads="1"/>
          </p:cNvSpPr>
          <p:nvPr/>
        </p:nvSpPr>
        <p:spPr bwMode="auto">
          <a:xfrm>
            <a:off x="4191000" y="4719638"/>
            <a:ext cx="228600" cy="228600"/>
          </a:xfrm>
          <a:prstGeom prst="rect">
            <a:avLst/>
          </a:prstGeom>
          <a:noFill/>
          <a:ln w="12700">
            <a:solidFill>
              <a:schemeClr val="tx1"/>
            </a:solidFill>
            <a:miter lim="800000"/>
            <a:headEnd/>
            <a:tailEnd/>
          </a:ln>
          <a:effectLst/>
        </p:spPr>
        <p:txBody>
          <a:bodyPr wrap="none" anchor="ctr"/>
          <a:lstStyle/>
          <a:p>
            <a:endParaRPr lang="en-US"/>
          </a:p>
        </p:txBody>
      </p:sp>
      <p:sp>
        <p:nvSpPr>
          <p:cNvPr id="389159" name="Line 2087"/>
          <p:cNvSpPr>
            <a:spLocks noChangeShapeType="1"/>
          </p:cNvSpPr>
          <p:nvPr/>
        </p:nvSpPr>
        <p:spPr bwMode="auto">
          <a:xfrm>
            <a:off x="2438400" y="4719638"/>
            <a:ext cx="0" cy="228600"/>
          </a:xfrm>
          <a:prstGeom prst="line">
            <a:avLst/>
          </a:prstGeom>
          <a:noFill/>
          <a:ln w="12700">
            <a:solidFill>
              <a:schemeClr val="tx1"/>
            </a:solidFill>
            <a:round/>
            <a:headEnd/>
            <a:tailEnd/>
          </a:ln>
          <a:effectLst/>
        </p:spPr>
        <p:txBody>
          <a:bodyPr/>
          <a:lstStyle/>
          <a:p>
            <a:endParaRPr lang="en-US"/>
          </a:p>
        </p:txBody>
      </p:sp>
      <p:sp>
        <p:nvSpPr>
          <p:cNvPr id="389160" name="Rectangle 2088"/>
          <p:cNvSpPr>
            <a:spLocks noChangeArrowheads="1"/>
          </p:cNvSpPr>
          <p:nvPr/>
        </p:nvSpPr>
        <p:spPr bwMode="auto">
          <a:xfrm>
            <a:off x="2133600" y="4719638"/>
            <a:ext cx="2057400" cy="228600"/>
          </a:xfrm>
          <a:prstGeom prst="rect">
            <a:avLst/>
          </a:prstGeom>
          <a:noFill/>
          <a:ln w="12700">
            <a:solidFill>
              <a:schemeClr val="tx1"/>
            </a:solidFill>
            <a:miter lim="800000"/>
            <a:headEnd/>
            <a:tailEnd/>
          </a:ln>
          <a:effectLst/>
        </p:spPr>
        <p:txBody>
          <a:bodyPr wrap="none" anchor="ctr"/>
          <a:lstStyle/>
          <a:p>
            <a:endParaRPr lang="en-US"/>
          </a:p>
        </p:txBody>
      </p:sp>
      <p:sp>
        <p:nvSpPr>
          <p:cNvPr id="389161" name="Line 2089"/>
          <p:cNvSpPr>
            <a:spLocks noChangeShapeType="1"/>
          </p:cNvSpPr>
          <p:nvPr/>
        </p:nvSpPr>
        <p:spPr bwMode="auto">
          <a:xfrm>
            <a:off x="3276600" y="4338638"/>
            <a:ext cx="0" cy="381000"/>
          </a:xfrm>
          <a:prstGeom prst="line">
            <a:avLst/>
          </a:prstGeom>
          <a:noFill/>
          <a:ln w="12700">
            <a:solidFill>
              <a:schemeClr val="tx1"/>
            </a:solidFill>
            <a:round/>
            <a:headEnd/>
            <a:tailEnd type="triangle" w="med" len="med"/>
          </a:ln>
          <a:effectLst/>
        </p:spPr>
        <p:txBody>
          <a:bodyPr/>
          <a:lstStyle/>
          <a:p>
            <a:endParaRPr lang="en-US"/>
          </a:p>
        </p:txBody>
      </p:sp>
      <p:sp>
        <p:nvSpPr>
          <p:cNvPr id="389162" name="Oval 2090"/>
          <p:cNvSpPr>
            <a:spLocks noChangeArrowheads="1"/>
          </p:cNvSpPr>
          <p:nvPr/>
        </p:nvSpPr>
        <p:spPr bwMode="auto">
          <a:xfrm>
            <a:off x="2209800" y="5710238"/>
            <a:ext cx="76200" cy="76200"/>
          </a:xfrm>
          <a:prstGeom prst="ellipse">
            <a:avLst/>
          </a:prstGeom>
          <a:noFill/>
          <a:ln w="12700">
            <a:noFill/>
            <a:round/>
            <a:headEnd/>
            <a:tailEnd/>
          </a:ln>
          <a:effectLst/>
        </p:spPr>
        <p:txBody>
          <a:bodyPr wrap="none" anchor="ctr"/>
          <a:lstStyle/>
          <a:p>
            <a:endParaRPr lang="en-US"/>
          </a:p>
        </p:txBody>
      </p:sp>
      <p:cxnSp>
        <p:nvCxnSpPr>
          <p:cNvPr id="389163" name="AutoShape 2091"/>
          <p:cNvCxnSpPr>
            <a:cxnSpLocks noChangeShapeType="1"/>
            <a:stCxn id="389162" idx="5"/>
            <a:endCxn id="389174" idx="4"/>
          </p:cNvCxnSpPr>
          <p:nvPr/>
        </p:nvCxnSpPr>
        <p:spPr bwMode="auto">
          <a:xfrm rot="5400000" flipH="1" flipV="1">
            <a:off x="1828800" y="5318126"/>
            <a:ext cx="903288" cy="11112"/>
          </a:xfrm>
          <a:prstGeom prst="curvedConnector5">
            <a:avLst>
              <a:gd name="adj1" fmla="val -26537"/>
              <a:gd name="adj2" fmla="val -2642856"/>
              <a:gd name="adj3" fmla="val 53602"/>
            </a:avLst>
          </a:prstGeom>
          <a:noFill/>
          <a:ln w="12700">
            <a:solidFill>
              <a:schemeClr val="tx1"/>
            </a:solidFill>
            <a:round/>
            <a:headEnd/>
            <a:tailEnd type="triangle" w="med" len="med"/>
          </a:ln>
          <a:effectLst/>
        </p:spPr>
      </p:cxnSp>
      <p:sp>
        <p:nvSpPr>
          <p:cNvPr id="389165" name="Line 2093"/>
          <p:cNvSpPr>
            <a:spLocks noChangeShapeType="1"/>
          </p:cNvSpPr>
          <p:nvPr/>
        </p:nvSpPr>
        <p:spPr bwMode="auto">
          <a:xfrm>
            <a:off x="3200400" y="4948238"/>
            <a:ext cx="0" cy="304800"/>
          </a:xfrm>
          <a:prstGeom prst="line">
            <a:avLst/>
          </a:prstGeom>
          <a:noFill/>
          <a:ln w="12700">
            <a:solidFill>
              <a:schemeClr val="tx1"/>
            </a:solidFill>
            <a:round/>
            <a:headEnd/>
            <a:tailEnd/>
          </a:ln>
          <a:effectLst/>
        </p:spPr>
        <p:txBody>
          <a:bodyPr/>
          <a:lstStyle/>
          <a:p>
            <a:endParaRPr lang="en-US"/>
          </a:p>
        </p:txBody>
      </p:sp>
      <p:sp>
        <p:nvSpPr>
          <p:cNvPr id="389166" name="Line 2094"/>
          <p:cNvSpPr>
            <a:spLocks noChangeShapeType="1"/>
          </p:cNvSpPr>
          <p:nvPr/>
        </p:nvSpPr>
        <p:spPr bwMode="auto">
          <a:xfrm>
            <a:off x="3200400" y="5253038"/>
            <a:ext cx="1676400" cy="0"/>
          </a:xfrm>
          <a:prstGeom prst="line">
            <a:avLst/>
          </a:prstGeom>
          <a:noFill/>
          <a:ln w="12700">
            <a:solidFill>
              <a:schemeClr val="tx1"/>
            </a:solidFill>
            <a:round/>
            <a:headEnd/>
            <a:tailEnd type="triangle" w="med" len="med"/>
          </a:ln>
          <a:effectLst/>
        </p:spPr>
        <p:txBody>
          <a:bodyPr/>
          <a:lstStyle/>
          <a:p>
            <a:endParaRPr lang="en-US"/>
          </a:p>
        </p:txBody>
      </p:sp>
      <p:sp>
        <p:nvSpPr>
          <p:cNvPr id="389167" name="Line 2095"/>
          <p:cNvSpPr>
            <a:spLocks noChangeShapeType="1"/>
          </p:cNvSpPr>
          <p:nvPr/>
        </p:nvSpPr>
        <p:spPr bwMode="auto">
          <a:xfrm flipV="1">
            <a:off x="3200400" y="5862638"/>
            <a:ext cx="0" cy="381000"/>
          </a:xfrm>
          <a:prstGeom prst="line">
            <a:avLst/>
          </a:prstGeom>
          <a:noFill/>
          <a:ln w="12700">
            <a:solidFill>
              <a:schemeClr val="tx1"/>
            </a:solidFill>
            <a:round/>
            <a:headEnd/>
            <a:tailEnd type="triangle" w="med" len="med"/>
          </a:ln>
          <a:effectLst/>
        </p:spPr>
        <p:txBody>
          <a:bodyPr/>
          <a:lstStyle/>
          <a:p>
            <a:endParaRPr lang="en-US"/>
          </a:p>
        </p:txBody>
      </p:sp>
      <p:sp>
        <p:nvSpPr>
          <p:cNvPr id="389171" name="Rectangle 2099"/>
          <p:cNvSpPr>
            <a:spLocks noChangeArrowheads="1"/>
          </p:cNvSpPr>
          <p:nvPr/>
        </p:nvSpPr>
        <p:spPr bwMode="auto">
          <a:xfrm>
            <a:off x="1143000" y="3500438"/>
            <a:ext cx="5003800" cy="325438"/>
          </a:xfrm>
          <a:prstGeom prst="rect">
            <a:avLst/>
          </a:prstGeom>
          <a:noFill/>
          <a:ln w="12700">
            <a:noFill/>
            <a:miter lim="800000"/>
            <a:headEnd/>
            <a:tailEnd/>
          </a:ln>
          <a:effectLst/>
        </p:spPr>
        <p:txBody>
          <a:bodyPr wrap="none" lIns="63500" tIns="25400" rIns="63500" bIns="25400">
            <a:spAutoFit/>
          </a:bodyPr>
          <a:lstStyle/>
          <a:p>
            <a:r>
              <a:rPr lang="en-US">
                <a:solidFill>
                  <a:schemeClr val="tx1"/>
                </a:solidFill>
              </a:rPr>
              <a:t>from the low order 26 bits of the jump instruction</a:t>
            </a:r>
          </a:p>
        </p:txBody>
      </p:sp>
      <p:sp>
        <p:nvSpPr>
          <p:cNvPr id="389172" name="Line 2100"/>
          <p:cNvSpPr>
            <a:spLocks noChangeShapeType="1"/>
          </p:cNvSpPr>
          <p:nvPr/>
        </p:nvSpPr>
        <p:spPr bwMode="auto">
          <a:xfrm>
            <a:off x="4191000" y="4719638"/>
            <a:ext cx="0" cy="228600"/>
          </a:xfrm>
          <a:prstGeom prst="line">
            <a:avLst/>
          </a:prstGeom>
          <a:noFill/>
          <a:ln w="12700">
            <a:solidFill>
              <a:schemeClr val="tx1"/>
            </a:solidFill>
            <a:round/>
            <a:headEnd/>
            <a:tailEnd/>
          </a:ln>
          <a:effectLst/>
        </p:spPr>
        <p:txBody>
          <a:bodyPr/>
          <a:lstStyle/>
          <a:p>
            <a:endParaRPr lang="en-US"/>
          </a:p>
        </p:txBody>
      </p:sp>
      <p:sp>
        <p:nvSpPr>
          <p:cNvPr id="389174" name="Oval 2102"/>
          <p:cNvSpPr>
            <a:spLocks noChangeArrowheads="1"/>
          </p:cNvSpPr>
          <p:nvPr/>
        </p:nvSpPr>
        <p:spPr bwMode="auto">
          <a:xfrm>
            <a:off x="2209800" y="4795838"/>
            <a:ext cx="152400" cy="76200"/>
          </a:xfrm>
          <a:prstGeom prst="ellipse">
            <a:avLst/>
          </a:prstGeom>
          <a:noFill/>
          <a:ln w="12700">
            <a:noFill/>
            <a:round/>
            <a:headEnd/>
            <a:tailEnd/>
          </a:ln>
          <a:effectLst/>
        </p:spPr>
        <p:txBody>
          <a:bodyPr wrap="none" anchor="ctr"/>
          <a:lstStyle/>
          <a:p>
            <a:endParaRPr lang="en-US"/>
          </a:p>
        </p:txBody>
      </p:sp>
      <p:sp>
        <p:nvSpPr>
          <p:cNvPr id="389175" name="Line 2103"/>
          <p:cNvSpPr>
            <a:spLocks noChangeShapeType="1"/>
          </p:cNvSpPr>
          <p:nvPr/>
        </p:nvSpPr>
        <p:spPr bwMode="auto">
          <a:xfrm>
            <a:off x="6096000" y="5253038"/>
            <a:ext cx="0" cy="990600"/>
          </a:xfrm>
          <a:prstGeom prst="line">
            <a:avLst/>
          </a:prstGeom>
          <a:noFill/>
          <a:ln w="12700">
            <a:solidFill>
              <a:schemeClr val="tx1"/>
            </a:solidFill>
            <a:round/>
            <a:headEnd/>
            <a:tailEnd/>
          </a:ln>
          <a:effectLst/>
        </p:spPr>
        <p:txBody>
          <a:bodyPr/>
          <a:lstStyle/>
          <a:p>
            <a:endParaRPr lang="en-US"/>
          </a:p>
        </p:txBody>
      </p:sp>
      <p:sp>
        <p:nvSpPr>
          <p:cNvPr id="389177" name="Line 2105"/>
          <p:cNvSpPr>
            <a:spLocks noChangeShapeType="1"/>
          </p:cNvSpPr>
          <p:nvPr/>
        </p:nvSpPr>
        <p:spPr bwMode="auto">
          <a:xfrm>
            <a:off x="3200400" y="6243638"/>
            <a:ext cx="2895600" cy="0"/>
          </a:xfrm>
          <a:prstGeom prst="line">
            <a:avLst/>
          </a:prstGeom>
          <a:noFill/>
          <a:ln w="12700">
            <a:solidFill>
              <a:schemeClr val="tx1"/>
            </a:solidFill>
            <a:round/>
            <a:headEnd/>
            <a:tailEnd/>
          </a:ln>
          <a:effectLst/>
        </p:spPr>
        <p:txBody>
          <a:bodyPr/>
          <a:lstStyle/>
          <a:p>
            <a:endParaRPr lang="en-US"/>
          </a:p>
        </p:txBody>
      </p:sp>
      <p:sp>
        <p:nvSpPr>
          <p:cNvPr id="389178" name="Line 2106"/>
          <p:cNvSpPr>
            <a:spLocks noChangeShapeType="1"/>
          </p:cNvSpPr>
          <p:nvPr/>
        </p:nvSpPr>
        <p:spPr bwMode="auto">
          <a:xfrm>
            <a:off x="4876800" y="5253038"/>
            <a:ext cx="1219200" cy="0"/>
          </a:xfrm>
          <a:prstGeom prst="line">
            <a:avLst/>
          </a:prstGeom>
          <a:noFill/>
          <a:ln w="12700">
            <a:solidFill>
              <a:schemeClr val="tx1"/>
            </a:solidFill>
            <a:round/>
            <a:headEnd/>
            <a:tailEnd/>
          </a:ln>
          <a:effectLst/>
        </p:spPr>
        <p:txBody>
          <a:bodyPr/>
          <a:lstStyle/>
          <a:p>
            <a:endParaRPr lang="en-US"/>
          </a:p>
        </p:txBody>
      </p:sp>
      <p:sp>
        <p:nvSpPr>
          <p:cNvPr id="389179" name="Line 2107"/>
          <p:cNvSpPr>
            <a:spLocks noChangeShapeType="1"/>
          </p:cNvSpPr>
          <p:nvPr/>
        </p:nvSpPr>
        <p:spPr bwMode="auto">
          <a:xfrm>
            <a:off x="2438400" y="5634038"/>
            <a:ext cx="0" cy="228600"/>
          </a:xfrm>
          <a:prstGeom prst="line">
            <a:avLst/>
          </a:prstGeom>
          <a:noFill/>
          <a:ln w="12700">
            <a:solidFill>
              <a:schemeClr val="tx1"/>
            </a:solidFill>
            <a:round/>
            <a:headEnd/>
            <a:tailEnd/>
          </a:ln>
          <a:effectLst/>
        </p:spPr>
        <p:txBody>
          <a:bodyPr/>
          <a:lstStyle/>
          <a:p>
            <a:endParaRPr lang="en-US"/>
          </a:p>
        </p:txBody>
      </p:sp>
      <p:grpSp>
        <p:nvGrpSpPr>
          <p:cNvPr id="2" name="Group 2119"/>
          <p:cNvGrpSpPr>
            <a:grpSpLocks/>
          </p:cNvGrpSpPr>
          <p:nvPr/>
        </p:nvGrpSpPr>
        <p:grpSpPr bwMode="auto">
          <a:xfrm>
            <a:off x="6629400" y="3357562"/>
            <a:ext cx="1938338" cy="992188"/>
            <a:chOff x="432" y="2736"/>
            <a:chExt cx="1221" cy="625"/>
          </a:xfrm>
        </p:grpSpPr>
        <p:sp>
          <p:nvSpPr>
            <p:cNvPr id="389192" name="Oval 2120"/>
            <p:cNvSpPr>
              <a:spLocks noChangeArrowheads="1"/>
            </p:cNvSpPr>
            <p:nvPr/>
          </p:nvSpPr>
          <p:spPr bwMode="auto">
            <a:xfrm>
              <a:off x="672" y="2736"/>
              <a:ext cx="624" cy="288"/>
            </a:xfrm>
            <a:prstGeom prst="ellipse">
              <a:avLst/>
            </a:prstGeom>
            <a:noFill/>
            <a:ln w="12700">
              <a:solidFill>
                <a:schemeClr val="tx1"/>
              </a:solidFill>
              <a:round/>
              <a:headEnd/>
              <a:tailEnd/>
            </a:ln>
            <a:effectLst/>
          </p:spPr>
          <p:txBody>
            <a:bodyPr wrap="none" anchor="ctr"/>
            <a:lstStyle/>
            <a:p>
              <a:endParaRPr lang="en-US"/>
            </a:p>
          </p:txBody>
        </p:sp>
        <p:sp>
          <p:nvSpPr>
            <p:cNvPr id="389193" name="Text Box 2121"/>
            <p:cNvSpPr txBox="1">
              <a:spLocks noChangeArrowheads="1"/>
            </p:cNvSpPr>
            <p:nvPr/>
          </p:nvSpPr>
          <p:spPr bwMode="auto">
            <a:xfrm>
              <a:off x="624" y="2736"/>
              <a:ext cx="720" cy="326"/>
            </a:xfrm>
            <a:prstGeom prst="rect">
              <a:avLst/>
            </a:prstGeom>
            <a:noFill/>
            <a:ln w="12700">
              <a:noFill/>
              <a:miter lim="800000"/>
              <a:headEnd/>
              <a:tailEnd/>
            </a:ln>
            <a:effectLst/>
          </p:spPr>
          <p:txBody>
            <a:bodyPr>
              <a:spAutoFit/>
            </a:bodyPr>
            <a:lstStyle/>
            <a:p>
              <a:pPr algn="ctr"/>
              <a:r>
                <a:rPr lang="en-US" sz="1400"/>
                <a:t>Fetch</a:t>
              </a:r>
            </a:p>
            <a:p>
              <a:pPr algn="ctr"/>
              <a:r>
                <a:rPr lang="en-US" sz="1400"/>
                <a:t>PC = PC+4</a:t>
              </a:r>
            </a:p>
          </p:txBody>
        </p:sp>
        <p:sp>
          <p:nvSpPr>
            <p:cNvPr id="389194" name="Oval 2122"/>
            <p:cNvSpPr>
              <a:spLocks noChangeArrowheads="1"/>
            </p:cNvSpPr>
            <p:nvPr/>
          </p:nvSpPr>
          <p:spPr bwMode="auto">
            <a:xfrm>
              <a:off x="1196" y="3148"/>
              <a:ext cx="364" cy="212"/>
            </a:xfrm>
            <a:prstGeom prst="ellipse">
              <a:avLst/>
            </a:prstGeom>
            <a:noFill/>
            <a:ln w="12700">
              <a:solidFill>
                <a:schemeClr val="tx1"/>
              </a:solidFill>
              <a:round/>
              <a:headEnd/>
              <a:tailEnd/>
            </a:ln>
            <a:effectLst/>
          </p:spPr>
          <p:txBody>
            <a:bodyPr wrap="none" anchor="ctr"/>
            <a:lstStyle/>
            <a:p>
              <a:endParaRPr lang="en-US"/>
            </a:p>
          </p:txBody>
        </p:sp>
        <p:sp>
          <p:nvSpPr>
            <p:cNvPr id="389195" name="Text Box 2123"/>
            <p:cNvSpPr txBox="1">
              <a:spLocks noChangeArrowheads="1"/>
            </p:cNvSpPr>
            <p:nvPr/>
          </p:nvSpPr>
          <p:spPr bwMode="auto">
            <a:xfrm>
              <a:off x="1152" y="3168"/>
              <a:ext cx="501" cy="192"/>
            </a:xfrm>
            <a:prstGeom prst="rect">
              <a:avLst/>
            </a:prstGeom>
            <a:noFill/>
            <a:ln w="12700">
              <a:noFill/>
              <a:miter lim="800000"/>
              <a:headEnd/>
              <a:tailEnd/>
            </a:ln>
            <a:effectLst/>
          </p:spPr>
          <p:txBody>
            <a:bodyPr wrap="none">
              <a:spAutoFit/>
            </a:bodyPr>
            <a:lstStyle/>
            <a:p>
              <a:r>
                <a:rPr lang="en-US" sz="1400"/>
                <a:t>Decode</a:t>
              </a:r>
            </a:p>
          </p:txBody>
        </p:sp>
        <p:sp>
          <p:nvSpPr>
            <p:cNvPr id="389196" name="Oval 2124"/>
            <p:cNvSpPr>
              <a:spLocks noChangeArrowheads="1"/>
            </p:cNvSpPr>
            <p:nvPr/>
          </p:nvSpPr>
          <p:spPr bwMode="auto">
            <a:xfrm>
              <a:off x="480" y="3148"/>
              <a:ext cx="338" cy="212"/>
            </a:xfrm>
            <a:prstGeom prst="ellipse">
              <a:avLst/>
            </a:prstGeom>
            <a:noFill/>
            <a:ln w="12700">
              <a:solidFill>
                <a:schemeClr val="tx1"/>
              </a:solidFill>
              <a:round/>
              <a:headEnd/>
              <a:tailEnd/>
            </a:ln>
            <a:effectLst/>
          </p:spPr>
          <p:txBody>
            <a:bodyPr wrap="none" anchor="ctr"/>
            <a:lstStyle/>
            <a:p>
              <a:endParaRPr lang="en-US"/>
            </a:p>
          </p:txBody>
        </p:sp>
        <p:sp>
          <p:nvSpPr>
            <p:cNvPr id="389197" name="Text Box 2125"/>
            <p:cNvSpPr txBox="1">
              <a:spLocks noChangeArrowheads="1"/>
            </p:cNvSpPr>
            <p:nvPr/>
          </p:nvSpPr>
          <p:spPr bwMode="auto">
            <a:xfrm>
              <a:off x="432" y="3168"/>
              <a:ext cx="365" cy="192"/>
            </a:xfrm>
            <a:prstGeom prst="rect">
              <a:avLst/>
            </a:prstGeom>
            <a:noFill/>
            <a:ln w="12700">
              <a:noFill/>
              <a:miter lim="800000"/>
              <a:headEnd/>
              <a:tailEnd/>
            </a:ln>
            <a:effectLst/>
          </p:spPr>
          <p:txBody>
            <a:bodyPr wrap="none">
              <a:spAutoFit/>
            </a:bodyPr>
            <a:lstStyle/>
            <a:p>
              <a:r>
                <a:rPr lang="en-US" sz="1400"/>
                <a:t>Exec</a:t>
              </a:r>
            </a:p>
          </p:txBody>
        </p:sp>
        <p:cxnSp>
          <p:nvCxnSpPr>
            <p:cNvPr id="389198" name="AutoShape 2126"/>
            <p:cNvCxnSpPr>
              <a:cxnSpLocks noChangeShapeType="1"/>
              <a:stCxn id="389192" idx="6"/>
              <a:endCxn id="389194" idx="0"/>
            </p:cNvCxnSpPr>
            <p:nvPr/>
          </p:nvCxnSpPr>
          <p:spPr bwMode="auto">
            <a:xfrm>
              <a:off x="1296" y="2880"/>
              <a:ext cx="82" cy="268"/>
            </a:xfrm>
            <a:prstGeom prst="curvedConnector2">
              <a:avLst/>
            </a:prstGeom>
            <a:noFill/>
            <a:ln w="12700">
              <a:solidFill>
                <a:schemeClr val="tx1"/>
              </a:solidFill>
              <a:round/>
              <a:headEnd/>
              <a:tailEnd type="triangle" w="med" len="med"/>
            </a:ln>
            <a:effectLst/>
          </p:spPr>
        </p:cxnSp>
        <p:cxnSp>
          <p:nvCxnSpPr>
            <p:cNvPr id="389199" name="AutoShape 2127"/>
            <p:cNvCxnSpPr>
              <a:cxnSpLocks noChangeShapeType="1"/>
              <a:stCxn id="389194" idx="4"/>
              <a:endCxn id="389196" idx="4"/>
            </p:cNvCxnSpPr>
            <p:nvPr/>
          </p:nvCxnSpPr>
          <p:spPr bwMode="auto">
            <a:xfrm rot="5400000">
              <a:off x="1013" y="2996"/>
              <a:ext cx="1" cy="729"/>
            </a:xfrm>
            <a:prstGeom prst="curvedConnector3">
              <a:avLst>
                <a:gd name="adj1" fmla="val 14400000"/>
              </a:avLst>
            </a:prstGeom>
            <a:noFill/>
            <a:ln w="12700">
              <a:solidFill>
                <a:schemeClr val="tx1"/>
              </a:solidFill>
              <a:round/>
              <a:headEnd/>
              <a:tailEnd type="triangle" w="med" len="med"/>
            </a:ln>
            <a:effectLst/>
          </p:spPr>
        </p:cxnSp>
        <p:cxnSp>
          <p:nvCxnSpPr>
            <p:cNvPr id="389200" name="AutoShape 2128"/>
            <p:cNvCxnSpPr>
              <a:cxnSpLocks noChangeShapeType="1"/>
              <a:stCxn id="389196" idx="0"/>
              <a:endCxn id="389192" idx="2"/>
            </p:cNvCxnSpPr>
            <p:nvPr/>
          </p:nvCxnSpPr>
          <p:spPr bwMode="auto">
            <a:xfrm rot="16200000">
              <a:off x="527" y="3002"/>
              <a:ext cx="268" cy="23"/>
            </a:xfrm>
            <a:prstGeom prst="curvedConnector2">
              <a:avLst/>
            </a:prstGeom>
            <a:noFill/>
            <a:ln w="12700">
              <a:solidFill>
                <a:schemeClr val="tx1"/>
              </a:solidFill>
              <a:round/>
              <a:headEnd/>
              <a:tailEnd type="triangle" w="med" len="med"/>
            </a:ln>
            <a:effectLst/>
          </p:spPr>
        </p:cxnSp>
      </p:grpSp>
    </p:spTree>
    <p:extLst>
      <p:ext uri="{BB962C8B-B14F-4D97-AF65-F5344CB8AC3E}">
        <p14:creationId xmlns:p14="http://schemas.microsoft.com/office/powerpoint/2010/main" val="13638940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custDataLst>
              <p:tags r:id="rId1"/>
            </p:custDataLst>
          </p:nvPr>
        </p:nvSpPr>
        <p:spPr>
          <a:xfrm>
            <a:off x="533400" y="304800"/>
            <a:ext cx="4378325" cy="422275"/>
          </a:xfrm>
          <a:noFill/>
          <a:ln/>
        </p:spPr>
        <p:txBody>
          <a:bodyPr wrap="none"/>
          <a:lstStyle/>
          <a:p>
            <a:r>
              <a:rPr lang="en-US" altLang="zh-CN">
                <a:ea typeface="宋体" pitchFamily="2" charset="-122"/>
              </a:rPr>
              <a:t>Review:  MIPS R3000 ISA</a:t>
            </a:r>
          </a:p>
        </p:txBody>
      </p:sp>
      <p:sp>
        <p:nvSpPr>
          <p:cNvPr id="256003" name="Rectangle 3"/>
          <p:cNvSpPr>
            <a:spLocks noGrp="1" noChangeArrowheads="1"/>
          </p:cNvSpPr>
          <p:nvPr>
            <p:ph type="body" idx="1"/>
            <p:custDataLst>
              <p:tags r:id="rId2"/>
            </p:custDataLst>
          </p:nvPr>
        </p:nvSpPr>
        <p:spPr>
          <a:xfrm>
            <a:off x="762000" y="762000"/>
            <a:ext cx="6629400" cy="3698448"/>
          </a:xfrm>
          <a:noFill/>
          <a:ln/>
        </p:spPr>
        <p:txBody>
          <a:bodyPr/>
          <a:lstStyle/>
          <a:p>
            <a:pPr marL="342900" indent="-342900">
              <a:spcBef>
                <a:spcPts val="0"/>
              </a:spcBef>
            </a:pPr>
            <a:r>
              <a:rPr lang="en-US" altLang="zh-CN" dirty="0">
                <a:ea typeface="宋体" pitchFamily="2" charset="-122"/>
              </a:rPr>
              <a:t>Instruction Categories</a:t>
            </a:r>
          </a:p>
          <a:p>
            <a:pPr marL="800100" lvl="1" indent="-342900">
              <a:spcBef>
                <a:spcPts val="0"/>
              </a:spcBef>
            </a:pPr>
            <a:r>
              <a:rPr lang="en-US" altLang="zh-CN" dirty="0">
                <a:solidFill>
                  <a:schemeClr val="accent1"/>
                </a:solidFill>
                <a:ea typeface="宋体" pitchFamily="2" charset="-122"/>
              </a:rPr>
              <a:t>Load/Store</a:t>
            </a:r>
          </a:p>
          <a:p>
            <a:pPr marL="800100" lvl="1" indent="-342900">
              <a:spcBef>
                <a:spcPts val="0"/>
              </a:spcBef>
            </a:pPr>
            <a:r>
              <a:rPr lang="en-US" altLang="zh-CN" dirty="0">
                <a:solidFill>
                  <a:schemeClr val="accent1"/>
                </a:solidFill>
                <a:ea typeface="宋体" pitchFamily="2" charset="-122"/>
              </a:rPr>
              <a:t>Computational</a:t>
            </a:r>
          </a:p>
          <a:p>
            <a:pPr marL="800100" lvl="1" indent="-342900">
              <a:spcBef>
                <a:spcPts val="0"/>
              </a:spcBef>
            </a:pPr>
            <a:r>
              <a:rPr lang="en-US" altLang="zh-CN" dirty="0">
                <a:solidFill>
                  <a:schemeClr val="accent1"/>
                </a:solidFill>
                <a:ea typeface="宋体" pitchFamily="2" charset="-122"/>
              </a:rPr>
              <a:t>Jump and Branch</a:t>
            </a:r>
          </a:p>
          <a:p>
            <a:pPr marL="800100" lvl="1" indent="-342900">
              <a:spcBef>
                <a:spcPts val="0"/>
              </a:spcBef>
            </a:pPr>
            <a:r>
              <a:rPr lang="en-US" altLang="zh-CN" dirty="0">
                <a:ea typeface="宋体" pitchFamily="2" charset="-122"/>
              </a:rPr>
              <a:t>Floating Point</a:t>
            </a:r>
          </a:p>
          <a:p>
            <a:pPr lvl="2">
              <a:spcBef>
                <a:spcPts val="0"/>
              </a:spcBef>
            </a:pPr>
            <a:r>
              <a:rPr lang="en-US" altLang="zh-CN" dirty="0">
                <a:ea typeface="宋体" pitchFamily="2" charset="-122"/>
              </a:rPr>
              <a:t>coprocessor</a:t>
            </a:r>
          </a:p>
          <a:p>
            <a:pPr marL="800100" lvl="1" indent="-342900">
              <a:spcBef>
                <a:spcPts val="0"/>
              </a:spcBef>
            </a:pPr>
            <a:r>
              <a:rPr lang="en-US" altLang="zh-CN" dirty="0">
                <a:ea typeface="宋体" pitchFamily="2" charset="-122"/>
              </a:rPr>
              <a:t>Memory Management</a:t>
            </a:r>
          </a:p>
          <a:p>
            <a:pPr marL="800100" lvl="1" indent="-342900">
              <a:spcBef>
                <a:spcPts val="0"/>
              </a:spcBef>
            </a:pPr>
            <a:r>
              <a:rPr lang="en-US" altLang="zh-CN" dirty="0" smtClean="0">
                <a:ea typeface="宋体" pitchFamily="2" charset="-122"/>
              </a:rPr>
              <a:t>Special</a:t>
            </a:r>
          </a:p>
          <a:p>
            <a:pPr marL="1204912" lvl="2" indent="-342900">
              <a:spcBef>
                <a:spcPts val="0"/>
              </a:spcBef>
            </a:pPr>
            <a:endParaRPr lang="en-US" altLang="zh-CN" dirty="0" smtClean="0">
              <a:ea typeface="宋体" pitchFamily="2" charset="-122"/>
            </a:endParaRPr>
          </a:p>
          <a:p>
            <a:pPr marL="1204912" lvl="2" indent="-342900">
              <a:spcBef>
                <a:spcPts val="0"/>
              </a:spcBef>
            </a:pPr>
            <a:endParaRPr lang="en-US" altLang="zh-CN" dirty="0" smtClean="0">
              <a:ea typeface="宋体" pitchFamily="2" charset="-122"/>
            </a:endParaRPr>
          </a:p>
          <a:p>
            <a:pPr marL="1204912" lvl="2" indent="-342900">
              <a:spcBef>
                <a:spcPts val="0"/>
              </a:spcBef>
            </a:pPr>
            <a:endParaRPr lang="en-US" altLang="zh-CN" dirty="0" smtClean="0">
              <a:ea typeface="宋体" pitchFamily="2" charset="-122"/>
            </a:endParaRPr>
          </a:p>
          <a:p>
            <a:pPr marL="1204912" lvl="2" indent="-342900">
              <a:spcBef>
                <a:spcPts val="0"/>
              </a:spcBef>
            </a:pPr>
            <a:endParaRPr lang="en-US" altLang="zh-CN" dirty="0">
              <a:ea typeface="宋体" pitchFamily="2" charset="-122"/>
            </a:endParaRPr>
          </a:p>
          <a:p>
            <a:pPr marL="1204912" lvl="2" indent="-342900">
              <a:spcBef>
                <a:spcPts val="0"/>
              </a:spcBef>
            </a:pPr>
            <a:endParaRPr lang="en-US" altLang="zh-CN" dirty="0">
              <a:ea typeface="宋体" pitchFamily="2" charset="-122"/>
            </a:endParaRPr>
          </a:p>
          <a:p>
            <a:pPr marL="342900" indent="-342900">
              <a:spcBef>
                <a:spcPts val="0"/>
              </a:spcBef>
            </a:pPr>
            <a:r>
              <a:rPr lang="en-US" altLang="zh-CN" dirty="0">
                <a:ea typeface="宋体" pitchFamily="2" charset="-122"/>
              </a:rPr>
              <a:t>3 Instruction Formats:  all 32 bits wide</a:t>
            </a:r>
          </a:p>
        </p:txBody>
      </p:sp>
      <p:sp>
        <p:nvSpPr>
          <p:cNvPr id="256004" name="Rectangle 4"/>
          <p:cNvSpPr>
            <a:spLocks noChangeArrowheads="1"/>
          </p:cNvSpPr>
          <p:nvPr>
            <p:custDataLst>
              <p:tags r:id="rId3"/>
            </p:custDataLst>
          </p:nvPr>
        </p:nvSpPr>
        <p:spPr bwMode="auto">
          <a:xfrm>
            <a:off x="5518150" y="1301750"/>
            <a:ext cx="1993900" cy="1638300"/>
          </a:xfrm>
          <a:prstGeom prst="rect">
            <a:avLst/>
          </a:prstGeom>
          <a:noFill/>
          <a:ln w="12700">
            <a:solidFill>
              <a:schemeClr val="tx1"/>
            </a:solidFill>
            <a:miter lim="800000"/>
            <a:headEnd/>
            <a:tailEnd/>
          </a:ln>
          <a:effectLst/>
        </p:spPr>
        <p:txBody>
          <a:bodyPr wrap="none" anchor="ctr"/>
          <a:lstStyle/>
          <a:p>
            <a:endParaRPr lang="en-US"/>
          </a:p>
        </p:txBody>
      </p:sp>
      <p:sp>
        <p:nvSpPr>
          <p:cNvPr id="256005" name="Rectangle 5"/>
          <p:cNvSpPr>
            <a:spLocks noChangeArrowheads="1"/>
          </p:cNvSpPr>
          <p:nvPr>
            <p:custDataLst>
              <p:tags r:id="rId4"/>
            </p:custDataLst>
          </p:nvPr>
        </p:nvSpPr>
        <p:spPr bwMode="auto">
          <a:xfrm>
            <a:off x="5943600" y="1828800"/>
            <a:ext cx="10414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a:ea typeface="宋体" pitchFamily="2" charset="-122"/>
              </a:rPr>
              <a:t>R0 - R31</a:t>
            </a:r>
          </a:p>
        </p:txBody>
      </p:sp>
      <p:sp>
        <p:nvSpPr>
          <p:cNvPr id="256006" name="Rectangle 6"/>
          <p:cNvSpPr>
            <a:spLocks noChangeArrowheads="1"/>
          </p:cNvSpPr>
          <p:nvPr>
            <p:custDataLst>
              <p:tags r:id="rId5"/>
            </p:custDataLst>
          </p:nvPr>
        </p:nvSpPr>
        <p:spPr bwMode="auto">
          <a:xfrm>
            <a:off x="5518150" y="3028950"/>
            <a:ext cx="1993900" cy="241300"/>
          </a:xfrm>
          <a:prstGeom prst="rect">
            <a:avLst/>
          </a:prstGeom>
          <a:noFill/>
          <a:ln w="12700">
            <a:solidFill>
              <a:schemeClr val="tx1"/>
            </a:solidFill>
            <a:miter lim="800000"/>
            <a:headEnd/>
            <a:tailEnd/>
          </a:ln>
          <a:effectLst/>
        </p:spPr>
        <p:txBody>
          <a:bodyPr wrap="none" anchor="ctr"/>
          <a:lstStyle/>
          <a:p>
            <a:endParaRPr lang="en-US"/>
          </a:p>
        </p:txBody>
      </p:sp>
      <p:sp>
        <p:nvSpPr>
          <p:cNvPr id="256007" name="Rectangle 7"/>
          <p:cNvSpPr>
            <a:spLocks noChangeArrowheads="1"/>
          </p:cNvSpPr>
          <p:nvPr>
            <p:custDataLst>
              <p:tags r:id="rId6"/>
            </p:custDataLst>
          </p:nvPr>
        </p:nvSpPr>
        <p:spPr bwMode="auto">
          <a:xfrm>
            <a:off x="5518150" y="3333750"/>
            <a:ext cx="1993900" cy="241300"/>
          </a:xfrm>
          <a:prstGeom prst="rect">
            <a:avLst/>
          </a:prstGeom>
          <a:noFill/>
          <a:ln w="12700">
            <a:solidFill>
              <a:schemeClr val="tx1"/>
            </a:solidFill>
            <a:miter lim="800000"/>
            <a:headEnd/>
            <a:tailEnd/>
          </a:ln>
          <a:effectLst/>
        </p:spPr>
        <p:txBody>
          <a:bodyPr wrap="none" anchor="ctr"/>
          <a:lstStyle/>
          <a:p>
            <a:endParaRPr lang="en-US"/>
          </a:p>
        </p:txBody>
      </p:sp>
      <p:sp>
        <p:nvSpPr>
          <p:cNvPr id="256008" name="Rectangle 8"/>
          <p:cNvSpPr>
            <a:spLocks noChangeArrowheads="1"/>
          </p:cNvSpPr>
          <p:nvPr>
            <p:custDataLst>
              <p:tags r:id="rId7"/>
            </p:custDataLst>
          </p:nvPr>
        </p:nvSpPr>
        <p:spPr bwMode="auto">
          <a:xfrm>
            <a:off x="5518150" y="3663950"/>
            <a:ext cx="1993900" cy="241300"/>
          </a:xfrm>
          <a:prstGeom prst="rect">
            <a:avLst/>
          </a:prstGeom>
          <a:noFill/>
          <a:ln w="12700">
            <a:solidFill>
              <a:schemeClr val="tx1"/>
            </a:solidFill>
            <a:miter lim="800000"/>
            <a:headEnd/>
            <a:tailEnd/>
          </a:ln>
          <a:effectLst/>
        </p:spPr>
        <p:txBody>
          <a:bodyPr wrap="none" anchor="ctr"/>
          <a:lstStyle/>
          <a:p>
            <a:endParaRPr lang="en-US"/>
          </a:p>
        </p:txBody>
      </p:sp>
      <p:sp>
        <p:nvSpPr>
          <p:cNvPr id="256009" name="Rectangle 9"/>
          <p:cNvSpPr>
            <a:spLocks noChangeArrowheads="1"/>
          </p:cNvSpPr>
          <p:nvPr>
            <p:custDataLst>
              <p:tags r:id="rId8"/>
            </p:custDataLst>
          </p:nvPr>
        </p:nvSpPr>
        <p:spPr bwMode="auto">
          <a:xfrm>
            <a:off x="6229350" y="3016250"/>
            <a:ext cx="457200" cy="2968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dirty="0">
                <a:solidFill>
                  <a:srgbClr val="FF0000"/>
                </a:solidFill>
                <a:ea typeface="宋体" pitchFamily="2" charset="-122"/>
              </a:rPr>
              <a:t>PC</a:t>
            </a:r>
          </a:p>
        </p:txBody>
      </p:sp>
      <p:sp>
        <p:nvSpPr>
          <p:cNvPr id="256010" name="Rectangle 10"/>
          <p:cNvSpPr>
            <a:spLocks noChangeArrowheads="1"/>
          </p:cNvSpPr>
          <p:nvPr>
            <p:custDataLst>
              <p:tags r:id="rId9"/>
            </p:custDataLst>
          </p:nvPr>
        </p:nvSpPr>
        <p:spPr bwMode="auto">
          <a:xfrm>
            <a:off x="6229350" y="3321050"/>
            <a:ext cx="368300" cy="2968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dirty="0">
                <a:solidFill>
                  <a:srgbClr val="FF0000"/>
                </a:solidFill>
                <a:ea typeface="宋体" pitchFamily="2" charset="-122"/>
              </a:rPr>
              <a:t>HI</a:t>
            </a:r>
          </a:p>
        </p:txBody>
      </p:sp>
      <p:sp>
        <p:nvSpPr>
          <p:cNvPr id="256011" name="Rectangle 11"/>
          <p:cNvSpPr>
            <a:spLocks noChangeArrowheads="1"/>
          </p:cNvSpPr>
          <p:nvPr>
            <p:custDataLst>
              <p:tags r:id="rId10"/>
            </p:custDataLst>
          </p:nvPr>
        </p:nvSpPr>
        <p:spPr bwMode="auto">
          <a:xfrm>
            <a:off x="6229350" y="3676650"/>
            <a:ext cx="457200" cy="2968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dirty="0">
                <a:solidFill>
                  <a:srgbClr val="FF0000"/>
                </a:solidFill>
                <a:ea typeface="宋体" pitchFamily="2" charset="-122"/>
              </a:rPr>
              <a:t>LO</a:t>
            </a:r>
          </a:p>
        </p:txBody>
      </p:sp>
      <p:sp>
        <p:nvSpPr>
          <p:cNvPr id="256012" name="Rectangle 12"/>
          <p:cNvSpPr>
            <a:spLocks noChangeArrowheads="1"/>
          </p:cNvSpPr>
          <p:nvPr>
            <p:custDataLst>
              <p:tags r:id="rId11"/>
            </p:custDataLst>
          </p:nvPr>
        </p:nvSpPr>
        <p:spPr bwMode="auto">
          <a:xfrm>
            <a:off x="1066800" y="4927600"/>
            <a:ext cx="6096000" cy="342900"/>
          </a:xfrm>
          <a:prstGeom prst="rect">
            <a:avLst/>
          </a:prstGeom>
          <a:noFill/>
          <a:ln w="12700">
            <a:solidFill>
              <a:schemeClr val="tx1"/>
            </a:solidFill>
            <a:miter lim="800000"/>
            <a:headEnd/>
            <a:tailEnd/>
          </a:ln>
          <a:effectLst/>
        </p:spPr>
        <p:txBody>
          <a:bodyPr wrap="none" anchor="ctr"/>
          <a:lstStyle/>
          <a:p>
            <a:endParaRPr lang="en-US"/>
          </a:p>
        </p:txBody>
      </p:sp>
      <p:sp>
        <p:nvSpPr>
          <p:cNvPr id="256013" name="Rectangle 13"/>
          <p:cNvSpPr>
            <a:spLocks noChangeArrowheads="1"/>
          </p:cNvSpPr>
          <p:nvPr>
            <p:custDataLst>
              <p:tags r:id="rId12"/>
            </p:custDataLst>
          </p:nvPr>
        </p:nvSpPr>
        <p:spPr bwMode="auto">
          <a:xfrm>
            <a:off x="1295400" y="4965700"/>
            <a:ext cx="457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OP</a:t>
            </a:r>
          </a:p>
        </p:txBody>
      </p:sp>
      <p:sp>
        <p:nvSpPr>
          <p:cNvPr id="256014" name="Rectangle 14"/>
          <p:cNvSpPr>
            <a:spLocks noChangeArrowheads="1"/>
          </p:cNvSpPr>
          <p:nvPr>
            <p:custDataLst>
              <p:tags r:id="rId13"/>
            </p:custDataLst>
          </p:nvPr>
        </p:nvSpPr>
        <p:spPr bwMode="auto">
          <a:xfrm>
            <a:off x="2387600" y="4965700"/>
            <a:ext cx="3175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rs</a:t>
            </a:r>
          </a:p>
        </p:txBody>
      </p:sp>
      <p:sp>
        <p:nvSpPr>
          <p:cNvPr id="256015" name="Rectangle 15"/>
          <p:cNvSpPr>
            <a:spLocks noChangeArrowheads="1"/>
          </p:cNvSpPr>
          <p:nvPr>
            <p:custDataLst>
              <p:tags r:id="rId14"/>
            </p:custDataLst>
          </p:nvPr>
        </p:nvSpPr>
        <p:spPr bwMode="auto">
          <a:xfrm>
            <a:off x="3429000" y="4991100"/>
            <a:ext cx="2667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rt</a:t>
            </a:r>
          </a:p>
        </p:txBody>
      </p:sp>
      <p:sp>
        <p:nvSpPr>
          <p:cNvPr id="256016" name="Rectangle 16"/>
          <p:cNvSpPr>
            <a:spLocks noChangeArrowheads="1"/>
          </p:cNvSpPr>
          <p:nvPr>
            <p:custDataLst>
              <p:tags r:id="rId15"/>
            </p:custDataLst>
          </p:nvPr>
        </p:nvSpPr>
        <p:spPr bwMode="auto">
          <a:xfrm>
            <a:off x="4419600" y="4965700"/>
            <a:ext cx="330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rd</a:t>
            </a:r>
          </a:p>
        </p:txBody>
      </p:sp>
      <p:sp>
        <p:nvSpPr>
          <p:cNvPr id="256017" name="Rectangle 17"/>
          <p:cNvSpPr>
            <a:spLocks noChangeArrowheads="1"/>
          </p:cNvSpPr>
          <p:nvPr>
            <p:custDataLst>
              <p:tags r:id="rId16"/>
            </p:custDataLst>
          </p:nvPr>
        </p:nvSpPr>
        <p:spPr bwMode="auto">
          <a:xfrm>
            <a:off x="5334000" y="4965700"/>
            <a:ext cx="749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shamt</a:t>
            </a:r>
          </a:p>
        </p:txBody>
      </p:sp>
      <p:sp>
        <p:nvSpPr>
          <p:cNvPr id="256018" name="Rectangle 18"/>
          <p:cNvSpPr>
            <a:spLocks noChangeArrowheads="1"/>
          </p:cNvSpPr>
          <p:nvPr>
            <p:custDataLst>
              <p:tags r:id="rId17"/>
            </p:custDataLst>
          </p:nvPr>
        </p:nvSpPr>
        <p:spPr bwMode="auto">
          <a:xfrm>
            <a:off x="6248400" y="4965700"/>
            <a:ext cx="622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funct</a:t>
            </a:r>
          </a:p>
        </p:txBody>
      </p:sp>
      <p:sp>
        <p:nvSpPr>
          <p:cNvPr id="256019" name="Rectangle 19"/>
          <p:cNvSpPr>
            <a:spLocks noChangeArrowheads="1"/>
          </p:cNvSpPr>
          <p:nvPr>
            <p:custDataLst>
              <p:tags r:id="rId18"/>
            </p:custDataLst>
          </p:nvPr>
        </p:nvSpPr>
        <p:spPr bwMode="auto">
          <a:xfrm>
            <a:off x="1066800" y="5410200"/>
            <a:ext cx="6096000" cy="304800"/>
          </a:xfrm>
          <a:prstGeom prst="rect">
            <a:avLst/>
          </a:prstGeom>
          <a:noFill/>
          <a:ln w="12700">
            <a:solidFill>
              <a:schemeClr val="tx1"/>
            </a:solidFill>
            <a:miter lim="800000"/>
            <a:headEnd/>
            <a:tailEnd/>
          </a:ln>
          <a:effectLst/>
        </p:spPr>
        <p:txBody>
          <a:bodyPr wrap="none" anchor="ctr"/>
          <a:lstStyle/>
          <a:p>
            <a:endParaRPr lang="en-US"/>
          </a:p>
        </p:txBody>
      </p:sp>
      <p:sp>
        <p:nvSpPr>
          <p:cNvPr id="256020" name="Rectangle 20"/>
          <p:cNvSpPr>
            <a:spLocks noChangeArrowheads="1"/>
          </p:cNvSpPr>
          <p:nvPr>
            <p:custDataLst>
              <p:tags r:id="rId19"/>
            </p:custDataLst>
          </p:nvPr>
        </p:nvSpPr>
        <p:spPr bwMode="auto">
          <a:xfrm>
            <a:off x="1295400" y="5448300"/>
            <a:ext cx="457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OP</a:t>
            </a:r>
          </a:p>
        </p:txBody>
      </p:sp>
      <p:sp>
        <p:nvSpPr>
          <p:cNvPr id="256021" name="Rectangle 21"/>
          <p:cNvSpPr>
            <a:spLocks noChangeArrowheads="1"/>
          </p:cNvSpPr>
          <p:nvPr>
            <p:custDataLst>
              <p:tags r:id="rId20"/>
            </p:custDataLst>
          </p:nvPr>
        </p:nvSpPr>
        <p:spPr bwMode="auto">
          <a:xfrm>
            <a:off x="2413000" y="5448300"/>
            <a:ext cx="3175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rs</a:t>
            </a:r>
          </a:p>
        </p:txBody>
      </p:sp>
      <p:sp>
        <p:nvSpPr>
          <p:cNvPr id="256022" name="Rectangle 22"/>
          <p:cNvSpPr>
            <a:spLocks noChangeArrowheads="1"/>
          </p:cNvSpPr>
          <p:nvPr>
            <p:custDataLst>
              <p:tags r:id="rId21"/>
            </p:custDataLst>
          </p:nvPr>
        </p:nvSpPr>
        <p:spPr bwMode="auto">
          <a:xfrm>
            <a:off x="3429000" y="5410200"/>
            <a:ext cx="2667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rt</a:t>
            </a:r>
          </a:p>
        </p:txBody>
      </p:sp>
      <p:sp>
        <p:nvSpPr>
          <p:cNvPr id="256023" name="Rectangle 23"/>
          <p:cNvSpPr>
            <a:spLocks noChangeArrowheads="1"/>
          </p:cNvSpPr>
          <p:nvPr>
            <p:custDataLst>
              <p:tags r:id="rId22"/>
            </p:custDataLst>
          </p:nvPr>
        </p:nvSpPr>
        <p:spPr bwMode="auto">
          <a:xfrm>
            <a:off x="4572000" y="5430838"/>
            <a:ext cx="1524000" cy="284162"/>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16 bit number</a:t>
            </a:r>
          </a:p>
        </p:txBody>
      </p:sp>
      <p:sp>
        <p:nvSpPr>
          <p:cNvPr id="256024" name="Rectangle 24"/>
          <p:cNvSpPr>
            <a:spLocks noChangeArrowheads="1"/>
          </p:cNvSpPr>
          <p:nvPr>
            <p:custDataLst>
              <p:tags r:id="rId23"/>
            </p:custDataLst>
          </p:nvPr>
        </p:nvSpPr>
        <p:spPr bwMode="auto">
          <a:xfrm>
            <a:off x="1066800" y="5842000"/>
            <a:ext cx="6096000" cy="342900"/>
          </a:xfrm>
          <a:prstGeom prst="rect">
            <a:avLst/>
          </a:prstGeom>
          <a:noFill/>
          <a:ln w="12700">
            <a:solidFill>
              <a:schemeClr val="tx1"/>
            </a:solidFill>
            <a:miter lim="800000"/>
            <a:headEnd/>
            <a:tailEnd/>
          </a:ln>
          <a:effectLst/>
        </p:spPr>
        <p:txBody>
          <a:bodyPr wrap="none" anchor="ctr"/>
          <a:lstStyle/>
          <a:p>
            <a:endParaRPr lang="en-US"/>
          </a:p>
        </p:txBody>
      </p:sp>
      <p:sp>
        <p:nvSpPr>
          <p:cNvPr id="256025" name="Rectangle 25"/>
          <p:cNvSpPr>
            <a:spLocks noChangeArrowheads="1"/>
          </p:cNvSpPr>
          <p:nvPr>
            <p:custDataLst>
              <p:tags r:id="rId24"/>
            </p:custDataLst>
          </p:nvPr>
        </p:nvSpPr>
        <p:spPr bwMode="auto">
          <a:xfrm>
            <a:off x="1295400" y="5880100"/>
            <a:ext cx="457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OP</a:t>
            </a:r>
          </a:p>
        </p:txBody>
      </p:sp>
      <p:sp>
        <p:nvSpPr>
          <p:cNvPr id="256026" name="Rectangle 26"/>
          <p:cNvSpPr>
            <a:spLocks noChangeArrowheads="1"/>
          </p:cNvSpPr>
          <p:nvPr>
            <p:custDataLst>
              <p:tags r:id="rId25"/>
            </p:custDataLst>
          </p:nvPr>
        </p:nvSpPr>
        <p:spPr bwMode="auto">
          <a:xfrm>
            <a:off x="3581400" y="5867400"/>
            <a:ext cx="1892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26 bit jump target</a:t>
            </a:r>
          </a:p>
        </p:txBody>
      </p:sp>
      <p:sp>
        <p:nvSpPr>
          <p:cNvPr id="256027" name="Rectangle 27"/>
          <p:cNvSpPr>
            <a:spLocks noChangeArrowheads="1"/>
          </p:cNvSpPr>
          <p:nvPr>
            <p:custDataLst>
              <p:tags r:id="rId26"/>
            </p:custDataLst>
          </p:nvPr>
        </p:nvSpPr>
        <p:spPr bwMode="auto">
          <a:xfrm>
            <a:off x="5791200" y="914400"/>
            <a:ext cx="1222375" cy="363538"/>
          </a:xfrm>
          <a:prstGeom prst="rect">
            <a:avLst/>
          </a:prstGeom>
          <a:noFill/>
          <a:ln w="12700">
            <a:noFill/>
            <a:miter lim="800000"/>
            <a:headEnd/>
            <a:tailEnd/>
          </a:ln>
          <a:effectLst/>
        </p:spPr>
        <p:txBody>
          <a:bodyPr wrap="none" lIns="90488" tIns="44450" rIns="90488" bIns="44450">
            <a:spAutoFit/>
          </a:bodyPr>
          <a:lstStyle/>
          <a:p>
            <a:r>
              <a:rPr lang="en-US" altLang="zh-CN" b="1">
                <a:ea typeface="宋体" pitchFamily="2" charset="-122"/>
              </a:rPr>
              <a:t>Registers</a:t>
            </a:r>
          </a:p>
        </p:txBody>
      </p:sp>
      <p:sp>
        <p:nvSpPr>
          <p:cNvPr id="256028" name="Rectangle 28"/>
          <p:cNvSpPr>
            <a:spLocks noChangeArrowheads="1"/>
          </p:cNvSpPr>
          <p:nvPr>
            <p:custDataLst>
              <p:tags r:id="rId27"/>
            </p:custDataLst>
          </p:nvPr>
        </p:nvSpPr>
        <p:spPr bwMode="auto">
          <a:xfrm>
            <a:off x="7239000" y="4876800"/>
            <a:ext cx="1600200" cy="396875"/>
          </a:xfrm>
          <a:prstGeom prst="rect">
            <a:avLst/>
          </a:prstGeom>
          <a:noFill/>
          <a:ln w="12700">
            <a:noFill/>
            <a:miter lim="800000"/>
            <a:headEnd/>
            <a:tailEnd/>
          </a:ln>
          <a:effectLst/>
        </p:spPr>
        <p:txBody>
          <a:bodyPr>
            <a:spAutoFit/>
          </a:bodyPr>
          <a:lstStyle/>
          <a:p>
            <a:r>
              <a:rPr lang="en-US" altLang="zh-CN" sz="2000">
                <a:ea typeface="宋体" pitchFamily="2" charset="-122"/>
                <a:sym typeface="Symbol" pitchFamily="18" charset="2"/>
              </a:rPr>
              <a:t>R format</a:t>
            </a:r>
          </a:p>
        </p:txBody>
      </p:sp>
      <p:sp>
        <p:nvSpPr>
          <p:cNvPr id="256029" name="Rectangle 29"/>
          <p:cNvSpPr>
            <a:spLocks noChangeArrowheads="1"/>
          </p:cNvSpPr>
          <p:nvPr>
            <p:custDataLst>
              <p:tags r:id="rId28"/>
            </p:custDataLst>
          </p:nvPr>
        </p:nvSpPr>
        <p:spPr bwMode="auto">
          <a:xfrm>
            <a:off x="7239000" y="5334000"/>
            <a:ext cx="1600200" cy="396875"/>
          </a:xfrm>
          <a:prstGeom prst="rect">
            <a:avLst/>
          </a:prstGeom>
          <a:noFill/>
          <a:ln w="12700">
            <a:noFill/>
            <a:miter lim="800000"/>
            <a:headEnd/>
            <a:tailEnd/>
          </a:ln>
          <a:effectLst/>
        </p:spPr>
        <p:txBody>
          <a:bodyPr>
            <a:spAutoFit/>
          </a:bodyPr>
          <a:lstStyle/>
          <a:p>
            <a:r>
              <a:rPr lang="en-US" altLang="zh-CN" sz="2000">
                <a:ea typeface="宋体" pitchFamily="2" charset="-122"/>
                <a:sym typeface="Symbol" pitchFamily="18" charset="2"/>
              </a:rPr>
              <a:t>I  format</a:t>
            </a:r>
          </a:p>
        </p:txBody>
      </p:sp>
      <p:sp>
        <p:nvSpPr>
          <p:cNvPr id="256030" name="Line 30"/>
          <p:cNvSpPr>
            <a:spLocks noChangeShapeType="1"/>
          </p:cNvSpPr>
          <p:nvPr>
            <p:custDataLst>
              <p:tags r:id="rId29"/>
            </p:custDataLst>
          </p:nvPr>
        </p:nvSpPr>
        <p:spPr bwMode="auto">
          <a:xfrm>
            <a:off x="2133600" y="4953000"/>
            <a:ext cx="0" cy="304800"/>
          </a:xfrm>
          <a:prstGeom prst="line">
            <a:avLst/>
          </a:prstGeom>
          <a:noFill/>
          <a:ln w="12700">
            <a:solidFill>
              <a:schemeClr val="tx1"/>
            </a:solidFill>
            <a:round/>
            <a:headEnd/>
            <a:tailEnd/>
          </a:ln>
          <a:effectLst/>
        </p:spPr>
        <p:txBody>
          <a:bodyPr/>
          <a:lstStyle/>
          <a:p>
            <a:endParaRPr lang="en-US"/>
          </a:p>
        </p:txBody>
      </p:sp>
      <p:sp>
        <p:nvSpPr>
          <p:cNvPr id="256031" name="Line 31"/>
          <p:cNvSpPr>
            <a:spLocks noChangeShapeType="1"/>
          </p:cNvSpPr>
          <p:nvPr>
            <p:custDataLst>
              <p:tags r:id="rId30"/>
            </p:custDataLst>
          </p:nvPr>
        </p:nvSpPr>
        <p:spPr bwMode="auto">
          <a:xfrm>
            <a:off x="3124200" y="4953000"/>
            <a:ext cx="0" cy="304800"/>
          </a:xfrm>
          <a:prstGeom prst="line">
            <a:avLst/>
          </a:prstGeom>
          <a:noFill/>
          <a:ln w="12700">
            <a:solidFill>
              <a:schemeClr val="tx1"/>
            </a:solidFill>
            <a:round/>
            <a:headEnd/>
            <a:tailEnd/>
          </a:ln>
          <a:effectLst/>
        </p:spPr>
        <p:txBody>
          <a:bodyPr/>
          <a:lstStyle/>
          <a:p>
            <a:endParaRPr lang="en-US"/>
          </a:p>
        </p:txBody>
      </p:sp>
      <p:sp>
        <p:nvSpPr>
          <p:cNvPr id="256032" name="Line 32"/>
          <p:cNvSpPr>
            <a:spLocks noChangeShapeType="1"/>
          </p:cNvSpPr>
          <p:nvPr>
            <p:custDataLst>
              <p:tags r:id="rId31"/>
            </p:custDataLst>
          </p:nvPr>
        </p:nvSpPr>
        <p:spPr bwMode="auto">
          <a:xfrm>
            <a:off x="4114800" y="4953000"/>
            <a:ext cx="0" cy="304800"/>
          </a:xfrm>
          <a:prstGeom prst="line">
            <a:avLst/>
          </a:prstGeom>
          <a:noFill/>
          <a:ln w="12700">
            <a:solidFill>
              <a:schemeClr val="tx1"/>
            </a:solidFill>
            <a:round/>
            <a:headEnd/>
            <a:tailEnd/>
          </a:ln>
          <a:effectLst/>
        </p:spPr>
        <p:txBody>
          <a:bodyPr/>
          <a:lstStyle/>
          <a:p>
            <a:endParaRPr lang="en-US"/>
          </a:p>
        </p:txBody>
      </p:sp>
      <p:sp>
        <p:nvSpPr>
          <p:cNvPr id="256033" name="Line 33"/>
          <p:cNvSpPr>
            <a:spLocks noChangeShapeType="1"/>
          </p:cNvSpPr>
          <p:nvPr>
            <p:custDataLst>
              <p:tags r:id="rId32"/>
            </p:custDataLst>
          </p:nvPr>
        </p:nvSpPr>
        <p:spPr bwMode="auto">
          <a:xfrm>
            <a:off x="5105400" y="4953000"/>
            <a:ext cx="0" cy="304800"/>
          </a:xfrm>
          <a:prstGeom prst="line">
            <a:avLst/>
          </a:prstGeom>
          <a:noFill/>
          <a:ln w="12700">
            <a:solidFill>
              <a:schemeClr val="tx1"/>
            </a:solidFill>
            <a:round/>
            <a:headEnd/>
            <a:tailEnd/>
          </a:ln>
          <a:effectLst/>
        </p:spPr>
        <p:txBody>
          <a:bodyPr/>
          <a:lstStyle/>
          <a:p>
            <a:endParaRPr lang="en-US"/>
          </a:p>
        </p:txBody>
      </p:sp>
      <p:sp>
        <p:nvSpPr>
          <p:cNvPr id="256034" name="Line 34"/>
          <p:cNvSpPr>
            <a:spLocks noChangeShapeType="1"/>
          </p:cNvSpPr>
          <p:nvPr>
            <p:custDataLst>
              <p:tags r:id="rId33"/>
            </p:custDataLst>
          </p:nvPr>
        </p:nvSpPr>
        <p:spPr bwMode="auto">
          <a:xfrm>
            <a:off x="6096000" y="4953000"/>
            <a:ext cx="0" cy="304800"/>
          </a:xfrm>
          <a:prstGeom prst="line">
            <a:avLst/>
          </a:prstGeom>
          <a:noFill/>
          <a:ln w="12700">
            <a:solidFill>
              <a:schemeClr val="tx1"/>
            </a:solidFill>
            <a:round/>
            <a:headEnd/>
            <a:tailEnd/>
          </a:ln>
          <a:effectLst/>
        </p:spPr>
        <p:txBody>
          <a:bodyPr/>
          <a:lstStyle/>
          <a:p>
            <a:endParaRPr lang="en-US"/>
          </a:p>
        </p:txBody>
      </p:sp>
      <p:sp>
        <p:nvSpPr>
          <p:cNvPr id="256035" name="Line 35"/>
          <p:cNvSpPr>
            <a:spLocks noChangeShapeType="1"/>
          </p:cNvSpPr>
          <p:nvPr>
            <p:custDataLst>
              <p:tags r:id="rId34"/>
            </p:custDataLst>
          </p:nvPr>
        </p:nvSpPr>
        <p:spPr bwMode="auto">
          <a:xfrm>
            <a:off x="4114800" y="5410200"/>
            <a:ext cx="0" cy="304800"/>
          </a:xfrm>
          <a:prstGeom prst="line">
            <a:avLst/>
          </a:prstGeom>
          <a:noFill/>
          <a:ln w="12700">
            <a:solidFill>
              <a:schemeClr val="tx1"/>
            </a:solidFill>
            <a:round/>
            <a:headEnd/>
            <a:tailEnd/>
          </a:ln>
          <a:effectLst/>
        </p:spPr>
        <p:txBody>
          <a:bodyPr/>
          <a:lstStyle/>
          <a:p>
            <a:endParaRPr lang="en-US"/>
          </a:p>
        </p:txBody>
      </p:sp>
      <p:sp>
        <p:nvSpPr>
          <p:cNvPr id="256036" name="Line 36"/>
          <p:cNvSpPr>
            <a:spLocks noChangeShapeType="1"/>
          </p:cNvSpPr>
          <p:nvPr>
            <p:custDataLst>
              <p:tags r:id="rId35"/>
            </p:custDataLst>
          </p:nvPr>
        </p:nvSpPr>
        <p:spPr bwMode="auto">
          <a:xfrm>
            <a:off x="3124200" y="5410200"/>
            <a:ext cx="0" cy="304800"/>
          </a:xfrm>
          <a:prstGeom prst="line">
            <a:avLst/>
          </a:prstGeom>
          <a:noFill/>
          <a:ln w="12700">
            <a:solidFill>
              <a:schemeClr val="tx1"/>
            </a:solidFill>
            <a:round/>
            <a:headEnd/>
            <a:tailEnd/>
          </a:ln>
          <a:effectLst/>
        </p:spPr>
        <p:txBody>
          <a:bodyPr/>
          <a:lstStyle/>
          <a:p>
            <a:endParaRPr lang="en-US"/>
          </a:p>
        </p:txBody>
      </p:sp>
      <p:sp>
        <p:nvSpPr>
          <p:cNvPr id="256037" name="Line 37"/>
          <p:cNvSpPr>
            <a:spLocks noChangeShapeType="1"/>
          </p:cNvSpPr>
          <p:nvPr>
            <p:custDataLst>
              <p:tags r:id="rId36"/>
            </p:custDataLst>
          </p:nvPr>
        </p:nvSpPr>
        <p:spPr bwMode="auto">
          <a:xfrm>
            <a:off x="2133600" y="5410200"/>
            <a:ext cx="0" cy="304800"/>
          </a:xfrm>
          <a:prstGeom prst="line">
            <a:avLst/>
          </a:prstGeom>
          <a:noFill/>
          <a:ln w="12700">
            <a:solidFill>
              <a:schemeClr val="tx1"/>
            </a:solidFill>
            <a:round/>
            <a:headEnd/>
            <a:tailEnd/>
          </a:ln>
          <a:effectLst/>
        </p:spPr>
        <p:txBody>
          <a:bodyPr/>
          <a:lstStyle/>
          <a:p>
            <a:endParaRPr lang="en-US"/>
          </a:p>
        </p:txBody>
      </p:sp>
      <p:sp>
        <p:nvSpPr>
          <p:cNvPr id="256038" name="Line 38"/>
          <p:cNvSpPr>
            <a:spLocks noChangeShapeType="1"/>
          </p:cNvSpPr>
          <p:nvPr>
            <p:custDataLst>
              <p:tags r:id="rId37"/>
            </p:custDataLst>
          </p:nvPr>
        </p:nvSpPr>
        <p:spPr bwMode="auto">
          <a:xfrm>
            <a:off x="2133600" y="5867400"/>
            <a:ext cx="0" cy="304800"/>
          </a:xfrm>
          <a:prstGeom prst="line">
            <a:avLst/>
          </a:prstGeom>
          <a:noFill/>
          <a:ln w="12700">
            <a:solidFill>
              <a:schemeClr val="tx1"/>
            </a:solidFill>
            <a:round/>
            <a:headEnd/>
            <a:tailEnd/>
          </a:ln>
          <a:effectLst/>
        </p:spPr>
        <p:txBody>
          <a:bodyPr/>
          <a:lstStyle/>
          <a:p>
            <a:endParaRPr lang="en-US"/>
          </a:p>
        </p:txBody>
      </p:sp>
      <p:sp>
        <p:nvSpPr>
          <p:cNvPr id="256039" name="Rectangle 39"/>
          <p:cNvSpPr>
            <a:spLocks noChangeArrowheads="1"/>
          </p:cNvSpPr>
          <p:nvPr>
            <p:custDataLst>
              <p:tags r:id="rId38"/>
            </p:custDataLst>
          </p:nvPr>
        </p:nvSpPr>
        <p:spPr bwMode="auto">
          <a:xfrm>
            <a:off x="12954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6 bits</a:t>
            </a:r>
          </a:p>
        </p:txBody>
      </p:sp>
      <p:sp>
        <p:nvSpPr>
          <p:cNvPr id="256040" name="Rectangle 40"/>
          <p:cNvSpPr>
            <a:spLocks noChangeArrowheads="1"/>
          </p:cNvSpPr>
          <p:nvPr>
            <p:custDataLst>
              <p:tags r:id="rId39"/>
            </p:custDataLst>
          </p:nvPr>
        </p:nvSpPr>
        <p:spPr bwMode="auto">
          <a:xfrm>
            <a:off x="22860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256041" name="Rectangle 41"/>
          <p:cNvSpPr>
            <a:spLocks noChangeArrowheads="1"/>
          </p:cNvSpPr>
          <p:nvPr>
            <p:custDataLst>
              <p:tags r:id="rId40"/>
            </p:custDataLst>
          </p:nvPr>
        </p:nvSpPr>
        <p:spPr bwMode="auto">
          <a:xfrm>
            <a:off x="32004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256042" name="Rectangle 42"/>
          <p:cNvSpPr>
            <a:spLocks noChangeArrowheads="1"/>
          </p:cNvSpPr>
          <p:nvPr>
            <p:custDataLst>
              <p:tags r:id="rId41"/>
            </p:custDataLst>
          </p:nvPr>
        </p:nvSpPr>
        <p:spPr bwMode="auto">
          <a:xfrm>
            <a:off x="41910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256043" name="Rectangle 43"/>
          <p:cNvSpPr>
            <a:spLocks noChangeArrowheads="1"/>
          </p:cNvSpPr>
          <p:nvPr>
            <p:custDataLst>
              <p:tags r:id="rId42"/>
            </p:custDataLst>
          </p:nvPr>
        </p:nvSpPr>
        <p:spPr bwMode="auto">
          <a:xfrm>
            <a:off x="52578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256044" name="Rectangle 44"/>
          <p:cNvSpPr>
            <a:spLocks noChangeArrowheads="1"/>
          </p:cNvSpPr>
          <p:nvPr>
            <p:custDataLst>
              <p:tags r:id="rId43"/>
            </p:custDataLst>
          </p:nvPr>
        </p:nvSpPr>
        <p:spPr bwMode="auto">
          <a:xfrm>
            <a:off x="63246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6 bits</a:t>
            </a:r>
          </a:p>
        </p:txBody>
      </p:sp>
      <p:sp>
        <p:nvSpPr>
          <p:cNvPr id="256045" name="Rectangle 45"/>
          <p:cNvSpPr>
            <a:spLocks noChangeArrowheads="1"/>
          </p:cNvSpPr>
          <p:nvPr>
            <p:custDataLst>
              <p:tags r:id="rId44"/>
            </p:custDataLst>
          </p:nvPr>
        </p:nvSpPr>
        <p:spPr bwMode="auto">
          <a:xfrm>
            <a:off x="7239000" y="5791200"/>
            <a:ext cx="1600200" cy="396875"/>
          </a:xfrm>
          <a:prstGeom prst="rect">
            <a:avLst/>
          </a:prstGeom>
          <a:noFill/>
          <a:ln w="12700">
            <a:noFill/>
            <a:miter lim="800000"/>
            <a:headEnd/>
            <a:tailEnd/>
          </a:ln>
          <a:effectLst/>
        </p:spPr>
        <p:txBody>
          <a:bodyPr>
            <a:spAutoFit/>
          </a:bodyPr>
          <a:lstStyle/>
          <a:p>
            <a:r>
              <a:rPr lang="en-US" altLang="zh-CN" sz="2000">
                <a:ea typeface="宋体" pitchFamily="2" charset="-122"/>
                <a:sym typeface="Symbol" pitchFamily="18" charset="2"/>
              </a:rPr>
              <a:t>J format</a:t>
            </a:r>
          </a:p>
        </p:txBody>
      </p:sp>
    </p:spTree>
    <p:extLst>
      <p:ext uri="{BB962C8B-B14F-4D97-AF65-F5344CB8AC3E}">
        <p14:creationId xmlns:p14="http://schemas.microsoft.com/office/powerpoint/2010/main" val="171415052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dirty="0" smtClean="0"/>
              <a:t>Review:  Addressing Modes, so far</a:t>
            </a:r>
            <a:endParaRPr lang="en-US" dirty="0"/>
          </a:p>
        </p:txBody>
      </p:sp>
      <p:grpSp>
        <p:nvGrpSpPr>
          <p:cNvPr id="2" name="Group 3"/>
          <p:cNvGrpSpPr>
            <a:grpSpLocks/>
          </p:cNvGrpSpPr>
          <p:nvPr/>
        </p:nvGrpSpPr>
        <p:grpSpPr bwMode="auto">
          <a:xfrm>
            <a:off x="304800" y="657213"/>
            <a:ext cx="8610600" cy="1128713"/>
            <a:chOff x="192" y="384"/>
            <a:chExt cx="5424" cy="711"/>
          </a:xfrm>
        </p:grpSpPr>
        <p:sp>
          <p:nvSpPr>
            <p:cNvPr id="420868" name="Rectangle 4"/>
            <p:cNvSpPr>
              <a:spLocks noChangeArrowheads="1"/>
            </p:cNvSpPr>
            <p:nvPr/>
          </p:nvSpPr>
          <p:spPr bwMode="auto">
            <a:xfrm>
              <a:off x="336" y="624"/>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0869" name="Line 5"/>
            <p:cNvSpPr>
              <a:spLocks noChangeShapeType="1"/>
            </p:cNvSpPr>
            <p:nvPr/>
          </p:nvSpPr>
          <p:spPr bwMode="auto">
            <a:xfrm>
              <a:off x="816" y="624"/>
              <a:ext cx="0" cy="183"/>
            </a:xfrm>
            <a:prstGeom prst="line">
              <a:avLst/>
            </a:prstGeom>
            <a:noFill/>
            <a:ln w="12700">
              <a:solidFill>
                <a:schemeClr val="tx1"/>
              </a:solidFill>
              <a:round/>
              <a:headEnd/>
              <a:tailEnd/>
            </a:ln>
            <a:effectLst/>
          </p:spPr>
          <p:txBody>
            <a:bodyPr/>
            <a:lstStyle/>
            <a:p>
              <a:endParaRPr lang="en-US"/>
            </a:p>
          </p:txBody>
        </p:sp>
        <p:sp>
          <p:nvSpPr>
            <p:cNvPr id="420870" name="Line 6"/>
            <p:cNvSpPr>
              <a:spLocks noChangeShapeType="1"/>
            </p:cNvSpPr>
            <p:nvPr/>
          </p:nvSpPr>
          <p:spPr bwMode="auto">
            <a:xfrm>
              <a:off x="1200" y="624"/>
              <a:ext cx="0" cy="183"/>
            </a:xfrm>
            <a:prstGeom prst="line">
              <a:avLst/>
            </a:prstGeom>
            <a:noFill/>
            <a:ln w="12700">
              <a:solidFill>
                <a:schemeClr val="tx1"/>
              </a:solidFill>
              <a:round/>
              <a:headEnd/>
              <a:tailEnd/>
            </a:ln>
            <a:effectLst/>
          </p:spPr>
          <p:txBody>
            <a:bodyPr/>
            <a:lstStyle/>
            <a:p>
              <a:endParaRPr lang="en-US"/>
            </a:p>
          </p:txBody>
        </p:sp>
        <p:sp>
          <p:nvSpPr>
            <p:cNvPr id="420871" name="Line 7"/>
            <p:cNvSpPr>
              <a:spLocks noChangeShapeType="1"/>
            </p:cNvSpPr>
            <p:nvPr/>
          </p:nvSpPr>
          <p:spPr bwMode="auto">
            <a:xfrm>
              <a:off x="1584" y="624"/>
              <a:ext cx="0" cy="183"/>
            </a:xfrm>
            <a:prstGeom prst="line">
              <a:avLst/>
            </a:prstGeom>
            <a:noFill/>
            <a:ln w="12700">
              <a:solidFill>
                <a:schemeClr val="tx1"/>
              </a:solidFill>
              <a:round/>
              <a:headEnd/>
              <a:tailEnd/>
            </a:ln>
            <a:effectLst/>
          </p:spPr>
          <p:txBody>
            <a:bodyPr/>
            <a:lstStyle/>
            <a:p>
              <a:endParaRPr lang="en-US"/>
            </a:p>
          </p:txBody>
        </p:sp>
        <p:sp>
          <p:nvSpPr>
            <p:cNvPr id="420872" name="Line 8"/>
            <p:cNvSpPr>
              <a:spLocks noChangeShapeType="1"/>
            </p:cNvSpPr>
            <p:nvPr/>
          </p:nvSpPr>
          <p:spPr bwMode="auto">
            <a:xfrm>
              <a:off x="1920" y="624"/>
              <a:ext cx="0" cy="183"/>
            </a:xfrm>
            <a:prstGeom prst="line">
              <a:avLst/>
            </a:prstGeom>
            <a:noFill/>
            <a:ln w="12700">
              <a:solidFill>
                <a:schemeClr val="tx1"/>
              </a:solidFill>
              <a:round/>
              <a:headEnd/>
              <a:tailEnd/>
            </a:ln>
            <a:effectLst/>
          </p:spPr>
          <p:txBody>
            <a:bodyPr/>
            <a:lstStyle/>
            <a:p>
              <a:endParaRPr lang="en-US"/>
            </a:p>
          </p:txBody>
        </p:sp>
        <p:sp>
          <p:nvSpPr>
            <p:cNvPr id="420873" name="Line 9"/>
            <p:cNvSpPr>
              <a:spLocks noChangeShapeType="1"/>
            </p:cNvSpPr>
            <p:nvPr/>
          </p:nvSpPr>
          <p:spPr bwMode="auto">
            <a:xfrm>
              <a:off x="2304" y="624"/>
              <a:ext cx="0" cy="183"/>
            </a:xfrm>
            <a:prstGeom prst="line">
              <a:avLst/>
            </a:prstGeom>
            <a:noFill/>
            <a:ln w="12700">
              <a:solidFill>
                <a:schemeClr val="tx1"/>
              </a:solidFill>
              <a:round/>
              <a:headEnd/>
              <a:tailEnd/>
            </a:ln>
            <a:effectLst/>
          </p:spPr>
          <p:txBody>
            <a:bodyPr/>
            <a:lstStyle/>
            <a:p>
              <a:endParaRPr lang="en-US"/>
            </a:p>
          </p:txBody>
        </p:sp>
        <p:sp>
          <p:nvSpPr>
            <p:cNvPr id="420874" name="Rectangle 10"/>
            <p:cNvSpPr>
              <a:spLocks noChangeArrowheads="1"/>
            </p:cNvSpPr>
            <p:nvPr/>
          </p:nvSpPr>
          <p:spPr bwMode="auto">
            <a:xfrm>
              <a:off x="192" y="384"/>
              <a:ext cx="2208" cy="250"/>
            </a:xfrm>
            <a:prstGeom prst="rect">
              <a:avLst/>
            </a:prstGeom>
            <a:noFill/>
            <a:ln w="12700">
              <a:noFill/>
              <a:miter lim="800000"/>
              <a:headEnd/>
              <a:tailEnd/>
            </a:ln>
            <a:effectLst/>
          </p:spPr>
          <p:txBody>
            <a:bodyPr>
              <a:spAutoFit/>
            </a:bodyPr>
            <a:lstStyle/>
            <a:p>
              <a:r>
                <a:rPr lang="en-US" sz="2000">
                  <a:solidFill>
                    <a:schemeClr val="tx1"/>
                  </a:solidFill>
                </a:rPr>
                <a:t>1. Register addressing</a:t>
              </a:r>
            </a:p>
          </p:txBody>
        </p:sp>
        <p:sp>
          <p:nvSpPr>
            <p:cNvPr id="420875" name="Rectangle 11"/>
            <p:cNvSpPr>
              <a:spLocks noChangeArrowheads="1"/>
            </p:cNvSpPr>
            <p:nvPr/>
          </p:nvSpPr>
          <p:spPr bwMode="auto">
            <a:xfrm>
              <a:off x="3168" y="864"/>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0876" name="Text Box 12"/>
            <p:cNvSpPr txBox="1">
              <a:spLocks noChangeArrowheads="1"/>
            </p:cNvSpPr>
            <p:nvPr/>
          </p:nvSpPr>
          <p:spPr bwMode="auto">
            <a:xfrm>
              <a:off x="432" y="624"/>
              <a:ext cx="2284" cy="231"/>
            </a:xfrm>
            <a:prstGeom prst="rect">
              <a:avLst/>
            </a:prstGeom>
            <a:noFill/>
            <a:ln w="12700">
              <a:noFill/>
              <a:miter lim="800000"/>
              <a:headEnd/>
              <a:tailEnd/>
            </a:ln>
            <a:effectLst/>
          </p:spPr>
          <p:txBody>
            <a:bodyPr wrap="none">
              <a:spAutoFit/>
            </a:bodyPr>
            <a:lstStyle/>
            <a:p>
              <a:r>
                <a:rPr lang="en-US">
                  <a:solidFill>
                    <a:schemeClr val="tx1"/>
                  </a:solidFill>
                </a:rPr>
                <a:t>op         rs      rt      rd             funct</a:t>
              </a:r>
            </a:p>
          </p:txBody>
        </p:sp>
        <p:sp>
          <p:nvSpPr>
            <p:cNvPr id="420877" name="Line 13"/>
            <p:cNvSpPr>
              <a:spLocks noChangeShapeType="1"/>
            </p:cNvSpPr>
            <p:nvPr/>
          </p:nvSpPr>
          <p:spPr bwMode="auto">
            <a:xfrm>
              <a:off x="1056" y="816"/>
              <a:ext cx="0" cy="144"/>
            </a:xfrm>
            <a:prstGeom prst="line">
              <a:avLst/>
            </a:prstGeom>
            <a:noFill/>
            <a:ln w="12700">
              <a:solidFill>
                <a:schemeClr val="tx1"/>
              </a:solidFill>
              <a:round/>
              <a:headEnd/>
              <a:tailEnd/>
            </a:ln>
            <a:effectLst/>
          </p:spPr>
          <p:txBody>
            <a:bodyPr/>
            <a:lstStyle/>
            <a:p>
              <a:endParaRPr lang="en-US"/>
            </a:p>
          </p:txBody>
        </p:sp>
        <p:sp>
          <p:nvSpPr>
            <p:cNvPr id="420878" name="Line 14"/>
            <p:cNvSpPr>
              <a:spLocks noChangeShapeType="1"/>
            </p:cNvSpPr>
            <p:nvPr/>
          </p:nvSpPr>
          <p:spPr bwMode="auto">
            <a:xfrm>
              <a:off x="1056" y="960"/>
              <a:ext cx="2112" cy="0"/>
            </a:xfrm>
            <a:prstGeom prst="line">
              <a:avLst/>
            </a:prstGeom>
            <a:noFill/>
            <a:ln w="12700">
              <a:solidFill>
                <a:schemeClr val="tx1"/>
              </a:solidFill>
              <a:round/>
              <a:headEnd/>
              <a:tailEnd type="triangle" w="med" len="med"/>
            </a:ln>
            <a:effectLst/>
          </p:spPr>
          <p:txBody>
            <a:bodyPr/>
            <a:lstStyle/>
            <a:p>
              <a:endParaRPr lang="en-US"/>
            </a:p>
          </p:txBody>
        </p:sp>
        <p:sp>
          <p:nvSpPr>
            <p:cNvPr id="420879" name="Rectangle 15"/>
            <p:cNvSpPr>
              <a:spLocks noChangeArrowheads="1"/>
            </p:cNvSpPr>
            <p:nvPr/>
          </p:nvSpPr>
          <p:spPr bwMode="auto">
            <a:xfrm>
              <a:off x="3888" y="624"/>
              <a:ext cx="912" cy="250"/>
            </a:xfrm>
            <a:prstGeom prst="rect">
              <a:avLst/>
            </a:prstGeom>
            <a:noFill/>
            <a:ln w="12700">
              <a:noFill/>
              <a:miter lim="800000"/>
              <a:headEnd/>
              <a:tailEnd/>
            </a:ln>
            <a:effectLst/>
          </p:spPr>
          <p:txBody>
            <a:bodyPr>
              <a:spAutoFit/>
            </a:bodyPr>
            <a:lstStyle/>
            <a:p>
              <a:r>
                <a:rPr lang="en-US" sz="2000">
                  <a:solidFill>
                    <a:schemeClr val="tx1"/>
                  </a:solidFill>
                </a:rPr>
                <a:t>Register</a:t>
              </a:r>
            </a:p>
          </p:txBody>
        </p:sp>
        <p:sp>
          <p:nvSpPr>
            <p:cNvPr id="420880" name="Text Box 16"/>
            <p:cNvSpPr txBox="1">
              <a:spLocks noChangeArrowheads="1"/>
            </p:cNvSpPr>
            <p:nvPr/>
          </p:nvSpPr>
          <p:spPr bwMode="auto">
            <a:xfrm>
              <a:off x="3744" y="864"/>
              <a:ext cx="996" cy="231"/>
            </a:xfrm>
            <a:prstGeom prst="rect">
              <a:avLst/>
            </a:prstGeom>
            <a:noFill/>
            <a:ln w="12700">
              <a:noFill/>
              <a:miter lim="800000"/>
              <a:headEnd/>
              <a:tailEnd/>
            </a:ln>
            <a:effectLst/>
          </p:spPr>
          <p:txBody>
            <a:bodyPr wrap="none">
              <a:spAutoFit/>
            </a:bodyPr>
            <a:lstStyle/>
            <a:p>
              <a:r>
                <a:rPr lang="en-US">
                  <a:solidFill>
                    <a:schemeClr val="tx1"/>
                  </a:solidFill>
                </a:rPr>
                <a:t>word </a:t>
              </a:r>
              <a:r>
                <a:rPr lang="en-US"/>
                <a:t>operand</a:t>
              </a:r>
            </a:p>
          </p:txBody>
        </p:sp>
      </p:grpSp>
      <p:grpSp>
        <p:nvGrpSpPr>
          <p:cNvPr id="5" name="Group 42"/>
          <p:cNvGrpSpPr>
            <a:grpSpLocks/>
          </p:cNvGrpSpPr>
          <p:nvPr/>
        </p:nvGrpSpPr>
        <p:grpSpPr bwMode="auto">
          <a:xfrm>
            <a:off x="304800" y="2971800"/>
            <a:ext cx="4114800" cy="747713"/>
            <a:chOff x="192" y="1872"/>
            <a:chExt cx="2592" cy="471"/>
          </a:xfrm>
        </p:grpSpPr>
        <p:sp>
          <p:nvSpPr>
            <p:cNvPr id="420907" name="Rectangle 43"/>
            <p:cNvSpPr>
              <a:spLocks noChangeArrowheads="1"/>
            </p:cNvSpPr>
            <p:nvPr/>
          </p:nvSpPr>
          <p:spPr bwMode="auto">
            <a:xfrm>
              <a:off x="192" y="1872"/>
              <a:ext cx="2208" cy="250"/>
            </a:xfrm>
            <a:prstGeom prst="rect">
              <a:avLst/>
            </a:prstGeom>
            <a:noFill/>
            <a:ln w="12700">
              <a:noFill/>
              <a:miter lim="800000"/>
              <a:headEnd/>
              <a:tailEnd/>
            </a:ln>
            <a:effectLst/>
          </p:spPr>
          <p:txBody>
            <a:bodyPr>
              <a:spAutoFit/>
            </a:bodyPr>
            <a:lstStyle/>
            <a:p>
              <a:r>
                <a:rPr lang="en-US" sz="2000">
                  <a:solidFill>
                    <a:schemeClr val="tx1"/>
                  </a:solidFill>
                </a:rPr>
                <a:t>3. Immediate addressing</a:t>
              </a:r>
            </a:p>
          </p:txBody>
        </p:sp>
        <p:sp>
          <p:nvSpPr>
            <p:cNvPr id="420908" name="Text Box 44"/>
            <p:cNvSpPr txBox="1">
              <a:spLocks noChangeArrowheads="1"/>
            </p:cNvSpPr>
            <p:nvPr/>
          </p:nvSpPr>
          <p:spPr bwMode="auto">
            <a:xfrm>
              <a:off x="432" y="2112"/>
              <a:ext cx="1892" cy="231"/>
            </a:xfrm>
            <a:prstGeom prst="rect">
              <a:avLst/>
            </a:prstGeom>
            <a:noFill/>
            <a:ln w="12700">
              <a:noFill/>
              <a:miter lim="800000"/>
              <a:headEnd/>
              <a:tailEnd/>
            </a:ln>
            <a:effectLst/>
          </p:spPr>
          <p:txBody>
            <a:bodyPr wrap="none">
              <a:spAutoFit/>
            </a:bodyPr>
            <a:lstStyle/>
            <a:p>
              <a:r>
                <a:rPr lang="en-US">
                  <a:solidFill>
                    <a:schemeClr val="tx1"/>
                  </a:solidFill>
                </a:rPr>
                <a:t>op         rs      rt       </a:t>
              </a:r>
              <a:r>
                <a:rPr lang="en-US"/>
                <a:t>operand</a:t>
              </a:r>
            </a:p>
          </p:txBody>
        </p:sp>
        <p:sp>
          <p:nvSpPr>
            <p:cNvPr id="420909" name="Rectangle 45"/>
            <p:cNvSpPr>
              <a:spLocks noChangeArrowheads="1"/>
            </p:cNvSpPr>
            <p:nvPr/>
          </p:nvSpPr>
          <p:spPr bwMode="auto">
            <a:xfrm>
              <a:off x="336" y="2112"/>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0910" name="Line 46"/>
            <p:cNvSpPr>
              <a:spLocks noChangeShapeType="1"/>
            </p:cNvSpPr>
            <p:nvPr/>
          </p:nvSpPr>
          <p:spPr bwMode="auto">
            <a:xfrm>
              <a:off x="816" y="2112"/>
              <a:ext cx="0" cy="183"/>
            </a:xfrm>
            <a:prstGeom prst="line">
              <a:avLst/>
            </a:prstGeom>
            <a:noFill/>
            <a:ln w="12700">
              <a:solidFill>
                <a:schemeClr val="tx1"/>
              </a:solidFill>
              <a:round/>
              <a:headEnd/>
              <a:tailEnd/>
            </a:ln>
            <a:effectLst/>
          </p:spPr>
          <p:txBody>
            <a:bodyPr/>
            <a:lstStyle/>
            <a:p>
              <a:endParaRPr lang="en-US"/>
            </a:p>
          </p:txBody>
        </p:sp>
        <p:sp>
          <p:nvSpPr>
            <p:cNvPr id="420911" name="Line 47"/>
            <p:cNvSpPr>
              <a:spLocks noChangeShapeType="1"/>
            </p:cNvSpPr>
            <p:nvPr/>
          </p:nvSpPr>
          <p:spPr bwMode="auto">
            <a:xfrm>
              <a:off x="1200" y="2112"/>
              <a:ext cx="0" cy="183"/>
            </a:xfrm>
            <a:prstGeom prst="line">
              <a:avLst/>
            </a:prstGeom>
            <a:noFill/>
            <a:ln w="12700">
              <a:solidFill>
                <a:schemeClr val="tx1"/>
              </a:solidFill>
              <a:round/>
              <a:headEnd/>
              <a:tailEnd/>
            </a:ln>
            <a:effectLst/>
          </p:spPr>
          <p:txBody>
            <a:bodyPr/>
            <a:lstStyle/>
            <a:p>
              <a:endParaRPr lang="en-US"/>
            </a:p>
          </p:txBody>
        </p:sp>
        <p:sp>
          <p:nvSpPr>
            <p:cNvPr id="420912" name="Line 48"/>
            <p:cNvSpPr>
              <a:spLocks noChangeShapeType="1"/>
            </p:cNvSpPr>
            <p:nvPr/>
          </p:nvSpPr>
          <p:spPr bwMode="auto">
            <a:xfrm>
              <a:off x="1584" y="2112"/>
              <a:ext cx="0" cy="183"/>
            </a:xfrm>
            <a:prstGeom prst="line">
              <a:avLst/>
            </a:prstGeom>
            <a:noFill/>
            <a:ln w="12700">
              <a:solidFill>
                <a:schemeClr val="tx1"/>
              </a:solidFill>
              <a:round/>
              <a:headEnd/>
              <a:tailEnd/>
            </a:ln>
            <a:effectLst/>
          </p:spPr>
          <p:txBody>
            <a:bodyPr/>
            <a:lstStyle/>
            <a:p>
              <a:endParaRPr lang="en-US"/>
            </a:p>
          </p:txBody>
        </p:sp>
      </p:grpSp>
      <p:grpSp>
        <p:nvGrpSpPr>
          <p:cNvPr id="50" name="Group 49"/>
          <p:cNvGrpSpPr/>
          <p:nvPr/>
        </p:nvGrpSpPr>
        <p:grpSpPr>
          <a:xfrm>
            <a:off x="304800" y="1524000"/>
            <a:ext cx="8610600" cy="1509713"/>
            <a:chOff x="304800" y="1524000"/>
            <a:chExt cx="8610600" cy="1509713"/>
          </a:xfrm>
        </p:grpSpPr>
        <p:grpSp>
          <p:nvGrpSpPr>
            <p:cNvPr id="3" name="Group 17"/>
            <p:cNvGrpSpPr>
              <a:grpSpLocks/>
            </p:cNvGrpSpPr>
            <p:nvPr/>
          </p:nvGrpSpPr>
          <p:grpSpPr bwMode="auto">
            <a:xfrm>
              <a:off x="304800" y="1524000"/>
              <a:ext cx="8610600" cy="1509713"/>
              <a:chOff x="192" y="960"/>
              <a:chExt cx="5424" cy="951"/>
            </a:xfrm>
          </p:grpSpPr>
          <p:sp>
            <p:nvSpPr>
              <p:cNvPr id="420882" name="Text Box 18"/>
              <p:cNvSpPr txBox="1">
                <a:spLocks noChangeArrowheads="1"/>
              </p:cNvSpPr>
              <p:nvPr/>
            </p:nvSpPr>
            <p:spPr bwMode="auto">
              <a:xfrm>
                <a:off x="432" y="1200"/>
                <a:ext cx="1916" cy="231"/>
              </a:xfrm>
              <a:prstGeom prst="rect">
                <a:avLst/>
              </a:prstGeom>
              <a:noFill/>
              <a:ln w="12700">
                <a:noFill/>
                <a:miter lim="800000"/>
                <a:headEnd/>
                <a:tailEnd/>
              </a:ln>
              <a:effectLst/>
            </p:spPr>
            <p:txBody>
              <a:bodyPr wrap="none">
                <a:spAutoFit/>
              </a:bodyPr>
              <a:lstStyle/>
              <a:p>
                <a:r>
                  <a:rPr lang="en-US">
                    <a:solidFill>
                      <a:schemeClr val="tx1"/>
                    </a:solidFill>
                  </a:rPr>
                  <a:t>op         rs       rt           offset</a:t>
                </a:r>
              </a:p>
            </p:txBody>
          </p:sp>
          <p:sp>
            <p:nvSpPr>
              <p:cNvPr id="420883" name="Rectangle 19"/>
              <p:cNvSpPr>
                <a:spLocks noChangeArrowheads="1"/>
              </p:cNvSpPr>
              <p:nvPr/>
            </p:nvSpPr>
            <p:spPr bwMode="auto">
              <a:xfrm>
                <a:off x="336" y="1200"/>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0884" name="Line 20"/>
              <p:cNvSpPr>
                <a:spLocks noChangeShapeType="1"/>
              </p:cNvSpPr>
              <p:nvPr/>
            </p:nvSpPr>
            <p:spPr bwMode="auto">
              <a:xfrm>
                <a:off x="816" y="1200"/>
                <a:ext cx="0" cy="183"/>
              </a:xfrm>
              <a:prstGeom prst="line">
                <a:avLst/>
              </a:prstGeom>
              <a:noFill/>
              <a:ln w="12700">
                <a:solidFill>
                  <a:schemeClr val="tx1"/>
                </a:solidFill>
                <a:round/>
                <a:headEnd/>
                <a:tailEnd/>
              </a:ln>
              <a:effectLst/>
            </p:spPr>
            <p:txBody>
              <a:bodyPr/>
              <a:lstStyle/>
              <a:p>
                <a:endParaRPr lang="en-US"/>
              </a:p>
            </p:txBody>
          </p:sp>
          <p:sp>
            <p:nvSpPr>
              <p:cNvPr id="420885" name="Line 21"/>
              <p:cNvSpPr>
                <a:spLocks noChangeShapeType="1"/>
              </p:cNvSpPr>
              <p:nvPr/>
            </p:nvSpPr>
            <p:spPr bwMode="auto">
              <a:xfrm>
                <a:off x="1200" y="1200"/>
                <a:ext cx="0" cy="183"/>
              </a:xfrm>
              <a:prstGeom prst="line">
                <a:avLst/>
              </a:prstGeom>
              <a:noFill/>
              <a:ln w="12700">
                <a:solidFill>
                  <a:schemeClr val="tx1"/>
                </a:solidFill>
                <a:round/>
                <a:headEnd/>
                <a:tailEnd/>
              </a:ln>
              <a:effectLst/>
            </p:spPr>
            <p:txBody>
              <a:bodyPr/>
              <a:lstStyle/>
              <a:p>
                <a:endParaRPr lang="en-US"/>
              </a:p>
            </p:txBody>
          </p:sp>
          <p:sp>
            <p:nvSpPr>
              <p:cNvPr id="420886" name="Line 22"/>
              <p:cNvSpPr>
                <a:spLocks noChangeShapeType="1"/>
              </p:cNvSpPr>
              <p:nvPr/>
            </p:nvSpPr>
            <p:spPr bwMode="auto">
              <a:xfrm>
                <a:off x="1584" y="1200"/>
                <a:ext cx="0" cy="183"/>
              </a:xfrm>
              <a:prstGeom prst="line">
                <a:avLst/>
              </a:prstGeom>
              <a:noFill/>
              <a:ln w="12700">
                <a:solidFill>
                  <a:schemeClr val="tx1"/>
                </a:solidFill>
                <a:round/>
                <a:headEnd/>
                <a:tailEnd/>
              </a:ln>
              <a:effectLst/>
            </p:spPr>
            <p:txBody>
              <a:bodyPr/>
              <a:lstStyle/>
              <a:p>
                <a:endParaRPr lang="en-US"/>
              </a:p>
            </p:txBody>
          </p:sp>
          <p:sp>
            <p:nvSpPr>
              <p:cNvPr id="420887" name="Rectangle 23"/>
              <p:cNvSpPr>
                <a:spLocks noChangeArrowheads="1"/>
              </p:cNvSpPr>
              <p:nvPr/>
            </p:nvSpPr>
            <p:spPr bwMode="auto">
              <a:xfrm>
                <a:off x="192" y="960"/>
                <a:ext cx="2832" cy="252"/>
              </a:xfrm>
              <a:prstGeom prst="rect">
                <a:avLst/>
              </a:prstGeom>
              <a:noFill/>
              <a:ln w="12700">
                <a:noFill/>
                <a:miter lim="800000"/>
                <a:headEnd/>
                <a:tailEnd/>
              </a:ln>
              <a:effectLst/>
            </p:spPr>
            <p:txBody>
              <a:bodyPr wrap="square">
                <a:spAutoFit/>
              </a:bodyPr>
              <a:lstStyle/>
              <a:p>
                <a:r>
                  <a:rPr lang="en-US" sz="2000" dirty="0">
                    <a:solidFill>
                      <a:schemeClr val="tx1"/>
                    </a:solidFill>
                  </a:rPr>
                  <a:t>2. Base </a:t>
                </a:r>
                <a:r>
                  <a:rPr lang="en-US" sz="2000" dirty="0" smtClean="0">
                    <a:solidFill>
                      <a:schemeClr val="tx1"/>
                    </a:solidFill>
                  </a:rPr>
                  <a:t>(displacement) addressing</a:t>
                </a:r>
                <a:endParaRPr lang="en-US" sz="2000" dirty="0">
                  <a:solidFill>
                    <a:schemeClr val="tx1"/>
                  </a:solidFill>
                </a:endParaRPr>
              </a:p>
            </p:txBody>
          </p:sp>
          <p:sp>
            <p:nvSpPr>
              <p:cNvPr id="420888" name="Rectangle 24"/>
              <p:cNvSpPr>
                <a:spLocks noChangeArrowheads="1"/>
              </p:cNvSpPr>
              <p:nvPr/>
            </p:nvSpPr>
            <p:spPr bwMode="auto">
              <a:xfrm>
                <a:off x="336" y="1680"/>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0889" name="Text Box 25"/>
              <p:cNvSpPr txBox="1">
                <a:spLocks noChangeArrowheads="1"/>
              </p:cNvSpPr>
              <p:nvPr/>
            </p:nvSpPr>
            <p:spPr bwMode="auto">
              <a:xfrm>
                <a:off x="1008" y="1680"/>
                <a:ext cx="948" cy="231"/>
              </a:xfrm>
              <a:prstGeom prst="rect">
                <a:avLst/>
              </a:prstGeom>
              <a:noFill/>
              <a:ln w="12700">
                <a:noFill/>
                <a:miter lim="800000"/>
                <a:headEnd/>
                <a:tailEnd/>
              </a:ln>
              <a:effectLst/>
            </p:spPr>
            <p:txBody>
              <a:bodyPr wrap="none">
                <a:spAutoFit/>
              </a:bodyPr>
              <a:lstStyle/>
              <a:p>
                <a:r>
                  <a:rPr lang="en-US">
                    <a:solidFill>
                      <a:schemeClr val="tx1"/>
                    </a:solidFill>
                  </a:rPr>
                  <a:t>base register</a:t>
                </a:r>
              </a:p>
            </p:txBody>
          </p:sp>
          <p:grpSp>
            <p:nvGrpSpPr>
              <p:cNvPr id="4" name="Group 26"/>
              <p:cNvGrpSpPr>
                <a:grpSpLocks/>
              </p:cNvGrpSpPr>
              <p:nvPr/>
            </p:nvGrpSpPr>
            <p:grpSpPr bwMode="auto">
              <a:xfrm>
                <a:off x="2880" y="1392"/>
                <a:ext cx="192" cy="336"/>
                <a:chOff x="1392" y="2880"/>
                <a:chExt cx="288" cy="480"/>
              </a:xfrm>
            </p:grpSpPr>
            <p:sp>
              <p:nvSpPr>
                <p:cNvPr id="420891" name="Line 27"/>
                <p:cNvSpPr>
                  <a:spLocks noChangeShapeType="1"/>
                </p:cNvSpPr>
                <p:nvPr/>
              </p:nvSpPr>
              <p:spPr bwMode="auto">
                <a:xfrm>
                  <a:off x="1392" y="3072"/>
                  <a:ext cx="48" cy="48"/>
                </a:xfrm>
                <a:prstGeom prst="line">
                  <a:avLst/>
                </a:prstGeom>
                <a:noFill/>
                <a:ln w="12700">
                  <a:solidFill>
                    <a:schemeClr val="tx1"/>
                  </a:solidFill>
                  <a:round/>
                  <a:headEnd/>
                  <a:tailEnd/>
                </a:ln>
                <a:effectLst/>
              </p:spPr>
              <p:txBody>
                <a:bodyPr/>
                <a:lstStyle/>
                <a:p>
                  <a:endParaRPr lang="en-US"/>
                </a:p>
              </p:txBody>
            </p:sp>
            <p:sp>
              <p:nvSpPr>
                <p:cNvPr id="420892" name="Line 28"/>
                <p:cNvSpPr>
                  <a:spLocks noChangeShapeType="1"/>
                </p:cNvSpPr>
                <p:nvPr/>
              </p:nvSpPr>
              <p:spPr bwMode="auto">
                <a:xfrm flipH="1">
                  <a:off x="1392" y="3120"/>
                  <a:ext cx="48" cy="48"/>
                </a:xfrm>
                <a:prstGeom prst="line">
                  <a:avLst/>
                </a:prstGeom>
                <a:noFill/>
                <a:ln w="12700">
                  <a:solidFill>
                    <a:schemeClr val="tx1"/>
                  </a:solidFill>
                  <a:round/>
                  <a:headEnd/>
                  <a:tailEnd/>
                </a:ln>
                <a:effectLst/>
              </p:spPr>
              <p:txBody>
                <a:bodyPr/>
                <a:lstStyle/>
                <a:p>
                  <a:endParaRPr lang="en-US"/>
                </a:p>
              </p:txBody>
            </p:sp>
            <p:sp>
              <p:nvSpPr>
                <p:cNvPr id="420893" name="Line 29"/>
                <p:cNvSpPr>
                  <a:spLocks noChangeShapeType="1"/>
                </p:cNvSpPr>
                <p:nvPr/>
              </p:nvSpPr>
              <p:spPr bwMode="auto">
                <a:xfrm flipV="1">
                  <a:off x="1392" y="2880"/>
                  <a:ext cx="0" cy="192"/>
                </a:xfrm>
                <a:prstGeom prst="line">
                  <a:avLst/>
                </a:prstGeom>
                <a:noFill/>
                <a:ln w="12700">
                  <a:solidFill>
                    <a:schemeClr val="tx1"/>
                  </a:solidFill>
                  <a:round/>
                  <a:headEnd/>
                  <a:tailEnd/>
                </a:ln>
                <a:effectLst/>
              </p:spPr>
              <p:txBody>
                <a:bodyPr/>
                <a:lstStyle/>
                <a:p>
                  <a:endParaRPr lang="en-US"/>
                </a:p>
              </p:txBody>
            </p:sp>
            <p:sp>
              <p:nvSpPr>
                <p:cNvPr id="420894" name="Line 30"/>
                <p:cNvSpPr>
                  <a:spLocks noChangeShapeType="1"/>
                </p:cNvSpPr>
                <p:nvPr/>
              </p:nvSpPr>
              <p:spPr bwMode="auto">
                <a:xfrm flipV="1">
                  <a:off x="1392" y="3168"/>
                  <a:ext cx="0" cy="192"/>
                </a:xfrm>
                <a:prstGeom prst="line">
                  <a:avLst/>
                </a:prstGeom>
                <a:noFill/>
                <a:ln w="12700">
                  <a:solidFill>
                    <a:schemeClr val="tx1"/>
                  </a:solidFill>
                  <a:round/>
                  <a:headEnd/>
                  <a:tailEnd/>
                </a:ln>
                <a:effectLst/>
              </p:spPr>
              <p:txBody>
                <a:bodyPr/>
                <a:lstStyle/>
                <a:p>
                  <a:endParaRPr lang="en-US"/>
                </a:p>
              </p:txBody>
            </p:sp>
            <p:sp>
              <p:nvSpPr>
                <p:cNvPr id="420895" name="Line 31"/>
                <p:cNvSpPr>
                  <a:spLocks noChangeShapeType="1"/>
                </p:cNvSpPr>
                <p:nvPr/>
              </p:nvSpPr>
              <p:spPr bwMode="auto">
                <a:xfrm flipV="1">
                  <a:off x="1392" y="3216"/>
                  <a:ext cx="288" cy="144"/>
                </a:xfrm>
                <a:prstGeom prst="line">
                  <a:avLst/>
                </a:prstGeom>
                <a:noFill/>
                <a:ln w="12700">
                  <a:solidFill>
                    <a:schemeClr val="tx1"/>
                  </a:solidFill>
                  <a:round/>
                  <a:headEnd/>
                  <a:tailEnd/>
                </a:ln>
                <a:effectLst/>
              </p:spPr>
              <p:txBody>
                <a:bodyPr/>
                <a:lstStyle/>
                <a:p>
                  <a:endParaRPr lang="en-US"/>
                </a:p>
              </p:txBody>
            </p:sp>
            <p:sp>
              <p:nvSpPr>
                <p:cNvPr id="420896" name="Line 32"/>
                <p:cNvSpPr>
                  <a:spLocks noChangeShapeType="1"/>
                </p:cNvSpPr>
                <p:nvPr/>
              </p:nvSpPr>
              <p:spPr bwMode="auto">
                <a:xfrm flipV="1">
                  <a:off x="1680" y="3024"/>
                  <a:ext cx="0" cy="192"/>
                </a:xfrm>
                <a:prstGeom prst="line">
                  <a:avLst/>
                </a:prstGeom>
                <a:noFill/>
                <a:ln w="12700">
                  <a:solidFill>
                    <a:schemeClr val="tx1"/>
                  </a:solidFill>
                  <a:round/>
                  <a:headEnd/>
                  <a:tailEnd/>
                </a:ln>
                <a:effectLst/>
              </p:spPr>
              <p:txBody>
                <a:bodyPr/>
                <a:lstStyle/>
                <a:p>
                  <a:endParaRPr lang="en-US"/>
                </a:p>
              </p:txBody>
            </p:sp>
            <p:sp>
              <p:nvSpPr>
                <p:cNvPr id="420897" name="Line 33"/>
                <p:cNvSpPr>
                  <a:spLocks noChangeShapeType="1"/>
                </p:cNvSpPr>
                <p:nvPr/>
              </p:nvSpPr>
              <p:spPr bwMode="auto">
                <a:xfrm>
                  <a:off x="1392" y="2880"/>
                  <a:ext cx="288" cy="144"/>
                </a:xfrm>
                <a:prstGeom prst="line">
                  <a:avLst/>
                </a:prstGeom>
                <a:noFill/>
                <a:ln w="12700">
                  <a:solidFill>
                    <a:schemeClr val="tx1"/>
                  </a:solidFill>
                  <a:round/>
                  <a:headEnd/>
                  <a:tailEnd/>
                </a:ln>
                <a:effectLst/>
              </p:spPr>
              <p:txBody>
                <a:bodyPr/>
                <a:lstStyle/>
                <a:p>
                  <a:endParaRPr lang="en-US"/>
                </a:p>
              </p:txBody>
            </p:sp>
          </p:grpSp>
          <p:sp>
            <p:nvSpPr>
              <p:cNvPr id="420898" name="Line 34"/>
              <p:cNvSpPr>
                <a:spLocks noChangeShapeType="1"/>
              </p:cNvSpPr>
              <p:nvPr/>
            </p:nvSpPr>
            <p:spPr bwMode="auto">
              <a:xfrm>
                <a:off x="2160" y="1392"/>
                <a:ext cx="0" cy="48"/>
              </a:xfrm>
              <a:prstGeom prst="line">
                <a:avLst/>
              </a:prstGeom>
              <a:noFill/>
              <a:ln w="12700">
                <a:solidFill>
                  <a:schemeClr val="tx1"/>
                </a:solidFill>
                <a:round/>
                <a:headEnd/>
                <a:tailEnd/>
              </a:ln>
              <a:effectLst/>
            </p:spPr>
            <p:txBody>
              <a:bodyPr/>
              <a:lstStyle/>
              <a:p>
                <a:endParaRPr lang="en-US"/>
              </a:p>
            </p:txBody>
          </p:sp>
          <p:sp>
            <p:nvSpPr>
              <p:cNvPr id="420899" name="Line 35"/>
              <p:cNvSpPr>
                <a:spLocks noChangeShapeType="1"/>
              </p:cNvSpPr>
              <p:nvPr/>
            </p:nvSpPr>
            <p:spPr bwMode="auto">
              <a:xfrm>
                <a:off x="2160" y="1440"/>
                <a:ext cx="720" cy="0"/>
              </a:xfrm>
              <a:prstGeom prst="line">
                <a:avLst/>
              </a:prstGeom>
              <a:noFill/>
              <a:ln w="12700">
                <a:solidFill>
                  <a:schemeClr val="tx1"/>
                </a:solidFill>
                <a:round/>
                <a:headEnd/>
                <a:tailEnd type="triangle" w="med" len="med"/>
              </a:ln>
              <a:effectLst/>
            </p:spPr>
            <p:txBody>
              <a:bodyPr/>
              <a:lstStyle/>
              <a:p>
                <a:endParaRPr lang="en-US"/>
              </a:p>
            </p:txBody>
          </p:sp>
          <p:sp>
            <p:nvSpPr>
              <p:cNvPr id="420900" name="Line 36"/>
              <p:cNvSpPr>
                <a:spLocks noChangeShapeType="1"/>
              </p:cNvSpPr>
              <p:nvPr/>
            </p:nvSpPr>
            <p:spPr bwMode="auto">
              <a:xfrm>
                <a:off x="1584" y="1632"/>
                <a:ext cx="1296" cy="0"/>
              </a:xfrm>
              <a:prstGeom prst="line">
                <a:avLst/>
              </a:prstGeom>
              <a:noFill/>
              <a:ln w="12700">
                <a:solidFill>
                  <a:schemeClr val="tx1"/>
                </a:solidFill>
                <a:round/>
                <a:headEnd/>
                <a:tailEnd type="triangle" w="med" len="med"/>
              </a:ln>
              <a:effectLst/>
            </p:spPr>
            <p:txBody>
              <a:bodyPr/>
              <a:lstStyle/>
              <a:p>
                <a:endParaRPr lang="en-US"/>
              </a:p>
            </p:txBody>
          </p:sp>
          <p:sp>
            <p:nvSpPr>
              <p:cNvPr id="420901" name="Line 37"/>
              <p:cNvSpPr>
                <a:spLocks noChangeShapeType="1"/>
              </p:cNvSpPr>
              <p:nvPr/>
            </p:nvSpPr>
            <p:spPr bwMode="auto">
              <a:xfrm>
                <a:off x="1584" y="1632"/>
                <a:ext cx="0" cy="48"/>
              </a:xfrm>
              <a:prstGeom prst="line">
                <a:avLst/>
              </a:prstGeom>
              <a:noFill/>
              <a:ln w="12700">
                <a:solidFill>
                  <a:schemeClr val="tx1"/>
                </a:solidFill>
                <a:round/>
                <a:headEnd/>
                <a:tailEnd/>
              </a:ln>
              <a:effectLst/>
            </p:spPr>
            <p:txBody>
              <a:bodyPr/>
              <a:lstStyle/>
              <a:p>
                <a:endParaRPr lang="en-US"/>
              </a:p>
            </p:txBody>
          </p:sp>
          <p:sp>
            <p:nvSpPr>
              <p:cNvPr id="420902" name="Rectangle 38"/>
              <p:cNvSpPr>
                <a:spLocks noChangeArrowheads="1"/>
              </p:cNvSpPr>
              <p:nvPr/>
            </p:nvSpPr>
            <p:spPr bwMode="auto">
              <a:xfrm>
                <a:off x="3168" y="1440"/>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0903" name="Rectangle 39"/>
              <p:cNvSpPr>
                <a:spLocks noChangeArrowheads="1"/>
              </p:cNvSpPr>
              <p:nvPr/>
            </p:nvSpPr>
            <p:spPr bwMode="auto">
              <a:xfrm>
                <a:off x="3888" y="1200"/>
                <a:ext cx="912" cy="250"/>
              </a:xfrm>
              <a:prstGeom prst="rect">
                <a:avLst/>
              </a:prstGeom>
              <a:noFill/>
              <a:ln w="12700">
                <a:noFill/>
                <a:miter lim="800000"/>
                <a:headEnd/>
                <a:tailEnd/>
              </a:ln>
              <a:effectLst/>
            </p:spPr>
            <p:txBody>
              <a:bodyPr>
                <a:spAutoFit/>
              </a:bodyPr>
              <a:lstStyle/>
              <a:p>
                <a:r>
                  <a:rPr lang="en-US" sz="2000">
                    <a:solidFill>
                      <a:schemeClr val="tx1"/>
                    </a:solidFill>
                  </a:rPr>
                  <a:t>Memory</a:t>
                </a:r>
              </a:p>
            </p:txBody>
          </p:sp>
          <p:sp>
            <p:nvSpPr>
              <p:cNvPr id="420904" name="Text Box 40"/>
              <p:cNvSpPr txBox="1">
                <a:spLocks noChangeArrowheads="1"/>
              </p:cNvSpPr>
              <p:nvPr/>
            </p:nvSpPr>
            <p:spPr bwMode="auto">
              <a:xfrm>
                <a:off x="3552" y="1440"/>
                <a:ext cx="1476" cy="231"/>
              </a:xfrm>
              <a:prstGeom prst="rect">
                <a:avLst/>
              </a:prstGeom>
              <a:noFill/>
              <a:ln w="12700">
                <a:noFill/>
                <a:miter lim="800000"/>
                <a:headEnd/>
                <a:tailEnd/>
              </a:ln>
              <a:effectLst/>
            </p:spPr>
            <p:txBody>
              <a:bodyPr wrap="none">
                <a:spAutoFit/>
              </a:bodyPr>
              <a:lstStyle/>
              <a:p>
                <a:r>
                  <a:rPr lang="en-US">
                    <a:solidFill>
                      <a:schemeClr val="tx1"/>
                    </a:solidFill>
                  </a:rPr>
                  <a:t>word or byte </a:t>
                </a:r>
                <a:r>
                  <a:rPr lang="en-US"/>
                  <a:t>operand</a:t>
                </a:r>
              </a:p>
            </p:txBody>
          </p:sp>
          <p:sp>
            <p:nvSpPr>
              <p:cNvPr id="420905" name="Line 41"/>
              <p:cNvSpPr>
                <a:spLocks noChangeShapeType="1"/>
              </p:cNvSpPr>
              <p:nvPr/>
            </p:nvSpPr>
            <p:spPr bwMode="auto">
              <a:xfrm>
                <a:off x="3072" y="1584"/>
                <a:ext cx="96" cy="0"/>
              </a:xfrm>
              <a:prstGeom prst="line">
                <a:avLst/>
              </a:prstGeom>
              <a:noFill/>
              <a:ln w="12700">
                <a:solidFill>
                  <a:schemeClr val="tx1"/>
                </a:solidFill>
                <a:round/>
                <a:headEnd/>
                <a:tailEnd type="triangle" w="med" len="med"/>
              </a:ln>
              <a:effectLst/>
            </p:spPr>
            <p:txBody>
              <a:bodyPr/>
              <a:lstStyle/>
              <a:p>
                <a:endParaRPr lang="en-US"/>
              </a:p>
            </p:txBody>
          </p:sp>
        </p:grpSp>
        <p:cxnSp>
          <p:nvCxnSpPr>
            <p:cNvPr id="93" name="Straight Arrow Connector 92"/>
            <p:cNvCxnSpPr/>
            <p:nvPr/>
          </p:nvCxnSpPr>
          <p:spPr bwMode="auto">
            <a:xfrm rot="5400000">
              <a:off x="1372394" y="2437606"/>
              <a:ext cx="457200" cy="1588"/>
            </a:xfrm>
            <a:prstGeom prst="straightConnector1">
              <a:avLst/>
            </a:prstGeom>
            <a:noFill/>
            <a:ln w="12700" cap="flat" cmpd="sng" algn="ctr">
              <a:solidFill>
                <a:schemeClr val="tx1"/>
              </a:solidFill>
              <a:prstDash val="solid"/>
              <a:round/>
              <a:headEnd type="none" w="med" len="med"/>
              <a:tailEnd type="arrow"/>
            </a:ln>
            <a:effectLst/>
          </p:spPr>
        </p:cxnSp>
      </p:grpSp>
      <p:grpSp>
        <p:nvGrpSpPr>
          <p:cNvPr id="51" name="Group 33"/>
          <p:cNvGrpSpPr>
            <a:grpSpLocks/>
          </p:cNvGrpSpPr>
          <p:nvPr/>
        </p:nvGrpSpPr>
        <p:grpSpPr bwMode="auto">
          <a:xfrm>
            <a:off x="304800" y="4005064"/>
            <a:ext cx="8610600" cy="2000456"/>
            <a:chOff x="192" y="3216"/>
            <a:chExt cx="5424" cy="903"/>
          </a:xfrm>
        </p:grpSpPr>
        <p:sp>
          <p:nvSpPr>
            <p:cNvPr id="52" name="Rectangle 34"/>
            <p:cNvSpPr>
              <a:spLocks noChangeArrowheads="1"/>
            </p:cNvSpPr>
            <p:nvPr/>
          </p:nvSpPr>
          <p:spPr bwMode="auto">
            <a:xfrm>
              <a:off x="192" y="3216"/>
              <a:ext cx="2208" cy="181"/>
            </a:xfrm>
            <a:prstGeom prst="rect">
              <a:avLst/>
            </a:prstGeom>
            <a:noFill/>
            <a:ln w="12700">
              <a:noFill/>
              <a:miter lim="800000"/>
              <a:headEnd/>
              <a:tailEnd/>
            </a:ln>
            <a:effectLst/>
          </p:spPr>
          <p:txBody>
            <a:bodyPr>
              <a:spAutoFit/>
            </a:bodyPr>
            <a:lstStyle/>
            <a:p>
              <a:r>
                <a:rPr lang="en-US" sz="2000" dirty="0">
                  <a:solidFill>
                    <a:schemeClr val="tx1"/>
                  </a:solidFill>
                </a:rPr>
                <a:t>4</a:t>
              </a:r>
              <a:r>
                <a:rPr lang="en-US" sz="2000" dirty="0" smtClean="0">
                  <a:solidFill>
                    <a:schemeClr val="tx1"/>
                  </a:solidFill>
                </a:rPr>
                <a:t>. </a:t>
              </a:r>
              <a:r>
                <a:rPr lang="en-US" sz="2000" dirty="0">
                  <a:solidFill>
                    <a:schemeClr val="tx1"/>
                  </a:solidFill>
                </a:rPr>
                <a:t>Pseudo-direct addressing</a:t>
              </a:r>
            </a:p>
          </p:txBody>
        </p:sp>
        <p:sp>
          <p:nvSpPr>
            <p:cNvPr id="53" name="Text Box 35"/>
            <p:cNvSpPr txBox="1">
              <a:spLocks noChangeArrowheads="1"/>
            </p:cNvSpPr>
            <p:nvPr/>
          </p:nvSpPr>
          <p:spPr bwMode="auto">
            <a:xfrm>
              <a:off x="432" y="3456"/>
              <a:ext cx="1740" cy="231"/>
            </a:xfrm>
            <a:prstGeom prst="rect">
              <a:avLst/>
            </a:prstGeom>
            <a:noFill/>
            <a:ln w="12700">
              <a:noFill/>
              <a:miter lim="800000"/>
              <a:headEnd/>
              <a:tailEnd/>
            </a:ln>
            <a:effectLst/>
          </p:spPr>
          <p:txBody>
            <a:bodyPr wrap="none">
              <a:spAutoFit/>
            </a:bodyPr>
            <a:lstStyle/>
            <a:p>
              <a:r>
                <a:rPr lang="en-US">
                  <a:solidFill>
                    <a:schemeClr val="tx1"/>
                  </a:solidFill>
                </a:rPr>
                <a:t>op               jump address</a:t>
              </a:r>
            </a:p>
          </p:txBody>
        </p:sp>
        <p:sp>
          <p:nvSpPr>
            <p:cNvPr id="54" name="Rectangle 36"/>
            <p:cNvSpPr>
              <a:spLocks noChangeArrowheads="1"/>
            </p:cNvSpPr>
            <p:nvPr/>
          </p:nvSpPr>
          <p:spPr bwMode="auto">
            <a:xfrm>
              <a:off x="336" y="3456"/>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55" name="Line 37"/>
            <p:cNvSpPr>
              <a:spLocks noChangeShapeType="1"/>
            </p:cNvSpPr>
            <p:nvPr/>
          </p:nvSpPr>
          <p:spPr bwMode="auto">
            <a:xfrm>
              <a:off x="816" y="3456"/>
              <a:ext cx="0" cy="183"/>
            </a:xfrm>
            <a:prstGeom prst="line">
              <a:avLst/>
            </a:prstGeom>
            <a:noFill/>
            <a:ln w="12700">
              <a:solidFill>
                <a:schemeClr val="tx1"/>
              </a:solidFill>
              <a:round/>
              <a:headEnd/>
              <a:tailEnd/>
            </a:ln>
            <a:effectLst/>
          </p:spPr>
          <p:txBody>
            <a:bodyPr/>
            <a:lstStyle/>
            <a:p>
              <a:endParaRPr lang="en-US"/>
            </a:p>
          </p:txBody>
        </p:sp>
        <p:sp>
          <p:nvSpPr>
            <p:cNvPr id="56" name="Rectangle 38"/>
            <p:cNvSpPr>
              <a:spLocks noChangeArrowheads="1"/>
            </p:cNvSpPr>
            <p:nvPr/>
          </p:nvSpPr>
          <p:spPr bwMode="auto">
            <a:xfrm>
              <a:off x="336" y="3888"/>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57" name="Text Box 39"/>
            <p:cNvSpPr txBox="1">
              <a:spLocks noChangeArrowheads="1"/>
            </p:cNvSpPr>
            <p:nvPr/>
          </p:nvSpPr>
          <p:spPr bwMode="auto">
            <a:xfrm>
              <a:off x="816" y="3888"/>
              <a:ext cx="1556" cy="231"/>
            </a:xfrm>
            <a:prstGeom prst="rect">
              <a:avLst/>
            </a:prstGeom>
            <a:noFill/>
            <a:ln w="12700">
              <a:noFill/>
              <a:miter lim="800000"/>
              <a:headEnd/>
              <a:tailEnd/>
            </a:ln>
            <a:effectLst/>
          </p:spPr>
          <p:txBody>
            <a:bodyPr wrap="none">
              <a:spAutoFit/>
            </a:bodyPr>
            <a:lstStyle/>
            <a:p>
              <a:r>
                <a:rPr lang="en-US">
                  <a:solidFill>
                    <a:schemeClr val="tx1"/>
                  </a:solidFill>
                </a:rPr>
                <a:t>Program Counter (PC)</a:t>
              </a:r>
            </a:p>
          </p:txBody>
        </p:sp>
        <p:sp>
          <p:nvSpPr>
            <p:cNvPr id="58" name="Line 40"/>
            <p:cNvSpPr>
              <a:spLocks noChangeShapeType="1"/>
            </p:cNvSpPr>
            <p:nvPr/>
          </p:nvSpPr>
          <p:spPr bwMode="auto">
            <a:xfrm>
              <a:off x="1632" y="3648"/>
              <a:ext cx="0" cy="48"/>
            </a:xfrm>
            <a:prstGeom prst="line">
              <a:avLst/>
            </a:prstGeom>
            <a:noFill/>
            <a:ln w="12700">
              <a:solidFill>
                <a:schemeClr val="tx1"/>
              </a:solidFill>
              <a:round/>
              <a:headEnd/>
              <a:tailEnd/>
            </a:ln>
            <a:effectLst/>
          </p:spPr>
          <p:txBody>
            <a:bodyPr/>
            <a:lstStyle/>
            <a:p>
              <a:endParaRPr lang="en-US"/>
            </a:p>
          </p:txBody>
        </p:sp>
        <p:sp>
          <p:nvSpPr>
            <p:cNvPr id="59" name="Line 41"/>
            <p:cNvSpPr>
              <a:spLocks noChangeShapeType="1"/>
            </p:cNvSpPr>
            <p:nvPr/>
          </p:nvSpPr>
          <p:spPr bwMode="auto">
            <a:xfrm>
              <a:off x="1632" y="3696"/>
              <a:ext cx="1248" cy="0"/>
            </a:xfrm>
            <a:prstGeom prst="line">
              <a:avLst/>
            </a:prstGeom>
            <a:noFill/>
            <a:ln w="12700">
              <a:solidFill>
                <a:schemeClr val="tx1"/>
              </a:solidFill>
              <a:round/>
              <a:headEnd/>
              <a:tailEnd type="triangle" w="med" len="med"/>
            </a:ln>
            <a:effectLst/>
          </p:spPr>
          <p:txBody>
            <a:bodyPr/>
            <a:lstStyle/>
            <a:p>
              <a:endParaRPr lang="en-US"/>
            </a:p>
          </p:txBody>
        </p:sp>
        <p:sp>
          <p:nvSpPr>
            <p:cNvPr id="60" name="Line 42"/>
            <p:cNvSpPr>
              <a:spLocks noChangeShapeType="1"/>
            </p:cNvSpPr>
            <p:nvPr/>
          </p:nvSpPr>
          <p:spPr bwMode="auto">
            <a:xfrm>
              <a:off x="480" y="3840"/>
              <a:ext cx="2400" cy="0"/>
            </a:xfrm>
            <a:prstGeom prst="line">
              <a:avLst/>
            </a:prstGeom>
            <a:noFill/>
            <a:ln w="12700">
              <a:solidFill>
                <a:schemeClr val="tx1"/>
              </a:solidFill>
              <a:round/>
              <a:headEnd/>
              <a:tailEnd type="triangle" w="med" len="med"/>
            </a:ln>
            <a:effectLst/>
          </p:spPr>
          <p:txBody>
            <a:bodyPr/>
            <a:lstStyle/>
            <a:p>
              <a:endParaRPr lang="en-US"/>
            </a:p>
          </p:txBody>
        </p:sp>
        <p:sp>
          <p:nvSpPr>
            <p:cNvPr id="61" name="Line 43"/>
            <p:cNvSpPr>
              <a:spLocks noChangeShapeType="1"/>
            </p:cNvSpPr>
            <p:nvPr/>
          </p:nvSpPr>
          <p:spPr bwMode="auto">
            <a:xfrm>
              <a:off x="480" y="3840"/>
              <a:ext cx="0" cy="48"/>
            </a:xfrm>
            <a:prstGeom prst="line">
              <a:avLst/>
            </a:prstGeom>
            <a:noFill/>
            <a:ln w="12700">
              <a:solidFill>
                <a:schemeClr val="tx1"/>
              </a:solidFill>
              <a:round/>
              <a:headEnd/>
              <a:tailEnd/>
            </a:ln>
            <a:effectLst/>
          </p:spPr>
          <p:txBody>
            <a:bodyPr/>
            <a:lstStyle/>
            <a:p>
              <a:endParaRPr lang="en-US"/>
            </a:p>
          </p:txBody>
        </p:sp>
        <p:sp>
          <p:nvSpPr>
            <p:cNvPr id="62" name="Rectangle 44"/>
            <p:cNvSpPr>
              <a:spLocks noChangeArrowheads="1"/>
            </p:cNvSpPr>
            <p:nvPr/>
          </p:nvSpPr>
          <p:spPr bwMode="auto">
            <a:xfrm>
              <a:off x="3168" y="3648"/>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63" name="Rectangle 45"/>
            <p:cNvSpPr>
              <a:spLocks noChangeArrowheads="1"/>
            </p:cNvSpPr>
            <p:nvPr/>
          </p:nvSpPr>
          <p:spPr bwMode="auto">
            <a:xfrm>
              <a:off x="3888" y="3408"/>
              <a:ext cx="912" cy="250"/>
            </a:xfrm>
            <a:prstGeom prst="rect">
              <a:avLst/>
            </a:prstGeom>
            <a:noFill/>
            <a:ln w="12700">
              <a:noFill/>
              <a:miter lim="800000"/>
              <a:headEnd/>
              <a:tailEnd/>
            </a:ln>
            <a:effectLst/>
          </p:spPr>
          <p:txBody>
            <a:bodyPr>
              <a:spAutoFit/>
            </a:bodyPr>
            <a:lstStyle/>
            <a:p>
              <a:r>
                <a:rPr lang="en-US" sz="2000">
                  <a:solidFill>
                    <a:schemeClr val="tx1"/>
                  </a:solidFill>
                </a:rPr>
                <a:t>Memory</a:t>
              </a:r>
            </a:p>
          </p:txBody>
        </p:sp>
        <p:sp>
          <p:nvSpPr>
            <p:cNvPr id="64" name="Text Box 46"/>
            <p:cNvSpPr txBox="1">
              <a:spLocks noChangeArrowheads="1"/>
            </p:cNvSpPr>
            <p:nvPr/>
          </p:nvSpPr>
          <p:spPr bwMode="auto">
            <a:xfrm>
              <a:off x="3456" y="3648"/>
              <a:ext cx="1860" cy="231"/>
            </a:xfrm>
            <a:prstGeom prst="rect">
              <a:avLst/>
            </a:prstGeom>
            <a:noFill/>
            <a:ln w="12700">
              <a:noFill/>
              <a:miter lim="800000"/>
              <a:headEnd/>
              <a:tailEnd/>
            </a:ln>
            <a:effectLst/>
          </p:spPr>
          <p:txBody>
            <a:bodyPr wrap="none">
              <a:spAutoFit/>
            </a:bodyPr>
            <a:lstStyle/>
            <a:p>
              <a:r>
                <a:rPr lang="en-US">
                  <a:solidFill>
                    <a:schemeClr val="tx1"/>
                  </a:solidFill>
                </a:rPr>
                <a:t>jump destination </a:t>
              </a:r>
              <a:r>
                <a:rPr lang="en-US"/>
                <a:t>instruction</a:t>
              </a:r>
            </a:p>
          </p:txBody>
        </p:sp>
        <p:sp>
          <p:nvSpPr>
            <p:cNvPr id="65" name="Line 47"/>
            <p:cNvSpPr>
              <a:spLocks noChangeShapeType="1"/>
            </p:cNvSpPr>
            <p:nvPr/>
          </p:nvSpPr>
          <p:spPr bwMode="auto">
            <a:xfrm>
              <a:off x="3072" y="3792"/>
              <a:ext cx="96" cy="0"/>
            </a:xfrm>
            <a:prstGeom prst="line">
              <a:avLst/>
            </a:prstGeom>
            <a:noFill/>
            <a:ln w="12700">
              <a:solidFill>
                <a:schemeClr val="tx1"/>
              </a:solidFill>
              <a:round/>
              <a:headEnd/>
              <a:tailEnd type="triangle" w="med" len="med"/>
            </a:ln>
            <a:effectLst/>
          </p:spPr>
          <p:txBody>
            <a:bodyPr/>
            <a:lstStyle/>
            <a:p>
              <a:endParaRPr lang="en-US"/>
            </a:p>
          </p:txBody>
        </p:sp>
        <p:sp>
          <p:nvSpPr>
            <p:cNvPr id="66" name="Line 48"/>
            <p:cNvSpPr>
              <a:spLocks noChangeShapeType="1"/>
            </p:cNvSpPr>
            <p:nvPr/>
          </p:nvSpPr>
          <p:spPr bwMode="auto">
            <a:xfrm>
              <a:off x="672" y="3888"/>
              <a:ext cx="0" cy="183"/>
            </a:xfrm>
            <a:prstGeom prst="line">
              <a:avLst/>
            </a:prstGeom>
            <a:noFill/>
            <a:ln w="12700">
              <a:solidFill>
                <a:schemeClr val="tx1"/>
              </a:solidFill>
              <a:round/>
              <a:headEnd/>
              <a:tailEnd/>
            </a:ln>
            <a:effectLst/>
          </p:spPr>
          <p:txBody>
            <a:bodyPr/>
            <a:lstStyle/>
            <a:p>
              <a:endParaRPr lang="en-US"/>
            </a:p>
          </p:txBody>
        </p:sp>
        <p:sp>
          <p:nvSpPr>
            <p:cNvPr id="67" name="Oval 49"/>
            <p:cNvSpPr>
              <a:spLocks noChangeArrowheads="1"/>
            </p:cNvSpPr>
            <p:nvPr/>
          </p:nvSpPr>
          <p:spPr bwMode="auto">
            <a:xfrm>
              <a:off x="2880" y="3600"/>
              <a:ext cx="192" cy="384"/>
            </a:xfrm>
            <a:prstGeom prst="ellipse">
              <a:avLst/>
            </a:prstGeom>
            <a:noFill/>
            <a:ln w="12700">
              <a:solidFill>
                <a:schemeClr val="tx1"/>
              </a:solidFill>
              <a:round/>
              <a:headEnd/>
              <a:tailEnd/>
            </a:ln>
            <a:effectLst/>
          </p:spPr>
          <p:txBody>
            <a:bodyPr wrap="none" anchor="ctr"/>
            <a:lstStyle/>
            <a:p>
              <a:endParaRPr lang="en-US"/>
            </a:p>
          </p:txBody>
        </p:sp>
        <p:sp>
          <p:nvSpPr>
            <p:cNvPr id="68" name="Text Box 50"/>
            <p:cNvSpPr txBox="1">
              <a:spLocks noChangeArrowheads="1"/>
            </p:cNvSpPr>
            <p:nvPr/>
          </p:nvSpPr>
          <p:spPr bwMode="auto">
            <a:xfrm>
              <a:off x="2880" y="3648"/>
              <a:ext cx="190" cy="231"/>
            </a:xfrm>
            <a:prstGeom prst="rect">
              <a:avLst/>
            </a:prstGeom>
            <a:noFill/>
            <a:ln w="12700">
              <a:noFill/>
              <a:miter lim="800000"/>
              <a:headEnd/>
              <a:tailEnd/>
            </a:ln>
            <a:effectLst/>
          </p:spPr>
          <p:txBody>
            <a:bodyPr>
              <a:spAutoFit/>
            </a:bodyPr>
            <a:lstStyle/>
            <a:p>
              <a:r>
                <a:rPr lang="en-US">
                  <a:solidFill>
                    <a:schemeClr val="tx1"/>
                  </a:solidFill>
                </a:rPr>
                <a:t>||</a:t>
              </a:r>
            </a:p>
          </p:txBody>
        </p:sp>
      </p:grpSp>
    </p:spTree>
    <p:extLst>
      <p:ext uri="{BB962C8B-B14F-4D97-AF65-F5344CB8AC3E}">
        <p14:creationId xmlns:p14="http://schemas.microsoft.com/office/powerpoint/2010/main" val="202992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8786" name="Rectangle 2"/>
          <p:cNvSpPr>
            <a:spLocks noGrp="1" noChangeArrowheads="1"/>
          </p:cNvSpPr>
          <p:nvPr>
            <p:ph type="title"/>
          </p:nvPr>
        </p:nvSpPr>
        <p:spPr/>
        <p:txBody>
          <a:bodyPr/>
          <a:lstStyle/>
          <a:p>
            <a:r>
              <a:rPr lang="en-US" dirty="0" smtClean="0"/>
              <a:t>Branching </a:t>
            </a:r>
            <a:r>
              <a:rPr lang="en-US" dirty="0"/>
              <a:t>Far Away</a:t>
            </a:r>
          </a:p>
        </p:txBody>
      </p:sp>
      <p:sp>
        <p:nvSpPr>
          <p:cNvPr id="758787" name="Rectangle 3"/>
          <p:cNvSpPr>
            <a:spLocks noGrp="1" noChangeArrowheads="1"/>
          </p:cNvSpPr>
          <p:nvPr>
            <p:ph type="body" idx="1"/>
          </p:nvPr>
        </p:nvSpPr>
        <p:spPr>
          <a:xfrm>
            <a:off x="609600" y="914400"/>
            <a:ext cx="7848600" cy="708025"/>
          </a:xfrm>
        </p:spPr>
        <p:txBody>
          <a:bodyPr/>
          <a:lstStyle/>
          <a:p>
            <a:r>
              <a:rPr lang="en-US"/>
              <a:t>What if the branch destination is further away than can be captured in 16 bits?</a:t>
            </a:r>
            <a:endParaRPr lang="en-US">
              <a:latin typeface="Courier New" pitchFamily="49" charset="0"/>
            </a:endParaRPr>
          </a:p>
        </p:txBody>
      </p:sp>
      <p:sp>
        <p:nvSpPr>
          <p:cNvPr id="758788" name="Rectangle 4"/>
          <p:cNvSpPr>
            <a:spLocks noChangeArrowheads="1"/>
          </p:cNvSpPr>
          <p:nvPr/>
        </p:nvSpPr>
        <p:spPr bwMode="auto">
          <a:xfrm>
            <a:off x="609600" y="2362200"/>
            <a:ext cx="7848600" cy="3430683"/>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dirty="0">
                <a:solidFill>
                  <a:schemeClr val="tx1"/>
                </a:solidFill>
              </a:rPr>
              <a:t>The assembler comes to the rescue – it inserts an unconditional jump to the branch target and inverts the condition</a:t>
            </a:r>
          </a:p>
          <a:p>
            <a:pPr marL="287338" indent="-287338">
              <a:lnSpc>
                <a:spcPct val="9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a:t>
            </a:r>
            <a:r>
              <a:rPr lang="en-US" sz="2400" dirty="0" err="1">
                <a:solidFill>
                  <a:schemeClr val="tx1"/>
                </a:solidFill>
                <a:latin typeface="Courier New" pitchFamily="49" charset="0"/>
              </a:rPr>
              <a:t>beq</a:t>
            </a:r>
            <a:r>
              <a:rPr lang="en-US" sz="2400" dirty="0">
                <a:solidFill>
                  <a:schemeClr val="tx1"/>
                </a:solidFill>
                <a:latin typeface="Courier New" pitchFamily="49" charset="0"/>
              </a:rPr>
              <a:t>	$s0, $s1, L1</a:t>
            </a:r>
          </a:p>
          <a:p>
            <a:pPr marL="287338" indent="-287338">
              <a:lnSpc>
                <a:spcPct val="90000"/>
              </a:lnSpc>
              <a:spcBef>
                <a:spcPct val="65000"/>
              </a:spcBef>
              <a:buClr>
                <a:schemeClr val="accent1"/>
              </a:buClr>
              <a:buSzPct val="75000"/>
              <a:buFont typeface="Wingdings" pitchFamily="2" charset="2"/>
              <a:buNone/>
            </a:pPr>
            <a:r>
              <a:rPr lang="en-US" sz="2400" dirty="0" smtClean="0">
                <a:solidFill>
                  <a:schemeClr val="tx1"/>
                </a:solidFill>
              </a:rPr>
              <a:t>    becomes</a:t>
            </a:r>
            <a:endParaRPr lang="en-US" sz="2400" dirty="0">
              <a:solidFill>
                <a:schemeClr val="tx1"/>
              </a:solidFill>
            </a:endParaRPr>
          </a:p>
          <a:p>
            <a:pPr marL="287338" indent="-287338">
              <a:lnSpc>
                <a:spcPct val="9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a:t>
            </a:r>
            <a:r>
              <a:rPr lang="en-US" sz="2400" dirty="0" err="1">
                <a:solidFill>
                  <a:schemeClr val="tx1"/>
                </a:solidFill>
                <a:latin typeface="Courier New" pitchFamily="49" charset="0"/>
              </a:rPr>
              <a:t>bne</a:t>
            </a:r>
            <a:r>
              <a:rPr lang="en-US" sz="2400" dirty="0">
                <a:solidFill>
                  <a:schemeClr val="tx1"/>
                </a:solidFill>
                <a:latin typeface="Courier New" pitchFamily="49" charset="0"/>
              </a:rPr>
              <a:t>	$s0, $s1, L2</a:t>
            </a:r>
          </a:p>
          <a:p>
            <a:pPr marL="287338" indent="-287338">
              <a:lnSpc>
                <a:spcPct val="25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j	L1</a:t>
            </a:r>
          </a:p>
          <a:p>
            <a:pPr marL="287338" indent="-287338">
              <a:lnSpc>
                <a:spcPct val="25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L2:</a:t>
            </a:r>
          </a:p>
        </p:txBody>
      </p:sp>
    </p:spTree>
    <p:extLst>
      <p:ext uri="{BB962C8B-B14F-4D97-AF65-F5344CB8AC3E}">
        <p14:creationId xmlns:p14="http://schemas.microsoft.com/office/powerpoint/2010/main" val="129887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4130" name="Rectangle 2"/>
          <p:cNvSpPr>
            <a:spLocks noChangeArrowheads="1"/>
          </p:cNvSpPr>
          <p:nvPr/>
        </p:nvSpPr>
        <p:spPr bwMode="auto">
          <a:xfrm>
            <a:off x="225425" y="312738"/>
            <a:ext cx="1190625" cy="477837"/>
          </a:xfrm>
          <a:prstGeom prst="rect">
            <a:avLst/>
          </a:prstGeom>
          <a:noFill/>
          <a:ln w="12700">
            <a:noFill/>
            <a:miter lim="800000"/>
            <a:headEnd/>
            <a:tailEnd/>
          </a:ln>
          <a:effectLst/>
        </p:spPr>
        <p:txBody>
          <a:bodyPr wrap="none" anchor="ctr"/>
          <a:lstStyle/>
          <a:p>
            <a:endParaRPr lang="en-US"/>
          </a:p>
        </p:txBody>
      </p:sp>
      <p:sp>
        <p:nvSpPr>
          <p:cNvPr id="304131" name="Rectangle 3"/>
          <p:cNvSpPr>
            <a:spLocks noGrp="1" noChangeArrowheads="1"/>
          </p:cNvSpPr>
          <p:nvPr>
            <p:ph type="body" idx="1"/>
          </p:nvPr>
        </p:nvSpPr>
        <p:spPr>
          <a:xfrm>
            <a:off x="533400" y="762000"/>
            <a:ext cx="8382000" cy="2989023"/>
          </a:xfrm>
          <a:noFill/>
          <a:ln/>
        </p:spPr>
        <p:txBody>
          <a:bodyPr lIns="90488" tIns="44450" rIns="90488" bIns="44450"/>
          <a:lstStyle/>
          <a:p>
            <a:pPr marL="342900" indent="-342900">
              <a:lnSpc>
                <a:spcPct val="90000"/>
              </a:lnSpc>
            </a:pPr>
            <a:r>
              <a:rPr lang="en-US" dirty="0"/>
              <a:t>Assemble the MIPS machine code </a:t>
            </a:r>
            <a:r>
              <a:rPr lang="en-US" dirty="0" smtClean="0"/>
              <a:t>for </a:t>
            </a:r>
            <a:r>
              <a:rPr lang="en-US" dirty="0"/>
              <a:t>the following code sequence.  Assume that the </a:t>
            </a:r>
            <a:r>
              <a:rPr lang="en-US" dirty="0" err="1"/>
              <a:t>addr</a:t>
            </a:r>
            <a:r>
              <a:rPr lang="en-US" dirty="0"/>
              <a:t> of the </a:t>
            </a:r>
            <a:r>
              <a:rPr lang="en-US" dirty="0" err="1">
                <a:latin typeface="Courier New" pitchFamily="49" charset="0"/>
              </a:rPr>
              <a:t>beq</a:t>
            </a:r>
            <a:r>
              <a:rPr lang="en-US" dirty="0"/>
              <a:t> </a:t>
            </a:r>
            <a:r>
              <a:rPr lang="en-US" dirty="0" err="1"/>
              <a:t>instr</a:t>
            </a:r>
            <a:r>
              <a:rPr lang="en-US" dirty="0"/>
              <a:t> is 0x00400020</a:t>
            </a:r>
            <a:r>
              <a:rPr lang="en-US" baseline="-25000" dirty="0"/>
              <a:t>hex</a:t>
            </a:r>
            <a:endParaRPr lang="en-US" dirty="0">
              <a:latin typeface="Courier New" pitchFamily="49" charset="0"/>
            </a:endParaRPr>
          </a:p>
          <a:p>
            <a:pPr marL="342900" indent="-342900">
              <a:lnSpc>
                <a:spcPct val="80000"/>
              </a:lnSpc>
              <a:buFont typeface="Wingdings" pitchFamily="2" charset="2"/>
              <a:buNone/>
            </a:pPr>
            <a:r>
              <a:rPr lang="en-US" dirty="0">
                <a:latin typeface="Courier New" pitchFamily="49" charset="0"/>
              </a:rPr>
              <a:t>	</a:t>
            </a:r>
            <a:r>
              <a:rPr lang="en-US" sz="2400" dirty="0">
                <a:latin typeface="Courier New" pitchFamily="49" charset="0"/>
              </a:rPr>
              <a:t>		</a:t>
            </a:r>
            <a:r>
              <a:rPr lang="en-US" sz="2400" dirty="0" err="1">
                <a:latin typeface="Courier New" pitchFamily="49" charset="0"/>
              </a:rPr>
              <a:t>beq</a:t>
            </a:r>
            <a:r>
              <a:rPr lang="en-US" sz="2400" dirty="0">
                <a:latin typeface="Courier New" pitchFamily="49" charset="0"/>
              </a:rPr>
              <a:t>	$s0, $s1, Else</a:t>
            </a:r>
            <a:br>
              <a:rPr lang="en-US" sz="2400" dirty="0">
                <a:latin typeface="Courier New" pitchFamily="49" charset="0"/>
              </a:rPr>
            </a:br>
            <a:r>
              <a:rPr lang="en-US" sz="2400" dirty="0">
                <a:latin typeface="Courier New" pitchFamily="49" charset="0"/>
              </a:rPr>
              <a:t>		add	$s3, $s0, $s1</a:t>
            </a:r>
            <a:br>
              <a:rPr lang="en-US" sz="2400" dirty="0">
                <a:latin typeface="Courier New" pitchFamily="49" charset="0"/>
              </a:rPr>
            </a:br>
            <a:r>
              <a:rPr lang="en-US" sz="2400" dirty="0">
                <a:latin typeface="Courier New" pitchFamily="49" charset="0"/>
              </a:rPr>
              <a:t>		j	Exit</a:t>
            </a:r>
            <a:br>
              <a:rPr lang="en-US" sz="2400" dirty="0">
                <a:latin typeface="Courier New" pitchFamily="49" charset="0"/>
              </a:rPr>
            </a:br>
            <a:r>
              <a:rPr lang="en-US" sz="2400" dirty="0">
                <a:latin typeface="Courier New" pitchFamily="49" charset="0"/>
              </a:rPr>
              <a:t>Else:	sub	$s3, $s0, $s1</a:t>
            </a:r>
            <a:br>
              <a:rPr lang="en-US" sz="2400" dirty="0">
                <a:latin typeface="Courier New" pitchFamily="49" charset="0"/>
              </a:rPr>
            </a:br>
            <a:r>
              <a:rPr lang="en-US" sz="2400" dirty="0">
                <a:latin typeface="Courier New" pitchFamily="49" charset="0"/>
              </a:rPr>
              <a:t>Exit:	...</a:t>
            </a:r>
            <a:r>
              <a:rPr lang="en-US" dirty="0"/>
              <a:t/>
            </a:r>
            <a:br>
              <a:rPr lang="en-US" dirty="0"/>
            </a:br>
            <a:r>
              <a:rPr lang="en-US" dirty="0">
                <a:latin typeface="Courier New" pitchFamily="49" charset="0"/>
              </a:rPr>
              <a:t>		</a:t>
            </a:r>
          </a:p>
        </p:txBody>
      </p:sp>
      <p:sp>
        <p:nvSpPr>
          <p:cNvPr id="304132" name="Rectangle 4"/>
          <p:cNvSpPr>
            <a:spLocks noGrp="1" noChangeArrowheads="1"/>
          </p:cNvSpPr>
          <p:nvPr>
            <p:ph type="title"/>
          </p:nvPr>
        </p:nvSpPr>
        <p:spPr>
          <a:noFill/>
          <a:ln/>
        </p:spPr>
        <p:txBody>
          <a:bodyPr lIns="90488" tIns="44450" rIns="90488" bIns="44450" anchor="ctr"/>
          <a:lstStyle/>
          <a:p>
            <a:r>
              <a:rPr lang="en-US"/>
              <a:t>Assembling Branches and Jumps</a:t>
            </a:r>
          </a:p>
        </p:txBody>
      </p:sp>
    </p:spTree>
    <p:extLst>
      <p:ext uri="{BB962C8B-B14F-4D97-AF65-F5344CB8AC3E}">
        <p14:creationId xmlns:p14="http://schemas.microsoft.com/office/powerpoint/2010/main" val="1405501465"/>
      </p:ext>
    </p:extLst>
  </p:cSld>
  <p:clrMapOvr>
    <a:masterClrMapping/>
  </p:clrMapOvr>
  <p:transition advTm="200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ChangeArrowheads="1"/>
          </p:cNvSpPr>
          <p:nvPr/>
        </p:nvSpPr>
        <p:spPr bwMode="auto">
          <a:xfrm>
            <a:off x="225425" y="312738"/>
            <a:ext cx="1190625" cy="477837"/>
          </a:xfrm>
          <a:prstGeom prst="rect">
            <a:avLst/>
          </a:prstGeom>
          <a:noFill/>
          <a:ln w="12700">
            <a:noFill/>
            <a:miter lim="800000"/>
            <a:headEnd/>
            <a:tailEnd/>
          </a:ln>
          <a:effectLst/>
        </p:spPr>
        <p:txBody>
          <a:bodyPr wrap="none" anchor="ctr"/>
          <a:lstStyle/>
          <a:p>
            <a:endParaRPr lang="en-US"/>
          </a:p>
        </p:txBody>
      </p:sp>
      <p:sp>
        <p:nvSpPr>
          <p:cNvPr id="348163" name="Rectangle 3"/>
          <p:cNvSpPr>
            <a:spLocks noGrp="1" noChangeArrowheads="1"/>
          </p:cNvSpPr>
          <p:nvPr>
            <p:ph type="body" idx="1"/>
          </p:nvPr>
        </p:nvSpPr>
        <p:spPr>
          <a:xfrm>
            <a:off x="533400" y="762000"/>
            <a:ext cx="8305800" cy="2989023"/>
          </a:xfrm>
          <a:noFill/>
          <a:ln/>
        </p:spPr>
        <p:txBody>
          <a:bodyPr lIns="90488" tIns="44450" rIns="90488" bIns="44450"/>
          <a:lstStyle/>
          <a:p>
            <a:pPr marL="342900" indent="-342900">
              <a:lnSpc>
                <a:spcPct val="90000"/>
              </a:lnSpc>
              <a:spcBef>
                <a:spcPct val="20000"/>
              </a:spcBef>
            </a:pPr>
            <a:r>
              <a:rPr lang="en-US" dirty="0"/>
              <a:t>Assemble the MIPS machine code </a:t>
            </a:r>
            <a:r>
              <a:rPr lang="en-US" dirty="0" smtClean="0"/>
              <a:t>for </a:t>
            </a:r>
            <a:r>
              <a:rPr lang="en-US" dirty="0"/>
              <a:t>the following code sequence.  Assume that the </a:t>
            </a:r>
            <a:r>
              <a:rPr lang="en-US" dirty="0" err="1"/>
              <a:t>addr</a:t>
            </a:r>
            <a:r>
              <a:rPr lang="en-US" dirty="0"/>
              <a:t> of the </a:t>
            </a:r>
            <a:r>
              <a:rPr lang="en-US" dirty="0" err="1">
                <a:latin typeface="Courier New" pitchFamily="49" charset="0"/>
              </a:rPr>
              <a:t>beq</a:t>
            </a:r>
            <a:r>
              <a:rPr lang="en-US" dirty="0"/>
              <a:t> </a:t>
            </a:r>
            <a:r>
              <a:rPr lang="en-US" dirty="0" err="1"/>
              <a:t>instr</a:t>
            </a:r>
            <a:r>
              <a:rPr lang="en-US" dirty="0"/>
              <a:t> is 0x00400020</a:t>
            </a:r>
            <a:r>
              <a:rPr lang="en-US" baseline="-25000" dirty="0"/>
              <a:t>hex</a:t>
            </a:r>
            <a:endParaRPr lang="en-US" dirty="0">
              <a:latin typeface="Courier New" pitchFamily="49" charset="0"/>
            </a:endParaRPr>
          </a:p>
          <a:p>
            <a:pPr marL="342900" indent="-342900">
              <a:lnSpc>
                <a:spcPct val="80000"/>
              </a:lnSpc>
              <a:buFont typeface="Wingdings" pitchFamily="2" charset="2"/>
              <a:buNone/>
            </a:pPr>
            <a:r>
              <a:rPr lang="en-US" sz="2400" dirty="0">
                <a:latin typeface="Courier New" pitchFamily="49" charset="0"/>
              </a:rPr>
              <a:t>	</a:t>
            </a:r>
            <a:r>
              <a:rPr lang="en-US" sz="2000" dirty="0">
                <a:latin typeface="Courier New" pitchFamily="49" charset="0"/>
              </a:rPr>
              <a:t>		</a:t>
            </a:r>
            <a:r>
              <a:rPr lang="en-US" sz="2400" dirty="0" err="1">
                <a:latin typeface="Courier New" pitchFamily="49" charset="0"/>
              </a:rPr>
              <a:t>beq</a:t>
            </a:r>
            <a:r>
              <a:rPr lang="en-US" sz="2400" dirty="0">
                <a:latin typeface="Courier New" pitchFamily="49" charset="0"/>
              </a:rPr>
              <a:t>	$s0, $s1, Else</a:t>
            </a:r>
            <a:br>
              <a:rPr lang="en-US" sz="2400" dirty="0">
                <a:latin typeface="Courier New" pitchFamily="49" charset="0"/>
              </a:rPr>
            </a:br>
            <a:r>
              <a:rPr lang="en-US" sz="2400" dirty="0">
                <a:latin typeface="Courier New" pitchFamily="49" charset="0"/>
              </a:rPr>
              <a:t>		add	$s3, $s0, $s1</a:t>
            </a:r>
            <a:br>
              <a:rPr lang="en-US" sz="2400" dirty="0">
                <a:latin typeface="Courier New" pitchFamily="49" charset="0"/>
              </a:rPr>
            </a:br>
            <a:r>
              <a:rPr lang="en-US" sz="2400" dirty="0">
                <a:latin typeface="Courier New" pitchFamily="49" charset="0"/>
              </a:rPr>
              <a:t>		j	Exit</a:t>
            </a:r>
            <a:br>
              <a:rPr lang="en-US" sz="2400" dirty="0">
                <a:latin typeface="Courier New" pitchFamily="49" charset="0"/>
              </a:rPr>
            </a:br>
            <a:r>
              <a:rPr lang="en-US" sz="2400" dirty="0">
                <a:latin typeface="Courier New" pitchFamily="49" charset="0"/>
              </a:rPr>
              <a:t>Else:	sub	$s3, $s0, $s1</a:t>
            </a:r>
            <a:br>
              <a:rPr lang="en-US" sz="2400" dirty="0">
                <a:latin typeface="Courier New" pitchFamily="49" charset="0"/>
              </a:rPr>
            </a:br>
            <a:r>
              <a:rPr lang="en-US" sz="2400" dirty="0">
                <a:latin typeface="Courier New" pitchFamily="49" charset="0"/>
              </a:rPr>
              <a:t>Exit:	...</a:t>
            </a:r>
            <a:r>
              <a:rPr lang="en-US" sz="2400" dirty="0"/>
              <a:t/>
            </a:r>
            <a:br>
              <a:rPr lang="en-US" sz="2400" dirty="0"/>
            </a:br>
            <a:r>
              <a:rPr lang="en-US" sz="2400" dirty="0">
                <a:latin typeface="Courier New" pitchFamily="49" charset="0"/>
              </a:rPr>
              <a:t>		</a:t>
            </a:r>
          </a:p>
        </p:txBody>
      </p:sp>
      <p:sp>
        <p:nvSpPr>
          <p:cNvPr id="348164" name="Rectangle 4"/>
          <p:cNvSpPr>
            <a:spLocks noGrp="1" noChangeArrowheads="1"/>
          </p:cNvSpPr>
          <p:nvPr>
            <p:ph type="title"/>
          </p:nvPr>
        </p:nvSpPr>
        <p:spPr>
          <a:noFill/>
          <a:ln/>
        </p:spPr>
        <p:txBody>
          <a:bodyPr lIns="90488" tIns="44450" rIns="90488" bIns="44450" anchor="ctr"/>
          <a:lstStyle/>
          <a:p>
            <a:r>
              <a:rPr lang="en-US"/>
              <a:t>Assembling Branches and Jumps</a:t>
            </a:r>
          </a:p>
        </p:txBody>
      </p:sp>
      <p:sp>
        <p:nvSpPr>
          <p:cNvPr id="348165" name="Rectangle 5"/>
          <p:cNvSpPr>
            <a:spLocks noChangeArrowheads="1"/>
          </p:cNvSpPr>
          <p:nvPr/>
        </p:nvSpPr>
        <p:spPr bwMode="auto">
          <a:xfrm>
            <a:off x="152400" y="3810000"/>
            <a:ext cx="8305800" cy="457200"/>
          </a:xfrm>
          <a:prstGeom prst="rect">
            <a:avLst/>
          </a:prstGeom>
          <a:noFill/>
          <a:ln w="12700">
            <a:noFill/>
            <a:miter lim="800000"/>
            <a:headEnd/>
            <a:tailEnd/>
          </a:ln>
          <a:effectLst/>
        </p:spPr>
        <p:txBody>
          <a:bodyPr lIns="90488" tIns="44450" rIns="90488" bIns="44450"/>
          <a:lstStyle/>
          <a:p>
            <a:pPr marL="342900" indent="-342900">
              <a:lnSpc>
                <a:spcPct val="80000"/>
              </a:lnSpc>
              <a:spcBef>
                <a:spcPct val="65000"/>
              </a:spcBef>
              <a:buClr>
                <a:schemeClr val="accent1"/>
              </a:buClr>
              <a:buSzPct val="75000"/>
              <a:buFont typeface="Wingdings" pitchFamily="2" charset="2"/>
              <a:buNone/>
            </a:pPr>
            <a:r>
              <a:rPr lang="en-US" sz="2000">
                <a:solidFill>
                  <a:schemeClr val="accent2"/>
                </a:solidFill>
                <a:latin typeface="Courier New" pitchFamily="49" charset="0"/>
              </a:rPr>
              <a:t>	0x00400020		4	16	17		2</a:t>
            </a:r>
            <a:br>
              <a:rPr lang="en-US" sz="2000">
                <a:solidFill>
                  <a:schemeClr val="accent2"/>
                </a:solidFill>
                <a:latin typeface="Courier New" pitchFamily="49" charset="0"/>
              </a:rPr>
            </a:br>
            <a:r>
              <a:rPr lang="en-US" sz="2400">
                <a:solidFill>
                  <a:schemeClr val="tx1"/>
                </a:solidFill>
              </a:rPr>
              <a:t/>
            </a:r>
            <a:br>
              <a:rPr lang="en-US" sz="2400">
                <a:solidFill>
                  <a:schemeClr val="tx1"/>
                </a:solidFill>
              </a:rPr>
            </a:br>
            <a:r>
              <a:rPr lang="en-US" sz="2400">
                <a:solidFill>
                  <a:schemeClr val="tx1"/>
                </a:solidFill>
                <a:latin typeface="Courier New" pitchFamily="49" charset="0"/>
              </a:rPr>
              <a:t>		</a:t>
            </a:r>
          </a:p>
        </p:txBody>
      </p:sp>
      <p:sp>
        <p:nvSpPr>
          <p:cNvPr id="348166" name="Rectangle 6"/>
          <p:cNvSpPr>
            <a:spLocks noChangeArrowheads="1"/>
          </p:cNvSpPr>
          <p:nvPr/>
        </p:nvSpPr>
        <p:spPr bwMode="auto">
          <a:xfrm>
            <a:off x="152400" y="4191000"/>
            <a:ext cx="8763000" cy="533400"/>
          </a:xfrm>
          <a:prstGeom prst="rect">
            <a:avLst/>
          </a:prstGeom>
          <a:noFill/>
          <a:ln w="12700">
            <a:noFill/>
            <a:miter lim="800000"/>
            <a:headEnd/>
            <a:tailEnd/>
          </a:ln>
          <a:effectLst/>
        </p:spPr>
        <p:txBody>
          <a:bodyPr lIns="90488" tIns="44450" rIns="90488" bIns="44450"/>
          <a:lstStyle/>
          <a:p>
            <a:pPr marL="342900" indent="-342900">
              <a:lnSpc>
                <a:spcPct val="80000"/>
              </a:lnSpc>
              <a:spcBef>
                <a:spcPct val="65000"/>
              </a:spcBef>
              <a:buClr>
                <a:schemeClr val="accent1"/>
              </a:buClr>
              <a:buSzPct val="75000"/>
              <a:buFont typeface="Wingdings" pitchFamily="2" charset="2"/>
              <a:buNone/>
            </a:pPr>
            <a:r>
              <a:rPr lang="en-US" sz="2000">
                <a:solidFill>
                  <a:schemeClr val="accent2"/>
                </a:solidFill>
                <a:latin typeface="Courier New" pitchFamily="49" charset="0"/>
              </a:rPr>
              <a:t>	0x00400024		0	16	17	19	0  0x20</a:t>
            </a:r>
            <a:br>
              <a:rPr lang="en-US" sz="2000">
                <a:solidFill>
                  <a:schemeClr val="accent2"/>
                </a:solidFill>
                <a:latin typeface="Courier New" pitchFamily="49" charset="0"/>
              </a:rPr>
            </a:br>
            <a:r>
              <a:rPr lang="en-US" sz="2400">
                <a:solidFill>
                  <a:schemeClr val="tx1"/>
                </a:solidFill>
              </a:rPr>
              <a:t/>
            </a:r>
            <a:br>
              <a:rPr lang="en-US" sz="2400">
                <a:solidFill>
                  <a:schemeClr val="tx1"/>
                </a:solidFill>
              </a:rPr>
            </a:br>
            <a:r>
              <a:rPr lang="en-US" sz="2400">
                <a:solidFill>
                  <a:schemeClr val="tx1"/>
                </a:solidFill>
                <a:latin typeface="Courier New" pitchFamily="49" charset="0"/>
              </a:rPr>
              <a:t>		</a:t>
            </a:r>
          </a:p>
        </p:txBody>
      </p:sp>
      <p:sp>
        <p:nvSpPr>
          <p:cNvPr id="348167" name="Rectangle 7"/>
          <p:cNvSpPr>
            <a:spLocks noChangeArrowheads="1"/>
          </p:cNvSpPr>
          <p:nvPr/>
        </p:nvSpPr>
        <p:spPr bwMode="auto">
          <a:xfrm>
            <a:off x="152400" y="4572000"/>
            <a:ext cx="8763000" cy="609600"/>
          </a:xfrm>
          <a:prstGeom prst="rect">
            <a:avLst/>
          </a:prstGeom>
          <a:noFill/>
          <a:ln w="12700">
            <a:noFill/>
            <a:miter lim="800000"/>
            <a:headEnd/>
            <a:tailEnd/>
          </a:ln>
          <a:effectLst/>
        </p:spPr>
        <p:txBody>
          <a:bodyPr lIns="90488" tIns="44450" rIns="90488" bIns="44450"/>
          <a:lstStyle/>
          <a:p>
            <a:pPr marL="342900" indent="-342900">
              <a:lnSpc>
                <a:spcPct val="80000"/>
              </a:lnSpc>
              <a:spcBef>
                <a:spcPct val="65000"/>
              </a:spcBef>
              <a:buClr>
                <a:schemeClr val="accent1"/>
              </a:buClr>
              <a:buSzPct val="75000"/>
              <a:buFont typeface="Wingdings" pitchFamily="2" charset="2"/>
              <a:buNone/>
            </a:pPr>
            <a:r>
              <a:rPr lang="en-US" sz="2000" dirty="0">
                <a:solidFill>
                  <a:schemeClr val="accent2"/>
                </a:solidFill>
                <a:latin typeface="Courier New" pitchFamily="49" charset="0"/>
              </a:rPr>
              <a:t>	0x00400028		2	0000 0100 0 ... 0 0011 00</a:t>
            </a:r>
            <a:r>
              <a:rPr lang="en-US" sz="2000" baseline="-25000" dirty="0">
                <a:solidFill>
                  <a:schemeClr val="accent2"/>
                </a:solidFill>
                <a:latin typeface="Courier New" pitchFamily="49" charset="0"/>
              </a:rPr>
              <a:t>2</a:t>
            </a:r>
            <a:r>
              <a:rPr lang="en-US" sz="2400" dirty="0">
                <a:solidFill>
                  <a:schemeClr val="tx1"/>
                </a:solidFill>
              </a:rPr>
              <a:t/>
            </a:r>
            <a:br>
              <a:rPr lang="en-US" sz="2400" dirty="0">
                <a:solidFill>
                  <a:schemeClr val="tx1"/>
                </a:solidFill>
              </a:rPr>
            </a:br>
            <a:r>
              <a:rPr lang="en-US" sz="2400" dirty="0">
                <a:solidFill>
                  <a:schemeClr val="tx1"/>
                </a:solidFill>
                <a:latin typeface="Courier New" pitchFamily="49" charset="0"/>
              </a:rPr>
              <a:t>		</a:t>
            </a:r>
          </a:p>
        </p:txBody>
      </p:sp>
      <p:sp>
        <p:nvSpPr>
          <p:cNvPr id="348168" name="Rectangle 8"/>
          <p:cNvSpPr>
            <a:spLocks noChangeArrowheads="1"/>
          </p:cNvSpPr>
          <p:nvPr/>
        </p:nvSpPr>
        <p:spPr bwMode="auto">
          <a:xfrm>
            <a:off x="152400" y="5638800"/>
            <a:ext cx="8763000" cy="533400"/>
          </a:xfrm>
          <a:prstGeom prst="rect">
            <a:avLst/>
          </a:prstGeom>
          <a:noFill/>
          <a:ln w="12700">
            <a:noFill/>
            <a:miter lim="800000"/>
            <a:headEnd/>
            <a:tailEnd/>
          </a:ln>
          <a:effectLst/>
        </p:spPr>
        <p:txBody>
          <a:bodyPr lIns="90488" tIns="44450" rIns="90488" bIns="44450"/>
          <a:lstStyle/>
          <a:p>
            <a:pPr marL="342900" indent="-342900">
              <a:lnSpc>
                <a:spcPct val="80000"/>
              </a:lnSpc>
              <a:spcBef>
                <a:spcPct val="65000"/>
              </a:spcBef>
              <a:buClr>
                <a:schemeClr val="accent1"/>
              </a:buClr>
              <a:buSzPct val="75000"/>
              <a:buFont typeface="Wingdings" pitchFamily="2" charset="2"/>
              <a:buNone/>
            </a:pPr>
            <a:r>
              <a:rPr lang="en-US" sz="2000">
                <a:solidFill>
                  <a:schemeClr val="accent2"/>
                </a:solidFill>
                <a:latin typeface="Courier New" pitchFamily="49" charset="0"/>
              </a:rPr>
              <a:t>	0x0040002c		0	16	17	19	0  0x22</a:t>
            </a:r>
            <a:endParaRPr lang="en-US" sz="2400">
              <a:solidFill>
                <a:schemeClr val="tx1"/>
              </a:solidFill>
              <a:latin typeface="Courier New" pitchFamily="49" charset="0"/>
            </a:endParaRPr>
          </a:p>
        </p:txBody>
      </p:sp>
      <p:sp>
        <p:nvSpPr>
          <p:cNvPr id="348169" name="Rectangle 9"/>
          <p:cNvSpPr>
            <a:spLocks noChangeArrowheads="1"/>
          </p:cNvSpPr>
          <p:nvPr/>
        </p:nvSpPr>
        <p:spPr bwMode="auto">
          <a:xfrm>
            <a:off x="152400" y="6019800"/>
            <a:ext cx="8305800" cy="533400"/>
          </a:xfrm>
          <a:prstGeom prst="rect">
            <a:avLst/>
          </a:prstGeom>
          <a:noFill/>
          <a:ln w="12700">
            <a:noFill/>
            <a:miter lim="800000"/>
            <a:headEnd/>
            <a:tailEnd/>
          </a:ln>
          <a:effectLst/>
        </p:spPr>
        <p:txBody>
          <a:bodyPr lIns="90488" tIns="44450" rIns="90488" bIns="44450"/>
          <a:lstStyle/>
          <a:p>
            <a:pPr marL="342900" indent="-342900">
              <a:lnSpc>
                <a:spcPct val="80000"/>
              </a:lnSpc>
              <a:spcBef>
                <a:spcPct val="65000"/>
              </a:spcBef>
              <a:buClr>
                <a:schemeClr val="accent1"/>
              </a:buClr>
              <a:buSzPct val="75000"/>
              <a:buFont typeface="Wingdings" pitchFamily="2" charset="2"/>
              <a:buNone/>
            </a:pPr>
            <a:r>
              <a:rPr lang="en-US" sz="2000">
                <a:solidFill>
                  <a:schemeClr val="accent2"/>
                </a:solidFill>
                <a:latin typeface="Courier New" pitchFamily="49" charset="0"/>
              </a:rPr>
              <a:t>	0x00400030		...</a:t>
            </a:r>
            <a:r>
              <a:rPr lang="en-US" sz="2400">
                <a:solidFill>
                  <a:schemeClr val="tx1"/>
                </a:solidFill>
              </a:rPr>
              <a:t/>
            </a:r>
            <a:br>
              <a:rPr lang="en-US" sz="2400">
                <a:solidFill>
                  <a:schemeClr val="tx1"/>
                </a:solidFill>
              </a:rPr>
            </a:br>
            <a:r>
              <a:rPr lang="en-US" sz="2400">
                <a:solidFill>
                  <a:schemeClr val="tx1"/>
                </a:solidFill>
                <a:latin typeface="Courier New" pitchFamily="49" charset="0"/>
              </a:rPr>
              <a:t>		</a:t>
            </a:r>
          </a:p>
        </p:txBody>
      </p:sp>
      <p:sp>
        <p:nvSpPr>
          <p:cNvPr id="348170" name="Rectangle 10"/>
          <p:cNvSpPr>
            <a:spLocks noChangeArrowheads="1"/>
          </p:cNvSpPr>
          <p:nvPr/>
        </p:nvSpPr>
        <p:spPr bwMode="auto">
          <a:xfrm>
            <a:off x="2743200" y="4953000"/>
            <a:ext cx="5791200" cy="914400"/>
          </a:xfrm>
          <a:prstGeom prst="rect">
            <a:avLst/>
          </a:prstGeom>
          <a:noFill/>
          <a:ln w="12700">
            <a:noFill/>
            <a:miter lim="800000"/>
            <a:headEnd/>
            <a:tailEnd/>
          </a:ln>
          <a:effectLst/>
        </p:spPr>
        <p:txBody>
          <a:bodyPr lIns="90488" tIns="44450" rIns="90488" bIns="44450"/>
          <a:lstStyle/>
          <a:p>
            <a:pPr marL="342900" indent="-342900">
              <a:lnSpc>
                <a:spcPct val="50000"/>
              </a:lnSpc>
              <a:spcBef>
                <a:spcPct val="65000"/>
              </a:spcBef>
              <a:buClr>
                <a:schemeClr val="accent1"/>
              </a:buClr>
              <a:buSzPct val="75000"/>
              <a:buFont typeface="Wingdings" pitchFamily="2" charset="2"/>
              <a:buNone/>
            </a:pPr>
            <a:r>
              <a:rPr lang="en-US" sz="2000" dirty="0">
                <a:latin typeface="Courier New" pitchFamily="49" charset="0"/>
              </a:rPr>
              <a:t>	</a:t>
            </a:r>
            <a:r>
              <a:rPr lang="en-US" sz="2000" dirty="0" err="1">
                <a:latin typeface="Courier New" pitchFamily="49" charset="0"/>
              </a:rPr>
              <a:t>jmp</a:t>
            </a:r>
            <a:r>
              <a:rPr lang="en-US" sz="2000" dirty="0">
                <a:latin typeface="Courier New" pitchFamily="49" charset="0"/>
              </a:rPr>
              <a:t> </a:t>
            </a:r>
            <a:r>
              <a:rPr lang="en-US" sz="2000" dirty="0" err="1">
                <a:latin typeface="Courier New" pitchFamily="49" charset="0"/>
              </a:rPr>
              <a:t>dst</a:t>
            </a:r>
            <a:r>
              <a:rPr lang="en-US" sz="2000" dirty="0">
                <a:latin typeface="Courier New" pitchFamily="49" charset="0"/>
              </a:rPr>
              <a:t> = (0x0) </a:t>
            </a:r>
            <a:r>
              <a:rPr lang="en-US" sz="2000" dirty="0">
                <a:solidFill>
                  <a:srgbClr val="0000D0"/>
                </a:solidFill>
                <a:latin typeface="Courier New" pitchFamily="49" charset="0"/>
              </a:rPr>
              <a:t>0x040003</a:t>
            </a:r>
            <a:r>
              <a:rPr lang="en-US" sz="2000" dirty="0">
                <a:latin typeface="Courier New" pitchFamily="49" charset="0"/>
              </a:rPr>
              <a:t> </a:t>
            </a:r>
            <a:r>
              <a:rPr lang="en-US" sz="2000" dirty="0">
                <a:solidFill>
                  <a:srgbClr val="0000D0"/>
                </a:solidFill>
                <a:latin typeface="Courier New" pitchFamily="49" charset="0"/>
              </a:rPr>
              <a:t>00</a:t>
            </a:r>
            <a:r>
              <a:rPr lang="en-US" sz="2000" baseline="-25000" dirty="0">
                <a:solidFill>
                  <a:srgbClr val="0000D0"/>
                </a:solidFill>
                <a:latin typeface="Courier New" pitchFamily="49" charset="0"/>
              </a:rPr>
              <a:t>2</a:t>
            </a:r>
            <a:r>
              <a:rPr lang="en-US" sz="2000" dirty="0">
                <a:latin typeface="Courier New" pitchFamily="49" charset="0"/>
              </a:rPr>
              <a:t>(00</a:t>
            </a:r>
            <a:r>
              <a:rPr lang="en-US" sz="2000" baseline="-25000" dirty="0">
                <a:latin typeface="Courier New" pitchFamily="49" charset="0"/>
              </a:rPr>
              <a:t>2</a:t>
            </a:r>
            <a:r>
              <a:rPr lang="en-US" sz="2000" dirty="0">
                <a:latin typeface="Courier New" pitchFamily="49" charset="0"/>
              </a:rPr>
              <a:t>)</a:t>
            </a:r>
          </a:p>
          <a:p>
            <a:pPr marL="342900" indent="-342900">
              <a:lnSpc>
                <a:spcPct val="50000"/>
              </a:lnSpc>
              <a:spcBef>
                <a:spcPct val="65000"/>
              </a:spcBef>
              <a:buClr>
                <a:schemeClr val="accent1"/>
              </a:buClr>
              <a:buSzPct val="75000"/>
              <a:buFont typeface="Wingdings" pitchFamily="2" charset="2"/>
              <a:buNone/>
            </a:pPr>
            <a:r>
              <a:rPr lang="en-US" sz="2000" dirty="0">
                <a:latin typeface="Courier New" pitchFamily="49" charset="0"/>
              </a:rPr>
              <a:t>                 = 0x00400030</a:t>
            </a:r>
            <a:endParaRPr lang="en-US" sz="2400" dirty="0">
              <a:latin typeface="Courier New" pitchFamily="49" charset="0"/>
            </a:endParaRPr>
          </a:p>
        </p:txBody>
      </p:sp>
      <p:sp>
        <p:nvSpPr>
          <p:cNvPr id="348171" name="Oval 11"/>
          <p:cNvSpPr>
            <a:spLocks noChangeArrowheads="1"/>
          </p:cNvSpPr>
          <p:nvPr/>
        </p:nvSpPr>
        <p:spPr bwMode="auto">
          <a:xfrm>
            <a:off x="5105400" y="5105400"/>
            <a:ext cx="76200" cy="76200"/>
          </a:xfrm>
          <a:prstGeom prst="ellipse">
            <a:avLst/>
          </a:prstGeom>
          <a:noFill/>
          <a:ln w="12700">
            <a:noFill/>
            <a:round/>
            <a:headEnd/>
            <a:tailEnd/>
          </a:ln>
          <a:effectLst/>
        </p:spPr>
        <p:txBody>
          <a:bodyPr wrap="none" anchor="ctr"/>
          <a:lstStyle/>
          <a:p>
            <a:endParaRPr lang="en-US"/>
          </a:p>
        </p:txBody>
      </p:sp>
      <p:sp>
        <p:nvSpPr>
          <p:cNvPr id="348172" name="Oval 12"/>
          <p:cNvSpPr>
            <a:spLocks noChangeArrowheads="1"/>
          </p:cNvSpPr>
          <p:nvPr/>
        </p:nvSpPr>
        <p:spPr bwMode="auto">
          <a:xfrm>
            <a:off x="914400" y="5638800"/>
            <a:ext cx="76200" cy="76200"/>
          </a:xfrm>
          <a:prstGeom prst="ellipse">
            <a:avLst/>
          </a:prstGeom>
          <a:noFill/>
          <a:ln w="12700">
            <a:noFill/>
            <a:round/>
            <a:headEnd/>
            <a:tailEnd/>
          </a:ln>
          <a:effectLst/>
        </p:spPr>
        <p:txBody>
          <a:bodyPr wrap="none" anchor="ctr"/>
          <a:lstStyle/>
          <a:p>
            <a:endParaRPr lang="en-US"/>
          </a:p>
        </p:txBody>
      </p:sp>
      <p:cxnSp>
        <p:nvCxnSpPr>
          <p:cNvPr id="348173" name="AutoShape 13"/>
          <p:cNvCxnSpPr>
            <a:cxnSpLocks noChangeShapeType="1"/>
            <a:stCxn id="348171" idx="6"/>
            <a:endCxn id="348172" idx="7"/>
          </p:cNvCxnSpPr>
          <p:nvPr/>
        </p:nvCxnSpPr>
        <p:spPr bwMode="auto">
          <a:xfrm flipH="1">
            <a:off x="979488" y="5143500"/>
            <a:ext cx="4202112" cy="506413"/>
          </a:xfrm>
          <a:prstGeom prst="curvedConnector4">
            <a:avLst>
              <a:gd name="adj1" fmla="val 1662"/>
              <a:gd name="adj2" fmla="val 52667"/>
            </a:avLst>
          </a:prstGeom>
          <a:noFill/>
          <a:ln w="12700">
            <a:solidFill>
              <a:schemeClr val="accent1"/>
            </a:solidFill>
            <a:round/>
            <a:headEnd type="triangle" w="med" len="med"/>
            <a:tailEnd/>
          </a:ln>
          <a:effectLst/>
        </p:spPr>
      </p:cxnSp>
    </p:spTree>
    <p:extLst>
      <p:ext uri="{BB962C8B-B14F-4D97-AF65-F5344CB8AC3E}">
        <p14:creationId xmlns:p14="http://schemas.microsoft.com/office/powerpoint/2010/main" val="2014510994"/>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81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1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1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481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4816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48170"/>
                                        </p:tgtEl>
                                        <p:attrNameLst>
                                          <p:attrName>style.visibility</p:attrName>
                                        </p:attrNameLst>
                                      </p:cBhvr>
                                      <p:to>
                                        <p:strVal val="visible"/>
                                      </p:to>
                                    </p:se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48173"/>
                                        </p:tgtEl>
                                        <p:attrNameLst>
                                          <p:attrName>style.visibility</p:attrName>
                                        </p:attrNameLst>
                                      </p:cBhvr>
                                      <p:to>
                                        <p:strVal val="visible"/>
                                      </p:to>
                                    </p:set>
                                    <p:animEffect transition="in" filter="wipe(left)">
                                      <p:cBhvr>
                                        <p:cTn id="28" dur="500"/>
                                        <p:tgtEl>
                                          <p:spTgt spid="348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5" grpId="0" autoUpdateAnimBg="0"/>
      <p:bldP spid="348166" grpId="0" autoUpdateAnimBg="0"/>
      <p:bldP spid="348167" grpId="0" autoUpdateAnimBg="0"/>
      <p:bldP spid="348168" grpId="0" autoUpdateAnimBg="0"/>
      <p:bldP spid="348169" grpId="0" autoUpdateAnimBg="0"/>
      <p:bldP spid="34817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a:lstStyle/>
          <a:p>
            <a:r>
              <a:rPr lang="en-US"/>
              <a:t>Compiling While Loops</a:t>
            </a:r>
          </a:p>
        </p:txBody>
      </p:sp>
      <p:sp>
        <p:nvSpPr>
          <p:cNvPr id="311299" name="Rectangle 3"/>
          <p:cNvSpPr>
            <a:spLocks noGrp="1" noChangeArrowheads="1"/>
          </p:cNvSpPr>
          <p:nvPr>
            <p:ph type="body" idx="1"/>
          </p:nvPr>
        </p:nvSpPr>
        <p:spPr>
          <a:xfrm>
            <a:off x="685800" y="838200"/>
            <a:ext cx="7924800" cy="2314575"/>
          </a:xfrm>
        </p:spPr>
        <p:txBody>
          <a:bodyPr/>
          <a:lstStyle/>
          <a:p>
            <a:r>
              <a:rPr lang="en-US"/>
              <a:t>Compile the assembly code for the C </a:t>
            </a:r>
            <a:r>
              <a:rPr lang="en-US">
                <a:latin typeface="Courier New" pitchFamily="49" charset="0"/>
              </a:rPr>
              <a:t>while</a:t>
            </a:r>
            <a:r>
              <a:rPr lang="en-US"/>
              <a:t> loop where i is in </a:t>
            </a:r>
            <a:r>
              <a:rPr lang="en-US">
                <a:latin typeface="Courier New" pitchFamily="49" charset="0"/>
              </a:rPr>
              <a:t>$s0</a:t>
            </a:r>
            <a:r>
              <a:rPr lang="en-US"/>
              <a:t>, j is in </a:t>
            </a:r>
            <a:r>
              <a:rPr lang="en-US">
                <a:latin typeface="Courier New" pitchFamily="49" charset="0"/>
              </a:rPr>
              <a:t>$s1</a:t>
            </a:r>
            <a:r>
              <a:rPr lang="en-US"/>
              <a:t>, and k is in </a:t>
            </a:r>
            <a:r>
              <a:rPr lang="en-US">
                <a:latin typeface="Courier New" pitchFamily="49" charset="0"/>
              </a:rPr>
              <a:t>$s2</a:t>
            </a:r>
          </a:p>
          <a:p>
            <a:pPr>
              <a:buFont typeface="Wingdings" pitchFamily="2" charset="2"/>
              <a:buNone/>
            </a:pPr>
            <a:r>
              <a:rPr lang="en-US"/>
              <a:t>	 	</a:t>
            </a:r>
            <a:r>
              <a:rPr lang="en-US">
                <a:latin typeface="Courier New" pitchFamily="49" charset="0"/>
              </a:rPr>
              <a:t>while (i!=k) </a:t>
            </a:r>
            <a:br>
              <a:rPr lang="en-US">
                <a:latin typeface="Courier New" pitchFamily="49" charset="0"/>
              </a:rPr>
            </a:br>
            <a:r>
              <a:rPr lang="en-US">
                <a:latin typeface="Courier New" pitchFamily="49" charset="0"/>
              </a:rPr>
              <a:t>		i=i+j;					</a:t>
            </a:r>
          </a:p>
        </p:txBody>
      </p:sp>
      <p:sp>
        <p:nvSpPr>
          <p:cNvPr id="311300" name="Rectangle 4"/>
          <p:cNvSpPr>
            <a:spLocks noChangeArrowheads="1"/>
          </p:cNvSpPr>
          <p:nvPr/>
        </p:nvSpPr>
        <p:spPr bwMode="auto">
          <a:xfrm>
            <a:off x="785786" y="4857760"/>
            <a:ext cx="7715304" cy="1159292"/>
          </a:xfrm>
          <a:prstGeom prst="rect">
            <a:avLst/>
          </a:prstGeom>
          <a:noFill/>
          <a:ln w="12700">
            <a:noFill/>
            <a:miter lim="800000"/>
            <a:headEnd/>
            <a:tailEnd/>
          </a:ln>
          <a:effectLst/>
        </p:spPr>
        <p:txBody>
          <a:bodyPr wrap="square"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dirty="0"/>
              <a:t>Basic block</a:t>
            </a:r>
            <a:r>
              <a:rPr lang="en-US" sz="2400" dirty="0">
                <a:solidFill>
                  <a:schemeClr val="tx1"/>
                </a:solidFill>
                <a:latin typeface="Courier New" pitchFamily="49" charset="0"/>
              </a:rPr>
              <a:t> </a:t>
            </a:r>
            <a:r>
              <a:rPr lang="en-US" sz="2400" dirty="0">
                <a:solidFill>
                  <a:schemeClr val="tx1"/>
                </a:solidFill>
              </a:rPr>
              <a:t>– A sequence of instructions without branches (except at the end) and without branch targets (except at the beginning)</a:t>
            </a:r>
            <a:endParaRPr lang="en-US" sz="2400" dirty="0">
              <a:solidFill>
                <a:schemeClr val="tx1"/>
              </a:solidFill>
              <a:latin typeface="Courier New" pitchFamily="49" charset="0"/>
            </a:endParaRPr>
          </a:p>
        </p:txBody>
      </p:sp>
    </p:spTree>
    <p:extLst>
      <p:ext uri="{BB962C8B-B14F-4D97-AF65-F5344CB8AC3E}">
        <p14:creationId xmlns:p14="http://schemas.microsoft.com/office/powerpoint/2010/main" val="73197246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1026"/>
          <p:cNvSpPr>
            <a:spLocks noGrp="1" noChangeArrowheads="1"/>
          </p:cNvSpPr>
          <p:nvPr>
            <p:ph type="title"/>
          </p:nvPr>
        </p:nvSpPr>
        <p:spPr/>
        <p:txBody>
          <a:bodyPr/>
          <a:lstStyle/>
          <a:p>
            <a:r>
              <a:rPr lang="en-US"/>
              <a:t>Compiling While Loops</a:t>
            </a:r>
          </a:p>
        </p:txBody>
      </p:sp>
      <p:sp>
        <p:nvSpPr>
          <p:cNvPr id="350211" name="Rectangle 1027"/>
          <p:cNvSpPr>
            <a:spLocks noGrp="1" noChangeArrowheads="1"/>
          </p:cNvSpPr>
          <p:nvPr>
            <p:ph type="body" idx="1"/>
          </p:nvPr>
        </p:nvSpPr>
        <p:spPr>
          <a:xfrm>
            <a:off x="685800" y="838200"/>
            <a:ext cx="7886728" cy="2314575"/>
          </a:xfrm>
        </p:spPr>
        <p:txBody>
          <a:bodyPr/>
          <a:lstStyle/>
          <a:p>
            <a:r>
              <a:rPr lang="en-US" dirty="0"/>
              <a:t>Compile the assembly code for the C </a:t>
            </a:r>
            <a:r>
              <a:rPr lang="en-US" dirty="0">
                <a:latin typeface="Courier New" pitchFamily="49" charset="0"/>
              </a:rPr>
              <a:t>while</a:t>
            </a:r>
            <a:r>
              <a:rPr lang="en-US" dirty="0"/>
              <a:t> loop where </a:t>
            </a:r>
            <a:r>
              <a:rPr lang="en-US" dirty="0" err="1"/>
              <a:t>i</a:t>
            </a:r>
            <a:r>
              <a:rPr lang="en-US" dirty="0"/>
              <a:t> is in </a:t>
            </a:r>
            <a:r>
              <a:rPr lang="en-US" dirty="0">
                <a:latin typeface="Courier New" pitchFamily="49" charset="0"/>
              </a:rPr>
              <a:t>$s0</a:t>
            </a:r>
            <a:r>
              <a:rPr lang="en-US" dirty="0"/>
              <a:t>, j is in </a:t>
            </a:r>
            <a:r>
              <a:rPr lang="en-US" dirty="0">
                <a:latin typeface="Courier New" pitchFamily="49" charset="0"/>
              </a:rPr>
              <a:t>$s1</a:t>
            </a:r>
            <a:r>
              <a:rPr lang="en-US" dirty="0"/>
              <a:t>, and k is in </a:t>
            </a:r>
            <a:r>
              <a:rPr lang="en-US" dirty="0">
                <a:latin typeface="Courier New" pitchFamily="49" charset="0"/>
              </a:rPr>
              <a:t>$s2</a:t>
            </a:r>
          </a:p>
          <a:p>
            <a:pPr>
              <a:buFont typeface="Wingdings" pitchFamily="2" charset="2"/>
              <a:buNone/>
            </a:pPr>
            <a:r>
              <a:rPr lang="en-US" dirty="0"/>
              <a:t>	 	</a:t>
            </a:r>
            <a:r>
              <a:rPr lang="en-US" dirty="0">
                <a:latin typeface="Courier New" pitchFamily="49" charset="0"/>
              </a:rPr>
              <a:t>while (</a:t>
            </a:r>
            <a:r>
              <a:rPr lang="en-US" dirty="0" err="1">
                <a:latin typeface="Courier New" pitchFamily="49" charset="0"/>
              </a:rPr>
              <a:t>i</a:t>
            </a:r>
            <a:r>
              <a:rPr lang="en-US" dirty="0">
                <a:latin typeface="Courier New" pitchFamily="49" charset="0"/>
              </a:rPr>
              <a:t>!=k) </a:t>
            </a:r>
            <a:br>
              <a:rPr lang="en-US" dirty="0">
                <a:latin typeface="Courier New" pitchFamily="49" charset="0"/>
              </a:rPr>
            </a:br>
            <a:r>
              <a:rPr lang="en-US" dirty="0">
                <a:latin typeface="Courier New" pitchFamily="49" charset="0"/>
              </a:rPr>
              <a:t>		</a:t>
            </a:r>
            <a:r>
              <a:rPr lang="en-US" dirty="0" err="1">
                <a:latin typeface="Courier New" pitchFamily="49" charset="0"/>
              </a:rPr>
              <a:t>i</a:t>
            </a:r>
            <a:r>
              <a:rPr lang="en-US" dirty="0">
                <a:latin typeface="Courier New" pitchFamily="49" charset="0"/>
              </a:rPr>
              <a:t>=</a:t>
            </a:r>
            <a:r>
              <a:rPr lang="en-US" dirty="0" err="1">
                <a:latin typeface="Courier New" pitchFamily="49" charset="0"/>
              </a:rPr>
              <a:t>i+j</a:t>
            </a:r>
            <a:r>
              <a:rPr lang="en-US" dirty="0">
                <a:latin typeface="Courier New" pitchFamily="49" charset="0"/>
              </a:rPr>
              <a:t>;					</a:t>
            </a:r>
          </a:p>
        </p:txBody>
      </p:sp>
      <p:sp>
        <p:nvSpPr>
          <p:cNvPr id="350212" name="Rectangle 1028"/>
          <p:cNvSpPr>
            <a:spLocks noChangeArrowheads="1"/>
          </p:cNvSpPr>
          <p:nvPr/>
        </p:nvSpPr>
        <p:spPr bwMode="auto">
          <a:xfrm>
            <a:off x="1285852" y="3071810"/>
            <a:ext cx="6477000" cy="1600200"/>
          </a:xfrm>
          <a:prstGeom prst="rect">
            <a:avLst/>
          </a:prstGeom>
          <a:noFill/>
          <a:ln w="12700">
            <a:noFill/>
            <a:miter lim="800000"/>
            <a:headEnd/>
            <a:tailEnd/>
          </a:ln>
          <a:effectLst/>
        </p:spPr>
        <p:txBody>
          <a:bodyPr lIns="90488" tIns="44450" rIns="90488" bIns="44450"/>
          <a:lstStyle/>
          <a:p>
            <a:pPr marL="342900" indent="-342900">
              <a:lnSpc>
                <a:spcPct val="90000"/>
              </a:lnSpc>
              <a:spcBef>
                <a:spcPct val="65000"/>
              </a:spcBef>
              <a:buClr>
                <a:schemeClr val="accent1"/>
              </a:buClr>
              <a:buSzPct val="75000"/>
              <a:buFont typeface="Wingdings" pitchFamily="2" charset="2"/>
              <a:buNone/>
            </a:pPr>
            <a:r>
              <a:rPr lang="en-US" sz="2400" dirty="0">
                <a:solidFill>
                  <a:schemeClr val="accent2"/>
                </a:solidFill>
                <a:latin typeface="Courier New" pitchFamily="49" charset="0"/>
              </a:rPr>
              <a:t>	Loop:	</a:t>
            </a:r>
            <a:r>
              <a:rPr lang="en-US" sz="2400" dirty="0" err="1">
                <a:solidFill>
                  <a:schemeClr val="accent2"/>
                </a:solidFill>
                <a:latin typeface="Courier New" pitchFamily="49" charset="0"/>
              </a:rPr>
              <a:t>beq</a:t>
            </a:r>
            <a:r>
              <a:rPr lang="en-US" sz="2400" dirty="0">
                <a:solidFill>
                  <a:schemeClr val="accent2"/>
                </a:solidFill>
                <a:latin typeface="Courier New" pitchFamily="49" charset="0"/>
              </a:rPr>
              <a:t>	$s0, $s2, Exit</a:t>
            </a:r>
            <a:br>
              <a:rPr lang="en-US" sz="2400" dirty="0">
                <a:solidFill>
                  <a:schemeClr val="accent2"/>
                </a:solidFill>
                <a:latin typeface="Courier New" pitchFamily="49" charset="0"/>
              </a:rPr>
            </a:br>
            <a:r>
              <a:rPr lang="en-US" sz="2400" dirty="0">
                <a:solidFill>
                  <a:schemeClr val="accent2"/>
                </a:solidFill>
                <a:latin typeface="Courier New" pitchFamily="49" charset="0"/>
              </a:rPr>
              <a:t>		add	$s0, $s0, $s1</a:t>
            </a:r>
            <a:br>
              <a:rPr lang="en-US" sz="2400" dirty="0">
                <a:solidFill>
                  <a:schemeClr val="accent2"/>
                </a:solidFill>
                <a:latin typeface="Courier New" pitchFamily="49" charset="0"/>
              </a:rPr>
            </a:br>
            <a:r>
              <a:rPr lang="en-US" sz="2400" dirty="0">
                <a:solidFill>
                  <a:schemeClr val="accent2"/>
                </a:solidFill>
                <a:latin typeface="Courier New" pitchFamily="49" charset="0"/>
              </a:rPr>
              <a:t>		j	Loop</a:t>
            </a:r>
            <a:br>
              <a:rPr lang="en-US" sz="2400" dirty="0">
                <a:solidFill>
                  <a:schemeClr val="accent2"/>
                </a:solidFill>
                <a:latin typeface="Courier New" pitchFamily="49" charset="0"/>
              </a:rPr>
            </a:br>
            <a:r>
              <a:rPr lang="en-US" sz="2400" dirty="0">
                <a:solidFill>
                  <a:schemeClr val="accent2"/>
                </a:solidFill>
                <a:latin typeface="Courier New" pitchFamily="49" charset="0"/>
              </a:rPr>
              <a:t>Exit:	. . .</a:t>
            </a:r>
          </a:p>
        </p:txBody>
      </p:sp>
      <p:sp>
        <p:nvSpPr>
          <p:cNvPr id="350213" name="Rectangle 1029"/>
          <p:cNvSpPr>
            <a:spLocks noChangeArrowheads="1"/>
          </p:cNvSpPr>
          <p:nvPr/>
        </p:nvSpPr>
        <p:spPr bwMode="auto">
          <a:xfrm>
            <a:off x="785786" y="4929198"/>
            <a:ext cx="7715304" cy="1159292"/>
          </a:xfrm>
          <a:prstGeom prst="rect">
            <a:avLst/>
          </a:prstGeom>
          <a:noFill/>
          <a:ln w="12700">
            <a:noFill/>
            <a:miter lim="800000"/>
            <a:headEnd/>
            <a:tailEnd/>
          </a:ln>
          <a:effectLst/>
        </p:spPr>
        <p:txBody>
          <a:bodyPr wrap="square"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dirty="0"/>
              <a:t>Basic block</a:t>
            </a:r>
            <a:r>
              <a:rPr lang="en-US" sz="2400" dirty="0">
                <a:solidFill>
                  <a:schemeClr val="tx1"/>
                </a:solidFill>
                <a:latin typeface="Courier New" pitchFamily="49" charset="0"/>
              </a:rPr>
              <a:t> </a:t>
            </a:r>
            <a:r>
              <a:rPr lang="en-US" sz="2400" dirty="0">
                <a:solidFill>
                  <a:schemeClr val="tx1"/>
                </a:solidFill>
              </a:rPr>
              <a:t>– A sequence of instructions without branches (except at the end) and without branch targets (except at the beginning)</a:t>
            </a:r>
            <a:endParaRPr lang="en-US" sz="2400" dirty="0">
              <a:solidFill>
                <a:schemeClr val="tx1"/>
              </a:solidFill>
              <a:latin typeface="Courier New" pitchFamily="49" charset="0"/>
            </a:endParaRPr>
          </a:p>
        </p:txBody>
      </p:sp>
    </p:spTree>
    <p:extLst>
      <p:ext uri="{BB962C8B-B14F-4D97-AF65-F5344CB8AC3E}">
        <p14:creationId xmlns:p14="http://schemas.microsoft.com/office/powerpoint/2010/main" val="3421778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02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0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2" grpId="0" autoUpdateAnimBg="0"/>
      <p:bldP spid="3502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a:xfrm>
            <a:off x="685800" y="292081"/>
            <a:ext cx="7848600" cy="422275"/>
          </a:xfrm>
        </p:spPr>
        <p:txBody>
          <a:bodyPr/>
          <a:lstStyle/>
          <a:p>
            <a:r>
              <a:rPr lang="en-US" dirty="0"/>
              <a:t>Review:  MIPS Instructions, so far</a:t>
            </a:r>
          </a:p>
        </p:txBody>
      </p:sp>
      <p:graphicFrame>
        <p:nvGraphicFramePr>
          <p:cNvPr id="447731" name="Group 243"/>
          <p:cNvGraphicFramePr>
            <a:graphicFrameLocks noGrp="1"/>
          </p:cNvGraphicFramePr>
          <p:nvPr>
            <p:ph type="tbl" idx="1"/>
          </p:nvPr>
        </p:nvGraphicFramePr>
        <p:xfrm>
          <a:off x="228600" y="762000"/>
          <a:ext cx="8686800" cy="5547360"/>
        </p:xfrm>
        <a:graphic>
          <a:graphicData uri="http://schemas.openxmlformats.org/drawingml/2006/table">
            <a:tbl>
              <a:tblPr/>
              <a:tblGrid>
                <a:gridCol w="1219200"/>
                <a:gridCol w="1695440"/>
                <a:gridCol w="857256"/>
                <a:gridCol w="2247904"/>
                <a:gridCol w="2667000"/>
              </a:tblGrid>
              <a:tr h="228600">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Category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Instr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OpC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Example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Meaning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250825">
                <a:tc rowSpan="12">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Arithmetic</a:t>
                      </a:r>
                    </a:p>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(R &amp; I format)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add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0 &amp; 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add  $s1, $s2, $s3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$s1 = $s2 + $s3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subtract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0 &amp; 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sub  $s1, $s2, $s3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$s1 = $s2 - $s3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add immediate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addi $s1, $s2, 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$s2 + 4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shift left logical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 &amp; 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sll    $s1, $s2, 4</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$s2 &lt;&lt;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shift right logical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 &amp; 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srl    $s1, $s2, 4</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$s2 &gt;&gt; 4  (fill with zeros)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shift right arithmetic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 &amp; 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sra   $s1, $s2, 4</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$s2 &gt;&gt; 4 (fill with sign bit)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and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 &amp; 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and  $s1, $s2, $s3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$s2 &amp; $s3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 &amp; 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or    $s1, $s2, $s3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$s2 | $s3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nor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0 &amp; 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nor  $s1, $s2, $s3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not ($s2 | $s3)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and immediate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0C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and  $s1, $s2, FF00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$s1 = $s2 &amp; 0xFF00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or immediate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0D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or    $s1, $s2, FF00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$s1 = $s2 | 0xFF00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rgbClr val="0000D0"/>
                          </a:solidFill>
                          <a:effectLst/>
                          <a:latin typeface="Arial" charset="0"/>
                          <a:ea typeface="宋体" pitchFamily="2" charset="-122"/>
                        </a:rPr>
                        <a:t>load upper immediate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0F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err="1" smtClean="0">
                          <a:ln>
                            <a:noFill/>
                          </a:ln>
                          <a:solidFill>
                            <a:schemeClr val="tx1"/>
                          </a:solidFill>
                          <a:effectLst/>
                          <a:latin typeface="Arial" charset="0"/>
                          <a:ea typeface="宋体" pitchFamily="2" charset="-122"/>
                        </a:rPr>
                        <a:t>lui</a:t>
                      </a:r>
                      <a:r>
                        <a:rPr kumimoji="0" lang="en-US" altLang="zh-CN" sz="1800" b="0" i="0" u="none" strike="noStrike" cap="none" normalizeH="0" baseline="0" dirty="0" smtClean="0">
                          <a:ln>
                            <a:noFill/>
                          </a:ln>
                          <a:solidFill>
                            <a:schemeClr val="tx1"/>
                          </a:solidFill>
                          <a:effectLst/>
                          <a:latin typeface="Arial" charset="0"/>
                          <a:ea typeface="宋体" pitchFamily="2" charset="-122"/>
                        </a:rPr>
                        <a:t>   $s1, 0xFFFF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$s1 = 0xFFFF0000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414398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a:xfrm>
            <a:off x="685800" y="292081"/>
            <a:ext cx="7848600" cy="422275"/>
          </a:xfrm>
        </p:spPr>
        <p:txBody>
          <a:bodyPr/>
          <a:lstStyle/>
          <a:p>
            <a:r>
              <a:rPr lang="en-US" dirty="0"/>
              <a:t>Review:  MIPS Instructions, so far</a:t>
            </a:r>
          </a:p>
        </p:txBody>
      </p:sp>
      <p:graphicFrame>
        <p:nvGraphicFramePr>
          <p:cNvPr id="419843" name="Group 3"/>
          <p:cNvGraphicFramePr>
            <a:graphicFrameLocks noGrp="1"/>
          </p:cNvGraphicFramePr>
          <p:nvPr>
            <p:ph type="tbl" idx="1"/>
          </p:nvPr>
        </p:nvGraphicFramePr>
        <p:xfrm>
          <a:off x="228600" y="762000"/>
          <a:ext cx="8686800" cy="5500307"/>
        </p:xfrm>
        <a:graphic>
          <a:graphicData uri="http://schemas.openxmlformats.org/drawingml/2006/table">
            <a:tbl>
              <a:tblPr/>
              <a:tblGrid>
                <a:gridCol w="1128690"/>
                <a:gridCol w="1785950"/>
                <a:gridCol w="857256"/>
                <a:gridCol w="2171704"/>
                <a:gridCol w="2743200"/>
              </a:tblGrid>
              <a:tr h="228600">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600" b="1" i="0" u="none" strike="noStrike" cap="none" normalizeH="0" baseline="0" dirty="0" smtClean="0">
                          <a:ln>
                            <a:noFill/>
                          </a:ln>
                          <a:solidFill>
                            <a:schemeClr val="tx1"/>
                          </a:solidFill>
                          <a:effectLst/>
                          <a:latin typeface="Arial" charset="0"/>
                        </a:rPr>
                        <a:t>Category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Instr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OpC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Example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600" b="1" i="0" u="none" strike="noStrike" cap="none" normalizeH="0" baseline="0" smtClean="0">
                          <a:ln>
                            <a:noFill/>
                          </a:ln>
                          <a:solidFill>
                            <a:schemeClr val="tx1"/>
                          </a:solidFill>
                          <a:effectLst/>
                          <a:latin typeface="Arial" charset="0"/>
                        </a:rPr>
                        <a:t>Meaning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180975">
                <a:tc rowSpan="6">
                  <a:txBody>
                    <a:bodyPr/>
                    <a:lstStyle/>
                    <a:p>
                      <a:pPr marL="0" marR="0" lvl="0" indent="0" algn="l" defTabSz="914400" rtl="0" eaLnBrk="0" fontAlgn="base" latinLnBrk="0" hangingPunct="0">
                        <a:lnSpc>
                          <a:spcPct val="90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Data</a:t>
                      </a:r>
                    </a:p>
                    <a:p>
                      <a:pPr marL="0" marR="0" lvl="0" indent="0" algn="l" defTabSz="914400" rtl="0" eaLnBrk="0" fontAlgn="base" latinLnBrk="0" hangingPunct="0">
                        <a:lnSpc>
                          <a:spcPct val="90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transfer</a:t>
                      </a:r>
                    </a:p>
                    <a:p>
                      <a:pPr marL="0" marR="0" lvl="0" indent="0" algn="l" defTabSz="914400" rtl="0" eaLnBrk="0" fontAlgn="base" latinLnBrk="0" hangingPunct="0">
                        <a:lnSpc>
                          <a:spcPct val="90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(I format)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load word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lw    $s1, 100($s2)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$s1 = Memory($s2+100)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263">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store word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sw   $s1, 100($s2)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Memory($s2+100) = $s1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rgbClr val="0000D0"/>
                          </a:solidFill>
                          <a:effectLst/>
                          <a:latin typeface="Arial" charset="0"/>
                          <a:ea typeface="宋体" pitchFamily="2" charset="-122"/>
                        </a:rPr>
                        <a:t>load byte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dirty="0" err="1" smtClean="0">
                          <a:ln>
                            <a:noFill/>
                          </a:ln>
                          <a:solidFill>
                            <a:schemeClr val="tx1"/>
                          </a:solidFill>
                          <a:effectLst/>
                          <a:latin typeface="Arial" charset="0"/>
                          <a:ea typeface="宋体" pitchFamily="2" charset="-122"/>
                        </a:rPr>
                        <a:t>lbu</a:t>
                      </a:r>
                      <a:r>
                        <a:rPr kumimoji="0" lang="en-US" altLang="zh-CN" sz="1800" b="0" i="0" u="none" strike="noStrike" cap="none" normalizeH="0" baseline="0" dirty="0" smtClean="0">
                          <a:ln>
                            <a:noFill/>
                          </a:ln>
                          <a:solidFill>
                            <a:schemeClr val="tx1"/>
                          </a:solidFill>
                          <a:effectLst/>
                          <a:latin typeface="Arial" charset="0"/>
                          <a:ea typeface="宋体" pitchFamily="2" charset="-122"/>
                        </a:rPr>
                        <a:t>    $s1, 101($s2)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Memory($s2+101)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rgbClr val="0000D0"/>
                          </a:solidFill>
                          <a:effectLst/>
                          <a:latin typeface="Arial" charset="0"/>
                          <a:ea typeface="宋体" pitchFamily="2" charset="-122"/>
                        </a:rPr>
                        <a:t>store byte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sb   $s1, 101($s2)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Memory($s2+101) = $s1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rgbClr val="0000D0"/>
                          </a:solidFill>
                          <a:effectLst/>
                          <a:latin typeface="Arial" charset="0"/>
                          <a:ea typeface="宋体" pitchFamily="2" charset="-122"/>
                        </a:rPr>
                        <a:t>load half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chemeClr val="tx1"/>
                          </a:solidFill>
                          <a:effectLst/>
                          <a:latin typeface="Arial" charset="0"/>
                          <a:ea typeface="宋体" pitchFamily="2"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dirty="0" err="1" smtClean="0">
                          <a:ln>
                            <a:noFill/>
                          </a:ln>
                          <a:solidFill>
                            <a:schemeClr val="tx1"/>
                          </a:solidFill>
                          <a:effectLst/>
                          <a:latin typeface="Arial" charset="0"/>
                          <a:ea typeface="宋体" pitchFamily="2" charset="-122"/>
                        </a:rPr>
                        <a:t>lhu</a:t>
                      </a:r>
                      <a:r>
                        <a:rPr kumimoji="0" lang="en-US" altLang="zh-CN" sz="1800" b="0" i="0" u="none" strike="noStrike" cap="none" normalizeH="0" baseline="0" dirty="0" smtClean="0">
                          <a:ln>
                            <a:noFill/>
                          </a:ln>
                          <a:solidFill>
                            <a:schemeClr val="tx1"/>
                          </a:solidFill>
                          <a:effectLst/>
                          <a:latin typeface="Arial" charset="0"/>
                          <a:ea typeface="宋体" pitchFamily="2" charset="-122"/>
                        </a:rPr>
                        <a:t>    $s1, 101($s2)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$s1 = Memory($s2+102)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5913">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dirty="0" smtClean="0">
                          <a:ln>
                            <a:noFill/>
                          </a:ln>
                          <a:solidFill>
                            <a:srgbClr val="0000D0"/>
                          </a:solidFill>
                          <a:effectLst/>
                          <a:latin typeface="Arial" charset="0"/>
                          <a:ea typeface="宋体" pitchFamily="2" charset="-122"/>
                        </a:rPr>
                        <a:t>store half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sh   $s1, 101($s2)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altLang="zh-CN" sz="1800" b="0" i="0" u="none" strike="noStrike" cap="none" normalizeH="0" baseline="0" smtClean="0">
                          <a:ln>
                            <a:noFill/>
                          </a:ln>
                          <a:solidFill>
                            <a:schemeClr val="tx1"/>
                          </a:solidFill>
                          <a:effectLst/>
                          <a:latin typeface="Arial" charset="0"/>
                          <a:ea typeface="宋体" pitchFamily="2" charset="-122"/>
                        </a:rPr>
                        <a:t>Memory($s2+102) = $s1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215900">
                <a:tc rowSpan="4">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Cond. branch</a:t>
                      </a:r>
                    </a:p>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(I &amp; R format)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br on equal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beq  $s1, $s2, 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if ($s1==$s2) go to 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9550">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br on not equal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bne  $s1, $s2, 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if ($s1 !=$s2) go to 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763">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set on less than immediate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0A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slti    $s1, $s2, 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if ($s2&lt;100) $s1=1;    else     $s1=0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set on less than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0 &amp; 2A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slt    $s1, $s2, $s3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if ($s2&lt;$s3) $s1=1;   else     $s1=0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204788">
                <a:tc rowSpan="3">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Uncond. jump</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jump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j       2500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go to 10000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jump register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0 &amp; 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jr     $t1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go to $t1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638">
                <a:tc vMerge="1">
                  <a:txBody>
                    <a:bodyPr/>
                    <a:lstStyle/>
                    <a:p>
                      <a:endParaRPr lang="en-US"/>
                    </a:p>
                  </a:txBody>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jump and link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jal    2500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25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go to 10000; $</a:t>
                      </a:r>
                      <a:r>
                        <a:rPr kumimoji="0" lang="en-US" sz="1800" b="0" i="0" u="none" strike="noStrike" cap="none" normalizeH="0" baseline="0" dirty="0" err="1" smtClean="0">
                          <a:ln>
                            <a:noFill/>
                          </a:ln>
                          <a:solidFill>
                            <a:schemeClr val="tx1"/>
                          </a:solidFill>
                          <a:effectLst/>
                          <a:latin typeface="Arial" charset="0"/>
                        </a:rPr>
                        <a:t>ra</a:t>
                      </a:r>
                      <a:r>
                        <a:rPr kumimoji="0" lang="en-US" sz="1800" b="0" i="0" u="none" strike="noStrike" cap="none" normalizeH="0" baseline="0" dirty="0" smtClean="0">
                          <a:ln>
                            <a:noFill/>
                          </a:ln>
                          <a:solidFill>
                            <a:schemeClr val="tx1"/>
                          </a:solidFill>
                          <a:effectLst/>
                          <a:latin typeface="Arial" charset="0"/>
                        </a:rPr>
                        <a:t>=PC+4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0624519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custDataLst>
              <p:tags r:id="rId1"/>
            </p:custDataLst>
          </p:nvPr>
        </p:nvSpPr>
        <p:spPr>
          <a:xfrm>
            <a:off x="533400" y="304800"/>
            <a:ext cx="4378325" cy="422275"/>
          </a:xfrm>
          <a:noFill/>
          <a:ln/>
        </p:spPr>
        <p:txBody>
          <a:bodyPr wrap="none"/>
          <a:lstStyle/>
          <a:p>
            <a:r>
              <a:rPr lang="en-US" altLang="zh-CN">
                <a:ea typeface="宋体" pitchFamily="2" charset="-122"/>
              </a:rPr>
              <a:t>Review:  MIPS R3000 ISA</a:t>
            </a:r>
          </a:p>
        </p:txBody>
      </p:sp>
      <p:sp>
        <p:nvSpPr>
          <p:cNvPr id="421891" name="Rectangle 3"/>
          <p:cNvSpPr>
            <a:spLocks noGrp="1" noChangeArrowheads="1"/>
          </p:cNvSpPr>
          <p:nvPr>
            <p:ph type="body" idx="1"/>
            <p:custDataLst>
              <p:tags r:id="rId2"/>
            </p:custDataLst>
          </p:nvPr>
        </p:nvSpPr>
        <p:spPr>
          <a:xfrm>
            <a:off x="762000" y="762000"/>
            <a:ext cx="6629400" cy="3633815"/>
          </a:xfrm>
          <a:noFill/>
          <a:ln/>
        </p:spPr>
        <p:txBody>
          <a:bodyPr/>
          <a:lstStyle/>
          <a:p>
            <a:pPr marL="342900" indent="-342900">
              <a:lnSpc>
                <a:spcPct val="90000"/>
              </a:lnSpc>
              <a:spcBef>
                <a:spcPct val="20000"/>
              </a:spcBef>
            </a:pPr>
            <a:r>
              <a:rPr lang="en-US" altLang="zh-CN" dirty="0">
                <a:ea typeface="宋体" pitchFamily="2" charset="-122"/>
              </a:rPr>
              <a:t>Instruction Categories</a:t>
            </a:r>
          </a:p>
          <a:p>
            <a:pPr marL="800100" lvl="1" indent="-342900">
              <a:lnSpc>
                <a:spcPct val="90000"/>
              </a:lnSpc>
              <a:spcBef>
                <a:spcPct val="20000"/>
              </a:spcBef>
            </a:pPr>
            <a:r>
              <a:rPr lang="en-US" altLang="zh-CN" dirty="0">
                <a:solidFill>
                  <a:schemeClr val="accent1"/>
                </a:solidFill>
                <a:ea typeface="宋体" pitchFamily="2" charset="-122"/>
              </a:rPr>
              <a:t>Load/Store</a:t>
            </a:r>
          </a:p>
          <a:p>
            <a:pPr marL="800100" lvl="1" indent="-342900">
              <a:lnSpc>
                <a:spcPct val="90000"/>
              </a:lnSpc>
              <a:spcBef>
                <a:spcPct val="20000"/>
              </a:spcBef>
            </a:pPr>
            <a:r>
              <a:rPr lang="en-US" altLang="zh-CN" dirty="0">
                <a:solidFill>
                  <a:schemeClr val="accent1"/>
                </a:solidFill>
                <a:ea typeface="宋体" pitchFamily="2" charset="-122"/>
              </a:rPr>
              <a:t>Computational</a:t>
            </a:r>
          </a:p>
          <a:p>
            <a:pPr marL="800100" lvl="1" indent="-342900">
              <a:lnSpc>
                <a:spcPct val="90000"/>
              </a:lnSpc>
              <a:spcBef>
                <a:spcPct val="20000"/>
              </a:spcBef>
            </a:pPr>
            <a:r>
              <a:rPr lang="en-US" altLang="zh-CN" dirty="0">
                <a:solidFill>
                  <a:schemeClr val="accent1"/>
                </a:solidFill>
                <a:ea typeface="宋体" pitchFamily="2" charset="-122"/>
              </a:rPr>
              <a:t>Jump and Branch</a:t>
            </a:r>
          </a:p>
          <a:p>
            <a:pPr marL="800100" lvl="1" indent="-342900">
              <a:lnSpc>
                <a:spcPct val="90000"/>
              </a:lnSpc>
              <a:spcBef>
                <a:spcPct val="20000"/>
              </a:spcBef>
            </a:pPr>
            <a:r>
              <a:rPr lang="en-US" altLang="zh-CN" dirty="0">
                <a:ea typeface="宋体" pitchFamily="2" charset="-122"/>
              </a:rPr>
              <a:t>Floating Point</a:t>
            </a:r>
          </a:p>
          <a:p>
            <a:pPr lvl="2">
              <a:lnSpc>
                <a:spcPct val="90000"/>
              </a:lnSpc>
              <a:spcBef>
                <a:spcPct val="20000"/>
              </a:spcBef>
            </a:pPr>
            <a:r>
              <a:rPr lang="en-US" altLang="zh-CN" dirty="0">
                <a:ea typeface="宋体" pitchFamily="2" charset="-122"/>
              </a:rPr>
              <a:t>coprocessor</a:t>
            </a:r>
          </a:p>
          <a:p>
            <a:pPr marL="800100" lvl="1" indent="-342900">
              <a:lnSpc>
                <a:spcPct val="90000"/>
              </a:lnSpc>
              <a:spcBef>
                <a:spcPct val="20000"/>
              </a:spcBef>
            </a:pPr>
            <a:r>
              <a:rPr lang="en-US" altLang="zh-CN" dirty="0">
                <a:ea typeface="宋体" pitchFamily="2" charset="-122"/>
              </a:rPr>
              <a:t>Memory Management</a:t>
            </a:r>
          </a:p>
          <a:p>
            <a:pPr marL="800100" lvl="1" indent="-342900">
              <a:lnSpc>
                <a:spcPct val="90000"/>
              </a:lnSpc>
              <a:spcBef>
                <a:spcPct val="20000"/>
              </a:spcBef>
            </a:pPr>
            <a:r>
              <a:rPr lang="en-US" altLang="zh-CN" dirty="0" smtClean="0">
                <a:ea typeface="宋体" pitchFamily="2" charset="-122"/>
              </a:rPr>
              <a:t>Special</a:t>
            </a:r>
          </a:p>
          <a:p>
            <a:pPr marL="1204912" lvl="2" indent="-342900">
              <a:lnSpc>
                <a:spcPct val="90000"/>
              </a:lnSpc>
              <a:spcBef>
                <a:spcPct val="20000"/>
              </a:spcBef>
            </a:pPr>
            <a:endParaRPr lang="en-US" altLang="zh-CN" sz="1200" dirty="0" smtClean="0">
              <a:ea typeface="宋体" pitchFamily="2" charset="-122"/>
            </a:endParaRPr>
          </a:p>
          <a:p>
            <a:pPr marL="1204912" lvl="2" indent="-342900">
              <a:lnSpc>
                <a:spcPct val="90000"/>
              </a:lnSpc>
              <a:spcBef>
                <a:spcPct val="20000"/>
              </a:spcBef>
            </a:pPr>
            <a:endParaRPr lang="en-US" altLang="zh-CN" sz="1200" dirty="0">
              <a:ea typeface="宋体" pitchFamily="2" charset="-122"/>
            </a:endParaRPr>
          </a:p>
          <a:p>
            <a:pPr marL="342900" indent="-342900">
              <a:lnSpc>
                <a:spcPct val="90000"/>
              </a:lnSpc>
              <a:spcBef>
                <a:spcPct val="20000"/>
              </a:spcBef>
            </a:pPr>
            <a:r>
              <a:rPr lang="en-US" altLang="zh-CN" dirty="0">
                <a:ea typeface="宋体" pitchFamily="2" charset="-122"/>
              </a:rPr>
              <a:t>3 Instruction Formats:  all 32 bits wide</a:t>
            </a:r>
          </a:p>
        </p:txBody>
      </p:sp>
      <p:sp>
        <p:nvSpPr>
          <p:cNvPr id="421892" name="Rectangle 4"/>
          <p:cNvSpPr>
            <a:spLocks noChangeArrowheads="1"/>
          </p:cNvSpPr>
          <p:nvPr>
            <p:custDataLst>
              <p:tags r:id="rId3"/>
            </p:custDataLst>
          </p:nvPr>
        </p:nvSpPr>
        <p:spPr bwMode="auto">
          <a:xfrm>
            <a:off x="5649934" y="1173144"/>
            <a:ext cx="1993900" cy="1638300"/>
          </a:xfrm>
          <a:prstGeom prst="rect">
            <a:avLst/>
          </a:prstGeom>
          <a:noFill/>
          <a:ln w="12700">
            <a:solidFill>
              <a:schemeClr val="tx1"/>
            </a:solidFill>
            <a:miter lim="800000"/>
            <a:headEnd/>
            <a:tailEnd/>
          </a:ln>
          <a:effectLst/>
        </p:spPr>
        <p:txBody>
          <a:bodyPr wrap="none" anchor="ctr"/>
          <a:lstStyle/>
          <a:p>
            <a:endParaRPr lang="en-US"/>
          </a:p>
        </p:txBody>
      </p:sp>
      <p:sp>
        <p:nvSpPr>
          <p:cNvPr id="421893" name="Rectangle 5"/>
          <p:cNvSpPr>
            <a:spLocks noChangeArrowheads="1"/>
          </p:cNvSpPr>
          <p:nvPr>
            <p:custDataLst>
              <p:tags r:id="rId4"/>
            </p:custDataLst>
          </p:nvPr>
        </p:nvSpPr>
        <p:spPr bwMode="auto">
          <a:xfrm>
            <a:off x="6075384" y="1700194"/>
            <a:ext cx="10414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a:ea typeface="宋体" pitchFamily="2" charset="-122"/>
              </a:rPr>
              <a:t>R0 - R31</a:t>
            </a:r>
          </a:p>
        </p:txBody>
      </p:sp>
      <p:sp>
        <p:nvSpPr>
          <p:cNvPr id="421894" name="Rectangle 6"/>
          <p:cNvSpPr>
            <a:spLocks noChangeArrowheads="1"/>
          </p:cNvSpPr>
          <p:nvPr>
            <p:custDataLst>
              <p:tags r:id="rId5"/>
            </p:custDataLst>
          </p:nvPr>
        </p:nvSpPr>
        <p:spPr bwMode="auto">
          <a:xfrm>
            <a:off x="5649934" y="2900344"/>
            <a:ext cx="1993900" cy="241300"/>
          </a:xfrm>
          <a:prstGeom prst="rect">
            <a:avLst/>
          </a:prstGeom>
          <a:noFill/>
          <a:ln w="12700">
            <a:solidFill>
              <a:schemeClr val="tx1"/>
            </a:solidFill>
            <a:miter lim="800000"/>
            <a:headEnd/>
            <a:tailEnd/>
          </a:ln>
          <a:effectLst/>
        </p:spPr>
        <p:txBody>
          <a:bodyPr wrap="none" anchor="ctr"/>
          <a:lstStyle/>
          <a:p>
            <a:endParaRPr lang="en-US"/>
          </a:p>
        </p:txBody>
      </p:sp>
      <p:sp>
        <p:nvSpPr>
          <p:cNvPr id="421895" name="Rectangle 7"/>
          <p:cNvSpPr>
            <a:spLocks noChangeArrowheads="1"/>
          </p:cNvSpPr>
          <p:nvPr>
            <p:custDataLst>
              <p:tags r:id="rId6"/>
            </p:custDataLst>
          </p:nvPr>
        </p:nvSpPr>
        <p:spPr bwMode="auto">
          <a:xfrm>
            <a:off x="5649934" y="3205144"/>
            <a:ext cx="1993900" cy="241300"/>
          </a:xfrm>
          <a:prstGeom prst="rect">
            <a:avLst/>
          </a:prstGeom>
          <a:noFill/>
          <a:ln w="12700">
            <a:solidFill>
              <a:schemeClr val="tx1"/>
            </a:solidFill>
            <a:miter lim="800000"/>
            <a:headEnd/>
            <a:tailEnd/>
          </a:ln>
          <a:effectLst/>
        </p:spPr>
        <p:txBody>
          <a:bodyPr wrap="none" anchor="ctr"/>
          <a:lstStyle/>
          <a:p>
            <a:endParaRPr lang="en-US"/>
          </a:p>
        </p:txBody>
      </p:sp>
      <p:sp>
        <p:nvSpPr>
          <p:cNvPr id="421896" name="Rectangle 8"/>
          <p:cNvSpPr>
            <a:spLocks noChangeArrowheads="1"/>
          </p:cNvSpPr>
          <p:nvPr>
            <p:custDataLst>
              <p:tags r:id="rId7"/>
            </p:custDataLst>
          </p:nvPr>
        </p:nvSpPr>
        <p:spPr bwMode="auto">
          <a:xfrm>
            <a:off x="5649934" y="3535344"/>
            <a:ext cx="1993900" cy="241300"/>
          </a:xfrm>
          <a:prstGeom prst="rect">
            <a:avLst/>
          </a:prstGeom>
          <a:noFill/>
          <a:ln w="12700">
            <a:solidFill>
              <a:schemeClr val="tx1"/>
            </a:solidFill>
            <a:miter lim="800000"/>
            <a:headEnd/>
            <a:tailEnd/>
          </a:ln>
          <a:effectLst/>
        </p:spPr>
        <p:txBody>
          <a:bodyPr wrap="none" anchor="ctr"/>
          <a:lstStyle/>
          <a:p>
            <a:endParaRPr lang="en-US"/>
          </a:p>
        </p:txBody>
      </p:sp>
      <p:sp>
        <p:nvSpPr>
          <p:cNvPr id="421897" name="Rectangle 9"/>
          <p:cNvSpPr>
            <a:spLocks noChangeArrowheads="1"/>
          </p:cNvSpPr>
          <p:nvPr>
            <p:custDataLst>
              <p:tags r:id="rId8"/>
            </p:custDataLst>
          </p:nvPr>
        </p:nvSpPr>
        <p:spPr bwMode="auto">
          <a:xfrm>
            <a:off x="6361134" y="2887644"/>
            <a:ext cx="457200" cy="2968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dirty="0">
                <a:solidFill>
                  <a:srgbClr val="FF0000"/>
                </a:solidFill>
                <a:ea typeface="宋体" pitchFamily="2" charset="-122"/>
              </a:rPr>
              <a:t>PC</a:t>
            </a:r>
          </a:p>
        </p:txBody>
      </p:sp>
      <p:sp>
        <p:nvSpPr>
          <p:cNvPr id="421898" name="Rectangle 10"/>
          <p:cNvSpPr>
            <a:spLocks noChangeArrowheads="1"/>
          </p:cNvSpPr>
          <p:nvPr>
            <p:custDataLst>
              <p:tags r:id="rId9"/>
            </p:custDataLst>
          </p:nvPr>
        </p:nvSpPr>
        <p:spPr bwMode="auto">
          <a:xfrm>
            <a:off x="6361134" y="3192444"/>
            <a:ext cx="368300" cy="2968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dirty="0">
                <a:solidFill>
                  <a:srgbClr val="FF0000"/>
                </a:solidFill>
                <a:ea typeface="宋体" pitchFamily="2" charset="-122"/>
              </a:rPr>
              <a:t>HI</a:t>
            </a:r>
          </a:p>
        </p:txBody>
      </p:sp>
      <p:sp>
        <p:nvSpPr>
          <p:cNvPr id="421899" name="Rectangle 11"/>
          <p:cNvSpPr>
            <a:spLocks noChangeArrowheads="1"/>
          </p:cNvSpPr>
          <p:nvPr>
            <p:custDataLst>
              <p:tags r:id="rId10"/>
            </p:custDataLst>
          </p:nvPr>
        </p:nvSpPr>
        <p:spPr bwMode="auto">
          <a:xfrm>
            <a:off x="6361134" y="3548044"/>
            <a:ext cx="457200" cy="2968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b="1" dirty="0">
                <a:solidFill>
                  <a:srgbClr val="FF0000"/>
                </a:solidFill>
                <a:ea typeface="宋体" pitchFamily="2" charset="-122"/>
              </a:rPr>
              <a:t>LO</a:t>
            </a:r>
          </a:p>
        </p:txBody>
      </p:sp>
      <p:sp>
        <p:nvSpPr>
          <p:cNvPr id="421900" name="Rectangle 12"/>
          <p:cNvSpPr>
            <a:spLocks noChangeArrowheads="1"/>
          </p:cNvSpPr>
          <p:nvPr>
            <p:custDataLst>
              <p:tags r:id="rId11"/>
            </p:custDataLst>
          </p:nvPr>
        </p:nvSpPr>
        <p:spPr bwMode="auto">
          <a:xfrm>
            <a:off x="1066800" y="4927600"/>
            <a:ext cx="6096000" cy="342900"/>
          </a:xfrm>
          <a:prstGeom prst="rect">
            <a:avLst/>
          </a:prstGeom>
          <a:noFill/>
          <a:ln w="12700">
            <a:solidFill>
              <a:schemeClr val="tx1"/>
            </a:solidFill>
            <a:miter lim="800000"/>
            <a:headEnd/>
            <a:tailEnd/>
          </a:ln>
          <a:effectLst/>
        </p:spPr>
        <p:txBody>
          <a:bodyPr wrap="none" anchor="ctr"/>
          <a:lstStyle/>
          <a:p>
            <a:endParaRPr lang="en-US"/>
          </a:p>
        </p:txBody>
      </p:sp>
      <p:sp>
        <p:nvSpPr>
          <p:cNvPr id="421901" name="Rectangle 13"/>
          <p:cNvSpPr>
            <a:spLocks noChangeArrowheads="1"/>
          </p:cNvSpPr>
          <p:nvPr>
            <p:custDataLst>
              <p:tags r:id="rId12"/>
            </p:custDataLst>
          </p:nvPr>
        </p:nvSpPr>
        <p:spPr bwMode="auto">
          <a:xfrm>
            <a:off x="1295400" y="4965700"/>
            <a:ext cx="457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OP</a:t>
            </a:r>
          </a:p>
        </p:txBody>
      </p:sp>
      <p:sp>
        <p:nvSpPr>
          <p:cNvPr id="421902" name="Rectangle 14"/>
          <p:cNvSpPr>
            <a:spLocks noChangeArrowheads="1"/>
          </p:cNvSpPr>
          <p:nvPr>
            <p:custDataLst>
              <p:tags r:id="rId13"/>
            </p:custDataLst>
          </p:nvPr>
        </p:nvSpPr>
        <p:spPr bwMode="auto">
          <a:xfrm>
            <a:off x="2387600" y="4965700"/>
            <a:ext cx="3175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rs</a:t>
            </a:r>
          </a:p>
        </p:txBody>
      </p:sp>
      <p:sp>
        <p:nvSpPr>
          <p:cNvPr id="421903" name="Rectangle 15"/>
          <p:cNvSpPr>
            <a:spLocks noChangeArrowheads="1"/>
          </p:cNvSpPr>
          <p:nvPr>
            <p:custDataLst>
              <p:tags r:id="rId14"/>
            </p:custDataLst>
          </p:nvPr>
        </p:nvSpPr>
        <p:spPr bwMode="auto">
          <a:xfrm>
            <a:off x="3429000" y="4991100"/>
            <a:ext cx="2667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rt</a:t>
            </a:r>
          </a:p>
        </p:txBody>
      </p:sp>
      <p:sp>
        <p:nvSpPr>
          <p:cNvPr id="421904" name="Rectangle 16"/>
          <p:cNvSpPr>
            <a:spLocks noChangeArrowheads="1"/>
          </p:cNvSpPr>
          <p:nvPr>
            <p:custDataLst>
              <p:tags r:id="rId15"/>
            </p:custDataLst>
          </p:nvPr>
        </p:nvSpPr>
        <p:spPr bwMode="auto">
          <a:xfrm>
            <a:off x="4419600" y="4965700"/>
            <a:ext cx="330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rd</a:t>
            </a:r>
          </a:p>
        </p:txBody>
      </p:sp>
      <p:sp>
        <p:nvSpPr>
          <p:cNvPr id="421905" name="Rectangle 17"/>
          <p:cNvSpPr>
            <a:spLocks noChangeArrowheads="1"/>
          </p:cNvSpPr>
          <p:nvPr>
            <p:custDataLst>
              <p:tags r:id="rId16"/>
            </p:custDataLst>
          </p:nvPr>
        </p:nvSpPr>
        <p:spPr bwMode="auto">
          <a:xfrm>
            <a:off x="5334000" y="4965700"/>
            <a:ext cx="749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shamt</a:t>
            </a:r>
          </a:p>
        </p:txBody>
      </p:sp>
      <p:sp>
        <p:nvSpPr>
          <p:cNvPr id="421906" name="Rectangle 18"/>
          <p:cNvSpPr>
            <a:spLocks noChangeArrowheads="1"/>
          </p:cNvSpPr>
          <p:nvPr>
            <p:custDataLst>
              <p:tags r:id="rId17"/>
            </p:custDataLst>
          </p:nvPr>
        </p:nvSpPr>
        <p:spPr bwMode="auto">
          <a:xfrm>
            <a:off x="6248400" y="4965700"/>
            <a:ext cx="622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funct</a:t>
            </a:r>
          </a:p>
        </p:txBody>
      </p:sp>
      <p:sp>
        <p:nvSpPr>
          <p:cNvPr id="421907" name="Rectangle 19"/>
          <p:cNvSpPr>
            <a:spLocks noChangeArrowheads="1"/>
          </p:cNvSpPr>
          <p:nvPr>
            <p:custDataLst>
              <p:tags r:id="rId18"/>
            </p:custDataLst>
          </p:nvPr>
        </p:nvSpPr>
        <p:spPr bwMode="auto">
          <a:xfrm>
            <a:off x="1066800" y="5410200"/>
            <a:ext cx="6096000" cy="304800"/>
          </a:xfrm>
          <a:prstGeom prst="rect">
            <a:avLst/>
          </a:prstGeom>
          <a:noFill/>
          <a:ln w="12700">
            <a:solidFill>
              <a:schemeClr val="tx1"/>
            </a:solidFill>
            <a:miter lim="800000"/>
            <a:headEnd/>
            <a:tailEnd/>
          </a:ln>
          <a:effectLst/>
        </p:spPr>
        <p:txBody>
          <a:bodyPr wrap="none" anchor="ctr"/>
          <a:lstStyle/>
          <a:p>
            <a:endParaRPr lang="en-US"/>
          </a:p>
        </p:txBody>
      </p:sp>
      <p:sp>
        <p:nvSpPr>
          <p:cNvPr id="421908" name="Rectangle 20"/>
          <p:cNvSpPr>
            <a:spLocks noChangeArrowheads="1"/>
          </p:cNvSpPr>
          <p:nvPr>
            <p:custDataLst>
              <p:tags r:id="rId19"/>
            </p:custDataLst>
          </p:nvPr>
        </p:nvSpPr>
        <p:spPr bwMode="auto">
          <a:xfrm>
            <a:off x="1295400" y="5448300"/>
            <a:ext cx="457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OP</a:t>
            </a:r>
          </a:p>
        </p:txBody>
      </p:sp>
      <p:sp>
        <p:nvSpPr>
          <p:cNvPr id="421909" name="Rectangle 21"/>
          <p:cNvSpPr>
            <a:spLocks noChangeArrowheads="1"/>
          </p:cNvSpPr>
          <p:nvPr>
            <p:custDataLst>
              <p:tags r:id="rId20"/>
            </p:custDataLst>
          </p:nvPr>
        </p:nvSpPr>
        <p:spPr bwMode="auto">
          <a:xfrm>
            <a:off x="2413000" y="5448300"/>
            <a:ext cx="3175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rs</a:t>
            </a:r>
          </a:p>
        </p:txBody>
      </p:sp>
      <p:sp>
        <p:nvSpPr>
          <p:cNvPr id="421910" name="Rectangle 22"/>
          <p:cNvSpPr>
            <a:spLocks noChangeArrowheads="1"/>
          </p:cNvSpPr>
          <p:nvPr>
            <p:custDataLst>
              <p:tags r:id="rId21"/>
            </p:custDataLst>
          </p:nvPr>
        </p:nvSpPr>
        <p:spPr bwMode="auto">
          <a:xfrm>
            <a:off x="3429000" y="5410200"/>
            <a:ext cx="2667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rt</a:t>
            </a:r>
          </a:p>
        </p:txBody>
      </p:sp>
      <p:sp>
        <p:nvSpPr>
          <p:cNvPr id="421911" name="Rectangle 23"/>
          <p:cNvSpPr>
            <a:spLocks noChangeArrowheads="1"/>
          </p:cNvSpPr>
          <p:nvPr>
            <p:custDataLst>
              <p:tags r:id="rId22"/>
            </p:custDataLst>
          </p:nvPr>
        </p:nvSpPr>
        <p:spPr bwMode="auto">
          <a:xfrm>
            <a:off x="4572000" y="5430838"/>
            <a:ext cx="1524000" cy="284162"/>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16 bit number</a:t>
            </a:r>
          </a:p>
        </p:txBody>
      </p:sp>
      <p:sp>
        <p:nvSpPr>
          <p:cNvPr id="421912" name="Rectangle 24"/>
          <p:cNvSpPr>
            <a:spLocks noChangeArrowheads="1"/>
          </p:cNvSpPr>
          <p:nvPr>
            <p:custDataLst>
              <p:tags r:id="rId23"/>
            </p:custDataLst>
          </p:nvPr>
        </p:nvSpPr>
        <p:spPr bwMode="auto">
          <a:xfrm>
            <a:off x="1066800" y="5842000"/>
            <a:ext cx="6096000" cy="342900"/>
          </a:xfrm>
          <a:prstGeom prst="rect">
            <a:avLst/>
          </a:prstGeom>
          <a:noFill/>
          <a:ln w="12700">
            <a:solidFill>
              <a:schemeClr val="tx1"/>
            </a:solidFill>
            <a:miter lim="800000"/>
            <a:headEnd/>
            <a:tailEnd/>
          </a:ln>
          <a:effectLst/>
        </p:spPr>
        <p:txBody>
          <a:bodyPr wrap="none" anchor="ctr"/>
          <a:lstStyle/>
          <a:p>
            <a:endParaRPr lang="en-US"/>
          </a:p>
        </p:txBody>
      </p:sp>
      <p:sp>
        <p:nvSpPr>
          <p:cNvPr id="421913" name="Rectangle 25"/>
          <p:cNvSpPr>
            <a:spLocks noChangeArrowheads="1"/>
          </p:cNvSpPr>
          <p:nvPr>
            <p:custDataLst>
              <p:tags r:id="rId24"/>
            </p:custDataLst>
          </p:nvPr>
        </p:nvSpPr>
        <p:spPr bwMode="auto">
          <a:xfrm>
            <a:off x="1295400" y="5880100"/>
            <a:ext cx="4572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OP</a:t>
            </a:r>
          </a:p>
        </p:txBody>
      </p:sp>
      <p:sp>
        <p:nvSpPr>
          <p:cNvPr id="421914" name="Rectangle 26"/>
          <p:cNvSpPr>
            <a:spLocks noChangeArrowheads="1"/>
          </p:cNvSpPr>
          <p:nvPr>
            <p:custDataLst>
              <p:tags r:id="rId25"/>
            </p:custDataLst>
          </p:nvPr>
        </p:nvSpPr>
        <p:spPr bwMode="auto">
          <a:xfrm>
            <a:off x="3581400" y="5867400"/>
            <a:ext cx="1892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ea typeface="宋体" pitchFamily="2" charset="-122"/>
              </a:rPr>
              <a:t>26 bit jump target</a:t>
            </a:r>
          </a:p>
        </p:txBody>
      </p:sp>
      <p:sp>
        <p:nvSpPr>
          <p:cNvPr id="421915" name="Rectangle 27"/>
          <p:cNvSpPr>
            <a:spLocks noChangeArrowheads="1"/>
          </p:cNvSpPr>
          <p:nvPr>
            <p:custDataLst>
              <p:tags r:id="rId26"/>
            </p:custDataLst>
          </p:nvPr>
        </p:nvSpPr>
        <p:spPr bwMode="auto">
          <a:xfrm>
            <a:off x="5922984" y="785794"/>
            <a:ext cx="1222375" cy="363538"/>
          </a:xfrm>
          <a:prstGeom prst="rect">
            <a:avLst/>
          </a:prstGeom>
          <a:noFill/>
          <a:ln w="12700">
            <a:noFill/>
            <a:miter lim="800000"/>
            <a:headEnd/>
            <a:tailEnd/>
          </a:ln>
          <a:effectLst/>
        </p:spPr>
        <p:txBody>
          <a:bodyPr wrap="none" lIns="90488" tIns="44450" rIns="90488" bIns="44450">
            <a:spAutoFit/>
          </a:bodyPr>
          <a:lstStyle/>
          <a:p>
            <a:r>
              <a:rPr lang="en-US" altLang="zh-CN" b="1">
                <a:ea typeface="宋体" pitchFamily="2" charset="-122"/>
              </a:rPr>
              <a:t>Registers</a:t>
            </a:r>
          </a:p>
        </p:txBody>
      </p:sp>
      <p:sp>
        <p:nvSpPr>
          <p:cNvPr id="421916" name="Rectangle 28"/>
          <p:cNvSpPr>
            <a:spLocks noChangeArrowheads="1"/>
          </p:cNvSpPr>
          <p:nvPr>
            <p:custDataLst>
              <p:tags r:id="rId27"/>
            </p:custDataLst>
          </p:nvPr>
        </p:nvSpPr>
        <p:spPr bwMode="auto">
          <a:xfrm>
            <a:off x="7239000" y="4876800"/>
            <a:ext cx="1600200" cy="396875"/>
          </a:xfrm>
          <a:prstGeom prst="rect">
            <a:avLst/>
          </a:prstGeom>
          <a:noFill/>
          <a:ln w="12700">
            <a:noFill/>
            <a:miter lim="800000"/>
            <a:headEnd/>
            <a:tailEnd/>
          </a:ln>
          <a:effectLst/>
        </p:spPr>
        <p:txBody>
          <a:bodyPr>
            <a:spAutoFit/>
          </a:bodyPr>
          <a:lstStyle/>
          <a:p>
            <a:r>
              <a:rPr lang="en-US" altLang="zh-CN" sz="2000">
                <a:ea typeface="宋体" pitchFamily="2" charset="-122"/>
                <a:sym typeface="Symbol" pitchFamily="18" charset="2"/>
              </a:rPr>
              <a:t>R format</a:t>
            </a:r>
          </a:p>
        </p:txBody>
      </p:sp>
      <p:sp>
        <p:nvSpPr>
          <p:cNvPr id="421917" name="Rectangle 29"/>
          <p:cNvSpPr>
            <a:spLocks noChangeArrowheads="1"/>
          </p:cNvSpPr>
          <p:nvPr>
            <p:custDataLst>
              <p:tags r:id="rId28"/>
            </p:custDataLst>
          </p:nvPr>
        </p:nvSpPr>
        <p:spPr bwMode="auto">
          <a:xfrm>
            <a:off x="7239000" y="5334000"/>
            <a:ext cx="1600200" cy="396875"/>
          </a:xfrm>
          <a:prstGeom prst="rect">
            <a:avLst/>
          </a:prstGeom>
          <a:noFill/>
          <a:ln w="12700">
            <a:noFill/>
            <a:miter lim="800000"/>
            <a:headEnd/>
            <a:tailEnd/>
          </a:ln>
          <a:effectLst/>
        </p:spPr>
        <p:txBody>
          <a:bodyPr>
            <a:spAutoFit/>
          </a:bodyPr>
          <a:lstStyle/>
          <a:p>
            <a:r>
              <a:rPr lang="en-US" altLang="zh-CN" sz="2000">
                <a:ea typeface="宋体" pitchFamily="2" charset="-122"/>
                <a:sym typeface="Symbol" pitchFamily="18" charset="2"/>
              </a:rPr>
              <a:t>I  format</a:t>
            </a:r>
          </a:p>
        </p:txBody>
      </p:sp>
      <p:sp>
        <p:nvSpPr>
          <p:cNvPr id="421918" name="Line 30"/>
          <p:cNvSpPr>
            <a:spLocks noChangeShapeType="1"/>
          </p:cNvSpPr>
          <p:nvPr>
            <p:custDataLst>
              <p:tags r:id="rId29"/>
            </p:custDataLst>
          </p:nvPr>
        </p:nvSpPr>
        <p:spPr bwMode="auto">
          <a:xfrm>
            <a:off x="2133600" y="4953000"/>
            <a:ext cx="0" cy="304800"/>
          </a:xfrm>
          <a:prstGeom prst="line">
            <a:avLst/>
          </a:prstGeom>
          <a:noFill/>
          <a:ln w="12700">
            <a:solidFill>
              <a:schemeClr val="tx1"/>
            </a:solidFill>
            <a:round/>
            <a:headEnd/>
            <a:tailEnd/>
          </a:ln>
          <a:effectLst/>
        </p:spPr>
        <p:txBody>
          <a:bodyPr/>
          <a:lstStyle/>
          <a:p>
            <a:endParaRPr lang="en-US"/>
          </a:p>
        </p:txBody>
      </p:sp>
      <p:sp>
        <p:nvSpPr>
          <p:cNvPr id="421919" name="Line 31"/>
          <p:cNvSpPr>
            <a:spLocks noChangeShapeType="1"/>
          </p:cNvSpPr>
          <p:nvPr>
            <p:custDataLst>
              <p:tags r:id="rId30"/>
            </p:custDataLst>
          </p:nvPr>
        </p:nvSpPr>
        <p:spPr bwMode="auto">
          <a:xfrm>
            <a:off x="3124200" y="4953000"/>
            <a:ext cx="0" cy="304800"/>
          </a:xfrm>
          <a:prstGeom prst="line">
            <a:avLst/>
          </a:prstGeom>
          <a:noFill/>
          <a:ln w="12700">
            <a:solidFill>
              <a:schemeClr val="tx1"/>
            </a:solidFill>
            <a:round/>
            <a:headEnd/>
            <a:tailEnd/>
          </a:ln>
          <a:effectLst/>
        </p:spPr>
        <p:txBody>
          <a:bodyPr/>
          <a:lstStyle/>
          <a:p>
            <a:endParaRPr lang="en-US"/>
          </a:p>
        </p:txBody>
      </p:sp>
      <p:sp>
        <p:nvSpPr>
          <p:cNvPr id="421920" name="Line 32"/>
          <p:cNvSpPr>
            <a:spLocks noChangeShapeType="1"/>
          </p:cNvSpPr>
          <p:nvPr>
            <p:custDataLst>
              <p:tags r:id="rId31"/>
            </p:custDataLst>
          </p:nvPr>
        </p:nvSpPr>
        <p:spPr bwMode="auto">
          <a:xfrm>
            <a:off x="4114800" y="4953000"/>
            <a:ext cx="0" cy="304800"/>
          </a:xfrm>
          <a:prstGeom prst="line">
            <a:avLst/>
          </a:prstGeom>
          <a:noFill/>
          <a:ln w="12700">
            <a:solidFill>
              <a:schemeClr val="tx1"/>
            </a:solidFill>
            <a:round/>
            <a:headEnd/>
            <a:tailEnd/>
          </a:ln>
          <a:effectLst/>
        </p:spPr>
        <p:txBody>
          <a:bodyPr/>
          <a:lstStyle/>
          <a:p>
            <a:endParaRPr lang="en-US"/>
          </a:p>
        </p:txBody>
      </p:sp>
      <p:sp>
        <p:nvSpPr>
          <p:cNvPr id="421921" name="Line 33"/>
          <p:cNvSpPr>
            <a:spLocks noChangeShapeType="1"/>
          </p:cNvSpPr>
          <p:nvPr>
            <p:custDataLst>
              <p:tags r:id="rId32"/>
            </p:custDataLst>
          </p:nvPr>
        </p:nvSpPr>
        <p:spPr bwMode="auto">
          <a:xfrm>
            <a:off x="5105400" y="4953000"/>
            <a:ext cx="0" cy="304800"/>
          </a:xfrm>
          <a:prstGeom prst="line">
            <a:avLst/>
          </a:prstGeom>
          <a:noFill/>
          <a:ln w="12700">
            <a:solidFill>
              <a:schemeClr val="tx1"/>
            </a:solidFill>
            <a:round/>
            <a:headEnd/>
            <a:tailEnd/>
          </a:ln>
          <a:effectLst/>
        </p:spPr>
        <p:txBody>
          <a:bodyPr/>
          <a:lstStyle/>
          <a:p>
            <a:endParaRPr lang="en-US"/>
          </a:p>
        </p:txBody>
      </p:sp>
      <p:sp>
        <p:nvSpPr>
          <p:cNvPr id="421922" name="Line 34"/>
          <p:cNvSpPr>
            <a:spLocks noChangeShapeType="1"/>
          </p:cNvSpPr>
          <p:nvPr>
            <p:custDataLst>
              <p:tags r:id="rId33"/>
            </p:custDataLst>
          </p:nvPr>
        </p:nvSpPr>
        <p:spPr bwMode="auto">
          <a:xfrm>
            <a:off x="6096000" y="4953000"/>
            <a:ext cx="0" cy="304800"/>
          </a:xfrm>
          <a:prstGeom prst="line">
            <a:avLst/>
          </a:prstGeom>
          <a:noFill/>
          <a:ln w="12700">
            <a:solidFill>
              <a:schemeClr val="tx1"/>
            </a:solidFill>
            <a:round/>
            <a:headEnd/>
            <a:tailEnd/>
          </a:ln>
          <a:effectLst/>
        </p:spPr>
        <p:txBody>
          <a:bodyPr/>
          <a:lstStyle/>
          <a:p>
            <a:endParaRPr lang="en-US"/>
          </a:p>
        </p:txBody>
      </p:sp>
      <p:sp>
        <p:nvSpPr>
          <p:cNvPr id="421923" name="Line 35"/>
          <p:cNvSpPr>
            <a:spLocks noChangeShapeType="1"/>
          </p:cNvSpPr>
          <p:nvPr>
            <p:custDataLst>
              <p:tags r:id="rId34"/>
            </p:custDataLst>
          </p:nvPr>
        </p:nvSpPr>
        <p:spPr bwMode="auto">
          <a:xfrm>
            <a:off x="4114800" y="5410200"/>
            <a:ext cx="0" cy="304800"/>
          </a:xfrm>
          <a:prstGeom prst="line">
            <a:avLst/>
          </a:prstGeom>
          <a:noFill/>
          <a:ln w="12700">
            <a:solidFill>
              <a:schemeClr val="tx1"/>
            </a:solidFill>
            <a:round/>
            <a:headEnd/>
            <a:tailEnd/>
          </a:ln>
          <a:effectLst/>
        </p:spPr>
        <p:txBody>
          <a:bodyPr/>
          <a:lstStyle/>
          <a:p>
            <a:endParaRPr lang="en-US"/>
          </a:p>
        </p:txBody>
      </p:sp>
      <p:sp>
        <p:nvSpPr>
          <p:cNvPr id="421924" name="Line 36"/>
          <p:cNvSpPr>
            <a:spLocks noChangeShapeType="1"/>
          </p:cNvSpPr>
          <p:nvPr>
            <p:custDataLst>
              <p:tags r:id="rId35"/>
            </p:custDataLst>
          </p:nvPr>
        </p:nvSpPr>
        <p:spPr bwMode="auto">
          <a:xfrm>
            <a:off x="3124200" y="5410200"/>
            <a:ext cx="0" cy="304800"/>
          </a:xfrm>
          <a:prstGeom prst="line">
            <a:avLst/>
          </a:prstGeom>
          <a:noFill/>
          <a:ln w="12700">
            <a:solidFill>
              <a:schemeClr val="tx1"/>
            </a:solidFill>
            <a:round/>
            <a:headEnd/>
            <a:tailEnd/>
          </a:ln>
          <a:effectLst/>
        </p:spPr>
        <p:txBody>
          <a:bodyPr/>
          <a:lstStyle/>
          <a:p>
            <a:endParaRPr lang="en-US"/>
          </a:p>
        </p:txBody>
      </p:sp>
      <p:sp>
        <p:nvSpPr>
          <p:cNvPr id="421925" name="Line 37"/>
          <p:cNvSpPr>
            <a:spLocks noChangeShapeType="1"/>
          </p:cNvSpPr>
          <p:nvPr>
            <p:custDataLst>
              <p:tags r:id="rId36"/>
            </p:custDataLst>
          </p:nvPr>
        </p:nvSpPr>
        <p:spPr bwMode="auto">
          <a:xfrm>
            <a:off x="2133600" y="5410200"/>
            <a:ext cx="0" cy="304800"/>
          </a:xfrm>
          <a:prstGeom prst="line">
            <a:avLst/>
          </a:prstGeom>
          <a:noFill/>
          <a:ln w="12700">
            <a:solidFill>
              <a:schemeClr val="tx1"/>
            </a:solidFill>
            <a:round/>
            <a:headEnd/>
            <a:tailEnd/>
          </a:ln>
          <a:effectLst/>
        </p:spPr>
        <p:txBody>
          <a:bodyPr/>
          <a:lstStyle/>
          <a:p>
            <a:endParaRPr lang="en-US"/>
          </a:p>
        </p:txBody>
      </p:sp>
      <p:sp>
        <p:nvSpPr>
          <p:cNvPr id="421926" name="Line 38"/>
          <p:cNvSpPr>
            <a:spLocks noChangeShapeType="1"/>
          </p:cNvSpPr>
          <p:nvPr>
            <p:custDataLst>
              <p:tags r:id="rId37"/>
            </p:custDataLst>
          </p:nvPr>
        </p:nvSpPr>
        <p:spPr bwMode="auto">
          <a:xfrm>
            <a:off x="2133600" y="5867400"/>
            <a:ext cx="0" cy="304800"/>
          </a:xfrm>
          <a:prstGeom prst="line">
            <a:avLst/>
          </a:prstGeom>
          <a:noFill/>
          <a:ln w="12700">
            <a:solidFill>
              <a:schemeClr val="tx1"/>
            </a:solidFill>
            <a:round/>
            <a:headEnd/>
            <a:tailEnd/>
          </a:ln>
          <a:effectLst/>
        </p:spPr>
        <p:txBody>
          <a:bodyPr/>
          <a:lstStyle/>
          <a:p>
            <a:endParaRPr lang="en-US"/>
          </a:p>
        </p:txBody>
      </p:sp>
      <p:sp>
        <p:nvSpPr>
          <p:cNvPr id="421927" name="Rectangle 39"/>
          <p:cNvSpPr>
            <a:spLocks noChangeArrowheads="1"/>
          </p:cNvSpPr>
          <p:nvPr>
            <p:custDataLst>
              <p:tags r:id="rId38"/>
            </p:custDataLst>
          </p:nvPr>
        </p:nvSpPr>
        <p:spPr bwMode="auto">
          <a:xfrm>
            <a:off x="12954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6 bits</a:t>
            </a:r>
          </a:p>
        </p:txBody>
      </p:sp>
      <p:sp>
        <p:nvSpPr>
          <p:cNvPr id="421928" name="Rectangle 40"/>
          <p:cNvSpPr>
            <a:spLocks noChangeArrowheads="1"/>
          </p:cNvSpPr>
          <p:nvPr>
            <p:custDataLst>
              <p:tags r:id="rId39"/>
            </p:custDataLst>
          </p:nvPr>
        </p:nvSpPr>
        <p:spPr bwMode="auto">
          <a:xfrm>
            <a:off x="22860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421929" name="Rectangle 41"/>
          <p:cNvSpPr>
            <a:spLocks noChangeArrowheads="1"/>
          </p:cNvSpPr>
          <p:nvPr>
            <p:custDataLst>
              <p:tags r:id="rId40"/>
            </p:custDataLst>
          </p:nvPr>
        </p:nvSpPr>
        <p:spPr bwMode="auto">
          <a:xfrm>
            <a:off x="32004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421930" name="Rectangle 42"/>
          <p:cNvSpPr>
            <a:spLocks noChangeArrowheads="1"/>
          </p:cNvSpPr>
          <p:nvPr>
            <p:custDataLst>
              <p:tags r:id="rId41"/>
            </p:custDataLst>
          </p:nvPr>
        </p:nvSpPr>
        <p:spPr bwMode="auto">
          <a:xfrm>
            <a:off x="41910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421931" name="Rectangle 43"/>
          <p:cNvSpPr>
            <a:spLocks noChangeArrowheads="1"/>
          </p:cNvSpPr>
          <p:nvPr>
            <p:custDataLst>
              <p:tags r:id="rId42"/>
            </p:custDataLst>
          </p:nvPr>
        </p:nvSpPr>
        <p:spPr bwMode="auto">
          <a:xfrm>
            <a:off x="52578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5 bits</a:t>
            </a:r>
          </a:p>
        </p:txBody>
      </p:sp>
      <p:sp>
        <p:nvSpPr>
          <p:cNvPr id="421932" name="Rectangle 44"/>
          <p:cNvSpPr>
            <a:spLocks noChangeArrowheads="1"/>
          </p:cNvSpPr>
          <p:nvPr>
            <p:custDataLst>
              <p:tags r:id="rId43"/>
            </p:custDataLst>
          </p:nvPr>
        </p:nvSpPr>
        <p:spPr bwMode="auto">
          <a:xfrm>
            <a:off x="6324600" y="4572000"/>
            <a:ext cx="673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altLang="zh-CN">
                <a:solidFill>
                  <a:schemeClr val="tx1"/>
                </a:solidFill>
                <a:ea typeface="宋体" pitchFamily="2" charset="-122"/>
              </a:rPr>
              <a:t>6 bits</a:t>
            </a:r>
          </a:p>
        </p:txBody>
      </p:sp>
      <p:sp>
        <p:nvSpPr>
          <p:cNvPr id="421933" name="Rectangle 45"/>
          <p:cNvSpPr>
            <a:spLocks noChangeArrowheads="1"/>
          </p:cNvSpPr>
          <p:nvPr>
            <p:custDataLst>
              <p:tags r:id="rId44"/>
            </p:custDataLst>
          </p:nvPr>
        </p:nvSpPr>
        <p:spPr bwMode="auto">
          <a:xfrm>
            <a:off x="7239000" y="5791200"/>
            <a:ext cx="1600200" cy="396875"/>
          </a:xfrm>
          <a:prstGeom prst="rect">
            <a:avLst/>
          </a:prstGeom>
          <a:noFill/>
          <a:ln w="12700">
            <a:noFill/>
            <a:miter lim="800000"/>
            <a:headEnd/>
            <a:tailEnd/>
          </a:ln>
          <a:effectLst/>
        </p:spPr>
        <p:txBody>
          <a:bodyPr>
            <a:spAutoFit/>
          </a:bodyPr>
          <a:lstStyle/>
          <a:p>
            <a:r>
              <a:rPr lang="en-US" altLang="zh-CN" sz="2000">
                <a:ea typeface="宋体" pitchFamily="2" charset="-122"/>
                <a:sym typeface="Symbol" pitchFamily="18" charset="2"/>
              </a:rPr>
              <a:t>J format</a:t>
            </a:r>
          </a:p>
        </p:txBody>
      </p:sp>
    </p:spTree>
    <p:extLst>
      <p:ext uri="{BB962C8B-B14F-4D97-AF65-F5344CB8AC3E}">
        <p14:creationId xmlns:p14="http://schemas.microsoft.com/office/powerpoint/2010/main" val="166651920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a:xfrm>
            <a:off x="685800" y="304801"/>
            <a:ext cx="7958166" cy="409556"/>
          </a:xfrm>
        </p:spPr>
        <p:txBody>
          <a:bodyPr/>
          <a:lstStyle/>
          <a:p>
            <a:r>
              <a:rPr lang="en-US" dirty="0"/>
              <a:t>MIPS Operand Addressing Modes Summary</a:t>
            </a:r>
          </a:p>
        </p:txBody>
      </p:sp>
      <p:sp>
        <p:nvSpPr>
          <p:cNvPr id="427011" name="Rectangle 3"/>
          <p:cNvSpPr>
            <a:spLocks noGrp="1" noChangeArrowheads="1"/>
          </p:cNvSpPr>
          <p:nvPr>
            <p:ph type="body" idx="1"/>
          </p:nvPr>
        </p:nvSpPr>
        <p:spPr>
          <a:xfrm>
            <a:off x="642910" y="762000"/>
            <a:ext cx="7848600" cy="434975"/>
          </a:xfrm>
        </p:spPr>
        <p:txBody>
          <a:bodyPr/>
          <a:lstStyle/>
          <a:p>
            <a:pPr>
              <a:lnSpc>
                <a:spcPct val="90000"/>
              </a:lnSpc>
              <a:spcBef>
                <a:spcPct val="20000"/>
              </a:spcBef>
            </a:pPr>
            <a:r>
              <a:rPr lang="en-US" dirty="0"/>
              <a:t>Register addressing – </a:t>
            </a:r>
            <a:r>
              <a:rPr lang="en-US" dirty="0">
                <a:solidFill>
                  <a:schemeClr val="accent1"/>
                </a:solidFill>
              </a:rPr>
              <a:t>operand</a:t>
            </a:r>
            <a:r>
              <a:rPr lang="en-US" dirty="0"/>
              <a:t> is in a register</a:t>
            </a:r>
          </a:p>
        </p:txBody>
      </p:sp>
      <p:sp>
        <p:nvSpPr>
          <p:cNvPr id="427012" name="Rectangle 4"/>
          <p:cNvSpPr>
            <a:spLocks noChangeArrowheads="1"/>
          </p:cNvSpPr>
          <p:nvPr/>
        </p:nvSpPr>
        <p:spPr bwMode="auto">
          <a:xfrm>
            <a:off x="642910" y="2286000"/>
            <a:ext cx="8077200" cy="1048492"/>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20000"/>
              </a:spcBef>
              <a:buClr>
                <a:schemeClr val="accent1"/>
              </a:buClr>
              <a:buSzPct val="75000"/>
              <a:buFont typeface="Wingdings" pitchFamily="2" charset="2"/>
              <a:buChar char="q"/>
            </a:pPr>
            <a:r>
              <a:rPr lang="en-US" sz="2400" dirty="0">
                <a:solidFill>
                  <a:schemeClr val="tx1"/>
                </a:solidFill>
              </a:rPr>
              <a:t>Base (displacement) addressing – </a:t>
            </a:r>
            <a:r>
              <a:rPr lang="en-US" sz="2400" dirty="0" smtClean="0">
                <a:solidFill>
                  <a:schemeClr val="tx1"/>
                </a:solidFill>
              </a:rPr>
              <a:t>address of </a:t>
            </a:r>
            <a:r>
              <a:rPr lang="en-US" sz="2400" dirty="0" smtClean="0"/>
              <a:t>operand</a:t>
            </a:r>
            <a:r>
              <a:rPr lang="en-US" sz="2400" dirty="0" smtClean="0">
                <a:solidFill>
                  <a:schemeClr val="tx1"/>
                </a:solidFill>
              </a:rPr>
              <a:t> </a:t>
            </a:r>
            <a:r>
              <a:rPr lang="en-US" sz="2400" dirty="0">
                <a:solidFill>
                  <a:schemeClr val="tx1"/>
                </a:solidFill>
              </a:rPr>
              <a:t>in memory is the sum of a register and a 16-bit constant contained within the instruction</a:t>
            </a:r>
          </a:p>
        </p:txBody>
      </p:sp>
      <p:sp>
        <p:nvSpPr>
          <p:cNvPr id="427013" name="Rectangle 5"/>
          <p:cNvSpPr>
            <a:spLocks noChangeArrowheads="1"/>
          </p:cNvSpPr>
          <p:nvPr/>
        </p:nvSpPr>
        <p:spPr bwMode="auto">
          <a:xfrm>
            <a:off x="609600" y="5029200"/>
            <a:ext cx="8001000" cy="716093"/>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20000"/>
              </a:spcBef>
              <a:buClr>
                <a:schemeClr val="accent1"/>
              </a:buClr>
              <a:buSzPct val="75000"/>
              <a:buFont typeface="Wingdings" pitchFamily="2" charset="2"/>
              <a:buChar char="q"/>
            </a:pPr>
            <a:r>
              <a:rPr lang="en-US" sz="2400" dirty="0">
                <a:solidFill>
                  <a:schemeClr val="tx1"/>
                </a:solidFill>
              </a:rPr>
              <a:t>Immediate addressing – </a:t>
            </a:r>
            <a:r>
              <a:rPr lang="en-US" sz="2400" dirty="0"/>
              <a:t>operand</a:t>
            </a:r>
            <a:r>
              <a:rPr lang="en-US" sz="2400" dirty="0">
                <a:solidFill>
                  <a:schemeClr val="tx1"/>
                </a:solidFill>
              </a:rPr>
              <a:t> is a </a:t>
            </a:r>
            <a:r>
              <a:rPr lang="en-US" sz="2400" dirty="0" smtClean="0">
                <a:solidFill>
                  <a:schemeClr val="tx1"/>
                </a:solidFill>
              </a:rPr>
              <a:t>16-bit         constant </a:t>
            </a:r>
            <a:r>
              <a:rPr lang="en-US" sz="2400" dirty="0">
                <a:solidFill>
                  <a:schemeClr val="tx1"/>
                </a:solidFill>
              </a:rPr>
              <a:t>contained within the instruction</a:t>
            </a:r>
          </a:p>
        </p:txBody>
      </p:sp>
      <p:grpSp>
        <p:nvGrpSpPr>
          <p:cNvPr id="2" name="Group 6"/>
          <p:cNvGrpSpPr>
            <a:grpSpLocks/>
          </p:cNvGrpSpPr>
          <p:nvPr/>
        </p:nvGrpSpPr>
        <p:grpSpPr bwMode="auto">
          <a:xfrm>
            <a:off x="304800" y="1143000"/>
            <a:ext cx="8610600" cy="1128713"/>
            <a:chOff x="192" y="384"/>
            <a:chExt cx="5424" cy="711"/>
          </a:xfrm>
        </p:grpSpPr>
        <p:sp>
          <p:nvSpPr>
            <p:cNvPr id="427015" name="Rectangle 7"/>
            <p:cNvSpPr>
              <a:spLocks noChangeArrowheads="1"/>
            </p:cNvSpPr>
            <p:nvPr/>
          </p:nvSpPr>
          <p:spPr bwMode="auto">
            <a:xfrm>
              <a:off x="336" y="624"/>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7016" name="Line 8"/>
            <p:cNvSpPr>
              <a:spLocks noChangeShapeType="1"/>
            </p:cNvSpPr>
            <p:nvPr/>
          </p:nvSpPr>
          <p:spPr bwMode="auto">
            <a:xfrm>
              <a:off x="816" y="624"/>
              <a:ext cx="0" cy="183"/>
            </a:xfrm>
            <a:prstGeom prst="line">
              <a:avLst/>
            </a:prstGeom>
            <a:noFill/>
            <a:ln w="12700">
              <a:solidFill>
                <a:schemeClr val="tx1"/>
              </a:solidFill>
              <a:round/>
              <a:headEnd/>
              <a:tailEnd/>
            </a:ln>
            <a:effectLst/>
          </p:spPr>
          <p:txBody>
            <a:bodyPr/>
            <a:lstStyle/>
            <a:p>
              <a:endParaRPr lang="en-US"/>
            </a:p>
          </p:txBody>
        </p:sp>
        <p:sp>
          <p:nvSpPr>
            <p:cNvPr id="427017" name="Line 9"/>
            <p:cNvSpPr>
              <a:spLocks noChangeShapeType="1"/>
            </p:cNvSpPr>
            <p:nvPr/>
          </p:nvSpPr>
          <p:spPr bwMode="auto">
            <a:xfrm>
              <a:off x="1200" y="624"/>
              <a:ext cx="0" cy="183"/>
            </a:xfrm>
            <a:prstGeom prst="line">
              <a:avLst/>
            </a:prstGeom>
            <a:noFill/>
            <a:ln w="12700">
              <a:solidFill>
                <a:schemeClr val="tx1"/>
              </a:solidFill>
              <a:round/>
              <a:headEnd/>
              <a:tailEnd/>
            </a:ln>
            <a:effectLst/>
          </p:spPr>
          <p:txBody>
            <a:bodyPr/>
            <a:lstStyle/>
            <a:p>
              <a:endParaRPr lang="en-US"/>
            </a:p>
          </p:txBody>
        </p:sp>
        <p:sp>
          <p:nvSpPr>
            <p:cNvPr id="427018" name="Line 10"/>
            <p:cNvSpPr>
              <a:spLocks noChangeShapeType="1"/>
            </p:cNvSpPr>
            <p:nvPr/>
          </p:nvSpPr>
          <p:spPr bwMode="auto">
            <a:xfrm>
              <a:off x="1584" y="624"/>
              <a:ext cx="0" cy="183"/>
            </a:xfrm>
            <a:prstGeom prst="line">
              <a:avLst/>
            </a:prstGeom>
            <a:noFill/>
            <a:ln w="12700">
              <a:solidFill>
                <a:schemeClr val="tx1"/>
              </a:solidFill>
              <a:round/>
              <a:headEnd/>
              <a:tailEnd/>
            </a:ln>
            <a:effectLst/>
          </p:spPr>
          <p:txBody>
            <a:bodyPr/>
            <a:lstStyle/>
            <a:p>
              <a:endParaRPr lang="en-US"/>
            </a:p>
          </p:txBody>
        </p:sp>
        <p:sp>
          <p:nvSpPr>
            <p:cNvPr id="427019" name="Line 11"/>
            <p:cNvSpPr>
              <a:spLocks noChangeShapeType="1"/>
            </p:cNvSpPr>
            <p:nvPr/>
          </p:nvSpPr>
          <p:spPr bwMode="auto">
            <a:xfrm>
              <a:off x="1920" y="624"/>
              <a:ext cx="0" cy="183"/>
            </a:xfrm>
            <a:prstGeom prst="line">
              <a:avLst/>
            </a:prstGeom>
            <a:noFill/>
            <a:ln w="12700">
              <a:solidFill>
                <a:schemeClr val="tx1"/>
              </a:solidFill>
              <a:round/>
              <a:headEnd/>
              <a:tailEnd/>
            </a:ln>
            <a:effectLst/>
          </p:spPr>
          <p:txBody>
            <a:bodyPr/>
            <a:lstStyle/>
            <a:p>
              <a:endParaRPr lang="en-US"/>
            </a:p>
          </p:txBody>
        </p:sp>
        <p:sp>
          <p:nvSpPr>
            <p:cNvPr id="427020" name="Line 12"/>
            <p:cNvSpPr>
              <a:spLocks noChangeShapeType="1"/>
            </p:cNvSpPr>
            <p:nvPr/>
          </p:nvSpPr>
          <p:spPr bwMode="auto">
            <a:xfrm>
              <a:off x="2304" y="624"/>
              <a:ext cx="0" cy="183"/>
            </a:xfrm>
            <a:prstGeom prst="line">
              <a:avLst/>
            </a:prstGeom>
            <a:noFill/>
            <a:ln w="12700">
              <a:solidFill>
                <a:schemeClr val="tx1"/>
              </a:solidFill>
              <a:round/>
              <a:headEnd/>
              <a:tailEnd/>
            </a:ln>
            <a:effectLst/>
          </p:spPr>
          <p:txBody>
            <a:bodyPr/>
            <a:lstStyle/>
            <a:p>
              <a:endParaRPr lang="en-US"/>
            </a:p>
          </p:txBody>
        </p:sp>
        <p:sp>
          <p:nvSpPr>
            <p:cNvPr id="427021" name="Rectangle 13"/>
            <p:cNvSpPr>
              <a:spLocks noChangeArrowheads="1"/>
            </p:cNvSpPr>
            <p:nvPr/>
          </p:nvSpPr>
          <p:spPr bwMode="auto">
            <a:xfrm>
              <a:off x="192" y="384"/>
              <a:ext cx="2208" cy="250"/>
            </a:xfrm>
            <a:prstGeom prst="rect">
              <a:avLst/>
            </a:prstGeom>
            <a:noFill/>
            <a:ln w="12700">
              <a:noFill/>
              <a:miter lim="800000"/>
              <a:headEnd/>
              <a:tailEnd/>
            </a:ln>
            <a:effectLst/>
          </p:spPr>
          <p:txBody>
            <a:bodyPr>
              <a:spAutoFit/>
            </a:bodyPr>
            <a:lstStyle/>
            <a:p>
              <a:r>
                <a:rPr lang="en-US" sz="2000">
                  <a:solidFill>
                    <a:schemeClr val="tx1"/>
                  </a:solidFill>
                </a:rPr>
                <a:t>1. Register addressing</a:t>
              </a:r>
            </a:p>
          </p:txBody>
        </p:sp>
        <p:sp>
          <p:nvSpPr>
            <p:cNvPr id="427022" name="Rectangle 14"/>
            <p:cNvSpPr>
              <a:spLocks noChangeArrowheads="1"/>
            </p:cNvSpPr>
            <p:nvPr/>
          </p:nvSpPr>
          <p:spPr bwMode="auto">
            <a:xfrm>
              <a:off x="3168" y="864"/>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7023" name="Text Box 15"/>
            <p:cNvSpPr txBox="1">
              <a:spLocks noChangeArrowheads="1"/>
            </p:cNvSpPr>
            <p:nvPr/>
          </p:nvSpPr>
          <p:spPr bwMode="auto">
            <a:xfrm>
              <a:off x="432" y="624"/>
              <a:ext cx="2284" cy="231"/>
            </a:xfrm>
            <a:prstGeom prst="rect">
              <a:avLst/>
            </a:prstGeom>
            <a:noFill/>
            <a:ln w="12700">
              <a:noFill/>
              <a:miter lim="800000"/>
              <a:headEnd/>
              <a:tailEnd/>
            </a:ln>
            <a:effectLst/>
          </p:spPr>
          <p:txBody>
            <a:bodyPr wrap="none">
              <a:spAutoFit/>
            </a:bodyPr>
            <a:lstStyle/>
            <a:p>
              <a:r>
                <a:rPr lang="en-US">
                  <a:solidFill>
                    <a:schemeClr val="tx1"/>
                  </a:solidFill>
                </a:rPr>
                <a:t>op         rs      rt      rd             funct</a:t>
              </a:r>
            </a:p>
          </p:txBody>
        </p:sp>
        <p:sp>
          <p:nvSpPr>
            <p:cNvPr id="427024" name="Line 16"/>
            <p:cNvSpPr>
              <a:spLocks noChangeShapeType="1"/>
            </p:cNvSpPr>
            <p:nvPr/>
          </p:nvSpPr>
          <p:spPr bwMode="auto">
            <a:xfrm>
              <a:off x="1056" y="816"/>
              <a:ext cx="0" cy="144"/>
            </a:xfrm>
            <a:prstGeom prst="line">
              <a:avLst/>
            </a:prstGeom>
            <a:noFill/>
            <a:ln w="12700">
              <a:solidFill>
                <a:schemeClr val="tx1"/>
              </a:solidFill>
              <a:round/>
              <a:headEnd/>
              <a:tailEnd/>
            </a:ln>
            <a:effectLst/>
          </p:spPr>
          <p:txBody>
            <a:bodyPr/>
            <a:lstStyle/>
            <a:p>
              <a:endParaRPr lang="en-US"/>
            </a:p>
          </p:txBody>
        </p:sp>
        <p:sp>
          <p:nvSpPr>
            <p:cNvPr id="427025" name="Line 17"/>
            <p:cNvSpPr>
              <a:spLocks noChangeShapeType="1"/>
            </p:cNvSpPr>
            <p:nvPr/>
          </p:nvSpPr>
          <p:spPr bwMode="auto">
            <a:xfrm>
              <a:off x="1056" y="960"/>
              <a:ext cx="2112" cy="0"/>
            </a:xfrm>
            <a:prstGeom prst="line">
              <a:avLst/>
            </a:prstGeom>
            <a:noFill/>
            <a:ln w="12700">
              <a:solidFill>
                <a:schemeClr val="tx1"/>
              </a:solidFill>
              <a:round/>
              <a:headEnd/>
              <a:tailEnd type="triangle" w="med" len="med"/>
            </a:ln>
            <a:effectLst/>
          </p:spPr>
          <p:txBody>
            <a:bodyPr/>
            <a:lstStyle/>
            <a:p>
              <a:endParaRPr lang="en-US"/>
            </a:p>
          </p:txBody>
        </p:sp>
        <p:sp>
          <p:nvSpPr>
            <p:cNvPr id="427026" name="Rectangle 18"/>
            <p:cNvSpPr>
              <a:spLocks noChangeArrowheads="1"/>
            </p:cNvSpPr>
            <p:nvPr/>
          </p:nvSpPr>
          <p:spPr bwMode="auto">
            <a:xfrm>
              <a:off x="3888" y="624"/>
              <a:ext cx="912" cy="250"/>
            </a:xfrm>
            <a:prstGeom prst="rect">
              <a:avLst/>
            </a:prstGeom>
            <a:noFill/>
            <a:ln w="12700">
              <a:noFill/>
              <a:miter lim="800000"/>
              <a:headEnd/>
              <a:tailEnd/>
            </a:ln>
            <a:effectLst/>
          </p:spPr>
          <p:txBody>
            <a:bodyPr>
              <a:spAutoFit/>
            </a:bodyPr>
            <a:lstStyle/>
            <a:p>
              <a:r>
                <a:rPr lang="en-US" sz="2000">
                  <a:solidFill>
                    <a:schemeClr val="tx1"/>
                  </a:solidFill>
                </a:rPr>
                <a:t>Register</a:t>
              </a:r>
            </a:p>
          </p:txBody>
        </p:sp>
        <p:sp>
          <p:nvSpPr>
            <p:cNvPr id="427027" name="Text Box 19"/>
            <p:cNvSpPr txBox="1">
              <a:spLocks noChangeArrowheads="1"/>
            </p:cNvSpPr>
            <p:nvPr/>
          </p:nvSpPr>
          <p:spPr bwMode="auto">
            <a:xfrm>
              <a:off x="3744" y="864"/>
              <a:ext cx="996" cy="231"/>
            </a:xfrm>
            <a:prstGeom prst="rect">
              <a:avLst/>
            </a:prstGeom>
            <a:noFill/>
            <a:ln w="12700">
              <a:noFill/>
              <a:miter lim="800000"/>
              <a:headEnd/>
              <a:tailEnd/>
            </a:ln>
            <a:effectLst/>
          </p:spPr>
          <p:txBody>
            <a:bodyPr wrap="none">
              <a:spAutoFit/>
            </a:bodyPr>
            <a:lstStyle/>
            <a:p>
              <a:r>
                <a:rPr lang="en-US">
                  <a:solidFill>
                    <a:schemeClr val="tx1"/>
                  </a:solidFill>
                </a:rPr>
                <a:t>word </a:t>
              </a:r>
              <a:r>
                <a:rPr lang="en-US"/>
                <a:t>operand</a:t>
              </a:r>
            </a:p>
          </p:txBody>
        </p:sp>
      </p:grpSp>
      <p:grpSp>
        <p:nvGrpSpPr>
          <p:cNvPr id="3" name="Group 20"/>
          <p:cNvGrpSpPr>
            <a:grpSpLocks/>
          </p:cNvGrpSpPr>
          <p:nvPr/>
        </p:nvGrpSpPr>
        <p:grpSpPr bwMode="auto">
          <a:xfrm>
            <a:off x="304800" y="3429000"/>
            <a:ext cx="8610600" cy="1509713"/>
            <a:chOff x="192" y="960"/>
            <a:chExt cx="5424" cy="951"/>
          </a:xfrm>
        </p:grpSpPr>
        <p:grpSp>
          <p:nvGrpSpPr>
            <p:cNvPr id="4" name="Group 21"/>
            <p:cNvGrpSpPr>
              <a:grpSpLocks/>
            </p:cNvGrpSpPr>
            <p:nvPr/>
          </p:nvGrpSpPr>
          <p:grpSpPr bwMode="auto">
            <a:xfrm>
              <a:off x="192" y="960"/>
              <a:ext cx="5424" cy="951"/>
              <a:chOff x="192" y="960"/>
              <a:chExt cx="5424" cy="951"/>
            </a:xfrm>
          </p:grpSpPr>
          <p:sp>
            <p:nvSpPr>
              <p:cNvPr id="427030" name="Text Box 22"/>
              <p:cNvSpPr txBox="1">
                <a:spLocks noChangeArrowheads="1"/>
              </p:cNvSpPr>
              <p:nvPr/>
            </p:nvSpPr>
            <p:spPr bwMode="auto">
              <a:xfrm>
                <a:off x="432" y="1200"/>
                <a:ext cx="1916" cy="231"/>
              </a:xfrm>
              <a:prstGeom prst="rect">
                <a:avLst/>
              </a:prstGeom>
              <a:noFill/>
              <a:ln w="12700">
                <a:noFill/>
                <a:miter lim="800000"/>
                <a:headEnd/>
                <a:tailEnd/>
              </a:ln>
              <a:effectLst/>
            </p:spPr>
            <p:txBody>
              <a:bodyPr wrap="none">
                <a:spAutoFit/>
              </a:bodyPr>
              <a:lstStyle/>
              <a:p>
                <a:r>
                  <a:rPr lang="en-US">
                    <a:solidFill>
                      <a:schemeClr val="tx1"/>
                    </a:solidFill>
                  </a:rPr>
                  <a:t>op         rs       rt           offset</a:t>
                </a:r>
              </a:p>
            </p:txBody>
          </p:sp>
          <p:sp>
            <p:nvSpPr>
              <p:cNvPr id="427031" name="Rectangle 23"/>
              <p:cNvSpPr>
                <a:spLocks noChangeArrowheads="1"/>
              </p:cNvSpPr>
              <p:nvPr/>
            </p:nvSpPr>
            <p:spPr bwMode="auto">
              <a:xfrm>
                <a:off x="336" y="1200"/>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7032" name="Line 24"/>
              <p:cNvSpPr>
                <a:spLocks noChangeShapeType="1"/>
              </p:cNvSpPr>
              <p:nvPr/>
            </p:nvSpPr>
            <p:spPr bwMode="auto">
              <a:xfrm>
                <a:off x="816" y="1200"/>
                <a:ext cx="0" cy="183"/>
              </a:xfrm>
              <a:prstGeom prst="line">
                <a:avLst/>
              </a:prstGeom>
              <a:noFill/>
              <a:ln w="12700">
                <a:solidFill>
                  <a:schemeClr val="tx1"/>
                </a:solidFill>
                <a:round/>
                <a:headEnd/>
                <a:tailEnd/>
              </a:ln>
              <a:effectLst/>
            </p:spPr>
            <p:txBody>
              <a:bodyPr/>
              <a:lstStyle/>
              <a:p>
                <a:endParaRPr lang="en-US"/>
              </a:p>
            </p:txBody>
          </p:sp>
          <p:sp>
            <p:nvSpPr>
              <p:cNvPr id="427033" name="Line 25"/>
              <p:cNvSpPr>
                <a:spLocks noChangeShapeType="1"/>
              </p:cNvSpPr>
              <p:nvPr/>
            </p:nvSpPr>
            <p:spPr bwMode="auto">
              <a:xfrm>
                <a:off x="1200" y="1200"/>
                <a:ext cx="0" cy="183"/>
              </a:xfrm>
              <a:prstGeom prst="line">
                <a:avLst/>
              </a:prstGeom>
              <a:noFill/>
              <a:ln w="12700">
                <a:solidFill>
                  <a:schemeClr val="tx1"/>
                </a:solidFill>
                <a:round/>
                <a:headEnd/>
                <a:tailEnd/>
              </a:ln>
              <a:effectLst/>
            </p:spPr>
            <p:txBody>
              <a:bodyPr/>
              <a:lstStyle/>
              <a:p>
                <a:endParaRPr lang="en-US"/>
              </a:p>
            </p:txBody>
          </p:sp>
          <p:sp>
            <p:nvSpPr>
              <p:cNvPr id="427034" name="Line 26"/>
              <p:cNvSpPr>
                <a:spLocks noChangeShapeType="1"/>
              </p:cNvSpPr>
              <p:nvPr/>
            </p:nvSpPr>
            <p:spPr bwMode="auto">
              <a:xfrm>
                <a:off x="1584" y="1200"/>
                <a:ext cx="0" cy="183"/>
              </a:xfrm>
              <a:prstGeom prst="line">
                <a:avLst/>
              </a:prstGeom>
              <a:noFill/>
              <a:ln w="12700">
                <a:solidFill>
                  <a:schemeClr val="tx1"/>
                </a:solidFill>
                <a:round/>
                <a:headEnd/>
                <a:tailEnd/>
              </a:ln>
              <a:effectLst/>
            </p:spPr>
            <p:txBody>
              <a:bodyPr/>
              <a:lstStyle/>
              <a:p>
                <a:endParaRPr lang="en-US"/>
              </a:p>
            </p:txBody>
          </p:sp>
          <p:sp>
            <p:nvSpPr>
              <p:cNvPr id="427035" name="Rectangle 27"/>
              <p:cNvSpPr>
                <a:spLocks noChangeArrowheads="1"/>
              </p:cNvSpPr>
              <p:nvPr/>
            </p:nvSpPr>
            <p:spPr bwMode="auto">
              <a:xfrm>
                <a:off x="192" y="960"/>
                <a:ext cx="2208" cy="250"/>
              </a:xfrm>
              <a:prstGeom prst="rect">
                <a:avLst/>
              </a:prstGeom>
              <a:noFill/>
              <a:ln w="12700">
                <a:noFill/>
                <a:miter lim="800000"/>
                <a:headEnd/>
                <a:tailEnd/>
              </a:ln>
              <a:effectLst/>
            </p:spPr>
            <p:txBody>
              <a:bodyPr>
                <a:spAutoFit/>
              </a:bodyPr>
              <a:lstStyle/>
              <a:p>
                <a:r>
                  <a:rPr lang="en-US" sz="2000">
                    <a:solidFill>
                      <a:schemeClr val="tx1"/>
                    </a:solidFill>
                  </a:rPr>
                  <a:t>2. Base addressing</a:t>
                </a:r>
              </a:p>
            </p:txBody>
          </p:sp>
          <p:sp>
            <p:nvSpPr>
              <p:cNvPr id="427036" name="Rectangle 28"/>
              <p:cNvSpPr>
                <a:spLocks noChangeArrowheads="1"/>
              </p:cNvSpPr>
              <p:nvPr/>
            </p:nvSpPr>
            <p:spPr bwMode="auto">
              <a:xfrm>
                <a:off x="336" y="1680"/>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7037" name="Text Box 29"/>
              <p:cNvSpPr txBox="1">
                <a:spLocks noChangeArrowheads="1"/>
              </p:cNvSpPr>
              <p:nvPr/>
            </p:nvSpPr>
            <p:spPr bwMode="auto">
              <a:xfrm>
                <a:off x="1008" y="1680"/>
                <a:ext cx="948" cy="231"/>
              </a:xfrm>
              <a:prstGeom prst="rect">
                <a:avLst/>
              </a:prstGeom>
              <a:noFill/>
              <a:ln w="12700">
                <a:noFill/>
                <a:miter lim="800000"/>
                <a:headEnd/>
                <a:tailEnd/>
              </a:ln>
              <a:effectLst/>
            </p:spPr>
            <p:txBody>
              <a:bodyPr wrap="none">
                <a:spAutoFit/>
              </a:bodyPr>
              <a:lstStyle/>
              <a:p>
                <a:r>
                  <a:rPr lang="en-US">
                    <a:solidFill>
                      <a:schemeClr val="tx1"/>
                    </a:solidFill>
                  </a:rPr>
                  <a:t>base register</a:t>
                </a:r>
              </a:p>
            </p:txBody>
          </p:sp>
          <p:grpSp>
            <p:nvGrpSpPr>
              <p:cNvPr id="5" name="Group 30"/>
              <p:cNvGrpSpPr>
                <a:grpSpLocks/>
              </p:cNvGrpSpPr>
              <p:nvPr/>
            </p:nvGrpSpPr>
            <p:grpSpPr bwMode="auto">
              <a:xfrm>
                <a:off x="2880" y="1392"/>
                <a:ext cx="192" cy="336"/>
                <a:chOff x="1392" y="2880"/>
                <a:chExt cx="288" cy="480"/>
              </a:xfrm>
            </p:grpSpPr>
            <p:sp>
              <p:nvSpPr>
                <p:cNvPr id="427039" name="Line 31"/>
                <p:cNvSpPr>
                  <a:spLocks noChangeShapeType="1"/>
                </p:cNvSpPr>
                <p:nvPr/>
              </p:nvSpPr>
              <p:spPr bwMode="auto">
                <a:xfrm>
                  <a:off x="1392" y="3072"/>
                  <a:ext cx="48" cy="48"/>
                </a:xfrm>
                <a:prstGeom prst="line">
                  <a:avLst/>
                </a:prstGeom>
                <a:noFill/>
                <a:ln w="12700">
                  <a:solidFill>
                    <a:schemeClr val="tx1"/>
                  </a:solidFill>
                  <a:round/>
                  <a:headEnd/>
                  <a:tailEnd/>
                </a:ln>
                <a:effectLst/>
              </p:spPr>
              <p:txBody>
                <a:bodyPr/>
                <a:lstStyle/>
                <a:p>
                  <a:endParaRPr lang="en-US"/>
                </a:p>
              </p:txBody>
            </p:sp>
            <p:sp>
              <p:nvSpPr>
                <p:cNvPr id="427040" name="Line 32"/>
                <p:cNvSpPr>
                  <a:spLocks noChangeShapeType="1"/>
                </p:cNvSpPr>
                <p:nvPr/>
              </p:nvSpPr>
              <p:spPr bwMode="auto">
                <a:xfrm flipH="1">
                  <a:off x="1392" y="3120"/>
                  <a:ext cx="48" cy="48"/>
                </a:xfrm>
                <a:prstGeom prst="line">
                  <a:avLst/>
                </a:prstGeom>
                <a:noFill/>
                <a:ln w="12700">
                  <a:solidFill>
                    <a:schemeClr val="tx1"/>
                  </a:solidFill>
                  <a:round/>
                  <a:headEnd/>
                  <a:tailEnd/>
                </a:ln>
                <a:effectLst/>
              </p:spPr>
              <p:txBody>
                <a:bodyPr/>
                <a:lstStyle/>
                <a:p>
                  <a:endParaRPr lang="en-US"/>
                </a:p>
              </p:txBody>
            </p:sp>
            <p:sp>
              <p:nvSpPr>
                <p:cNvPr id="427041" name="Line 33"/>
                <p:cNvSpPr>
                  <a:spLocks noChangeShapeType="1"/>
                </p:cNvSpPr>
                <p:nvPr/>
              </p:nvSpPr>
              <p:spPr bwMode="auto">
                <a:xfrm flipV="1">
                  <a:off x="1392" y="2880"/>
                  <a:ext cx="0" cy="192"/>
                </a:xfrm>
                <a:prstGeom prst="line">
                  <a:avLst/>
                </a:prstGeom>
                <a:noFill/>
                <a:ln w="12700">
                  <a:solidFill>
                    <a:schemeClr val="tx1"/>
                  </a:solidFill>
                  <a:round/>
                  <a:headEnd/>
                  <a:tailEnd/>
                </a:ln>
                <a:effectLst/>
              </p:spPr>
              <p:txBody>
                <a:bodyPr/>
                <a:lstStyle/>
                <a:p>
                  <a:endParaRPr lang="en-US"/>
                </a:p>
              </p:txBody>
            </p:sp>
            <p:sp>
              <p:nvSpPr>
                <p:cNvPr id="427042" name="Line 34"/>
                <p:cNvSpPr>
                  <a:spLocks noChangeShapeType="1"/>
                </p:cNvSpPr>
                <p:nvPr/>
              </p:nvSpPr>
              <p:spPr bwMode="auto">
                <a:xfrm flipV="1">
                  <a:off x="1392" y="3168"/>
                  <a:ext cx="0" cy="192"/>
                </a:xfrm>
                <a:prstGeom prst="line">
                  <a:avLst/>
                </a:prstGeom>
                <a:noFill/>
                <a:ln w="12700">
                  <a:solidFill>
                    <a:schemeClr val="tx1"/>
                  </a:solidFill>
                  <a:round/>
                  <a:headEnd/>
                  <a:tailEnd/>
                </a:ln>
                <a:effectLst/>
              </p:spPr>
              <p:txBody>
                <a:bodyPr/>
                <a:lstStyle/>
                <a:p>
                  <a:endParaRPr lang="en-US"/>
                </a:p>
              </p:txBody>
            </p:sp>
            <p:sp>
              <p:nvSpPr>
                <p:cNvPr id="427043" name="Line 35"/>
                <p:cNvSpPr>
                  <a:spLocks noChangeShapeType="1"/>
                </p:cNvSpPr>
                <p:nvPr/>
              </p:nvSpPr>
              <p:spPr bwMode="auto">
                <a:xfrm flipV="1">
                  <a:off x="1392" y="3216"/>
                  <a:ext cx="288" cy="144"/>
                </a:xfrm>
                <a:prstGeom prst="line">
                  <a:avLst/>
                </a:prstGeom>
                <a:noFill/>
                <a:ln w="12700">
                  <a:solidFill>
                    <a:schemeClr val="tx1"/>
                  </a:solidFill>
                  <a:round/>
                  <a:headEnd/>
                  <a:tailEnd/>
                </a:ln>
                <a:effectLst/>
              </p:spPr>
              <p:txBody>
                <a:bodyPr/>
                <a:lstStyle/>
                <a:p>
                  <a:endParaRPr lang="en-US"/>
                </a:p>
              </p:txBody>
            </p:sp>
            <p:sp>
              <p:nvSpPr>
                <p:cNvPr id="427044" name="Line 36"/>
                <p:cNvSpPr>
                  <a:spLocks noChangeShapeType="1"/>
                </p:cNvSpPr>
                <p:nvPr/>
              </p:nvSpPr>
              <p:spPr bwMode="auto">
                <a:xfrm flipV="1">
                  <a:off x="1680" y="3024"/>
                  <a:ext cx="0" cy="192"/>
                </a:xfrm>
                <a:prstGeom prst="line">
                  <a:avLst/>
                </a:prstGeom>
                <a:noFill/>
                <a:ln w="12700">
                  <a:solidFill>
                    <a:schemeClr val="tx1"/>
                  </a:solidFill>
                  <a:round/>
                  <a:headEnd/>
                  <a:tailEnd/>
                </a:ln>
                <a:effectLst/>
              </p:spPr>
              <p:txBody>
                <a:bodyPr/>
                <a:lstStyle/>
                <a:p>
                  <a:endParaRPr lang="en-US"/>
                </a:p>
              </p:txBody>
            </p:sp>
            <p:sp>
              <p:nvSpPr>
                <p:cNvPr id="427045" name="Line 37"/>
                <p:cNvSpPr>
                  <a:spLocks noChangeShapeType="1"/>
                </p:cNvSpPr>
                <p:nvPr/>
              </p:nvSpPr>
              <p:spPr bwMode="auto">
                <a:xfrm>
                  <a:off x="1392" y="2880"/>
                  <a:ext cx="288" cy="144"/>
                </a:xfrm>
                <a:prstGeom prst="line">
                  <a:avLst/>
                </a:prstGeom>
                <a:noFill/>
                <a:ln w="12700">
                  <a:solidFill>
                    <a:schemeClr val="tx1"/>
                  </a:solidFill>
                  <a:round/>
                  <a:headEnd/>
                  <a:tailEnd/>
                </a:ln>
                <a:effectLst/>
              </p:spPr>
              <p:txBody>
                <a:bodyPr/>
                <a:lstStyle/>
                <a:p>
                  <a:endParaRPr lang="en-US"/>
                </a:p>
              </p:txBody>
            </p:sp>
          </p:grpSp>
          <p:sp>
            <p:nvSpPr>
              <p:cNvPr id="427046" name="Line 38"/>
              <p:cNvSpPr>
                <a:spLocks noChangeShapeType="1"/>
              </p:cNvSpPr>
              <p:nvPr/>
            </p:nvSpPr>
            <p:spPr bwMode="auto">
              <a:xfrm>
                <a:off x="2160" y="1392"/>
                <a:ext cx="0" cy="48"/>
              </a:xfrm>
              <a:prstGeom prst="line">
                <a:avLst/>
              </a:prstGeom>
              <a:noFill/>
              <a:ln w="12700">
                <a:solidFill>
                  <a:schemeClr val="tx1"/>
                </a:solidFill>
                <a:round/>
                <a:headEnd/>
                <a:tailEnd/>
              </a:ln>
              <a:effectLst/>
            </p:spPr>
            <p:txBody>
              <a:bodyPr/>
              <a:lstStyle/>
              <a:p>
                <a:endParaRPr lang="en-US"/>
              </a:p>
            </p:txBody>
          </p:sp>
          <p:sp>
            <p:nvSpPr>
              <p:cNvPr id="427047" name="Line 39"/>
              <p:cNvSpPr>
                <a:spLocks noChangeShapeType="1"/>
              </p:cNvSpPr>
              <p:nvPr/>
            </p:nvSpPr>
            <p:spPr bwMode="auto">
              <a:xfrm>
                <a:off x="2160" y="1440"/>
                <a:ext cx="720" cy="0"/>
              </a:xfrm>
              <a:prstGeom prst="line">
                <a:avLst/>
              </a:prstGeom>
              <a:noFill/>
              <a:ln w="12700">
                <a:solidFill>
                  <a:schemeClr val="tx1"/>
                </a:solidFill>
                <a:round/>
                <a:headEnd/>
                <a:tailEnd type="triangle" w="med" len="med"/>
              </a:ln>
              <a:effectLst/>
            </p:spPr>
            <p:txBody>
              <a:bodyPr/>
              <a:lstStyle/>
              <a:p>
                <a:endParaRPr lang="en-US"/>
              </a:p>
            </p:txBody>
          </p:sp>
          <p:sp>
            <p:nvSpPr>
              <p:cNvPr id="427048" name="Line 40"/>
              <p:cNvSpPr>
                <a:spLocks noChangeShapeType="1"/>
              </p:cNvSpPr>
              <p:nvPr/>
            </p:nvSpPr>
            <p:spPr bwMode="auto">
              <a:xfrm>
                <a:off x="1584" y="1632"/>
                <a:ext cx="1296" cy="0"/>
              </a:xfrm>
              <a:prstGeom prst="line">
                <a:avLst/>
              </a:prstGeom>
              <a:noFill/>
              <a:ln w="12700">
                <a:solidFill>
                  <a:schemeClr val="tx1"/>
                </a:solidFill>
                <a:round/>
                <a:headEnd/>
                <a:tailEnd type="triangle" w="med" len="med"/>
              </a:ln>
              <a:effectLst/>
            </p:spPr>
            <p:txBody>
              <a:bodyPr/>
              <a:lstStyle/>
              <a:p>
                <a:endParaRPr lang="en-US"/>
              </a:p>
            </p:txBody>
          </p:sp>
          <p:sp>
            <p:nvSpPr>
              <p:cNvPr id="427049" name="Line 41"/>
              <p:cNvSpPr>
                <a:spLocks noChangeShapeType="1"/>
              </p:cNvSpPr>
              <p:nvPr/>
            </p:nvSpPr>
            <p:spPr bwMode="auto">
              <a:xfrm>
                <a:off x="1584" y="1632"/>
                <a:ext cx="0" cy="48"/>
              </a:xfrm>
              <a:prstGeom prst="line">
                <a:avLst/>
              </a:prstGeom>
              <a:noFill/>
              <a:ln w="12700">
                <a:solidFill>
                  <a:schemeClr val="tx1"/>
                </a:solidFill>
                <a:round/>
                <a:headEnd/>
                <a:tailEnd/>
              </a:ln>
              <a:effectLst/>
            </p:spPr>
            <p:txBody>
              <a:bodyPr/>
              <a:lstStyle/>
              <a:p>
                <a:endParaRPr lang="en-US"/>
              </a:p>
            </p:txBody>
          </p:sp>
          <p:sp>
            <p:nvSpPr>
              <p:cNvPr id="427050" name="Rectangle 42"/>
              <p:cNvSpPr>
                <a:spLocks noChangeArrowheads="1"/>
              </p:cNvSpPr>
              <p:nvPr/>
            </p:nvSpPr>
            <p:spPr bwMode="auto">
              <a:xfrm>
                <a:off x="3168" y="1440"/>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7051" name="Rectangle 43"/>
              <p:cNvSpPr>
                <a:spLocks noChangeArrowheads="1"/>
              </p:cNvSpPr>
              <p:nvPr/>
            </p:nvSpPr>
            <p:spPr bwMode="auto">
              <a:xfrm>
                <a:off x="3888" y="1200"/>
                <a:ext cx="912" cy="250"/>
              </a:xfrm>
              <a:prstGeom prst="rect">
                <a:avLst/>
              </a:prstGeom>
              <a:noFill/>
              <a:ln w="12700">
                <a:noFill/>
                <a:miter lim="800000"/>
                <a:headEnd/>
                <a:tailEnd/>
              </a:ln>
              <a:effectLst/>
            </p:spPr>
            <p:txBody>
              <a:bodyPr>
                <a:spAutoFit/>
              </a:bodyPr>
              <a:lstStyle/>
              <a:p>
                <a:r>
                  <a:rPr lang="en-US" sz="2000">
                    <a:solidFill>
                      <a:schemeClr val="tx1"/>
                    </a:solidFill>
                  </a:rPr>
                  <a:t>Memory</a:t>
                </a:r>
              </a:p>
            </p:txBody>
          </p:sp>
          <p:sp>
            <p:nvSpPr>
              <p:cNvPr id="427052" name="Text Box 44"/>
              <p:cNvSpPr txBox="1">
                <a:spLocks noChangeArrowheads="1"/>
              </p:cNvSpPr>
              <p:nvPr/>
            </p:nvSpPr>
            <p:spPr bwMode="auto">
              <a:xfrm>
                <a:off x="3375" y="1440"/>
                <a:ext cx="2149" cy="233"/>
              </a:xfrm>
              <a:prstGeom prst="rect">
                <a:avLst/>
              </a:prstGeom>
              <a:noFill/>
              <a:ln w="12700">
                <a:noFill/>
                <a:miter lim="800000"/>
                <a:headEnd/>
                <a:tailEnd/>
              </a:ln>
              <a:effectLst/>
            </p:spPr>
            <p:txBody>
              <a:bodyPr wrap="none">
                <a:spAutoFit/>
              </a:bodyPr>
              <a:lstStyle/>
              <a:p>
                <a:r>
                  <a:rPr lang="en-US" dirty="0" smtClean="0">
                    <a:solidFill>
                      <a:schemeClr val="tx1"/>
                    </a:solidFill>
                  </a:rPr>
                  <a:t>Word, </a:t>
                </a:r>
                <a:r>
                  <a:rPr lang="en-US" dirty="0" err="1" smtClean="0">
                    <a:solidFill>
                      <a:schemeClr val="tx1"/>
                    </a:solidFill>
                  </a:rPr>
                  <a:t>halfword</a:t>
                </a:r>
                <a:r>
                  <a:rPr lang="en-US" dirty="0" smtClean="0">
                    <a:solidFill>
                      <a:schemeClr val="tx1"/>
                    </a:solidFill>
                  </a:rPr>
                  <a:t> </a:t>
                </a:r>
                <a:r>
                  <a:rPr lang="en-US" dirty="0">
                    <a:solidFill>
                      <a:schemeClr val="tx1"/>
                    </a:solidFill>
                  </a:rPr>
                  <a:t>or byte </a:t>
                </a:r>
                <a:r>
                  <a:rPr lang="en-US" dirty="0"/>
                  <a:t>operand</a:t>
                </a:r>
              </a:p>
            </p:txBody>
          </p:sp>
          <p:sp>
            <p:nvSpPr>
              <p:cNvPr id="427053" name="Line 45"/>
              <p:cNvSpPr>
                <a:spLocks noChangeShapeType="1"/>
              </p:cNvSpPr>
              <p:nvPr/>
            </p:nvSpPr>
            <p:spPr bwMode="auto">
              <a:xfrm>
                <a:off x="3072" y="1584"/>
                <a:ext cx="96" cy="0"/>
              </a:xfrm>
              <a:prstGeom prst="line">
                <a:avLst/>
              </a:prstGeom>
              <a:noFill/>
              <a:ln w="12700">
                <a:solidFill>
                  <a:schemeClr val="tx1"/>
                </a:solidFill>
                <a:round/>
                <a:headEnd/>
                <a:tailEnd type="triangle" w="med" len="med"/>
              </a:ln>
              <a:effectLst/>
            </p:spPr>
            <p:txBody>
              <a:bodyPr/>
              <a:lstStyle/>
              <a:p>
                <a:endParaRPr lang="en-US"/>
              </a:p>
            </p:txBody>
          </p:sp>
        </p:grpSp>
        <p:sp>
          <p:nvSpPr>
            <p:cNvPr id="427054" name="Line 46"/>
            <p:cNvSpPr>
              <a:spLocks noChangeShapeType="1"/>
            </p:cNvSpPr>
            <p:nvPr/>
          </p:nvSpPr>
          <p:spPr bwMode="auto">
            <a:xfrm>
              <a:off x="1008" y="1392"/>
              <a:ext cx="0" cy="288"/>
            </a:xfrm>
            <a:prstGeom prst="line">
              <a:avLst/>
            </a:prstGeom>
            <a:noFill/>
            <a:ln w="12700">
              <a:solidFill>
                <a:schemeClr val="tx1"/>
              </a:solidFill>
              <a:round/>
              <a:headEnd/>
              <a:tailEnd type="triangle" w="med" len="med"/>
            </a:ln>
            <a:effectLst/>
          </p:spPr>
          <p:txBody>
            <a:bodyPr/>
            <a:lstStyle/>
            <a:p>
              <a:endParaRPr lang="en-US"/>
            </a:p>
          </p:txBody>
        </p:sp>
      </p:grpSp>
      <p:grpSp>
        <p:nvGrpSpPr>
          <p:cNvPr id="6" name="Group 47"/>
          <p:cNvGrpSpPr>
            <a:grpSpLocks/>
          </p:cNvGrpSpPr>
          <p:nvPr/>
        </p:nvGrpSpPr>
        <p:grpSpPr bwMode="auto">
          <a:xfrm>
            <a:off x="357158" y="5791200"/>
            <a:ext cx="4114800" cy="747713"/>
            <a:chOff x="192" y="1872"/>
            <a:chExt cx="2592" cy="471"/>
          </a:xfrm>
        </p:grpSpPr>
        <p:sp>
          <p:nvSpPr>
            <p:cNvPr id="427056" name="Rectangle 48"/>
            <p:cNvSpPr>
              <a:spLocks noChangeArrowheads="1"/>
            </p:cNvSpPr>
            <p:nvPr/>
          </p:nvSpPr>
          <p:spPr bwMode="auto">
            <a:xfrm>
              <a:off x="192" y="1872"/>
              <a:ext cx="2208" cy="250"/>
            </a:xfrm>
            <a:prstGeom prst="rect">
              <a:avLst/>
            </a:prstGeom>
            <a:noFill/>
            <a:ln w="12700">
              <a:noFill/>
              <a:miter lim="800000"/>
              <a:headEnd/>
              <a:tailEnd/>
            </a:ln>
            <a:effectLst/>
          </p:spPr>
          <p:txBody>
            <a:bodyPr>
              <a:spAutoFit/>
            </a:bodyPr>
            <a:lstStyle/>
            <a:p>
              <a:r>
                <a:rPr lang="en-US" sz="2000">
                  <a:solidFill>
                    <a:schemeClr val="tx1"/>
                  </a:solidFill>
                </a:rPr>
                <a:t>3. Immediate addressing</a:t>
              </a:r>
            </a:p>
          </p:txBody>
        </p:sp>
        <p:sp>
          <p:nvSpPr>
            <p:cNvPr id="427057" name="Text Box 49"/>
            <p:cNvSpPr txBox="1">
              <a:spLocks noChangeArrowheads="1"/>
            </p:cNvSpPr>
            <p:nvPr/>
          </p:nvSpPr>
          <p:spPr bwMode="auto">
            <a:xfrm>
              <a:off x="432" y="2112"/>
              <a:ext cx="1892" cy="231"/>
            </a:xfrm>
            <a:prstGeom prst="rect">
              <a:avLst/>
            </a:prstGeom>
            <a:noFill/>
            <a:ln w="12700">
              <a:noFill/>
              <a:miter lim="800000"/>
              <a:headEnd/>
              <a:tailEnd/>
            </a:ln>
            <a:effectLst/>
          </p:spPr>
          <p:txBody>
            <a:bodyPr wrap="none">
              <a:spAutoFit/>
            </a:bodyPr>
            <a:lstStyle/>
            <a:p>
              <a:r>
                <a:rPr lang="en-US">
                  <a:solidFill>
                    <a:schemeClr val="tx1"/>
                  </a:solidFill>
                </a:rPr>
                <a:t>op         rs      rt       </a:t>
              </a:r>
              <a:r>
                <a:rPr lang="en-US"/>
                <a:t>operand</a:t>
              </a:r>
            </a:p>
          </p:txBody>
        </p:sp>
        <p:sp>
          <p:nvSpPr>
            <p:cNvPr id="427058" name="Rectangle 50"/>
            <p:cNvSpPr>
              <a:spLocks noChangeArrowheads="1"/>
            </p:cNvSpPr>
            <p:nvPr/>
          </p:nvSpPr>
          <p:spPr bwMode="auto">
            <a:xfrm>
              <a:off x="336" y="2112"/>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7059" name="Line 51"/>
            <p:cNvSpPr>
              <a:spLocks noChangeShapeType="1"/>
            </p:cNvSpPr>
            <p:nvPr/>
          </p:nvSpPr>
          <p:spPr bwMode="auto">
            <a:xfrm>
              <a:off x="816" y="2112"/>
              <a:ext cx="0" cy="183"/>
            </a:xfrm>
            <a:prstGeom prst="line">
              <a:avLst/>
            </a:prstGeom>
            <a:noFill/>
            <a:ln w="12700">
              <a:solidFill>
                <a:schemeClr val="tx1"/>
              </a:solidFill>
              <a:round/>
              <a:headEnd/>
              <a:tailEnd/>
            </a:ln>
            <a:effectLst/>
          </p:spPr>
          <p:txBody>
            <a:bodyPr/>
            <a:lstStyle/>
            <a:p>
              <a:endParaRPr lang="en-US"/>
            </a:p>
          </p:txBody>
        </p:sp>
        <p:sp>
          <p:nvSpPr>
            <p:cNvPr id="427060" name="Line 52"/>
            <p:cNvSpPr>
              <a:spLocks noChangeShapeType="1"/>
            </p:cNvSpPr>
            <p:nvPr/>
          </p:nvSpPr>
          <p:spPr bwMode="auto">
            <a:xfrm>
              <a:off x="1200" y="2112"/>
              <a:ext cx="0" cy="183"/>
            </a:xfrm>
            <a:prstGeom prst="line">
              <a:avLst/>
            </a:prstGeom>
            <a:noFill/>
            <a:ln w="12700">
              <a:solidFill>
                <a:schemeClr val="tx1"/>
              </a:solidFill>
              <a:round/>
              <a:headEnd/>
              <a:tailEnd/>
            </a:ln>
            <a:effectLst/>
          </p:spPr>
          <p:txBody>
            <a:bodyPr/>
            <a:lstStyle/>
            <a:p>
              <a:endParaRPr lang="en-US"/>
            </a:p>
          </p:txBody>
        </p:sp>
        <p:sp>
          <p:nvSpPr>
            <p:cNvPr id="427061" name="Line 53"/>
            <p:cNvSpPr>
              <a:spLocks noChangeShapeType="1"/>
            </p:cNvSpPr>
            <p:nvPr/>
          </p:nvSpPr>
          <p:spPr bwMode="auto">
            <a:xfrm>
              <a:off x="1584" y="2112"/>
              <a:ext cx="0" cy="183"/>
            </a:xfrm>
            <a:prstGeom prst="line">
              <a:avLst/>
            </a:prstGeom>
            <a:noFill/>
            <a:ln w="12700">
              <a:solidFill>
                <a:schemeClr val="tx1"/>
              </a:solidFill>
              <a:round/>
              <a:headEnd/>
              <a:tailEnd/>
            </a:ln>
            <a:effectLst/>
          </p:spPr>
          <p:txBody>
            <a:bodyPr/>
            <a:lstStyle/>
            <a:p>
              <a:endParaRPr lang="en-US"/>
            </a:p>
          </p:txBody>
        </p:sp>
      </p:grpSp>
      <p:grpSp>
        <p:nvGrpSpPr>
          <p:cNvPr id="54" name="Group 1117"/>
          <p:cNvGrpSpPr>
            <a:grpSpLocks/>
          </p:cNvGrpSpPr>
          <p:nvPr/>
        </p:nvGrpSpPr>
        <p:grpSpPr bwMode="auto">
          <a:xfrm>
            <a:off x="6715140" y="5143512"/>
            <a:ext cx="1938338" cy="992188"/>
            <a:chOff x="432" y="2736"/>
            <a:chExt cx="1221" cy="625"/>
          </a:xfrm>
        </p:grpSpPr>
        <p:sp>
          <p:nvSpPr>
            <p:cNvPr id="55" name="Oval 1118"/>
            <p:cNvSpPr>
              <a:spLocks noChangeArrowheads="1"/>
            </p:cNvSpPr>
            <p:nvPr/>
          </p:nvSpPr>
          <p:spPr bwMode="auto">
            <a:xfrm>
              <a:off x="672" y="2736"/>
              <a:ext cx="624" cy="288"/>
            </a:xfrm>
            <a:prstGeom prst="ellipse">
              <a:avLst/>
            </a:prstGeom>
            <a:noFill/>
            <a:ln w="12700">
              <a:solidFill>
                <a:schemeClr val="tx1"/>
              </a:solidFill>
              <a:round/>
              <a:headEnd/>
              <a:tailEnd/>
            </a:ln>
            <a:effectLst/>
          </p:spPr>
          <p:txBody>
            <a:bodyPr wrap="none" anchor="ctr"/>
            <a:lstStyle/>
            <a:p>
              <a:endParaRPr lang="en-US"/>
            </a:p>
          </p:txBody>
        </p:sp>
        <p:sp>
          <p:nvSpPr>
            <p:cNvPr id="56" name="Text Box 1119"/>
            <p:cNvSpPr txBox="1">
              <a:spLocks noChangeArrowheads="1"/>
            </p:cNvSpPr>
            <p:nvPr/>
          </p:nvSpPr>
          <p:spPr bwMode="auto">
            <a:xfrm>
              <a:off x="624" y="2736"/>
              <a:ext cx="720" cy="326"/>
            </a:xfrm>
            <a:prstGeom prst="rect">
              <a:avLst/>
            </a:prstGeom>
            <a:noFill/>
            <a:ln w="12700">
              <a:noFill/>
              <a:miter lim="800000"/>
              <a:headEnd/>
              <a:tailEnd/>
            </a:ln>
            <a:effectLst/>
          </p:spPr>
          <p:txBody>
            <a:bodyPr>
              <a:spAutoFit/>
            </a:bodyPr>
            <a:lstStyle/>
            <a:p>
              <a:pPr algn="ctr"/>
              <a:r>
                <a:rPr lang="en-US" sz="1400"/>
                <a:t>Fetch</a:t>
              </a:r>
            </a:p>
            <a:p>
              <a:pPr algn="ctr"/>
              <a:r>
                <a:rPr lang="en-US" sz="1400"/>
                <a:t>PC = PC+4</a:t>
              </a:r>
            </a:p>
          </p:txBody>
        </p:sp>
        <p:sp>
          <p:nvSpPr>
            <p:cNvPr id="57" name="Oval 1120"/>
            <p:cNvSpPr>
              <a:spLocks noChangeArrowheads="1"/>
            </p:cNvSpPr>
            <p:nvPr/>
          </p:nvSpPr>
          <p:spPr bwMode="auto">
            <a:xfrm>
              <a:off x="1196" y="3148"/>
              <a:ext cx="364" cy="212"/>
            </a:xfrm>
            <a:prstGeom prst="ellipse">
              <a:avLst/>
            </a:prstGeom>
            <a:noFill/>
            <a:ln w="12700">
              <a:solidFill>
                <a:schemeClr val="tx1"/>
              </a:solidFill>
              <a:round/>
              <a:headEnd/>
              <a:tailEnd/>
            </a:ln>
            <a:effectLst/>
          </p:spPr>
          <p:txBody>
            <a:bodyPr wrap="none" anchor="ctr"/>
            <a:lstStyle/>
            <a:p>
              <a:endParaRPr lang="en-US"/>
            </a:p>
          </p:txBody>
        </p:sp>
        <p:sp>
          <p:nvSpPr>
            <p:cNvPr id="58" name="Text Box 1121"/>
            <p:cNvSpPr txBox="1">
              <a:spLocks noChangeArrowheads="1"/>
            </p:cNvSpPr>
            <p:nvPr/>
          </p:nvSpPr>
          <p:spPr bwMode="auto">
            <a:xfrm>
              <a:off x="1152" y="3168"/>
              <a:ext cx="501" cy="192"/>
            </a:xfrm>
            <a:prstGeom prst="rect">
              <a:avLst/>
            </a:prstGeom>
            <a:noFill/>
            <a:ln w="12700">
              <a:noFill/>
              <a:miter lim="800000"/>
              <a:headEnd/>
              <a:tailEnd/>
            </a:ln>
            <a:effectLst/>
          </p:spPr>
          <p:txBody>
            <a:bodyPr wrap="none">
              <a:spAutoFit/>
            </a:bodyPr>
            <a:lstStyle/>
            <a:p>
              <a:r>
                <a:rPr lang="en-US" sz="1400"/>
                <a:t>Decode</a:t>
              </a:r>
            </a:p>
          </p:txBody>
        </p:sp>
        <p:sp>
          <p:nvSpPr>
            <p:cNvPr id="59" name="Oval 1122"/>
            <p:cNvSpPr>
              <a:spLocks noChangeArrowheads="1"/>
            </p:cNvSpPr>
            <p:nvPr/>
          </p:nvSpPr>
          <p:spPr bwMode="auto">
            <a:xfrm>
              <a:off x="480" y="3148"/>
              <a:ext cx="338" cy="212"/>
            </a:xfrm>
            <a:prstGeom prst="ellipse">
              <a:avLst/>
            </a:prstGeom>
            <a:noFill/>
            <a:ln w="12700">
              <a:solidFill>
                <a:schemeClr val="tx1"/>
              </a:solidFill>
              <a:round/>
              <a:headEnd/>
              <a:tailEnd/>
            </a:ln>
            <a:effectLst/>
          </p:spPr>
          <p:txBody>
            <a:bodyPr wrap="none" anchor="ctr"/>
            <a:lstStyle/>
            <a:p>
              <a:endParaRPr lang="en-US"/>
            </a:p>
          </p:txBody>
        </p:sp>
        <p:sp>
          <p:nvSpPr>
            <p:cNvPr id="60" name="Text Box 1123"/>
            <p:cNvSpPr txBox="1">
              <a:spLocks noChangeArrowheads="1"/>
            </p:cNvSpPr>
            <p:nvPr/>
          </p:nvSpPr>
          <p:spPr bwMode="auto">
            <a:xfrm>
              <a:off x="432" y="3168"/>
              <a:ext cx="365" cy="192"/>
            </a:xfrm>
            <a:prstGeom prst="rect">
              <a:avLst/>
            </a:prstGeom>
            <a:noFill/>
            <a:ln w="12700">
              <a:noFill/>
              <a:miter lim="800000"/>
              <a:headEnd/>
              <a:tailEnd/>
            </a:ln>
            <a:effectLst/>
          </p:spPr>
          <p:txBody>
            <a:bodyPr wrap="none">
              <a:spAutoFit/>
            </a:bodyPr>
            <a:lstStyle/>
            <a:p>
              <a:r>
                <a:rPr lang="en-US" sz="1400"/>
                <a:t>Exec</a:t>
              </a:r>
            </a:p>
          </p:txBody>
        </p:sp>
        <p:cxnSp>
          <p:nvCxnSpPr>
            <p:cNvPr id="61" name="AutoShape 1124"/>
            <p:cNvCxnSpPr>
              <a:cxnSpLocks noChangeShapeType="1"/>
              <a:stCxn id="55" idx="6"/>
              <a:endCxn id="57" idx="0"/>
            </p:cNvCxnSpPr>
            <p:nvPr/>
          </p:nvCxnSpPr>
          <p:spPr bwMode="auto">
            <a:xfrm>
              <a:off x="1296" y="2880"/>
              <a:ext cx="82" cy="268"/>
            </a:xfrm>
            <a:prstGeom prst="curvedConnector2">
              <a:avLst/>
            </a:prstGeom>
            <a:noFill/>
            <a:ln w="12700">
              <a:solidFill>
                <a:schemeClr val="tx1"/>
              </a:solidFill>
              <a:round/>
              <a:headEnd/>
              <a:tailEnd type="triangle" w="med" len="med"/>
            </a:ln>
            <a:effectLst/>
          </p:spPr>
        </p:cxnSp>
        <p:cxnSp>
          <p:nvCxnSpPr>
            <p:cNvPr id="62" name="AutoShape 1125"/>
            <p:cNvCxnSpPr>
              <a:cxnSpLocks noChangeShapeType="1"/>
              <a:stCxn id="57" idx="4"/>
              <a:endCxn id="59" idx="4"/>
            </p:cNvCxnSpPr>
            <p:nvPr/>
          </p:nvCxnSpPr>
          <p:spPr bwMode="auto">
            <a:xfrm rot="5400000">
              <a:off x="1013" y="2996"/>
              <a:ext cx="1" cy="729"/>
            </a:xfrm>
            <a:prstGeom prst="curvedConnector3">
              <a:avLst>
                <a:gd name="adj1" fmla="val 14400000"/>
              </a:avLst>
            </a:prstGeom>
            <a:noFill/>
            <a:ln w="12700">
              <a:solidFill>
                <a:schemeClr val="tx1"/>
              </a:solidFill>
              <a:round/>
              <a:headEnd/>
              <a:tailEnd type="triangle" w="med" len="med"/>
            </a:ln>
            <a:effectLst/>
          </p:spPr>
        </p:cxnSp>
        <p:cxnSp>
          <p:nvCxnSpPr>
            <p:cNvPr id="63" name="AutoShape 1126"/>
            <p:cNvCxnSpPr>
              <a:cxnSpLocks noChangeShapeType="1"/>
              <a:stCxn id="59" idx="0"/>
              <a:endCxn id="55" idx="2"/>
            </p:cNvCxnSpPr>
            <p:nvPr/>
          </p:nvCxnSpPr>
          <p:spPr bwMode="auto">
            <a:xfrm rot="16200000">
              <a:off x="527" y="3002"/>
              <a:ext cx="268" cy="23"/>
            </a:xfrm>
            <a:prstGeom prst="curvedConnector2">
              <a:avLst/>
            </a:prstGeom>
            <a:noFill/>
            <a:ln w="12700">
              <a:solidFill>
                <a:schemeClr val="tx1"/>
              </a:solidFill>
              <a:round/>
              <a:headEnd/>
              <a:tailEnd type="triangle" w="med" len="med"/>
            </a:ln>
            <a:effectLst/>
          </p:spPr>
        </p:cxnSp>
      </p:grpSp>
    </p:spTree>
    <p:extLst>
      <p:ext uri="{BB962C8B-B14F-4D97-AF65-F5344CB8AC3E}">
        <p14:creationId xmlns:p14="http://schemas.microsoft.com/office/powerpoint/2010/main" val="22559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7012">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27013">
                                            <p:txEl>
                                              <p:pRg st="0" end="0"/>
                                            </p:txEl>
                                          </p:spTgt>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2" grpId="0" build="p" autoUpdateAnimBg="0"/>
      <p:bldP spid="427013"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xfrm>
            <a:off x="685800" y="304800"/>
            <a:ext cx="8077200" cy="422275"/>
          </a:xfrm>
        </p:spPr>
        <p:txBody>
          <a:bodyPr/>
          <a:lstStyle/>
          <a:p>
            <a:r>
              <a:rPr lang="en-US"/>
              <a:t>MIPS Instruction Addressing Modes Summary</a:t>
            </a:r>
          </a:p>
        </p:txBody>
      </p:sp>
      <p:sp>
        <p:nvSpPr>
          <p:cNvPr id="425989" name="Rectangle 5"/>
          <p:cNvSpPr>
            <a:spLocks noChangeArrowheads="1"/>
          </p:cNvSpPr>
          <p:nvPr/>
        </p:nvSpPr>
        <p:spPr bwMode="auto">
          <a:xfrm>
            <a:off x="533400" y="762000"/>
            <a:ext cx="7848600" cy="1048492"/>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20000"/>
              </a:spcBef>
              <a:buClr>
                <a:schemeClr val="accent1"/>
              </a:buClr>
              <a:buSzPct val="75000"/>
              <a:buFont typeface="Wingdings" pitchFamily="2" charset="2"/>
              <a:buChar char="q"/>
            </a:pPr>
            <a:r>
              <a:rPr lang="en-US" sz="2400" dirty="0">
                <a:solidFill>
                  <a:schemeClr val="tx1"/>
                </a:solidFill>
              </a:rPr>
              <a:t>PC-relative addressing – </a:t>
            </a:r>
            <a:r>
              <a:rPr lang="en-US" sz="2400" dirty="0"/>
              <a:t>instruction’s address</a:t>
            </a:r>
            <a:r>
              <a:rPr lang="en-US" sz="2400" dirty="0">
                <a:solidFill>
                  <a:schemeClr val="tx1"/>
                </a:solidFill>
              </a:rPr>
              <a:t> in memory is the sum of the PC and a 16-bit constant contained within the instruction</a:t>
            </a:r>
          </a:p>
        </p:txBody>
      </p:sp>
      <p:sp>
        <p:nvSpPr>
          <p:cNvPr id="425991" name="Rectangle 7"/>
          <p:cNvSpPr>
            <a:spLocks noChangeArrowheads="1"/>
          </p:cNvSpPr>
          <p:nvPr/>
        </p:nvSpPr>
        <p:spPr bwMode="auto">
          <a:xfrm>
            <a:off x="533400" y="3505200"/>
            <a:ext cx="8001000" cy="1048492"/>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20000"/>
              </a:spcBef>
              <a:buClr>
                <a:schemeClr val="accent1"/>
              </a:buClr>
              <a:buSzPct val="75000"/>
              <a:buFont typeface="Wingdings" pitchFamily="2" charset="2"/>
              <a:buChar char="q"/>
            </a:pPr>
            <a:r>
              <a:rPr lang="en-US" sz="2400" dirty="0">
                <a:solidFill>
                  <a:schemeClr val="tx1"/>
                </a:solidFill>
              </a:rPr>
              <a:t>Pseudo-direct addressing – </a:t>
            </a:r>
            <a:r>
              <a:rPr lang="en-US" sz="2400" dirty="0"/>
              <a:t>instruction’s</a:t>
            </a:r>
            <a:r>
              <a:rPr lang="en-US" sz="2400" dirty="0">
                <a:solidFill>
                  <a:schemeClr val="tx1"/>
                </a:solidFill>
              </a:rPr>
              <a:t> </a:t>
            </a:r>
            <a:r>
              <a:rPr lang="en-US" sz="2400" dirty="0"/>
              <a:t>address</a:t>
            </a:r>
            <a:r>
              <a:rPr lang="en-US" sz="2400" dirty="0">
                <a:solidFill>
                  <a:schemeClr val="tx1"/>
                </a:solidFill>
              </a:rPr>
              <a:t> in memory is the 26-bit constant contained within the instruction concatenated with the upper 4 bits of the PC</a:t>
            </a:r>
          </a:p>
        </p:txBody>
      </p:sp>
      <p:grpSp>
        <p:nvGrpSpPr>
          <p:cNvPr id="2" name="Group 8"/>
          <p:cNvGrpSpPr>
            <a:grpSpLocks/>
          </p:cNvGrpSpPr>
          <p:nvPr/>
        </p:nvGrpSpPr>
        <p:grpSpPr bwMode="auto">
          <a:xfrm>
            <a:off x="304800" y="1905000"/>
            <a:ext cx="8610600" cy="1509713"/>
            <a:chOff x="192" y="2304"/>
            <a:chExt cx="5424" cy="951"/>
          </a:xfrm>
        </p:grpSpPr>
        <p:sp>
          <p:nvSpPr>
            <p:cNvPr id="425993" name="Rectangle 9"/>
            <p:cNvSpPr>
              <a:spLocks noChangeArrowheads="1"/>
            </p:cNvSpPr>
            <p:nvPr/>
          </p:nvSpPr>
          <p:spPr bwMode="auto">
            <a:xfrm>
              <a:off x="192" y="2304"/>
              <a:ext cx="2208" cy="250"/>
            </a:xfrm>
            <a:prstGeom prst="rect">
              <a:avLst/>
            </a:prstGeom>
            <a:noFill/>
            <a:ln w="12700">
              <a:noFill/>
              <a:miter lim="800000"/>
              <a:headEnd/>
              <a:tailEnd/>
            </a:ln>
            <a:effectLst/>
          </p:spPr>
          <p:txBody>
            <a:bodyPr>
              <a:spAutoFit/>
            </a:bodyPr>
            <a:lstStyle/>
            <a:p>
              <a:r>
                <a:rPr lang="en-US" sz="2000">
                  <a:solidFill>
                    <a:schemeClr val="tx1"/>
                  </a:solidFill>
                </a:rPr>
                <a:t>4. PC-relative addressing</a:t>
              </a:r>
            </a:p>
          </p:txBody>
        </p:sp>
        <p:sp>
          <p:nvSpPr>
            <p:cNvPr id="425994" name="Text Box 10"/>
            <p:cNvSpPr txBox="1">
              <a:spLocks noChangeArrowheads="1"/>
            </p:cNvSpPr>
            <p:nvPr/>
          </p:nvSpPr>
          <p:spPr bwMode="auto">
            <a:xfrm>
              <a:off x="432" y="2544"/>
              <a:ext cx="1916" cy="231"/>
            </a:xfrm>
            <a:prstGeom prst="rect">
              <a:avLst/>
            </a:prstGeom>
            <a:noFill/>
            <a:ln w="12700">
              <a:noFill/>
              <a:miter lim="800000"/>
              <a:headEnd/>
              <a:tailEnd/>
            </a:ln>
            <a:effectLst/>
          </p:spPr>
          <p:txBody>
            <a:bodyPr wrap="none">
              <a:spAutoFit/>
            </a:bodyPr>
            <a:lstStyle/>
            <a:p>
              <a:r>
                <a:rPr lang="en-US">
                  <a:solidFill>
                    <a:schemeClr val="tx1"/>
                  </a:solidFill>
                </a:rPr>
                <a:t>op         rs       rt           offset</a:t>
              </a:r>
            </a:p>
          </p:txBody>
        </p:sp>
        <p:sp>
          <p:nvSpPr>
            <p:cNvPr id="425995" name="Rectangle 11"/>
            <p:cNvSpPr>
              <a:spLocks noChangeArrowheads="1"/>
            </p:cNvSpPr>
            <p:nvPr/>
          </p:nvSpPr>
          <p:spPr bwMode="auto">
            <a:xfrm>
              <a:off x="336" y="2544"/>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5996" name="Line 12"/>
            <p:cNvSpPr>
              <a:spLocks noChangeShapeType="1"/>
            </p:cNvSpPr>
            <p:nvPr/>
          </p:nvSpPr>
          <p:spPr bwMode="auto">
            <a:xfrm>
              <a:off x="816" y="2544"/>
              <a:ext cx="0" cy="183"/>
            </a:xfrm>
            <a:prstGeom prst="line">
              <a:avLst/>
            </a:prstGeom>
            <a:noFill/>
            <a:ln w="12700">
              <a:solidFill>
                <a:schemeClr val="tx1"/>
              </a:solidFill>
              <a:round/>
              <a:headEnd/>
              <a:tailEnd/>
            </a:ln>
            <a:effectLst/>
          </p:spPr>
          <p:txBody>
            <a:bodyPr/>
            <a:lstStyle/>
            <a:p>
              <a:endParaRPr lang="en-US"/>
            </a:p>
          </p:txBody>
        </p:sp>
        <p:sp>
          <p:nvSpPr>
            <p:cNvPr id="425997" name="Line 13"/>
            <p:cNvSpPr>
              <a:spLocks noChangeShapeType="1"/>
            </p:cNvSpPr>
            <p:nvPr/>
          </p:nvSpPr>
          <p:spPr bwMode="auto">
            <a:xfrm>
              <a:off x="1200" y="2544"/>
              <a:ext cx="0" cy="183"/>
            </a:xfrm>
            <a:prstGeom prst="line">
              <a:avLst/>
            </a:prstGeom>
            <a:noFill/>
            <a:ln w="12700">
              <a:solidFill>
                <a:schemeClr val="tx1"/>
              </a:solidFill>
              <a:round/>
              <a:headEnd/>
              <a:tailEnd/>
            </a:ln>
            <a:effectLst/>
          </p:spPr>
          <p:txBody>
            <a:bodyPr/>
            <a:lstStyle/>
            <a:p>
              <a:endParaRPr lang="en-US"/>
            </a:p>
          </p:txBody>
        </p:sp>
        <p:sp>
          <p:nvSpPr>
            <p:cNvPr id="425998" name="Line 14"/>
            <p:cNvSpPr>
              <a:spLocks noChangeShapeType="1"/>
            </p:cNvSpPr>
            <p:nvPr/>
          </p:nvSpPr>
          <p:spPr bwMode="auto">
            <a:xfrm>
              <a:off x="1584" y="2544"/>
              <a:ext cx="0" cy="183"/>
            </a:xfrm>
            <a:prstGeom prst="line">
              <a:avLst/>
            </a:prstGeom>
            <a:noFill/>
            <a:ln w="12700">
              <a:solidFill>
                <a:schemeClr val="tx1"/>
              </a:solidFill>
              <a:round/>
              <a:headEnd/>
              <a:tailEnd/>
            </a:ln>
            <a:effectLst/>
          </p:spPr>
          <p:txBody>
            <a:bodyPr/>
            <a:lstStyle/>
            <a:p>
              <a:endParaRPr lang="en-US"/>
            </a:p>
          </p:txBody>
        </p:sp>
        <p:sp>
          <p:nvSpPr>
            <p:cNvPr id="425999" name="Rectangle 15"/>
            <p:cNvSpPr>
              <a:spLocks noChangeArrowheads="1"/>
            </p:cNvSpPr>
            <p:nvPr/>
          </p:nvSpPr>
          <p:spPr bwMode="auto">
            <a:xfrm>
              <a:off x="336" y="3024"/>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6000" name="Text Box 16"/>
            <p:cNvSpPr txBox="1">
              <a:spLocks noChangeArrowheads="1"/>
            </p:cNvSpPr>
            <p:nvPr/>
          </p:nvSpPr>
          <p:spPr bwMode="auto">
            <a:xfrm>
              <a:off x="816" y="3024"/>
              <a:ext cx="1556" cy="231"/>
            </a:xfrm>
            <a:prstGeom prst="rect">
              <a:avLst/>
            </a:prstGeom>
            <a:noFill/>
            <a:ln w="12700">
              <a:noFill/>
              <a:miter lim="800000"/>
              <a:headEnd/>
              <a:tailEnd/>
            </a:ln>
            <a:effectLst/>
          </p:spPr>
          <p:txBody>
            <a:bodyPr wrap="none">
              <a:spAutoFit/>
            </a:bodyPr>
            <a:lstStyle/>
            <a:p>
              <a:r>
                <a:rPr lang="en-US">
                  <a:solidFill>
                    <a:schemeClr val="tx1"/>
                  </a:solidFill>
                </a:rPr>
                <a:t>Program Counter (PC)</a:t>
              </a:r>
            </a:p>
          </p:txBody>
        </p:sp>
        <p:grpSp>
          <p:nvGrpSpPr>
            <p:cNvPr id="3" name="Group 17"/>
            <p:cNvGrpSpPr>
              <a:grpSpLocks/>
            </p:cNvGrpSpPr>
            <p:nvPr/>
          </p:nvGrpSpPr>
          <p:grpSpPr bwMode="auto">
            <a:xfrm>
              <a:off x="2880" y="2736"/>
              <a:ext cx="192" cy="336"/>
              <a:chOff x="1392" y="2880"/>
              <a:chExt cx="288" cy="480"/>
            </a:xfrm>
          </p:grpSpPr>
          <p:sp>
            <p:nvSpPr>
              <p:cNvPr id="426002" name="Line 18"/>
              <p:cNvSpPr>
                <a:spLocks noChangeShapeType="1"/>
              </p:cNvSpPr>
              <p:nvPr/>
            </p:nvSpPr>
            <p:spPr bwMode="auto">
              <a:xfrm>
                <a:off x="1392" y="3072"/>
                <a:ext cx="48" cy="48"/>
              </a:xfrm>
              <a:prstGeom prst="line">
                <a:avLst/>
              </a:prstGeom>
              <a:noFill/>
              <a:ln w="12700">
                <a:solidFill>
                  <a:schemeClr val="tx1"/>
                </a:solidFill>
                <a:round/>
                <a:headEnd/>
                <a:tailEnd/>
              </a:ln>
              <a:effectLst/>
            </p:spPr>
            <p:txBody>
              <a:bodyPr/>
              <a:lstStyle/>
              <a:p>
                <a:endParaRPr lang="en-US"/>
              </a:p>
            </p:txBody>
          </p:sp>
          <p:sp>
            <p:nvSpPr>
              <p:cNvPr id="426003" name="Line 19"/>
              <p:cNvSpPr>
                <a:spLocks noChangeShapeType="1"/>
              </p:cNvSpPr>
              <p:nvPr/>
            </p:nvSpPr>
            <p:spPr bwMode="auto">
              <a:xfrm flipH="1">
                <a:off x="1392" y="3120"/>
                <a:ext cx="48" cy="48"/>
              </a:xfrm>
              <a:prstGeom prst="line">
                <a:avLst/>
              </a:prstGeom>
              <a:noFill/>
              <a:ln w="12700">
                <a:solidFill>
                  <a:schemeClr val="tx1"/>
                </a:solidFill>
                <a:round/>
                <a:headEnd/>
                <a:tailEnd/>
              </a:ln>
              <a:effectLst/>
            </p:spPr>
            <p:txBody>
              <a:bodyPr/>
              <a:lstStyle/>
              <a:p>
                <a:endParaRPr lang="en-US"/>
              </a:p>
            </p:txBody>
          </p:sp>
          <p:sp>
            <p:nvSpPr>
              <p:cNvPr id="426004" name="Line 20"/>
              <p:cNvSpPr>
                <a:spLocks noChangeShapeType="1"/>
              </p:cNvSpPr>
              <p:nvPr/>
            </p:nvSpPr>
            <p:spPr bwMode="auto">
              <a:xfrm flipV="1">
                <a:off x="1392" y="2880"/>
                <a:ext cx="0" cy="192"/>
              </a:xfrm>
              <a:prstGeom prst="line">
                <a:avLst/>
              </a:prstGeom>
              <a:noFill/>
              <a:ln w="12700">
                <a:solidFill>
                  <a:schemeClr val="tx1"/>
                </a:solidFill>
                <a:round/>
                <a:headEnd/>
                <a:tailEnd/>
              </a:ln>
              <a:effectLst/>
            </p:spPr>
            <p:txBody>
              <a:bodyPr/>
              <a:lstStyle/>
              <a:p>
                <a:endParaRPr lang="en-US"/>
              </a:p>
            </p:txBody>
          </p:sp>
          <p:sp>
            <p:nvSpPr>
              <p:cNvPr id="426005" name="Line 21"/>
              <p:cNvSpPr>
                <a:spLocks noChangeShapeType="1"/>
              </p:cNvSpPr>
              <p:nvPr/>
            </p:nvSpPr>
            <p:spPr bwMode="auto">
              <a:xfrm flipV="1">
                <a:off x="1392" y="3168"/>
                <a:ext cx="0" cy="192"/>
              </a:xfrm>
              <a:prstGeom prst="line">
                <a:avLst/>
              </a:prstGeom>
              <a:noFill/>
              <a:ln w="12700">
                <a:solidFill>
                  <a:schemeClr val="tx1"/>
                </a:solidFill>
                <a:round/>
                <a:headEnd/>
                <a:tailEnd/>
              </a:ln>
              <a:effectLst/>
            </p:spPr>
            <p:txBody>
              <a:bodyPr/>
              <a:lstStyle/>
              <a:p>
                <a:endParaRPr lang="en-US"/>
              </a:p>
            </p:txBody>
          </p:sp>
          <p:sp>
            <p:nvSpPr>
              <p:cNvPr id="426006" name="Line 22"/>
              <p:cNvSpPr>
                <a:spLocks noChangeShapeType="1"/>
              </p:cNvSpPr>
              <p:nvPr/>
            </p:nvSpPr>
            <p:spPr bwMode="auto">
              <a:xfrm flipV="1">
                <a:off x="1392" y="3216"/>
                <a:ext cx="288" cy="144"/>
              </a:xfrm>
              <a:prstGeom prst="line">
                <a:avLst/>
              </a:prstGeom>
              <a:noFill/>
              <a:ln w="12700">
                <a:solidFill>
                  <a:schemeClr val="tx1"/>
                </a:solidFill>
                <a:round/>
                <a:headEnd/>
                <a:tailEnd/>
              </a:ln>
              <a:effectLst/>
            </p:spPr>
            <p:txBody>
              <a:bodyPr/>
              <a:lstStyle/>
              <a:p>
                <a:endParaRPr lang="en-US"/>
              </a:p>
            </p:txBody>
          </p:sp>
          <p:sp>
            <p:nvSpPr>
              <p:cNvPr id="426007" name="Line 23"/>
              <p:cNvSpPr>
                <a:spLocks noChangeShapeType="1"/>
              </p:cNvSpPr>
              <p:nvPr/>
            </p:nvSpPr>
            <p:spPr bwMode="auto">
              <a:xfrm flipV="1">
                <a:off x="1680" y="3024"/>
                <a:ext cx="0" cy="192"/>
              </a:xfrm>
              <a:prstGeom prst="line">
                <a:avLst/>
              </a:prstGeom>
              <a:noFill/>
              <a:ln w="12700">
                <a:solidFill>
                  <a:schemeClr val="tx1"/>
                </a:solidFill>
                <a:round/>
                <a:headEnd/>
                <a:tailEnd/>
              </a:ln>
              <a:effectLst/>
            </p:spPr>
            <p:txBody>
              <a:bodyPr/>
              <a:lstStyle/>
              <a:p>
                <a:endParaRPr lang="en-US"/>
              </a:p>
            </p:txBody>
          </p:sp>
          <p:sp>
            <p:nvSpPr>
              <p:cNvPr id="426008" name="Line 24"/>
              <p:cNvSpPr>
                <a:spLocks noChangeShapeType="1"/>
              </p:cNvSpPr>
              <p:nvPr/>
            </p:nvSpPr>
            <p:spPr bwMode="auto">
              <a:xfrm>
                <a:off x="1392" y="2880"/>
                <a:ext cx="288" cy="144"/>
              </a:xfrm>
              <a:prstGeom prst="line">
                <a:avLst/>
              </a:prstGeom>
              <a:noFill/>
              <a:ln w="12700">
                <a:solidFill>
                  <a:schemeClr val="tx1"/>
                </a:solidFill>
                <a:round/>
                <a:headEnd/>
                <a:tailEnd/>
              </a:ln>
              <a:effectLst/>
            </p:spPr>
            <p:txBody>
              <a:bodyPr/>
              <a:lstStyle/>
              <a:p>
                <a:endParaRPr lang="en-US"/>
              </a:p>
            </p:txBody>
          </p:sp>
        </p:grpSp>
        <p:sp>
          <p:nvSpPr>
            <p:cNvPr id="426009" name="Line 25"/>
            <p:cNvSpPr>
              <a:spLocks noChangeShapeType="1"/>
            </p:cNvSpPr>
            <p:nvPr/>
          </p:nvSpPr>
          <p:spPr bwMode="auto">
            <a:xfrm>
              <a:off x="2160" y="2736"/>
              <a:ext cx="0" cy="48"/>
            </a:xfrm>
            <a:prstGeom prst="line">
              <a:avLst/>
            </a:prstGeom>
            <a:noFill/>
            <a:ln w="12700">
              <a:solidFill>
                <a:schemeClr val="tx1"/>
              </a:solidFill>
              <a:round/>
              <a:headEnd/>
              <a:tailEnd/>
            </a:ln>
            <a:effectLst/>
          </p:spPr>
          <p:txBody>
            <a:bodyPr/>
            <a:lstStyle/>
            <a:p>
              <a:endParaRPr lang="en-US"/>
            </a:p>
          </p:txBody>
        </p:sp>
        <p:sp>
          <p:nvSpPr>
            <p:cNvPr id="426010" name="Line 26"/>
            <p:cNvSpPr>
              <a:spLocks noChangeShapeType="1"/>
            </p:cNvSpPr>
            <p:nvPr/>
          </p:nvSpPr>
          <p:spPr bwMode="auto">
            <a:xfrm>
              <a:off x="2160" y="2784"/>
              <a:ext cx="720" cy="0"/>
            </a:xfrm>
            <a:prstGeom prst="line">
              <a:avLst/>
            </a:prstGeom>
            <a:noFill/>
            <a:ln w="12700">
              <a:solidFill>
                <a:schemeClr val="tx1"/>
              </a:solidFill>
              <a:round/>
              <a:headEnd/>
              <a:tailEnd type="triangle" w="med" len="med"/>
            </a:ln>
            <a:effectLst/>
          </p:spPr>
          <p:txBody>
            <a:bodyPr/>
            <a:lstStyle/>
            <a:p>
              <a:endParaRPr lang="en-US"/>
            </a:p>
          </p:txBody>
        </p:sp>
        <p:sp>
          <p:nvSpPr>
            <p:cNvPr id="426011" name="Line 27"/>
            <p:cNvSpPr>
              <a:spLocks noChangeShapeType="1"/>
            </p:cNvSpPr>
            <p:nvPr/>
          </p:nvSpPr>
          <p:spPr bwMode="auto">
            <a:xfrm>
              <a:off x="1584" y="2976"/>
              <a:ext cx="1296" cy="0"/>
            </a:xfrm>
            <a:prstGeom prst="line">
              <a:avLst/>
            </a:prstGeom>
            <a:noFill/>
            <a:ln w="12700">
              <a:solidFill>
                <a:schemeClr val="tx1"/>
              </a:solidFill>
              <a:round/>
              <a:headEnd/>
              <a:tailEnd type="triangle" w="med" len="med"/>
            </a:ln>
            <a:effectLst/>
          </p:spPr>
          <p:txBody>
            <a:bodyPr/>
            <a:lstStyle/>
            <a:p>
              <a:endParaRPr lang="en-US"/>
            </a:p>
          </p:txBody>
        </p:sp>
        <p:sp>
          <p:nvSpPr>
            <p:cNvPr id="426012" name="Line 28"/>
            <p:cNvSpPr>
              <a:spLocks noChangeShapeType="1"/>
            </p:cNvSpPr>
            <p:nvPr/>
          </p:nvSpPr>
          <p:spPr bwMode="auto">
            <a:xfrm>
              <a:off x="1584" y="2976"/>
              <a:ext cx="0" cy="48"/>
            </a:xfrm>
            <a:prstGeom prst="line">
              <a:avLst/>
            </a:prstGeom>
            <a:noFill/>
            <a:ln w="12700">
              <a:solidFill>
                <a:schemeClr val="tx1"/>
              </a:solidFill>
              <a:round/>
              <a:headEnd/>
              <a:tailEnd/>
            </a:ln>
            <a:effectLst/>
          </p:spPr>
          <p:txBody>
            <a:bodyPr/>
            <a:lstStyle/>
            <a:p>
              <a:endParaRPr lang="en-US"/>
            </a:p>
          </p:txBody>
        </p:sp>
        <p:sp>
          <p:nvSpPr>
            <p:cNvPr id="426013" name="Rectangle 29"/>
            <p:cNvSpPr>
              <a:spLocks noChangeArrowheads="1"/>
            </p:cNvSpPr>
            <p:nvPr/>
          </p:nvSpPr>
          <p:spPr bwMode="auto">
            <a:xfrm>
              <a:off x="3168" y="2784"/>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6014" name="Rectangle 30"/>
            <p:cNvSpPr>
              <a:spLocks noChangeArrowheads="1"/>
            </p:cNvSpPr>
            <p:nvPr/>
          </p:nvSpPr>
          <p:spPr bwMode="auto">
            <a:xfrm>
              <a:off x="3888" y="2544"/>
              <a:ext cx="912" cy="250"/>
            </a:xfrm>
            <a:prstGeom prst="rect">
              <a:avLst/>
            </a:prstGeom>
            <a:noFill/>
            <a:ln w="12700">
              <a:noFill/>
              <a:miter lim="800000"/>
              <a:headEnd/>
              <a:tailEnd/>
            </a:ln>
            <a:effectLst/>
          </p:spPr>
          <p:txBody>
            <a:bodyPr>
              <a:spAutoFit/>
            </a:bodyPr>
            <a:lstStyle/>
            <a:p>
              <a:r>
                <a:rPr lang="en-US" sz="2000">
                  <a:solidFill>
                    <a:schemeClr val="tx1"/>
                  </a:solidFill>
                </a:rPr>
                <a:t>Memory</a:t>
              </a:r>
            </a:p>
          </p:txBody>
        </p:sp>
        <p:sp>
          <p:nvSpPr>
            <p:cNvPr id="426015" name="Text Box 31"/>
            <p:cNvSpPr txBox="1">
              <a:spLocks noChangeArrowheads="1"/>
            </p:cNvSpPr>
            <p:nvPr/>
          </p:nvSpPr>
          <p:spPr bwMode="auto">
            <a:xfrm>
              <a:off x="3312" y="2784"/>
              <a:ext cx="1988" cy="231"/>
            </a:xfrm>
            <a:prstGeom prst="rect">
              <a:avLst/>
            </a:prstGeom>
            <a:noFill/>
            <a:ln w="12700">
              <a:noFill/>
              <a:miter lim="800000"/>
              <a:headEnd/>
              <a:tailEnd/>
            </a:ln>
            <a:effectLst/>
          </p:spPr>
          <p:txBody>
            <a:bodyPr wrap="none">
              <a:spAutoFit/>
            </a:bodyPr>
            <a:lstStyle/>
            <a:p>
              <a:r>
                <a:rPr lang="en-US">
                  <a:solidFill>
                    <a:schemeClr val="tx1"/>
                  </a:solidFill>
                </a:rPr>
                <a:t>branch destination </a:t>
              </a:r>
              <a:r>
                <a:rPr lang="en-US"/>
                <a:t>instruction</a:t>
              </a:r>
            </a:p>
          </p:txBody>
        </p:sp>
        <p:sp>
          <p:nvSpPr>
            <p:cNvPr id="426016" name="Line 32"/>
            <p:cNvSpPr>
              <a:spLocks noChangeShapeType="1"/>
            </p:cNvSpPr>
            <p:nvPr/>
          </p:nvSpPr>
          <p:spPr bwMode="auto">
            <a:xfrm>
              <a:off x="3072" y="2928"/>
              <a:ext cx="96" cy="0"/>
            </a:xfrm>
            <a:prstGeom prst="line">
              <a:avLst/>
            </a:prstGeom>
            <a:noFill/>
            <a:ln w="12700">
              <a:solidFill>
                <a:schemeClr val="tx1"/>
              </a:solidFill>
              <a:round/>
              <a:headEnd/>
              <a:tailEnd type="triangle" w="med" len="med"/>
            </a:ln>
            <a:effectLst/>
          </p:spPr>
          <p:txBody>
            <a:bodyPr/>
            <a:lstStyle/>
            <a:p>
              <a:endParaRPr lang="en-US"/>
            </a:p>
          </p:txBody>
        </p:sp>
      </p:grpSp>
      <p:grpSp>
        <p:nvGrpSpPr>
          <p:cNvPr id="4" name="Group 33"/>
          <p:cNvGrpSpPr>
            <a:grpSpLocks/>
          </p:cNvGrpSpPr>
          <p:nvPr/>
        </p:nvGrpSpPr>
        <p:grpSpPr bwMode="auto">
          <a:xfrm>
            <a:off x="304800" y="4572008"/>
            <a:ext cx="8610600" cy="1433512"/>
            <a:chOff x="192" y="3216"/>
            <a:chExt cx="5424" cy="903"/>
          </a:xfrm>
        </p:grpSpPr>
        <p:sp>
          <p:nvSpPr>
            <p:cNvPr id="426018" name="Rectangle 34"/>
            <p:cNvSpPr>
              <a:spLocks noChangeArrowheads="1"/>
            </p:cNvSpPr>
            <p:nvPr/>
          </p:nvSpPr>
          <p:spPr bwMode="auto">
            <a:xfrm>
              <a:off x="192" y="3216"/>
              <a:ext cx="2208" cy="250"/>
            </a:xfrm>
            <a:prstGeom prst="rect">
              <a:avLst/>
            </a:prstGeom>
            <a:noFill/>
            <a:ln w="12700">
              <a:noFill/>
              <a:miter lim="800000"/>
              <a:headEnd/>
              <a:tailEnd/>
            </a:ln>
            <a:effectLst/>
          </p:spPr>
          <p:txBody>
            <a:bodyPr>
              <a:spAutoFit/>
            </a:bodyPr>
            <a:lstStyle/>
            <a:p>
              <a:r>
                <a:rPr lang="en-US" sz="2000">
                  <a:solidFill>
                    <a:schemeClr val="tx1"/>
                  </a:solidFill>
                </a:rPr>
                <a:t>5. Pseudo-direct addressing</a:t>
              </a:r>
            </a:p>
          </p:txBody>
        </p:sp>
        <p:sp>
          <p:nvSpPr>
            <p:cNvPr id="426019" name="Text Box 35"/>
            <p:cNvSpPr txBox="1">
              <a:spLocks noChangeArrowheads="1"/>
            </p:cNvSpPr>
            <p:nvPr/>
          </p:nvSpPr>
          <p:spPr bwMode="auto">
            <a:xfrm>
              <a:off x="432" y="3456"/>
              <a:ext cx="1740" cy="231"/>
            </a:xfrm>
            <a:prstGeom prst="rect">
              <a:avLst/>
            </a:prstGeom>
            <a:noFill/>
            <a:ln w="12700">
              <a:noFill/>
              <a:miter lim="800000"/>
              <a:headEnd/>
              <a:tailEnd/>
            </a:ln>
            <a:effectLst/>
          </p:spPr>
          <p:txBody>
            <a:bodyPr wrap="none">
              <a:spAutoFit/>
            </a:bodyPr>
            <a:lstStyle/>
            <a:p>
              <a:r>
                <a:rPr lang="en-US">
                  <a:solidFill>
                    <a:schemeClr val="tx1"/>
                  </a:solidFill>
                </a:rPr>
                <a:t>op               jump address</a:t>
              </a:r>
            </a:p>
          </p:txBody>
        </p:sp>
        <p:sp>
          <p:nvSpPr>
            <p:cNvPr id="426020" name="Rectangle 36"/>
            <p:cNvSpPr>
              <a:spLocks noChangeArrowheads="1"/>
            </p:cNvSpPr>
            <p:nvPr/>
          </p:nvSpPr>
          <p:spPr bwMode="auto">
            <a:xfrm>
              <a:off x="336" y="3456"/>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6021" name="Line 37"/>
            <p:cNvSpPr>
              <a:spLocks noChangeShapeType="1"/>
            </p:cNvSpPr>
            <p:nvPr/>
          </p:nvSpPr>
          <p:spPr bwMode="auto">
            <a:xfrm>
              <a:off x="816" y="3456"/>
              <a:ext cx="0" cy="183"/>
            </a:xfrm>
            <a:prstGeom prst="line">
              <a:avLst/>
            </a:prstGeom>
            <a:noFill/>
            <a:ln w="12700">
              <a:solidFill>
                <a:schemeClr val="tx1"/>
              </a:solidFill>
              <a:round/>
              <a:headEnd/>
              <a:tailEnd/>
            </a:ln>
            <a:effectLst/>
          </p:spPr>
          <p:txBody>
            <a:bodyPr/>
            <a:lstStyle/>
            <a:p>
              <a:endParaRPr lang="en-US"/>
            </a:p>
          </p:txBody>
        </p:sp>
        <p:sp>
          <p:nvSpPr>
            <p:cNvPr id="426022" name="Rectangle 38"/>
            <p:cNvSpPr>
              <a:spLocks noChangeArrowheads="1"/>
            </p:cNvSpPr>
            <p:nvPr/>
          </p:nvSpPr>
          <p:spPr bwMode="auto">
            <a:xfrm>
              <a:off x="336" y="3888"/>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6023" name="Text Box 39"/>
            <p:cNvSpPr txBox="1">
              <a:spLocks noChangeArrowheads="1"/>
            </p:cNvSpPr>
            <p:nvPr/>
          </p:nvSpPr>
          <p:spPr bwMode="auto">
            <a:xfrm>
              <a:off x="816" y="3888"/>
              <a:ext cx="1556" cy="231"/>
            </a:xfrm>
            <a:prstGeom prst="rect">
              <a:avLst/>
            </a:prstGeom>
            <a:noFill/>
            <a:ln w="12700">
              <a:noFill/>
              <a:miter lim="800000"/>
              <a:headEnd/>
              <a:tailEnd/>
            </a:ln>
            <a:effectLst/>
          </p:spPr>
          <p:txBody>
            <a:bodyPr wrap="none">
              <a:spAutoFit/>
            </a:bodyPr>
            <a:lstStyle/>
            <a:p>
              <a:r>
                <a:rPr lang="en-US">
                  <a:solidFill>
                    <a:schemeClr val="tx1"/>
                  </a:solidFill>
                </a:rPr>
                <a:t>Program Counter (PC)</a:t>
              </a:r>
            </a:p>
          </p:txBody>
        </p:sp>
        <p:sp>
          <p:nvSpPr>
            <p:cNvPr id="426024" name="Line 40"/>
            <p:cNvSpPr>
              <a:spLocks noChangeShapeType="1"/>
            </p:cNvSpPr>
            <p:nvPr/>
          </p:nvSpPr>
          <p:spPr bwMode="auto">
            <a:xfrm>
              <a:off x="1632" y="3648"/>
              <a:ext cx="0" cy="48"/>
            </a:xfrm>
            <a:prstGeom prst="line">
              <a:avLst/>
            </a:prstGeom>
            <a:noFill/>
            <a:ln w="12700">
              <a:solidFill>
                <a:schemeClr val="tx1"/>
              </a:solidFill>
              <a:round/>
              <a:headEnd/>
              <a:tailEnd/>
            </a:ln>
            <a:effectLst/>
          </p:spPr>
          <p:txBody>
            <a:bodyPr/>
            <a:lstStyle/>
            <a:p>
              <a:endParaRPr lang="en-US"/>
            </a:p>
          </p:txBody>
        </p:sp>
        <p:sp>
          <p:nvSpPr>
            <p:cNvPr id="426025" name="Line 41"/>
            <p:cNvSpPr>
              <a:spLocks noChangeShapeType="1"/>
            </p:cNvSpPr>
            <p:nvPr/>
          </p:nvSpPr>
          <p:spPr bwMode="auto">
            <a:xfrm>
              <a:off x="1632" y="3696"/>
              <a:ext cx="1248" cy="0"/>
            </a:xfrm>
            <a:prstGeom prst="line">
              <a:avLst/>
            </a:prstGeom>
            <a:noFill/>
            <a:ln w="12700">
              <a:solidFill>
                <a:schemeClr val="tx1"/>
              </a:solidFill>
              <a:round/>
              <a:headEnd/>
              <a:tailEnd type="triangle" w="med" len="med"/>
            </a:ln>
            <a:effectLst/>
          </p:spPr>
          <p:txBody>
            <a:bodyPr/>
            <a:lstStyle/>
            <a:p>
              <a:endParaRPr lang="en-US"/>
            </a:p>
          </p:txBody>
        </p:sp>
        <p:sp>
          <p:nvSpPr>
            <p:cNvPr id="426026" name="Line 42"/>
            <p:cNvSpPr>
              <a:spLocks noChangeShapeType="1"/>
            </p:cNvSpPr>
            <p:nvPr/>
          </p:nvSpPr>
          <p:spPr bwMode="auto">
            <a:xfrm>
              <a:off x="480" y="3840"/>
              <a:ext cx="2400" cy="0"/>
            </a:xfrm>
            <a:prstGeom prst="line">
              <a:avLst/>
            </a:prstGeom>
            <a:noFill/>
            <a:ln w="12700">
              <a:solidFill>
                <a:schemeClr val="tx1"/>
              </a:solidFill>
              <a:round/>
              <a:headEnd/>
              <a:tailEnd type="triangle" w="med" len="med"/>
            </a:ln>
            <a:effectLst/>
          </p:spPr>
          <p:txBody>
            <a:bodyPr/>
            <a:lstStyle/>
            <a:p>
              <a:endParaRPr lang="en-US"/>
            </a:p>
          </p:txBody>
        </p:sp>
        <p:sp>
          <p:nvSpPr>
            <p:cNvPr id="426027" name="Line 43"/>
            <p:cNvSpPr>
              <a:spLocks noChangeShapeType="1"/>
            </p:cNvSpPr>
            <p:nvPr/>
          </p:nvSpPr>
          <p:spPr bwMode="auto">
            <a:xfrm>
              <a:off x="480" y="3840"/>
              <a:ext cx="0" cy="48"/>
            </a:xfrm>
            <a:prstGeom prst="line">
              <a:avLst/>
            </a:prstGeom>
            <a:noFill/>
            <a:ln w="12700">
              <a:solidFill>
                <a:schemeClr val="tx1"/>
              </a:solidFill>
              <a:round/>
              <a:headEnd/>
              <a:tailEnd/>
            </a:ln>
            <a:effectLst/>
          </p:spPr>
          <p:txBody>
            <a:bodyPr/>
            <a:lstStyle/>
            <a:p>
              <a:endParaRPr lang="en-US"/>
            </a:p>
          </p:txBody>
        </p:sp>
        <p:sp>
          <p:nvSpPr>
            <p:cNvPr id="426028" name="Rectangle 44"/>
            <p:cNvSpPr>
              <a:spLocks noChangeArrowheads="1"/>
            </p:cNvSpPr>
            <p:nvPr/>
          </p:nvSpPr>
          <p:spPr bwMode="auto">
            <a:xfrm>
              <a:off x="3168" y="3648"/>
              <a:ext cx="2448" cy="192"/>
            </a:xfrm>
            <a:prstGeom prst="rect">
              <a:avLst/>
            </a:prstGeom>
            <a:noFill/>
            <a:ln w="12700">
              <a:solidFill>
                <a:schemeClr val="tx1"/>
              </a:solidFill>
              <a:miter lim="800000"/>
              <a:headEnd/>
              <a:tailEnd/>
            </a:ln>
            <a:effectLst/>
          </p:spPr>
          <p:txBody>
            <a:bodyPr wrap="none" anchor="ctr"/>
            <a:lstStyle/>
            <a:p>
              <a:endParaRPr lang="en-US"/>
            </a:p>
          </p:txBody>
        </p:sp>
        <p:sp>
          <p:nvSpPr>
            <p:cNvPr id="426029" name="Rectangle 45"/>
            <p:cNvSpPr>
              <a:spLocks noChangeArrowheads="1"/>
            </p:cNvSpPr>
            <p:nvPr/>
          </p:nvSpPr>
          <p:spPr bwMode="auto">
            <a:xfrm>
              <a:off x="3888" y="3408"/>
              <a:ext cx="912" cy="250"/>
            </a:xfrm>
            <a:prstGeom prst="rect">
              <a:avLst/>
            </a:prstGeom>
            <a:noFill/>
            <a:ln w="12700">
              <a:noFill/>
              <a:miter lim="800000"/>
              <a:headEnd/>
              <a:tailEnd/>
            </a:ln>
            <a:effectLst/>
          </p:spPr>
          <p:txBody>
            <a:bodyPr>
              <a:spAutoFit/>
            </a:bodyPr>
            <a:lstStyle/>
            <a:p>
              <a:r>
                <a:rPr lang="en-US" sz="2000">
                  <a:solidFill>
                    <a:schemeClr val="tx1"/>
                  </a:solidFill>
                </a:rPr>
                <a:t>Memory</a:t>
              </a:r>
            </a:p>
          </p:txBody>
        </p:sp>
        <p:sp>
          <p:nvSpPr>
            <p:cNvPr id="426030" name="Text Box 46"/>
            <p:cNvSpPr txBox="1">
              <a:spLocks noChangeArrowheads="1"/>
            </p:cNvSpPr>
            <p:nvPr/>
          </p:nvSpPr>
          <p:spPr bwMode="auto">
            <a:xfrm>
              <a:off x="3456" y="3648"/>
              <a:ext cx="1860" cy="231"/>
            </a:xfrm>
            <a:prstGeom prst="rect">
              <a:avLst/>
            </a:prstGeom>
            <a:noFill/>
            <a:ln w="12700">
              <a:noFill/>
              <a:miter lim="800000"/>
              <a:headEnd/>
              <a:tailEnd/>
            </a:ln>
            <a:effectLst/>
          </p:spPr>
          <p:txBody>
            <a:bodyPr wrap="none">
              <a:spAutoFit/>
            </a:bodyPr>
            <a:lstStyle/>
            <a:p>
              <a:r>
                <a:rPr lang="en-US">
                  <a:solidFill>
                    <a:schemeClr val="tx1"/>
                  </a:solidFill>
                </a:rPr>
                <a:t>jump destination </a:t>
              </a:r>
              <a:r>
                <a:rPr lang="en-US"/>
                <a:t>instruction</a:t>
              </a:r>
            </a:p>
          </p:txBody>
        </p:sp>
        <p:sp>
          <p:nvSpPr>
            <p:cNvPr id="426031" name="Line 47"/>
            <p:cNvSpPr>
              <a:spLocks noChangeShapeType="1"/>
            </p:cNvSpPr>
            <p:nvPr/>
          </p:nvSpPr>
          <p:spPr bwMode="auto">
            <a:xfrm>
              <a:off x="3072" y="3792"/>
              <a:ext cx="96" cy="0"/>
            </a:xfrm>
            <a:prstGeom prst="line">
              <a:avLst/>
            </a:prstGeom>
            <a:noFill/>
            <a:ln w="12700">
              <a:solidFill>
                <a:schemeClr val="tx1"/>
              </a:solidFill>
              <a:round/>
              <a:headEnd/>
              <a:tailEnd type="triangle" w="med" len="med"/>
            </a:ln>
            <a:effectLst/>
          </p:spPr>
          <p:txBody>
            <a:bodyPr/>
            <a:lstStyle/>
            <a:p>
              <a:endParaRPr lang="en-US"/>
            </a:p>
          </p:txBody>
        </p:sp>
        <p:sp>
          <p:nvSpPr>
            <p:cNvPr id="426032" name="Line 48"/>
            <p:cNvSpPr>
              <a:spLocks noChangeShapeType="1"/>
            </p:cNvSpPr>
            <p:nvPr/>
          </p:nvSpPr>
          <p:spPr bwMode="auto">
            <a:xfrm>
              <a:off x="672" y="3888"/>
              <a:ext cx="0" cy="183"/>
            </a:xfrm>
            <a:prstGeom prst="line">
              <a:avLst/>
            </a:prstGeom>
            <a:noFill/>
            <a:ln w="12700">
              <a:solidFill>
                <a:schemeClr val="tx1"/>
              </a:solidFill>
              <a:round/>
              <a:headEnd/>
              <a:tailEnd/>
            </a:ln>
            <a:effectLst/>
          </p:spPr>
          <p:txBody>
            <a:bodyPr/>
            <a:lstStyle/>
            <a:p>
              <a:endParaRPr lang="en-US"/>
            </a:p>
          </p:txBody>
        </p:sp>
        <p:sp>
          <p:nvSpPr>
            <p:cNvPr id="426033" name="Oval 49"/>
            <p:cNvSpPr>
              <a:spLocks noChangeArrowheads="1"/>
            </p:cNvSpPr>
            <p:nvPr/>
          </p:nvSpPr>
          <p:spPr bwMode="auto">
            <a:xfrm>
              <a:off x="2880" y="3600"/>
              <a:ext cx="192" cy="384"/>
            </a:xfrm>
            <a:prstGeom prst="ellipse">
              <a:avLst/>
            </a:prstGeom>
            <a:noFill/>
            <a:ln w="12700">
              <a:solidFill>
                <a:schemeClr val="tx1"/>
              </a:solidFill>
              <a:round/>
              <a:headEnd/>
              <a:tailEnd/>
            </a:ln>
            <a:effectLst/>
          </p:spPr>
          <p:txBody>
            <a:bodyPr wrap="none" anchor="ctr"/>
            <a:lstStyle/>
            <a:p>
              <a:endParaRPr lang="en-US"/>
            </a:p>
          </p:txBody>
        </p:sp>
        <p:sp>
          <p:nvSpPr>
            <p:cNvPr id="426034" name="Text Box 50"/>
            <p:cNvSpPr txBox="1">
              <a:spLocks noChangeArrowheads="1"/>
            </p:cNvSpPr>
            <p:nvPr/>
          </p:nvSpPr>
          <p:spPr bwMode="auto">
            <a:xfrm>
              <a:off x="2880" y="3648"/>
              <a:ext cx="190" cy="231"/>
            </a:xfrm>
            <a:prstGeom prst="rect">
              <a:avLst/>
            </a:prstGeom>
            <a:noFill/>
            <a:ln w="12700">
              <a:noFill/>
              <a:miter lim="800000"/>
              <a:headEnd/>
              <a:tailEnd/>
            </a:ln>
            <a:effectLst/>
          </p:spPr>
          <p:txBody>
            <a:bodyPr>
              <a:spAutoFit/>
            </a:bodyPr>
            <a:lstStyle/>
            <a:p>
              <a:r>
                <a:rPr lang="en-US">
                  <a:solidFill>
                    <a:schemeClr val="tx1"/>
                  </a:solidFill>
                </a:rPr>
                <a:t>||</a:t>
              </a:r>
            </a:p>
          </p:txBody>
        </p:sp>
      </p:grpSp>
    </p:spTree>
    <p:extLst>
      <p:ext uri="{BB962C8B-B14F-4D97-AF65-F5344CB8AC3E}">
        <p14:creationId xmlns:p14="http://schemas.microsoft.com/office/powerpoint/2010/main" val="129313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5991">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9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body" idx="1"/>
          </p:nvPr>
        </p:nvSpPr>
        <p:spPr>
          <a:xfrm>
            <a:off x="457200" y="762000"/>
            <a:ext cx="8305800" cy="3075201"/>
          </a:xfrm>
          <a:noFill/>
          <a:ln/>
        </p:spPr>
        <p:txBody>
          <a:bodyPr lIns="90488" tIns="44450" rIns="90488" bIns="44450"/>
          <a:lstStyle/>
          <a:p>
            <a:pPr marL="342900" indent="-342900"/>
            <a:r>
              <a:rPr lang="en-US" dirty="0">
                <a:cs typeface="Arial" charset="0"/>
              </a:rPr>
              <a:t>Most higher level languages have </a:t>
            </a:r>
            <a:r>
              <a:rPr lang="en-US" dirty="0">
                <a:latin typeface="Courier New" pitchFamily="49" charset="0"/>
                <a:cs typeface="Arial" charset="0"/>
              </a:rPr>
              <a:t>case</a:t>
            </a:r>
            <a:r>
              <a:rPr lang="en-US" dirty="0">
                <a:cs typeface="Arial" charset="0"/>
              </a:rPr>
              <a:t> or </a:t>
            </a:r>
            <a:r>
              <a:rPr lang="en-US" dirty="0">
                <a:latin typeface="Courier New" pitchFamily="49" charset="0"/>
                <a:cs typeface="Arial" charset="0"/>
              </a:rPr>
              <a:t>switch</a:t>
            </a:r>
            <a:r>
              <a:rPr lang="en-US" dirty="0">
                <a:cs typeface="Arial" charset="0"/>
              </a:rPr>
              <a:t> statements allowing the code to select one of many alternatives depending on a single value</a:t>
            </a:r>
          </a:p>
          <a:p>
            <a:pPr marL="342900" indent="-342900"/>
            <a:r>
              <a:rPr lang="en-US" dirty="0">
                <a:cs typeface="Arial" charset="0"/>
              </a:rPr>
              <a:t>Instruction: </a:t>
            </a:r>
          </a:p>
          <a:p>
            <a:pPr marL="742950" lvl="1" indent="-285750">
              <a:buFont typeface="Monotype Sorts" pitchFamily="2" charset="2"/>
              <a:buNone/>
            </a:pPr>
            <a:endParaRPr lang="en-US" dirty="0">
              <a:cs typeface="Arial" charset="0"/>
            </a:endParaRPr>
          </a:p>
          <a:p>
            <a:pPr marL="342900" indent="-342900">
              <a:spcBef>
                <a:spcPct val="0"/>
              </a:spcBef>
              <a:spcAft>
                <a:spcPct val="40000"/>
              </a:spcAft>
              <a:buFont typeface="Wingdings" pitchFamily="2" charset="2"/>
              <a:buNone/>
            </a:pPr>
            <a:r>
              <a:rPr lang="en-US" dirty="0">
                <a:cs typeface="Arial" charset="0"/>
              </a:rPr>
              <a:t>		</a:t>
            </a:r>
            <a:r>
              <a:rPr lang="en-US" dirty="0" err="1">
                <a:latin typeface="Courier New" pitchFamily="49" charset="0"/>
                <a:cs typeface="Courier New" pitchFamily="49" charset="0"/>
              </a:rPr>
              <a:t>jr</a:t>
            </a:r>
            <a:r>
              <a:rPr lang="en-US" dirty="0">
                <a:latin typeface="Courier New" pitchFamily="49" charset="0"/>
                <a:cs typeface="Courier New" pitchFamily="49" charset="0"/>
              </a:rPr>
              <a:t>  $t1		#go to address in $t1</a:t>
            </a:r>
            <a:endParaRPr lang="en-US" sz="2400" dirty="0"/>
          </a:p>
          <a:p>
            <a:pPr marL="342900" indent="-342900"/>
            <a:r>
              <a:rPr lang="en-US" dirty="0"/>
              <a:t>Machine </a:t>
            </a:r>
            <a:r>
              <a:rPr lang="en-US" dirty="0" smtClean="0"/>
              <a:t>format (</a:t>
            </a:r>
            <a:r>
              <a:rPr lang="en-US" dirty="0" smtClean="0">
                <a:solidFill>
                  <a:srgbClr val="FF0000"/>
                </a:solidFill>
              </a:rPr>
              <a:t>R</a:t>
            </a:r>
            <a:r>
              <a:rPr lang="en-US" dirty="0" smtClean="0"/>
              <a:t> format):</a:t>
            </a:r>
            <a:endParaRPr lang="en-US" dirty="0"/>
          </a:p>
        </p:txBody>
      </p:sp>
      <p:sp>
        <p:nvSpPr>
          <p:cNvPr id="307203" name="Rectangle 3"/>
          <p:cNvSpPr>
            <a:spLocks noChangeArrowheads="1"/>
          </p:cNvSpPr>
          <p:nvPr/>
        </p:nvSpPr>
        <p:spPr bwMode="auto">
          <a:xfrm>
            <a:off x="225425" y="312738"/>
            <a:ext cx="1954213" cy="477837"/>
          </a:xfrm>
          <a:prstGeom prst="rect">
            <a:avLst/>
          </a:prstGeom>
          <a:noFill/>
          <a:ln w="12700">
            <a:noFill/>
            <a:miter lim="800000"/>
            <a:headEnd/>
            <a:tailEnd/>
          </a:ln>
          <a:effectLst/>
        </p:spPr>
        <p:txBody>
          <a:bodyPr wrap="none" anchor="ctr"/>
          <a:lstStyle/>
          <a:p>
            <a:endParaRPr lang="en-US"/>
          </a:p>
        </p:txBody>
      </p:sp>
      <p:sp>
        <p:nvSpPr>
          <p:cNvPr id="307205" name="Rectangle 5"/>
          <p:cNvSpPr>
            <a:spLocks noGrp="1" noChangeArrowheads="1"/>
          </p:cNvSpPr>
          <p:nvPr>
            <p:ph type="title"/>
          </p:nvPr>
        </p:nvSpPr>
        <p:spPr>
          <a:xfrm>
            <a:off x="685800" y="285728"/>
            <a:ext cx="7815290" cy="428628"/>
          </a:xfrm>
          <a:noFill/>
          <a:ln/>
        </p:spPr>
        <p:txBody>
          <a:bodyPr lIns="90488" tIns="44450" rIns="90488" bIns="44450" anchor="ctr"/>
          <a:lstStyle/>
          <a:p>
            <a:r>
              <a:rPr lang="en-US" dirty="0" smtClean="0"/>
              <a:t>Yet Another </a:t>
            </a:r>
            <a:r>
              <a:rPr lang="en-US" dirty="0"/>
              <a:t>Instruction for Changing Flow</a:t>
            </a:r>
          </a:p>
        </p:txBody>
      </p:sp>
      <p:sp>
        <p:nvSpPr>
          <p:cNvPr id="307206" name="Rectangle 6"/>
          <p:cNvSpPr>
            <a:spLocks noChangeArrowheads="1"/>
          </p:cNvSpPr>
          <p:nvPr/>
        </p:nvSpPr>
        <p:spPr bwMode="auto">
          <a:xfrm>
            <a:off x="1600200" y="4019554"/>
            <a:ext cx="5791200" cy="292100"/>
          </a:xfrm>
          <a:prstGeom prst="rect">
            <a:avLst/>
          </a:prstGeom>
          <a:noFill/>
          <a:ln w="12700">
            <a:solidFill>
              <a:schemeClr val="tx1"/>
            </a:solidFill>
            <a:miter lim="800000"/>
            <a:headEnd/>
            <a:tailEnd/>
          </a:ln>
          <a:effectLst/>
        </p:spPr>
        <p:txBody>
          <a:bodyPr wrap="none" anchor="ctr"/>
          <a:lstStyle/>
          <a:p>
            <a:endParaRPr lang="en-US"/>
          </a:p>
        </p:txBody>
      </p:sp>
      <p:sp>
        <p:nvSpPr>
          <p:cNvPr id="307207" name="Line 7"/>
          <p:cNvSpPr>
            <a:spLocks noChangeShapeType="1"/>
          </p:cNvSpPr>
          <p:nvPr/>
        </p:nvSpPr>
        <p:spPr bwMode="auto">
          <a:xfrm>
            <a:off x="2667000" y="4019554"/>
            <a:ext cx="0" cy="290512"/>
          </a:xfrm>
          <a:prstGeom prst="line">
            <a:avLst/>
          </a:prstGeom>
          <a:noFill/>
          <a:ln w="12700">
            <a:solidFill>
              <a:schemeClr val="tx1"/>
            </a:solidFill>
            <a:round/>
            <a:headEnd/>
            <a:tailEnd/>
          </a:ln>
          <a:effectLst/>
        </p:spPr>
        <p:txBody>
          <a:bodyPr/>
          <a:lstStyle/>
          <a:p>
            <a:endParaRPr lang="en-US"/>
          </a:p>
        </p:txBody>
      </p:sp>
      <p:sp>
        <p:nvSpPr>
          <p:cNvPr id="307208" name="Line 8"/>
          <p:cNvSpPr>
            <a:spLocks noChangeShapeType="1"/>
          </p:cNvSpPr>
          <p:nvPr/>
        </p:nvSpPr>
        <p:spPr bwMode="auto">
          <a:xfrm>
            <a:off x="3575050" y="4021141"/>
            <a:ext cx="0" cy="290513"/>
          </a:xfrm>
          <a:prstGeom prst="line">
            <a:avLst/>
          </a:prstGeom>
          <a:noFill/>
          <a:ln w="12700">
            <a:solidFill>
              <a:schemeClr val="tx1"/>
            </a:solidFill>
            <a:round/>
            <a:headEnd/>
            <a:tailEnd/>
          </a:ln>
          <a:effectLst/>
        </p:spPr>
        <p:txBody>
          <a:bodyPr/>
          <a:lstStyle/>
          <a:p>
            <a:endParaRPr lang="en-US"/>
          </a:p>
        </p:txBody>
      </p:sp>
      <p:sp>
        <p:nvSpPr>
          <p:cNvPr id="307209" name="Line 9"/>
          <p:cNvSpPr>
            <a:spLocks noChangeShapeType="1"/>
          </p:cNvSpPr>
          <p:nvPr/>
        </p:nvSpPr>
        <p:spPr bwMode="auto">
          <a:xfrm>
            <a:off x="4489450" y="4021141"/>
            <a:ext cx="0" cy="290513"/>
          </a:xfrm>
          <a:prstGeom prst="line">
            <a:avLst/>
          </a:prstGeom>
          <a:noFill/>
          <a:ln w="12700">
            <a:solidFill>
              <a:schemeClr val="tx1"/>
            </a:solidFill>
            <a:round/>
            <a:headEnd/>
            <a:tailEnd/>
          </a:ln>
          <a:effectLst/>
        </p:spPr>
        <p:txBody>
          <a:bodyPr/>
          <a:lstStyle/>
          <a:p>
            <a:endParaRPr lang="en-US"/>
          </a:p>
        </p:txBody>
      </p:sp>
      <p:sp>
        <p:nvSpPr>
          <p:cNvPr id="307210" name="Text Box 10"/>
          <p:cNvSpPr txBox="1">
            <a:spLocks noChangeArrowheads="1"/>
          </p:cNvSpPr>
          <p:nvPr/>
        </p:nvSpPr>
        <p:spPr bwMode="auto">
          <a:xfrm>
            <a:off x="1828800" y="4019554"/>
            <a:ext cx="5314950" cy="366712"/>
          </a:xfrm>
          <a:prstGeom prst="rect">
            <a:avLst/>
          </a:prstGeom>
          <a:noFill/>
          <a:ln w="12700">
            <a:noFill/>
            <a:miter lim="800000"/>
            <a:headEnd/>
            <a:tailEnd/>
          </a:ln>
          <a:effectLst/>
        </p:spPr>
        <p:txBody>
          <a:bodyPr wrap="none">
            <a:spAutoFit/>
          </a:bodyPr>
          <a:lstStyle/>
          <a:p>
            <a:r>
              <a:rPr lang="en-US">
                <a:solidFill>
                  <a:schemeClr val="tx1"/>
                </a:solidFill>
              </a:rPr>
              <a:t>op            rs                                                      funct</a:t>
            </a:r>
          </a:p>
        </p:txBody>
      </p:sp>
      <p:sp>
        <p:nvSpPr>
          <p:cNvPr id="307211" name="Line 11"/>
          <p:cNvSpPr>
            <a:spLocks noChangeShapeType="1"/>
          </p:cNvSpPr>
          <p:nvPr/>
        </p:nvSpPr>
        <p:spPr bwMode="auto">
          <a:xfrm>
            <a:off x="5410200" y="4019554"/>
            <a:ext cx="0" cy="304800"/>
          </a:xfrm>
          <a:prstGeom prst="line">
            <a:avLst/>
          </a:prstGeom>
          <a:noFill/>
          <a:ln w="12700">
            <a:solidFill>
              <a:schemeClr val="tx1"/>
            </a:solidFill>
            <a:round/>
            <a:headEnd/>
            <a:tailEnd/>
          </a:ln>
          <a:effectLst/>
        </p:spPr>
        <p:txBody>
          <a:bodyPr/>
          <a:lstStyle/>
          <a:p>
            <a:endParaRPr lang="en-US"/>
          </a:p>
        </p:txBody>
      </p:sp>
      <p:sp>
        <p:nvSpPr>
          <p:cNvPr id="307212" name="Line 12"/>
          <p:cNvSpPr>
            <a:spLocks noChangeShapeType="1"/>
          </p:cNvSpPr>
          <p:nvPr/>
        </p:nvSpPr>
        <p:spPr bwMode="auto">
          <a:xfrm>
            <a:off x="6324600" y="4019554"/>
            <a:ext cx="0" cy="304800"/>
          </a:xfrm>
          <a:prstGeom prst="line">
            <a:avLst/>
          </a:prstGeom>
          <a:noFill/>
          <a:ln w="12700">
            <a:solidFill>
              <a:schemeClr val="tx1"/>
            </a:solidFill>
            <a:round/>
            <a:headEnd/>
            <a:tailEnd/>
          </a:ln>
          <a:effectLst/>
        </p:spPr>
        <p:txBody>
          <a:bodyPr/>
          <a:lstStyle/>
          <a:p>
            <a:endParaRPr lang="en-US"/>
          </a:p>
        </p:txBody>
      </p:sp>
      <p:sp>
        <p:nvSpPr>
          <p:cNvPr id="307213" name="Rectangle 13"/>
          <p:cNvSpPr>
            <a:spLocks noChangeArrowheads="1"/>
          </p:cNvSpPr>
          <p:nvPr/>
        </p:nvSpPr>
        <p:spPr bwMode="auto">
          <a:xfrm>
            <a:off x="1600200" y="5086354"/>
            <a:ext cx="5791200" cy="292100"/>
          </a:xfrm>
          <a:prstGeom prst="rect">
            <a:avLst/>
          </a:prstGeom>
          <a:noFill/>
          <a:ln w="12700">
            <a:solidFill>
              <a:schemeClr val="tx1"/>
            </a:solidFill>
            <a:miter lim="800000"/>
            <a:headEnd/>
            <a:tailEnd/>
          </a:ln>
          <a:effectLst/>
        </p:spPr>
        <p:txBody>
          <a:bodyPr wrap="none" anchor="ctr"/>
          <a:lstStyle/>
          <a:p>
            <a:endParaRPr lang="en-US"/>
          </a:p>
        </p:txBody>
      </p:sp>
      <p:sp>
        <p:nvSpPr>
          <p:cNvPr id="307214" name="Line 14"/>
          <p:cNvSpPr>
            <a:spLocks noChangeShapeType="1"/>
          </p:cNvSpPr>
          <p:nvPr/>
        </p:nvSpPr>
        <p:spPr bwMode="auto">
          <a:xfrm>
            <a:off x="2667000" y="5086354"/>
            <a:ext cx="0" cy="290512"/>
          </a:xfrm>
          <a:prstGeom prst="line">
            <a:avLst/>
          </a:prstGeom>
          <a:noFill/>
          <a:ln w="12700">
            <a:solidFill>
              <a:schemeClr val="tx1"/>
            </a:solidFill>
            <a:round/>
            <a:headEnd/>
            <a:tailEnd/>
          </a:ln>
          <a:effectLst/>
        </p:spPr>
        <p:txBody>
          <a:bodyPr/>
          <a:lstStyle/>
          <a:p>
            <a:endParaRPr lang="en-US"/>
          </a:p>
        </p:txBody>
      </p:sp>
      <p:sp>
        <p:nvSpPr>
          <p:cNvPr id="307215" name="Line 15"/>
          <p:cNvSpPr>
            <a:spLocks noChangeShapeType="1"/>
          </p:cNvSpPr>
          <p:nvPr/>
        </p:nvSpPr>
        <p:spPr bwMode="auto">
          <a:xfrm>
            <a:off x="3575050" y="5087941"/>
            <a:ext cx="0" cy="290513"/>
          </a:xfrm>
          <a:prstGeom prst="line">
            <a:avLst/>
          </a:prstGeom>
          <a:noFill/>
          <a:ln w="12700">
            <a:solidFill>
              <a:schemeClr val="tx1"/>
            </a:solidFill>
            <a:round/>
            <a:headEnd/>
            <a:tailEnd/>
          </a:ln>
          <a:effectLst/>
        </p:spPr>
        <p:txBody>
          <a:bodyPr/>
          <a:lstStyle/>
          <a:p>
            <a:endParaRPr lang="en-US"/>
          </a:p>
        </p:txBody>
      </p:sp>
      <p:sp>
        <p:nvSpPr>
          <p:cNvPr id="307216" name="Line 16"/>
          <p:cNvSpPr>
            <a:spLocks noChangeShapeType="1"/>
          </p:cNvSpPr>
          <p:nvPr/>
        </p:nvSpPr>
        <p:spPr bwMode="auto">
          <a:xfrm>
            <a:off x="4489450" y="5087941"/>
            <a:ext cx="0" cy="290513"/>
          </a:xfrm>
          <a:prstGeom prst="line">
            <a:avLst/>
          </a:prstGeom>
          <a:noFill/>
          <a:ln w="12700">
            <a:solidFill>
              <a:schemeClr val="tx1"/>
            </a:solidFill>
            <a:round/>
            <a:headEnd/>
            <a:tailEnd/>
          </a:ln>
          <a:effectLst/>
        </p:spPr>
        <p:txBody>
          <a:bodyPr/>
          <a:lstStyle/>
          <a:p>
            <a:endParaRPr lang="en-US"/>
          </a:p>
        </p:txBody>
      </p:sp>
      <p:sp>
        <p:nvSpPr>
          <p:cNvPr id="307217" name="Text Box 17"/>
          <p:cNvSpPr txBox="1">
            <a:spLocks noChangeArrowheads="1"/>
          </p:cNvSpPr>
          <p:nvPr/>
        </p:nvSpPr>
        <p:spPr bwMode="auto">
          <a:xfrm>
            <a:off x="1714480" y="5086354"/>
            <a:ext cx="5480988" cy="369332"/>
          </a:xfrm>
          <a:prstGeom prst="rect">
            <a:avLst/>
          </a:prstGeom>
          <a:noFill/>
          <a:ln w="12700">
            <a:noFill/>
            <a:miter lim="800000"/>
            <a:headEnd/>
            <a:tailEnd/>
          </a:ln>
          <a:effectLst/>
        </p:spPr>
        <p:txBody>
          <a:bodyPr wrap="none">
            <a:spAutoFit/>
          </a:bodyPr>
          <a:lstStyle/>
          <a:p>
            <a:r>
              <a:rPr lang="en-US" dirty="0">
                <a:solidFill>
                  <a:schemeClr val="tx1"/>
                </a:solidFill>
              </a:rPr>
              <a:t>  </a:t>
            </a:r>
            <a:r>
              <a:rPr lang="en-US" dirty="0" smtClean="0">
                <a:solidFill>
                  <a:schemeClr val="tx1"/>
                </a:solidFill>
              </a:rPr>
              <a:t>0x00          </a:t>
            </a:r>
            <a:r>
              <a:rPr lang="en-US" dirty="0">
                <a:solidFill>
                  <a:schemeClr val="tx1"/>
                </a:solidFill>
              </a:rPr>
              <a:t>9         </a:t>
            </a:r>
            <a:r>
              <a:rPr lang="en-US" dirty="0" smtClean="0">
                <a:solidFill>
                  <a:schemeClr val="tx1"/>
                </a:solidFill>
              </a:rPr>
              <a:t>  </a:t>
            </a:r>
            <a:r>
              <a:rPr lang="en-US" dirty="0">
                <a:solidFill>
                  <a:schemeClr val="tx1"/>
                </a:solidFill>
              </a:rPr>
              <a:t>0             0            0 </a:t>
            </a:r>
            <a:r>
              <a:rPr lang="en-US" dirty="0" smtClean="0">
                <a:solidFill>
                  <a:schemeClr val="tx1"/>
                </a:solidFill>
              </a:rPr>
              <a:t>          0x08</a:t>
            </a:r>
            <a:endParaRPr lang="en-US" dirty="0">
              <a:solidFill>
                <a:schemeClr val="tx1"/>
              </a:solidFill>
            </a:endParaRPr>
          </a:p>
        </p:txBody>
      </p:sp>
      <p:sp>
        <p:nvSpPr>
          <p:cNvPr id="307218" name="Line 18"/>
          <p:cNvSpPr>
            <a:spLocks noChangeShapeType="1"/>
          </p:cNvSpPr>
          <p:nvPr/>
        </p:nvSpPr>
        <p:spPr bwMode="auto">
          <a:xfrm>
            <a:off x="5410200" y="5086354"/>
            <a:ext cx="0" cy="304800"/>
          </a:xfrm>
          <a:prstGeom prst="line">
            <a:avLst/>
          </a:prstGeom>
          <a:noFill/>
          <a:ln w="12700">
            <a:solidFill>
              <a:schemeClr val="tx1"/>
            </a:solidFill>
            <a:round/>
            <a:headEnd/>
            <a:tailEnd/>
          </a:ln>
          <a:effectLst/>
        </p:spPr>
        <p:txBody>
          <a:bodyPr/>
          <a:lstStyle/>
          <a:p>
            <a:endParaRPr lang="en-US"/>
          </a:p>
        </p:txBody>
      </p:sp>
      <p:sp>
        <p:nvSpPr>
          <p:cNvPr id="307219" name="Line 19"/>
          <p:cNvSpPr>
            <a:spLocks noChangeShapeType="1"/>
          </p:cNvSpPr>
          <p:nvPr/>
        </p:nvSpPr>
        <p:spPr bwMode="auto">
          <a:xfrm>
            <a:off x="6324600" y="5086354"/>
            <a:ext cx="0" cy="304800"/>
          </a:xfrm>
          <a:prstGeom prst="line">
            <a:avLst/>
          </a:prstGeom>
          <a:noFill/>
          <a:ln w="12700">
            <a:solidFill>
              <a:schemeClr val="tx1"/>
            </a:solidFill>
            <a:round/>
            <a:headEnd/>
            <a:tailEnd/>
          </a:ln>
          <a:effectLst/>
        </p:spPr>
        <p:txBody>
          <a:bodyPr/>
          <a:lstStyle/>
          <a:p>
            <a:endParaRPr lang="en-US"/>
          </a:p>
        </p:txBody>
      </p:sp>
      <p:sp>
        <p:nvSpPr>
          <p:cNvPr id="307220" name="AutoShape 20"/>
          <p:cNvSpPr>
            <a:spLocks noChangeArrowheads="1"/>
          </p:cNvSpPr>
          <p:nvPr/>
        </p:nvSpPr>
        <p:spPr bwMode="auto">
          <a:xfrm>
            <a:off x="4343400" y="4629154"/>
            <a:ext cx="381000" cy="152400"/>
          </a:xfrm>
          <a:prstGeom prst="downArrow">
            <a:avLst>
              <a:gd name="adj1" fmla="val 50000"/>
              <a:gd name="adj2" fmla="val 25000"/>
            </a:avLst>
          </a:prstGeom>
          <a:noFill/>
          <a:ln w="12700">
            <a:solidFill>
              <a:schemeClr val="tx1"/>
            </a:solidFill>
            <a:miter lim="800000"/>
            <a:headEnd/>
            <a:tailEnd/>
          </a:ln>
          <a:effectLst/>
        </p:spPr>
        <p:txBody>
          <a:bodyPr wrap="none" anchor="ctr"/>
          <a:lstStyle/>
          <a:p>
            <a:endParaRPr lang="en-US"/>
          </a:p>
        </p:txBody>
      </p:sp>
    </p:spTree>
    <p:extLst>
      <p:ext uri="{BB962C8B-B14F-4D97-AF65-F5344CB8AC3E}">
        <p14:creationId xmlns:p14="http://schemas.microsoft.com/office/powerpoint/2010/main" val="1903733988"/>
      </p:ext>
    </p:extLst>
  </p:cSld>
  <p:clrMapOvr>
    <a:masterClrMapping/>
  </p:clrMapOvr>
  <p:transition advTm="2000"/>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r>
              <a:rPr lang="en-US"/>
              <a:t>Compiling a Case (Switch) Statement</a:t>
            </a:r>
          </a:p>
        </p:txBody>
      </p:sp>
      <p:sp>
        <p:nvSpPr>
          <p:cNvPr id="309251" name="Rectangle 3"/>
          <p:cNvSpPr>
            <a:spLocks noGrp="1" noChangeArrowheads="1"/>
          </p:cNvSpPr>
          <p:nvPr>
            <p:ph type="body" idx="1"/>
          </p:nvPr>
        </p:nvSpPr>
        <p:spPr>
          <a:xfrm>
            <a:off x="381000" y="439737"/>
            <a:ext cx="6172200" cy="3045962"/>
          </a:xfrm>
        </p:spPr>
        <p:txBody>
          <a:bodyPr/>
          <a:lstStyle/>
          <a:p>
            <a:pPr>
              <a:buFont typeface="Wingdings" pitchFamily="2" charset="2"/>
              <a:buNone/>
            </a:pPr>
            <a:endParaRPr lang="en-US" sz="2400" dirty="0"/>
          </a:p>
          <a:p>
            <a:pPr lvl="1">
              <a:lnSpc>
                <a:spcPct val="50000"/>
              </a:lnSpc>
              <a:buFont typeface="Monotype Sorts" pitchFamily="2" charset="2"/>
              <a:buNone/>
            </a:pPr>
            <a:r>
              <a:rPr lang="en-US" sz="2000" dirty="0">
                <a:latin typeface="Courier New" pitchFamily="49" charset="0"/>
              </a:rPr>
              <a:t>switch (k) { </a:t>
            </a:r>
          </a:p>
          <a:p>
            <a:pPr lvl="1">
              <a:lnSpc>
                <a:spcPct val="50000"/>
              </a:lnSpc>
              <a:buFont typeface="Monotype Sorts" pitchFamily="2" charset="2"/>
              <a:buNone/>
            </a:pPr>
            <a:r>
              <a:rPr lang="en-US" sz="2000" dirty="0">
                <a:latin typeface="Courier New" pitchFamily="49" charset="0"/>
              </a:rPr>
              <a:t>		case 0:  h=</a:t>
            </a:r>
            <a:r>
              <a:rPr lang="en-US" sz="2000" dirty="0" err="1">
                <a:latin typeface="Courier New" pitchFamily="49" charset="0"/>
              </a:rPr>
              <a:t>i+j</a:t>
            </a:r>
            <a:r>
              <a:rPr lang="en-US" sz="2000" dirty="0">
                <a:latin typeface="Courier New" pitchFamily="49" charset="0"/>
              </a:rPr>
              <a:t>;  break; /*k=0*/</a:t>
            </a:r>
          </a:p>
          <a:p>
            <a:pPr lvl="1">
              <a:lnSpc>
                <a:spcPct val="50000"/>
              </a:lnSpc>
              <a:buFont typeface="Monotype Sorts" pitchFamily="2" charset="2"/>
              <a:buNone/>
            </a:pPr>
            <a:r>
              <a:rPr lang="en-US" sz="2000" dirty="0">
                <a:latin typeface="Courier New" pitchFamily="49" charset="0"/>
              </a:rPr>
              <a:t>		case 1:  h=</a:t>
            </a:r>
            <a:r>
              <a:rPr lang="en-US" sz="2000" dirty="0" err="1">
                <a:latin typeface="Courier New" pitchFamily="49" charset="0"/>
              </a:rPr>
              <a:t>i+h</a:t>
            </a:r>
            <a:r>
              <a:rPr lang="en-US" sz="2000" dirty="0">
                <a:latin typeface="Courier New" pitchFamily="49" charset="0"/>
              </a:rPr>
              <a:t>;  break; /*k=1*/</a:t>
            </a:r>
          </a:p>
          <a:p>
            <a:pPr lvl="1">
              <a:lnSpc>
                <a:spcPct val="50000"/>
              </a:lnSpc>
              <a:buFont typeface="Monotype Sorts" pitchFamily="2" charset="2"/>
              <a:buNone/>
            </a:pPr>
            <a:r>
              <a:rPr lang="en-US" sz="2000" dirty="0">
                <a:latin typeface="Courier New" pitchFamily="49" charset="0"/>
              </a:rPr>
              <a:t>		case 2:  h=</a:t>
            </a:r>
            <a:r>
              <a:rPr lang="en-US" sz="2000" dirty="0" err="1">
                <a:latin typeface="Courier New" pitchFamily="49" charset="0"/>
              </a:rPr>
              <a:t>i</a:t>
            </a:r>
            <a:r>
              <a:rPr lang="en-US" sz="2000" dirty="0">
                <a:latin typeface="Courier New" pitchFamily="49" charset="0"/>
              </a:rPr>
              <a:t>-j;  break; /*k=2*/</a:t>
            </a:r>
          </a:p>
          <a:p>
            <a:pPr>
              <a:lnSpc>
                <a:spcPct val="95000"/>
              </a:lnSpc>
            </a:pPr>
            <a:r>
              <a:rPr lang="en-US" sz="2600" dirty="0" smtClean="0"/>
              <a:t>Assume </a:t>
            </a:r>
            <a:r>
              <a:rPr lang="en-US" sz="2600" dirty="0"/>
              <a:t>three sequential words in memory starting at the address in </a:t>
            </a:r>
            <a:r>
              <a:rPr lang="en-US" sz="2600" dirty="0">
                <a:latin typeface="Courier New" pitchFamily="49" charset="0"/>
              </a:rPr>
              <a:t>$t4</a:t>
            </a:r>
            <a:r>
              <a:rPr lang="en-US" sz="2600" dirty="0"/>
              <a:t> have the addresses of the labels L0, L1, and L2 and </a:t>
            </a:r>
            <a:r>
              <a:rPr lang="en-US" sz="2600" dirty="0">
                <a:latin typeface="Courier New" pitchFamily="49" charset="0"/>
              </a:rPr>
              <a:t>k</a:t>
            </a:r>
            <a:r>
              <a:rPr lang="en-US" sz="2600" dirty="0"/>
              <a:t> is in </a:t>
            </a:r>
            <a:r>
              <a:rPr lang="en-US" sz="2600" dirty="0">
                <a:latin typeface="Courier New" pitchFamily="49" charset="0"/>
              </a:rPr>
              <a:t>$s2</a:t>
            </a:r>
            <a:r>
              <a:rPr lang="en-US" dirty="0">
                <a:latin typeface="Courier New" pitchFamily="49" charset="0"/>
              </a:rPr>
              <a:t>	</a:t>
            </a:r>
          </a:p>
        </p:txBody>
      </p:sp>
      <p:sp>
        <p:nvSpPr>
          <p:cNvPr id="309252" name="Rectangle 4"/>
          <p:cNvSpPr>
            <a:spLocks noChangeArrowheads="1"/>
          </p:cNvSpPr>
          <p:nvPr/>
        </p:nvSpPr>
        <p:spPr bwMode="auto">
          <a:xfrm>
            <a:off x="609600" y="3568722"/>
            <a:ext cx="8001000" cy="3003550"/>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5000"/>
              </a:spcBef>
              <a:buClr>
                <a:schemeClr val="accent1"/>
              </a:buClr>
              <a:buSzPct val="75000"/>
              <a:buFont typeface="Wingdings" pitchFamily="2" charset="2"/>
              <a:buNone/>
            </a:pPr>
            <a:r>
              <a:rPr lang="en-US" dirty="0">
                <a:solidFill>
                  <a:schemeClr val="tx1"/>
                </a:solidFill>
                <a:latin typeface="Courier New" pitchFamily="49" charset="0"/>
              </a:rPr>
              <a:t>		add	$t1, $s2, $s2		#$t1 = 2*k</a:t>
            </a:r>
          </a:p>
          <a:p>
            <a:pPr marL="741363" lvl="1" indent="-246063">
              <a:lnSpc>
                <a:spcPct val="90000"/>
              </a:lnSpc>
              <a:spcBef>
                <a:spcPct val="5000"/>
              </a:spcBef>
              <a:buClr>
                <a:schemeClr val="accent1"/>
              </a:buClr>
              <a:buSzPct val="75000"/>
              <a:buFont typeface="Monotype Sorts" pitchFamily="2" charset="2"/>
              <a:buNone/>
            </a:pPr>
            <a:r>
              <a:rPr lang="en-US" dirty="0">
                <a:solidFill>
                  <a:schemeClr val="tx1"/>
                </a:solidFill>
                <a:latin typeface="Courier New" pitchFamily="49" charset="0"/>
              </a:rPr>
              <a:t>		add	$t1, $t1, $t1		#$t1 = 4*k</a:t>
            </a:r>
          </a:p>
          <a:p>
            <a:pPr marL="741363" lvl="1" indent="-246063">
              <a:lnSpc>
                <a:spcPct val="90000"/>
              </a:lnSpc>
              <a:spcBef>
                <a:spcPct val="5000"/>
              </a:spcBef>
              <a:buClr>
                <a:schemeClr val="accent1"/>
              </a:buClr>
              <a:buSzPct val="75000"/>
              <a:buFont typeface="Monotype Sorts" pitchFamily="2" charset="2"/>
              <a:buNone/>
            </a:pPr>
            <a:r>
              <a:rPr lang="en-US" dirty="0">
                <a:solidFill>
                  <a:schemeClr val="tx1"/>
                </a:solidFill>
                <a:latin typeface="Courier New" pitchFamily="49" charset="0"/>
              </a:rPr>
              <a:t>		add	$t1, $t1, $t4		#$t1 = </a:t>
            </a:r>
            <a:r>
              <a:rPr lang="en-US" dirty="0" err="1">
                <a:solidFill>
                  <a:schemeClr val="tx1"/>
                </a:solidFill>
                <a:latin typeface="Courier New" pitchFamily="49" charset="0"/>
              </a:rPr>
              <a:t>addr</a:t>
            </a:r>
            <a:r>
              <a:rPr lang="en-US" dirty="0">
                <a:solidFill>
                  <a:schemeClr val="tx1"/>
                </a:solidFill>
                <a:latin typeface="Courier New" pitchFamily="49" charset="0"/>
              </a:rPr>
              <a:t> of </a:t>
            </a:r>
            <a:r>
              <a:rPr lang="en-US" dirty="0" err="1">
                <a:solidFill>
                  <a:schemeClr val="tx1"/>
                </a:solidFill>
                <a:latin typeface="Courier New" pitchFamily="49" charset="0"/>
              </a:rPr>
              <a:t>JumpT</a:t>
            </a:r>
            <a:r>
              <a:rPr lang="en-US" dirty="0">
                <a:solidFill>
                  <a:schemeClr val="tx1"/>
                </a:solidFill>
                <a:latin typeface="Courier New" pitchFamily="49" charset="0"/>
              </a:rPr>
              <a:t>[k]</a:t>
            </a:r>
          </a:p>
          <a:p>
            <a:pPr marL="741363" lvl="1" indent="-246063">
              <a:lnSpc>
                <a:spcPct val="90000"/>
              </a:lnSpc>
              <a:spcBef>
                <a:spcPct val="5000"/>
              </a:spcBef>
              <a:buClr>
                <a:schemeClr val="accent1"/>
              </a:buClr>
              <a:buSzPct val="75000"/>
              <a:buFont typeface="Monotype Sorts" pitchFamily="2" charset="2"/>
              <a:buNone/>
            </a:pPr>
            <a:r>
              <a:rPr lang="en-US" dirty="0">
                <a:solidFill>
                  <a:schemeClr val="tx1"/>
                </a:solidFill>
                <a:latin typeface="Courier New" pitchFamily="49" charset="0"/>
              </a:rPr>
              <a:t>		</a:t>
            </a:r>
            <a:r>
              <a:rPr lang="en-US" dirty="0" err="1">
                <a:solidFill>
                  <a:schemeClr val="tx1"/>
                </a:solidFill>
                <a:latin typeface="Courier New" pitchFamily="49" charset="0"/>
              </a:rPr>
              <a:t>lw</a:t>
            </a:r>
            <a:r>
              <a:rPr lang="en-US" dirty="0">
                <a:solidFill>
                  <a:schemeClr val="tx1"/>
                </a:solidFill>
                <a:latin typeface="Courier New" pitchFamily="49" charset="0"/>
              </a:rPr>
              <a:t>	$t0, 0($t1)		#$t0 = </a:t>
            </a:r>
            <a:r>
              <a:rPr lang="en-US" dirty="0" err="1">
                <a:solidFill>
                  <a:schemeClr val="tx1"/>
                </a:solidFill>
                <a:latin typeface="Courier New" pitchFamily="49" charset="0"/>
              </a:rPr>
              <a:t>JumpT</a:t>
            </a:r>
            <a:r>
              <a:rPr lang="en-US" dirty="0">
                <a:solidFill>
                  <a:schemeClr val="tx1"/>
                </a:solidFill>
                <a:latin typeface="Courier New" pitchFamily="49" charset="0"/>
              </a:rPr>
              <a:t>[k]</a:t>
            </a:r>
          </a:p>
          <a:p>
            <a:pPr marL="741363" lvl="1" indent="-246063">
              <a:lnSpc>
                <a:spcPct val="90000"/>
              </a:lnSpc>
              <a:spcBef>
                <a:spcPct val="5000"/>
              </a:spcBef>
              <a:buClr>
                <a:schemeClr val="accent1"/>
              </a:buClr>
              <a:buSzPct val="75000"/>
              <a:buFont typeface="Monotype Sorts" pitchFamily="2" charset="2"/>
              <a:buNone/>
            </a:pPr>
            <a:r>
              <a:rPr lang="en-US" dirty="0">
                <a:solidFill>
                  <a:schemeClr val="tx1"/>
                </a:solidFill>
                <a:latin typeface="Courier New" pitchFamily="49" charset="0"/>
              </a:rPr>
              <a:t>		</a:t>
            </a:r>
            <a:r>
              <a:rPr lang="en-US" dirty="0" err="1">
                <a:solidFill>
                  <a:schemeClr val="tx1"/>
                </a:solidFill>
                <a:latin typeface="Courier New" pitchFamily="49" charset="0"/>
              </a:rPr>
              <a:t>jr</a:t>
            </a:r>
            <a:r>
              <a:rPr lang="en-US" dirty="0">
                <a:solidFill>
                  <a:schemeClr val="tx1"/>
                </a:solidFill>
                <a:latin typeface="Courier New" pitchFamily="49" charset="0"/>
              </a:rPr>
              <a:t>	$t0			#jump based on $t0</a:t>
            </a:r>
          </a:p>
          <a:p>
            <a:pPr marL="287338" indent="-287338">
              <a:lnSpc>
                <a:spcPct val="90000"/>
              </a:lnSpc>
              <a:spcBef>
                <a:spcPct val="5000"/>
              </a:spcBef>
              <a:buClr>
                <a:schemeClr val="accent1"/>
              </a:buClr>
              <a:buSzPct val="75000"/>
              <a:buFont typeface="Wingdings" pitchFamily="2" charset="2"/>
              <a:buNone/>
            </a:pPr>
            <a:r>
              <a:rPr lang="en-US" dirty="0">
                <a:solidFill>
                  <a:schemeClr val="tx1"/>
                </a:solidFill>
                <a:latin typeface="Courier New" pitchFamily="49" charset="0"/>
              </a:rPr>
              <a:t>L0:	add	$s3, $s0, $s1		#k=0 so h=</a:t>
            </a:r>
            <a:r>
              <a:rPr lang="en-US" dirty="0" err="1">
                <a:solidFill>
                  <a:schemeClr val="tx1"/>
                </a:solidFill>
                <a:latin typeface="Courier New" pitchFamily="49" charset="0"/>
              </a:rPr>
              <a:t>i+j</a:t>
            </a:r>
            <a:endParaRPr lang="en-US" dirty="0">
              <a:solidFill>
                <a:schemeClr val="tx1"/>
              </a:solidFill>
              <a:latin typeface="Courier New" pitchFamily="49" charset="0"/>
            </a:endParaRPr>
          </a:p>
          <a:p>
            <a:pPr marL="287338" indent="-287338">
              <a:lnSpc>
                <a:spcPct val="90000"/>
              </a:lnSpc>
              <a:spcBef>
                <a:spcPct val="5000"/>
              </a:spcBef>
              <a:buClr>
                <a:schemeClr val="accent1"/>
              </a:buClr>
              <a:buSzPct val="75000"/>
              <a:buFont typeface="Wingdings" pitchFamily="2" charset="2"/>
              <a:buNone/>
            </a:pPr>
            <a:r>
              <a:rPr lang="en-US" dirty="0">
                <a:solidFill>
                  <a:schemeClr val="tx1"/>
                </a:solidFill>
                <a:latin typeface="Courier New" pitchFamily="49" charset="0"/>
              </a:rPr>
              <a:t>		j	Exit</a:t>
            </a:r>
          </a:p>
          <a:p>
            <a:pPr marL="287338" indent="-287338">
              <a:lnSpc>
                <a:spcPct val="90000"/>
              </a:lnSpc>
              <a:spcBef>
                <a:spcPct val="5000"/>
              </a:spcBef>
              <a:buClr>
                <a:schemeClr val="accent1"/>
              </a:buClr>
              <a:buSzPct val="75000"/>
              <a:buFont typeface="Wingdings" pitchFamily="2" charset="2"/>
              <a:buNone/>
            </a:pPr>
            <a:r>
              <a:rPr lang="en-US" dirty="0">
                <a:solidFill>
                  <a:schemeClr val="tx1"/>
                </a:solidFill>
                <a:latin typeface="Courier New" pitchFamily="49" charset="0"/>
              </a:rPr>
              <a:t>L1:	add	$s3, $s0, $s3		#k=1 so h=</a:t>
            </a:r>
            <a:r>
              <a:rPr lang="en-US" dirty="0" err="1">
                <a:solidFill>
                  <a:schemeClr val="tx1"/>
                </a:solidFill>
                <a:latin typeface="Courier New" pitchFamily="49" charset="0"/>
              </a:rPr>
              <a:t>i+h</a:t>
            </a:r>
            <a:endParaRPr lang="en-US" dirty="0">
              <a:solidFill>
                <a:schemeClr val="tx1"/>
              </a:solidFill>
              <a:latin typeface="Courier New" pitchFamily="49" charset="0"/>
            </a:endParaRPr>
          </a:p>
          <a:p>
            <a:pPr marL="287338" indent="-287338">
              <a:lnSpc>
                <a:spcPct val="90000"/>
              </a:lnSpc>
              <a:spcBef>
                <a:spcPct val="5000"/>
              </a:spcBef>
              <a:buClr>
                <a:schemeClr val="accent1"/>
              </a:buClr>
              <a:buSzPct val="75000"/>
              <a:buFont typeface="Wingdings" pitchFamily="2" charset="2"/>
              <a:buNone/>
            </a:pPr>
            <a:r>
              <a:rPr lang="en-US" dirty="0">
                <a:solidFill>
                  <a:schemeClr val="tx1"/>
                </a:solidFill>
                <a:latin typeface="Courier New" pitchFamily="49" charset="0"/>
              </a:rPr>
              <a:t>		j	Exit</a:t>
            </a:r>
          </a:p>
          <a:p>
            <a:pPr marL="287338" indent="-287338">
              <a:lnSpc>
                <a:spcPct val="90000"/>
              </a:lnSpc>
              <a:spcBef>
                <a:spcPct val="5000"/>
              </a:spcBef>
              <a:buClr>
                <a:schemeClr val="accent1"/>
              </a:buClr>
              <a:buSzPct val="75000"/>
              <a:buFont typeface="Wingdings" pitchFamily="2" charset="2"/>
              <a:buNone/>
            </a:pPr>
            <a:r>
              <a:rPr lang="en-US" dirty="0">
                <a:solidFill>
                  <a:schemeClr val="tx1"/>
                </a:solidFill>
                <a:latin typeface="Courier New" pitchFamily="49" charset="0"/>
              </a:rPr>
              <a:t>L2:	sub	$s3, $s0, $s1		#k=2 so h=</a:t>
            </a:r>
            <a:r>
              <a:rPr lang="en-US" dirty="0" err="1">
                <a:solidFill>
                  <a:schemeClr val="tx1"/>
                </a:solidFill>
                <a:latin typeface="Courier New" pitchFamily="49" charset="0"/>
              </a:rPr>
              <a:t>i</a:t>
            </a:r>
            <a:r>
              <a:rPr lang="en-US" dirty="0">
                <a:solidFill>
                  <a:schemeClr val="tx1"/>
                </a:solidFill>
                <a:latin typeface="Courier New" pitchFamily="49" charset="0"/>
              </a:rPr>
              <a:t>-j</a:t>
            </a:r>
          </a:p>
          <a:p>
            <a:pPr marL="287338" indent="-287338">
              <a:lnSpc>
                <a:spcPct val="90000"/>
              </a:lnSpc>
              <a:spcBef>
                <a:spcPct val="5000"/>
              </a:spcBef>
              <a:buClr>
                <a:schemeClr val="accent1"/>
              </a:buClr>
              <a:buSzPct val="75000"/>
              <a:buFont typeface="Wingdings" pitchFamily="2" charset="2"/>
              <a:buNone/>
            </a:pPr>
            <a:r>
              <a:rPr lang="en-US" dirty="0">
                <a:solidFill>
                  <a:schemeClr val="tx1"/>
                </a:solidFill>
                <a:latin typeface="Courier New" pitchFamily="49" charset="0"/>
              </a:rPr>
              <a:t>Exit:	. . .</a:t>
            </a:r>
            <a:r>
              <a:rPr lang="en-US" sz="2400" dirty="0">
                <a:solidFill>
                  <a:schemeClr val="tx1"/>
                </a:solidFill>
                <a:latin typeface="Courier New" pitchFamily="49" charset="0"/>
              </a:rPr>
              <a:t>	</a:t>
            </a:r>
          </a:p>
        </p:txBody>
      </p:sp>
      <p:grpSp>
        <p:nvGrpSpPr>
          <p:cNvPr id="2" name="Group 16"/>
          <p:cNvGrpSpPr>
            <a:grpSpLocks/>
          </p:cNvGrpSpPr>
          <p:nvPr/>
        </p:nvGrpSpPr>
        <p:grpSpPr bwMode="auto">
          <a:xfrm>
            <a:off x="6477000" y="741363"/>
            <a:ext cx="2057400" cy="2230437"/>
            <a:chOff x="3936" y="467"/>
            <a:chExt cx="1296" cy="1405"/>
          </a:xfrm>
        </p:grpSpPr>
        <p:sp>
          <p:nvSpPr>
            <p:cNvPr id="309253" name="Line 5"/>
            <p:cNvSpPr>
              <a:spLocks noChangeShapeType="1"/>
            </p:cNvSpPr>
            <p:nvPr/>
          </p:nvSpPr>
          <p:spPr bwMode="auto">
            <a:xfrm>
              <a:off x="4464" y="624"/>
              <a:ext cx="0" cy="1248"/>
            </a:xfrm>
            <a:prstGeom prst="line">
              <a:avLst/>
            </a:prstGeom>
            <a:noFill/>
            <a:ln w="12700">
              <a:solidFill>
                <a:schemeClr val="tx1"/>
              </a:solidFill>
              <a:round/>
              <a:headEnd/>
              <a:tailEnd/>
            </a:ln>
            <a:effectLst/>
          </p:spPr>
          <p:txBody>
            <a:bodyPr/>
            <a:lstStyle/>
            <a:p>
              <a:endParaRPr lang="en-US"/>
            </a:p>
          </p:txBody>
        </p:sp>
        <p:sp>
          <p:nvSpPr>
            <p:cNvPr id="309254" name="Line 6"/>
            <p:cNvSpPr>
              <a:spLocks noChangeShapeType="1"/>
            </p:cNvSpPr>
            <p:nvPr/>
          </p:nvSpPr>
          <p:spPr bwMode="auto">
            <a:xfrm>
              <a:off x="5232" y="624"/>
              <a:ext cx="0" cy="1248"/>
            </a:xfrm>
            <a:prstGeom prst="line">
              <a:avLst/>
            </a:prstGeom>
            <a:noFill/>
            <a:ln w="12700">
              <a:solidFill>
                <a:schemeClr val="tx1"/>
              </a:solidFill>
              <a:round/>
              <a:headEnd/>
              <a:tailEnd/>
            </a:ln>
            <a:effectLst/>
          </p:spPr>
          <p:txBody>
            <a:bodyPr/>
            <a:lstStyle/>
            <a:p>
              <a:endParaRPr lang="en-US"/>
            </a:p>
          </p:txBody>
        </p:sp>
        <p:sp>
          <p:nvSpPr>
            <p:cNvPr id="309255" name="Line 7"/>
            <p:cNvSpPr>
              <a:spLocks noChangeShapeType="1"/>
            </p:cNvSpPr>
            <p:nvPr/>
          </p:nvSpPr>
          <p:spPr bwMode="auto">
            <a:xfrm>
              <a:off x="4464" y="960"/>
              <a:ext cx="768" cy="0"/>
            </a:xfrm>
            <a:prstGeom prst="line">
              <a:avLst/>
            </a:prstGeom>
            <a:noFill/>
            <a:ln w="12700">
              <a:solidFill>
                <a:schemeClr val="tx1"/>
              </a:solidFill>
              <a:round/>
              <a:headEnd/>
              <a:tailEnd/>
            </a:ln>
            <a:effectLst/>
          </p:spPr>
          <p:txBody>
            <a:bodyPr/>
            <a:lstStyle/>
            <a:p>
              <a:endParaRPr lang="en-US"/>
            </a:p>
          </p:txBody>
        </p:sp>
        <p:sp>
          <p:nvSpPr>
            <p:cNvPr id="309256" name="Line 8"/>
            <p:cNvSpPr>
              <a:spLocks noChangeShapeType="1"/>
            </p:cNvSpPr>
            <p:nvPr/>
          </p:nvSpPr>
          <p:spPr bwMode="auto">
            <a:xfrm>
              <a:off x="4464" y="1152"/>
              <a:ext cx="768" cy="0"/>
            </a:xfrm>
            <a:prstGeom prst="line">
              <a:avLst/>
            </a:prstGeom>
            <a:noFill/>
            <a:ln w="12700">
              <a:solidFill>
                <a:schemeClr val="tx1"/>
              </a:solidFill>
              <a:round/>
              <a:headEnd/>
              <a:tailEnd/>
            </a:ln>
            <a:effectLst/>
          </p:spPr>
          <p:txBody>
            <a:bodyPr/>
            <a:lstStyle/>
            <a:p>
              <a:endParaRPr lang="en-US"/>
            </a:p>
          </p:txBody>
        </p:sp>
        <p:sp>
          <p:nvSpPr>
            <p:cNvPr id="309257" name="Line 9"/>
            <p:cNvSpPr>
              <a:spLocks noChangeShapeType="1"/>
            </p:cNvSpPr>
            <p:nvPr/>
          </p:nvSpPr>
          <p:spPr bwMode="auto">
            <a:xfrm>
              <a:off x="4464" y="1344"/>
              <a:ext cx="768" cy="0"/>
            </a:xfrm>
            <a:prstGeom prst="line">
              <a:avLst/>
            </a:prstGeom>
            <a:noFill/>
            <a:ln w="12700">
              <a:solidFill>
                <a:schemeClr val="tx1"/>
              </a:solidFill>
              <a:round/>
              <a:headEnd/>
              <a:tailEnd/>
            </a:ln>
            <a:effectLst/>
          </p:spPr>
          <p:txBody>
            <a:bodyPr/>
            <a:lstStyle/>
            <a:p>
              <a:endParaRPr lang="en-US"/>
            </a:p>
          </p:txBody>
        </p:sp>
        <p:sp>
          <p:nvSpPr>
            <p:cNvPr id="309258" name="Line 10"/>
            <p:cNvSpPr>
              <a:spLocks noChangeShapeType="1"/>
            </p:cNvSpPr>
            <p:nvPr/>
          </p:nvSpPr>
          <p:spPr bwMode="auto">
            <a:xfrm>
              <a:off x="4464" y="1536"/>
              <a:ext cx="768" cy="0"/>
            </a:xfrm>
            <a:prstGeom prst="line">
              <a:avLst/>
            </a:prstGeom>
            <a:noFill/>
            <a:ln w="12700">
              <a:solidFill>
                <a:schemeClr val="tx1"/>
              </a:solidFill>
              <a:round/>
              <a:headEnd/>
              <a:tailEnd/>
            </a:ln>
            <a:effectLst/>
          </p:spPr>
          <p:txBody>
            <a:bodyPr/>
            <a:lstStyle/>
            <a:p>
              <a:endParaRPr lang="en-US"/>
            </a:p>
          </p:txBody>
        </p:sp>
        <p:sp>
          <p:nvSpPr>
            <p:cNvPr id="309259" name="Rectangle 11"/>
            <p:cNvSpPr>
              <a:spLocks noChangeArrowheads="1"/>
            </p:cNvSpPr>
            <p:nvPr/>
          </p:nvSpPr>
          <p:spPr bwMode="auto">
            <a:xfrm>
              <a:off x="3936" y="1286"/>
              <a:ext cx="672" cy="250"/>
            </a:xfrm>
            <a:prstGeom prst="rect">
              <a:avLst/>
            </a:prstGeom>
            <a:noFill/>
            <a:ln w="12700">
              <a:noFill/>
              <a:miter lim="800000"/>
              <a:headEnd/>
              <a:tailEnd/>
            </a:ln>
            <a:effectLst/>
          </p:spPr>
          <p:txBody>
            <a:bodyPr>
              <a:spAutoFit/>
            </a:bodyPr>
            <a:lstStyle/>
            <a:p>
              <a:r>
                <a:rPr lang="en-US" sz="2000">
                  <a:solidFill>
                    <a:schemeClr val="tx1"/>
                  </a:solidFill>
                  <a:latin typeface="Courier New" pitchFamily="49" charset="0"/>
                  <a:sym typeface="Symbol" pitchFamily="18" charset="2"/>
                </a:rPr>
                <a:t>$t4</a:t>
              </a:r>
            </a:p>
          </p:txBody>
        </p:sp>
        <p:sp>
          <p:nvSpPr>
            <p:cNvPr id="309260" name="Rectangle 12"/>
            <p:cNvSpPr>
              <a:spLocks noChangeArrowheads="1"/>
            </p:cNvSpPr>
            <p:nvPr/>
          </p:nvSpPr>
          <p:spPr bwMode="auto">
            <a:xfrm>
              <a:off x="4656" y="950"/>
              <a:ext cx="336" cy="250"/>
            </a:xfrm>
            <a:prstGeom prst="rect">
              <a:avLst/>
            </a:prstGeom>
            <a:noFill/>
            <a:ln w="12700">
              <a:noFill/>
              <a:miter lim="800000"/>
              <a:headEnd/>
              <a:tailEnd/>
            </a:ln>
            <a:effectLst/>
          </p:spPr>
          <p:txBody>
            <a:bodyPr>
              <a:spAutoFit/>
            </a:bodyPr>
            <a:lstStyle/>
            <a:p>
              <a:r>
                <a:rPr lang="en-US" sz="2000">
                  <a:solidFill>
                    <a:schemeClr val="tx1"/>
                  </a:solidFill>
                  <a:latin typeface="Courier New" pitchFamily="49" charset="0"/>
                  <a:sym typeface="Symbol" pitchFamily="18" charset="2"/>
                </a:rPr>
                <a:t>L2</a:t>
              </a:r>
            </a:p>
          </p:txBody>
        </p:sp>
        <p:sp>
          <p:nvSpPr>
            <p:cNvPr id="309261" name="Rectangle 13"/>
            <p:cNvSpPr>
              <a:spLocks noChangeArrowheads="1"/>
            </p:cNvSpPr>
            <p:nvPr/>
          </p:nvSpPr>
          <p:spPr bwMode="auto">
            <a:xfrm>
              <a:off x="4656" y="1142"/>
              <a:ext cx="336" cy="250"/>
            </a:xfrm>
            <a:prstGeom prst="rect">
              <a:avLst/>
            </a:prstGeom>
            <a:noFill/>
            <a:ln w="12700">
              <a:noFill/>
              <a:miter lim="800000"/>
              <a:headEnd/>
              <a:tailEnd/>
            </a:ln>
            <a:effectLst/>
          </p:spPr>
          <p:txBody>
            <a:bodyPr>
              <a:spAutoFit/>
            </a:bodyPr>
            <a:lstStyle/>
            <a:p>
              <a:r>
                <a:rPr lang="en-US" sz="2000">
                  <a:solidFill>
                    <a:schemeClr val="tx1"/>
                  </a:solidFill>
                  <a:latin typeface="Courier New" pitchFamily="49" charset="0"/>
                  <a:sym typeface="Symbol" pitchFamily="18" charset="2"/>
                </a:rPr>
                <a:t>L1</a:t>
              </a:r>
            </a:p>
          </p:txBody>
        </p:sp>
        <p:sp>
          <p:nvSpPr>
            <p:cNvPr id="309262" name="Rectangle 14"/>
            <p:cNvSpPr>
              <a:spLocks noChangeArrowheads="1"/>
            </p:cNvSpPr>
            <p:nvPr/>
          </p:nvSpPr>
          <p:spPr bwMode="auto">
            <a:xfrm>
              <a:off x="4656" y="1334"/>
              <a:ext cx="336" cy="250"/>
            </a:xfrm>
            <a:prstGeom prst="rect">
              <a:avLst/>
            </a:prstGeom>
            <a:noFill/>
            <a:ln w="12700">
              <a:noFill/>
              <a:miter lim="800000"/>
              <a:headEnd/>
              <a:tailEnd/>
            </a:ln>
            <a:effectLst/>
          </p:spPr>
          <p:txBody>
            <a:bodyPr>
              <a:spAutoFit/>
            </a:bodyPr>
            <a:lstStyle/>
            <a:p>
              <a:r>
                <a:rPr lang="en-US" sz="2000">
                  <a:solidFill>
                    <a:schemeClr val="tx1"/>
                  </a:solidFill>
                  <a:latin typeface="Courier New" pitchFamily="49" charset="0"/>
                  <a:sym typeface="Symbol" pitchFamily="18" charset="2"/>
                </a:rPr>
                <a:t>L0</a:t>
              </a:r>
            </a:p>
          </p:txBody>
        </p:sp>
        <p:sp>
          <p:nvSpPr>
            <p:cNvPr id="309263" name="Rectangle 15"/>
            <p:cNvSpPr>
              <a:spLocks noChangeArrowheads="1"/>
            </p:cNvSpPr>
            <p:nvPr/>
          </p:nvSpPr>
          <p:spPr bwMode="auto">
            <a:xfrm>
              <a:off x="4512" y="467"/>
              <a:ext cx="632" cy="205"/>
            </a:xfrm>
            <a:prstGeom prst="rect">
              <a:avLst/>
            </a:prstGeom>
            <a:noFill/>
            <a:ln w="12700">
              <a:noFill/>
              <a:miter lim="800000"/>
              <a:headEnd/>
              <a:tailEnd/>
            </a:ln>
            <a:effectLst/>
          </p:spPr>
          <p:txBody>
            <a:bodyPr wrap="none" lIns="63500" tIns="25400" rIns="63500" bIns="25400">
              <a:spAutoFit/>
            </a:bodyPr>
            <a:lstStyle/>
            <a:p>
              <a:r>
                <a:rPr lang="en-US" b="1">
                  <a:solidFill>
                    <a:schemeClr val="tx1"/>
                  </a:solidFill>
                </a:rPr>
                <a:t>Memory</a:t>
              </a:r>
            </a:p>
          </p:txBody>
        </p:sp>
      </p:grpSp>
    </p:spTree>
    <p:extLst>
      <p:ext uri="{BB962C8B-B14F-4D97-AF65-F5344CB8AC3E}">
        <p14:creationId xmlns:p14="http://schemas.microsoft.com/office/powerpoint/2010/main" val="21356488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en-US"/>
              <a:t>Compiling Another While Loop</a:t>
            </a:r>
          </a:p>
        </p:txBody>
      </p:sp>
      <p:sp>
        <p:nvSpPr>
          <p:cNvPr id="451587" name="Rectangle 3"/>
          <p:cNvSpPr>
            <a:spLocks noGrp="1" noChangeArrowheads="1"/>
          </p:cNvSpPr>
          <p:nvPr>
            <p:ph type="body" idx="1"/>
          </p:nvPr>
        </p:nvSpPr>
        <p:spPr>
          <a:xfrm>
            <a:off x="685800" y="838200"/>
            <a:ext cx="8077200" cy="2008755"/>
          </a:xfrm>
        </p:spPr>
        <p:txBody>
          <a:bodyPr/>
          <a:lstStyle/>
          <a:p>
            <a:r>
              <a:rPr lang="en-US" dirty="0"/>
              <a:t>Compile the assembly code for the C </a:t>
            </a:r>
            <a:r>
              <a:rPr lang="en-US" dirty="0">
                <a:latin typeface="Courier New" pitchFamily="49" charset="0"/>
              </a:rPr>
              <a:t>while</a:t>
            </a:r>
            <a:r>
              <a:rPr lang="en-US" dirty="0"/>
              <a:t> loop where </a:t>
            </a:r>
            <a:r>
              <a:rPr lang="en-US" dirty="0" err="1"/>
              <a:t>i</a:t>
            </a:r>
            <a:r>
              <a:rPr lang="en-US" dirty="0"/>
              <a:t> is in </a:t>
            </a:r>
            <a:r>
              <a:rPr lang="en-US" dirty="0">
                <a:latin typeface="Courier New" pitchFamily="49" charset="0"/>
              </a:rPr>
              <a:t>$</a:t>
            </a:r>
            <a:r>
              <a:rPr lang="en-US" dirty="0" smtClean="0">
                <a:latin typeface="Courier New" pitchFamily="49" charset="0"/>
              </a:rPr>
              <a:t>s0</a:t>
            </a:r>
            <a:r>
              <a:rPr lang="en-US" dirty="0" smtClean="0"/>
              <a:t>, </a:t>
            </a:r>
            <a:r>
              <a:rPr lang="en-US" dirty="0"/>
              <a:t>k is in </a:t>
            </a:r>
            <a:r>
              <a:rPr lang="en-US" dirty="0">
                <a:latin typeface="Courier New" pitchFamily="49" charset="0"/>
              </a:rPr>
              <a:t>$</a:t>
            </a:r>
            <a:r>
              <a:rPr lang="en-US" dirty="0" smtClean="0">
                <a:latin typeface="Courier New" pitchFamily="49" charset="0"/>
              </a:rPr>
              <a:t>s1</a:t>
            </a:r>
            <a:r>
              <a:rPr lang="en-US" dirty="0" smtClean="0"/>
              <a:t>, </a:t>
            </a:r>
            <a:r>
              <a:rPr lang="en-US" dirty="0"/>
              <a:t>and the base address of the array </a:t>
            </a:r>
            <a:r>
              <a:rPr lang="en-US" dirty="0">
                <a:latin typeface="Courier New" pitchFamily="49" charset="0"/>
              </a:rPr>
              <a:t>save</a:t>
            </a:r>
            <a:r>
              <a:rPr lang="en-US" dirty="0"/>
              <a:t> is in </a:t>
            </a:r>
            <a:r>
              <a:rPr lang="en-US" dirty="0">
                <a:latin typeface="Courier New" pitchFamily="49" charset="0"/>
              </a:rPr>
              <a:t>$</a:t>
            </a:r>
            <a:r>
              <a:rPr lang="en-US" dirty="0" smtClean="0">
                <a:latin typeface="Courier New" pitchFamily="49" charset="0"/>
              </a:rPr>
              <a:t>s2</a:t>
            </a:r>
            <a:endParaRPr lang="en-US" dirty="0">
              <a:latin typeface="Courier New" pitchFamily="49" charset="0"/>
            </a:endParaRPr>
          </a:p>
          <a:p>
            <a:pPr>
              <a:buFont typeface="Wingdings" pitchFamily="2" charset="2"/>
              <a:buNone/>
            </a:pPr>
            <a:r>
              <a:rPr lang="en-US" dirty="0"/>
              <a:t>	 	</a:t>
            </a:r>
            <a:r>
              <a:rPr lang="en-US" dirty="0">
                <a:latin typeface="Courier New" pitchFamily="49" charset="0"/>
              </a:rPr>
              <a:t>while (save[</a:t>
            </a:r>
            <a:r>
              <a:rPr lang="en-US" dirty="0" err="1">
                <a:latin typeface="Courier New" pitchFamily="49" charset="0"/>
              </a:rPr>
              <a:t>i</a:t>
            </a:r>
            <a:r>
              <a:rPr lang="en-US" dirty="0">
                <a:latin typeface="Courier New" pitchFamily="49" charset="0"/>
              </a:rPr>
              <a:t>] == k) </a:t>
            </a:r>
            <a:br>
              <a:rPr lang="en-US" dirty="0">
                <a:latin typeface="Courier New" pitchFamily="49" charset="0"/>
              </a:rPr>
            </a:br>
            <a:r>
              <a:rPr lang="en-US" dirty="0">
                <a:latin typeface="Courier New" pitchFamily="49" charset="0"/>
              </a:rPr>
              <a:t>		</a:t>
            </a:r>
            <a:r>
              <a:rPr lang="en-US" dirty="0" err="1">
                <a:latin typeface="Courier New" pitchFamily="49" charset="0"/>
              </a:rPr>
              <a:t>i</a:t>
            </a:r>
            <a:r>
              <a:rPr lang="en-US" dirty="0">
                <a:latin typeface="Courier New" pitchFamily="49" charset="0"/>
              </a:rPr>
              <a:t> += 1;					</a:t>
            </a:r>
          </a:p>
        </p:txBody>
      </p:sp>
    </p:spTree>
    <p:extLst>
      <p:ext uri="{BB962C8B-B14F-4D97-AF65-F5344CB8AC3E}">
        <p14:creationId xmlns:p14="http://schemas.microsoft.com/office/powerpoint/2010/main" val="2073810609"/>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r>
              <a:rPr lang="en-US"/>
              <a:t>Compiling Another While Loop</a:t>
            </a:r>
          </a:p>
        </p:txBody>
      </p:sp>
      <p:sp>
        <p:nvSpPr>
          <p:cNvPr id="453635" name="Rectangle 3"/>
          <p:cNvSpPr>
            <a:spLocks noGrp="1" noChangeArrowheads="1"/>
          </p:cNvSpPr>
          <p:nvPr>
            <p:ph type="body" idx="1"/>
          </p:nvPr>
        </p:nvSpPr>
        <p:spPr>
          <a:xfrm>
            <a:off x="685800" y="838200"/>
            <a:ext cx="8077200" cy="2008755"/>
          </a:xfrm>
        </p:spPr>
        <p:txBody>
          <a:bodyPr/>
          <a:lstStyle/>
          <a:p>
            <a:r>
              <a:rPr lang="en-US" dirty="0"/>
              <a:t>Compile the assembly code for the C </a:t>
            </a:r>
            <a:r>
              <a:rPr lang="en-US" dirty="0">
                <a:latin typeface="Courier New" pitchFamily="49" charset="0"/>
              </a:rPr>
              <a:t>while</a:t>
            </a:r>
            <a:r>
              <a:rPr lang="en-US" dirty="0"/>
              <a:t> loop where </a:t>
            </a:r>
            <a:r>
              <a:rPr lang="en-US" dirty="0" err="1"/>
              <a:t>i</a:t>
            </a:r>
            <a:r>
              <a:rPr lang="en-US" dirty="0"/>
              <a:t> is in </a:t>
            </a:r>
            <a:r>
              <a:rPr lang="en-US" dirty="0">
                <a:latin typeface="Courier New" pitchFamily="49" charset="0"/>
              </a:rPr>
              <a:t>$</a:t>
            </a:r>
            <a:r>
              <a:rPr lang="en-US" dirty="0" smtClean="0">
                <a:latin typeface="Courier New" pitchFamily="49" charset="0"/>
              </a:rPr>
              <a:t>s0</a:t>
            </a:r>
            <a:r>
              <a:rPr lang="en-US" dirty="0" smtClean="0"/>
              <a:t>, </a:t>
            </a:r>
            <a:r>
              <a:rPr lang="en-US" dirty="0"/>
              <a:t>k is in </a:t>
            </a:r>
            <a:r>
              <a:rPr lang="en-US" dirty="0">
                <a:latin typeface="Courier New" pitchFamily="49" charset="0"/>
              </a:rPr>
              <a:t>$</a:t>
            </a:r>
            <a:r>
              <a:rPr lang="en-US" dirty="0" smtClean="0">
                <a:latin typeface="Courier New" pitchFamily="49" charset="0"/>
              </a:rPr>
              <a:t>s1</a:t>
            </a:r>
            <a:r>
              <a:rPr lang="en-US" dirty="0" smtClean="0"/>
              <a:t>, </a:t>
            </a:r>
            <a:r>
              <a:rPr lang="en-US" dirty="0"/>
              <a:t>and the base address of the array </a:t>
            </a:r>
            <a:r>
              <a:rPr lang="en-US" dirty="0">
                <a:latin typeface="Courier New" pitchFamily="49" charset="0"/>
              </a:rPr>
              <a:t>save</a:t>
            </a:r>
            <a:r>
              <a:rPr lang="en-US" dirty="0"/>
              <a:t> is in </a:t>
            </a:r>
            <a:r>
              <a:rPr lang="en-US" dirty="0">
                <a:latin typeface="Courier New" pitchFamily="49" charset="0"/>
              </a:rPr>
              <a:t>$</a:t>
            </a:r>
            <a:r>
              <a:rPr lang="en-US" dirty="0" smtClean="0">
                <a:latin typeface="Courier New" pitchFamily="49" charset="0"/>
              </a:rPr>
              <a:t>s2</a:t>
            </a:r>
            <a:endParaRPr lang="en-US" dirty="0">
              <a:latin typeface="Courier New" pitchFamily="49" charset="0"/>
            </a:endParaRPr>
          </a:p>
          <a:p>
            <a:pPr>
              <a:buFont typeface="Wingdings" pitchFamily="2" charset="2"/>
              <a:buNone/>
            </a:pPr>
            <a:r>
              <a:rPr lang="en-US" dirty="0"/>
              <a:t>	 	</a:t>
            </a:r>
            <a:r>
              <a:rPr lang="en-US" dirty="0">
                <a:latin typeface="Courier New" pitchFamily="49" charset="0"/>
              </a:rPr>
              <a:t>while (save[</a:t>
            </a:r>
            <a:r>
              <a:rPr lang="en-US" dirty="0" err="1">
                <a:latin typeface="Courier New" pitchFamily="49" charset="0"/>
              </a:rPr>
              <a:t>i</a:t>
            </a:r>
            <a:r>
              <a:rPr lang="en-US" dirty="0">
                <a:latin typeface="Courier New" pitchFamily="49" charset="0"/>
              </a:rPr>
              <a:t>] == k) </a:t>
            </a:r>
            <a:br>
              <a:rPr lang="en-US" dirty="0">
                <a:latin typeface="Courier New" pitchFamily="49" charset="0"/>
              </a:rPr>
            </a:br>
            <a:r>
              <a:rPr lang="en-US" dirty="0">
                <a:latin typeface="Courier New" pitchFamily="49" charset="0"/>
              </a:rPr>
              <a:t>		</a:t>
            </a:r>
            <a:r>
              <a:rPr lang="en-US" dirty="0" err="1">
                <a:latin typeface="Courier New" pitchFamily="49" charset="0"/>
              </a:rPr>
              <a:t>i</a:t>
            </a:r>
            <a:r>
              <a:rPr lang="en-US" dirty="0">
                <a:latin typeface="Courier New" pitchFamily="49" charset="0"/>
              </a:rPr>
              <a:t> += 1;					</a:t>
            </a:r>
          </a:p>
        </p:txBody>
      </p:sp>
      <p:sp>
        <p:nvSpPr>
          <p:cNvPr id="453636" name="Rectangle 4"/>
          <p:cNvSpPr>
            <a:spLocks noChangeArrowheads="1"/>
          </p:cNvSpPr>
          <p:nvPr/>
        </p:nvSpPr>
        <p:spPr bwMode="auto">
          <a:xfrm>
            <a:off x="1219200" y="3581400"/>
            <a:ext cx="6477000" cy="2438400"/>
          </a:xfrm>
          <a:prstGeom prst="rect">
            <a:avLst/>
          </a:prstGeom>
          <a:noFill/>
          <a:ln w="12700">
            <a:noFill/>
            <a:miter lim="800000"/>
            <a:headEnd/>
            <a:tailEnd/>
          </a:ln>
          <a:effectLst/>
        </p:spPr>
        <p:txBody>
          <a:bodyPr lIns="90488" tIns="44450" rIns="90488" bIns="44450"/>
          <a:lstStyle/>
          <a:p>
            <a:pPr marL="342900" indent="-342900">
              <a:lnSpc>
                <a:spcPct val="90000"/>
              </a:lnSpc>
              <a:spcBef>
                <a:spcPct val="65000"/>
              </a:spcBef>
              <a:buClr>
                <a:schemeClr val="accent1"/>
              </a:buClr>
              <a:buSzPct val="75000"/>
              <a:buFont typeface="Wingdings" pitchFamily="2" charset="2"/>
              <a:buNone/>
            </a:pPr>
            <a:r>
              <a:rPr lang="en-US" sz="2400" dirty="0">
                <a:solidFill>
                  <a:schemeClr val="accent2"/>
                </a:solidFill>
                <a:latin typeface="Courier New" pitchFamily="49" charset="0"/>
              </a:rPr>
              <a:t>	Loop:	</a:t>
            </a:r>
            <a:r>
              <a:rPr lang="en-US" sz="2400" dirty="0" err="1">
                <a:solidFill>
                  <a:schemeClr val="accent2"/>
                </a:solidFill>
                <a:latin typeface="Courier New" pitchFamily="49" charset="0"/>
              </a:rPr>
              <a:t>sll</a:t>
            </a:r>
            <a:r>
              <a:rPr lang="en-US" sz="2400" dirty="0">
                <a:solidFill>
                  <a:schemeClr val="accent2"/>
                </a:solidFill>
                <a:latin typeface="Courier New" pitchFamily="49" charset="0"/>
              </a:rPr>
              <a:t>	$t1, $</a:t>
            </a:r>
            <a:r>
              <a:rPr lang="en-US" sz="2400" dirty="0" smtClean="0">
                <a:solidFill>
                  <a:schemeClr val="accent2"/>
                </a:solidFill>
                <a:latin typeface="Courier New" pitchFamily="49" charset="0"/>
              </a:rPr>
              <a:t>s0, 2  </a:t>
            </a:r>
            <a:r>
              <a:rPr lang="en-US" sz="2400" dirty="0">
                <a:solidFill>
                  <a:schemeClr val="accent2"/>
                </a:solidFill>
                <a:latin typeface="Courier New" pitchFamily="49" charset="0"/>
              </a:rPr>
              <a:t/>
            </a:r>
            <a:br>
              <a:rPr lang="en-US" sz="2400" dirty="0">
                <a:solidFill>
                  <a:schemeClr val="accent2"/>
                </a:solidFill>
                <a:latin typeface="Courier New" pitchFamily="49" charset="0"/>
              </a:rPr>
            </a:br>
            <a:r>
              <a:rPr lang="en-US" sz="2400" dirty="0">
                <a:solidFill>
                  <a:schemeClr val="accent2"/>
                </a:solidFill>
                <a:latin typeface="Courier New" pitchFamily="49" charset="0"/>
              </a:rPr>
              <a:t>		add	$t1, $t1, $</a:t>
            </a:r>
            <a:r>
              <a:rPr lang="en-US" sz="2400" dirty="0" smtClean="0">
                <a:solidFill>
                  <a:schemeClr val="accent2"/>
                </a:solidFill>
                <a:latin typeface="Courier New" pitchFamily="49" charset="0"/>
              </a:rPr>
              <a:t>s2</a:t>
            </a:r>
            <a:r>
              <a:rPr lang="en-US" sz="2400" dirty="0">
                <a:solidFill>
                  <a:schemeClr val="accent2"/>
                </a:solidFill>
                <a:latin typeface="Courier New" pitchFamily="49" charset="0"/>
              </a:rPr>
              <a:t>			</a:t>
            </a:r>
            <a:r>
              <a:rPr lang="en-US" sz="2400" dirty="0" err="1">
                <a:solidFill>
                  <a:schemeClr val="accent2"/>
                </a:solidFill>
                <a:latin typeface="Courier New" pitchFamily="49" charset="0"/>
              </a:rPr>
              <a:t>lw</a:t>
            </a:r>
            <a:r>
              <a:rPr lang="en-US" sz="2400" dirty="0">
                <a:solidFill>
                  <a:schemeClr val="accent2"/>
                </a:solidFill>
                <a:latin typeface="Courier New" pitchFamily="49" charset="0"/>
              </a:rPr>
              <a:t>	$t0, 0($t1)			</a:t>
            </a:r>
            <a:r>
              <a:rPr lang="en-US" sz="2400" dirty="0" err="1" smtClean="0">
                <a:solidFill>
                  <a:schemeClr val="accent2"/>
                </a:solidFill>
                <a:latin typeface="Courier New" pitchFamily="49" charset="0"/>
              </a:rPr>
              <a:t>bne</a:t>
            </a:r>
            <a:r>
              <a:rPr lang="en-US" sz="2400" dirty="0">
                <a:solidFill>
                  <a:schemeClr val="accent2"/>
                </a:solidFill>
                <a:latin typeface="Courier New" pitchFamily="49" charset="0"/>
              </a:rPr>
              <a:t>	$t0, $</a:t>
            </a:r>
            <a:r>
              <a:rPr lang="en-US" sz="2400" dirty="0" smtClean="0">
                <a:solidFill>
                  <a:schemeClr val="accent2"/>
                </a:solidFill>
                <a:latin typeface="Courier New" pitchFamily="49" charset="0"/>
              </a:rPr>
              <a:t>s1, </a:t>
            </a:r>
            <a:r>
              <a:rPr lang="en-US" sz="2400" dirty="0">
                <a:solidFill>
                  <a:schemeClr val="accent2"/>
                </a:solidFill>
                <a:latin typeface="Courier New" pitchFamily="49" charset="0"/>
              </a:rPr>
              <a:t>Exit			</a:t>
            </a:r>
            <a:r>
              <a:rPr lang="en-US" sz="2400" dirty="0" err="1">
                <a:solidFill>
                  <a:schemeClr val="accent2"/>
                </a:solidFill>
                <a:latin typeface="Courier New" pitchFamily="49" charset="0"/>
              </a:rPr>
              <a:t>addi</a:t>
            </a:r>
            <a:r>
              <a:rPr lang="en-US" sz="2400" dirty="0">
                <a:solidFill>
                  <a:schemeClr val="accent2"/>
                </a:solidFill>
                <a:latin typeface="Courier New" pitchFamily="49" charset="0"/>
              </a:rPr>
              <a:t>	$</a:t>
            </a:r>
            <a:r>
              <a:rPr lang="en-US" sz="2400" dirty="0" smtClean="0">
                <a:solidFill>
                  <a:schemeClr val="accent2"/>
                </a:solidFill>
                <a:latin typeface="Courier New" pitchFamily="49" charset="0"/>
              </a:rPr>
              <a:t>s0, </a:t>
            </a:r>
            <a:r>
              <a:rPr lang="en-US" sz="2400" dirty="0">
                <a:solidFill>
                  <a:schemeClr val="accent2"/>
                </a:solidFill>
                <a:latin typeface="Courier New" pitchFamily="49" charset="0"/>
              </a:rPr>
              <a:t>$</a:t>
            </a:r>
            <a:r>
              <a:rPr lang="en-US" sz="2400" dirty="0" smtClean="0">
                <a:solidFill>
                  <a:schemeClr val="accent2"/>
                </a:solidFill>
                <a:latin typeface="Courier New" pitchFamily="49" charset="0"/>
              </a:rPr>
              <a:t>s0, </a:t>
            </a:r>
            <a:r>
              <a:rPr lang="en-US" sz="2400" dirty="0">
                <a:solidFill>
                  <a:schemeClr val="accent2"/>
                </a:solidFill>
                <a:latin typeface="Courier New" pitchFamily="49" charset="0"/>
              </a:rPr>
              <a:t>1			j	Loop</a:t>
            </a:r>
            <a:br>
              <a:rPr lang="en-US" sz="2400" dirty="0">
                <a:solidFill>
                  <a:schemeClr val="accent2"/>
                </a:solidFill>
                <a:latin typeface="Courier New" pitchFamily="49" charset="0"/>
              </a:rPr>
            </a:br>
            <a:r>
              <a:rPr lang="en-US" sz="2400" dirty="0">
                <a:solidFill>
                  <a:schemeClr val="accent2"/>
                </a:solidFill>
                <a:latin typeface="Courier New" pitchFamily="49" charset="0"/>
              </a:rPr>
              <a:t>Exit:	. . .</a:t>
            </a:r>
          </a:p>
        </p:txBody>
      </p:sp>
    </p:spTree>
    <p:extLst>
      <p:ext uri="{BB962C8B-B14F-4D97-AF65-F5344CB8AC3E}">
        <p14:creationId xmlns:p14="http://schemas.microsoft.com/office/powerpoint/2010/main" val="18677194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3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r>
              <a:rPr lang="en-US"/>
              <a:t>Programming Styles</a:t>
            </a:r>
          </a:p>
        </p:txBody>
      </p:sp>
      <p:sp>
        <p:nvSpPr>
          <p:cNvPr id="376835" name="Rectangle 3"/>
          <p:cNvSpPr>
            <a:spLocks noGrp="1" noChangeArrowheads="1"/>
          </p:cNvSpPr>
          <p:nvPr>
            <p:ph type="body" idx="1"/>
          </p:nvPr>
        </p:nvSpPr>
        <p:spPr>
          <a:xfrm>
            <a:off x="685800" y="914400"/>
            <a:ext cx="7848600" cy="5470525"/>
          </a:xfrm>
        </p:spPr>
        <p:txBody>
          <a:bodyPr/>
          <a:lstStyle/>
          <a:p>
            <a:r>
              <a:rPr lang="en-US" dirty="0"/>
              <a:t>Procedures (subroutines, functions) allow the programmer to structure programs making them</a:t>
            </a:r>
          </a:p>
          <a:p>
            <a:pPr lvl="1"/>
            <a:r>
              <a:rPr lang="en-US" dirty="0"/>
              <a:t>easier to understand and debug and</a:t>
            </a:r>
          </a:p>
          <a:p>
            <a:pPr lvl="1"/>
            <a:r>
              <a:rPr lang="en-US" dirty="0"/>
              <a:t>allowing code to be reused</a:t>
            </a:r>
          </a:p>
          <a:p>
            <a:endParaRPr lang="en-US" dirty="0"/>
          </a:p>
          <a:p>
            <a:r>
              <a:rPr lang="en-US" dirty="0"/>
              <a:t>Procedures allow the programmer to concentrate on one portion of the code at a time</a:t>
            </a:r>
          </a:p>
          <a:p>
            <a:pPr lvl="1"/>
            <a:r>
              <a:rPr lang="en-US" dirty="0"/>
              <a:t>parameters act as </a:t>
            </a:r>
            <a:r>
              <a:rPr lang="en-US" dirty="0">
                <a:solidFill>
                  <a:schemeClr val="accent1"/>
                </a:solidFill>
              </a:rPr>
              <a:t>barriers</a:t>
            </a:r>
            <a:r>
              <a:rPr lang="en-US" dirty="0"/>
              <a:t> between the procedure and the rest of the program and data, allowing the procedure to be passed values (</a:t>
            </a:r>
            <a:r>
              <a:rPr lang="en-US" dirty="0">
                <a:solidFill>
                  <a:schemeClr val="accent1"/>
                </a:solidFill>
              </a:rPr>
              <a:t>arguments</a:t>
            </a:r>
            <a:r>
              <a:rPr lang="en-US" dirty="0"/>
              <a:t>) and to return values (</a:t>
            </a:r>
            <a:r>
              <a:rPr lang="en-US" dirty="0">
                <a:solidFill>
                  <a:schemeClr val="accent1"/>
                </a:solidFill>
              </a:rPr>
              <a:t>results</a:t>
            </a:r>
            <a:r>
              <a:rPr lang="en-US" dirty="0"/>
              <a:t>)</a:t>
            </a:r>
          </a:p>
        </p:txBody>
      </p:sp>
    </p:spTree>
    <p:extLst>
      <p:ext uri="{BB962C8B-B14F-4D97-AF65-F5344CB8AC3E}">
        <p14:creationId xmlns:p14="http://schemas.microsoft.com/office/powerpoint/2010/main" val="15963410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a:lstStyle/>
          <a:p>
            <a:r>
              <a:rPr lang="en-US"/>
              <a:t>Six Steps in Execution of a Procedure</a:t>
            </a:r>
          </a:p>
        </p:txBody>
      </p:sp>
      <p:sp>
        <p:nvSpPr>
          <p:cNvPr id="378883" name="Rectangle 3"/>
          <p:cNvSpPr>
            <a:spLocks noGrp="1" noChangeArrowheads="1"/>
          </p:cNvSpPr>
          <p:nvPr>
            <p:ph type="body" idx="1"/>
          </p:nvPr>
        </p:nvSpPr>
        <p:spPr>
          <a:xfrm>
            <a:off x="533400" y="883300"/>
            <a:ext cx="8229600" cy="4760278"/>
          </a:xfrm>
        </p:spPr>
        <p:txBody>
          <a:bodyPr/>
          <a:lstStyle/>
          <a:p>
            <a:pPr marL="533400" indent="-533400">
              <a:buFont typeface="Wingdings" pitchFamily="2" charset="2"/>
              <a:buAutoNum type="arabicPeriod"/>
            </a:pPr>
            <a:r>
              <a:rPr lang="en-US" dirty="0"/>
              <a:t>Main routine (</a:t>
            </a:r>
            <a:r>
              <a:rPr lang="en-US" dirty="0">
                <a:solidFill>
                  <a:srgbClr val="009900"/>
                </a:solidFill>
              </a:rPr>
              <a:t>caller</a:t>
            </a:r>
            <a:r>
              <a:rPr lang="en-US" dirty="0"/>
              <a:t>) places parameters in a place where the procedure (</a:t>
            </a:r>
            <a:r>
              <a:rPr lang="en-US" dirty="0" err="1">
                <a:solidFill>
                  <a:schemeClr val="accent2"/>
                </a:solidFill>
              </a:rPr>
              <a:t>callee</a:t>
            </a:r>
            <a:r>
              <a:rPr lang="en-US" dirty="0"/>
              <a:t>) can access them</a:t>
            </a:r>
          </a:p>
          <a:p>
            <a:pPr marL="952500" lvl="1" indent="-457200"/>
            <a:r>
              <a:rPr lang="en-US" dirty="0">
                <a:latin typeface="Courier New" pitchFamily="49" charset="0"/>
              </a:rPr>
              <a:t>$a0</a:t>
            </a:r>
            <a:r>
              <a:rPr lang="en-US" dirty="0"/>
              <a:t> - </a:t>
            </a:r>
            <a:r>
              <a:rPr lang="en-US" dirty="0">
                <a:latin typeface="Courier New" pitchFamily="49" charset="0"/>
              </a:rPr>
              <a:t>$a3</a:t>
            </a:r>
            <a:r>
              <a:rPr lang="en-US" dirty="0"/>
              <a:t>: four </a:t>
            </a:r>
            <a:r>
              <a:rPr lang="en-US" dirty="0">
                <a:solidFill>
                  <a:srgbClr val="009900"/>
                </a:solidFill>
              </a:rPr>
              <a:t>argument</a:t>
            </a:r>
            <a:r>
              <a:rPr lang="en-US" dirty="0"/>
              <a:t> registers</a:t>
            </a:r>
          </a:p>
          <a:p>
            <a:pPr marL="533400" indent="-533400">
              <a:buFont typeface="Wingdings" pitchFamily="2" charset="2"/>
              <a:buAutoNum type="arabicPeriod"/>
            </a:pPr>
            <a:r>
              <a:rPr lang="en-US" dirty="0">
                <a:solidFill>
                  <a:srgbClr val="009900"/>
                </a:solidFill>
              </a:rPr>
              <a:t>Caller</a:t>
            </a:r>
            <a:r>
              <a:rPr lang="en-US" dirty="0"/>
              <a:t> transfers control to the </a:t>
            </a:r>
            <a:r>
              <a:rPr lang="en-US" dirty="0" err="1">
                <a:solidFill>
                  <a:schemeClr val="accent2"/>
                </a:solidFill>
              </a:rPr>
              <a:t>callee</a:t>
            </a:r>
            <a:endParaRPr lang="en-US" dirty="0">
              <a:solidFill>
                <a:schemeClr val="accent2"/>
              </a:solidFill>
            </a:endParaRPr>
          </a:p>
          <a:p>
            <a:pPr marL="533400" indent="-533400">
              <a:buFont typeface="Wingdings" pitchFamily="2" charset="2"/>
              <a:buAutoNum type="arabicPeriod"/>
            </a:pPr>
            <a:r>
              <a:rPr lang="en-US" dirty="0" err="1">
                <a:solidFill>
                  <a:schemeClr val="accent2"/>
                </a:solidFill>
              </a:rPr>
              <a:t>Callee</a:t>
            </a:r>
            <a:r>
              <a:rPr lang="en-US" dirty="0"/>
              <a:t> acquires the storage resources needed</a:t>
            </a:r>
          </a:p>
          <a:p>
            <a:pPr marL="533400" indent="-533400">
              <a:buFont typeface="Wingdings" pitchFamily="2" charset="2"/>
              <a:buAutoNum type="arabicPeriod"/>
            </a:pPr>
            <a:r>
              <a:rPr lang="en-US" dirty="0" err="1">
                <a:solidFill>
                  <a:schemeClr val="accent2"/>
                </a:solidFill>
              </a:rPr>
              <a:t>Callee</a:t>
            </a:r>
            <a:r>
              <a:rPr lang="en-US" dirty="0"/>
              <a:t> performs the desired task</a:t>
            </a:r>
          </a:p>
          <a:p>
            <a:pPr marL="533400" indent="-533400">
              <a:buFont typeface="Wingdings" pitchFamily="2" charset="2"/>
              <a:buAutoNum type="arabicPeriod"/>
            </a:pPr>
            <a:r>
              <a:rPr lang="en-US" dirty="0" err="1">
                <a:solidFill>
                  <a:schemeClr val="accent2"/>
                </a:solidFill>
              </a:rPr>
              <a:t>Callee</a:t>
            </a:r>
            <a:r>
              <a:rPr lang="en-US" dirty="0"/>
              <a:t> places the result value in a place where the </a:t>
            </a:r>
            <a:r>
              <a:rPr lang="en-US" dirty="0">
                <a:solidFill>
                  <a:srgbClr val="009900"/>
                </a:solidFill>
              </a:rPr>
              <a:t>caller</a:t>
            </a:r>
            <a:r>
              <a:rPr lang="en-US" dirty="0"/>
              <a:t> can access it</a:t>
            </a:r>
          </a:p>
          <a:p>
            <a:pPr marL="952500" lvl="1" indent="-457200"/>
            <a:r>
              <a:rPr lang="en-US" dirty="0">
                <a:latin typeface="Courier New" pitchFamily="49" charset="0"/>
              </a:rPr>
              <a:t>$v0</a:t>
            </a:r>
            <a:r>
              <a:rPr lang="en-US" dirty="0"/>
              <a:t> - </a:t>
            </a:r>
            <a:r>
              <a:rPr lang="en-US" dirty="0">
                <a:latin typeface="Courier New" pitchFamily="49" charset="0"/>
              </a:rPr>
              <a:t>$v1</a:t>
            </a:r>
            <a:r>
              <a:rPr lang="en-US" dirty="0"/>
              <a:t>:  two </a:t>
            </a:r>
            <a:r>
              <a:rPr lang="en-US" dirty="0">
                <a:solidFill>
                  <a:srgbClr val="0000D0"/>
                </a:solidFill>
              </a:rPr>
              <a:t>value</a:t>
            </a:r>
            <a:r>
              <a:rPr lang="en-US" dirty="0"/>
              <a:t> registers for result values</a:t>
            </a:r>
          </a:p>
          <a:p>
            <a:pPr marL="533400" indent="-533400">
              <a:buFont typeface="Wingdings" pitchFamily="2" charset="2"/>
              <a:buAutoNum type="arabicPeriod"/>
            </a:pPr>
            <a:r>
              <a:rPr lang="en-US" dirty="0" err="1">
                <a:solidFill>
                  <a:schemeClr val="accent2"/>
                </a:solidFill>
              </a:rPr>
              <a:t>Callee</a:t>
            </a:r>
            <a:r>
              <a:rPr lang="en-US" dirty="0"/>
              <a:t> returns control to the </a:t>
            </a:r>
            <a:r>
              <a:rPr lang="en-US" dirty="0">
                <a:solidFill>
                  <a:srgbClr val="009900"/>
                </a:solidFill>
              </a:rPr>
              <a:t>caller</a:t>
            </a:r>
          </a:p>
          <a:p>
            <a:pPr marL="952500" lvl="1" indent="-457200"/>
            <a:r>
              <a:rPr lang="en-US" dirty="0">
                <a:latin typeface="Courier New" pitchFamily="49" charset="0"/>
              </a:rPr>
              <a:t>$</a:t>
            </a:r>
            <a:r>
              <a:rPr lang="en-US" dirty="0" err="1">
                <a:latin typeface="Courier New" pitchFamily="49" charset="0"/>
              </a:rPr>
              <a:t>ra</a:t>
            </a:r>
            <a:r>
              <a:rPr lang="en-US" dirty="0"/>
              <a:t>: one </a:t>
            </a:r>
            <a:r>
              <a:rPr lang="en-US" dirty="0">
                <a:solidFill>
                  <a:schemeClr val="accent1"/>
                </a:solidFill>
              </a:rPr>
              <a:t>return</a:t>
            </a:r>
            <a:r>
              <a:rPr lang="en-US" dirty="0"/>
              <a:t> </a:t>
            </a:r>
            <a:r>
              <a:rPr lang="en-US" dirty="0">
                <a:solidFill>
                  <a:schemeClr val="accent1"/>
                </a:solidFill>
              </a:rPr>
              <a:t>address</a:t>
            </a:r>
            <a:r>
              <a:rPr lang="en-US" dirty="0"/>
              <a:t> register to return to the point of origin</a:t>
            </a:r>
          </a:p>
        </p:txBody>
      </p:sp>
    </p:spTree>
    <p:extLst>
      <p:ext uri="{BB962C8B-B14F-4D97-AF65-F5344CB8AC3E}">
        <p14:creationId xmlns:p14="http://schemas.microsoft.com/office/powerpoint/2010/main" val="21423522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a:xfrm>
            <a:off x="685800" y="304801"/>
            <a:ext cx="7815290" cy="409556"/>
          </a:xfrm>
        </p:spPr>
        <p:txBody>
          <a:bodyPr/>
          <a:lstStyle/>
          <a:p>
            <a:r>
              <a:rPr lang="en-US" dirty="0" smtClean="0"/>
              <a:t>Review:  MIPS </a:t>
            </a:r>
            <a:r>
              <a:rPr lang="en-US" dirty="0"/>
              <a:t>Register </a:t>
            </a:r>
            <a:r>
              <a:rPr lang="en-US" dirty="0" smtClean="0"/>
              <a:t>Naming Convention</a:t>
            </a:r>
            <a:endParaRPr lang="en-US" dirty="0"/>
          </a:p>
        </p:txBody>
      </p:sp>
      <p:graphicFrame>
        <p:nvGraphicFramePr>
          <p:cNvPr id="747611" name="Group 91"/>
          <p:cNvGraphicFramePr>
            <a:graphicFrameLocks noGrp="1"/>
          </p:cNvGraphicFramePr>
          <p:nvPr>
            <p:ph type="tbl" idx="1"/>
          </p:nvPr>
        </p:nvGraphicFramePr>
        <p:xfrm>
          <a:off x="685800" y="785794"/>
          <a:ext cx="7848600" cy="5439156"/>
        </p:xfrm>
        <a:graphic>
          <a:graphicData uri="http://schemas.openxmlformats.org/drawingml/2006/table">
            <a:tbl>
              <a:tblPr/>
              <a:tblGrid>
                <a:gridCol w="1524000"/>
                <a:gridCol w="1447800"/>
                <a:gridCol w="3352800"/>
                <a:gridCol w="1524000"/>
              </a:tblGrid>
              <a:tr h="217488">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1" i="0" u="none" strike="noStrike" cap="none" normalizeH="0" baseline="0" dirty="0" smtClean="0">
                          <a:ln>
                            <a:noFill/>
                          </a:ln>
                          <a:solidFill>
                            <a:schemeClr val="tx1"/>
                          </a:solidFill>
                          <a:effectLst/>
                          <a:latin typeface="Arial" charset="0"/>
                        </a:rPr>
                        <a:t>Nick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1" i="0" u="none" strike="noStrike" cap="none" normalizeH="0" baseline="0" smtClean="0">
                          <a:ln>
                            <a:noFill/>
                          </a:ln>
                          <a:solidFill>
                            <a:schemeClr val="tx1"/>
                          </a:solidFill>
                          <a:effectLst/>
                          <a:latin typeface="Arial" charset="0"/>
                        </a:rPr>
                        <a:t>Register Number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1" i="0" u="none" strike="noStrike" cap="none" normalizeH="0" baseline="0" smtClean="0">
                          <a:ln>
                            <a:noFill/>
                          </a:ln>
                          <a:solidFill>
                            <a:schemeClr val="tx1"/>
                          </a:solidFill>
                          <a:effectLst/>
                          <a:latin typeface="Arial" charset="0"/>
                        </a:rPr>
                        <a:t>Usage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1" i="0" u="none" strike="noStrike" cap="none" normalizeH="0" baseline="0" smtClean="0">
                          <a:ln>
                            <a:noFill/>
                          </a:ln>
                          <a:solidFill>
                            <a:schemeClr val="tx1"/>
                          </a:solidFill>
                          <a:effectLst/>
                          <a:latin typeface="Arial" charset="0"/>
                        </a:rPr>
                        <a:t>Preserve on call?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19100">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FF0000"/>
                          </a:solidFill>
                          <a:effectLst/>
                          <a:latin typeface="Arial" charset="0"/>
                        </a:rPr>
                        <a:t>$zero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constant 0 (</a:t>
                      </a:r>
                      <a:r>
                        <a:rPr kumimoji="0" lang="en-US" sz="2200" b="0" i="0" u="none" strike="noStrike" cap="none" normalizeH="0" baseline="0" dirty="0" smtClean="0">
                          <a:ln>
                            <a:noFill/>
                          </a:ln>
                          <a:solidFill>
                            <a:srgbClr val="FF0000"/>
                          </a:solidFill>
                          <a:effectLst/>
                          <a:latin typeface="Arial" charset="0"/>
                        </a:rPr>
                        <a:t>hardware</a:t>
                      </a:r>
                      <a:r>
                        <a:rPr kumimoji="0" lang="en-US" sz="2200" b="0" i="0" u="none" strike="noStrike" cap="none" normalizeH="0" baseline="0" dirty="0" smtClean="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n.a.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FF0000"/>
                          </a:solidFill>
                          <a:effectLst/>
                          <a:latin typeface="Arial" charset="0"/>
                        </a:rPr>
                        <a:t>$at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FF0000"/>
                          </a:solidFill>
                          <a:effectLst/>
                          <a:latin typeface="Arial" charset="0"/>
                        </a:rPr>
                        <a:t>reserved</a:t>
                      </a:r>
                      <a:r>
                        <a:rPr kumimoji="0" lang="en-US" sz="2200" b="0" i="0" u="none" strike="noStrike" cap="none" normalizeH="0" baseline="0" dirty="0" smtClean="0">
                          <a:ln>
                            <a:noFill/>
                          </a:ln>
                          <a:solidFill>
                            <a:schemeClr val="tx1"/>
                          </a:solidFill>
                          <a:effectLst/>
                          <a:latin typeface="Arial" charset="0"/>
                        </a:rPr>
                        <a:t> for assembler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n.a.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rgbClr val="0000D0"/>
                          </a:solidFill>
                          <a:effectLst/>
                          <a:latin typeface="Arial" charset="0"/>
                        </a:rPr>
                        <a:t>$v0 - $v1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rgbClr val="0000D0"/>
                          </a:solidFill>
                          <a:effectLst/>
                          <a:latin typeface="Arial"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0000D0"/>
                          </a:solidFill>
                          <a:effectLst/>
                          <a:latin typeface="Arial" charset="0"/>
                        </a:rPr>
                        <a:t>returned values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rgbClr val="009900"/>
                          </a:solidFill>
                          <a:effectLst/>
                          <a:latin typeface="Arial" charset="0"/>
                        </a:rPr>
                        <a:t>$a0 - $a3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rgbClr val="009900"/>
                          </a:solidFill>
                          <a:effectLst/>
                          <a:latin typeface="Arial"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009900"/>
                          </a:solidFill>
                          <a:effectLst/>
                          <a:latin typeface="Arial" charset="0"/>
                        </a:rPr>
                        <a:t>arguments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$t0 - $t7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8-15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temporaries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9075">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$s0 - $s7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16-23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saved values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accent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$t8 - $t9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24-25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temporaries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FF0000"/>
                          </a:solidFill>
                          <a:effectLst/>
                          <a:latin typeface="Arial" charset="0"/>
                        </a:rPr>
                        <a:t>$k0 - $k1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26-27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FF0000"/>
                          </a:solidFill>
                          <a:effectLst/>
                          <a:latin typeface="Arial" charset="0"/>
                        </a:rPr>
                        <a:t>reserved</a:t>
                      </a:r>
                      <a:r>
                        <a:rPr kumimoji="0" lang="en-US" sz="2200" b="0" i="0" u="none" strike="noStrike" cap="none" normalizeH="0" baseline="0" dirty="0" smtClean="0">
                          <a:ln>
                            <a:noFill/>
                          </a:ln>
                          <a:solidFill>
                            <a:schemeClr val="tx1"/>
                          </a:solidFill>
                          <a:effectLst/>
                          <a:latin typeface="Arial" charset="0"/>
                        </a:rPr>
                        <a:t> for OS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err="1" smtClean="0">
                          <a:ln>
                            <a:noFill/>
                          </a:ln>
                          <a:solidFill>
                            <a:schemeClr val="tx1"/>
                          </a:solidFill>
                          <a:effectLst/>
                          <a:latin typeface="Arial" charset="0"/>
                        </a:rPr>
                        <a:t>n.a</a:t>
                      </a:r>
                      <a:r>
                        <a:rPr kumimoji="0" lang="en-US" sz="2200" b="0" i="0" u="none" strike="noStrike" cap="none" normalizeH="0" baseline="0" dirty="0" smtClean="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$gp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global pointer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accent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$sp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stack pointer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accent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$fp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frame pointer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accent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748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rgbClr val="FF0000"/>
                          </a:solidFill>
                          <a:effectLst/>
                          <a:latin typeface="Arial" charset="0"/>
                        </a:rPr>
                        <a:t>$</a:t>
                      </a:r>
                      <a:r>
                        <a:rPr kumimoji="0" lang="en-US" sz="2200" b="0" i="0" u="none" strike="noStrike" cap="none" normalizeH="0" baseline="0" dirty="0" err="1" smtClean="0">
                          <a:ln>
                            <a:noFill/>
                          </a:ln>
                          <a:solidFill>
                            <a:srgbClr val="FF0000"/>
                          </a:solidFill>
                          <a:effectLst/>
                          <a:latin typeface="Arial" charset="0"/>
                        </a:rPr>
                        <a:t>ra</a:t>
                      </a:r>
                      <a:endParaRPr kumimoji="0" lang="en-US" sz="2200" b="0" i="0" u="none" strike="noStrike" cap="none" normalizeH="0" baseline="0" dirty="0" smtClean="0">
                        <a:ln>
                          <a:noFill/>
                        </a:ln>
                        <a:solidFill>
                          <a:srgbClr val="FF0000"/>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tx1"/>
                          </a:solidFill>
                          <a:effectLst/>
                          <a:latin typeface="Arial" charset="0"/>
                        </a:rPr>
                        <a:t>return </a:t>
                      </a:r>
                      <a:r>
                        <a:rPr kumimoji="0" lang="en-US" sz="2200" b="0" i="0" u="none" strike="noStrike" cap="none" normalizeH="0" baseline="0" dirty="0" err="1" smtClean="0">
                          <a:ln>
                            <a:noFill/>
                          </a:ln>
                          <a:solidFill>
                            <a:schemeClr val="tx1"/>
                          </a:solidFill>
                          <a:effectLst/>
                          <a:latin typeface="Arial" charset="0"/>
                        </a:rPr>
                        <a:t>addr</a:t>
                      </a:r>
                      <a:r>
                        <a:rPr kumimoji="0" lang="en-US" sz="2200" b="0" i="0" u="none" strike="noStrike" cap="none" normalizeH="0" baseline="0" dirty="0" smtClean="0">
                          <a:ln>
                            <a:noFill/>
                          </a:ln>
                          <a:solidFill>
                            <a:schemeClr val="tx1"/>
                          </a:solidFill>
                          <a:effectLst/>
                          <a:latin typeface="Arial" charset="0"/>
                        </a:rPr>
                        <a:t> (</a:t>
                      </a:r>
                      <a:r>
                        <a:rPr kumimoji="0" lang="en-US" sz="2200" b="0" i="0" u="none" strike="noStrike" cap="none" normalizeH="0" baseline="0" dirty="0" smtClean="0">
                          <a:ln>
                            <a:noFill/>
                          </a:ln>
                          <a:solidFill>
                            <a:srgbClr val="FF0000"/>
                          </a:solidFill>
                          <a:effectLst/>
                          <a:latin typeface="Arial" charset="0"/>
                        </a:rPr>
                        <a:t>hardware</a:t>
                      </a:r>
                      <a:r>
                        <a:rPr kumimoji="0" lang="en-US" sz="2200" b="0" i="0" u="none" strike="noStrike" cap="none" normalizeH="0" baseline="0" dirty="0" smtClean="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itchFamily="2" charset="2"/>
                        <a:buNone/>
                        <a:tabLst/>
                      </a:pPr>
                      <a:r>
                        <a:rPr kumimoji="0" lang="en-US" sz="2200" b="0" i="0" u="none" strike="noStrike" cap="none" normalizeH="0" baseline="0" dirty="0" smtClean="0">
                          <a:ln>
                            <a:noFill/>
                          </a:ln>
                          <a:solidFill>
                            <a:schemeClr val="accent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8037426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ChangeArrowheads="1"/>
          </p:cNvSpPr>
          <p:nvPr/>
        </p:nvSpPr>
        <p:spPr bwMode="auto">
          <a:xfrm>
            <a:off x="225425" y="312738"/>
            <a:ext cx="1190625" cy="477837"/>
          </a:xfrm>
          <a:prstGeom prst="rect">
            <a:avLst/>
          </a:prstGeom>
          <a:noFill/>
          <a:ln w="12700">
            <a:noFill/>
            <a:miter lim="800000"/>
            <a:headEnd/>
            <a:tailEnd/>
          </a:ln>
          <a:effectLst/>
        </p:spPr>
        <p:txBody>
          <a:bodyPr wrap="none" anchor="ctr"/>
          <a:lstStyle/>
          <a:p>
            <a:endParaRPr lang="en-US"/>
          </a:p>
        </p:txBody>
      </p:sp>
      <p:sp>
        <p:nvSpPr>
          <p:cNvPr id="379907" name="Rectangle 3"/>
          <p:cNvSpPr>
            <a:spLocks noGrp="1" noChangeArrowheads="1"/>
          </p:cNvSpPr>
          <p:nvPr>
            <p:ph type="body" idx="1"/>
          </p:nvPr>
        </p:nvSpPr>
        <p:spPr>
          <a:xfrm>
            <a:off x="533400" y="762000"/>
            <a:ext cx="8382000" cy="5297348"/>
          </a:xfrm>
          <a:noFill/>
          <a:ln/>
        </p:spPr>
        <p:txBody>
          <a:bodyPr lIns="90488" tIns="44450" rIns="90488" bIns="44450"/>
          <a:lstStyle/>
          <a:p>
            <a:pPr marL="342900" indent="-342900"/>
            <a:r>
              <a:rPr lang="en-US" dirty="0"/>
              <a:t>MIPS </a:t>
            </a:r>
            <a:r>
              <a:rPr lang="en-US" dirty="0">
                <a:solidFill>
                  <a:schemeClr val="accent1"/>
                </a:solidFill>
              </a:rPr>
              <a:t>procedure call</a:t>
            </a:r>
            <a:r>
              <a:rPr lang="en-US" dirty="0"/>
              <a:t> instruction:</a:t>
            </a:r>
            <a:br>
              <a:rPr lang="en-US" dirty="0"/>
            </a:br>
            <a:r>
              <a:rPr lang="en-US" dirty="0"/>
              <a:t/>
            </a:r>
            <a:br>
              <a:rPr lang="en-US" dirty="0"/>
            </a:br>
            <a:r>
              <a:rPr lang="en-US" dirty="0"/>
              <a:t>	</a:t>
            </a:r>
            <a:r>
              <a:rPr lang="en-US" dirty="0" err="1">
                <a:latin typeface="Courier New" pitchFamily="49" charset="0"/>
              </a:rPr>
              <a:t>jal</a:t>
            </a:r>
            <a:r>
              <a:rPr lang="en-US" dirty="0">
                <a:latin typeface="Courier New" pitchFamily="49" charset="0"/>
              </a:rPr>
              <a:t>	</a:t>
            </a:r>
            <a:r>
              <a:rPr lang="en-US" dirty="0" err="1">
                <a:latin typeface="Courier New" pitchFamily="49" charset="0"/>
              </a:rPr>
              <a:t>ProcAddress</a:t>
            </a:r>
            <a:r>
              <a:rPr lang="en-US" dirty="0">
                <a:latin typeface="Courier New" pitchFamily="49" charset="0"/>
              </a:rPr>
              <a:t>	#jump and link</a:t>
            </a:r>
            <a:endParaRPr lang="en-US" dirty="0"/>
          </a:p>
          <a:p>
            <a:pPr marL="342900" indent="-342900"/>
            <a:r>
              <a:rPr lang="en-US" dirty="0"/>
              <a:t>Saves PC+4 in register </a:t>
            </a:r>
            <a:r>
              <a:rPr lang="en-US" dirty="0">
                <a:latin typeface="Courier New" pitchFamily="49" charset="0"/>
              </a:rPr>
              <a:t>$</a:t>
            </a:r>
            <a:r>
              <a:rPr lang="en-US" dirty="0" err="1">
                <a:latin typeface="Courier New" pitchFamily="49" charset="0"/>
              </a:rPr>
              <a:t>ra</a:t>
            </a:r>
            <a:r>
              <a:rPr lang="en-US" dirty="0"/>
              <a:t> as the link to the following instruction to set up the procedure </a:t>
            </a:r>
            <a:r>
              <a:rPr lang="en-US" dirty="0" smtClean="0"/>
              <a:t>return and then performs the jump operation</a:t>
            </a:r>
            <a:endParaRPr lang="en-US" dirty="0"/>
          </a:p>
          <a:p>
            <a:pPr marL="342900" indent="-342900"/>
            <a:r>
              <a:rPr lang="en-US" dirty="0"/>
              <a:t>Machine </a:t>
            </a:r>
            <a:r>
              <a:rPr lang="en-US" dirty="0" smtClean="0"/>
              <a:t>format (</a:t>
            </a:r>
            <a:r>
              <a:rPr lang="en-US" dirty="0" smtClean="0">
                <a:solidFill>
                  <a:srgbClr val="FF0000"/>
                </a:solidFill>
              </a:rPr>
              <a:t>J</a:t>
            </a:r>
            <a:r>
              <a:rPr lang="en-US" dirty="0" smtClean="0"/>
              <a:t> format):</a:t>
            </a:r>
            <a:endParaRPr lang="en-US" dirty="0"/>
          </a:p>
          <a:p>
            <a:pPr marL="342900" indent="-342900"/>
            <a:endParaRPr lang="en-US" dirty="0"/>
          </a:p>
          <a:p>
            <a:pPr marL="342900" indent="-342900"/>
            <a:endParaRPr lang="en-US" dirty="0"/>
          </a:p>
          <a:p>
            <a:pPr marL="342900" indent="-342900"/>
            <a:endParaRPr lang="en-US" dirty="0"/>
          </a:p>
          <a:p>
            <a:pPr marL="342900" indent="-342900"/>
            <a:r>
              <a:rPr lang="en-US" dirty="0"/>
              <a:t>Then can do procedure </a:t>
            </a:r>
            <a:r>
              <a:rPr lang="en-US" dirty="0">
                <a:solidFill>
                  <a:schemeClr val="accent1"/>
                </a:solidFill>
              </a:rPr>
              <a:t>return</a:t>
            </a:r>
            <a:r>
              <a:rPr lang="en-US" dirty="0"/>
              <a:t> with just</a:t>
            </a:r>
          </a:p>
          <a:p>
            <a:pPr marL="342900" indent="-342900">
              <a:buFont typeface="Wingdings" pitchFamily="2" charset="2"/>
              <a:buNone/>
            </a:pPr>
            <a:r>
              <a:rPr lang="en-US" dirty="0"/>
              <a:t>		</a:t>
            </a:r>
            <a:r>
              <a:rPr lang="en-US" dirty="0" err="1">
                <a:latin typeface="Courier New" pitchFamily="49" charset="0"/>
              </a:rPr>
              <a:t>jr</a:t>
            </a:r>
            <a:r>
              <a:rPr lang="en-US" dirty="0">
                <a:latin typeface="Courier New" pitchFamily="49" charset="0"/>
              </a:rPr>
              <a:t>	$</a:t>
            </a:r>
            <a:r>
              <a:rPr lang="en-US" dirty="0" err="1">
                <a:latin typeface="Courier New" pitchFamily="49" charset="0"/>
              </a:rPr>
              <a:t>ra</a:t>
            </a:r>
            <a:r>
              <a:rPr lang="en-US" dirty="0">
                <a:latin typeface="Courier New" pitchFamily="49" charset="0"/>
              </a:rPr>
              <a:t>			#return</a:t>
            </a:r>
          </a:p>
        </p:txBody>
      </p:sp>
      <p:sp>
        <p:nvSpPr>
          <p:cNvPr id="379908" name="Rectangle 4"/>
          <p:cNvSpPr>
            <a:spLocks noGrp="1" noChangeArrowheads="1"/>
          </p:cNvSpPr>
          <p:nvPr>
            <p:ph type="title"/>
          </p:nvPr>
        </p:nvSpPr>
        <p:spPr>
          <a:noFill/>
          <a:ln/>
        </p:spPr>
        <p:txBody>
          <a:bodyPr lIns="90488" tIns="44450" rIns="90488" bIns="44450" anchor="ctr"/>
          <a:lstStyle/>
          <a:p>
            <a:r>
              <a:rPr lang="en-US"/>
              <a:t>Instruction for Calling a Procedure</a:t>
            </a:r>
          </a:p>
        </p:txBody>
      </p:sp>
      <p:sp>
        <p:nvSpPr>
          <p:cNvPr id="379909" name="Rectangle 5"/>
          <p:cNvSpPr>
            <a:spLocks noChangeArrowheads="1"/>
          </p:cNvSpPr>
          <p:nvPr/>
        </p:nvSpPr>
        <p:spPr bwMode="auto">
          <a:xfrm>
            <a:off x="1371600" y="3726428"/>
            <a:ext cx="5791200" cy="292100"/>
          </a:xfrm>
          <a:prstGeom prst="rect">
            <a:avLst/>
          </a:prstGeom>
          <a:noFill/>
          <a:ln w="12700">
            <a:solidFill>
              <a:schemeClr val="tx1"/>
            </a:solidFill>
            <a:miter lim="800000"/>
            <a:headEnd/>
            <a:tailEnd/>
          </a:ln>
          <a:effectLst/>
        </p:spPr>
        <p:txBody>
          <a:bodyPr wrap="none" anchor="ctr"/>
          <a:lstStyle/>
          <a:p>
            <a:endParaRPr lang="en-US"/>
          </a:p>
        </p:txBody>
      </p:sp>
      <p:sp>
        <p:nvSpPr>
          <p:cNvPr id="379910" name="Line 6"/>
          <p:cNvSpPr>
            <a:spLocks noChangeShapeType="1"/>
          </p:cNvSpPr>
          <p:nvPr/>
        </p:nvSpPr>
        <p:spPr bwMode="auto">
          <a:xfrm>
            <a:off x="2438400" y="3726428"/>
            <a:ext cx="0" cy="290512"/>
          </a:xfrm>
          <a:prstGeom prst="line">
            <a:avLst/>
          </a:prstGeom>
          <a:noFill/>
          <a:ln w="12700">
            <a:solidFill>
              <a:schemeClr val="tx1"/>
            </a:solidFill>
            <a:round/>
            <a:headEnd/>
            <a:tailEnd/>
          </a:ln>
          <a:effectLst/>
        </p:spPr>
        <p:txBody>
          <a:bodyPr/>
          <a:lstStyle/>
          <a:p>
            <a:endParaRPr lang="en-US"/>
          </a:p>
        </p:txBody>
      </p:sp>
      <p:sp>
        <p:nvSpPr>
          <p:cNvPr id="379911" name="Text Box 7"/>
          <p:cNvSpPr txBox="1">
            <a:spLocks noChangeArrowheads="1"/>
          </p:cNvSpPr>
          <p:nvPr/>
        </p:nvSpPr>
        <p:spPr bwMode="auto">
          <a:xfrm>
            <a:off x="1676400" y="3726428"/>
            <a:ext cx="3493264" cy="369332"/>
          </a:xfrm>
          <a:prstGeom prst="rect">
            <a:avLst/>
          </a:prstGeom>
          <a:noFill/>
          <a:ln w="12700">
            <a:noFill/>
            <a:miter lim="800000"/>
            <a:headEnd/>
            <a:tailEnd/>
          </a:ln>
          <a:effectLst/>
        </p:spPr>
        <p:txBody>
          <a:bodyPr wrap="none">
            <a:spAutoFit/>
          </a:bodyPr>
          <a:lstStyle/>
          <a:p>
            <a:r>
              <a:rPr lang="en-US" dirty="0">
                <a:solidFill>
                  <a:schemeClr val="tx1"/>
                </a:solidFill>
              </a:rPr>
              <a:t>op                     </a:t>
            </a:r>
            <a:r>
              <a:rPr lang="en-US" dirty="0" smtClean="0">
                <a:solidFill>
                  <a:schemeClr val="tx1"/>
                </a:solidFill>
              </a:rPr>
              <a:t>    </a:t>
            </a:r>
            <a:r>
              <a:rPr lang="en-US" dirty="0">
                <a:solidFill>
                  <a:schemeClr val="tx1"/>
                </a:solidFill>
              </a:rPr>
              <a:t>26 bit address</a:t>
            </a:r>
          </a:p>
        </p:txBody>
      </p:sp>
      <p:sp>
        <p:nvSpPr>
          <p:cNvPr id="379913" name="AutoShape 9"/>
          <p:cNvSpPr>
            <a:spLocks noChangeArrowheads="1"/>
          </p:cNvSpPr>
          <p:nvPr/>
        </p:nvSpPr>
        <p:spPr bwMode="auto">
          <a:xfrm>
            <a:off x="4114800" y="4183628"/>
            <a:ext cx="381000" cy="152400"/>
          </a:xfrm>
          <a:prstGeom prst="downArrow">
            <a:avLst>
              <a:gd name="adj1" fmla="val 50000"/>
              <a:gd name="adj2" fmla="val 25000"/>
            </a:avLst>
          </a:prstGeom>
          <a:noFill/>
          <a:ln w="12700">
            <a:solidFill>
              <a:schemeClr val="tx1"/>
            </a:solidFill>
            <a:miter lim="800000"/>
            <a:headEnd/>
            <a:tailEnd/>
          </a:ln>
          <a:effectLst/>
        </p:spPr>
        <p:txBody>
          <a:bodyPr wrap="none" anchor="ctr"/>
          <a:lstStyle/>
          <a:p>
            <a:endParaRPr lang="en-US"/>
          </a:p>
        </p:txBody>
      </p:sp>
      <p:sp>
        <p:nvSpPr>
          <p:cNvPr id="379914" name="Rectangle 10"/>
          <p:cNvSpPr>
            <a:spLocks noChangeArrowheads="1"/>
          </p:cNvSpPr>
          <p:nvPr/>
        </p:nvSpPr>
        <p:spPr bwMode="auto">
          <a:xfrm>
            <a:off x="1371600" y="4488428"/>
            <a:ext cx="5791200" cy="292100"/>
          </a:xfrm>
          <a:prstGeom prst="rect">
            <a:avLst/>
          </a:prstGeom>
          <a:noFill/>
          <a:ln w="12700">
            <a:solidFill>
              <a:schemeClr val="tx1"/>
            </a:solidFill>
            <a:miter lim="800000"/>
            <a:headEnd/>
            <a:tailEnd/>
          </a:ln>
          <a:effectLst/>
        </p:spPr>
        <p:txBody>
          <a:bodyPr wrap="none" anchor="ctr"/>
          <a:lstStyle/>
          <a:p>
            <a:endParaRPr lang="en-US"/>
          </a:p>
        </p:txBody>
      </p:sp>
      <p:sp>
        <p:nvSpPr>
          <p:cNvPr id="379915" name="Line 11"/>
          <p:cNvSpPr>
            <a:spLocks noChangeShapeType="1"/>
          </p:cNvSpPr>
          <p:nvPr/>
        </p:nvSpPr>
        <p:spPr bwMode="auto">
          <a:xfrm>
            <a:off x="2438400" y="4488428"/>
            <a:ext cx="0" cy="290512"/>
          </a:xfrm>
          <a:prstGeom prst="line">
            <a:avLst/>
          </a:prstGeom>
          <a:noFill/>
          <a:ln w="12700">
            <a:solidFill>
              <a:schemeClr val="tx1"/>
            </a:solidFill>
            <a:round/>
            <a:headEnd/>
            <a:tailEnd/>
          </a:ln>
          <a:effectLst/>
        </p:spPr>
        <p:txBody>
          <a:bodyPr/>
          <a:lstStyle/>
          <a:p>
            <a:endParaRPr lang="en-US"/>
          </a:p>
        </p:txBody>
      </p:sp>
      <p:sp>
        <p:nvSpPr>
          <p:cNvPr id="379916" name="Text Box 12"/>
          <p:cNvSpPr txBox="1">
            <a:spLocks noChangeArrowheads="1"/>
          </p:cNvSpPr>
          <p:nvPr/>
        </p:nvSpPr>
        <p:spPr bwMode="auto">
          <a:xfrm>
            <a:off x="1571604" y="4488428"/>
            <a:ext cx="3185487" cy="369332"/>
          </a:xfrm>
          <a:prstGeom prst="rect">
            <a:avLst/>
          </a:prstGeom>
          <a:noFill/>
          <a:ln w="12700">
            <a:noFill/>
            <a:miter lim="800000"/>
            <a:headEnd/>
            <a:tailEnd/>
          </a:ln>
          <a:effectLst/>
        </p:spPr>
        <p:txBody>
          <a:bodyPr wrap="none">
            <a:spAutoFit/>
          </a:bodyPr>
          <a:lstStyle/>
          <a:p>
            <a:r>
              <a:rPr lang="en-US" dirty="0" smtClean="0">
                <a:solidFill>
                  <a:schemeClr val="tx1"/>
                </a:solidFill>
              </a:rPr>
              <a:t>0x03                               </a:t>
            </a:r>
            <a:r>
              <a:rPr lang="en-US" dirty="0">
                <a:solidFill>
                  <a:schemeClr val="tx1"/>
                </a:solidFill>
              </a:rPr>
              <a:t>????</a:t>
            </a:r>
          </a:p>
        </p:txBody>
      </p:sp>
    </p:spTree>
    <p:extLst>
      <p:ext uri="{BB962C8B-B14F-4D97-AF65-F5344CB8AC3E}">
        <p14:creationId xmlns:p14="http://schemas.microsoft.com/office/powerpoint/2010/main" val="1623960866"/>
      </p:ext>
    </p:extLst>
  </p:cSld>
  <p:clrMapOvr>
    <a:masterClrMapping/>
  </p:clrMapOvr>
  <p:transition advTm="2000"/>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r>
              <a:rPr lang="en-US"/>
              <a:t>Basic Procedure Flow</a:t>
            </a:r>
          </a:p>
        </p:txBody>
      </p:sp>
      <p:sp>
        <p:nvSpPr>
          <p:cNvPr id="422915" name="Rectangle 3"/>
          <p:cNvSpPr>
            <a:spLocks noGrp="1" noChangeArrowheads="1"/>
          </p:cNvSpPr>
          <p:nvPr>
            <p:ph type="body" idx="1"/>
          </p:nvPr>
        </p:nvSpPr>
        <p:spPr>
          <a:xfrm>
            <a:off x="609600" y="838200"/>
            <a:ext cx="7848600" cy="1376363"/>
          </a:xfrm>
        </p:spPr>
        <p:txBody>
          <a:bodyPr/>
          <a:lstStyle/>
          <a:p>
            <a:r>
              <a:rPr lang="en-US" dirty="0"/>
              <a:t>For a procedure that computes the GCD of two values </a:t>
            </a:r>
            <a:r>
              <a:rPr lang="en-US" dirty="0" err="1">
                <a:latin typeface="Courier New" pitchFamily="49" charset="0"/>
              </a:rPr>
              <a:t>i</a:t>
            </a:r>
            <a:r>
              <a:rPr lang="en-US" dirty="0"/>
              <a:t> (in </a:t>
            </a:r>
            <a:r>
              <a:rPr lang="en-US" dirty="0">
                <a:latin typeface="Courier New" pitchFamily="49" charset="0"/>
              </a:rPr>
              <a:t>$t0</a:t>
            </a:r>
            <a:r>
              <a:rPr lang="en-US" dirty="0"/>
              <a:t>) and </a:t>
            </a:r>
            <a:r>
              <a:rPr lang="en-US" dirty="0">
                <a:latin typeface="Courier New" pitchFamily="49" charset="0"/>
              </a:rPr>
              <a:t>j</a:t>
            </a:r>
            <a:r>
              <a:rPr lang="en-US" dirty="0"/>
              <a:t> (in </a:t>
            </a:r>
            <a:r>
              <a:rPr lang="en-US" dirty="0">
                <a:latin typeface="Courier New" pitchFamily="49" charset="0"/>
              </a:rPr>
              <a:t>$t1</a:t>
            </a:r>
            <a:r>
              <a:rPr lang="en-US" dirty="0"/>
              <a:t>)</a:t>
            </a:r>
          </a:p>
          <a:p>
            <a:pPr>
              <a:buFont typeface="Wingdings" pitchFamily="2" charset="2"/>
              <a:buNone/>
            </a:pPr>
            <a:r>
              <a:rPr lang="en-US" dirty="0"/>
              <a:t>			</a:t>
            </a:r>
            <a:r>
              <a:rPr lang="en-US" dirty="0" err="1">
                <a:latin typeface="Courier New" pitchFamily="49" charset="0"/>
              </a:rPr>
              <a:t>gcd</a:t>
            </a:r>
            <a:r>
              <a:rPr lang="en-US" dirty="0">
                <a:latin typeface="Courier New" pitchFamily="49" charset="0"/>
              </a:rPr>
              <a:t>(</a:t>
            </a:r>
            <a:r>
              <a:rPr lang="en-US" dirty="0" err="1">
                <a:latin typeface="Courier New" pitchFamily="49" charset="0"/>
              </a:rPr>
              <a:t>i,j</a:t>
            </a:r>
            <a:r>
              <a:rPr lang="en-US" dirty="0">
                <a:latin typeface="Courier New" pitchFamily="49" charset="0"/>
              </a:rPr>
              <a:t>);</a:t>
            </a:r>
          </a:p>
        </p:txBody>
      </p:sp>
      <p:sp>
        <p:nvSpPr>
          <p:cNvPr id="422916" name="Rectangle 4"/>
          <p:cNvSpPr>
            <a:spLocks noChangeArrowheads="1"/>
          </p:cNvSpPr>
          <p:nvPr/>
        </p:nvSpPr>
        <p:spPr bwMode="auto">
          <a:xfrm>
            <a:off x="685800" y="2362200"/>
            <a:ext cx="7848600" cy="1199559"/>
          </a:xfrm>
          <a:prstGeom prst="rect">
            <a:avLst/>
          </a:prstGeom>
          <a:noFill/>
          <a:ln w="12700">
            <a:noFill/>
            <a:miter lim="800000"/>
            <a:headEnd/>
            <a:tailEnd/>
          </a:ln>
          <a:effectLst/>
        </p:spPr>
        <p:txBody>
          <a:bodyPr lIns="63500" tIns="25400" rIns="63500" bIns="25400">
            <a:spAutoFit/>
          </a:bodyPr>
          <a:lstStyle/>
          <a:p>
            <a:pPr marL="287338" indent="-287338">
              <a:lnSpc>
                <a:spcPct val="95000"/>
              </a:lnSpc>
              <a:spcBef>
                <a:spcPct val="25000"/>
              </a:spcBef>
              <a:buClr>
                <a:schemeClr val="accent1"/>
              </a:buClr>
              <a:buSzPct val="75000"/>
              <a:buFont typeface="Wingdings" pitchFamily="2" charset="2"/>
              <a:buChar char="q"/>
            </a:pPr>
            <a:r>
              <a:rPr lang="en-US" sz="2400" dirty="0">
                <a:solidFill>
                  <a:schemeClr val="tx1"/>
                </a:solidFill>
              </a:rPr>
              <a:t>The </a:t>
            </a:r>
            <a:r>
              <a:rPr lang="en-US" sz="2400" dirty="0">
                <a:solidFill>
                  <a:srgbClr val="009900"/>
                </a:solidFill>
              </a:rPr>
              <a:t>caller</a:t>
            </a:r>
            <a:r>
              <a:rPr lang="en-US" sz="2400" dirty="0">
                <a:solidFill>
                  <a:schemeClr val="tx1"/>
                </a:solidFill>
              </a:rPr>
              <a:t> puts the </a:t>
            </a:r>
            <a:r>
              <a:rPr lang="en-US" sz="2400" dirty="0" err="1">
                <a:solidFill>
                  <a:schemeClr val="tx1"/>
                </a:solidFill>
                <a:latin typeface="Courier New" pitchFamily="49" charset="0"/>
              </a:rPr>
              <a:t>i</a:t>
            </a:r>
            <a:r>
              <a:rPr lang="en-US" sz="2400" dirty="0">
                <a:solidFill>
                  <a:schemeClr val="tx1"/>
                </a:solidFill>
              </a:rPr>
              <a:t> and </a:t>
            </a:r>
            <a:r>
              <a:rPr lang="en-US" sz="2400" dirty="0">
                <a:solidFill>
                  <a:schemeClr val="tx1"/>
                </a:solidFill>
                <a:latin typeface="Courier New" pitchFamily="49" charset="0"/>
              </a:rPr>
              <a:t>j</a:t>
            </a:r>
            <a:r>
              <a:rPr lang="en-US" sz="2400" dirty="0">
                <a:solidFill>
                  <a:schemeClr val="tx1"/>
                </a:solidFill>
              </a:rPr>
              <a:t> (the parameters values) in </a:t>
            </a:r>
            <a:r>
              <a:rPr lang="en-US" sz="2400" dirty="0">
                <a:solidFill>
                  <a:schemeClr val="tx1"/>
                </a:solidFill>
                <a:latin typeface="Courier New" pitchFamily="49" charset="0"/>
              </a:rPr>
              <a:t>$a0</a:t>
            </a:r>
            <a:r>
              <a:rPr lang="en-US" sz="2400" dirty="0">
                <a:solidFill>
                  <a:schemeClr val="tx1"/>
                </a:solidFill>
              </a:rPr>
              <a:t> and </a:t>
            </a:r>
            <a:r>
              <a:rPr lang="en-US" sz="2400" dirty="0">
                <a:solidFill>
                  <a:schemeClr val="tx1"/>
                </a:solidFill>
                <a:latin typeface="Courier New" pitchFamily="49" charset="0"/>
              </a:rPr>
              <a:t>$a1</a:t>
            </a:r>
            <a:r>
              <a:rPr lang="en-US" sz="2400" dirty="0">
                <a:solidFill>
                  <a:schemeClr val="tx1"/>
                </a:solidFill>
              </a:rPr>
              <a:t> and issues a</a:t>
            </a:r>
          </a:p>
          <a:p>
            <a:pPr marL="287338" indent="-287338">
              <a:lnSpc>
                <a:spcPct val="95000"/>
              </a:lnSpc>
              <a:spcBef>
                <a:spcPct val="25000"/>
              </a:spcBef>
              <a:buClr>
                <a:schemeClr val="accent1"/>
              </a:buClr>
              <a:buSzPct val="75000"/>
              <a:buFont typeface="Wingdings" pitchFamily="2" charset="2"/>
              <a:buNone/>
            </a:pPr>
            <a:r>
              <a:rPr lang="en-US" sz="2400" dirty="0">
                <a:solidFill>
                  <a:schemeClr val="tx1"/>
                </a:solidFill>
              </a:rPr>
              <a:t>		</a:t>
            </a:r>
            <a:r>
              <a:rPr lang="en-US" sz="2400" dirty="0" err="1">
                <a:solidFill>
                  <a:schemeClr val="tx1"/>
                </a:solidFill>
                <a:latin typeface="Courier New" pitchFamily="49" charset="0"/>
              </a:rPr>
              <a:t>jal</a:t>
            </a:r>
            <a:r>
              <a:rPr lang="en-US" sz="2400" dirty="0">
                <a:solidFill>
                  <a:schemeClr val="tx1"/>
                </a:solidFill>
                <a:latin typeface="Courier New" pitchFamily="49" charset="0"/>
              </a:rPr>
              <a:t> </a:t>
            </a:r>
            <a:r>
              <a:rPr lang="en-US" sz="2400" dirty="0" err="1">
                <a:solidFill>
                  <a:schemeClr val="tx1"/>
                </a:solidFill>
                <a:latin typeface="Courier New" pitchFamily="49" charset="0"/>
              </a:rPr>
              <a:t>gcd</a:t>
            </a:r>
            <a:r>
              <a:rPr lang="en-US" sz="2400" dirty="0">
                <a:solidFill>
                  <a:schemeClr val="tx1"/>
                </a:solidFill>
                <a:latin typeface="Courier New" pitchFamily="49" charset="0"/>
              </a:rPr>
              <a:t>	  #jump to routine </a:t>
            </a:r>
            <a:r>
              <a:rPr lang="en-US" sz="2400" dirty="0" err="1">
                <a:solidFill>
                  <a:schemeClr val="tx1"/>
                </a:solidFill>
                <a:latin typeface="Courier New" pitchFamily="49" charset="0"/>
              </a:rPr>
              <a:t>gcd</a:t>
            </a:r>
            <a:endParaRPr lang="en-US" sz="2400" dirty="0">
              <a:solidFill>
                <a:schemeClr val="tx1"/>
              </a:solidFill>
              <a:latin typeface="Courier New" pitchFamily="49" charset="0"/>
            </a:endParaRPr>
          </a:p>
        </p:txBody>
      </p:sp>
      <p:sp>
        <p:nvSpPr>
          <p:cNvPr id="422917" name="Rectangle 5"/>
          <p:cNvSpPr>
            <a:spLocks noChangeArrowheads="1"/>
          </p:cNvSpPr>
          <p:nvPr/>
        </p:nvSpPr>
        <p:spPr bwMode="auto">
          <a:xfrm>
            <a:off x="685800" y="4206875"/>
            <a:ext cx="7848600" cy="1639423"/>
          </a:xfrm>
          <a:prstGeom prst="rect">
            <a:avLst/>
          </a:prstGeom>
          <a:noFill/>
          <a:ln w="12700">
            <a:noFill/>
            <a:miter lim="800000"/>
            <a:headEnd/>
            <a:tailEnd/>
          </a:ln>
          <a:effectLst/>
        </p:spPr>
        <p:txBody>
          <a:bodyPr lIns="63500" tIns="25400" rIns="63500" bIns="25400">
            <a:spAutoFit/>
          </a:bodyPr>
          <a:lstStyle/>
          <a:p>
            <a:pPr marL="287338" indent="-287338">
              <a:lnSpc>
                <a:spcPct val="95000"/>
              </a:lnSpc>
              <a:spcBef>
                <a:spcPct val="25000"/>
              </a:spcBef>
              <a:buClr>
                <a:schemeClr val="accent1"/>
              </a:buClr>
              <a:buSzPct val="75000"/>
              <a:buFont typeface="Wingdings" pitchFamily="2" charset="2"/>
              <a:buChar char="q"/>
            </a:pPr>
            <a:r>
              <a:rPr lang="en-US" sz="2400" dirty="0">
                <a:solidFill>
                  <a:schemeClr val="tx1"/>
                </a:solidFill>
              </a:rPr>
              <a:t>The </a:t>
            </a:r>
            <a:r>
              <a:rPr lang="en-US" sz="2400" dirty="0" err="1">
                <a:solidFill>
                  <a:schemeClr val="accent2"/>
                </a:solidFill>
              </a:rPr>
              <a:t>callee</a:t>
            </a:r>
            <a:r>
              <a:rPr lang="en-US" sz="2400" dirty="0">
                <a:solidFill>
                  <a:schemeClr val="tx1"/>
                </a:solidFill>
              </a:rPr>
              <a:t> computes the GCD, puts the result in </a:t>
            </a:r>
            <a:r>
              <a:rPr lang="en-US" sz="2400" dirty="0">
                <a:solidFill>
                  <a:schemeClr val="tx1"/>
                </a:solidFill>
                <a:latin typeface="Courier New" pitchFamily="49" charset="0"/>
              </a:rPr>
              <a:t>$v0</a:t>
            </a:r>
            <a:r>
              <a:rPr lang="en-US" sz="2400" dirty="0">
                <a:solidFill>
                  <a:schemeClr val="tx1"/>
                </a:solidFill>
              </a:rPr>
              <a:t>, and returns control to the </a:t>
            </a:r>
            <a:r>
              <a:rPr lang="en-US" sz="2400" dirty="0">
                <a:solidFill>
                  <a:srgbClr val="009900"/>
                </a:solidFill>
              </a:rPr>
              <a:t>caller</a:t>
            </a:r>
            <a:r>
              <a:rPr lang="en-US" sz="2400" dirty="0">
                <a:solidFill>
                  <a:schemeClr val="tx1"/>
                </a:solidFill>
              </a:rPr>
              <a:t> using</a:t>
            </a:r>
          </a:p>
          <a:p>
            <a:pPr marL="287338" indent="-287338">
              <a:lnSpc>
                <a:spcPct val="95000"/>
              </a:lnSpc>
              <a:spcBef>
                <a:spcPct val="25000"/>
              </a:spcBef>
              <a:buClr>
                <a:schemeClr val="accent1"/>
              </a:buClr>
              <a:buSzPct val="75000"/>
              <a:buFont typeface="Wingdings" pitchFamily="2" charset="2"/>
              <a:buNone/>
            </a:pPr>
            <a:r>
              <a:rPr lang="en-US" sz="2400" dirty="0" err="1">
                <a:solidFill>
                  <a:schemeClr val="tx1"/>
                </a:solidFill>
                <a:latin typeface="Courier New" pitchFamily="49" charset="0"/>
              </a:rPr>
              <a:t>gcd</a:t>
            </a:r>
            <a:r>
              <a:rPr lang="en-US" sz="2400" dirty="0">
                <a:solidFill>
                  <a:schemeClr val="tx1"/>
                </a:solidFill>
                <a:latin typeface="Courier New" pitchFamily="49" charset="0"/>
              </a:rPr>
              <a:t>: . . .	  </a:t>
            </a:r>
            <a:r>
              <a:rPr lang="en-US" sz="2400" dirty="0" smtClean="0">
                <a:solidFill>
                  <a:schemeClr val="tx1"/>
                </a:solidFill>
                <a:latin typeface="Courier New" pitchFamily="49" charset="0"/>
              </a:rPr>
              <a:t>	  #</a:t>
            </a:r>
            <a:r>
              <a:rPr lang="en-US" sz="2400" dirty="0">
                <a:solidFill>
                  <a:schemeClr val="tx1"/>
                </a:solidFill>
                <a:latin typeface="Courier New" pitchFamily="49" charset="0"/>
              </a:rPr>
              <a:t>code to compute </a:t>
            </a:r>
            <a:r>
              <a:rPr lang="en-US" sz="2400" dirty="0" err="1">
                <a:solidFill>
                  <a:schemeClr val="tx1"/>
                </a:solidFill>
                <a:latin typeface="Courier New" pitchFamily="49" charset="0"/>
              </a:rPr>
              <a:t>gcd</a:t>
            </a:r>
            <a:endParaRPr lang="en-US" sz="2400" dirty="0">
              <a:solidFill>
                <a:schemeClr val="tx1"/>
              </a:solidFill>
              <a:latin typeface="Courier New" pitchFamily="49" charset="0"/>
            </a:endParaRPr>
          </a:p>
          <a:p>
            <a:pPr marL="287338" indent="-287338">
              <a:lnSpc>
                <a:spcPct val="95000"/>
              </a:lnSpc>
              <a:spcBef>
                <a:spcPct val="25000"/>
              </a:spcBef>
              <a:buClr>
                <a:schemeClr val="accent1"/>
              </a:buClr>
              <a:buSzPct val="75000"/>
              <a:buFont typeface="Wingdings" pitchFamily="2" charset="2"/>
              <a:buNone/>
            </a:pPr>
            <a:r>
              <a:rPr lang="en-US" sz="2400" dirty="0">
                <a:solidFill>
                  <a:schemeClr val="tx1"/>
                </a:solidFill>
              </a:rPr>
              <a:t>		</a:t>
            </a:r>
            <a:r>
              <a:rPr lang="en-US" sz="2400" dirty="0" err="1">
                <a:solidFill>
                  <a:schemeClr val="tx1"/>
                </a:solidFill>
                <a:latin typeface="Courier New" pitchFamily="49" charset="0"/>
              </a:rPr>
              <a:t>jr</a:t>
            </a:r>
            <a:r>
              <a:rPr lang="en-US" sz="2400" dirty="0">
                <a:solidFill>
                  <a:schemeClr val="tx1"/>
                </a:solidFill>
                <a:latin typeface="Courier New" pitchFamily="49" charset="0"/>
              </a:rPr>
              <a:t>  $</a:t>
            </a:r>
            <a:r>
              <a:rPr lang="en-US" sz="2400" dirty="0" err="1">
                <a:solidFill>
                  <a:schemeClr val="tx1"/>
                </a:solidFill>
                <a:latin typeface="Courier New" pitchFamily="49" charset="0"/>
              </a:rPr>
              <a:t>ra</a:t>
            </a:r>
            <a:r>
              <a:rPr lang="en-US" sz="2400" dirty="0">
                <a:solidFill>
                  <a:schemeClr val="tx1"/>
                </a:solidFill>
                <a:latin typeface="Courier New" pitchFamily="49" charset="0"/>
              </a:rPr>
              <a:t>	  #return</a:t>
            </a:r>
          </a:p>
        </p:txBody>
      </p:sp>
    </p:spTree>
    <p:extLst>
      <p:ext uri="{BB962C8B-B14F-4D97-AF65-F5344CB8AC3E}">
        <p14:creationId xmlns:p14="http://schemas.microsoft.com/office/powerpoint/2010/main" val="7402392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en-US"/>
              <a:t>Spilling Registers</a:t>
            </a:r>
          </a:p>
        </p:txBody>
      </p:sp>
      <p:sp>
        <p:nvSpPr>
          <p:cNvPr id="381955" name="Rectangle 3"/>
          <p:cNvSpPr>
            <a:spLocks noGrp="1" noChangeArrowheads="1"/>
          </p:cNvSpPr>
          <p:nvPr>
            <p:ph type="body" idx="1"/>
          </p:nvPr>
        </p:nvSpPr>
        <p:spPr>
          <a:xfrm>
            <a:off x="685800" y="838200"/>
            <a:ext cx="7848600" cy="1303338"/>
          </a:xfrm>
        </p:spPr>
        <p:txBody>
          <a:bodyPr/>
          <a:lstStyle/>
          <a:p>
            <a:r>
              <a:rPr lang="en-US" dirty="0"/>
              <a:t>What if the </a:t>
            </a:r>
            <a:r>
              <a:rPr lang="en-US" dirty="0" err="1">
                <a:solidFill>
                  <a:schemeClr val="accent2"/>
                </a:solidFill>
              </a:rPr>
              <a:t>callee</a:t>
            </a:r>
            <a:r>
              <a:rPr lang="en-US" dirty="0"/>
              <a:t> needs to use more registers than allocated to argument and return values?</a:t>
            </a:r>
          </a:p>
          <a:p>
            <a:pPr lvl="1"/>
            <a:r>
              <a:rPr lang="en-US" dirty="0" err="1">
                <a:solidFill>
                  <a:schemeClr val="accent2"/>
                </a:solidFill>
              </a:rPr>
              <a:t>callee</a:t>
            </a:r>
            <a:r>
              <a:rPr lang="en-US" dirty="0"/>
              <a:t> uses a </a:t>
            </a:r>
            <a:r>
              <a:rPr lang="en-US" dirty="0">
                <a:solidFill>
                  <a:schemeClr val="accent1"/>
                </a:solidFill>
              </a:rPr>
              <a:t>stack</a:t>
            </a:r>
            <a:r>
              <a:rPr lang="en-US" dirty="0"/>
              <a:t> – a last-in-first-out queue</a:t>
            </a:r>
          </a:p>
        </p:txBody>
      </p:sp>
      <p:sp>
        <p:nvSpPr>
          <p:cNvPr id="381956" name="Line 4"/>
          <p:cNvSpPr>
            <a:spLocks noChangeShapeType="1"/>
          </p:cNvSpPr>
          <p:nvPr/>
        </p:nvSpPr>
        <p:spPr bwMode="auto">
          <a:xfrm>
            <a:off x="1219200" y="2635250"/>
            <a:ext cx="0" cy="3276600"/>
          </a:xfrm>
          <a:prstGeom prst="line">
            <a:avLst/>
          </a:prstGeom>
          <a:noFill/>
          <a:ln w="12700">
            <a:solidFill>
              <a:schemeClr val="tx1"/>
            </a:solidFill>
            <a:round/>
            <a:headEnd/>
            <a:tailEnd/>
          </a:ln>
          <a:effectLst/>
        </p:spPr>
        <p:txBody>
          <a:bodyPr/>
          <a:lstStyle/>
          <a:p>
            <a:endParaRPr lang="en-US"/>
          </a:p>
        </p:txBody>
      </p:sp>
      <p:sp>
        <p:nvSpPr>
          <p:cNvPr id="381957" name="Line 5"/>
          <p:cNvSpPr>
            <a:spLocks noChangeShapeType="1"/>
          </p:cNvSpPr>
          <p:nvPr/>
        </p:nvSpPr>
        <p:spPr bwMode="auto">
          <a:xfrm>
            <a:off x="3200400" y="2635250"/>
            <a:ext cx="0" cy="3276600"/>
          </a:xfrm>
          <a:prstGeom prst="line">
            <a:avLst/>
          </a:prstGeom>
          <a:noFill/>
          <a:ln w="12700">
            <a:solidFill>
              <a:schemeClr val="tx1"/>
            </a:solidFill>
            <a:round/>
            <a:headEnd/>
            <a:tailEnd/>
          </a:ln>
          <a:effectLst/>
        </p:spPr>
        <p:txBody>
          <a:bodyPr/>
          <a:lstStyle/>
          <a:p>
            <a:endParaRPr lang="en-US"/>
          </a:p>
        </p:txBody>
      </p:sp>
      <p:sp>
        <p:nvSpPr>
          <p:cNvPr id="381958" name="Line 6"/>
          <p:cNvSpPr>
            <a:spLocks noChangeShapeType="1"/>
          </p:cNvSpPr>
          <p:nvPr/>
        </p:nvSpPr>
        <p:spPr bwMode="auto">
          <a:xfrm>
            <a:off x="1219200" y="3778250"/>
            <a:ext cx="1981200" cy="0"/>
          </a:xfrm>
          <a:prstGeom prst="line">
            <a:avLst/>
          </a:prstGeom>
          <a:noFill/>
          <a:ln w="12700">
            <a:solidFill>
              <a:schemeClr val="tx1"/>
            </a:solidFill>
            <a:round/>
            <a:headEnd/>
            <a:tailEnd/>
          </a:ln>
          <a:effectLst/>
        </p:spPr>
        <p:txBody>
          <a:bodyPr/>
          <a:lstStyle/>
          <a:p>
            <a:endParaRPr lang="en-US"/>
          </a:p>
        </p:txBody>
      </p:sp>
      <p:sp>
        <p:nvSpPr>
          <p:cNvPr id="381959" name="Text Box 7"/>
          <p:cNvSpPr txBox="1">
            <a:spLocks noChangeArrowheads="1"/>
          </p:cNvSpPr>
          <p:nvPr/>
        </p:nvSpPr>
        <p:spPr bwMode="auto">
          <a:xfrm>
            <a:off x="381000" y="5835650"/>
            <a:ext cx="1162050"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low addr</a:t>
            </a:r>
          </a:p>
        </p:txBody>
      </p:sp>
      <p:sp>
        <p:nvSpPr>
          <p:cNvPr id="381960" name="Text Box 8"/>
          <p:cNvSpPr txBox="1">
            <a:spLocks noChangeArrowheads="1"/>
          </p:cNvSpPr>
          <p:nvPr/>
        </p:nvSpPr>
        <p:spPr bwMode="auto">
          <a:xfrm>
            <a:off x="228600" y="2406650"/>
            <a:ext cx="1284288"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high addr</a:t>
            </a:r>
          </a:p>
        </p:txBody>
      </p:sp>
      <p:sp>
        <p:nvSpPr>
          <p:cNvPr id="381961" name="Text Box 9"/>
          <p:cNvSpPr txBox="1">
            <a:spLocks noChangeArrowheads="1"/>
          </p:cNvSpPr>
          <p:nvPr/>
        </p:nvSpPr>
        <p:spPr bwMode="auto">
          <a:xfrm>
            <a:off x="3352800" y="345281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$sp</a:t>
            </a:r>
          </a:p>
        </p:txBody>
      </p:sp>
      <p:sp>
        <p:nvSpPr>
          <p:cNvPr id="381962" name="Line 10"/>
          <p:cNvSpPr>
            <a:spLocks noChangeShapeType="1"/>
          </p:cNvSpPr>
          <p:nvPr/>
        </p:nvSpPr>
        <p:spPr bwMode="auto">
          <a:xfrm flipH="1">
            <a:off x="3200400" y="3625850"/>
            <a:ext cx="228600" cy="0"/>
          </a:xfrm>
          <a:prstGeom prst="line">
            <a:avLst/>
          </a:prstGeom>
          <a:noFill/>
          <a:ln w="12700">
            <a:solidFill>
              <a:schemeClr val="tx1"/>
            </a:solidFill>
            <a:round/>
            <a:headEnd/>
            <a:tailEnd type="triangle" w="med" len="med"/>
          </a:ln>
          <a:effectLst/>
        </p:spPr>
        <p:txBody>
          <a:bodyPr/>
          <a:lstStyle/>
          <a:p>
            <a:endParaRPr lang="en-US"/>
          </a:p>
        </p:txBody>
      </p:sp>
      <p:sp>
        <p:nvSpPr>
          <p:cNvPr id="381963" name="Line 11"/>
          <p:cNvSpPr>
            <a:spLocks noChangeShapeType="1"/>
          </p:cNvSpPr>
          <p:nvPr/>
        </p:nvSpPr>
        <p:spPr bwMode="auto">
          <a:xfrm>
            <a:off x="1219200" y="2863850"/>
            <a:ext cx="1981200" cy="0"/>
          </a:xfrm>
          <a:prstGeom prst="line">
            <a:avLst/>
          </a:prstGeom>
          <a:noFill/>
          <a:ln w="12700">
            <a:solidFill>
              <a:schemeClr val="tx1"/>
            </a:solidFill>
            <a:round/>
            <a:headEnd/>
            <a:tailEnd/>
          </a:ln>
          <a:effectLst/>
        </p:spPr>
        <p:txBody>
          <a:bodyPr/>
          <a:lstStyle/>
          <a:p>
            <a:endParaRPr lang="en-US"/>
          </a:p>
        </p:txBody>
      </p:sp>
      <p:sp>
        <p:nvSpPr>
          <p:cNvPr id="381964" name="Line 12"/>
          <p:cNvSpPr>
            <a:spLocks noChangeShapeType="1"/>
          </p:cNvSpPr>
          <p:nvPr/>
        </p:nvSpPr>
        <p:spPr bwMode="auto">
          <a:xfrm>
            <a:off x="1219200" y="3168650"/>
            <a:ext cx="1981200" cy="0"/>
          </a:xfrm>
          <a:prstGeom prst="line">
            <a:avLst/>
          </a:prstGeom>
          <a:noFill/>
          <a:ln w="12700">
            <a:solidFill>
              <a:schemeClr val="tx1"/>
            </a:solidFill>
            <a:round/>
            <a:headEnd/>
            <a:tailEnd/>
          </a:ln>
          <a:effectLst/>
        </p:spPr>
        <p:txBody>
          <a:bodyPr/>
          <a:lstStyle/>
          <a:p>
            <a:endParaRPr lang="en-US"/>
          </a:p>
        </p:txBody>
      </p:sp>
      <p:sp>
        <p:nvSpPr>
          <p:cNvPr id="381965" name="Line 13"/>
          <p:cNvSpPr>
            <a:spLocks noChangeShapeType="1"/>
          </p:cNvSpPr>
          <p:nvPr/>
        </p:nvSpPr>
        <p:spPr bwMode="auto">
          <a:xfrm>
            <a:off x="1219200" y="3473450"/>
            <a:ext cx="1981200" cy="0"/>
          </a:xfrm>
          <a:prstGeom prst="line">
            <a:avLst/>
          </a:prstGeom>
          <a:noFill/>
          <a:ln w="12700">
            <a:solidFill>
              <a:schemeClr val="tx1"/>
            </a:solidFill>
            <a:round/>
            <a:headEnd/>
            <a:tailEnd/>
          </a:ln>
          <a:effectLst/>
        </p:spPr>
        <p:txBody>
          <a:bodyPr/>
          <a:lstStyle/>
          <a:p>
            <a:endParaRPr lang="en-US"/>
          </a:p>
        </p:txBody>
      </p:sp>
      <p:sp>
        <p:nvSpPr>
          <p:cNvPr id="381966" name="Rectangle 14"/>
          <p:cNvSpPr>
            <a:spLocks noChangeArrowheads="1"/>
          </p:cNvSpPr>
          <p:nvPr/>
        </p:nvSpPr>
        <p:spPr bwMode="auto">
          <a:xfrm>
            <a:off x="3733800" y="2289175"/>
            <a:ext cx="5181600" cy="3898900"/>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dirty="0">
                <a:solidFill>
                  <a:schemeClr val="tx1"/>
                </a:solidFill>
              </a:rPr>
              <a:t>One of the general registers, </a:t>
            </a:r>
            <a:r>
              <a:rPr lang="en-US" sz="2400" dirty="0">
                <a:solidFill>
                  <a:schemeClr val="tx1"/>
                </a:solidFill>
                <a:latin typeface="Courier New" pitchFamily="49" charset="0"/>
              </a:rPr>
              <a:t>$sp</a:t>
            </a:r>
            <a:r>
              <a:rPr lang="en-US" sz="2400" dirty="0">
                <a:solidFill>
                  <a:schemeClr val="tx1"/>
                </a:solidFill>
              </a:rPr>
              <a:t> (</a:t>
            </a:r>
            <a:r>
              <a:rPr lang="en-US" sz="2400" dirty="0">
                <a:solidFill>
                  <a:schemeClr val="tx1"/>
                </a:solidFill>
                <a:latin typeface="Courier New" pitchFamily="49" charset="0"/>
              </a:rPr>
              <a:t>$29</a:t>
            </a:r>
            <a:r>
              <a:rPr lang="en-US" sz="2400" dirty="0">
                <a:solidFill>
                  <a:schemeClr val="tx1"/>
                </a:solidFill>
              </a:rPr>
              <a:t>), is used to address the stack (which “grows” from high address to low address)</a:t>
            </a:r>
          </a:p>
          <a:p>
            <a:pPr marL="741363" lvl="1" indent="-246063">
              <a:lnSpc>
                <a:spcPct val="90000"/>
              </a:lnSpc>
              <a:spcBef>
                <a:spcPct val="65000"/>
              </a:spcBef>
              <a:buClr>
                <a:schemeClr val="accent1"/>
              </a:buClr>
              <a:buSzPct val="75000"/>
              <a:buFont typeface="Monotype Sorts" pitchFamily="2" charset="2"/>
              <a:buChar char="l"/>
            </a:pPr>
            <a:r>
              <a:rPr lang="en-US" sz="2200" dirty="0">
                <a:solidFill>
                  <a:schemeClr val="tx1"/>
                </a:solidFill>
              </a:rPr>
              <a:t>add data onto the stack – </a:t>
            </a:r>
            <a:r>
              <a:rPr lang="en-US" sz="2200" dirty="0"/>
              <a:t>push</a:t>
            </a:r>
          </a:p>
          <a:p>
            <a:pPr marL="1146175" lvl="2" indent="-176213">
              <a:lnSpc>
                <a:spcPct val="90000"/>
              </a:lnSpc>
              <a:spcBef>
                <a:spcPct val="65000"/>
              </a:spcBef>
              <a:buClr>
                <a:schemeClr val="accent1"/>
              </a:buClr>
            </a:pPr>
            <a:r>
              <a:rPr lang="en-US" sz="2000" dirty="0">
                <a:solidFill>
                  <a:schemeClr val="tx1"/>
                </a:solidFill>
              </a:rPr>
              <a:t>  </a:t>
            </a:r>
            <a:r>
              <a:rPr lang="en-US" sz="2000" dirty="0">
                <a:solidFill>
                  <a:schemeClr val="tx1"/>
                </a:solidFill>
                <a:latin typeface="Courier New" pitchFamily="49" charset="0"/>
              </a:rPr>
              <a:t>$sp</a:t>
            </a:r>
            <a:r>
              <a:rPr lang="en-US" sz="2000" dirty="0">
                <a:solidFill>
                  <a:schemeClr val="tx1"/>
                </a:solidFill>
              </a:rPr>
              <a:t> = </a:t>
            </a:r>
            <a:r>
              <a:rPr lang="en-US" sz="2000" dirty="0">
                <a:solidFill>
                  <a:schemeClr val="tx1"/>
                </a:solidFill>
                <a:latin typeface="Courier New" pitchFamily="49" charset="0"/>
              </a:rPr>
              <a:t>$sp</a:t>
            </a:r>
            <a:r>
              <a:rPr lang="en-US" sz="2000" dirty="0">
                <a:solidFill>
                  <a:schemeClr val="tx1"/>
                </a:solidFill>
              </a:rPr>
              <a:t> – 4	 		        data </a:t>
            </a:r>
            <a:r>
              <a:rPr lang="en-US" sz="2000" dirty="0"/>
              <a:t>on</a:t>
            </a:r>
            <a:r>
              <a:rPr lang="en-US" sz="2000" dirty="0">
                <a:solidFill>
                  <a:schemeClr val="tx1"/>
                </a:solidFill>
              </a:rPr>
              <a:t> stack at new $sp</a:t>
            </a:r>
          </a:p>
          <a:p>
            <a:pPr marL="741363" lvl="1" indent="-246063">
              <a:lnSpc>
                <a:spcPct val="90000"/>
              </a:lnSpc>
              <a:spcBef>
                <a:spcPct val="65000"/>
              </a:spcBef>
              <a:buClr>
                <a:schemeClr val="accent1"/>
              </a:buClr>
              <a:buSzPct val="75000"/>
              <a:buFont typeface="Monotype Sorts" pitchFamily="2" charset="2"/>
              <a:buChar char="l"/>
            </a:pPr>
            <a:r>
              <a:rPr lang="en-US" sz="2200" dirty="0">
                <a:solidFill>
                  <a:schemeClr val="tx1"/>
                </a:solidFill>
              </a:rPr>
              <a:t>remove data from the stack – </a:t>
            </a:r>
            <a:r>
              <a:rPr lang="en-US" sz="2200" dirty="0"/>
              <a:t>pop</a:t>
            </a:r>
          </a:p>
          <a:p>
            <a:pPr marL="1146175" lvl="2" indent="-176213">
              <a:lnSpc>
                <a:spcPct val="90000"/>
              </a:lnSpc>
              <a:spcBef>
                <a:spcPct val="65000"/>
              </a:spcBef>
              <a:buClr>
                <a:schemeClr val="accent1"/>
              </a:buClr>
            </a:pPr>
            <a:r>
              <a:rPr lang="en-US" sz="2000" dirty="0">
                <a:solidFill>
                  <a:schemeClr val="tx1"/>
                </a:solidFill>
              </a:rPr>
              <a:t>   data </a:t>
            </a:r>
            <a:r>
              <a:rPr lang="en-US" sz="2000" dirty="0"/>
              <a:t>from</a:t>
            </a:r>
            <a:r>
              <a:rPr lang="en-US" sz="2000" dirty="0">
                <a:solidFill>
                  <a:schemeClr val="tx1"/>
                </a:solidFill>
              </a:rPr>
              <a:t> stack at $sp 	         </a:t>
            </a:r>
            <a:r>
              <a:rPr lang="en-US" sz="2000" dirty="0">
                <a:solidFill>
                  <a:schemeClr val="tx1"/>
                </a:solidFill>
                <a:latin typeface="Courier New" pitchFamily="49" charset="0"/>
              </a:rPr>
              <a:t>$sp</a:t>
            </a:r>
            <a:r>
              <a:rPr lang="en-US" sz="2000" dirty="0">
                <a:solidFill>
                  <a:schemeClr val="tx1"/>
                </a:solidFill>
              </a:rPr>
              <a:t> = </a:t>
            </a:r>
            <a:r>
              <a:rPr lang="en-US" sz="2000" dirty="0">
                <a:solidFill>
                  <a:schemeClr val="tx1"/>
                </a:solidFill>
                <a:latin typeface="Courier New" pitchFamily="49" charset="0"/>
              </a:rPr>
              <a:t>$sp</a:t>
            </a:r>
            <a:r>
              <a:rPr lang="en-US" sz="2000" dirty="0">
                <a:solidFill>
                  <a:schemeClr val="tx1"/>
                </a:solidFill>
              </a:rPr>
              <a:t> + 4</a:t>
            </a:r>
          </a:p>
        </p:txBody>
      </p:sp>
      <p:sp>
        <p:nvSpPr>
          <p:cNvPr id="381967" name="Text Box 15"/>
          <p:cNvSpPr txBox="1">
            <a:spLocks noChangeArrowheads="1"/>
          </p:cNvSpPr>
          <p:nvPr/>
        </p:nvSpPr>
        <p:spPr bwMode="auto">
          <a:xfrm>
            <a:off x="1295400" y="3452813"/>
            <a:ext cx="1822450"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top of stack</a:t>
            </a:r>
          </a:p>
        </p:txBody>
      </p:sp>
      <p:sp>
        <p:nvSpPr>
          <p:cNvPr id="381968" name="AutoShape 16"/>
          <p:cNvSpPr>
            <a:spLocks noChangeArrowheads="1"/>
          </p:cNvSpPr>
          <p:nvPr/>
        </p:nvSpPr>
        <p:spPr bwMode="auto">
          <a:xfrm>
            <a:off x="1981200" y="3854450"/>
            <a:ext cx="533400" cy="685800"/>
          </a:xfrm>
          <a:prstGeom prst="downArrow">
            <a:avLst>
              <a:gd name="adj1" fmla="val 50000"/>
              <a:gd name="adj2" fmla="val 32143"/>
            </a:avLst>
          </a:prstGeom>
          <a:noFill/>
          <a:ln w="12700">
            <a:solidFill>
              <a:schemeClr val="tx1"/>
            </a:solidFill>
            <a:miter lim="800000"/>
            <a:headEnd/>
            <a:tailEnd/>
          </a:ln>
          <a:effectLst/>
        </p:spPr>
        <p:txBody>
          <a:bodyPr vert="eaVert" wrap="none" anchor="ctr"/>
          <a:lstStyle/>
          <a:p>
            <a:endParaRPr lang="en-US"/>
          </a:p>
        </p:txBody>
      </p:sp>
    </p:spTree>
    <p:extLst>
      <p:ext uri="{BB962C8B-B14F-4D97-AF65-F5344CB8AC3E}">
        <p14:creationId xmlns:p14="http://schemas.microsoft.com/office/powerpoint/2010/main" val="8290471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r>
              <a:rPr lang="en-US"/>
              <a:t>Allocating Space on the Stack</a:t>
            </a:r>
          </a:p>
        </p:txBody>
      </p:sp>
      <p:sp>
        <p:nvSpPr>
          <p:cNvPr id="440323" name="Rectangle 3"/>
          <p:cNvSpPr>
            <a:spLocks noGrp="1" noChangeArrowheads="1"/>
          </p:cNvSpPr>
          <p:nvPr>
            <p:ph type="body" idx="1"/>
          </p:nvPr>
        </p:nvSpPr>
        <p:spPr>
          <a:xfrm>
            <a:off x="4357686" y="857232"/>
            <a:ext cx="4143404" cy="5072098"/>
          </a:xfrm>
        </p:spPr>
        <p:txBody>
          <a:bodyPr/>
          <a:lstStyle/>
          <a:p>
            <a:r>
              <a:rPr lang="en-US" dirty="0"/>
              <a:t>The segment of the stack containing a procedure’s saved registers and local variables is its </a:t>
            </a:r>
            <a:r>
              <a:rPr lang="en-US" dirty="0">
                <a:solidFill>
                  <a:schemeClr val="accent1"/>
                </a:solidFill>
              </a:rPr>
              <a:t>procedure frame</a:t>
            </a:r>
            <a:r>
              <a:rPr lang="en-US" dirty="0"/>
              <a:t> (aka </a:t>
            </a:r>
            <a:r>
              <a:rPr lang="en-US" dirty="0">
                <a:solidFill>
                  <a:schemeClr val="accent1"/>
                </a:solidFill>
              </a:rPr>
              <a:t>activation record</a:t>
            </a:r>
            <a:r>
              <a:rPr lang="en-US" dirty="0"/>
              <a:t>)</a:t>
            </a:r>
          </a:p>
          <a:p>
            <a:pPr lvl="1"/>
            <a:r>
              <a:rPr lang="en-US" dirty="0"/>
              <a:t>The frame pointer (</a:t>
            </a:r>
            <a:r>
              <a:rPr lang="en-US" dirty="0">
                <a:latin typeface="Courier New" pitchFamily="49" charset="0"/>
              </a:rPr>
              <a:t>$</a:t>
            </a:r>
            <a:r>
              <a:rPr lang="en-US" dirty="0" err="1">
                <a:latin typeface="Courier New" pitchFamily="49" charset="0"/>
              </a:rPr>
              <a:t>fp</a:t>
            </a:r>
            <a:r>
              <a:rPr lang="en-US" dirty="0"/>
              <a:t>) points to the first word of the frame of a procedure – providing a stable “base” register for the procedure</a:t>
            </a:r>
          </a:p>
          <a:p>
            <a:pPr lvl="1"/>
            <a:r>
              <a:rPr lang="en-US" dirty="0">
                <a:latin typeface="Courier New" pitchFamily="49" charset="0"/>
              </a:rPr>
              <a:t>$</a:t>
            </a:r>
            <a:r>
              <a:rPr lang="en-US" dirty="0" err="1">
                <a:latin typeface="Courier New" pitchFamily="49" charset="0"/>
              </a:rPr>
              <a:t>fp</a:t>
            </a:r>
            <a:r>
              <a:rPr lang="en-US" dirty="0"/>
              <a:t> is initialized using </a:t>
            </a:r>
            <a:r>
              <a:rPr lang="en-US" dirty="0">
                <a:latin typeface="Courier New" pitchFamily="49" charset="0"/>
              </a:rPr>
              <a:t>$sp</a:t>
            </a:r>
            <a:r>
              <a:rPr lang="en-US" dirty="0"/>
              <a:t> on a call and </a:t>
            </a:r>
            <a:r>
              <a:rPr lang="en-US" dirty="0">
                <a:latin typeface="Courier New" pitchFamily="49" charset="0"/>
              </a:rPr>
              <a:t>$sp</a:t>
            </a:r>
            <a:r>
              <a:rPr lang="en-US" dirty="0"/>
              <a:t> is restored using </a:t>
            </a:r>
            <a:r>
              <a:rPr lang="en-US" dirty="0">
                <a:latin typeface="Courier New" pitchFamily="49" charset="0"/>
              </a:rPr>
              <a:t>$</a:t>
            </a:r>
            <a:r>
              <a:rPr lang="en-US" dirty="0" err="1">
                <a:latin typeface="Courier New" pitchFamily="49" charset="0"/>
              </a:rPr>
              <a:t>fp</a:t>
            </a:r>
            <a:r>
              <a:rPr lang="en-US" dirty="0"/>
              <a:t> on a return</a:t>
            </a:r>
          </a:p>
        </p:txBody>
      </p:sp>
      <p:sp>
        <p:nvSpPr>
          <p:cNvPr id="440324" name="Line 4"/>
          <p:cNvSpPr>
            <a:spLocks noChangeShapeType="1"/>
          </p:cNvSpPr>
          <p:nvPr/>
        </p:nvSpPr>
        <p:spPr bwMode="auto">
          <a:xfrm>
            <a:off x="1295400" y="1676400"/>
            <a:ext cx="0" cy="3276600"/>
          </a:xfrm>
          <a:prstGeom prst="line">
            <a:avLst/>
          </a:prstGeom>
          <a:noFill/>
          <a:ln w="12700">
            <a:solidFill>
              <a:schemeClr val="tx1"/>
            </a:solidFill>
            <a:round/>
            <a:headEnd/>
            <a:tailEnd/>
          </a:ln>
          <a:effectLst/>
        </p:spPr>
        <p:txBody>
          <a:bodyPr/>
          <a:lstStyle/>
          <a:p>
            <a:endParaRPr lang="en-US"/>
          </a:p>
        </p:txBody>
      </p:sp>
      <p:sp>
        <p:nvSpPr>
          <p:cNvPr id="440325" name="Line 5"/>
          <p:cNvSpPr>
            <a:spLocks noChangeShapeType="1"/>
          </p:cNvSpPr>
          <p:nvPr/>
        </p:nvSpPr>
        <p:spPr bwMode="auto">
          <a:xfrm>
            <a:off x="3581400" y="1676400"/>
            <a:ext cx="0" cy="3276600"/>
          </a:xfrm>
          <a:prstGeom prst="line">
            <a:avLst/>
          </a:prstGeom>
          <a:noFill/>
          <a:ln w="12700">
            <a:solidFill>
              <a:schemeClr val="tx1"/>
            </a:solidFill>
            <a:round/>
            <a:headEnd/>
            <a:tailEnd/>
          </a:ln>
          <a:effectLst/>
        </p:spPr>
        <p:txBody>
          <a:bodyPr/>
          <a:lstStyle/>
          <a:p>
            <a:endParaRPr lang="en-US"/>
          </a:p>
        </p:txBody>
      </p:sp>
      <p:sp>
        <p:nvSpPr>
          <p:cNvPr id="440327" name="Text Box 7"/>
          <p:cNvSpPr txBox="1">
            <a:spLocks noChangeArrowheads="1"/>
          </p:cNvSpPr>
          <p:nvPr/>
        </p:nvSpPr>
        <p:spPr bwMode="auto">
          <a:xfrm>
            <a:off x="623868" y="4876800"/>
            <a:ext cx="1162050"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low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440328" name="Text Box 8"/>
          <p:cNvSpPr txBox="1">
            <a:spLocks noChangeArrowheads="1"/>
          </p:cNvSpPr>
          <p:nvPr/>
        </p:nvSpPr>
        <p:spPr bwMode="auto">
          <a:xfrm>
            <a:off x="501630" y="1428736"/>
            <a:ext cx="1284288"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high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440329" name="Text Box 9"/>
          <p:cNvSpPr txBox="1">
            <a:spLocks noChangeArrowheads="1"/>
          </p:cNvSpPr>
          <p:nvPr/>
        </p:nvSpPr>
        <p:spPr bwMode="auto">
          <a:xfrm>
            <a:off x="3733800" y="429101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$sp</a:t>
            </a:r>
          </a:p>
        </p:txBody>
      </p:sp>
      <p:sp>
        <p:nvSpPr>
          <p:cNvPr id="440330" name="Line 10"/>
          <p:cNvSpPr>
            <a:spLocks noChangeShapeType="1"/>
          </p:cNvSpPr>
          <p:nvPr/>
        </p:nvSpPr>
        <p:spPr bwMode="auto">
          <a:xfrm flipH="1">
            <a:off x="3581400" y="4464050"/>
            <a:ext cx="228600" cy="0"/>
          </a:xfrm>
          <a:prstGeom prst="line">
            <a:avLst/>
          </a:prstGeom>
          <a:noFill/>
          <a:ln w="12700">
            <a:solidFill>
              <a:schemeClr val="tx1"/>
            </a:solidFill>
            <a:round/>
            <a:headEnd/>
            <a:tailEnd type="triangle" w="med" len="med"/>
          </a:ln>
          <a:effectLst/>
        </p:spPr>
        <p:txBody>
          <a:bodyPr/>
          <a:lstStyle/>
          <a:p>
            <a:endParaRPr lang="en-US"/>
          </a:p>
        </p:txBody>
      </p:sp>
      <p:sp>
        <p:nvSpPr>
          <p:cNvPr id="440334" name="Text Box 14"/>
          <p:cNvSpPr txBox="1">
            <a:spLocks noChangeArrowheads="1"/>
          </p:cNvSpPr>
          <p:nvPr/>
        </p:nvSpPr>
        <p:spPr bwMode="auto">
          <a:xfrm>
            <a:off x="1295400" y="2149475"/>
            <a:ext cx="2286000" cy="646331"/>
          </a:xfrm>
          <a:prstGeom prst="rect">
            <a:avLst/>
          </a:prstGeom>
          <a:solidFill>
            <a:schemeClr val="folHlink"/>
          </a:solidFill>
          <a:ln w="12700">
            <a:solidFill>
              <a:schemeClr val="tx1"/>
            </a:solidFill>
            <a:miter lim="800000"/>
            <a:headEnd/>
            <a:tailEnd/>
          </a:ln>
          <a:effectLst/>
        </p:spPr>
        <p:txBody>
          <a:bodyPr>
            <a:spAutoFit/>
          </a:bodyPr>
          <a:lstStyle/>
          <a:p>
            <a:r>
              <a:rPr lang="en-US" b="1" dirty="0">
                <a:solidFill>
                  <a:schemeClr val="tx1"/>
                </a:solidFill>
                <a:latin typeface="Courier New" pitchFamily="49" charset="0"/>
              </a:rPr>
              <a:t>Saved argument </a:t>
            </a:r>
            <a:r>
              <a:rPr lang="en-US" b="1" dirty="0" err="1">
                <a:solidFill>
                  <a:schemeClr val="tx1"/>
                </a:solidFill>
                <a:latin typeface="Courier New" pitchFamily="49" charset="0"/>
              </a:rPr>
              <a:t>regs</a:t>
            </a:r>
            <a:r>
              <a:rPr lang="en-US" b="1" dirty="0">
                <a:solidFill>
                  <a:schemeClr val="tx1"/>
                </a:solidFill>
                <a:latin typeface="Courier New" pitchFamily="49" charset="0"/>
              </a:rPr>
              <a:t> (if any)</a:t>
            </a:r>
          </a:p>
        </p:txBody>
      </p:sp>
      <p:sp>
        <p:nvSpPr>
          <p:cNvPr id="440336" name="Text Box 16"/>
          <p:cNvSpPr txBox="1">
            <a:spLocks noChangeArrowheads="1"/>
          </p:cNvSpPr>
          <p:nvPr/>
        </p:nvSpPr>
        <p:spPr bwMode="auto">
          <a:xfrm>
            <a:off x="1295400" y="2743200"/>
            <a:ext cx="2286000" cy="646331"/>
          </a:xfrm>
          <a:prstGeom prst="rect">
            <a:avLst/>
          </a:prstGeom>
          <a:solidFill>
            <a:srgbClr val="CCFFFF"/>
          </a:solidFill>
          <a:ln w="12700">
            <a:solidFill>
              <a:schemeClr val="tx1"/>
            </a:solidFill>
            <a:miter lim="800000"/>
            <a:headEnd/>
            <a:tailEnd/>
          </a:ln>
          <a:effectLst/>
        </p:spPr>
        <p:txBody>
          <a:bodyPr>
            <a:spAutoFit/>
          </a:bodyPr>
          <a:lstStyle/>
          <a:p>
            <a:r>
              <a:rPr lang="en-US" b="1" dirty="0">
                <a:solidFill>
                  <a:schemeClr val="tx1"/>
                </a:solidFill>
                <a:latin typeface="Courier New" pitchFamily="49" charset="0"/>
              </a:rPr>
              <a:t>Saved return </a:t>
            </a:r>
            <a:r>
              <a:rPr lang="en-US" dirty="0" err="1">
                <a:solidFill>
                  <a:schemeClr val="tx1"/>
                </a:solidFill>
                <a:latin typeface="Courier New" pitchFamily="49" charset="0"/>
              </a:rPr>
              <a:t>addr</a:t>
            </a:r>
            <a:endParaRPr lang="en-US" dirty="0">
              <a:solidFill>
                <a:schemeClr val="tx1"/>
              </a:solidFill>
              <a:latin typeface="Courier New" pitchFamily="49" charset="0"/>
            </a:endParaRPr>
          </a:p>
        </p:txBody>
      </p:sp>
      <p:sp>
        <p:nvSpPr>
          <p:cNvPr id="440337" name="Text Box 17"/>
          <p:cNvSpPr txBox="1">
            <a:spLocks noChangeArrowheads="1"/>
          </p:cNvSpPr>
          <p:nvPr/>
        </p:nvSpPr>
        <p:spPr bwMode="auto">
          <a:xfrm>
            <a:off x="1295400" y="3079750"/>
            <a:ext cx="2286000" cy="646331"/>
          </a:xfrm>
          <a:prstGeom prst="rect">
            <a:avLst/>
          </a:prstGeom>
          <a:solidFill>
            <a:srgbClr val="FFCCFF"/>
          </a:solidFill>
          <a:ln w="12700">
            <a:solidFill>
              <a:schemeClr val="tx1"/>
            </a:solidFill>
            <a:miter lim="800000"/>
            <a:headEnd/>
            <a:tailEnd/>
          </a:ln>
          <a:effectLst/>
        </p:spPr>
        <p:txBody>
          <a:bodyPr>
            <a:spAutoFit/>
          </a:bodyPr>
          <a:lstStyle/>
          <a:p>
            <a:r>
              <a:rPr lang="en-US" b="1" dirty="0">
                <a:solidFill>
                  <a:schemeClr val="tx1"/>
                </a:solidFill>
                <a:latin typeface="Courier New" pitchFamily="49" charset="0"/>
              </a:rPr>
              <a:t>Saved local </a:t>
            </a:r>
            <a:r>
              <a:rPr lang="en-US" b="1" dirty="0" err="1">
                <a:solidFill>
                  <a:schemeClr val="tx1"/>
                </a:solidFill>
                <a:latin typeface="Courier New" pitchFamily="49" charset="0"/>
              </a:rPr>
              <a:t>regs</a:t>
            </a:r>
            <a:r>
              <a:rPr lang="en-US" b="1" dirty="0">
                <a:solidFill>
                  <a:schemeClr val="tx1"/>
                </a:solidFill>
                <a:latin typeface="Courier New" pitchFamily="49" charset="0"/>
              </a:rPr>
              <a:t> (if any)</a:t>
            </a:r>
          </a:p>
        </p:txBody>
      </p:sp>
      <p:sp>
        <p:nvSpPr>
          <p:cNvPr id="440338" name="Text Box 18"/>
          <p:cNvSpPr txBox="1">
            <a:spLocks noChangeArrowheads="1"/>
          </p:cNvSpPr>
          <p:nvPr/>
        </p:nvSpPr>
        <p:spPr bwMode="auto">
          <a:xfrm>
            <a:off x="1295400" y="3657600"/>
            <a:ext cx="2286000" cy="923330"/>
          </a:xfrm>
          <a:prstGeom prst="rect">
            <a:avLst/>
          </a:prstGeom>
          <a:solidFill>
            <a:srgbClr val="FFFF99"/>
          </a:solidFill>
          <a:ln w="12700">
            <a:solidFill>
              <a:schemeClr val="tx1"/>
            </a:solidFill>
            <a:miter lim="800000"/>
            <a:headEnd/>
            <a:tailEnd/>
          </a:ln>
          <a:effectLst/>
        </p:spPr>
        <p:txBody>
          <a:bodyPr>
            <a:spAutoFit/>
          </a:bodyPr>
          <a:lstStyle/>
          <a:p>
            <a:r>
              <a:rPr lang="en-US" b="1" dirty="0">
                <a:solidFill>
                  <a:schemeClr val="tx1"/>
                </a:solidFill>
                <a:latin typeface="Courier New" pitchFamily="49" charset="0"/>
              </a:rPr>
              <a:t>Local arrays &amp; structures (if any)</a:t>
            </a:r>
          </a:p>
        </p:txBody>
      </p:sp>
      <p:sp>
        <p:nvSpPr>
          <p:cNvPr id="440339" name="Text Box 19"/>
          <p:cNvSpPr txBox="1">
            <a:spLocks noChangeArrowheads="1"/>
          </p:cNvSpPr>
          <p:nvPr/>
        </p:nvSpPr>
        <p:spPr bwMode="auto">
          <a:xfrm>
            <a:off x="3733800" y="2036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$fp</a:t>
            </a:r>
          </a:p>
        </p:txBody>
      </p:sp>
      <p:sp>
        <p:nvSpPr>
          <p:cNvPr id="440340" name="Line 20"/>
          <p:cNvSpPr>
            <a:spLocks noChangeShapeType="1"/>
          </p:cNvSpPr>
          <p:nvPr/>
        </p:nvSpPr>
        <p:spPr bwMode="auto">
          <a:xfrm flipH="1">
            <a:off x="3581400" y="2209800"/>
            <a:ext cx="228600" cy="0"/>
          </a:xfrm>
          <a:prstGeom prst="line">
            <a:avLst/>
          </a:prstGeom>
          <a:noFill/>
          <a:ln w="12700">
            <a:solidFill>
              <a:schemeClr val="tx1"/>
            </a:solidFill>
            <a:round/>
            <a:headEnd/>
            <a:tailEnd type="triangle" w="med" len="med"/>
          </a:ln>
          <a:effectLst/>
        </p:spPr>
        <p:txBody>
          <a:bodyPr/>
          <a:lstStyle/>
          <a:p>
            <a:endParaRPr lang="en-US"/>
          </a:p>
        </p:txBody>
      </p:sp>
    </p:spTree>
    <p:extLst>
      <p:ext uri="{BB962C8B-B14F-4D97-AF65-F5344CB8AC3E}">
        <p14:creationId xmlns:p14="http://schemas.microsoft.com/office/powerpoint/2010/main" val="5246172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en-US" dirty="0"/>
              <a:t>Allocating Space </a:t>
            </a:r>
            <a:r>
              <a:rPr lang="en-US" dirty="0" smtClean="0"/>
              <a:t>in the Memory</a:t>
            </a:r>
            <a:endParaRPr lang="en-US" dirty="0"/>
          </a:p>
        </p:txBody>
      </p:sp>
      <p:sp>
        <p:nvSpPr>
          <p:cNvPr id="441347" name="Rectangle 3"/>
          <p:cNvSpPr>
            <a:spLocks noGrp="1" noChangeArrowheads="1"/>
          </p:cNvSpPr>
          <p:nvPr>
            <p:ph type="body" idx="1"/>
          </p:nvPr>
        </p:nvSpPr>
        <p:spPr>
          <a:xfrm>
            <a:off x="685800" y="914400"/>
            <a:ext cx="3600448" cy="5178854"/>
          </a:xfrm>
        </p:spPr>
        <p:txBody>
          <a:bodyPr/>
          <a:lstStyle/>
          <a:p>
            <a:r>
              <a:rPr lang="en-US" dirty="0" smtClean="0"/>
              <a:t>There is also a static </a:t>
            </a:r>
            <a:r>
              <a:rPr lang="en-US" dirty="0"/>
              <a:t>data segment </a:t>
            </a:r>
            <a:r>
              <a:rPr lang="en-US" dirty="0" smtClean="0"/>
              <a:t>area for storing constants </a:t>
            </a:r>
            <a:r>
              <a:rPr lang="en-US" dirty="0"/>
              <a:t>and other static variables (e.g., arrays)</a:t>
            </a:r>
          </a:p>
          <a:p>
            <a:r>
              <a:rPr lang="en-US" dirty="0" smtClean="0"/>
              <a:t>And a dynamic </a:t>
            </a:r>
            <a:r>
              <a:rPr lang="en-US" dirty="0"/>
              <a:t>data segment (aka </a:t>
            </a:r>
            <a:r>
              <a:rPr lang="en-US" dirty="0">
                <a:solidFill>
                  <a:schemeClr val="accent1"/>
                </a:solidFill>
              </a:rPr>
              <a:t>heap</a:t>
            </a:r>
            <a:r>
              <a:rPr lang="en-US" dirty="0"/>
              <a:t>) </a:t>
            </a:r>
            <a:r>
              <a:rPr lang="en-US" dirty="0" smtClean="0"/>
              <a:t>area for structures </a:t>
            </a:r>
            <a:r>
              <a:rPr lang="en-US" dirty="0"/>
              <a:t>that grow and shrink (e.g., linked lists)</a:t>
            </a:r>
          </a:p>
          <a:p>
            <a:pPr lvl="1"/>
            <a:r>
              <a:rPr lang="en-US" dirty="0"/>
              <a:t>Allocate space on the heap with </a:t>
            </a:r>
            <a:r>
              <a:rPr lang="en-US" dirty="0" err="1">
                <a:latin typeface="Courier New" pitchFamily="49" charset="0"/>
              </a:rPr>
              <a:t>malloc</a:t>
            </a:r>
            <a:r>
              <a:rPr lang="en-US" dirty="0">
                <a:latin typeface="Courier New" pitchFamily="49" charset="0"/>
              </a:rPr>
              <a:t>()</a:t>
            </a:r>
            <a:r>
              <a:rPr lang="en-US" dirty="0"/>
              <a:t> and free it with </a:t>
            </a:r>
            <a:r>
              <a:rPr lang="en-US" dirty="0">
                <a:latin typeface="Courier New" pitchFamily="49" charset="0"/>
              </a:rPr>
              <a:t>free</a:t>
            </a:r>
            <a:r>
              <a:rPr lang="en-US" dirty="0" smtClean="0">
                <a:latin typeface="Courier New" pitchFamily="49" charset="0"/>
              </a:rPr>
              <a:t>()</a:t>
            </a:r>
            <a:r>
              <a:rPr lang="en-US" dirty="0" smtClean="0"/>
              <a:t>in C</a:t>
            </a:r>
            <a:endParaRPr lang="en-US" dirty="0"/>
          </a:p>
        </p:txBody>
      </p:sp>
      <p:sp>
        <p:nvSpPr>
          <p:cNvPr id="441348" name="Rectangle 4"/>
          <p:cNvSpPr>
            <a:spLocks noChangeArrowheads="1"/>
          </p:cNvSpPr>
          <p:nvPr/>
        </p:nvSpPr>
        <p:spPr bwMode="auto">
          <a:xfrm>
            <a:off x="5695950" y="1600200"/>
            <a:ext cx="1600200" cy="4114800"/>
          </a:xfrm>
          <a:prstGeom prst="rect">
            <a:avLst/>
          </a:prstGeom>
          <a:noFill/>
          <a:ln w="12700">
            <a:solidFill>
              <a:schemeClr val="tx1"/>
            </a:solidFill>
            <a:miter lim="800000"/>
            <a:headEnd/>
            <a:tailEnd/>
          </a:ln>
          <a:effectLst/>
        </p:spPr>
        <p:txBody>
          <a:bodyPr wrap="none" anchor="ctr"/>
          <a:lstStyle/>
          <a:p>
            <a:endParaRPr lang="en-US"/>
          </a:p>
        </p:txBody>
      </p:sp>
      <p:sp>
        <p:nvSpPr>
          <p:cNvPr id="441349" name="Rectangle 5"/>
          <p:cNvSpPr>
            <a:spLocks noChangeArrowheads="1"/>
          </p:cNvSpPr>
          <p:nvPr/>
        </p:nvSpPr>
        <p:spPr bwMode="auto">
          <a:xfrm>
            <a:off x="5924550" y="1295400"/>
            <a:ext cx="1003300" cy="325438"/>
          </a:xfrm>
          <a:prstGeom prst="rect">
            <a:avLst/>
          </a:prstGeom>
          <a:noFill/>
          <a:ln w="12700">
            <a:noFill/>
            <a:miter lim="800000"/>
            <a:headEnd/>
            <a:tailEnd/>
          </a:ln>
          <a:effectLst/>
        </p:spPr>
        <p:txBody>
          <a:bodyPr wrap="none" lIns="63500" tIns="25400" rIns="63500" bIns="25400">
            <a:spAutoFit/>
          </a:bodyPr>
          <a:lstStyle/>
          <a:p>
            <a:r>
              <a:rPr lang="en-US" b="1">
                <a:solidFill>
                  <a:schemeClr val="tx1"/>
                </a:solidFill>
              </a:rPr>
              <a:t>Memory</a:t>
            </a:r>
          </a:p>
        </p:txBody>
      </p:sp>
      <p:sp>
        <p:nvSpPr>
          <p:cNvPr id="441351" name="Rectangle 7"/>
          <p:cNvSpPr>
            <a:spLocks noChangeArrowheads="1"/>
          </p:cNvSpPr>
          <p:nvPr/>
        </p:nvSpPr>
        <p:spPr bwMode="auto">
          <a:xfrm>
            <a:off x="7296150" y="5486400"/>
            <a:ext cx="1357313" cy="295275"/>
          </a:xfrm>
          <a:prstGeom prst="rect">
            <a:avLst/>
          </a:prstGeom>
          <a:noFill/>
          <a:ln w="12700">
            <a:noFill/>
            <a:miter lim="800000"/>
            <a:headEnd/>
            <a:tailEnd/>
          </a:ln>
          <a:effectLst/>
        </p:spPr>
        <p:txBody>
          <a:bodyPr wrap="none" lIns="63500" tIns="25400" rIns="63500" bIns="25400">
            <a:spAutoFit/>
          </a:bodyPr>
          <a:lstStyle/>
          <a:p>
            <a:r>
              <a:rPr lang="en-US" sz="1600">
                <a:solidFill>
                  <a:schemeClr val="tx1"/>
                </a:solidFill>
              </a:rPr>
              <a:t>0x 0000 0000</a:t>
            </a:r>
          </a:p>
        </p:txBody>
      </p:sp>
      <p:sp>
        <p:nvSpPr>
          <p:cNvPr id="441353" name="Rectangle 9" descr="20%"/>
          <p:cNvSpPr>
            <a:spLocks noChangeArrowheads="1"/>
          </p:cNvSpPr>
          <p:nvPr/>
        </p:nvSpPr>
        <p:spPr bwMode="auto">
          <a:xfrm>
            <a:off x="5695950" y="5257800"/>
            <a:ext cx="1600200" cy="457200"/>
          </a:xfrm>
          <a:prstGeom prst="rect">
            <a:avLst/>
          </a:prstGeom>
          <a:pattFill prst="pct20">
            <a:fgClr>
              <a:schemeClr val="accent1"/>
            </a:fgClr>
            <a:bgClr>
              <a:srgbClr val="FFFFFF"/>
            </a:bgClr>
          </a:pattFill>
          <a:ln w="12700">
            <a:solidFill>
              <a:schemeClr val="tx1"/>
            </a:solidFill>
            <a:miter lim="800000"/>
            <a:headEnd/>
            <a:tailEnd/>
          </a:ln>
          <a:effectLst/>
        </p:spPr>
        <p:txBody>
          <a:bodyPr wrap="none" anchor="ctr"/>
          <a:lstStyle/>
          <a:p>
            <a:endParaRPr lang="en-US"/>
          </a:p>
        </p:txBody>
      </p:sp>
      <p:sp>
        <p:nvSpPr>
          <p:cNvPr id="441354" name="Rectangle 10" descr="20%"/>
          <p:cNvSpPr>
            <a:spLocks noChangeArrowheads="1"/>
          </p:cNvSpPr>
          <p:nvPr/>
        </p:nvSpPr>
        <p:spPr bwMode="auto">
          <a:xfrm>
            <a:off x="5695950" y="4191000"/>
            <a:ext cx="1600200" cy="1066800"/>
          </a:xfrm>
          <a:prstGeom prst="rect">
            <a:avLst/>
          </a:prstGeom>
          <a:pattFill prst="pct20">
            <a:fgClr>
              <a:schemeClr val="folHlink"/>
            </a:fgClr>
            <a:bgClr>
              <a:srgbClr val="FFFFFF"/>
            </a:bgClr>
          </a:pattFill>
          <a:ln w="12700">
            <a:solidFill>
              <a:schemeClr val="tx1"/>
            </a:solidFill>
            <a:miter lim="800000"/>
            <a:headEnd/>
            <a:tailEnd/>
          </a:ln>
          <a:effectLst/>
        </p:spPr>
        <p:txBody>
          <a:bodyPr wrap="none" anchor="ctr"/>
          <a:lstStyle/>
          <a:p>
            <a:endParaRPr lang="en-US"/>
          </a:p>
        </p:txBody>
      </p:sp>
      <p:sp>
        <p:nvSpPr>
          <p:cNvPr id="441355" name="Rectangle 11"/>
          <p:cNvSpPr>
            <a:spLocks noChangeArrowheads="1"/>
          </p:cNvSpPr>
          <p:nvPr/>
        </p:nvSpPr>
        <p:spPr bwMode="auto">
          <a:xfrm>
            <a:off x="5810250" y="4419600"/>
            <a:ext cx="1397000" cy="600075"/>
          </a:xfrm>
          <a:prstGeom prst="rect">
            <a:avLst/>
          </a:prstGeom>
          <a:noFill/>
          <a:ln w="12700">
            <a:noFill/>
            <a:miter lim="800000"/>
            <a:headEnd/>
            <a:tailEnd/>
          </a:ln>
          <a:effectLst/>
        </p:spPr>
        <p:txBody>
          <a:bodyPr wrap="none" lIns="63500" tIns="25400" rIns="63500" bIns="25400">
            <a:spAutoFit/>
          </a:bodyPr>
          <a:lstStyle/>
          <a:p>
            <a:pPr algn="ctr"/>
            <a:r>
              <a:rPr lang="en-US" b="1">
                <a:solidFill>
                  <a:schemeClr val="tx1"/>
                </a:solidFill>
              </a:rPr>
              <a:t>Text</a:t>
            </a:r>
          </a:p>
          <a:p>
            <a:pPr algn="ctr"/>
            <a:r>
              <a:rPr lang="en-US" b="1">
                <a:solidFill>
                  <a:schemeClr val="tx1"/>
                </a:solidFill>
              </a:rPr>
              <a:t>(Your code)</a:t>
            </a:r>
          </a:p>
        </p:txBody>
      </p:sp>
      <p:sp>
        <p:nvSpPr>
          <p:cNvPr id="441356" name="Rectangle 12"/>
          <p:cNvSpPr>
            <a:spLocks noChangeArrowheads="1"/>
          </p:cNvSpPr>
          <p:nvPr/>
        </p:nvSpPr>
        <p:spPr bwMode="auto">
          <a:xfrm>
            <a:off x="5924550" y="5313363"/>
            <a:ext cx="1155700" cy="325437"/>
          </a:xfrm>
          <a:prstGeom prst="rect">
            <a:avLst/>
          </a:prstGeom>
          <a:noFill/>
          <a:ln w="12700">
            <a:noFill/>
            <a:miter lim="800000"/>
            <a:headEnd/>
            <a:tailEnd/>
          </a:ln>
          <a:effectLst/>
        </p:spPr>
        <p:txBody>
          <a:bodyPr wrap="none" lIns="63500" tIns="25400" rIns="63500" bIns="25400">
            <a:spAutoFit/>
          </a:bodyPr>
          <a:lstStyle/>
          <a:p>
            <a:pPr algn="ctr"/>
            <a:r>
              <a:rPr lang="en-US" b="1" dirty="0">
                <a:solidFill>
                  <a:schemeClr val="tx1"/>
                </a:solidFill>
              </a:rPr>
              <a:t>Reserved</a:t>
            </a:r>
            <a:endParaRPr lang="en-US" sz="1600" b="1" dirty="0">
              <a:solidFill>
                <a:schemeClr val="tx1"/>
              </a:solidFill>
            </a:endParaRPr>
          </a:p>
        </p:txBody>
      </p:sp>
      <p:sp>
        <p:nvSpPr>
          <p:cNvPr id="441357" name="Rectangle 13" descr="10%"/>
          <p:cNvSpPr>
            <a:spLocks noChangeArrowheads="1"/>
          </p:cNvSpPr>
          <p:nvPr/>
        </p:nvSpPr>
        <p:spPr bwMode="auto">
          <a:xfrm>
            <a:off x="5695950" y="3962400"/>
            <a:ext cx="1600200" cy="228600"/>
          </a:xfrm>
          <a:prstGeom prst="rect">
            <a:avLst/>
          </a:prstGeom>
          <a:pattFill prst="pct10">
            <a:fgClr>
              <a:srgbClr val="009900"/>
            </a:fgClr>
            <a:bgClr>
              <a:srgbClr val="FFFFFF"/>
            </a:bgClr>
          </a:pattFill>
          <a:ln w="12700">
            <a:solidFill>
              <a:schemeClr val="tx1"/>
            </a:solidFill>
            <a:miter lim="800000"/>
            <a:headEnd/>
            <a:tailEnd/>
          </a:ln>
          <a:effectLst/>
        </p:spPr>
        <p:txBody>
          <a:bodyPr wrap="none" anchor="ctr"/>
          <a:lstStyle/>
          <a:p>
            <a:endParaRPr lang="en-US"/>
          </a:p>
        </p:txBody>
      </p:sp>
      <p:sp>
        <p:nvSpPr>
          <p:cNvPr id="441358" name="Rectangle 14"/>
          <p:cNvSpPr>
            <a:spLocks noChangeArrowheads="1"/>
          </p:cNvSpPr>
          <p:nvPr/>
        </p:nvSpPr>
        <p:spPr bwMode="auto">
          <a:xfrm>
            <a:off x="5848350" y="3941763"/>
            <a:ext cx="1282700" cy="325437"/>
          </a:xfrm>
          <a:prstGeom prst="rect">
            <a:avLst/>
          </a:prstGeom>
          <a:noFill/>
          <a:ln w="12700">
            <a:noFill/>
            <a:miter lim="800000"/>
            <a:headEnd/>
            <a:tailEnd/>
          </a:ln>
          <a:effectLst/>
        </p:spPr>
        <p:txBody>
          <a:bodyPr wrap="none" lIns="63500" tIns="25400" rIns="63500" bIns="25400">
            <a:spAutoFit/>
          </a:bodyPr>
          <a:lstStyle/>
          <a:p>
            <a:r>
              <a:rPr lang="en-US" b="1">
                <a:solidFill>
                  <a:schemeClr val="tx1"/>
                </a:solidFill>
              </a:rPr>
              <a:t>Static data</a:t>
            </a:r>
          </a:p>
        </p:txBody>
      </p:sp>
      <p:sp>
        <p:nvSpPr>
          <p:cNvPr id="441361" name="Rectangle 17"/>
          <p:cNvSpPr>
            <a:spLocks noChangeArrowheads="1"/>
          </p:cNvSpPr>
          <p:nvPr/>
        </p:nvSpPr>
        <p:spPr bwMode="auto">
          <a:xfrm>
            <a:off x="7296150" y="5105400"/>
            <a:ext cx="1357313" cy="295275"/>
          </a:xfrm>
          <a:prstGeom prst="rect">
            <a:avLst/>
          </a:prstGeom>
          <a:noFill/>
          <a:ln w="12700">
            <a:noFill/>
            <a:miter lim="800000"/>
            <a:headEnd/>
            <a:tailEnd/>
          </a:ln>
          <a:effectLst/>
        </p:spPr>
        <p:txBody>
          <a:bodyPr wrap="none" lIns="63500" tIns="25400" rIns="63500" bIns="25400">
            <a:spAutoFit/>
          </a:bodyPr>
          <a:lstStyle/>
          <a:p>
            <a:r>
              <a:rPr lang="en-US" sz="1600">
                <a:solidFill>
                  <a:schemeClr val="tx1"/>
                </a:solidFill>
              </a:rPr>
              <a:t>0x 0040 0000</a:t>
            </a:r>
          </a:p>
        </p:txBody>
      </p:sp>
      <p:sp>
        <p:nvSpPr>
          <p:cNvPr id="441362" name="Rectangle 18"/>
          <p:cNvSpPr>
            <a:spLocks noChangeArrowheads="1"/>
          </p:cNvSpPr>
          <p:nvPr/>
        </p:nvSpPr>
        <p:spPr bwMode="auto">
          <a:xfrm>
            <a:off x="7296150" y="4048125"/>
            <a:ext cx="1357313" cy="295275"/>
          </a:xfrm>
          <a:prstGeom prst="rect">
            <a:avLst/>
          </a:prstGeom>
          <a:noFill/>
          <a:ln w="12700">
            <a:noFill/>
            <a:miter lim="800000"/>
            <a:headEnd/>
            <a:tailEnd/>
          </a:ln>
          <a:effectLst/>
        </p:spPr>
        <p:txBody>
          <a:bodyPr wrap="none" lIns="63500" tIns="25400" rIns="63500" bIns="25400">
            <a:spAutoFit/>
          </a:bodyPr>
          <a:lstStyle/>
          <a:p>
            <a:r>
              <a:rPr lang="en-US" sz="1600">
                <a:solidFill>
                  <a:schemeClr val="tx1"/>
                </a:solidFill>
              </a:rPr>
              <a:t>0x 1000 0000</a:t>
            </a:r>
          </a:p>
        </p:txBody>
      </p:sp>
      <p:sp>
        <p:nvSpPr>
          <p:cNvPr id="441363" name="Rectangle 19"/>
          <p:cNvSpPr>
            <a:spLocks noChangeArrowheads="1"/>
          </p:cNvSpPr>
          <p:nvPr/>
        </p:nvSpPr>
        <p:spPr bwMode="auto">
          <a:xfrm>
            <a:off x="7296150" y="3810000"/>
            <a:ext cx="1357313" cy="295275"/>
          </a:xfrm>
          <a:prstGeom prst="rect">
            <a:avLst/>
          </a:prstGeom>
          <a:noFill/>
          <a:ln w="12700">
            <a:noFill/>
            <a:miter lim="800000"/>
            <a:headEnd/>
            <a:tailEnd/>
          </a:ln>
          <a:effectLst/>
        </p:spPr>
        <p:txBody>
          <a:bodyPr wrap="none" lIns="63500" tIns="25400" rIns="63500" bIns="25400">
            <a:spAutoFit/>
          </a:bodyPr>
          <a:lstStyle/>
          <a:p>
            <a:r>
              <a:rPr lang="en-US" sz="1600">
                <a:solidFill>
                  <a:schemeClr val="tx1"/>
                </a:solidFill>
              </a:rPr>
              <a:t>0x 1000 8000</a:t>
            </a:r>
          </a:p>
        </p:txBody>
      </p:sp>
      <p:sp>
        <p:nvSpPr>
          <p:cNvPr id="441364" name="Rectangle 20"/>
          <p:cNvSpPr>
            <a:spLocks noChangeArrowheads="1"/>
          </p:cNvSpPr>
          <p:nvPr/>
        </p:nvSpPr>
        <p:spPr bwMode="auto">
          <a:xfrm>
            <a:off x="7296150" y="1524000"/>
            <a:ext cx="1413849" cy="297517"/>
          </a:xfrm>
          <a:prstGeom prst="rect">
            <a:avLst/>
          </a:prstGeom>
          <a:noFill/>
          <a:ln w="12700">
            <a:noFill/>
            <a:miter lim="800000"/>
            <a:headEnd/>
            <a:tailEnd/>
          </a:ln>
          <a:effectLst/>
        </p:spPr>
        <p:txBody>
          <a:bodyPr wrap="none" lIns="63500" tIns="25400" rIns="63500" bIns="25400">
            <a:spAutoFit/>
          </a:bodyPr>
          <a:lstStyle/>
          <a:p>
            <a:r>
              <a:rPr lang="en-US" sz="1600" dirty="0">
                <a:solidFill>
                  <a:schemeClr val="tx1"/>
                </a:solidFill>
              </a:rPr>
              <a:t>0x </a:t>
            </a:r>
            <a:r>
              <a:rPr lang="en-US" sz="1600" dirty="0" smtClean="0">
                <a:solidFill>
                  <a:schemeClr val="tx1"/>
                </a:solidFill>
              </a:rPr>
              <a:t>7FFFFFFC</a:t>
            </a:r>
            <a:endParaRPr lang="en-US" sz="1600" dirty="0">
              <a:solidFill>
                <a:schemeClr val="tx1"/>
              </a:solidFill>
            </a:endParaRPr>
          </a:p>
        </p:txBody>
      </p:sp>
      <p:sp>
        <p:nvSpPr>
          <p:cNvPr id="441365" name="Rectangle 21" descr="10%"/>
          <p:cNvSpPr>
            <a:spLocks noChangeArrowheads="1"/>
          </p:cNvSpPr>
          <p:nvPr/>
        </p:nvSpPr>
        <p:spPr bwMode="auto">
          <a:xfrm>
            <a:off x="5695950" y="1600200"/>
            <a:ext cx="1600200" cy="838200"/>
          </a:xfrm>
          <a:prstGeom prst="rect">
            <a:avLst/>
          </a:prstGeom>
          <a:pattFill prst="pct10">
            <a:fgClr>
              <a:srgbClr val="009900"/>
            </a:fgClr>
            <a:bgClr>
              <a:srgbClr val="FFFFFF"/>
            </a:bgClr>
          </a:pattFill>
          <a:ln w="12700">
            <a:solidFill>
              <a:schemeClr val="tx1"/>
            </a:solidFill>
            <a:miter lim="800000"/>
            <a:headEnd/>
            <a:tailEnd/>
          </a:ln>
          <a:effectLst/>
        </p:spPr>
        <p:txBody>
          <a:bodyPr wrap="none" anchor="ctr"/>
          <a:lstStyle/>
          <a:p>
            <a:endParaRPr lang="en-US"/>
          </a:p>
        </p:txBody>
      </p:sp>
      <p:sp>
        <p:nvSpPr>
          <p:cNvPr id="441366" name="Rectangle 22"/>
          <p:cNvSpPr>
            <a:spLocks noChangeArrowheads="1"/>
          </p:cNvSpPr>
          <p:nvPr/>
        </p:nvSpPr>
        <p:spPr bwMode="auto">
          <a:xfrm>
            <a:off x="6076950" y="1752600"/>
            <a:ext cx="736600" cy="325438"/>
          </a:xfrm>
          <a:prstGeom prst="rect">
            <a:avLst/>
          </a:prstGeom>
          <a:noFill/>
          <a:ln w="12700">
            <a:noFill/>
            <a:miter lim="800000"/>
            <a:headEnd/>
            <a:tailEnd/>
          </a:ln>
          <a:effectLst/>
        </p:spPr>
        <p:txBody>
          <a:bodyPr wrap="none" lIns="63500" tIns="25400" rIns="63500" bIns="25400">
            <a:spAutoFit/>
          </a:bodyPr>
          <a:lstStyle/>
          <a:p>
            <a:r>
              <a:rPr lang="en-US" b="1">
                <a:solidFill>
                  <a:schemeClr val="tx1"/>
                </a:solidFill>
              </a:rPr>
              <a:t>Stack</a:t>
            </a:r>
          </a:p>
        </p:txBody>
      </p:sp>
      <p:sp>
        <p:nvSpPr>
          <p:cNvPr id="441367" name="Rectangle 23" descr="10%"/>
          <p:cNvSpPr>
            <a:spLocks noChangeArrowheads="1"/>
          </p:cNvSpPr>
          <p:nvPr/>
        </p:nvSpPr>
        <p:spPr bwMode="auto">
          <a:xfrm>
            <a:off x="5695950" y="3124200"/>
            <a:ext cx="1600200" cy="838200"/>
          </a:xfrm>
          <a:prstGeom prst="rect">
            <a:avLst/>
          </a:prstGeom>
          <a:pattFill prst="pct10">
            <a:fgClr>
              <a:srgbClr val="009900"/>
            </a:fgClr>
            <a:bgClr>
              <a:srgbClr val="FFFFFF"/>
            </a:bgClr>
          </a:pattFill>
          <a:ln w="12700">
            <a:solidFill>
              <a:schemeClr val="tx1"/>
            </a:solidFill>
            <a:miter lim="800000"/>
            <a:headEnd/>
            <a:tailEnd/>
          </a:ln>
          <a:effectLst/>
        </p:spPr>
        <p:txBody>
          <a:bodyPr wrap="none" anchor="ctr"/>
          <a:lstStyle/>
          <a:p>
            <a:endParaRPr lang="en-US"/>
          </a:p>
        </p:txBody>
      </p:sp>
      <p:sp>
        <p:nvSpPr>
          <p:cNvPr id="441368" name="Rectangle 24"/>
          <p:cNvSpPr>
            <a:spLocks noChangeArrowheads="1"/>
          </p:cNvSpPr>
          <p:nvPr/>
        </p:nvSpPr>
        <p:spPr bwMode="auto">
          <a:xfrm>
            <a:off x="5695950" y="3276600"/>
            <a:ext cx="1612900" cy="600075"/>
          </a:xfrm>
          <a:prstGeom prst="rect">
            <a:avLst/>
          </a:prstGeom>
          <a:noFill/>
          <a:ln w="12700">
            <a:noFill/>
            <a:miter lim="800000"/>
            <a:headEnd/>
            <a:tailEnd/>
          </a:ln>
          <a:effectLst/>
        </p:spPr>
        <p:txBody>
          <a:bodyPr wrap="none" lIns="63500" tIns="25400" rIns="63500" bIns="25400">
            <a:spAutoFit/>
          </a:bodyPr>
          <a:lstStyle/>
          <a:p>
            <a:pPr algn="ctr"/>
            <a:r>
              <a:rPr lang="en-US" b="1">
                <a:solidFill>
                  <a:schemeClr val="tx1"/>
                </a:solidFill>
              </a:rPr>
              <a:t>Dynamic data</a:t>
            </a:r>
          </a:p>
          <a:p>
            <a:pPr algn="ctr"/>
            <a:r>
              <a:rPr lang="en-US" b="1">
                <a:solidFill>
                  <a:schemeClr val="tx1"/>
                </a:solidFill>
              </a:rPr>
              <a:t>(heap)</a:t>
            </a:r>
          </a:p>
        </p:txBody>
      </p:sp>
      <p:sp>
        <p:nvSpPr>
          <p:cNvPr id="441369" name="AutoShape 25" descr="10%"/>
          <p:cNvSpPr>
            <a:spLocks noChangeArrowheads="1"/>
          </p:cNvSpPr>
          <p:nvPr/>
        </p:nvSpPr>
        <p:spPr bwMode="auto">
          <a:xfrm>
            <a:off x="6381750" y="2286000"/>
            <a:ext cx="228600" cy="457200"/>
          </a:xfrm>
          <a:prstGeom prst="downArrow">
            <a:avLst>
              <a:gd name="adj1" fmla="val 50000"/>
              <a:gd name="adj2" fmla="val 50000"/>
            </a:avLst>
          </a:prstGeom>
          <a:pattFill prst="pct10">
            <a:fgClr>
              <a:srgbClr val="009900"/>
            </a:fgClr>
            <a:bgClr>
              <a:srgbClr val="FFFFFF"/>
            </a:bgClr>
          </a:pattFill>
          <a:ln w="12700">
            <a:solidFill>
              <a:schemeClr val="tx1"/>
            </a:solidFill>
            <a:miter lim="800000"/>
            <a:headEnd/>
            <a:tailEnd/>
          </a:ln>
          <a:effectLst/>
        </p:spPr>
        <p:txBody>
          <a:bodyPr wrap="none" anchor="ctr"/>
          <a:lstStyle/>
          <a:p>
            <a:endParaRPr lang="en-US"/>
          </a:p>
        </p:txBody>
      </p:sp>
      <p:sp>
        <p:nvSpPr>
          <p:cNvPr id="441370" name="AutoShape 26" descr="10%"/>
          <p:cNvSpPr>
            <a:spLocks noChangeArrowheads="1"/>
          </p:cNvSpPr>
          <p:nvPr/>
        </p:nvSpPr>
        <p:spPr bwMode="auto">
          <a:xfrm>
            <a:off x="6381750" y="2895600"/>
            <a:ext cx="228600" cy="457200"/>
          </a:xfrm>
          <a:prstGeom prst="upArrow">
            <a:avLst>
              <a:gd name="adj1" fmla="val 50000"/>
              <a:gd name="adj2" fmla="val 50000"/>
            </a:avLst>
          </a:prstGeom>
          <a:pattFill prst="pct10">
            <a:fgClr>
              <a:srgbClr val="009900"/>
            </a:fgClr>
            <a:bgClr>
              <a:srgbClr val="FFFFFF"/>
            </a:bgClr>
          </a:pattFill>
          <a:ln w="12700">
            <a:solidFill>
              <a:schemeClr val="tx1"/>
            </a:solidFill>
            <a:miter lim="800000"/>
            <a:headEnd/>
            <a:tailEnd/>
          </a:ln>
          <a:effectLst/>
        </p:spPr>
        <p:txBody>
          <a:bodyPr wrap="none" anchor="ctr"/>
          <a:lstStyle/>
          <a:p>
            <a:endParaRPr lang="en-US"/>
          </a:p>
        </p:txBody>
      </p:sp>
      <p:sp>
        <p:nvSpPr>
          <p:cNvPr id="441371" name="Rectangle 27"/>
          <p:cNvSpPr>
            <a:spLocks noChangeArrowheads="1"/>
          </p:cNvSpPr>
          <p:nvPr/>
        </p:nvSpPr>
        <p:spPr bwMode="auto">
          <a:xfrm>
            <a:off x="4933950" y="1447800"/>
            <a:ext cx="512961" cy="328295"/>
          </a:xfrm>
          <a:prstGeom prst="rect">
            <a:avLst/>
          </a:prstGeom>
          <a:noFill/>
          <a:ln w="12700">
            <a:noFill/>
            <a:miter lim="800000"/>
            <a:headEnd/>
            <a:tailEnd/>
          </a:ln>
          <a:effectLst/>
        </p:spPr>
        <p:txBody>
          <a:bodyPr wrap="none" lIns="63500" tIns="25400" rIns="63500" bIns="25400">
            <a:spAutoFit/>
          </a:bodyPr>
          <a:lstStyle/>
          <a:p>
            <a:r>
              <a:rPr lang="en-US" dirty="0" smtClean="0">
                <a:solidFill>
                  <a:schemeClr val="tx1"/>
                </a:solidFill>
              </a:rPr>
              <a:t>$</a:t>
            </a:r>
            <a:r>
              <a:rPr lang="en-US" dirty="0" err="1" smtClean="0">
                <a:solidFill>
                  <a:schemeClr val="tx1"/>
                </a:solidFill>
              </a:rPr>
              <a:t>fp</a:t>
            </a:r>
            <a:r>
              <a:rPr lang="en-US" dirty="0" smtClean="0">
                <a:solidFill>
                  <a:schemeClr val="tx1"/>
                </a:solidFill>
              </a:rPr>
              <a:t> </a:t>
            </a:r>
            <a:endParaRPr lang="en-US" dirty="0">
              <a:solidFill>
                <a:schemeClr val="tx1"/>
              </a:solidFill>
            </a:endParaRPr>
          </a:p>
        </p:txBody>
      </p:sp>
      <p:sp>
        <p:nvSpPr>
          <p:cNvPr id="441372" name="Rectangle 28"/>
          <p:cNvSpPr>
            <a:spLocks noChangeArrowheads="1"/>
          </p:cNvSpPr>
          <p:nvPr/>
        </p:nvSpPr>
        <p:spPr bwMode="auto">
          <a:xfrm>
            <a:off x="4857752" y="4032257"/>
            <a:ext cx="571500" cy="325437"/>
          </a:xfrm>
          <a:prstGeom prst="rect">
            <a:avLst/>
          </a:prstGeom>
          <a:noFill/>
          <a:ln w="12700">
            <a:noFill/>
            <a:miter lim="800000"/>
            <a:headEnd/>
            <a:tailEnd/>
          </a:ln>
          <a:effectLst/>
        </p:spPr>
        <p:txBody>
          <a:bodyPr wrap="none" lIns="63500" tIns="25400" rIns="63500" bIns="25400">
            <a:spAutoFit/>
          </a:bodyPr>
          <a:lstStyle/>
          <a:p>
            <a:r>
              <a:rPr lang="en-US">
                <a:solidFill>
                  <a:schemeClr val="tx1"/>
                </a:solidFill>
              </a:rPr>
              <a:t>$gp </a:t>
            </a:r>
          </a:p>
        </p:txBody>
      </p:sp>
      <p:sp>
        <p:nvSpPr>
          <p:cNvPr id="441373" name="Rectangle 29"/>
          <p:cNvSpPr>
            <a:spLocks noChangeArrowheads="1"/>
          </p:cNvSpPr>
          <p:nvPr/>
        </p:nvSpPr>
        <p:spPr bwMode="auto">
          <a:xfrm>
            <a:off x="4959350" y="5105400"/>
            <a:ext cx="508000" cy="325438"/>
          </a:xfrm>
          <a:prstGeom prst="rect">
            <a:avLst/>
          </a:prstGeom>
          <a:noFill/>
          <a:ln w="12700">
            <a:noFill/>
            <a:miter lim="800000"/>
            <a:headEnd/>
            <a:tailEnd/>
          </a:ln>
          <a:effectLst/>
        </p:spPr>
        <p:txBody>
          <a:bodyPr wrap="none" lIns="63500" tIns="25400" rIns="63500" bIns="25400">
            <a:spAutoFit/>
          </a:bodyPr>
          <a:lstStyle/>
          <a:p>
            <a:r>
              <a:rPr lang="en-US">
                <a:solidFill>
                  <a:schemeClr val="tx1"/>
                </a:solidFill>
              </a:rPr>
              <a:t>PC </a:t>
            </a:r>
          </a:p>
        </p:txBody>
      </p:sp>
      <p:sp>
        <p:nvSpPr>
          <p:cNvPr id="441374" name="Line 30"/>
          <p:cNvSpPr>
            <a:spLocks noChangeShapeType="1"/>
          </p:cNvSpPr>
          <p:nvPr/>
        </p:nvSpPr>
        <p:spPr bwMode="auto">
          <a:xfrm>
            <a:off x="5410208" y="2428868"/>
            <a:ext cx="304800" cy="0"/>
          </a:xfrm>
          <a:prstGeom prst="line">
            <a:avLst/>
          </a:prstGeom>
          <a:noFill/>
          <a:ln w="12700">
            <a:solidFill>
              <a:schemeClr val="tx1"/>
            </a:solidFill>
            <a:round/>
            <a:headEnd/>
            <a:tailEnd type="triangle" w="med" len="med"/>
          </a:ln>
          <a:effectLst/>
        </p:spPr>
        <p:txBody>
          <a:bodyPr/>
          <a:lstStyle/>
          <a:p>
            <a:endParaRPr lang="en-US"/>
          </a:p>
        </p:txBody>
      </p:sp>
      <p:sp>
        <p:nvSpPr>
          <p:cNvPr id="441379" name="Line 35"/>
          <p:cNvSpPr>
            <a:spLocks noChangeShapeType="1"/>
          </p:cNvSpPr>
          <p:nvPr/>
        </p:nvSpPr>
        <p:spPr bwMode="auto">
          <a:xfrm>
            <a:off x="5365752" y="4205294"/>
            <a:ext cx="304800" cy="0"/>
          </a:xfrm>
          <a:prstGeom prst="line">
            <a:avLst/>
          </a:prstGeom>
          <a:noFill/>
          <a:ln w="12700">
            <a:solidFill>
              <a:schemeClr val="tx1"/>
            </a:solidFill>
            <a:round/>
            <a:headEnd/>
            <a:tailEnd type="triangle" w="med" len="med"/>
          </a:ln>
          <a:effectLst/>
        </p:spPr>
        <p:txBody>
          <a:bodyPr/>
          <a:lstStyle/>
          <a:p>
            <a:endParaRPr lang="en-US"/>
          </a:p>
        </p:txBody>
      </p:sp>
      <p:sp>
        <p:nvSpPr>
          <p:cNvPr id="441380" name="Line 36"/>
          <p:cNvSpPr>
            <a:spLocks noChangeShapeType="1"/>
          </p:cNvSpPr>
          <p:nvPr/>
        </p:nvSpPr>
        <p:spPr bwMode="auto">
          <a:xfrm>
            <a:off x="5391150" y="5257800"/>
            <a:ext cx="304800" cy="0"/>
          </a:xfrm>
          <a:prstGeom prst="line">
            <a:avLst/>
          </a:prstGeom>
          <a:noFill/>
          <a:ln w="12700">
            <a:solidFill>
              <a:schemeClr val="tx1"/>
            </a:solidFill>
            <a:round/>
            <a:headEnd/>
            <a:tailEnd type="triangle" w="med" len="med"/>
          </a:ln>
          <a:effectLst/>
        </p:spPr>
        <p:txBody>
          <a:bodyPr/>
          <a:lstStyle/>
          <a:p>
            <a:endParaRPr lang="en-US"/>
          </a:p>
        </p:txBody>
      </p:sp>
      <p:sp>
        <p:nvSpPr>
          <p:cNvPr id="29" name="Rectangle 27"/>
          <p:cNvSpPr>
            <a:spLocks noChangeArrowheads="1"/>
          </p:cNvSpPr>
          <p:nvPr/>
        </p:nvSpPr>
        <p:spPr bwMode="auto">
          <a:xfrm>
            <a:off x="4929190" y="2214554"/>
            <a:ext cx="564257" cy="328295"/>
          </a:xfrm>
          <a:prstGeom prst="rect">
            <a:avLst/>
          </a:prstGeom>
          <a:noFill/>
          <a:ln w="12700">
            <a:noFill/>
            <a:miter lim="800000"/>
            <a:headEnd/>
            <a:tailEnd/>
          </a:ln>
          <a:effectLst/>
        </p:spPr>
        <p:txBody>
          <a:bodyPr wrap="none" lIns="63500" tIns="25400" rIns="63500" bIns="25400">
            <a:spAutoFit/>
          </a:bodyPr>
          <a:lstStyle/>
          <a:p>
            <a:r>
              <a:rPr lang="en-US" dirty="0" smtClean="0">
                <a:solidFill>
                  <a:schemeClr val="tx1"/>
                </a:solidFill>
              </a:rPr>
              <a:t>$sp </a:t>
            </a:r>
            <a:endParaRPr lang="en-US" dirty="0">
              <a:solidFill>
                <a:schemeClr val="tx1"/>
              </a:solidFill>
            </a:endParaRPr>
          </a:p>
        </p:txBody>
      </p:sp>
      <p:sp>
        <p:nvSpPr>
          <p:cNvPr id="30" name="Line 30"/>
          <p:cNvSpPr>
            <a:spLocks noChangeShapeType="1"/>
          </p:cNvSpPr>
          <p:nvPr/>
        </p:nvSpPr>
        <p:spPr bwMode="auto">
          <a:xfrm>
            <a:off x="5429256" y="1643050"/>
            <a:ext cx="304800" cy="0"/>
          </a:xfrm>
          <a:prstGeom prst="line">
            <a:avLst/>
          </a:prstGeom>
          <a:noFill/>
          <a:ln w="12700">
            <a:solidFill>
              <a:schemeClr val="tx1"/>
            </a:solidFill>
            <a:round/>
            <a:headEnd/>
            <a:tailEnd type="triangle" w="med" len="med"/>
          </a:ln>
          <a:effectLst/>
        </p:spPr>
        <p:txBody>
          <a:bodyPr/>
          <a:lstStyle/>
          <a:p>
            <a:endParaRPr lang="en-US"/>
          </a:p>
        </p:txBody>
      </p:sp>
    </p:spTree>
    <p:extLst>
      <p:ext uri="{BB962C8B-B14F-4D97-AF65-F5344CB8AC3E}">
        <p14:creationId xmlns:p14="http://schemas.microsoft.com/office/powerpoint/2010/main" val="14781441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t>Compiling a C Leaf Procedure</a:t>
            </a:r>
          </a:p>
        </p:txBody>
      </p:sp>
      <p:sp>
        <p:nvSpPr>
          <p:cNvPr id="386051" name="Rectangle 3"/>
          <p:cNvSpPr>
            <a:spLocks noGrp="1" noChangeArrowheads="1"/>
          </p:cNvSpPr>
          <p:nvPr>
            <p:ph type="body" idx="1"/>
          </p:nvPr>
        </p:nvSpPr>
        <p:spPr>
          <a:xfrm>
            <a:off x="533400" y="762000"/>
            <a:ext cx="8324880" cy="2520950"/>
          </a:xfrm>
        </p:spPr>
        <p:txBody>
          <a:bodyPr/>
          <a:lstStyle/>
          <a:p>
            <a:r>
              <a:rPr lang="en-US" dirty="0">
                <a:solidFill>
                  <a:schemeClr val="accent1"/>
                </a:solidFill>
              </a:rPr>
              <a:t>Leaf</a:t>
            </a:r>
            <a:r>
              <a:rPr lang="en-US" dirty="0"/>
              <a:t> procedures are ones that do not call other procedures.  Give the MIPS assembler code for</a:t>
            </a:r>
            <a:endParaRPr lang="en-US" dirty="0">
              <a:latin typeface="Courier New" pitchFamily="49" charset="0"/>
            </a:endParaRPr>
          </a:p>
          <a:p>
            <a:pPr>
              <a:lnSpc>
                <a:spcPct val="60000"/>
              </a:lnSpc>
              <a:buFont typeface="Wingdings" pitchFamily="2" charset="2"/>
              <a:buNone/>
            </a:pPr>
            <a:r>
              <a:rPr lang="en-US" dirty="0">
                <a:latin typeface="Courier New" pitchFamily="49" charset="0"/>
              </a:rPr>
              <a:t>	</a:t>
            </a:r>
            <a:r>
              <a:rPr lang="en-US" sz="2400" dirty="0" err="1">
                <a:latin typeface="Courier New" pitchFamily="49" charset="0"/>
              </a:rPr>
              <a:t>int</a:t>
            </a:r>
            <a:r>
              <a:rPr lang="en-US" sz="2400" dirty="0">
                <a:latin typeface="Courier New" pitchFamily="49" charset="0"/>
              </a:rPr>
              <a:t> </a:t>
            </a:r>
            <a:r>
              <a:rPr lang="en-US" sz="2400" dirty="0" err="1">
                <a:latin typeface="Courier New" pitchFamily="49" charset="0"/>
              </a:rPr>
              <a:t>leaf_ex</a:t>
            </a:r>
            <a:r>
              <a:rPr lang="en-US" sz="2400" dirty="0">
                <a:latin typeface="Courier New" pitchFamily="49" charset="0"/>
              </a:rPr>
              <a:t> (</a:t>
            </a:r>
            <a:r>
              <a:rPr lang="en-US" sz="2400" dirty="0" err="1">
                <a:latin typeface="Courier New" pitchFamily="49" charset="0"/>
              </a:rPr>
              <a:t>int</a:t>
            </a:r>
            <a:r>
              <a:rPr lang="en-US" sz="2400" dirty="0">
                <a:latin typeface="Courier New" pitchFamily="49" charset="0"/>
              </a:rPr>
              <a:t> g, </a:t>
            </a:r>
            <a:r>
              <a:rPr lang="en-US" sz="2400" dirty="0" err="1">
                <a:latin typeface="Courier New" pitchFamily="49" charset="0"/>
              </a:rPr>
              <a:t>int</a:t>
            </a:r>
            <a:r>
              <a:rPr lang="en-US" sz="2400" dirty="0">
                <a:latin typeface="Courier New" pitchFamily="49" charset="0"/>
              </a:rPr>
              <a:t> h, </a:t>
            </a:r>
            <a:r>
              <a:rPr lang="en-US" sz="2400" dirty="0" err="1">
                <a:latin typeface="Courier New" pitchFamily="49" charset="0"/>
              </a:rPr>
              <a:t>int</a:t>
            </a:r>
            <a:r>
              <a:rPr lang="en-US" sz="2400" dirty="0">
                <a:latin typeface="Courier New" pitchFamily="49" charset="0"/>
              </a:rPr>
              <a:t> </a:t>
            </a:r>
            <a:r>
              <a:rPr lang="en-US" sz="2400" dirty="0" err="1">
                <a:latin typeface="Courier New" pitchFamily="49" charset="0"/>
              </a:rPr>
              <a:t>i</a:t>
            </a:r>
            <a:r>
              <a:rPr lang="en-US" sz="2400" dirty="0">
                <a:latin typeface="Courier New" pitchFamily="49" charset="0"/>
              </a:rPr>
              <a:t>, </a:t>
            </a:r>
            <a:r>
              <a:rPr lang="en-US" sz="2400" dirty="0" err="1">
                <a:latin typeface="Courier New" pitchFamily="49" charset="0"/>
              </a:rPr>
              <a:t>int</a:t>
            </a:r>
            <a:r>
              <a:rPr lang="en-US" sz="2400" dirty="0">
                <a:latin typeface="Courier New" pitchFamily="49" charset="0"/>
              </a:rPr>
              <a:t> j)</a:t>
            </a:r>
          </a:p>
          <a:p>
            <a:pPr>
              <a:lnSpc>
                <a:spcPct val="60000"/>
              </a:lnSpc>
              <a:buFont typeface="Wingdings" pitchFamily="2" charset="2"/>
              <a:buNone/>
            </a:pPr>
            <a:r>
              <a:rPr lang="en-US" sz="2400" dirty="0">
                <a:latin typeface="Courier New" pitchFamily="49" charset="0"/>
              </a:rPr>
              <a:t>  {	</a:t>
            </a:r>
            <a:r>
              <a:rPr lang="en-US" sz="2400" dirty="0" err="1">
                <a:latin typeface="Courier New" pitchFamily="49" charset="0"/>
              </a:rPr>
              <a:t>int</a:t>
            </a:r>
            <a:r>
              <a:rPr lang="en-US" sz="2400" dirty="0">
                <a:latin typeface="Courier New" pitchFamily="49" charset="0"/>
              </a:rPr>
              <a:t> f;</a:t>
            </a:r>
          </a:p>
          <a:p>
            <a:pPr>
              <a:lnSpc>
                <a:spcPct val="60000"/>
              </a:lnSpc>
              <a:buFont typeface="Wingdings" pitchFamily="2" charset="2"/>
              <a:buNone/>
            </a:pPr>
            <a:r>
              <a:rPr lang="en-US" sz="2400" dirty="0">
                <a:latin typeface="Courier New" pitchFamily="49" charset="0"/>
              </a:rPr>
              <a:t>		f = (</a:t>
            </a:r>
            <a:r>
              <a:rPr lang="en-US" sz="2400" dirty="0" err="1">
                <a:latin typeface="Courier New" pitchFamily="49" charset="0"/>
              </a:rPr>
              <a:t>g+h</a:t>
            </a:r>
            <a:r>
              <a:rPr lang="en-US" sz="2400" dirty="0">
                <a:latin typeface="Courier New" pitchFamily="49" charset="0"/>
              </a:rPr>
              <a:t>) – (</a:t>
            </a:r>
            <a:r>
              <a:rPr lang="en-US" sz="2400" dirty="0" err="1">
                <a:latin typeface="Courier New" pitchFamily="49" charset="0"/>
              </a:rPr>
              <a:t>i+j</a:t>
            </a:r>
            <a:r>
              <a:rPr lang="en-US" sz="2400" dirty="0">
                <a:latin typeface="Courier New" pitchFamily="49" charset="0"/>
              </a:rPr>
              <a:t>);</a:t>
            </a:r>
          </a:p>
          <a:p>
            <a:pPr>
              <a:lnSpc>
                <a:spcPct val="60000"/>
              </a:lnSpc>
              <a:buFont typeface="Wingdings" pitchFamily="2" charset="2"/>
              <a:buNone/>
            </a:pPr>
            <a:r>
              <a:rPr lang="en-US" sz="2400" dirty="0">
                <a:latin typeface="Courier New" pitchFamily="49" charset="0"/>
              </a:rPr>
              <a:t>		return f;	}</a:t>
            </a:r>
          </a:p>
          <a:p>
            <a:pPr>
              <a:lnSpc>
                <a:spcPct val="60000"/>
              </a:lnSpc>
              <a:buFont typeface="Wingdings" pitchFamily="2" charset="2"/>
              <a:buNone/>
            </a:pPr>
            <a:r>
              <a:rPr lang="en-US" sz="2400" dirty="0"/>
              <a:t>   </a:t>
            </a:r>
            <a:r>
              <a:rPr lang="en-US" dirty="0"/>
              <a:t>where </a:t>
            </a:r>
            <a:r>
              <a:rPr lang="en-US" dirty="0">
                <a:latin typeface="Courier New" pitchFamily="49" charset="0"/>
              </a:rPr>
              <a:t>g</a:t>
            </a:r>
            <a:r>
              <a:rPr lang="en-US" dirty="0"/>
              <a:t>, </a:t>
            </a:r>
            <a:r>
              <a:rPr lang="en-US" dirty="0">
                <a:latin typeface="Courier New" pitchFamily="49" charset="0"/>
              </a:rPr>
              <a:t>h</a:t>
            </a:r>
            <a:r>
              <a:rPr lang="en-US" dirty="0"/>
              <a:t>, </a:t>
            </a:r>
            <a:r>
              <a:rPr lang="en-US" dirty="0" err="1">
                <a:latin typeface="Courier New" pitchFamily="49" charset="0"/>
              </a:rPr>
              <a:t>i</a:t>
            </a:r>
            <a:r>
              <a:rPr lang="en-US" dirty="0"/>
              <a:t>, and </a:t>
            </a:r>
            <a:r>
              <a:rPr lang="en-US" dirty="0">
                <a:latin typeface="Courier New" pitchFamily="49" charset="0"/>
              </a:rPr>
              <a:t>j</a:t>
            </a:r>
            <a:r>
              <a:rPr lang="en-US" dirty="0"/>
              <a:t> are in </a:t>
            </a:r>
            <a:r>
              <a:rPr lang="en-US" dirty="0">
                <a:latin typeface="Courier New" pitchFamily="49" charset="0"/>
              </a:rPr>
              <a:t>$a0</a:t>
            </a:r>
            <a:r>
              <a:rPr lang="en-US" dirty="0"/>
              <a:t>, </a:t>
            </a:r>
            <a:r>
              <a:rPr lang="en-US" dirty="0">
                <a:latin typeface="Courier New" pitchFamily="49" charset="0"/>
              </a:rPr>
              <a:t>$a1</a:t>
            </a:r>
            <a:r>
              <a:rPr lang="en-US" dirty="0"/>
              <a:t>, </a:t>
            </a:r>
            <a:r>
              <a:rPr lang="en-US" dirty="0">
                <a:latin typeface="Courier New" pitchFamily="49" charset="0"/>
              </a:rPr>
              <a:t>$a2</a:t>
            </a:r>
            <a:r>
              <a:rPr lang="en-US" dirty="0"/>
              <a:t>, </a:t>
            </a:r>
            <a:r>
              <a:rPr lang="en-US" dirty="0">
                <a:latin typeface="Courier New" pitchFamily="49" charset="0"/>
              </a:rPr>
              <a:t>$a3</a:t>
            </a:r>
          </a:p>
        </p:txBody>
      </p:sp>
    </p:spTree>
    <p:extLst>
      <p:ext uri="{BB962C8B-B14F-4D97-AF65-F5344CB8AC3E}">
        <p14:creationId xmlns:p14="http://schemas.microsoft.com/office/powerpoint/2010/main" val="1058950305"/>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r>
              <a:rPr lang="en-US"/>
              <a:t>Compiling a C Leaf Procedure</a:t>
            </a:r>
          </a:p>
        </p:txBody>
      </p:sp>
      <p:sp>
        <p:nvSpPr>
          <p:cNvPr id="425987" name="Rectangle 3"/>
          <p:cNvSpPr>
            <a:spLocks noGrp="1" noChangeArrowheads="1"/>
          </p:cNvSpPr>
          <p:nvPr>
            <p:ph type="body" idx="1"/>
          </p:nvPr>
        </p:nvSpPr>
        <p:spPr>
          <a:xfrm>
            <a:off x="533400" y="762000"/>
            <a:ext cx="7924800" cy="2520950"/>
          </a:xfrm>
        </p:spPr>
        <p:txBody>
          <a:bodyPr/>
          <a:lstStyle/>
          <a:p>
            <a:r>
              <a:rPr lang="en-US">
                <a:solidFill>
                  <a:schemeClr val="accent1"/>
                </a:solidFill>
              </a:rPr>
              <a:t>Leaf</a:t>
            </a:r>
            <a:r>
              <a:rPr lang="en-US"/>
              <a:t> procedures are ones that do not call other procedures.  Give the MIPS assembler code for</a:t>
            </a:r>
            <a:endParaRPr lang="en-US">
              <a:latin typeface="Courier New" pitchFamily="49" charset="0"/>
            </a:endParaRPr>
          </a:p>
          <a:p>
            <a:pPr>
              <a:lnSpc>
                <a:spcPct val="60000"/>
              </a:lnSpc>
              <a:buFont typeface="Wingdings" pitchFamily="2" charset="2"/>
              <a:buNone/>
            </a:pPr>
            <a:r>
              <a:rPr lang="en-US">
                <a:latin typeface="Courier New" pitchFamily="49" charset="0"/>
              </a:rPr>
              <a:t>	</a:t>
            </a:r>
            <a:r>
              <a:rPr lang="en-US" sz="2400">
                <a:latin typeface="Courier New" pitchFamily="49" charset="0"/>
              </a:rPr>
              <a:t>int leaf_ex (int g, int h, int i, int j)</a:t>
            </a:r>
          </a:p>
          <a:p>
            <a:pPr>
              <a:lnSpc>
                <a:spcPct val="60000"/>
              </a:lnSpc>
              <a:buFont typeface="Wingdings" pitchFamily="2" charset="2"/>
              <a:buNone/>
            </a:pPr>
            <a:r>
              <a:rPr lang="en-US" sz="2400">
                <a:latin typeface="Courier New" pitchFamily="49" charset="0"/>
              </a:rPr>
              <a:t>  { 	int f;</a:t>
            </a:r>
          </a:p>
          <a:p>
            <a:pPr>
              <a:lnSpc>
                <a:spcPct val="60000"/>
              </a:lnSpc>
              <a:buFont typeface="Wingdings" pitchFamily="2" charset="2"/>
              <a:buNone/>
            </a:pPr>
            <a:r>
              <a:rPr lang="en-US" sz="2400">
                <a:latin typeface="Courier New" pitchFamily="49" charset="0"/>
              </a:rPr>
              <a:t>		f = (g+h) – (i+j);</a:t>
            </a:r>
          </a:p>
          <a:p>
            <a:pPr>
              <a:lnSpc>
                <a:spcPct val="60000"/>
              </a:lnSpc>
              <a:buFont typeface="Wingdings" pitchFamily="2" charset="2"/>
              <a:buNone/>
            </a:pPr>
            <a:r>
              <a:rPr lang="en-US" sz="2400">
                <a:latin typeface="Courier New" pitchFamily="49" charset="0"/>
              </a:rPr>
              <a:t>		return f;	}</a:t>
            </a:r>
          </a:p>
          <a:p>
            <a:pPr>
              <a:lnSpc>
                <a:spcPct val="60000"/>
              </a:lnSpc>
              <a:buFont typeface="Wingdings" pitchFamily="2" charset="2"/>
              <a:buNone/>
            </a:pPr>
            <a:r>
              <a:rPr lang="en-US" sz="2400"/>
              <a:t>   </a:t>
            </a:r>
            <a:r>
              <a:rPr lang="en-US"/>
              <a:t>where </a:t>
            </a:r>
            <a:r>
              <a:rPr lang="en-US">
                <a:latin typeface="Courier New" pitchFamily="49" charset="0"/>
              </a:rPr>
              <a:t>g</a:t>
            </a:r>
            <a:r>
              <a:rPr lang="en-US"/>
              <a:t>, </a:t>
            </a:r>
            <a:r>
              <a:rPr lang="en-US">
                <a:latin typeface="Courier New" pitchFamily="49" charset="0"/>
              </a:rPr>
              <a:t>h</a:t>
            </a:r>
            <a:r>
              <a:rPr lang="en-US"/>
              <a:t>, </a:t>
            </a:r>
            <a:r>
              <a:rPr lang="en-US">
                <a:latin typeface="Courier New" pitchFamily="49" charset="0"/>
              </a:rPr>
              <a:t>i</a:t>
            </a:r>
            <a:r>
              <a:rPr lang="en-US"/>
              <a:t>, and </a:t>
            </a:r>
            <a:r>
              <a:rPr lang="en-US">
                <a:latin typeface="Courier New" pitchFamily="49" charset="0"/>
              </a:rPr>
              <a:t>j</a:t>
            </a:r>
            <a:r>
              <a:rPr lang="en-US"/>
              <a:t> are in </a:t>
            </a:r>
            <a:r>
              <a:rPr lang="en-US">
                <a:latin typeface="Courier New" pitchFamily="49" charset="0"/>
              </a:rPr>
              <a:t>$a0</a:t>
            </a:r>
            <a:r>
              <a:rPr lang="en-US"/>
              <a:t>, </a:t>
            </a:r>
            <a:r>
              <a:rPr lang="en-US">
                <a:latin typeface="Courier New" pitchFamily="49" charset="0"/>
              </a:rPr>
              <a:t>$a1</a:t>
            </a:r>
            <a:r>
              <a:rPr lang="en-US"/>
              <a:t>, </a:t>
            </a:r>
            <a:r>
              <a:rPr lang="en-US">
                <a:latin typeface="Courier New" pitchFamily="49" charset="0"/>
              </a:rPr>
              <a:t>$a2</a:t>
            </a:r>
            <a:r>
              <a:rPr lang="en-US"/>
              <a:t>, </a:t>
            </a:r>
            <a:r>
              <a:rPr lang="en-US">
                <a:latin typeface="Courier New" pitchFamily="49" charset="0"/>
              </a:rPr>
              <a:t>$a3</a:t>
            </a:r>
          </a:p>
        </p:txBody>
      </p:sp>
      <p:sp>
        <p:nvSpPr>
          <p:cNvPr id="425988" name="Rectangle 4"/>
          <p:cNvSpPr>
            <a:spLocks noChangeArrowheads="1"/>
          </p:cNvSpPr>
          <p:nvPr/>
        </p:nvSpPr>
        <p:spPr bwMode="auto">
          <a:xfrm>
            <a:off x="838200" y="3810000"/>
            <a:ext cx="7543800" cy="2895600"/>
          </a:xfrm>
          <a:prstGeom prst="rect">
            <a:avLst/>
          </a:prstGeom>
          <a:noFill/>
          <a:ln w="12700">
            <a:noFill/>
            <a:miter lim="800000"/>
            <a:headEnd/>
            <a:tailEnd/>
          </a:ln>
          <a:effectLst/>
        </p:spPr>
        <p:txBody>
          <a:bodyPr lIns="90488" tIns="44450" rIns="90488" bIns="44450"/>
          <a:lstStyle/>
          <a:p>
            <a:pPr marL="342900" indent="-342900">
              <a:lnSpc>
                <a:spcPct val="80000"/>
              </a:lnSpc>
              <a:spcBef>
                <a:spcPct val="10000"/>
              </a:spcBef>
              <a:buClr>
                <a:schemeClr val="accent1"/>
              </a:buClr>
              <a:buSzPct val="75000"/>
              <a:buFont typeface="Wingdings" pitchFamily="2" charset="2"/>
              <a:buNone/>
            </a:pPr>
            <a:r>
              <a:rPr lang="en-US" sz="2000" dirty="0" err="1">
                <a:solidFill>
                  <a:schemeClr val="tx1"/>
                </a:solidFill>
                <a:latin typeface="Courier New" pitchFamily="49" charset="0"/>
              </a:rPr>
              <a:t>leaf_ex</a:t>
            </a:r>
            <a:r>
              <a:rPr lang="en-US" sz="2000" dirty="0">
                <a:solidFill>
                  <a:schemeClr val="tx1"/>
                </a:solidFill>
                <a:latin typeface="Courier New" pitchFamily="49" charset="0"/>
              </a:rPr>
              <a:t>:  </a:t>
            </a:r>
            <a:r>
              <a:rPr lang="en-US" sz="2000" dirty="0" err="1">
                <a:solidFill>
                  <a:srgbClr val="FF0000"/>
                </a:solidFill>
                <a:latin typeface="Courier New" pitchFamily="49" charset="0"/>
              </a:rPr>
              <a:t>addi</a:t>
            </a:r>
            <a:r>
              <a:rPr lang="en-US" sz="2000" dirty="0">
                <a:solidFill>
                  <a:srgbClr val="FF0000"/>
                </a:solidFill>
                <a:latin typeface="Courier New" pitchFamily="49" charset="0"/>
              </a:rPr>
              <a:t>   $sp,$sp,-8	#make stack room</a:t>
            </a:r>
          </a:p>
          <a:p>
            <a:pPr marL="342900" indent="-342900">
              <a:lnSpc>
                <a:spcPct val="80000"/>
              </a:lnSpc>
              <a:spcBef>
                <a:spcPct val="10000"/>
              </a:spcBef>
              <a:buClr>
                <a:schemeClr val="accent1"/>
              </a:buClr>
              <a:buSzPct val="75000"/>
              <a:buFont typeface="Wingdings" pitchFamily="2" charset="2"/>
              <a:buNone/>
            </a:pPr>
            <a:r>
              <a:rPr lang="en-US" sz="2000" dirty="0">
                <a:solidFill>
                  <a:schemeClr val="tx1"/>
                </a:solidFill>
                <a:latin typeface="Courier New" pitchFamily="49" charset="0"/>
              </a:rPr>
              <a:t>          </a:t>
            </a:r>
            <a:r>
              <a:rPr lang="en-US" sz="2000" dirty="0" err="1">
                <a:solidFill>
                  <a:srgbClr val="FF0000"/>
                </a:solidFill>
                <a:latin typeface="Courier New" pitchFamily="49" charset="0"/>
              </a:rPr>
              <a:t>sw</a:t>
            </a:r>
            <a:r>
              <a:rPr lang="en-US" sz="2000" dirty="0">
                <a:solidFill>
                  <a:srgbClr val="FF0000"/>
                </a:solidFill>
                <a:latin typeface="Courier New" pitchFamily="49" charset="0"/>
              </a:rPr>
              <a:t>     $t1,4($sp)	#save $t1 on stack</a:t>
            </a:r>
          </a:p>
          <a:p>
            <a:pPr marL="342900" indent="-342900">
              <a:lnSpc>
                <a:spcPct val="80000"/>
              </a:lnSpc>
              <a:spcBef>
                <a:spcPct val="10000"/>
              </a:spcBef>
              <a:buClr>
                <a:schemeClr val="accent1"/>
              </a:buClr>
              <a:buSzPct val="75000"/>
              <a:buFont typeface="Wingdings" pitchFamily="2" charset="2"/>
              <a:buNone/>
            </a:pPr>
            <a:r>
              <a:rPr lang="en-US" sz="2000" dirty="0">
                <a:solidFill>
                  <a:srgbClr val="FF0000"/>
                </a:solidFill>
                <a:latin typeface="Courier New" pitchFamily="49" charset="0"/>
              </a:rPr>
              <a:t>          </a:t>
            </a:r>
            <a:r>
              <a:rPr lang="en-US" sz="2000" dirty="0" err="1">
                <a:solidFill>
                  <a:srgbClr val="FF0000"/>
                </a:solidFill>
                <a:latin typeface="Courier New" pitchFamily="49" charset="0"/>
              </a:rPr>
              <a:t>sw</a:t>
            </a:r>
            <a:r>
              <a:rPr lang="en-US" sz="2000" dirty="0">
                <a:solidFill>
                  <a:srgbClr val="FF0000"/>
                </a:solidFill>
                <a:latin typeface="Courier New" pitchFamily="49" charset="0"/>
              </a:rPr>
              <a:t>     $t0,0($sp)	#save $t0 on stack</a:t>
            </a:r>
          </a:p>
          <a:p>
            <a:pPr marL="342900" indent="-342900">
              <a:lnSpc>
                <a:spcPct val="80000"/>
              </a:lnSpc>
              <a:spcBef>
                <a:spcPct val="10000"/>
              </a:spcBef>
              <a:buClr>
                <a:schemeClr val="accent1"/>
              </a:buClr>
              <a:buSzPct val="75000"/>
              <a:buFont typeface="Wingdings" pitchFamily="2" charset="2"/>
              <a:buNone/>
            </a:pPr>
            <a:r>
              <a:rPr lang="en-US" sz="2000" dirty="0">
                <a:solidFill>
                  <a:schemeClr val="tx1"/>
                </a:solidFill>
                <a:latin typeface="Courier New" pitchFamily="49" charset="0"/>
              </a:rPr>
              <a:t>          add    $t0,$a0,$a1</a:t>
            </a:r>
          </a:p>
          <a:p>
            <a:pPr marL="342900" indent="-342900">
              <a:lnSpc>
                <a:spcPct val="80000"/>
              </a:lnSpc>
              <a:spcBef>
                <a:spcPct val="10000"/>
              </a:spcBef>
              <a:buClr>
                <a:schemeClr val="accent1"/>
              </a:buClr>
              <a:buSzPct val="75000"/>
              <a:buFont typeface="Wingdings" pitchFamily="2" charset="2"/>
              <a:buNone/>
            </a:pPr>
            <a:r>
              <a:rPr lang="en-US" sz="2000" dirty="0">
                <a:solidFill>
                  <a:schemeClr val="tx1"/>
                </a:solidFill>
                <a:latin typeface="Courier New" pitchFamily="49" charset="0"/>
              </a:rPr>
              <a:t>          add    $t1,$a2,$a3</a:t>
            </a:r>
          </a:p>
          <a:p>
            <a:pPr marL="342900" indent="-342900">
              <a:lnSpc>
                <a:spcPct val="80000"/>
              </a:lnSpc>
              <a:spcBef>
                <a:spcPct val="10000"/>
              </a:spcBef>
              <a:buClr>
                <a:schemeClr val="accent1"/>
              </a:buClr>
              <a:buSzPct val="75000"/>
              <a:buFont typeface="Wingdings" pitchFamily="2" charset="2"/>
              <a:buNone/>
            </a:pPr>
            <a:r>
              <a:rPr lang="en-US" sz="2000" dirty="0">
                <a:solidFill>
                  <a:schemeClr val="tx1"/>
                </a:solidFill>
                <a:latin typeface="Courier New" pitchFamily="49" charset="0"/>
              </a:rPr>
              <a:t>          sub    $v0,$t0,$t1</a:t>
            </a:r>
          </a:p>
          <a:p>
            <a:pPr marL="342900" indent="-342900">
              <a:lnSpc>
                <a:spcPct val="80000"/>
              </a:lnSpc>
              <a:spcBef>
                <a:spcPct val="10000"/>
              </a:spcBef>
              <a:buClr>
                <a:schemeClr val="accent1"/>
              </a:buClr>
              <a:buSzPct val="75000"/>
              <a:buFont typeface="Wingdings" pitchFamily="2" charset="2"/>
              <a:buNone/>
            </a:pPr>
            <a:r>
              <a:rPr lang="en-US" sz="2000" dirty="0">
                <a:solidFill>
                  <a:srgbClr val="FF0000"/>
                </a:solidFill>
                <a:latin typeface="Courier New" pitchFamily="49" charset="0"/>
              </a:rPr>
              <a:t>          </a:t>
            </a:r>
            <a:r>
              <a:rPr lang="en-US" sz="2000" dirty="0" err="1">
                <a:solidFill>
                  <a:srgbClr val="FF0000"/>
                </a:solidFill>
                <a:latin typeface="Courier New" pitchFamily="49" charset="0"/>
              </a:rPr>
              <a:t>lw</a:t>
            </a:r>
            <a:r>
              <a:rPr lang="en-US" sz="2000" dirty="0">
                <a:solidFill>
                  <a:srgbClr val="FF0000"/>
                </a:solidFill>
                <a:latin typeface="Courier New" pitchFamily="49" charset="0"/>
              </a:rPr>
              <a:t>     $t0,0($sp)	#restore $t0</a:t>
            </a:r>
          </a:p>
          <a:p>
            <a:pPr marL="342900" indent="-342900">
              <a:lnSpc>
                <a:spcPct val="80000"/>
              </a:lnSpc>
              <a:spcBef>
                <a:spcPct val="10000"/>
              </a:spcBef>
              <a:buClr>
                <a:schemeClr val="accent1"/>
              </a:buClr>
              <a:buSzPct val="75000"/>
              <a:buFont typeface="Wingdings" pitchFamily="2" charset="2"/>
              <a:buNone/>
            </a:pPr>
            <a:r>
              <a:rPr lang="en-US" sz="2000" dirty="0">
                <a:solidFill>
                  <a:srgbClr val="FF0000"/>
                </a:solidFill>
                <a:latin typeface="Courier New" pitchFamily="49" charset="0"/>
              </a:rPr>
              <a:t>          </a:t>
            </a:r>
            <a:r>
              <a:rPr lang="en-US" sz="2000" dirty="0" err="1">
                <a:solidFill>
                  <a:srgbClr val="FF0000"/>
                </a:solidFill>
                <a:latin typeface="Courier New" pitchFamily="49" charset="0"/>
              </a:rPr>
              <a:t>lw</a:t>
            </a:r>
            <a:r>
              <a:rPr lang="en-US" sz="2000" dirty="0">
                <a:solidFill>
                  <a:srgbClr val="FF0000"/>
                </a:solidFill>
                <a:latin typeface="Courier New" pitchFamily="49" charset="0"/>
              </a:rPr>
              <a:t>     $t1,4($sp)	#restore $t1</a:t>
            </a:r>
          </a:p>
          <a:p>
            <a:pPr marL="342900" indent="-342900">
              <a:lnSpc>
                <a:spcPct val="80000"/>
              </a:lnSpc>
              <a:spcBef>
                <a:spcPct val="10000"/>
              </a:spcBef>
              <a:buClr>
                <a:schemeClr val="accent1"/>
              </a:buClr>
              <a:buSzPct val="75000"/>
              <a:buFont typeface="Wingdings" pitchFamily="2" charset="2"/>
              <a:buNone/>
            </a:pPr>
            <a:r>
              <a:rPr lang="en-US" sz="2000" dirty="0">
                <a:solidFill>
                  <a:schemeClr val="tx1"/>
                </a:solidFill>
                <a:latin typeface="Courier New" pitchFamily="49" charset="0"/>
              </a:rPr>
              <a:t>          </a:t>
            </a:r>
            <a:r>
              <a:rPr lang="en-US" sz="2000" dirty="0" err="1">
                <a:solidFill>
                  <a:srgbClr val="FF0000"/>
                </a:solidFill>
                <a:latin typeface="Courier New" pitchFamily="49" charset="0"/>
              </a:rPr>
              <a:t>addi</a:t>
            </a:r>
            <a:r>
              <a:rPr lang="en-US" sz="2000" dirty="0">
                <a:solidFill>
                  <a:srgbClr val="FF0000"/>
                </a:solidFill>
                <a:latin typeface="Courier New" pitchFamily="49" charset="0"/>
              </a:rPr>
              <a:t>   $sp,$sp,8	#adjust stack </a:t>
            </a:r>
            <a:r>
              <a:rPr lang="en-US" sz="2000" dirty="0" err="1">
                <a:solidFill>
                  <a:srgbClr val="FF0000"/>
                </a:solidFill>
                <a:latin typeface="Courier New" pitchFamily="49" charset="0"/>
              </a:rPr>
              <a:t>ptr</a:t>
            </a:r>
            <a:endParaRPr lang="en-US" sz="2000" dirty="0">
              <a:solidFill>
                <a:srgbClr val="FF0000"/>
              </a:solidFill>
              <a:latin typeface="Courier New" pitchFamily="49" charset="0"/>
            </a:endParaRPr>
          </a:p>
          <a:p>
            <a:pPr marL="342900" indent="-342900">
              <a:lnSpc>
                <a:spcPct val="80000"/>
              </a:lnSpc>
              <a:spcBef>
                <a:spcPct val="10000"/>
              </a:spcBef>
              <a:buClr>
                <a:schemeClr val="accent1"/>
              </a:buClr>
              <a:buSzPct val="75000"/>
              <a:buFont typeface="Wingdings" pitchFamily="2" charset="2"/>
              <a:buNone/>
            </a:pPr>
            <a:r>
              <a:rPr lang="en-US" sz="2000" dirty="0">
                <a:solidFill>
                  <a:schemeClr val="tx1"/>
                </a:solidFill>
                <a:latin typeface="Courier New" pitchFamily="49" charset="0"/>
              </a:rPr>
              <a:t>          </a:t>
            </a:r>
            <a:r>
              <a:rPr lang="en-US" sz="2000" dirty="0" err="1">
                <a:solidFill>
                  <a:schemeClr val="tx1"/>
                </a:solidFill>
                <a:latin typeface="Courier New" pitchFamily="49" charset="0"/>
              </a:rPr>
              <a:t>jr</a:t>
            </a:r>
            <a:r>
              <a:rPr lang="en-US" sz="2000" dirty="0">
                <a:solidFill>
                  <a:schemeClr val="tx1"/>
                </a:solidFill>
                <a:latin typeface="Courier New" pitchFamily="49" charset="0"/>
              </a:rPr>
              <a:t>     $</a:t>
            </a:r>
            <a:r>
              <a:rPr lang="en-US" sz="2000" dirty="0" err="1">
                <a:solidFill>
                  <a:schemeClr val="tx1"/>
                </a:solidFill>
                <a:latin typeface="Courier New" pitchFamily="49" charset="0"/>
              </a:rPr>
              <a:t>ra</a:t>
            </a:r>
            <a:endParaRPr lang="en-US" sz="2000" dirty="0">
              <a:solidFill>
                <a:schemeClr val="tx1"/>
              </a:solidFill>
              <a:latin typeface="Courier New" pitchFamily="49" charset="0"/>
            </a:endParaRPr>
          </a:p>
        </p:txBody>
      </p:sp>
    </p:spTree>
    <p:extLst>
      <p:ext uri="{BB962C8B-B14F-4D97-AF65-F5344CB8AC3E}">
        <p14:creationId xmlns:p14="http://schemas.microsoft.com/office/powerpoint/2010/main" val="18752498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59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Stack Usage</a:t>
            </a:r>
            <a:endParaRPr lang="en-US" dirty="0"/>
          </a:p>
        </p:txBody>
      </p:sp>
      <p:sp>
        <p:nvSpPr>
          <p:cNvPr id="3" name="Content Placeholder 2"/>
          <p:cNvSpPr>
            <a:spLocks noGrp="1"/>
          </p:cNvSpPr>
          <p:nvPr>
            <p:ph idx="1"/>
          </p:nvPr>
        </p:nvSpPr>
        <p:spPr>
          <a:xfrm>
            <a:off x="685800" y="857232"/>
            <a:ext cx="7848600" cy="1528624"/>
          </a:xfrm>
        </p:spPr>
        <p:txBody>
          <a:bodyPr/>
          <a:lstStyle/>
          <a:p>
            <a:r>
              <a:rPr lang="en-US" dirty="0" smtClean="0"/>
              <a:t>Pushing arguments on the stack</a:t>
            </a:r>
          </a:p>
          <a:p>
            <a:pPr marL="342900" indent="-342900">
              <a:lnSpc>
                <a:spcPct val="80000"/>
              </a:lnSpc>
              <a:spcBef>
                <a:spcPct val="10000"/>
              </a:spcBef>
              <a:buNone/>
            </a:pPr>
            <a:endParaRPr lang="en-US" sz="2000" dirty="0" smtClean="0">
              <a:latin typeface="Courier New" pitchFamily="49" charset="0"/>
            </a:endParaRPr>
          </a:p>
          <a:p>
            <a:pPr marL="342900" indent="-342900" algn="r">
              <a:lnSpc>
                <a:spcPct val="80000"/>
              </a:lnSpc>
              <a:spcBef>
                <a:spcPct val="10000"/>
              </a:spcBef>
              <a:buNone/>
            </a:pPr>
            <a:r>
              <a:rPr lang="en-US" sz="2000" dirty="0" err="1" smtClean="0">
                <a:latin typeface="Courier New" pitchFamily="49" charset="0"/>
              </a:rPr>
              <a:t>leaf_ex</a:t>
            </a:r>
            <a:r>
              <a:rPr lang="en-US" sz="2000" dirty="0" smtClean="0">
                <a:latin typeface="Courier New" pitchFamily="49" charset="0"/>
              </a:rPr>
              <a:t>:  </a:t>
            </a:r>
            <a:r>
              <a:rPr lang="en-US" sz="2000" dirty="0" err="1" smtClean="0">
                <a:solidFill>
                  <a:srgbClr val="FF0000"/>
                </a:solidFill>
                <a:latin typeface="Courier New" pitchFamily="49" charset="0"/>
              </a:rPr>
              <a:t>addi</a:t>
            </a:r>
            <a:r>
              <a:rPr lang="en-US" sz="2000" dirty="0" smtClean="0">
                <a:solidFill>
                  <a:srgbClr val="FF0000"/>
                </a:solidFill>
                <a:latin typeface="Courier New" pitchFamily="49" charset="0"/>
              </a:rPr>
              <a:t>   $sp,$sp,-8</a:t>
            </a:r>
          </a:p>
          <a:p>
            <a:pPr marL="342900" indent="-342900" algn="r">
              <a:lnSpc>
                <a:spcPct val="80000"/>
              </a:lnSpc>
              <a:spcBef>
                <a:spcPct val="10000"/>
              </a:spcBef>
              <a:buNone/>
            </a:pPr>
            <a:r>
              <a:rPr lang="en-US" sz="2000" dirty="0" smtClean="0">
                <a:latin typeface="Courier New" pitchFamily="49" charset="0"/>
              </a:rPr>
              <a:t>          </a:t>
            </a:r>
            <a:r>
              <a:rPr lang="en-US" sz="2000" dirty="0" err="1" smtClean="0">
                <a:solidFill>
                  <a:srgbClr val="FF0000"/>
                </a:solidFill>
                <a:latin typeface="Courier New" pitchFamily="49" charset="0"/>
              </a:rPr>
              <a:t>sw</a:t>
            </a:r>
            <a:r>
              <a:rPr lang="en-US" sz="2000" dirty="0" smtClean="0">
                <a:solidFill>
                  <a:srgbClr val="FF0000"/>
                </a:solidFill>
                <a:latin typeface="Courier New" pitchFamily="49" charset="0"/>
              </a:rPr>
              <a:t>     $t1,4($sp)</a:t>
            </a:r>
          </a:p>
          <a:p>
            <a:pPr marL="342900" indent="-342900" algn="r">
              <a:lnSpc>
                <a:spcPct val="80000"/>
              </a:lnSpc>
              <a:spcBef>
                <a:spcPct val="10000"/>
              </a:spcBef>
              <a:buNone/>
            </a:pPr>
            <a:r>
              <a:rPr lang="en-US" sz="2000" dirty="0" smtClean="0">
                <a:solidFill>
                  <a:srgbClr val="FF0000"/>
                </a:solidFill>
                <a:latin typeface="Courier New" pitchFamily="49" charset="0"/>
              </a:rPr>
              <a:t>          </a:t>
            </a:r>
            <a:r>
              <a:rPr lang="en-US" sz="2000" dirty="0" err="1" smtClean="0">
                <a:solidFill>
                  <a:srgbClr val="FF0000"/>
                </a:solidFill>
                <a:latin typeface="Courier New" pitchFamily="49" charset="0"/>
              </a:rPr>
              <a:t>sw</a:t>
            </a:r>
            <a:r>
              <a:rPr lang="en-US" sz="2000" dirty="0" smtClean="0">
                <a:solidFill>
                  <a:srgbClr val="FF0000"/>
                </a:solidFill>
                <a:latin typeface="Courier New" pitchFamily="49" charset="0"/>
              </a:rPr>
              <a:t>     $t0,0($sp)</a:t>
            </a:r>
          </a:p>
        </p:txBody>
      </p:sp>
      <p:sp>
        <p:nvSpPr>
          <p:cNvPr id="6" name="Line 6"/>
          <p:cNvSpPr>
            <a:spLocks noChangeShapeType="1"/>
          </p:cNvSpPr>
          <p:nvPr/>
        </p:nvSpPr>
        <p:spPr bwMode="auto">
          <a:xfrm>
            <a:off x="1219200" y="2292322"/>
            <a:ext cx="1981200" cy="0"/>
          </a:xfrm>
          <a:prstGeom prst="line">
            <a:avLst/>
          </a:prstGeom>
          <a:noFill/>
          <a:ln w="12700">
            <a:solidFill>
              <a:schemeClr val="tx1"/>
            </a:solidFill>
            <a:round/>
            <a:headEnd/>
            <a:tailEnd/>
          </a:ln>
          <a:effectLst/>
        </p:spPr>
        <p:txBody>
          <a:bodyPr/>
          <a:lstStyle/>
          <a:p>
            <a:endParaRPr lang="en-US"/>
          </a:p>
        </p:txBody>
      </p:sp>
      <p:sp>
        <p:nvSpPr>
          <p:cNvPr id="8" name="Text Box 8"/>
          <p:cNvSpPr txBox="1">
            <a:spLocks noChangeArrowheads="1"/>
          </p:cNvSpPr>
          <p:nvPr/>
        </p:nvSpPr>
        <p:spPr bwMode="auto">
          <a:xfrm>
            <a:off x="571472" y="1300130"/>
            <a:ext cx="1284288"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high addr</a:t>
            </a:r>
          </a:p>
        </p:txBody>
      </p:sp>
      <p:sp>
        <p:nvSpPr>
          <p:cNvPr id="9" name="Text Box 9"/>
          <p:cNvSpPr txBox="1">
            <a:spLocks noChangeArrowheads="1"/>
          </p:cNvSpPr>
          <p:nvPr/>
        </p:nvSpPr>
        <p:spPr bwMode="auto">
          <a:xfrm>
            <a:off x="428596" y="1933550"/>
            <a:ext cx="593725" cy="366712"/>
          </a:xfrm>
          <a:prstGeom prst="rect">
            <a:avLst/>
          </a:prstGeom>
          <a:noFill/>
          <a:ln w="12700">
            <a:noFill/>
            <a:miter lim="800000"/>
            <a:headEnd/>
            <a:tailEnd/>
          </a:ln>
          <a:effectLst/>
        </p:spPr>
        <p:txBody>
          <a:bodyPr wrap="none">
            <a:spAutoFit/>
          </a:bodyPr>
          <a:lstStyle/>
          <a:p>
            <a:r>
              <a:rPr lang="en-US" dirty="0">
                <a:solidFill>
                  <a:schemeClr val="tx1"/>
                </a:solidFill>
                <a:latin typeface="Courier New" pitchFamily="49" charset="0"/>
              </a:rPr>
              <a:t>$sp</a:t>
            </a:r>
          </a:p>
        </p:txBody>
      </p:sp>
      <p:sp>
        <p:nvSpPr>
          <p:cNvPr id="10" name="Line 10"/>
          <p:cNvSpPr>
            <a:spLocks noChangeShapeType="1"/>
          </p:cNvSpPr>
          <p:nvPr/>
        </p:nvSpPr>
        <p:spPr bwMode="auto">
          <a:xfrm flipH="1">
            <a:off x="1000100" y="2085948"/>
            <a:ext cx="228600" cy="0"/>
          </a:xfrm>
          <a:prstGeom prst="line">
            <a:avLst/>
          </a:prstGeom>
          <a:noFill/>
          <a:ln w="12700">
            <a:solidFill>
              <a:schemeClr val="tx1"/>
            </a:solidFill>
            <a:round/>
            <a:headEnd type="triangle" w="med" len="med"/>
            <a:tailEnd type="none" w="med" len="med"/>
          </a:ln>
          <a:effectLst/>
        </p:spPr>
        <p:txBody>
          <a:bodyPr/>
          <a:lstStyle/>
          <a:p>
            <a:endParaRPr lang="en-US"/>
          </a:p>
        </p:txBody>
      </p:sp>
      <p:sp>
        <p:nvSpPr>
          <p:cNvPr id="11" name="Line 11"/>
          <p:cNvSpPr>
            <a:spLocks noChangeShapeType="1"/>
          </p:cNvSpPr>
          <p:nvPr/>
        </p:nvSpPr>
        <p:spPr bwMode="auto">
          <a:xfrm>
            <a:off x="1214414" y="2871766"/>
            <a:ext cx="1981200" cy="0"/>
          </a:xfrm>
          <a:prstGeom prst="line">
            <a:avLst/>
          </a:prstGeom>
          <a:noFill/>
          <a:ln w="12700">
            <a:solidFill>
              <a:schemeClr val="tx1"/>
            </a:solidFill>
            <a:round/>
            <a:headEnd/>
            <a:tailEnd/>
          </a:ln>
          <a:effectLst/>
        </p:spPr>
        <p:txBody>
          <a:bodyPr/>
          <a:lstStyle/>
          <a:p>
            <a:endParaRPr lang="en-US"/>
          </a:p>
        </p:txBody>
      </p:sp>
      <p:sp>
        <p:nvSpPr>
          <p:cNvPr id="12" name="Line 12"/>
          <p:cNvSpPr>
            <a:spLocks noChangeShapeType="1"/>
          </p:cNvSpPr>
          <p:nvPr/>
        </p:nvSpPr>
        <p:spPr bwMode="auto">
          <a:xfrm>
            <a:off x="1219200" y="1682722"/>
            <a:ext cx="1981200" cy="0"/>
          </a:xfrm>
          <a:prstGeom prst="line">
            <a:avLst/>
          </a:prstGeom>
          <a:noFill/>
          <a:ln w="12700">
            <a:solidFill>
              <a:schemeClr val="tx1"/>
            </a:solidFill>
            <a:round/>
            <a:headEnd/>
            <a:tailEnd/>
          </a:ln>
          <a:effectLst/>
        </p:spPr>
        <p:txBody>
          <a:bodyPr/>
          <a:lstStyle/>
          <a:p>
            <a:endParaRPr lang="en-US"/>
          </a:p>
        </p:txBody>
      </p:sp>
      <p:sp>
        <p:nvSpPr>
          <p:cNvPr id="13" name="Line 13"/>
          <p:cNvSpPr>
            <a:spLocks noChangeShapeType="1"/>
          </p:cNvSpPr>
          <p:nvPr/>
        </p:nvSpPr>
        <p:spPr bwMode="auto">
          <a:xfrm>
            <a:off x="1219200" y="1987522"/>
            <a:ext cx="1981200" cy="0"/>
          </a:xfrm>
          <a:prstGeom prst="line">
            <a:avLst/>
          </a:prstGeom>
          <a:noFill/>
          <a:ln w="12700">
            <a:solidFill>
              <a:schemeClr val="tx1"/>
            </a:solidFill>
            <a:round/>
            <a:headEnd/>
            <a:tailEnd/>
          </a:ln>
          <a:effectLst/>
        </p:spPr>
        <p:txBody>
          <a:bodyPr/>
          <a:lstStyle/>
          <a:p>
            <a:endParaRPr lang="en-US"/>
          </a:p>
        </p:txBody>
      </p:sp>
      <p:sp>
        <p:nvSpPr>
          <p:cNvPr id="14" name="Text Box 15"/>
          <p:cNvSpPr txBox="1">
            <a:spLocks noChangeArrowheads="1"/>
          </p:cNvSpPr>
          <p:nvPr/>
        </p:nvSpPr>
        <p:spPr bwMode="auto">
          <a:xfrm>
            <a:off x="1142976" y="1966885"/>
            <a:ext cx="2159566" cy="338554"/>
          </a:xfrm>
          <a:prstGeom prst="rect">
            <a:avLst/>
          </a:prstGeom>
          <a:noFill/>
          <a:ln w="12700">
            <a:noFill/>
            <a:miter lim="800000"/>
            <a:headEnd/>
            <a:tailEnd/>
          </a:ln>
          <a:effectLst/>
        </p:spPr>
        <p:txBody>
          <a:bodyPr wrap="none">
            <a:spAutoFit/>
          </a:bodyPr>
          <a:lstStyle/>
          <a:p>
            <a:r>
              <a:rPr lang="en-US" sz="1600" dirty="0" smtClean="0">
                <a:solidFill>
                  <a:schemeClr val="tx1"/>
                </a:solidFill>
                <a:latin typeface="Courier New" pitchFamily="49" charset="0"/>
              </a:rPr>
              <a:t>old top </a:t>
            </a:r>
            <a:r>
              <a:rPr lang="en-US" sz="1600" dirty="0">
                <a:solidFill>
                  <a:schemeClr val="tx1"/>
                </a:solidFill>
                <a:latin typeface="Courier New" pitchFamily="49" charset="0"/>
              </a:rPr>
              <a:t>of stack</a:t>
            </a:r>
          </a:p>
        </p:txBody>
      </p:sp>
      <p:cxnSp>
        <p:nvCxnSpPr>
          <p:cNvPr id="17" name="Straight Connector 16"/>
          <p:cNvCxnSpPr/>
          <p:nvPr/>
        </p:nvCxnSpPr>
        <p:spPr bwMode="auto">
          <a:xfrm rot="16200000" flipH="1">
            <a:off x="2296300" y="2439176"/>
            <a:ext cx="1851034" cy="14278"/>
          </a:xfrm>
          <a:prstGeom prst="line">
            <a:avLst/>
          </a:prstGeom>
          <a:noFill/>
          <a:ln w="12700" cap="flat" cmpd="sng" algn="ctr">
            <a:solidFill>
              <a:schemeClr val="tx1"/>
            </a:solidFill>
            <a:prstDash val="solid"/>
            <a:round/>
            <a:headEnd type="none" w="med" len="med"/>
            <a:tailEnd type="none" w="med" len="med"/>
          </a:ln>
          <a:effectLst/>
        </p:spPr>
      </p:cxnSp>
      <p:sp>
        <p:nvSpPr>
          <p:cNvPr id="18" name="Line 11"/>
          <p:cNvSpPr>
            <a:spLocks noChangeShapeType="1"/>
          </p:cNvSpPr>
          <p:nvPr/>
        </p:nvSpPr>
        <p:spPr bwMode="auto">
          <a:xfrm>
            <a:off x="1214414" y="2586014"/>
            <a:ext cx="1981200" cy="0"/>
          </a:xfrm>
          <a:prstGeom prst="line">
            <a:avLst/>
          </a:prstGeom>
          <a:noFill/>
          <a:ln w="12700">
            <a:solidFill>
              <a:schemeClr val="tx1"/>
            </a:solidFill>
            <a:round/>
            <a:headEnd/>
            <a:tailEnd/>
          </a:ln>
          <a:effectLst/>
        </p:spPr>
        <p:txBody>
          <a:bodyPr/>
          <a:lstStyle/>
          <a:p>
            <a:endParaRPr lang="en-US"/>
          </a:p>
        </p:txBody>
      </p:sp>
      <p:cxnSp>
        <p:nvCxnSpPr>
          <p:cNvPr id="19" name="Straight Connector 18"/>
          <p:cNvCxnSpPr/>
          <p:nvPr/>
        </p:nvCxnSpPr>
        <p:spPr bwMode="auto">
          <a:xfrm rot="16200000" flipH="1">
            <a:off x="296036" y="2432822"/>
            <a:ext cx="1851034" cy="14278"/>
          </a:xfrm>
          <a:prstGeom prst="line">
            <a:avLst/>
          </a:prstGeom>
          <a:noFill/>
          <a:ln w="12700" cap="flat" cmpd="sng" algn="ctr">
            <a:solidFill>
              <a:schemeClr val="tx1"/>
            </a:solidFill>
            <a:prstDash val="solid"/>
            <a:round/>
            <a:headEnd type="none" w="med" len="med"/>
            <a:tailEnd type="none" w="med" len="med"/>
          </a:ln>
          <a:effectLst/>
        </p:spPr>
      </p:cxnSp>
      <p:sp>
        <p:nvSpPr>
          <p:cNvPr id="20" name="Text Box 9"/>
          <p:cNvSpPr txBox="1">
            <a:spLocks noChangeArrowheads="1"/>
          </p:cNvSpPr>
          <p:nvPr/>
        </p:nvSpPr>
        <p:spPr bwMode="auto">
          <a:xfrm>
            <a:off x="197581" y="2643182"/>
            <a:ext cx="873957" cy="369332"/>
          </a:xfrm>
          <a:prstGeom prst="rect">
            <a:avLst/>
          </a:prstGeom>
          <a:noFill/>
          <a:ln w="12700">
            <a:noFill/>
            <a:miter lim="800000"/>
            <a:headEnd/>
            <a:tailEnd/>
          </a:ln>
          <a:effectLst/>
        </p:spPr>
        <p:txBody>
          <a:bodyPr wrap="none">
            <a:spAutoFit/>
          </a:bodyPr>
          <a:lstStyle/>
          <a:p>
            <a:r>
              <a:rPr lang="en-US" dirty="0">
                <a:solidFill>
                  <a:schemeClr val="tx1"/>
                </a:solidFill>
                <a:latin typeface="Courier New" pitchFamily="49" charset="0"/>
              </a:rPr>
              <a:t>$</a:t>
            </a:r>
            <a:r>
              <a:rPr lang="en-US" dirty="0" smtClean="0">
                <a:solidFill>
                  <a:schemeClr val="tx1"/>
                </a:solidFill>
                <a:latin typeface="Courier New" pitchFamily="49" charset="0"/>
              </a:rPr>
              <a:t>sp-8</a:t>
            </a:r>
            <a:endParaRPr lang="en-US" dirty="0">
              <a:solidFill>
                <a:schemeClr val="tx1"/>
              </a:solidFill>
              <a:latin typeface="Courier New" pitchFamily="49" charset="0"/>
            </a:endParaRPr>
          </a:p>
        </p:txBody>
      </p:sp>
      <p:sp>
        <p:nvSpPr>
          <p:cNvPr id="21" name="Line 10"/>
          <p:cNvSpPr>
            <a:spLocks noChangeShapeType="1"/>
          </p:cNvSpPr>
          <p:nvPr/>
        </p:nvSpPr>
        <p:spPr bwMode="auto">
          <a:xfrm flipH="1">
            <a:off x="3205154" y="2759051"/>
            <a:ext cx="228600" cy="0"/>
          </a:xfrm>
          <a:prstGeom prst="line">
            <a:avLst/>
          </a:prstGeom>
          <a:noFill/>
          <a:ln w="12700">
            <a:solidFill>
              <a:schemeClr val="tx1"/>
            </a:solidFill>
            <a:round/>
            <a:headEnd/>
            <a:tailEnd type="triangle" w="med" len="med"/>
          </a:ln>
          <a:effectLst/>
        </p:spPr>
        <p:txBody>
          <a:bodyPr/>
          <a:lstStyle/>
          <a:p>
            <a:endParaRPr lang="en-US"/>
          </a:p>
        </p:txBody>
      </p:sp>
      <p:sp>
        <p:nvSpPr>
          <p:cNvPr id="22" name="Line 10"/>
          <p:cNvSpPr>
            <a:spLocks noChangeShapeType="1"/>
          </p:cNvSpPr>
          <p:nvPr/>
        </p:nvSpPr>
        <p:spPr bwMode="auto">
          <a:xfrm flipH="1">
            <a:off x="1000100" y="2800328"/>
            <a:ext cx="228600" cy="0"/>
          </a:xfrm>
          <a:prstGeom prst="line">
            <a:avLst/>
          </a:prstGeom>
          <a:noFill/>
          <a:ln w="12700">
            <a:solidFill>
              <a:schemeClr val="tx1"/>
            </a:solidFill>
            <a:round/>
            <a:headEnd type="triangle" w="med" len="med"/>
            <a:tailEnd type="none" w="med" len="med"/>
          </a:ln>
          <a:effectLst/>
        </p:spPr>
        <p:txBody>
          <a:bodyPr/>
          <a:lstStyle/>
          <a:p>
            <a:endParaRPr lang="en-US"/>
          </a:p>
        </p:txBody>
      </p:sp>
      <p:sp>
        <p:nvSpPr>
          <p:cNvPr id="23" name="Text Box 9"/>
          <p:cNvSpPr txBox="1">
            <a:spLocks noChangeArrowheads="1"/>
          </p:cNvSpPr>
          <p:nvPr/>
        </p:nvSpPr>
        <p:spPr bwMode="auto">
          <a:xfrm>
            <a:off x="3500430" y="2586014"/>
            <a:ext cx="2114681" cy="369332"/>
          </a:xfrm>
          <a:prstGeom prst="rect">
            <a:avLst/>
          </a:prstGeom>
          <a:noFill/>
          <a:ln w="12700">
            <a:noFill/>
            <a:miter lim="800000"/>
            <a:headEnd/>
            <a:tailEnd/>
          </a:ln>
          <a:effectLst/>
        </p:spPr>
        <p:txBody>
          <a:bodyPr wrap="none">
            <a:spAutoFit/>
          </a:bodyPr>
          <a:lstStyle/>
          <a:p>
            <a:r>
              <a:rPr lang="en-US" dirty="0" smtClean="0">
                <a:solidFill>
                  <a:schemeClr val="tx1"/>
                </a:solidFill>
                <a:latin typeface="Courier New" pitchFamily="49" charset="0"/>
              </a:rPr>
              <a:t>0(updated $sp)</a:t>
            </a:r>
            <a:endParaRPr lang="en-US" dirty="0">
              <a:solidFill>
                <a:schemeClr val="tx1"/>
              </a:solidFill>
              <a:latin typeface="Courier New" pitchFamily="49" charset="0"/>
            </a:endParaRPr>
          </a:p>
        </p:txBody>
      </p:sp>
      <p:sp>
        <p:nvSpPr>
          <p:cNvPr id="24" name="Text Box 9"/>
          <p:cNvSpPr txBox="1">
            <a:spLocks noChangeArrowheads="1"/>
          </p:cNvSpPr>
          <p:nvPr/>
        </p:nvSpPr>
        <p:spPr bwMode="auto">
          <a:xfrm>
            <a:off x="3500430" y="2228824"/>
            <a:ext cx="2114681" cy="369332"/>
          </a:xfrm>
          <a:prstGeom prst="rect">
            <a:avLst/>
          </a:prstGeom>
          <a:noFill/>
          <a:ln w="12700">
            <a:noFill/>
            <a:miter lim="800000"/>
            <a:headEnd/>
            <a:tailEnd/>
          </a:ln>
          <a:effectLst/>
        </p:spPr>
        <p:txBody>
          <a:bodyPr wrap="none">
            <a:spAutoFit/>
          </a:bodyPr>
          <a:lstStyle/>
          <a:p>
            <a:r>
              <a:rPr lang="en-US" dirty="0" smtClean="0">
                <a:solidFill>
                  <a:schemeClr val="tx1"/>
                </a:solidFill>
                <a:latin typeface="Courier New" pitchFamily="49" charset="0"/>
              </a:rPr>
              <a:t>4(updated $sp)</a:t>
            </a:r>
            <a:endParaRPr lang="en-US" dirty="0">
              <a:solidFill>
                <a:schemeClr val="tx1"/>
              </a:solidFill>
              <a:latin typeface="Courier New" pitchFamily="49" charset="0"/>
            </a:endParaRPr>
          </a:p>
        </p:txBody>
      </p:sp>
      <p:sp>
        <p:nvSpPr>
          <p:cNvPr id="25" name="Line 10"/>
          <p:cNvSpPr>
            <a:spLocks noChangeShapeType="1"/>
          </p:cNvSpPr>
          <p:nvPr/>
        </p:nvSpPr>
        <p:spPr bwMode="auto">
          <a:xfrm flipH="1">
            <a:off x="3214678" y="2443138"/>
            <a:ext cx="228600" cy="0"/>
          </a:xfrm>
          <a:prstGeom prst="line">
            <a:avLst/>
          </a:prstGeom>
          <a:noFill/>
          <a:ln w="12700">
            <a:solidFill>
              <a:schemeClr val="tx1"/>
            </a:solidFill>
            <a:round/>
            <a:headEnd/>
            <a:tailEnd type="triangle" w="med" len="med"/>
          </a:ln>
          <a:effectLst/>
        </p:spPr>
        <p:txBody>
          <a:bodyPr/>
          <a:lstStyle/>
          <a:p>
            <a:endParaRPr lang="en-US"/>
          </a:p>
        </p:txBody>
      </p:sp>
      <p:sp>
        <p:nvSpPr>
          <p:cNvPr id="26" name="Text Box 15"/>
          <p:cNvSpPr txBox="1">
            <a:spLocks noChangeArrowheads="1"/>
          </p:cNvSpPr>
          <p:nvPr/>
        </p:nvSpPr>
        <p:spPr bwMode="auto">
          <a:xfrm>
            <a:off x="1142976" y="2586014"/>
            <a:ext cx="2159566" cy="338554"/>
          </a:xfrm>
          <a:prstGeom prst="rect">
            <a:avLst/>
          </a:prstGeom>
          <a:noFill/>
          <a:ln w="12700">
            <a:noFill/>
            <a:miter lim="800000"/>
            <a:headEnd/>
            <a:tailEnd/>
          </a:ln>
          <a:effectLst/>
        </p:spPr>
        <p:txBody>
          <a:bodyPr wrap="none">
            <a:spAutoFit/>
          </a:bodyPr>
          <a:lstStyle/>
          <a:p>
            <a:r>
              <a:rPr lang="en-US" sz="1600" dirty="0" smtClean="0">
                <a:solidFill>
                  <a:schemeClr val="tx1"/>
                </a:solidFill>
                <a:latin typeface="Courier New" pitchFamily="49" charset="0"/>
              </a:rPr>
              <a:t>new top </a:t>
            </a:r>
            <a:r>
              <a:rPr lang="en-US" sz="1600" dirty="0">
                <a:solidFill>
                  <a:schemeClr val="tx1"/>
                </a:solidFill>
                <a:latin typeface="Courier New" pitchFamily="49" charset="0"/>
              </a:rPr>
              <a:t>of stack</a:t>
            </a:r>
          </a:p>
        </p:txBody>
      </p:sp>
      <p:sp>
        <p:nvSpPr>
          <p:cNvPr id="27" name="Content Placeholder 2"/>
          <p:cNvSpPr txBox="1">
            <a:spLocks/>
          </p:cNvSpPr>
          <p:nvPr/>
        </p:nvSpPr>
        <p:spPr bwMode="auto">
          <a:xfrm>
            <a:off x="714348" y="3643314"/>
            <a:ext cx="7929618" cy="1528624"/>
          </a:xfrm>
          <a:prstGeom prst="rect">
            <a:avLst/>
          </a:prstGeom>
          <a:noFill/>
          <a:ln w="12700">
            <a:noFill/>
            <a:miter lim="800000"/>
            <a:headEnd/>
            <a:tailEnd/>
          </a:ln>
          <a:effectLst/>
        </p:spPr>
        <p:txBody>
          <a:bodyPr vert="horz" wrap="square" lIns="63500" tIns="25400" rIns="63500" bIns="25400" numCol="1" anchor="t" anchorCtr="0" compatLnSpc="1">
            <a:prstTxWarp prst="textNoShape">
              <a:avLst/>
            </a:prstTxWarp>
            <a:spAutoFit/>
          </a:bodyPr>
          <a:lstStyle/>
          <a:p>
            <a:pPr marL="287338" marR="0" lvl="0" indent="-287338" algn="l" defTabSz="914400" rtl="0" eaLnBrk="0" fontAlgn="base" latinLnBrk="0" hangingPunct="0">
              <a:lnSpc>
                <a:spcPct val="100000"/>
              </a:lnSpc>
              <a:spcBef>
                <a:spcPct val="30000"/>
              </a:spcBef>
              <a:spcAft>
                <a:spcPct val="0"/>
              </a:spcAft>
              <a:buClr>
                <a:schemeClr val="accent1"/>
              </a:buClr>
              <a:buSzPct val="75000"/>
              <a:buFont typeface="Wingdings" pitchFamily="2" charset="2"/>
              <a:buChar char="q"/>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Popping arguments from the stack</a:t>
            </a:r>
          </a:p>
          <a:p>
            <a:pPr marL="342900" marR="0" lvl="0" indent="-342900" algn="l" defTabSz="914400" rtl="0" eaLnBrk="0" fontAlgn="base" latinLnBrk="0" hangingPunct="0">
              <a:lnSpc>
                <a:spcPct val="80000"/>
              </a:lnSpc>
              <a:spcBef>
                <a:spcPct val="10000"/>
              </a:spcBef>
              <a:spcAft>
                <a:spcPct val="0"/>
              </a:spcAft>
              <a:buClr>
                <a:schemeClr val="accent1"/>
              </a:buClr>
              <a:buSzPct val="75000"/>
              <a:buFont typeface="Wingdings" pitchFamily="2" charset="2"/>
              <a:buNone/>
              <a:tabLst/>
              <a:defRPr/>
            </a:pPr>
            <a:endParaRPr kumimoji="0" lang="en-US" sz="2000" b="0" i="0" u="none" strike="noStrike" kern="0" cap="none" spc="0" normalizeH="0" baseline="0" noProof="0" dirty="0" smtClean="0">
              <a:ln>
                <a:noFill/>
              </a:ln>
              <a:solidFill>
                <a:schemeClr val="tx1"/>
              </a:solidFill>
              <a:effectLst/>
              <a:uLnTx/>
              <a:uFillTx/>
              <a:latin typeface="Courier New" pitchFamily="49" charset="0"/>
              <a:ea typeface="+mn-ea"/>
              <a:cs typeface="+mn-cs"/>
            </a:endParaRPr>
          </a:p>
          <a:p>
            <a:pPr marL="342900" indent="-342900" algn="r">
              <a:lnSpc>
                <a:spcPct val="80000"/>
              </a:lnSpc>
              <a:spcBef>
                <a:spcPct val="10000"/>
              </a:spcBef>
              <a:buClr>
                <a:schemeClr val="accent1"/>
              </a:buClr>
              <a:buSzPct val="75000"/>
              <a:buFont typeface="Wingdings" pitchFamily="2" charset="2"/>
              <a:buNone/>
            </a:pPr>
            <a:r>
              <a:rPr lang="en-US" sz="2000" dirty="0" err="1" smtClean="0">
                <a:solidFill>
                  <a:srgbClr val="FF0000"/>
                </a:solidFill>
                <a:latin typeface="Courier New" pitchFamily="49" charset="0"/>
              </a:rPr>
              <a:t>lw</a:t>
            </a:r>
            <a:r>
              <a:rPr lang="en-US" sz="2000" dirty="0" smtClean="0">
                <a:solidFill>
                  <a:srgbClr val="FF0000"/>
                </a:solidFill>
                <a:latin typeface="Courier New" pitchFamily="49" charset="0"/>
              </a:rPr>
              <a:t>     $t0,0($sp)</a:t>
            </a:r>
          </a:p>
          <a:p>
            <a:pPr marL="342900" indent="-342900" algn="r">
              <a:lnSpc>
                <a:spcPct val="80000"/>
              </a:lnSpc>
              <a:spcBef>
                <a:spcPct val="10000"/>
              </a:spcBef>
              <a:buClr>
                <a:schemeClr val="accent1"/>
              </a:buClr>
              <a:buSzPct val="75000"/>
              <a:buFont typeface="Wingdings" pitchFamily="2" charset="2"/>
              <a:buNone/>
            </a:pPr>
            <a:r>
              <a:rPr lang="en-US" sz="2000" dirty="0" smtClean="0">
                <a:solidFill>
                  <a:srgbClr val="FF0000"/>
                </a:solidFill>
                <a:latin typeface="Courier New" pitchFamily="49" charset="0"/>
              </a:rPr>
              <a:t> </a:t>
            </a:r>
            <a:r>
              <a:rPr lang="en-US" sz="2000" dirty="0" err="1" smtClean="0">
                <a:solidFill>
                  <a:srgbClr val="FF0000"/>
                </a:solidFill>
                <a:latin typeface="Courier New" pitchFamily="49" charset="0"/>
              </a:rPr>
              <a:t>lw</a:t>
            </a:r>
            <a:r>
              <a:rPr lang="en-US" sz="2000" dirty="0" smtClean="0">
                <a:solidFill>
                  <a:srgbClr val="FF0000"/>
                </a:solidFill>
                <a:latin typeface="Courier New" pitchFamily="49" charset="0"/>
              </a:rPr>
              <a:t>     $t1,4($sp)</a:t>
            </a:r>
          </a:p>
          <a:p>
            <a:pPr marL="342900" indent="-342900" algn="r">
              <a:lnSpc>
                <a:spcPct val="80000"/>
              </a:lnSpc>
              <a:spcBef>
                <a:spcPct val="10000"/>
              </a:spcBef>
              <a:buClr>
                <a:schemeClr val="accent1"/>
              </a:buClr>
              <a:buSzPct val="75000"/>
              <a:buFont typeface="Wingdings" pitchFamily="2" charset="2"/>
              <a:buNone/>
            </a:pPr>
            <a:r>
              <a:rPr lang="en-US" sz="2000" dirty="0" err="1" smtClean="0">
                <a:solidFill>
                  <a:srgbClr val="FF0000"/>
                </a:solidFill>
                <a:latin typeface="Courier New" pitchFamily="49" charset="0"/>
              </a:rPr>
              <a:t>addi</a:t>
            </a:r>
            <a:r>
              <a:rPr lang="en-US" sz="2000" dirty="0" smtClean="0">
                <a:solidFill>
                  <a:srgbClr val="FF0000"/>
                </a:solidFill>
                <a:latin typeface="Courier New" pitchFamily="49" charset="0"/>
              </a:rPr>
              <a:t>    $sp,$sp,8</a:t>
            </a:r>
          </a:p>
        </p:txBody>
      </p:sp>
      <p:sp>
        <p:nvSpPr>
          <p:cNvPr id="28" name="Line 6"/>
          <p:cNvSpPr>
            <a:spLocks noChangeShapeType="1"/>
          </p:cNvSpPr>
          <p:nvPr/>
        </p:nvSpPr>
        <p:spPr bwMode="auto">
          <a:xfrm>
            <a:off x="1219200" y="5135572"/>
            <a:ext cx="1981200" cy="0"/>
          </a:xfrm>
          <a:prstGeom prst="line">
            <a:avLst/>
          </a:prstGeom>
          <a:noFill/>
          <a:ln w="12700">
            <a:solidFill>
              <a:schemeClr val="tx1"/>
            </a:solidFill>
            <a:round/>
            <a:headEnd/>
            <a:tailEnd/>
          </a:ln>
          <a:effectLst/>
        </p:spPr>
        <p:txBody>
          <a:bodyPr/>
          <a:lstStyle/>
          <a:p>
            <a:endParaRPr lang="en-US"/>
          </a:p>
        </p:txBody>
      </p:sp>
      <p:sp>
        <p:nvSpPr>
          <p:cNvPr id="29" name="Text Box 8"/>
          <p:cNvSpPr txBox="1">
            <a:spLocks noChangeArrowheads="1"/>
          </p:cNvSpPr>
          <p:nvPr/>
        </p:nvSpPr>
        <p:spPr bwMode="auto">
          <a:xfrm>
            <a:off x="571472" y="4143380"/>
            <a:ext cx="1284288"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high addr</a:t>
            </a:r>
          </a:p>
        </p:txBody>
      </p:sp>
      <p:sp>
        <p:nvSpPr>
          <p:cNvPr id="30" name="Text Box 9"/>
          <p:cNvSpPr txBox="1">
            <a:spLocks noChangeArrowheads="1"/>
          </p:cNvSpPr>
          <p:nvPr/>
        </p:nvSpPr>
        <p:spPr bwMode="auto">
          <a:xfrm>
            <a:off x="214282" y="4776800"/>
            <a:ext cx="873957" cy="369332"/>
          </a:xfrm>
          <a:prstGeom prst="rect">
            <a:avLst/>
          </a:prstGeom>
          <a:noFill/>
          <a:ln w="12700">
            <a:noFill/>
            <a:miter lim="800000"/>
            <a:headEnd/>
            <a:tailEnd/>
          </a:ln>
          <a:effectLst/>
        </p:spPr>
        <p:txBody>
          <a:bodyPr wrap="none">
            <a:spAutoFit/>
          </a:bodyPr>
          <a:lstStyle/>
          <a:p>
            <a:r>
              <a:rPr lang="en-US" dirty="0">
                <a:solidFill>
                  <a:schemeClr val="tx1"/>
                </a:solidFill>
                <a:latin typeface="Courier New" pitchFamily="49" charset="0"/>
              </a:rPr>
              <a:t>$</a:t>
            </a:r>
            <a:r>
              <a:rPr lang="en-US" dirty="0" smtClean="0">
                <a:solidFill>
                  <a:schemeClr val="tx1"/>
                </a:solidFill>
                <a:latin typeface="Courier New" pitchFamily="49" charset="0"/>
              </a:rPr>
              <a:t>sp+8</a:t>
            </a:r>
            <a:endParaRPr lang="en-US" dirty="0">
              <a:solidFill>
                <a:schemeClr val="tx1"/>
              </a:solidFill>
              <a:latin typeface="Courier New" pitchFamily="49" charset="0"/>
            </a:endParaRPr>
          </a:p>
        </p:txBody>
      </p:sp>
      <p:sp>
        <p:nvSpPr>
          <p:cNvPr id="31" name="Line 10"/>
          <p:cNvSpPr>
            <a:spLocks noChangeShapeType="1"/>
          </p:cNvSpPr>
          <p:nvPr/>
        </p:nvSpPr>
        <p:spPr bwMode="auto">
          <a:xfrm flipH="1">
            <a:off x="1000100" y="4929198"/>
            <a:ext cx="228600" cy="0"/>
          </a:xfrm>
          <a:prstGeom prst="line">
            <a:avLst/>
          </a:prstGeom>
          <a:noFill/>
          <a:ln w="12700">
            <a:solidFill>
              <a:schemeClr val="tx1"/>
            </a:solidFill>
            <a:round/>
            <a:headEnd type="triangle" w="med" len="med"/>
            <a:tailEnd type="none" w="med" len="med"/>
          </a:ln>
          <a:effectLst/>
        </p:spPr>
        <p:txBody>
          <a:bodyPr/>
          <a:lstStyle/>
          <a:p>
            <a:endParaRPr lang="en-US"/>
          </a:p>
        </p:txBody>
      </p:sp>
      <p:sp>
        <p:nvSpPr>
          <p:cNvPr id="32" name="Line 11"/>
          <p:cNvSpPr>
            <a:spLocks noChangeShapeType="1"/>
          </p:cNvSpPr>
          <p:nvPr/>
        </p:nvSpPr>
        <p:spPr bwMode="auto">
          <a:xfrm>
            <a:off x="1214414" y="5715016"/>
            <a:ext cx="1981200" cy="0"/>
          </a:xfrm>
          <a:prstGeom prst="line">
            <a:avLst/>
          </a:prstGeom>
          <a:noFill/>
          <a:ln w="12700">
            <a:solidFill>
              <a:schemeClr val="tx1"/>
            </a:solidFill>
            <a:round/>
            <a:headEnd/>
            <a:tailEnd/>
          </a:ln>
          <a:effectLst/>
        </p:spPr>
        <p:txBody>
          <a:bodyPr/>
          <a:lstStyle/>
          <a:p>
            <a:endParaRPr lang="en-US"/>
          </a:p>
        </p:txBody>
      </p:sp>
      <p:sp>
        <p:nvSpPr>
          <p:cNvPr id="33" name="Line 12"/>
          <p:cNvSpPr>
            <a:spLocks noChangeShapeType="1"/>
          </p:cNvSpPr>
          <p:nvPr/>
        </p:nvSpPr>
        <p:spPr bwMode="auto">
          <a:xfrm>
            <a:off x="1219200" y="4525972"/>
            <a:ext cx="1981200" cy="0"/>
          </a:xfrm>
          <a:prstGeom prst="line">
            <a:avLst/>
          </a:prstGeom>
          <a:noFill/>
          <a:ln w="12700">
            <a:solidFill>
              <a:schemeClr val="tx1"/>
            </a:solidFill>
            <a:round/>
            <a:headEnd/>
            <a:tailEnd/>
          </a:ln>
          <a:effectLst/>
        </p:spPr>
        <p:txBody>
          <a:bodyPr/>
          <a:lstStyle/>
          <a:p>
            <a:endParaRPr lang="en-US"/>
          </a:p>
        </p:txBody>
      </p:sp>
      <p:sp>
        <p:nvSpPr>
          <p:cNvPr id="34" name="Line 13"/>
          <p:cNvSpPr>
            <a:spLocks noChangeShapeType="1"/>
          </p:cNvSpPr>
          <p:nvPr/>
        </p:nvSpPr>
        <p:spPr bwMode="auto">
          <a:xfrm>
            <a:off x="1219200" y="4830772"/>
            <a:ext cx="1981200" cy="0"/>
          </a:xfrm>
          <a:prstGeom prst="line">
            <a:avLst/>
          </a:prstGeom>
          <a:noFill/>
          <a:ln w="12700">
            <a:solidFill>
              <a:schemeClr val="tx1"/>
            </a:solidFill>
            <a:round/>
            <a:headEnd/>
            <a:tailEnd/>
          </a:ln>
          <a:effectLst/>
        </p:spPr>
        <p:txBody>
          <a:bodyPr/>
          <a:lstStyle/>
          <a:p>
            <a:endParaRPr lang="en-US"/>
          </a:p>
        </p:txBody>
      </p:sp>
      <p:sp>
        <p:nvSpPr>
          <p:cNvPr id="35" name="Text Box 15"/>
          <p:cNvSpPr txBox="1">
            <a:spLocks noChangeArrowheads="1"/>
          </p:cNvSpPr>
          <p:nvPr/>
        </p:nvSpPr>
        <p:spPr bwMode="auto">
          <a:xfrm>
            <a:off x="1142976" y="4810135"/>
            <a:ext cx="2159566" cy="338554"/>
          </a:xfrm>
          <a:prstGeom prst="rect">
            <a:avLst/>
          </a:prstGeom>
          <a:noFill/>
          <a:ln w="12700">
            <a:noFill/>
            <a:miter lim="800000"/>
            <a:headEnd/>
            <a:tailEnd/>
          </a:ln>
          <a:effectLst/>
        </p:spPr>
        <p:txBody>
          <a:bodyPr wrap="none">
            <a:spAutoFit/>
          </a:bodyPr>
          <a:lstStyle/>
          <a:p>
            <a:r>
              <a:rPr lang="en-US" sz="1600" dirty="0" smtClean="0">
                <a:solidFill>
                  <a:schemeClr val="tx1"/>
                </a:solidFill>
                <a:latin typeface="Courier New" pitchFamily="49" charset="0"/>
              </a:rPr>
              <a:t>new top </a:t>
            </a:r>
            <a:r>
              <a:rPr lang="en-US" sz="1600" dirty="0">
                <a:solidFill>
                  <a:schemeClr val="tx1"/>
                </a:solidFill>
                <a:latin typeface="Courier New" pitchFamily="49" charset="0"/>
              </a:rPr>
              <a:t>of stack</a:t>
            </a:r>
          </a:p>
        </p:txBody>
      </p:sp>
      <p:cxnSp>
        <p:nvCxnSpPr>
          <p:cNvPr id="36" name="Straight Connector 35"/>
          <p:cNvCxnSpPr/>
          <p:nvPr/>
        </p:nvCxnSpPr>
        <p:spPr bwMode="auto">
          <a:xfrm rot="16200000" flipH="1">
            <a:off x="2296300" y="5282426"/>
            <a:ext cx="1851034" cy="14278"/>
          </a:xfrm>
          <a:prstGeom prst="line">
            <a:avLst/>
          </a:prstGeom>
          <a:noFill/>
          <a:ln w="12700" cap="flat" cmpd="sng" algn="ctr">
            <a:solidFill>
              <a:schemeClr val="tx1"/>
            </a:solidFill>
            <a:prstDash val="solid"/>
            <a:round/>
            <a:headEnd type="none" w="med" len="med"/>
            <a:tailEnd type="none" w="med" len="med"/>
          </a:ln>
          <a:effectLst/>
        </p:spPr>
      </p:cxnSp>
      <p:sp>
        <p:nvSpPr>
          <p:cNvPr id="37" name="Line 11"/>
          <p:cNvSpPr>
            <a:spLocks noChangeShapeType="1"/>
          </p:cNvSpPr>
          <p:nvPr/>
        </p:nvSpPr>
        <p:spPr bwMode="auto">
          <a:xfrm>
            <a:off x="1214414" y="5429264"/>
            <a:ext cx="1981200" cy="0"/>
          </a:xfrm>
          <a:prstGeom prst="line">
            <a:avLst/>
          </a:prstGeom>
          <a:noFill/>
          <a:ln w="12700">
            <a:solidFill>
              <a:schemeClr val="tx1"/>
            </a:solidFill>
            <a:round/>
            <a:headEnd/>
            <a:tailEnd/>
          </a:ln>
          <a:effectLst/>
        </p:spPr>
        <p:txBody>
          <a:bodyPr/>
          <a:lstStyle/>
          <a:p>
            <a:endParaRPr lang="en-US"/>
          </a:p>
        </p:txBody>
      </p:sp>
      <p:cxnSp>
        <p:nvCxnSpPr>
          <p:cNvPr id="38" name="Straight Connector 37"/>
          <p:cNvCxnSpPr/>
          <p:nvPr/>
        </p:nvCxnSpPr>
        <p:spPr bwMode="auto">
          <a:xfrm rot="16200000" flipH="1">
            <a:off x="296036" y="5276072"/>
            <a:ext cx="1851034" cy="14278"/>
          </a:xfrm>
          <a:prstGeom prst="line">
            <a:avLst/>
          </a:prstGeom>
          <a:noFill/>
          <a:ln w="12700" cap="flat" cmpd="sng" algn="ctr">
            <a:solidFill>
              <a:schemeClr val="tx1"/>
            </a:solidFill>
            <a:prstDash val="solid"/>
            <a:round/>
            <a:headEnd type="none" w="med" len="med"/>
            <a:tailEnd type="none" w="med" len="med"/>
          </a:ln>
          <a:effectLst/>
        </p:spPr>
      </p:cxnSp>
      <p:sp>
        <p:nvSpPr>
          <p:cNvPr id="39" name="Text Box 9"/>
          <p:cNvSpPr txBox="1">
            <a:spLocks noChangeArrowheads="1"/>
          </p:cNvSpPr>
          <p:nvPr/>
        </p:nvSpPr>
        <p:spPr bwMode="auto">
          <a:xfrm>
            <a:off x="473297" y="5429264"/>
            <a:ext cx="598241" cy="369332"/>
          </a:xfrm>
          <a:prstGeom prst="rect">
            <a:avLst/>
          </a:prstGeom>
          <a:noFill/>
          <a:ln w="12700">
            <a:noFill/>
            <a:miter lim="800000"/>
            <a:headEnd/>
            <a:tailEnd/>
          </a:ln>
          <a:effectLst/>
        </p:spPr>
        <p:txBody>
          <a:bodyPr wrap="none">
            <a:spAutoFit/>
          </a:bodyPr>
          <a:lstStyle/>
          <a:p>
            <a:r>
              <a:rPr lang="en-US" dirty="0">
                <a:solidFill>
                  <a:schemeClr val="tx1"/>
                </a:solidFill>
                <a:latin typeface="Courier New" pitchFamily="49" charset="0"/>
              </a:rPr>
              <a:t>$</a:t>
            </a:r>
            <a:r>
              <a:rPr lang="en-US" dirty="0" smtClean="0">
                <a:solidFill>
                  <a:schemeClr val="tx1"/>
                </a:solidFill>
                <a:latin typeface="Courier New" pitchFamily="49" charset="0"/>
              </a:rPr>
              <a:t>sp</a:t>
            </a:r>
            <a:endParaRPr lang="en-US" dirty="0">
              <a:solidFill>
                <a:schemeClr val="tx1"/>
              </a:solidFill>
              <a:latin typeface="Courier New" pitchFamily="49" charset="0"/>
            </a:endParaRPr>
          </a:p>
        </p:txBody>
      </p:sp>
      <p:sp>
        <p:nvSpPr>
          <p:cNvPr id="40" name="Line 10"/>
          <p:cNvSpPr>
            <a:spLocks noChangeShapeType="1"/>
          </p:cNvSpPr>
          <p:nvPr/>
        </p:nvSpPr>
        <p:spPr bwMode="auto">
          <a:xfrm flipH="1">
            <a:off x="3205154" y="5602301"/>
            <a:ext cx="228600" cy="0"/>
          </a:xfrm>
          <a:prstGeom prst="line">
            <a:avLst/>
          </a:prstGeom>
          <a:noFill/>
          <a:ln w="12700">
            <a:solidFill>
              <a:schemeClr val="tx1"/>
            </a:solidFill>
            <a:round/>
            <a:headEnd/>
            <a:tailEnd type="triangle" w="med" len="med"/>
          </a:ln>
          <a:effectLst/>
        </p:spPr>
        <p:txBody>
          <a:bodyPr/>
          <a:lstStyle/>
          <a:p>
            <a:endParaRPr lang="en-US"/>
          </a:p>
        </p:txBody>
      </p:sp>
      <p:sp>
        <p:nvSpPr>
          <p:cNvPr id="41" name="Line 10"/>
          <p:cNvSpPr>
            <a:spLocks noChangeShapeType="1"/>
          </p:cNvSpPr>
          <p:nvPr/>
        </p:nvSpPr>
        <p:spPr bwMode="auto">
          <a:xfrm flipH="1">
            <a:off x="1000100" y="5643578"/>
            <a:ext cx="228600" cy="0"/>
          </a:xfrm>
          <a:prstGeom prst="line">
            <a:avLst/>
          </a:prstGeom>
          <a:noFill/>
          <a:ln w="12700">
            <a:solidFill>
              <a:schemeClr val="tx1"/>
            </a:solidFill>
            <a:round/>
            <a:headEnd type="triangle" w="med" len="med"/>
            <a:tailEnd type="none" w="med" len="med"/>
          </a:ln>
          <a:effectLst/>
        </p:spPr>
        <p:txBody>
          <a:bodyPr/>
          <a:lstStyle/>
          <a:p>
            <a:endParaRPr lang="en-US"/>
          </a:p>
        </p:txBody>
      </p:sp>
      <p:sp>
        <p:nvSpPr>
          <p:cNvPr id="42" name="Text Box 9"/>
          <p:cNvSpPr txBox="1">
            <a:spLocks noChangeArrowheads="1"/>
          </p:cNvSpPr>
          <p:nvPr/>
        </p:nvSpPr>
        <p:spPr bwMode="auto">
          <a:xfrm>
            <a:off x="3500430" y="5429264"/>
            <a:ext cx="2252540" cy="369332"/>
          </a:xfrm>
          <a:prstGeom prst="rect">
            <a:avLst/>
          </a:prstGeom>
          <a:noFill/>
          <a:ln w="12700">
            <a:noFill/>
            <a:miter lim="800000"/>
            <a:headEnd/>
            <a:tailEnd/>
          </a:ln>
          <a:effectLst/>
        </p:spPr>
        <p:txBody>
          <a:bodyPr wrap="none">
            <a:spAutoFit/>
          </a:bodyPr>
          <a:lstStyle/>
          <a:p>
            <a:r>
              <a:rPr lang="en-US" dirty="0" smtClean="0">
                <a:solidFill>
                  <a:schemeClr val="tx1"/>
                </a:solidFill>
                <a:latin typeface="Courier New" pitchFamily="49" charset="0"/>
              </a:rPr>
              <a:t>0(original $sp)</a:t>
            </a:r>
            <a:endParaRPr lang="en-US" dirty="0">
              <a:solidFill>
                <a:schemeClr val="tx1"/>
              </a:solidFill>
              <a:latin typeface="Courier New" pitchFamily="49" charset="0"/>
            </a:endParaRPr>
          </a:p>
        </p:txBody>
      </p:sp>
      <p:sp>
        <p:nvSpPr>
          <p:cNvPr id="43" name="Text Box 9"/>
          <p:cNvSpPr txBox="1">
            <a:spLocks noChangeArrowheads="1"/>
          </p:cNvSpPr>
          <p:nvPr/>
        </p:nvSpPr>
        <p:spPr bwMode="auto">
          <a:xfrm>
            <a:off x="3500430" y="5072074"/>
            <a:ext cx="2252540" cy="369332"/>
          </a:xfrm>
          <a:prstGeom prst="rect">
            <a:avLst/>
          </a:prstGeom>
          <a:noFill/>
          <a:ln w="12700">
            <a:noFill/>
            <a:miter lim="800000"/>
            <a:headEnd/>
            <a:tailEnd/>
          </a:ln>
          <a:effectLst/>
        </p:spPr>
        <p:txBody>
          <a:bodyPr wrap="none">
            <a:spAutoFit/>
          </a:bodyPr>
          <a:lstStyle/>
          <a:p>
            <a:r>
              <a:rPr lang="en-US" dirty="0" smtClean="0">
                <a:solidFill>
                  <a:schemeClr val="tx1"/>
                </a:solidFill>
                <a:latin typeface="Courier New" pitchFamily="49" charset="0"/>
              </a:rPr>
              <a:t>4(original $sp)</a:t>
            </a:r>
            <a:endParaRPr lang="en-US" dirty="0">
              <a:solidFill>
                <a:schemeClr val="tx1"/>
              </a:solidFill>
              <a:latin typeface="Courier New" pitchFamily="49" charset="0"/>
            </a:endParaRPr>
          </a:p>
        </p:txBody>
      </p:sp>
      <p:sp>
        <p:nvSpPr>
          <p:cNvPr id="44" name="Line 10"/>
          <p:cNvSpPr>
            <a:spLocks noChangeShapeType="1"/>
          </p:cNvSpPr>
          <p:nvPr/>
        </p:nvSpPr>
        <p:spPr bwMode="auto">
          <a:xfrm flipH="1">
            <a:off x="3214678" y="5286388"/>
            <a:ext cx="228600" cy="0"/>
          </a:xfrm>
          <a:prstGeom prst="line">
            <a:avLst/>
          </a:prstGeom>
          <a:noFill/>
          <a:ln w="12700">
            <a:solidFill>
              <a:schemeClr val="tx1"/>
            </a:solidFill>
            <a:round/>
            <a:headEnd/>
            <a:tailEnd type="triangle" w="med" len="med"/>
          </a:ln>
          <a:effectLst/>
        </p:spPr>
        <p:txBody>
          <a:bodyPr/>
          <a:lstStyle/>
          <a:p>
            <a:endParaRPr lang="en-US"/>
          </a:p>
        </p:txBody>
      </p:sp>
      <p:sp>
        <p:nvSpPr>
          <p:cNvPr id="45" name="Text Box 15"/>
          <p:cNvSpPr txBox="1">
            <a:spLocks noChangeArrowheads="1"/>
          </p:cNvSpPr>
          <p:nvPr/>
        </p:nvSpPr>
        <p:spPr bwMode="auto">
          <a:xfrm>
            <a:off x="1142976" y="5429264"/>
            <a:ext cx="2159566" cy="338554"/>
          </a:xfrm>
          <a:prstGeom prst="rect">
            <a:avLst/>
          </a:prstGeom>
          <a:noFill/>
          <a:ln w="12700">
            <a:noFill/>
            <a:miter lim="800000"/>
            <a:headEnd/>
            <a:tailEnd/>
          </a:ln>
          <a:effectLst/>
        </p:spPr>
        <p:txBody>
          <a:bodyPr wrap="none">
            <a:spAutoFit/>
          </a:bodyPr>
          <a:lstStyle/>
          <a:p>
            <a:r>
              <a:rPr lang="en-US" sz="1600" dirty="0" smtClean="0">
                <a:solidFill>
                  <a:schemeClr val="tx1"/>
                </a:solidFill>
                <a:latin typeface="Courier New" pitchFamily="49" charset="0"/>
              </a:rPr>
              <a:t>old top </a:t>
            </a:r>
            <a:r>
              <a:rPr lang="en-US" sz="1600" dirty="0">
                <a:solidFill>
                  <a:schemeClr val="tx1"/>
                </a:solidFill>
                <a:latin typeface="Courier New" pitchFamily="49" charset="0"/>
              </a:rPr>
              <a:t>of stack</a:t>
            </a:r>
          </a:p>
        </p:txBody>
      </p:sp>
    </p:spTree>
    <p:extLst>
      <p:ext uri="{BB962C8B-B14F-4D97-AF65-F5344CB8AC3E}">
        <p14:creationId xmlns:p14="http://schemas.microsoft.com/office/powerpoint/2010/main" val="1903247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52400" y="152400"/>
            <a:ext cx="9144000" cy="762000"/>
          </a:xfrm>
        </p:spPr>
        <p:txBody>
          <a:bodyPr/>
          <a:lstStyle/>
          <a:p>
            <a:pPr>
              <a:defRPr/>
            </a:pPr>
            <a:r>
              <a:rPr lang="en-US" dirty="0"/>
              <a:t>Compiling a Recursive Procedure</a:t>
            </a:r>
          </a:p>
        </p:txBody>
      </p:sp>
      <p:sp>
        <p:nvSpPr>
          <p:cNvPr id="27651" name="Rectangle 3"/>
          <p:cNvSpPr>
            <a:spLocks noGrp="1" noChangeArrowheads="1"/>
          </p:cNvSpPr>
          <p:nvPr>
            <p:ph idx="1"/>
          </p:nvPr>
        </p:nvSpPr>
        <p:spPr>
          <a:xfrm>
            <a:off x="304800" y="914400"/>
            <a:ext cx="7848600" cy="4419600"/>
          </a:xfrm>
        </p:spPr>
        <p:txBody>
          <a:bodyPr/>
          <a:lstStyle/>
          <a:p>
            <a:r>
              <a:rPr lang="en-US" sz="2400" smtClean="0"/>
              <a:t>Calculating factorial:</a:t>
            </a:r>
          </a:p>
          <a:p>
            <a:pPr>
              <a:lnSpc>
                <a:spcPct val="45000"/>
              </a:lnSpc>
              <a:buFontTx/>
              <a:buNone/>
            </a:pPr>
            <a:r>
              <a:rPr lang="en-US" sz="2400" dirty="0" err="1" smtClean="0">
                <a:solidFill>
                  <a:srgbClr val="0000FF"/>
                </a:solidFill>
                <a:latin typeface="Courier New" pitchFamily="49" charset="0"/>
              </a:rPr>
              <a:t>int</a:t>
            </a:r>
            <a:r>
              <a:rPr lang="en-US" sz="2400" dirty="0" smtClean="0">
                <a:solidFill>
                  <a:srgbClr val="0000FF"/>
                </a:solidFill>
                <a:latin typeface="Courier New" pitchFamily="49" charset="0"/>
              </a:rPr>
              <a:t> fact (</a:t>
            </a:r>
            <a:r>
              <a:rPr lang="en-US" sz="2400" dirty="0" err="1" smtClean="0">
                <a:solidFill>
                  <a:srgbClr val="0000FF"/>
                </a:solidFill>
                <a:latin typeface="Courier New" pitchFamily="49" charset="0"/>
              </a:rPr>
              <a:t>int</a:t>
            </a:r>
            <a:r>
              <a:rPr lang="en-US" sz="2400" dirty="0" smtClean="0">
                <a:solidFill>
                  <a:srgbClr val="0000FF"/>
                </a:solidFill>
                <a:latin typeface="Courier New" pitchFamily="49" charset="0"/>
              </a:rPr>
              <a:t> n) </a:t>
            </a:r>
          </a:p>
          <a:p>
            <a:pPr>
              <a:lnSpc>
                <a:spcPct val="45000"/>
              </a:lnSpc>
              <a:buFontTx/>
              <a:buNone/>
            </a:pPr>
            <a:r>
              <a:rPr lang="en-US" sz="2400" dirty="0" smtClean="0">
                <a:solidFill>
                  <a:srgbClr val="0000FF"/>
                </a:solidFill>
                <a:latin typeface="Courier New" pitchFamily="49" charset="0"/>
              </a:rPr>
              <a:t>{</a:t>
            </a:r>
          </a:p>
          <a:p>
            <a:pPr>
              <a:lnSpc>
                <a:spcPct val="45000"/>
              </a:lnSpc>
              <a:buFontTx/>
              <a:buNone/>
            </a:pPr>
            <a:r>
              <a:rPr lang="en-US" sz="2400" dirty="0" smtClean="0">
                <a:solidFill>
                  <a:srgbClr val="0000FF"/>
                </a:solidFill>
                <a:latin typeface="Courier New" pitchFamily="49" charset="0"/>
              </a:rPr>
              <a:t>	if (n &lt; 1) return 1;</a:t>
            </a:r>
          </a:p>
          <a:p>
            <a:pPr>
              <a:lnSpc>
                <a:spcPct val="45000"/>
              </a:lnSpc>
              <a:buFontTx/>
              <a:buNone/>
            </a:pPr>
            <a:r>
              <a:rPr lang="en-US" sz="2400" dirty="0" smtClean="0">
                <a:solidFill>
                  <a:srgbClr val="0000FF"/>
                </a:solidFill>
                <a:latin typeface="Courier New" pitchFamily="49" charset="0"/>
              </a:rPr>
              <a:t>	else return (n * fact (n-1)); </a:t>
            </a:r>
          </a:p>
          <a:p>
            <a:pPr>
              <a:lnSpc>
                <a:spcPct val="45000"/>
              </a:lnSpc>
              <a:buFontTx/>
              <a:buNone/>
            </a:pPr>
            <a:r>
              <a:rPr lang="en-US" sz="2400" dirty="0" smtClean="0">
                <a:solidFill>
                  <a:srgbClr val="0000FF"/>
                </a:solidFill>
                <a:latin typeface="Courier New" pitchFamily="49" charset="0"/>
              </a:rPr>
              <a:t>}</a:t>
            </a:r>
          </a:p>
          <a:p>
            <a:r>
              <a:rPr lang="en-US" sz="2400" dirty="0" smtClean="0"/>
              <a:t>Recursive procedure (one that calls itself!)</a:t>
            </a:r>
          </a:p>
          <a:p>
            <a:pPr lvl="1">
              <a:buFontTx/>
              <a:buNone/>
            </a:pPr>
            <a:r>
              <a:rPr lang="en-US" sz="2000" dirty="0" smtClean="0"/>
              <a:t>fact (0) = 1</a:t>
            </a:r>
          </a:p>
          <a:p>
            <a:pPr lvl="1">
              <a:buFontTx/>
              <a:buNone/>
            </a:pPr>
            <a:r>
              <a:rPr lang="en-US" sz="2000" dirty="0" smtClean="0"/>
              <a:t>fact (1) = 1 * 1 = 1</a:t>
            </a:r>
          </a:p>
          <a:p>
            <a:pPr lvl="1">
              <a:buFontTx/>
              <a:buNone/>
            </a:pPr>
            <a:r>
              <a:rPr lang="en-US" sz="2000" dirty="0" smtClean="0"/>
              <a:t>fact (2) = 2 * 1 * 1 = 2</a:t>
            </a:r>
          </a:p>
          <a:p>
            <a:pPr lvl="1">
              <a:buFontTx/>
              <a:buNone/>
            </a:pPr>
            <a:r>
              <a:rPr lang="en-US" sz="2000" dirty="0" smtClean="0"/>
              <a:t>fact (3) = 3 * 2 * 1 * 1 = 6</a:t>
            </a:r>
          </a:p>
          <a:p>
            <a:pPr lvl="1">
              <a:buFontTx/>
              <a:buNone/>
            </a:pPr>
            <a:r>
              <a:rPr lang="en-US" sz="2000" dirty="0" smtClean="0"/>
              <a:t>fact (4) = 4 * 3 * 2 * 1 * 1 = 24</a:t>
            </a:r>
          </a:p>
          <a:p>
            <a:pPr lvl="1">
              <a:buFontTx/>
              <a:buNone/>
            </a:pPr>
            <a:r>
              <a:rPr lang="en-US" sz="2000" dirty="0" smtClean="0"/>
              <a:t>. . .</a:t>
            </a:r>
          </a:p>
          <a:p>
            <a:r>
              <a:rPr lang="en-US" sz="2400" dirty="0" smtClean="0"/>
              <a:t>Assume </a:t>
            </a:r>
            <a:r>
              <a:rPr lang="en-US" sz="2400" dirty="0" smtClean="0">
                <a:latin typeface="Courier New" pitchFamily="49" charset="0"/>
              </a:rPr>
              <a:t>n</a:t>
            </a:r>
            <a:r>
              <a:rPr lang="en-US" sz="2400" dirty="0" smtClean="0"/>
              <a:t> is passed in </a:t>
            </a:r>
            <a:r>
              <a:rPr lang="en-US" sz="2400" dirty="0" smtClean="0">
                <a:latin typeface="Courier New" pitchFamily="49" charset="0"/>
              </a:rPr>
              <a:t>$a0</a:t>
            </a:r>
            <a:r>
              <a:rPr lang="en-US" sz="2400" dirty="0" smtClean="0"/>
              <a:t>; result returned in</a:t>
            </a:r>
            <a:r>
              <a:rPr lang="en-US" sz="2400" dirty="0" smtClean="0">
                <a:latin typeface="Courier New" pitchFamily="49" charset="0"/>
              </a:rPr>
              <a:t> $v0</a:t>
            </a:r>
          </a:p>
        </p:txBody>
      </p:sp>
    </p:spTree>
    <p:extLst>
      <p:ext uri="{BB962C8B-B14F-4D97-AF65-F5344CB8AC3E}">
        <p14:creationId xmlns:p14="http://schemas.microsoft.com/office/powerpoint/2010/main" val="136830589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0" y="76200"/>
            <a:ext cx="8001000" cy="762000"/>
          </a:xfrm>
        </p:spPr>
        <p:txBody>
          <a:bodyPr/>
          <a:lstStyle/>
          <a:p>
            <a:pPr>
              <a:defRPr/>
            </a:pPr>
            <a:r>
              <a:rPr lang="en-US" sz="3600" dirty="0"/>
              <a:t>Compiling a Recursive Procedure</a:t>
            </a:r>
          </a:p>
        </p:txBody>
      </p:sp>
      <p:sp>
        <p:nvSpPr>
          <p:cNvPr id="28675" name="Rectangle 3"/>
          <p:cNvSpPr>
            <a:spLocks noGrp="1" noChangeArrowheads="1"/>
          </p:cNvSpPr>
          <p:nvPr>
            <p:ph idx="1"/>
          </p:nvPr>
        </p:nvSpPr>
        <p:spPr>
          <a:xfrm>
            <a:off x="304800" y="838200"/>
            <a:ext cx="8001000" cy="5972917"/>
          </a:xfrm>
        </p:spPr>
        <p:txBody>
          <a:bodyPr/>
          <a:lstStyle/>
          <a:p>
            <a:pPr>
              <a:lnSpc>
                <a:spcPct val="80000"/>
              </a:lnSpc>
              <a:buFontTx/>
              <a:buNone/>
            </a:pPr>
            <a:r>
              <a:rPr lang="en-US" sz="1600" b="1" dirty="0" smtClean="0">
                <a:solidFill>
                  <a:srgbClr val="008000"/>
                </a:solidFill>
                <a:latin typeface="Courier New" pitchFamily="49" charset="0"/>
              </a:rPr>
              <a:t>fact:	</a:t>
            </a:r>
            <a:r>
              <a:rPr lang="en-US" sz="1600" b="1" dirty="0" err="1" smtClean="0">
                <a:solidFill>
                  <a:srgbClr val="008000"/>
                </a:solidFill>
                <a:latin typeface="Courier New" pitchFamily="49" charset="0"/>
              </a:rPr>
              <a:t>addi</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-8		#adjust stack pointer</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sw</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ra</a:t>
            </a:r>
            <a:r>
              <a:rPr lang="en-US" sz="1600" b="1" dirty="0" smtClean="0">
                <a:solidFill>
                  <a:srgbClr val="008000"/>
                </a:solidFill>
                <a:latin typeface="Courier New" pitchFamily="49" charset="0"/>
              </a:rPr>
              <a:t>, 4($</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#save return address</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sw</a:t>
            </a:r>
            <a:r>
              <a:rPr lang="en-US" sz="1600" b="1" dirty="0" smtClean="0">
                <a:solidFill>
                  <a:srgbClr val="008000"/>
                </a:solidFill>
                <a:latin typeface="Courier New" pitchFamily="49" charset="0"/>
              </a:rPr>
              <a:t>	$a0, 0($</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#save argument n</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slt</a:t>
            </a:r>
            <a:r>
              <a:rPr lang="en-US" sz="1600" b="1" dirty="0" smtClean="0">
                <a:solidFill>
                  <a:srgbClr val="008000"/>
                </a:solidFill>
                <a:latin typeface="Courier New" pitchFamily="49" charset="0"/>
              </a:rPr>
              <a:t>	$t0, $a0, 1		#test for n &lt; 1</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beq</a:t>
            </a:r>
            <a:r>
              <a:rPr lang="en-US" sz="1600" b="1" dirty="0" smtClean="0">
                <a:solidFill>
                  <a:srgbClr val="008000"/>
                </a:solidFill>
                <a:latin typeface="Courier New" pitchFamily="49" charset="0"/>
              </a:rPr>
              <a:t>	$t0, $zero, L1	#if n &gt;=1, go to L1</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addi</a:t>
            </a:r>
            <a:r>
              <a:rPr lang="en-US" sz="1600" b="1" dirty="0" smtClean="0">
                <a:solidFill>
                  <a:srgbClr val="008000"/>
                </a:solidFill>
                <a:latin typeface="Courier New" pitchFamily="49" charset="0"/>
              </a:rPr>
              <a:t>	$v0, $zero, 1		#else return 1 in $v0</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addi</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8		#adjust stack pointer</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jr</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ra</a:t>
            </a:r>
            <a:r>
              <a:rPr lang="en-US" sz="1600" b="1" dirty="0" smtClean="0">
                <a:solidFill>
                  <a:srgbClr val="008000"/>
                </a:solidFill>
                <a:latin typeface="Courier New" pitchFamily="49" charset="0"/>
              </a:rPr>
              <a:t>			#return to caller</a:t>
            </a:r>
          </a:p>
          <a:p>
            <a:pPr>
              <a:lnSpc>
                <a:spcPct val="80000"/>
              </a:lnSpc>
              <a:buFontTx/>
              <a:buNone/>
            </a:pPr>
            <a:endParaRPr lang="en-US" sz="1600" b="1" dirty="0" smtClean="0">
              <a:solidFill>
                <a:srgbClr val="008000"/>
              </a:solidFill>
              <a:latin typeface="Courier New" pitchFamily="49" charset="0"/>
            </a:endParaRPr>
          </a:p>
          <a:p>
            <a:pPr>
              <a:lnSpc>
                <a:spcPct val="80000"/>
              </a:lnSpc>
              <a:buFontTx/>
              <a:buNone/>
            </a:pPr>
            <a:r>
              <a:rPr lang="en-US" sz="1600" b="1" dirty="0" smtClean="0">
                <a:solidFill>
                  <a:srgbClr val="008000"/>
                </a:solidFill>
                <a:latin typeface="Courier New" pitchFamily="49" charset="0"/>
              </a:rPr>
              <a:t>L1:	</a:t>
            </a:r>
            <a:r>
              <a:rPr lang="en-US" sz="1600" b="1" dirty="0" err="1" smtClean="0">
                <a:solidFill>
                  <a:srgbClr val="008000"/>
                </a:solidFill>
                <a:latin typeface="Courier New" pitchFamily="49" charset="0"/>
              </a:rPr>
              <a:t>addi</a:t>
            </a:r>
            <a:r>
              <a:rPr lang="en-US" sz="1600" b="1" dirty="0" smtClean="0">
                <a:solidFill>
                  <a:srgbClr val="008000"/>
                </a:solidFill>
                <a:latin typeface="Courier New" pitchFamily="49" charset="0"/>
              </a:rPr>
              <a:t>	$a0, $a0, -1		#n &gt;=1, so decrement n</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jal</a:t>
            </a:r>
            <a:r>
              <a:rPr lang="en-US" sz="1600" b="1" dirty="0" smtClean="0">
                <a:solidFill>
                  <a:srgbClr val="008000"/>
                </a:solidFill>
                <a:latin typeface="Courier New" pitchFamily="49" charset="0"/>
              </a:rPr>
              <a:t>	fact			#call fact with (n-1)</a:t>
            </a:r>
          </a:p>
          <a:p>
            <a:pPr>
              <a:lnSpc>
                <a:spcPct val="80000"/>
              </a:lnSpc>
              <a:buFontTx/>
              <a:buNone/>
            </a:pPr>
            <a:r>
              <a:rPr lang="en-US" sz="1600" b="1" dirty="0" smtClean="0">
                <a:solidFill>
                  <a:srgbClr val="008000"/>
                </a:solidFill>
                <a:latin typeface="Courier New" pitchFamily="49" charset="0"/>
              </a:rPr>
              <a:t>					#this is where fact returns</a:t>
            </a:r>
          </a:p>
          <a:p>
            <a:pPr>
              <a:lnSpc>
                <a:spcPct val="80000"/>
              </a:lnSpc>
              <a:buFontTx/>
              <a:buNone/>
            </a:pPr>
            <a:r>
              <a:rPr lang="en-US" sz="1600" b="1" dirty="0" err="1" smtClean="0">
                <a:solidFill>
                  <a:srgbClr val="008000"/>
                </a:solidFill>
                <a:latin typeface="Courier New" pitchFamily="49" charset="0"/>
              </a:rPr>
              <a:t>bk_f</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lw</a:t>
            </a:r>
            <a:r>
              <a:rPr lang="en-US" sz="1600" b="1" dirty="0" smtClean="0">
                <a:solidFill>
                  <a:srgbClr val="008000"/>
                </a:solidFill>
                <a:latin typeface="Courier New" pitchFamily="49" charset="0"/>
              </a:rPr>
              <a:t>	$a0, 0($</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#restore argument n</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lw</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ra</a:t>
            </a:r>
            <a:r>
              <a:rPr lang="en-US" sz="1600" b="1" dirty="0" smtClean="0">
                <a:solidFill>
                  <a:srgbClr val="008000"/>
                </a:solidFill>
                <a:latin typeface="Courier New" pitchFamily="49" charset="0"/>
              </a:rPr>
              <a:t>, 4($</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#restore return address</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addi</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sp</a:t>
            </a:r>
            <a:r>
              <a:rPr lang="en-US" sz="1600" b="1" dirty="0" smtClean="0">
                <a:solidFill>
                  <a:srgbClr val="008000"/>
                </a:solidFill>
                <a:latin typeface="Courier New" pitchFamily="49" charset="0"/>
              </a:rPr>
              <a:t>, 8		#adjust stack pointer</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mul</a:t>
            </a:r>
            <a:r>
              <a:rPr lang="en-US" sz="1600" b="1" dirty="0" smtClean="0">
                <a:solidFill>
                  <a:srgbClr val="008000"/>
                </a:solidFill>
                <a:latin typeface="Courier New" pitchFamily="49" charset="0"/>
              </a:rPr>
              <a:t>	$v0, $a0, $v0		#$v0 = n * fact(n-1)</a:t>
            </a:r>
          </a:p>
          <a:p>
            <a:pPr>
              <a:lnSpc>
                <a:spcPct val="80000"/>
              </a:lnSpc>
              <a:buFontTx/>
              <a:buNone/>
            </a:pP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jr</a:t>
            </a:r>
            <a:r>
              <a:rPr lang="en-US" sz="1600" b="1" dirty="0" smtClean="0">
                <a:solidFill>
                  <a:srgbClr val="008000"/>
                </a:solidFill>
                <a:latin typeface="Courier New" pitchFamily="49" charset="0"/>
              </a:rPr>
              <a:t>	$</a:t>
            </a:r>
            <a:r>
              <a:rPr lang="en-US" sz="1600" b="1" dirty="0" err="1" smtClean="0">
                <a:solidFill>
                  <a:srgbClr val="008000"/>
                </a:solidFill>
                <a:latin typeface="Courier New" pitchFamily="49" charset="0"/>
              </a:rPr>
              <a:t>ra</a:t>
            </a:r>
            <a:r>
              <a:rPr lang="en-US" sz="1600" b="1" dirty="0" smtClean="0">
                <a:solidFill>
                  <a:srgbClr val="008000"/>
                </a:solidFill>
                <a:latin typeface="Courier New" pitchFamily="49" charset="0"/>
              </a:rPr>
              <a:t>			#return to caller</a:t>
            </a:r>
          </a:p>
        </p:txBody>
      </p:sp>
      <p:sp>
        <p:nvSpPr>
          <p:cNvPr id="28676" name="Rectangle 4"/>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Tree>
    <p:extLst>
      <p:ext uri="{BB962C8B-B14F-4D97-AF65-F5344CB8AC3E}">
        <p14:creationId xmlns:p14="http://schemas.microsoft.com/office/powerpoint/2010/main" val="18622347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72" name="Text Box 28"/>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82966" name="Text Box 22"/>
          <p:cNvSpPr txBox="1">
            <a:spLocks noChangeArrowheads="1"/>
          </p:cNvSpPr>
          <p:nvPr/>
        </p:nvSpPr>
        <p:spPr bwMode="auto">
          <a:xfrm>
            <a:off x="1143000" y="47244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82967" name="Text Box 23"/>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82946" name="Rectangle 2"/>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29702" name="Line 3"/>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29703" name="Line 4"/>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82949" name="Text Box 5"/>
          <p:cNvSpPr txBox="1">
            <a:spLocks noChangeArrowheads="1"/>
          </p:cNvSpPr>
          <p:nvPr/>
        </p:nvSpPr>
        <p:spPr bwMode="auto">
          <a:xfrm>
            <a:off x="3013075" y="121920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29705" name="Line 6"/>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29706" name="Line 7"/>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29707" name="Rectangle 8"/>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29708" name="Text Box 9"/>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29709" name="Line 10"/>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29710" name="Line 11"/>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29711" name="Line 12"/>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29712" name="Line 13"/>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29713" name="Line 14"/>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29714" name="Line 15"/>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29715" name="Line 16"/>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29716" name="Rectangle 17"/>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29717" name="Text Box 18"/>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29718" name="Rectangle 19"/>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29719" name="Text Box 20"/>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82968" name="Text Box 24"/>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82969" name="Text Box 25"/>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2</a:t>
            </a:r>
            <a:endParaRPr lang="en-US" b="1">
              <a:solidFill>
                <a:srgbClr val="000000"/>
              </a:solidFill>
            </a:endParaRPr>
          </a:p>
        </p:txBody>
      </p:sp>
      <p:sp>
        <p:nvSpPr>
          <p:cNvPr id="29722" name="Rectangle 26"/>
          <p:cNvSpPr>
            <a:spLocks noChangeArrowheads="1"/>
          </p:cNvSpPr>
          <p:nvPr/>
        </p:nvSpPr>
        <p:spPr bwMode="auto">
          <a:xfrm>
            <a:off x="3124200" y="1295400"/>
            <a:ext cx="762000" cy="228600"/>
          </a:xfrm>
          <a:prstGeom prst="rect">
            <a:avLst/>
          </a:prstGeom>
          <a:noFill/>
          <a:ln w="12700">
            <a:noFill/>
            <a:miter lim="800000"/>
            <a:headEnd/>
            <a:tailEnd/>
          </a:ln>
        </p:spPr>
        <p:txBody>
          <a:bodyPr wrap="none" anchor="ctr"/>
          <a:lstStyle/>
          <a:p>
            <a:endParaRPr lang="en-US"/>
          </a:p>
        </p:txBody>
      </p:sp>
      <p:sp>
        <p:nvSpPr>
          <p:cNvPr id="29723" name="Rectangle 29"/>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82974" name="Text Box 30"/>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29725" name="Text Box 31"/>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29726" name="Rectangle 33"/>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
        <p:nvSpPr>
          <p:cNvPr id="29727" name="Rectangle 34"/>
          <p:cNvSpPr>
            <a:spLocks noChangeArrowheads="1"/>
          </p:cNvSpPr>
          <p:nvPr/>
        </p:nvSpPr>
        <p:spPr bwMode="auto">
          <a:xfrm>
            <a:off x="4114800" y="1676400"/>
            <a:ext cx="4038600" cy="4343400"/>
          </a:xfrm>
          <a:prstGeom prst="rect">
            <a:avLst/>
          </a:prstGeom>
          <a:noFill/>
          <a:ln w="9525">
            <a:noFill/>
            <a:miter lim="800000"/>
            <a:headEnd/>
            <a:tailEnd/>
          </a:ln>
        </p:spPr>
        <p:txBody>
          <a:bodyPr/>
          <a:lstStyle/>
          <a:p>
            <a:pPr marL="342900" indent="-342900">
              <a:lnSpc>
                <a:spcPct val="80000"/>
              </a:lnSpc>
              <a:spcBef>
                <a:spcPct val="20000"/>
              </a:spcBef>
            </a:pPr>
            <a:r>
              <a:rPr lang="en-US" b="1">
                <a:solidFill>
                  <a:srgbClr val="008000"/>
                </a:solidFill>
                <a:latin typeface="Courier New" pitchFamily="49" charset="0"/>
              </a:rPr>
              <a:t>fact:	addi	$sp, $sp, -8</a:t>
            </a:r>
          </a:p>
          <a:p>
            <a:pPr marL="342900" indent="-342900">
              <a:lnSpc>
                <a:spcPct val="80000"/>
              </a:lnSpc>
              <a:spcBef>
                <a:spcPct val="20000"/>
              </a:spcBef>
            </a:pPr>
            <a:r>
              <a:rPr lang="en-US" b="1">
                <a:solidFill>
                  <a:srgbClr val="008000"/>
                </a:solidFill>
                <a:latin typeface="Courier New" pitchFamily="49" charset="0"/>
              </a:rPr>
              <a:t>		sw	$ra, 4($sp)</a:t>
            </a:r>
          </a:p>
          <a:p>
            <a:pPr marL="342900" indent="-342900">
              <a:lnSpc>
                <a:spcPct val="80000"/>
              </a:lnSpc>
              <a:spcBef>
                <a:spcPct val="20000"/>
              </a:spcBef>
            </a:pPr>
            <a:r>
              <a:rPr lang="en-US" b="1">
                <a:solidFill>
                  <a:srgbClr val="008000"/>
                </a:solidFill>
                <a:latin typeface="Courier New" pitchFamily="49" charset="0"/>
              </a:rPr>
              <a:t>		sw	$a0, 0($sp)</a:t>
            </a:r>
          </a:p>
          <a:p>
            <a:pPr marL="342900" indent="-342900">
              <a:lnSpc>
                <a:spcPct val="80000"/>
              </a:lnSpc>
              <a:spcBef>
                <a:spcPct val="20000"/>
              </a:spcBef>
            </a:pPr>
            <a:r>
              <a:rPr lang="en-US" b="1">
                <a:solidFill>
                  <a:srgbClr val="008000"/>
                </a:solidFill>
                <a:latin typeface="Courier New" pitchFamily="49" charset="0"/>
              </a:rPr>
              <a:t>		slt	$t0, $a0, 1</a:t>
            </a:r>
          </a:p>
          <a:p>
            <a:pPr marL="342900" indent="-342900">
              <a:lnSpc>
                <a:spcPct val="80000"/>
              </a:lnSpc>
              <a:spcBef>
                <a:spcPct val="20000"/>
              </a:spcBef>
            </a:pPr>
            <a:r>
              <a:rPr lang="en-US" b="1">
                <a:solidFill>
                  <a:srgbClr val="008000"/>
                </a:solidFill>
                <a:latin typeface="Courier New" pitchFamily="49" charset="0"/>
              </a:rPr>
              <a:t>		beq	$t0, $zero, L1</a:t>
            </a:r>
          </a:p>
          <a:p>
            <a:pPr marL="342900" indent="-342900">
              <a:lnSpc>
                <a:spcPct val="80000"/>
              </a:lnSpc>
              <a:spcBef>
                <a:spcPct val="20000"/>
              </a:spcBef>
            </a:pPr>
            <a:r>
              <a:rPr lang="en-US" b="1">
                <a:solidFill>
                  <a:srgbClr val="008000"/>
                </a:solidFill>
                <a:latin typeface="Courier New" pitchFamily="49" charset="0"/>
              </a:rPr>
              <a:t>		addi	$v0, $zero, 1</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jr	$ra</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L1:	addi	$a0, $a0, -1</a:t>
            </a:r>
          </a:p>
          <a:p>
            <a:pPr marL="342900" indent="-342900">
              <a:lnSpc>
                <a:spcPct val="80000"/>
              </a:lnSpc>
              <a:spcBef>
                <a:spcPct val="20000"/>
              </a:spcBef>
            </a:pPr>
            <a:r>
              <a:rPr lang="en-US" b="1">
                <a:solidFill>
                  <a:srgbClr val="008000"/>
                </a:solidFill>
                <a:latin typeface="Courier New" pitchFamily="49" charset="0"/>
              </a:rPr>
              <a:t>		jal	fact</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bk_f:	lw	$a0, 0($sp)</a:t>
            </a:r>
          </a:p>
          <a:p>
            <a:pPr marL="342900" indent="-342900">
              <a:lnSpc>
                <a:spcPct val="80000"/>
              </a:lnSpc>
              <a:spcBef>
                <a:spcPct val="20000"/>
              </a:spcBef>
            </a:pPr>
            <a:r>
              <a:rPr lang="en-US" b="1">
                <a:solidFill>
                  <a:srgbClr val="008000"/>
                </a:solidFill>
                <a:latin typeface="Courier New" pitchFamily="49" charset="0"/>
              </a:rPr>
              <a:t>		lw	$ra, 4($sp)</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mul	$v0, $a0, $v0</a:t>
            </a:r>
          </a:p>
          <a:p>
            <a:pPr marL="342900" indent="-342900">
              <a:lnSpc>
                <a:spcPct val="80000"/>
              </a:lnSpc>
              <a:spcBef>
                <a:spcPct val="20000"/>
              </a:spcBef>
            </a:pPr>
            <a:r>
              <a:rPr lang="en-US" b="1">
                <a:solidFill>
                  <a:srgbClr val="008000"/>
                </a:solidFill>
                <a:latin typeface="Courier New" pitchFamily="49" charset="0"/>
              </a:rPr>
              <a:t>		jr	$ra	</a:t>
            </a:r>
          </a:p>
        </p:txBody>
      </p:sp>
      <p:sp>
        <p:nvSpPr>
          <p:cNvPr id="82979" name="AutoShape 35"/>
          <p:cNvSpPr>
            <a:spLocks noChangeArrowheads="1"/>
          </p:cNvSpPr>
          <p:nvPr/>
        </p:nvSpPr>
        <p:spPr bwMode="auto">
          <a:xfrm>
            <a:off x="3810000" y="1600200"/>
            <a:ext cx="304800" cy="381000"/>
          </a:xfrm>
          <a:prstGeom prst="rightArrow">
            <a:avLst>
              <a:gd name="adj1" fmla="val 56667"/>
              <a:gd name="adj2" fmla="val 59894"/>
            </a:avLst>
          </a:prstGeom>
          <a:solidFill>
            <a:srgbClr val="FF3300"/>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8289766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3.33333E-6 0.03889 " pathEditMode="relative" rAng="0" ptsTypes="AA">
                                      <p:cBhvr>
                                        <p:cTn id="6" dur="2000" fill="hold"/>
                                        <p:tgtEl>
                                          <p:spTgt spid="82979"/>
                                        </p:tgtEl>
                                        <p:attrNameLst>
                                          <p:attrName>ppt_x</p:attrName>
                                          <p:attrName>ppt_y</p:attrName>
                                        </p:attrNameLst>
                                      </p:cBhvr>
                                      <p:rCtr x="0" y="19"/>
                                    </p:animMotion>
                                  </p:childTnLst>
                                </p:cTn>
                              </p:par>
                            </p:childTnLst>
                          </p:cTn>
                        </p:par>
                        <p:par>
                          <p:cTn id="7" fill="hold">
                            <p:stCondLst>
                              <p:cond delay="2000"/>
                            </p:stCondLst>
                            <p:childTnLst>
                              <p:par>
                                <p:cTn id="8" presetID="42" presetClass="path" presetSubtype="0" accel="50000" decel="50000" fill="hold" grpId="0" nodeType="afterEffect">
                                  <p:stCondLst>
                                    <p:cond delay="0"/>
                                  </p:stCondLst>
                                  <p:childTnLst>
                                    <p:animMotion origin="layout" path="M 3.05556E-6 -4.81481E-6 L 0.00052 0.08658 " pathEditMode="relative" rAng="0" ptsTypes="AA">
                                      <p:cBhvr>
                                        <p:cTn id="9" dur="2000" fill="hold"/>
                                        <p:tgtEl>
                                          <p:spTgt spid="82949"/>
                                        </p:tgtEl>
                                        <p:attrNameLst>
                                          <p:attrName>ppt_x</p:attrName>
                                          <p:attrName>ppt_y</p:attrName>
                                        </p:attrNameLst>
                                      </p:cBhvr>
                                      <p:rCtr x="0" y="43"/>
                                    </p:animMotion>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3.33333E-6 0.04421 L -3.33333E-6 0.08333 " pathEditMode="relative" rAng="0" ptsTypes="AA">
                                      <p:cBhvr>
                                        <p:cTn id="13" dur="2000" fill="hold"/>
                                        <p:tgtEl>
                                          <p:spTgt spid="82979"/>
                                        </p:tgtEl>
                                        <p:attrNameLst>
                                          <p:attrName>ppt_x</p:attrName>
                                          <p:attrName>ppt_y</p:attrName>
                                        </p:attrNameLst>
                                      </p:cBhvr>
                                      <p:rCtr x="0" y="19"/>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499"/>
                                          </p:stCondLst>
                                        </p:cTn>
                                        <p:tgtEl>
                                          <p:spTgt spid="829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2" nodeType="clickEffect">
                                  <p:stCondLst>
                                    <p:cond delay="0"/>
                                  </p:stCondLst>
                                  <p:childTnLst>
                                    <p:animMotion origin="layout" path="M -3.33333E-6 0.08264 L -0.00104 0.11667 " pathEditMode="relative" rAng="0" ptsTypes="AA">
                                      <p:cBhvr>
                                        <p:cTn id="20" dur="2000" fill="hold"/>
                                        <p:tgtEl>
                                          <p:spTgt spid="82979"/>
                                        </p:tgtEl>
                                        <p:attrNameLst>
                                          <p:attrName>ppt_x</p:attrName>
                                          <p:attrName>ppt_y</p:attrName>
                                        </p:attrNameLst>
                                      </p:cBhvr>
                                      <p:rCtr x="-1" y="17"/>
                                    </p:animMotion>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499"/>
                                          </p:stCondLst>
                                        </p:cTn>
                                        <p:tgtEl>
                                          <p:spTgt spid="8296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3" nodeType="clickEffect">
                                  <p:stCondLst>
                                    <p:cond delay="0"/>
                                  </p:stCondLst>
                                  <p:childTnLst>
                                    <p:animMotion origin="layout" path="M -3.33333E-6 0.11482 L -3.33333E-6 0.16111 " pathEditMode="relative" rAng="0" ptsTypes="AA">
                                      <p:cBhvr>
                                        <p:cTn id="27" dur="2000" fill="hold"/>
                                        <p:tgtEl>
                                          <p:spTgt spid="82979"/>
                                        </p:tgtEl>
                                        <p:attrNameLst>
                                          <p:attrName>ppt_x</p:attrName>
                                          <p:attrName>ppt_y</p:attrName>
                                        </p:attrNameLst>
                                      </p:cBhvr>
                                      <p:rCtr x="0" y="23"/>
                                    </p:animMotion>
                                  </p:childTnLst>
                                </p:cTn>
                              </p:par>
                            </p:childTnLst>
                          </p:cTn>
                        </p:par>
                        <p:par>
                          <p:cTn id="28" fill="hold">
                            <p:stCondLst>
                              <p:cond delay="2000"/>
                            </p:stCondLst>
                            <p:childTnLst>
                              <p:par>
                                <p:cTn id="29" presetID="51" presetClass="path" presetSubtype="0" accel="50000" decel="50000" fill="hold" grpId="4" nodeType="afterEffect">
                                  <p:stCondLst>
                                    <p:cond delay="0"/>
                                  </p:stCondLst>
                                  <p:childTnLst>
                                    <p:animMotion origin="layout" path="M -0.00104 0.16111 L -0.05764 0.21435 C -0.07031 0.22546 -0.07708 0.24236 -0.07708 0.25972 C -0.07708 0.27986 -0.07031 0.29607 -0.05764 0.30718 L -0.00104 0.36111 " pathEditMode="relative" rAng="0" ptsTypes="FffFF">
                                      <p:cBhvr>
                                        <p:cTn id="30" dur="2000" fill="hold"/>
                                        <p:tgtEl>
                                          <p:spTgt spid="82979"/>
                                        </p:tgtEl>
                                        <p:attrNameLst>
                                          <p:attrName>ppt_x</p:attrName>
                                          <p:attrName>ppt_y</p:attrName>
                                        </p:attrNameLst>
                                      </p:cBhvr>
                                      <p:rCtr x="-38" y="100"/>
                                    </p:animMotion>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grpId="5" nodeType="clickEffect">
                                  <p:stCondLst>
                                    <p:cond delay="0"/>
                                  </p:stCondLst>
                                  <p:childTnLst>
                                    <p:animMotion origin="layout" path="M -0.00104 0.36111 L 0.1 0.40556 " pathEditMode="relative" rAng="0" ptsTypes="AA">
                                      <p:cBhvr>
                                        <p:cTn id="34" dur="2000" fill="hold"/>
                                        <p:tgtEl>
                                          <p:spTgt spid="82979"/>
                                        </p:tgtEl>
                                        <p:attrNameLst>
                                          <p:attrName>ppt_x</p:attrName>
                                          <p:attrName>ppt_y</p:attrName>
                                        </p:attrNameLst>
                                      </p:cBhvr>
                                      <p:rCtr x="51" y="22"/>
                                    </p:animMotion>
                                  </p:childTnLst>
                                </p:cTn>
                              </p:par>
                            </p:childTnLst>
                          </p:cTn>
                        </p:par>
                        <p:par>
                          <p:cTn id="35" fill="hold">
                            <p:stCondLst>
                              <p:cond delay="2000"/>
                            </p:stCondLst>
                            <p:childTnLst>
                              <p:par>
                                <p:cTn id="36" presetID="3" presetClass="exit" presetSubtype="10" fill="hold" grpId="0" nodeType="afterEffect">
                                  <p:stCondLst>
                                    <p:cond delay="0"/>
                                  </p:stCondLst>
                                  <p:childTnLst>
                                    <p:animEffect transition="out" filter="blinds(horizontal)">
                                      <p:cBhvr>
                                        <p:cTn id="37" dur="500"/>
                                        <p:tgtEl>
                                          <p:spTgt spid="82969"/>
                                        </p:tgtEl>
                                      </p:cBhvr>
                                    </p:animEffect>
                                    <p:set>
                                      <p:cBhvr>
                                        <p:cTn id="38" dur="1" fill="hold">
                                          <p:stCondLst>
                                            <p:cond delay="499"/>
                                          </p:stCondLst>
                                        </p:cTn>
                                        <p:tgtEl>
                                          <p:spTgt spid="82969"/>
                                        </p:tgtEl>
                                        <p:attrNameLst>
                                          <p:attrName>style.visibility</p:attrName>
                                        </p:attrNameLst>
                                      </p:cBhvr>
                                      <p:to>
                                        <p:strVal val="hidden"/>
                                      </p:to>
                                    </p:set>
                                  </p:childTnLst>
                                </p:cTn>
                              </p:par>
                            </p:childTnLst>
                          </p:cTn>
                        </p:par>
                        <p:par>
                          <p:cTn id="39" fill="hold">
                            <p:stCondLst>
                              <p:cond delay="2500"/>
                            </p:stCondLst>
                            <p:childTnLst>
                              <p:par>
                                <p:cTn id="40" presetID="3" presetClass="entr" presetSubtype="10" fill="hold" grpId="0" nodeType="afterEffect">
                                  <p:stCondLst>
                                    <p:cond delay="0"/>
                                  </p:stCondLst>
                                  <p:childTnLst>
                                    <p:set>
                                      <p:cBhvr>
                                        <p:cTn id="41" dur="1" fill="hold">
                                          <p:stCondLst>
                                            <p:cond delay="0"/>
                                          </p:stCondLst>
                                        </p:cTn>
                                        <p:tgtEl>
                                          <p:spTgt spid="82972"/>
                                        </p:tgtEl>
                                        <p:attrNameLst>
                                          <p:attrName>style.visibility</p:attrName>
                                        </p:attrNameLst>
                                      </p:cBhvr>
                                      <p:to>
                                        <p:strVal val="visible"/>
                                      </p:to>
                                    </p:set>
                                    <p:animEffect transition="in" filter="blinds(horizontal)">
                                      <p:cBhvr>
                                        <p:cTn id="42" dur="500"/>
                                        <p:tgtEl>
                                          <p:spTgt spid="82972"/>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grpId="6" nodeType="clickEffect">
                                  <p:stCondLst>
                                    <p:cond delay="0"/>
                                  </p:stCondLst>
                                  <p:childTnLst>
                                    <p:animMotion origin="layout" path="M 0.1 0.40556 L -3.33333E-6 0.48333 " pathEditMode="relative" rAng="0" ptsTypes="AA">
                                      <p:cBhvr>
                                        <p:cTn id="46" dur="2000" fill="hold"/>
                                        <p:tgtEl>
                                          <p:spTgt spid="82979"/>
                                        </p:tgtEl>
                                        <p:attrNameLst>
                                          <p:attrName>ppt_x</p:attrName>
                                          <p:attrName>ppt_y</p:attrName>
                                        </p:attrNameLst>
                                      </p:cBhvr>
                                      <p:rCtr x="-50" y="39"/>
                                    </p:animMotion>
                                  </p:childTnLst>
                                </p:cTn>
                              </p:par>
                            </p:childTnLst>
                          </p:cTn>
                        </p:par>
                        <p:par>
                          <p:cTn id="47" fill="hold">
                            <p:stCondLst>
                              <p:cond delay="2000"/>
                            </p:stCondLst>
                            <p:childTnLst>
                              <p:par>
                                <p:cTn id="48" presetID="3" presetClass="exit" presetSubtype="10" fill="hold" grpId="0" nodeType="afterEffect">
                                  <p:stCondLst>
                                    <p:cond delay="0"/>
                                  </p:stCondLst>
                                  <p:childTnLst>
                                    <p:animEffect transition="out" filter="blinds(horizontal)">
                                      <p:cBhvr>
                                        <p:cTn id="49" dur="500"/>
                                        <p:tgtEl>
                                          <p:spTgt spid="82966"/>
                                        </p:tgtEl>
                                      </p:cBhvr>
                                    </p:animEffect>
                                    <p:set>
                                      <p:cBhvr>
                                        <p:cTn id="50" dur="1" fill="hold">
                                          <p:stCondLst>
                                            <p:cond delay="499"/>
                                          </p:stCondLst>
                                        </p:cTn>
                                        <p:tgtEl>
                                          <p:spTgt spid="82966"/>
                                        </p:tgtEl>
                                        <p:attrNameLst>
                                          <p:attrName>style.visibility</p:attrName>
                                        </p:attrNameLst>
                                      </p:cBhvr>
                                      <p:to>
                                        <p:strVal val="hidden"/>
                                      </p:to>
                                    </p:set>
                                  </p:childTnLst>
                                </p:cTn>
                              </p:par>
                            </p:childTnLst>
                          </p:cTn>
                        </p:par>
                        <p:par>
                          <p:cTn id="51" fill="hold">
                            <p:stCondLst>
                              <p:cond delay="2500"/>
                            </p:stCondLst>
                            <p:childTnLst>
                              <p:par>
                                <p:cTn id="52" presetID="1" presetClass="entr" presetSubtype="0" fill="hold" grpId="0" nodeType="afterEffect">
                                  <p:stCondLst>
                                    <p:cond delay="1000"/>
                                  </p:stCondLst>
                                  <p:childTnLst>
                                    <p:set>
                                      <p:cBhvr>
                                        <p:cTn id="53" dur="1" fill="hold">
                                          <p:stCondLst>
                                            <p:cond delay="499"/>
                                          </p:stCondLst>
                                        </p:cTn>
                                        <p:tgtEl>
                                          <p:spTgt spid="829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72" grpId="0"/>
      <p:bldP spid="82966" grpId="0"/>
      <p:bldP spid="82967" grpId="0" autoUpdateAnimBg="0"/>
      <p:bldP spid="82949" grpId="0"/>
      <p:bldP spid="82968" grpId="0" autoUpdateAnimBg="0"/>
      <p:bldP spid="82969" grpId="0"/>
      <p:bldP spid="82974" grpId="0" autoUpdateAnimBg="0"/>
      <p:bldP spid="82979" grpId="0" animBg="1"/>
      <p:bldP spid="82979" grpId="1" animBg="1"/>
      <p:bldP spid="82979" grpId="2" animBg="1"/>
      <p:bldP spid="82979" grpId="3" animBg="1"/>
      <p:bldP spid="82979" grpId="4" animBg="1"/>
      <p:bldP spid="82979" grpId="5" animBg="1"/>
      <p:bldP spid="82979" grpId="6"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30723" name="Text Box 4"/>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102405" name="Rectangle 5"/>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0725" name="Line 6"/>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0726" name="Line 7"/>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30727" name="Text Box 8"/>
          <p:cNvSpPr txBox="1">
            <a:spLocks noChangeArrowheads="1"/>
          </p:cNvSpPr>
          <p:nvPr/>
        </p:nvSpPr>
        <p:spPr bwMode="auto">
          <a:xfrm>
            <a:off x="3013075" y="179705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0728" name="Line 9"/>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0729" name="Line 10"/>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0730" name="Rectangle 11"/>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0731" name="Text Box 12"/>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0732" name="Line 13"/>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0733" name="Line 14"/>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0734" name="Line 15"/>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0735" name="Line 16"/>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0736" name="Line 17"/>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0737" name="Line 18"/>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0738" name="Line 19"/>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0739" name="Rectangle 20"/>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0740" name="Text Box 21"/>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0741" name="Rectangle 22"/>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0742" name="Text Box 23"/>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a:latin typeface="Courier New" pitchFamily="49" charset="0"/>
              </a:rPr>
              <a:t>$v0</a:t>
            </a:r>
          </a:p>
        </p:txBody>
      </p:sp>
      <p:sp>
        <p:nvSpPr>
          <p:cNvPr id="30743" name="Text Box 24"/>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30744" name="Rectangle 27"/>
          <p:cNvSpPr>
            <a:spLocks noChangeArrowheads="1"/>
          </p:cNvSpPr>
          <p:nvPr/>
        </p:nvSpPr>
        <p:spPr bwMode="auto">
          <a:xfrm>
            <a:off x="1676400" y="5486400"/>
            <a:ext cx="762000" cy="152400"/>
          </a:xfrm>
          <a:prstGeom prst="rect">
            <a:avLst/>
          </a:prstGeom>
          <a:noFill/>
          <a:ln w="12700">
            <a:noFill/>
            <a:miter lim="800000"/>
            <a:headEnd/>
            <a:tailEnd/>
          </a:ln>
        </p:spPr>
        <p:txBody>
          <a:bodyPr wrap="none" anchor="ctr"/>
          <a:lstStyle/>
          <a:p>
            <a:endParaRPr lang="en-US"/>
          </a:p>
        </p:txBody>
      </p:sp>
      <p:sp>
        <p:nvSpPr>
          <p:cNvPr id="30745" name="Rectangle 28"/>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30746" name="Text Box 29"/>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0747" name="Text Box 30"/>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0748" name="Rectangle 31"/>
          <p:cNvSpPr>
            <a:spLocks noChangeArrowheads="1"/>
          </p:cNvSpPr>
          <p:nvPr/>
        </p:nvSpPr>
        <p:spPr bwMode="auto">
          <a:xfrm>
            <a:off x="4191000" y="1524000"/>
            <a:ext cx="4572000" cy="3825875"/>
          </a:xfrm>
          <a:prstGeom prst="rect">
            <a:avLst/>
          </a:prstGeom>
          <a:noFill/>
          <a:ln w="12700">
            <a:noFill/>
            <a:miter lim="800000"/>
            <a:headEnd/>
            <a:tailEnd/>
          </a:ln>
        </p:spPr>
        <p:txBody>
          <a:bodyPr lIns="63500" tIns="25400" rIns="63500" bIns="25400">
            <a:spAutoFit/>
          </a:bodyPr>
          <a:lstStyle/>
          <a:p>
            <a:pPr marL="342900" indent="-342900">
              <a:spcBef>
                <a:spcPct val="20000"/>
              </a:spcBef>
              <a:buFontTx/>
              <a:buChar char="•"/>
            </a:pPr>
            <a:r>
              <a:rPr lang="en-US" sz="2400">
                <a:solidFill>
                  <a:srgbClr val="583E14"/>
                </a:solidFill>
                <a:latin typeface="Palatino Linotype" pitchFamily="18" charset="0"/>
              </a:rPr>
              <a:t>Stack state after execution of </a:t>
            </a:r>
            <a:r>
              <a:rPr lang="en-US" sz="2400" i="1">
                <a:solidFill>
                  <a:srgbClr val="583E14"/>
                </a:solidFill>
                <a:latin typeface="Palatino Linotype" pitchFamily="18" charset="0"/>
              </a:rPr>
              <a:t>first encounter with the </a:t>
            </a:r>
            <a:r>
              <a:rPr lang="en-US" sz="2400" i="1">
                <a:solidFill>
                  <a:srgbClr val="583E14"/>
                </a:solidFill>
                <a:latin typeface="Courier New" pitchFamily="49" charset="0"/>
              </a:rPr>
              <a:t>jal</a:t>
            </a:r>
            <a:r>
              <a:rPr lang="en-US" sz="2400">
                <a:solidFill>
                  <a:srgbClr val="583E14"/>
                </a:solidFill>
                <a:latin typeface="Palatino Linotype" pitchFamily="18" charset="0"/>
              </a:rPr>
              <a:t> instruction (</a:t>
            </a:r>
            <a:r>
              <a:rPr lang="en-US" sz="2400" i="1">
                <a:solidFill>
                  <a:srgbClr val="FF3300"/>
                </a:solidFill>
                <a:latin typeface="Palatino Linotype" pitchFamily="18" charset="0"/>
              </a:rPr>
              <a:t>second</a:t>
            </a:r>
            <a:r>
              <a:rPr lang="en-US" sz="2400">
                <a:solidFill>
                  <a:srgbClr val="583E14"/>
                </a:solidFill>
                <a:latin typeface="Palatino Linotype" pitchFamily="18" charset="0"/>
              </a:rPr>
              <a:t> call to fact routine with </a:t>
            </a:r>
            <a:r>
              <a:rPr lang="en-US" sz="2400">
                <a:solidFill>
                  <a:srgbClr val="583E14"/>
                </a:solidFill>
                <a:latin typeface="Courier New" pitchFamily="49" charset="0"/>
              </a:rPr>
              <a:t>$a0</a:t>
            </a:r>
            <a:r>
              <a:rPr lang="en-US" sz="2400">
                <a:solidFill>
                  <a:srgbClr val="583E14"/>
                </a:solidFill>
                <a:latin typeface="Palatino Linotype" pitchFamily="18" charset="0"/>
              </a:rPr>
              <a:t> now holding 1)</a:t>
            </a:r>
          </a:p>
          <a:p>
            <a:pPr marL="742950" lvl="1" indent="-285750">
              <a:spcBef>
                <a:spcPct val="20000"/>
              </a:spcBef>
              <a:buFontTx/>
              <a:buChar char="–"/>
            </a:pPr>
            <a:r>
              <a:rPr lang="en-US" sz="2000">
                <a:solidFill>
                  <a:srgbClr val="008000"/>
                </a:solidFill>
                <a:latin typeface="Palatino Linotype" pitchFamily="18" charset="0"/>
              </a:rPr>
              <a:t>saved return address to caller routine (i.e., location in the main routine where </a:t>
            </a:r>
            <a:r>
              <a:rPr lang="en-US" sz="2000" i="1">
                <a:solidFill>
                  <a:srgbClr val="FF3300"/>
                </a:solidFill>
                <a:latin typeface="Palatino Linotype" pitchFamily="18" charset="0"/>
              </a:rPr>
              <a:t>first</a:t>
            </a:r>
            <a:r>
              <a:rPr lang="en-US" sz="2000">
                <a:solidFill>
                  <a:srgbClr val="008000"/>
                </a:solidFill>
                <a:latin typeface="Palatino Linotype" pitchFamily="18" charset="0"/>
              </a:rPr>
              <a:t> call to fact is made) on the stack</a:t>
            </a:r>
          </a:p>
          <a:p>
            <a:pPr marL="742950" lvl="1" indent="-285750">
              <a:spcBef>
                <a:spcPct val="20000"/>
              </a:spcBef>
              <a:buFontTx/>
              <a:buChar char="–"/>
            </a:pPr>
            <a:r>
              <a:rPr lang="en-US" sz="2000">
                <a:solidFill>
                  <a:srgbClr val="008000"/>
                </a:solidFill>
                <a:latin typeface="Palatino Linotype" pitchFamily="18" charset="0"/>
              </a:rPr>
              <a:t>saved original value of </a:t>
            </a:r>
            <a:r>
              <a:rPr lang="en-US" sz="2000">
                <a:solidFill>
                  <a:srgbClr val="008000"/>
                </a:solidFill>
                <a:latin typeface="Courier New" pitchFamily="49" charset="0"/>
              </a:rPr>
              <a:t>$a0</a:t>
            </a:r>
            <a:r>
              <a:rPr lang="en-US" sz="2000">
                <a:solidFill>
                  <a:srgbClr val="008000"/>
                </a:solidFill>
                <a:latin typeface="Palatino Linotype" pitchFamily="18" charset="0"/>
              </a:rPr>
              <a:t> on the stack</a:t>
            </a:r>
          </a:p>
        </p:txBody>
      </p:sp>
      <p:sp>
        <p:nvSpPr>
          <p:cNvPr id="30749" name="Rectangle 32"/>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Tree>
    <p:extLst>
      <p:ext uri="{BB962C8B-B14F-4D97-AF65-F5344CB8AC3E}">
        <p14:creationId xmlns:p14="http://schemas.microsoft.com/office/powerpoint/2010/main" val="33573710"/>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104452" name="Text Box 4"/>
          <p:cNvSpPr txBox="1">
            <a:spLocks noChangeArrowheads="1"/>
          </p:cNvSpPr>
          <p:nvPr/>
        </p:nvSpPr>
        <p:spPr bwMode="auto">
          <a:xfrm>
            <a:off x="1689100" y="21336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104453" name="Rectangle 5"/>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1749" name="Line 6"/>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1750" name="Line 7"/>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104456" name="Text Box 8"/>
          <p:cNvSpPr txBox="1">
            <a:spLocks noChangeArrowheads="1"/>
          </p:cNvSpPr>
          <p:nvPr/>
        </p:nvSpPr>
        <p:spPr bwMode="auto">
          <a:xfrm>
            <a:off x="3013075" y="179705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1752" name="Line 9"/>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1753" name="Line 10"/>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1754" name="Rectangle 11"/>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1755" name="Text Box 12"/>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1756" name="Line 13"/>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1757" name="Line 14"/>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1758" name="Line 15"/>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1759" name="Line 16"/>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1760" name="Line 17"/>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1761" name="Line 18"/>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1762" name="Line 19"/>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1763" name="Rectangle 20"/>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1764" name="Text Box 21"/>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1765" name="Rectangle 22"/>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1766" name="Text Box 23"/>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104472" name="Text Box 24"/>
          <p:cNvSpPr txBox="1">
            <a:spLocks noChangeArrowheads="1"/>
          </p:cNvSpPr>
          <p:nvPr/>
        </p:nvSpPr>
        <p:spPr bwMode="auto">
          <a:xfrm>
            <a:off x="1447800" y="24384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1</a:t>
            </a:r>
            <a:endParaRPr lang="en-US" b="1">
              <a:solidFill>
                <a:srgbClr val="000000"/>
              </a:solidFill>
            </a:endParaRPr>
          </a:p>
        </p:txBody>
      </p:sp>
      <p:sp>
        <p:nvSpPr>
          <p:cNvPr id="104473" name="Text Box 25"/>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0</a:t>
            </a:r>
            <a:endParaRPr lang="en-US" b="1">
              <a:solidFill>
                <a:srgbClr val="000000"/>
              </a:solidFill>
            </a:endParaRPr>
          </a:p>
        </p:txBody>
      </p:sp>
      <p:sp>
        <p:nvSpPr>
          <p:cNvPr id="31769" name="Rectangle 27"/>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31770" name="Text Box 28"/>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1771" name="Text Box 29"/>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1772" name="Rectangle 30"/>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
        <p:nvSpPr>
          <p:cNvPr id="104480" name="AutoShape 32"/>
          <p:cNvSpPr>
            <a:spLocks noChangeArrowheads="1"/>
          </p:cNvSpPr>
          <p:nvPr/>
        </p:nvSpPr>
        <p:spPr bwMode="auto">
          <a:xfrm>
            <a:off x="3810000" y="1600200"/>
            <a:ext cx="304800" cy="381000"/>
          </a:xfrm>
          <a:prstGeom prst="rightArrow">
            <a:avLst>
              <a:gd name="adj1" fmla="val 56667"/>
              <a:gd name="adj2" fmla="val 59894"/>
            </a:avLst>
          </a:prstGeom>
          <a:solidFill>
            <a:srgbClr val="FF3300"/>
          </a:solidFill>
          <a:ln w="9525">
            <a:noFill/>
            <a:miter lim="800000"/>
            <a:headEnd/>
            <a:tailEnd/>
          </a:ln>
        </p:spPr>
        <p:txBody>
          <a:bodyPr wrap="none" anchor="ctr"/>
          <a:lstStyle/>
          <a:p>
            <a:endParaRPr lang="en-US"/>
          </a:p>
        </p:txBody>
      </p:sp>
      <p:sp>
        <p:nvSpPr>
          <p:cNvPr id="31774" name="Text Box 33"/>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31775" name="Text Box 34"/>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31776" name="Rectangle 36"/>
          <p:cNvSpPr>
            <a:spLocks noChangeArrowheads="1"/>
          </p:cNvSpPr>
          <p:nvPr/>
        </p:nvSpPr>
        <p:spPr bwMode="auto">
          <a:xfrm>
            <a:off x="4114800" y="1676400"/>
            <a:ext cx="4038600" cy="4343400"/>
          </a:xfrm>
          <a:prstGeom prst="rect">
            <a:avLst/>
          </a:prstGeom>
          <a:noFill/>
          <a:ln w="9525">
            <a:noFill/>
            <a:miter lim="800000"/>
            <a:headEnd/>
            <a:tailEnd/>
          </a:ln>
        </p:spPr>
        <p:txBody>
          <a:bodyPr/>
          <a:lstStyle/>
          <a:p>
            <a:pPr marL="342900" indent="-342900">
              <a:lnSpc>
                <a:spcPct val="80000"/>
              </a:lnSpc>
              <a:spcBef>
                <a:spcPct val="20000"/>
              </a:spcBef>
            </a:pPr>
            <a:r>
              <a:rPr lang="en-US" b="1">
                <a:solidFill>
                  <a:srgbClr val="008000"/>
                </a:solidFill>
                <a:latin typeface="Courier New" pitchFamily="49" charset="0"/>
              </a:rPr>
              <a:t>fact:	addi	$sp, $sp, -8</a:t>
            </a:r>
          </a:p>
          <a:p>
            <a:pPr marL="342900" indent="-342900">
              <a:lnSpc>
                <a:spcPct val="80000"/>
              </a:lnSpc>
              <a:spcBef>
                <a:spcPct val="20000"/>
              </a:spcBef>
            </a:pPr>
            <a:r>
              <a:rPr lang="en-US" b="1">
                <a:solidFill>
                  <a:srgbClr val="008000"/>
                </a:solidFill>
                <a:latin typeface="Courier New" pitchFamily="49" charset="0"/>
              </a:rPr>
              <a:t>		sw	$ra, 4($sp)</a:t>
            </a:r>
          </a:p>
          <a:p>
            <a:pPr marL="342900" indent="-342900">
              <a:lnSpc>
                <a:spcPct val="80000"/>
              </a:lnSpc>
              <a:spcBef>
                <a:spcPct val="20000"/>
              </a:spcBef>
            </a:pPr>
            <a:r>
              <a:rPr lang="en-US" b="1">
                <a:solidFill>
                  <a:srgbClr val="008000"/>
                </a:solidFill>
                <a:latin typeface="Courier New" pitchFamily="49" charset="0"/>
              </a:rPr>
              <a:t>		sw	$a0, 0($sp)</a:t>
            </a:r>
          </a:p>
          <a:p>
            <a:pPr marL="342900" indent="-342900">
              <a:lnSpc>
                <a:spcPct val="80000"/>
              </a:lnSpc>
              <a:spcBef>
                <a:spcPct val="20000"/>
              </a:spcBef>
            </a:pPr>
            <a:r>
              <a:rPr lang="en-US" b="1">
                <a:solidFill>
                  <a:srgbClr val="008000"/>
                </a:solidFill>
                <a:latin typeface="Courier New" pitchFamily="49" charset="0"/>
              </a:rPr>
              <a:t>		slt	$t0, $a0, 1</a:t>
            </a:r>
          </a:p>
          <a:p>
            <a:pPr marL="342900" indent="-342900">
              <a:lnSpc>
                <a:spcPct val="80000"/>
              </a:lnSpc>
              <a:spcBef>
                <a:spcPct val="20000"/>
              </a:spcBef>
            </a:pPr>
            <a:r>
              <a:rPr lang="en-US" b="1">
                <a:solidFill>
                  <a:srgbClr val="008000"/>
                </a:solidFill>
                <a:latin typeface="Courier New" pitchFamily="49" charset="0"/>
              </a:rPr>
              <a:t>		beq	$t0, $zero, L1</a:t>
            </a:r>
          </a:p>
          <a:p>
            <a:pPr marL="342900" indent="-342900">
              <a:lnSpc>
                <a:spcPct val="80000"/>
              </a:lnSpc>
              <a:spcBef>
                <a:spcPct val="20000"/>
              </a:spcBef>
            </a:pPr>
            <a:r>
              <a:rPr lang="en-US" b="1">
                <a:solidFill>
                  <a:srgbClr val="008000"/>
                </a:solidFill>
                <a:latin typeface="Courier New" pitchFamily="49" charset="0"/>
              </a:rPr>
              <a:t>		addi	$v0, $zero, 1</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jr	$ra</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L1:	addi	$a0, $a0, -1</a:t>
            </a:r>
          </a:p>
          <a:p>
            <a:pPr marL="342900" indent="-342900">
              <a:lnSpc>
                <a:spcPct val="80000"/>
              </a:lnSpc>
              <a:spcBef>
                <a:spcPct val="20000"/>
              </a:spcBef>
            </a:pPr>
            <a:r>
              <a:rPr lang="en-US" b="1">
                <a:solidFill>
                  <a:srgbClr val="008000"/>
                </a:solidFill>
                <a:latin typeface="Courier New" pitchFamily="49" charset="0"/>
              </a:rPr>
              <a:t>		jal	fact</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bk_f:	lw	$a0, 0($sp)</a:t>
            </a:r>
          </a:p>
          <a:p>
            <a:pPr marL="342900" indent="-342900">
              <a:lnSpc>
                <a:spcPct val="80000"/>
              </a:lnSpc>
              <a:spcBef>
                <a:spcPct val="20000"/>
              </a:spcBef>
            </a:pPr>
            <a:r>
              <a:rPr lang="en-US" b="1">
                <a:solidFill>
                  <a:srgbClr val="008000"/>
                </a:solidFill>
                <a:latin typeface="Courier New" pitchFamily="49" charset="0"/>
              </a:rPr>
              <a:t>		lw	$ra, 4($sp)</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mul	$v0, $a0, $v0</a:t>
            </a:r>
          </a:p>
          <a:p>
            <a:pPr marL="342900" indent="-342900">
              <a:lnSpc>
                <a:spcPct val="80000"/>
              </a:lnSpc>
              <a:spcBef>
                <a:spcPct val="20000"/>
              </a:spcBef>
            </a:pPr>
            <a:r>
              <a:rPr lang="en-US" b="1">
                <a:solidFill>
                  <a:srgbClr val="008000"/>
                </a:solidFill>
                <a:latin typeface="Courier New" pitchFamily="49" charset="0"/>
              </a:rPr>
              <a:t>		jr	$ra	</a:t>
            </a:r>
          </a:p>
        </p:txBody>
      </p:sp>
    </p:spTree>
    <p:extLst>
      <p:ext uri="{BB962C8B-B14F-4D97-AF65-F5344CB8AC3E}">
        <p14:creationId xmlns:p14="http://schemas.microsoft.com/office/powerpoint/2010/main" val="11879022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3.33333E-6 0.03889 " pathEditMode="relative" rAng="0" ptsTypes="AA">
                                      <p:cBhvr>
                                        <p:cTn id="6" dur="2000" fill="hold"/>
                                        <p:tgtEl>
                                          <p:spTgt spid="104480"/>
                                        </p:tgtEl>
                                        <p:attrNameLst>
                                          <p:attrName>ppt_x</p:attrName>
                                          <p:attrName>ppt_y</p:attrName>
                                        </p:attrNameLst>
                                      </p:cBhvr>
                                      <p:rCtr x="0" y="19"/>
                                    </p:animMotion>
                                  </p:childTnLst>
                                </p:cTn>
                              </p:par>
                            </p:childTnLst>
                          </p:cTn>
                        </p:par>
                        <p:par>
                          <p:cTn id="7" fill="hold">
                            <p:stCondLst>
                              <p:cond delay="2000"/>
                            </p:stCondLst>
                            <p:childTnLst>
                              <p:par>
                                <p:cTn id="8" presetID="42" presetClass="path" presetSubtype="0" accel="50000" decel="50000" fill="hold" grpId="0" nodeType="afterEffect">
                                  <p:stCondLst>
                                    <p:cond delay="0"/>
                                  </p:stCondLst>
                                  <p:childTnLst>
                                    <p:animMotion origin="layout" path="M 3.05556E-6 -4.81481E-6 L 0.00052 0.08658 " pathEditMode="relative" rAng="0" ptsTypes="AA">
                                      <p:cBhvr>
                                        <p:cTn id="9" dur="2000" fill="hold"/>
                                        <p:tgtEl>
                                          <p:spTgt spid="104456"/>
                                        </p:tgtEl>
                                        <p:attrNameLst>
                                          <p:attrName>ppt_x</p:attrName>
                                          <p:attrName>ppt_y</p:attrName>
                                        </p:attrNameLst>
                                      </p:cBhvr>
                                      <p:rCtr x="0" y="43"/>
                                    </p:animMotion>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3.33333E-6 0.04421 L -3.33333E-6 0.08333 " pathEditMode="relative" rAng="0" ptsTypes="AA">
                                      <p:cBhvr>
                                        <p:cTn id="13" dur="2000" fill="hold"/>
                                        <p:tgtEl>
                                          <p:spTgt spid="104480"/>
                                        </p:tgtEl>
                                        <p:attrNameLst>
                                          <p:attrName>ppt_x</p:attrName>
                                          <p:attrName>ppt_y</p:attrName>
                                        </p:attrNameLst>
                                      </p:cBhvr>
                                      <p:rCtr x="0" y="19"/>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499"/>
                                          </p:stCondLst>
                                        </p:cTn>
                                        <p:tgtEl>
                                          <p:spTgt spid="1044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2" nodeType="clickEffect">
                                  <p:stCondLst>
                                    <p:cond delay="0"/>
                                  </p:stCondLst>
                                  <p:childTnLst>
                                    <p:animMotion origin="layout" path="M -3.33333E-6 0.08264 L -0.00104 0.11667 " pathEditMode="relative" rAng="0" ptsTypes="AA">
                                      <p:cBhvr>
                                        <p:cTn id="20" dur="2000" fill="hold"/>
                                        <p:tgtEl>
                                          <p:spTgt spid="104480"/>
                                        </p:tgtEl>
                                        <p:attrNameLst>
                                          <p:attrName>ppt_x</p:attrName>
                                          <p:attrName>ppt_y</p:attrName>
                                        </p:attrNameLst>
                                      </p:cBhvr>
                                      <p:rCtr x="-1" y="17"/>
                                    </p:animMotion>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499"/>
                                          </p:stCondLst>
                                        </p:cTn>
                                        <p:tgtEl>
                                          <p:spTgt spid="10447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3" nodeType="clickEffect">
                                  <p:stCondLst>
                                    <p:cond delay="0"/>
                                  </p:stCondLst>
                                  <p:childTnLst>
                                    <p:animMotion origin="layout" path="M -3.33333E-6 0.11482 L -3.33333E-6 0.16111 " pathEditMode="relative" rAng="0" ptsTypes="AA">
                                      <p:cBhvr>
                                        <p:cTn id="27" dur="2000" fill="hold"/>
                                        <p:tgtEl>
                                          <p:spTgt spid="104480"/>
                                        </p:tgtEl>
                                        <p:attrNameLst>
                                          <p:attrName>ppt_x</p:attrName>
                                          <p:attrName>ppt_y</p:attrName>
                                        </p:attrNameLst>
                                      </p:cBhvr>
                                      <p:rCtr x="0" y="23"/>
                                    </p:animMotion>
                                  </p:childTnLst>
                                </p:cTn>
                              </p:par>
                            </p:childTnLst>
                          </p:cTn>
                        </p:par>
                        <p:par>
                          <p:cTn id="28" fill="hold">
                            <p:stCondLst>
                              <p:cond delay="2000"/>
                            </p:stCondLst>
                            <p:childTnLst>
                              <p:par>
                                <p:cTn id="29" presetID="51" presetClass="path" presetSubtype="0" accel="50000" decel="50000" fill="hold" grpId="4" nodeType="afterEffect">
                                  <p:stCondLst>
                                    <p:cond delay="0"/>
                                  </p:stCondLst>
                                  <p:childTnLst>
                                    <p:animMotion origin="layout" path="M -0.00104 0.16111 L -0.05764 0.21435 C -0.07031 0.22546 -0.07708 0.24236 -0.07708 0.25972 C -0.07708 0.27986 -0.07031 0.29607 -0.05764 0.30718 L -0.00104 0.36111 " pathEditMode="relative" rAng="0" ptsTypes="FffFF">
                                      <p:cBhvr>
                                        <p:cTn id="30" dur="2000" fill="hold"/>
                                        <p:tgtEl>
                                          <p:spTgt spid="104480"/>
                                        </p:tgtEl>
                                        <p:attrNameLst>
                                          <p:attrName>ppt_x</p:attrName>
                                          <p:attrName>ppt_y</p:attrName>
                                        </p:attrNameLst>
                                      </p:cBhvr>
                                      <p:rCtr x="-38" y="100"/>
                                    </p:animMotion>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grpId="5" nodeType="clickEffect">
                                  <p:stCondLst>
                                    <p:cond delay="0"/>
                                  </p:stCondLst>
                                  <p:childTnLst>
                                    <p:animMotion origin="layout" path="M -0.00104 0.36111 L 0.1 0.40556 " pathEditMode="relative" rAng="0" ptsTypes="AA">
                                      <p:cBhvr>
                                        <p:cTn id="34" dur="2000" fill="hold"/>
                                        <p:tgtEl>
                                          <p:spTgt spid="104480"/>
                                        </p:tgtEl>
                                        <p:attrNameLst>
                                          <p:attrName>ppt_x</p:attrName>
                                          <p:attrName>ppt_y</p:attrName>
                                        </p:attrNameLst>
                                      </p:cBhvr>
                                      <p:rCtr x="51" y="22"/>
                                    </p:animMotion>
                                  </p:childTnLst>
                                </p:cTn>
                              </p:par>
                            </p:childTnLst>
                          </p:cTn>
                        </p:par>
                        <p:par>
                          <p:cTn id="35" fill="hold">
                            <p:stCondLst>
                              <p:cond delay="2000"/>
                            </p:stCondLst>
                            <p:childTnLst>
                              <p:par>
                                <p:cTn id="36" presetID="3" presetClass="exit" presetSubtype="10" fill="hold" grpId="0" nodeType="afterEffect">
                                  <p:stCondLst>
                                    <p:cond delay="0"/>
                                  </p:stCondLst>
                                  <p:childTnLst>
                                    <p:animEffect transition="out" filter="blinds(horizontal)">
                                      <p:cBhvr>
                                        <p:cTn id="37" dur="500"/>
                                        <p:tgtEl>
                                          <p:spTgt spid="104450"/>
                                        </p:tgtEl>
                                      </p:cBhvr>
                                    </p:animEffect>
                                    <p:set>
                                      <p:cBhvr>
                                        <p:cTn id="38" dur="1" fill="hold">
                                          <p:stCondLst>
                                            <p:cond delay="499"/>
                                          </p:stCondLst>
                                        </p:cTn>
                                        <p:tgtEl>
                                          <p:spTgt spid="104450"/>
                                        </p:tgtEl>
                                        <p:attrNameLst>
                                          <p:attrName>style.visibility</p:attrName>
                                        </p:attrNameLst>
                                      </p:cBhvr>
                                      <p:to>
                                        <p:strVal val="hidden"/>
                                      </p:to>
                                    </p:set>
                                  </p:childTnLst>
                                </p:cTn>
                              </p:par>
                            </p:childTnLst>
                          </p:cTn>
                        </p:par>
                        <p:par>
                          <p:cTn id="39" fill="hold">
                            <p:stCondLst>
                              <p:cond delay="2500"/>
                            </p:stCondLst>
                            <p:childTnLst>
                              <p:par>
                                <p:cTn id="40" presetID="3" presetClass="entr" presetSubtype="10" fill="hold" grpId="0" nodeType="afterEffect">
                                  <p:stCondLst>
                                    <p:cond delay="0"/>
                                  </p:stCondLst>
                                  <p:childTnLst>
                                    <p:set>
                                      <p:cBhvr>
                                        <p:cTn id="41" dur="1" fill="hold">
                                          <p:stCondLst>
                                            <p:cond delay="0"/>
                                          </p:stCondLst>
                                        </p:cTn>
                                        <p:tgtEl>
                                          <p:spTgt spid="104473"/>
                                        </p:tgtEl>
                                        <p:attrNameLst>
                                          <p:attrName>style.visibility</p:attrName>
                                        </p:attrNameLst>
                                      </p:cBhvr>
                                      <p:to>
                                        <p:strVal val="visible"/>
                                      </p:to>
                                    </p:set>
                                    <p:animEffect transition="in" filter="blinds(horizontal)">
                                      <p:cBhvr>
                                        <p:cTn id="42" dur="500"/>
                                        <p:tgtEl>
                                          <p:spTgt spid="104473"/>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grpId="6" nodeType="clickEffect">
                                  <p:stCondLst>
                                    <p:cond delay="0"/>
                                  </p:stCondLst>
                                  <p:childTnLst>
                                    <p:animMotion origin="layout" path="M 0.1 0.40556 L -3.33333E-6 0.48333 " pathEditMode="relative" rAng="0" ptsTypes="AA">
                                      <p:cBhvr>
                                        <p:cTn id="46" dur="2000" fill="hold"/>
                                        <p:tgtEl>
                                          <p:spTgt spid="104480"/>
                                        </p:tgtEl>
                                        <p:attrNameLst>
                                          <p:attrName>ppt_x</p:attrName>
                                          <p:attrName>ppt_y</p:attrName>
                                        </p:attrNameLst>
                                      </p:cBhvr>
                                      <p:rCtr x="-50" y="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p:bldP spid="104452" grpId="0" autoUpdateAnimBg="0"/>
      <p:bldP spid="104456" grpId="0"/>
      <p:bldP spid="104472" grpId="0" autoUpdateAnimBg="0"/>
      <p:bldP spid="104473" grpId="0"/>
      <p:bldP spid="104480" grpId="0" animBg="1"/>
      <p:bldP spid="104480" grpId="1" animBg="1"/>
      <p:bldP spid="104480" grpId="2" animBg="1"/>
      <p:bldP spid="104480" grpId="3" animBg="1"/>
      <p:bldP spid="104480" grpId="4" animBg="1"/>
      <p:bldP spid="104480" grpId="5" animBg="1"/>
      <p:bldP spid="104480" grpId="6"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1"/>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84994" name="Rectangle 2"/>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2772" name="Line 3"/>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2773" name="Line 4"/>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32774" name="Line 5"/>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2775" name="Line 6"/>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2776" name="Rectangle 7"/>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2777" name="Text Box 8"/>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2778" name="Line 9"/>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2779" name="Line 10"/>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2780" name="Line 11"/>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2781" name="Line 12"/>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2782" name="Line 13"/>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2783" name="Line 14"/>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2784" name="Line 15"/>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2785" name="Rectangle 16"/>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2786" name="Text Box 17"/>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2787" name="Rectangle 18"/>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2788" name="Text Box 19"/>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32789" name="Text Box 22"/>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32790" name="Text Box 26"/>
          <p:cNvSpPr txBox="1">
            <a:spLocks noChangeArrowheads="1"/>
          </p:cNvSpPr>
          <p:nvPr/>
        </p:nvSpPr>
        <p:spPr bwMode="auto">
          <a:xfrm>
            <a:off x="1903413" y="5410200"/>
            <a:ext cx="306387" cy="336550"/>
          </a:xfrm>
          <a:prstGeom prst="rect">
            <a:avLst/>
          </a:prstGeom>
          <a:noFill/>
          <a:ln w="12700">
            <a:noFill/>
            <a:miter lim="800000"/>
            <a:headEnd/>
            <a:tailEnd/>
          </a:ln>
        </p:spPr>
        <p:txBody>
          <a:bodyPr>
            <a:spAutoFit/>
          </a:bodyPr>
          <a:lstStyle/>
          <a:p>
            <a:pPr eaLnBrk="0" hangingPunct="0"/>
            <a:r>
              <a:rPr lang="en-US" sz="1600" b="1">
                <a:solidFill>
                  <a:srgbClr val="000000"/>
                </a:solidFill>
                <a:latin typeface="Courier New" pitchFamily="49" charset="0"/>
              </a:rPr>
              <a:t>0</a:t>
            </a:r>
            <a:endParaRPr lang="en-US" b="1">
              <a:solidFill>
                <a:srgbClr val="000000"/>
              </a:solidFill>
            </a:endParaRPr>
          </a:p>
        </p:txBody>
      </p:sp>
      <p:sp>
        <p:nvSpPr>
          <p:cNvPr id="32791" name="Text Box 28"/>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a:solidFill>
                  <a:schemeClr val="accent2"/>
                </a:solidFill>
                <a:latin typeface="Courier New" pitchFamily="49" charset="0"/>
              </a:rPr>
              <a:t>bk_f</a:t>
            </a:r>
            <a:endParaRPr lang="en-US">
              <a:solidFill>
                <a:schemeClr val="accent1"/>
              </a:solidFill>
            </a:endParaRPr>
          </a:p>
        </p:txBody>
      </p:sp>
      <p:sp>
        <p:nvSpPr>
          <p:cNvPr id="32792" name="Text Box 29"/>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2793" name="Text Box 30"/>
          <p:cNvSpPr txBox="1">
            <a:spLocks noChangeArrowheads="1"/>
          </p:cNvSpPr>
          <p:nvPr/>
        </p:nvSpPr>
        <p:spPr bwMode="auto">
          <a:xfrm>
            <a:off x="3048000" y="243840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a:t>
            </a:r>
            <a:r>
              <a:rPr lang="en-US" sz="1600" b="1">
                <a:solidFill>
                  <a:srgbClr val="000000"/>
                </a:solidFill>
                <a:latin typeface="Courier New" pitchFamily="49" charset="0"/>
              </a:rPr>
              <a:t> $sp</a:t>
            </a:r>
          </a:p>
        </p:txBody>
      </p:sp>
      <p:sp>
        <p:nvSpPr>
          <p:cNvPr id="32794" name="Text Box 31"/>
          <p:cNvSpPr txBox="1">
            <a:spLocks noChangeArrowheads="1"/>
          </p:cNvSpPr>
          <p:nvPr/>
        </p:nvSpPr>
        <p:spPr bwMode="auto">
          <a:xfrm>
            <a:off x="1447800" y="24384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1</a:t>
            </a:r>
            <a:endParaRPr lang="en-US" b="1">
              <a:solidFill>
                <a:srgbClr val="000000"/>
              </a:solidFill>
            </a:endParaRPr>
          </a:p>
        </p:txBody>
      </p:sp>
      <p:sp>
        <p:nvSpPr>
          <p:cNvPr id="32795" name="Text Box 32"/>
          <p:cNvSpPr txBox="1">
            <a:spLocks noChangeArrowheads="1"/>
          </p:cNvSpPr>
          <p:nvPr/>
        </p:nvSpPr>
        <p:spPr bwMode="auto">
          <a:xfrm>
            <a:off x="1600200" y="21336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2796" name="Text Box 33"/>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2797" name="Rectangle 34"/>
          <p:cNvSpPr>
            <a:spLocks noChangeArrowheads="1"/>
          </p:cNvSpPr>
          <p:nvPr/>
        </p:nvSpPr>
        <p:spPr bwMode="auto">
          <a:xfrm>
            <a:off x="4267200" y="1600200"/>
            <a:ext cx="4343400" cy="3825875"/>
          </a:xfrm>
          <a:prstGeom prst="rect">
            <a:avLst/>
          </a:prstGeom>
          <a:noFill/>
          <a:ln w="12700">
            <a:noFill/>
            <a:miter lim="800000"/>
            <a:headEnd/>
            <a:tailEnd/>
          </a:ln>
        </p:spPr>
        <p:txBody>
          <a:bodyPr lIns="63500" tIns="25400" rIns="63500" bIns="25400">
            <a:spAutoFit/>
          </a:bodyPr>
          <a:lstStyle/>
          <a:p>
            <a:pPr marL="342900" indent="-342900">
              <a:spcBef>
                <a:spcPct val="20000"/>
              </a:spcBef>
              <a:buFontTx/>
              <a:buChar char="•"/>
            </a:pPr>
            <a:r>
              <a:rPr lang="en-US" sz="2400">
                <a:solidFill>
                  <a:srgbClr val="583E14"/>
                </a:solidFill>
                <a:latin typeface="Palatino Linotype" pitchFamily="18" charset="0"/>
              </a:rPr>
              <a:t>Stack state after execution of second encounter with the </a:t>
            </a:r>
            <a:r>
              <a:rPr lang="en-US" sz="2400">
                <a:solidFill>
                  <a:srgbClr val="583E14"/>
                </a:solidFill>
                <a:latin typeface="Courier New" pitchFamily="49" charset="0"/>
              </a:rPr>
              <a:t>jal</a:t>
            </a:r>
            <a:r>
              <a:rPr lang="en-US" sz="2400">
                <a:solidFill>
                  <a:srgbClr val="583E14"/>
                </a:solidFill>
                <a:latin typeface="Palatino Linotype" pitchFamily="18" charset="0"/>
              </a:rPr>
              <a:t> instruction (</a:t>
            </a:r>
            <a:r>
              <a:rPr lang="en-US" sz="2400" i="1">
                <a:solidFill>
                  <a:srgbClr val="FF3300"/>
                </a:solidFill>
                <a:latin typeface="Palatino Linotype" pitchFamily="18" charset="0"/>
              </a:rPr>
              <a:t>third</a:t>
            </a:r>
            <a:r>
              <a:rPr lang="en-US" sz="2400">
                <a:solidFill>
                  <a:srgbClr val="583E14"/>
                </a:solidFill>
                <a:latin typeface="Palatino Linotype" pitchFamily="18" charset="0"/>
              </a:rPr>
              <a:t> call to fact routine with </a:t>
            </a:r>
            <a:r>
              <a:rPr lang="en-US" sz="2400">
                <a:solidFill>
                  <a:srgbClr val="583E14"/>
                </a:solidFill>
                <a:latin typeface="Courier New" pitchFamily="49" charset="0"/>
              </a:rPr>
              <a:t>$a0</a:t>
            </a:r>
            <a:r>
              <a:rPr lang="en-US" sz="2400">
                <a:solidFill>
                  <a:srgbClr val="583E14"/>
                </a:solidFill>
                <a:latin typeface="Palatino Linotype" pitchFamily="18" charset="0"/>
              </a:rPr>
              <a:t> now holding 0)</a:t>
            </a:r>
          </a:p>
          <a:p>
            <a:pPr marL="742950" lvl="1" indent="-285750">
              <a:spcBef>
                <a:spcPct val="20000"/>
              </a:spcBef>
              <a:buFontTx/>
              <a:buChar char="–"/>
            </a:pPr>
            <a:r>
              <a:rPr lang="en-US" sz="2000">
                <a:solidFill>
                  <a:srgbClr val="008000"/>
                </a:solidFill>
                <a:latin typeface="Palatino Linotype" pitchFamily="18" charset="0"/>
              </a:rPr>
              <a:t>saved return address of instruction in caller routine (instruction after </a:t>
            </a:r>
            <a:r>
              <a:rPr lang="en-US" sz="2000">
                <a:solidFill>
                  <a:srgbClr val="008000"/>
                </a:solidFill>
                <a:latin typeface="Courier New" pitchFamily="49" charset="0"/>
              </a:rPr>
              <a:t>jal</a:t>
            </a:r>
            <a:r>
              <a:rPr lang="en-US" sz="2000">
                <a:solidFill>
                  <a:srgbClr val="008000"/>
                </a:solidFill>
                <a:latin typeface="Palatino Linotype" pitchFamily="18" charset="0"/>
              </a:rPr>
              <a:t>) on the stack</a:t>
            </a:r>
          </a:p>
          <a:p>
            <a:pPr marL="742950" lvl="1" indent="-285750">
              <a:spcBef>
                <a:spcPct val="20000"/>
              </a:spcBef>
              <a:buFontTx/>
              <a:buChar char="–"/>
            </a:pPr>
            <a:r>
              <a:rPr lang="en-US" sz="2000">
                <a:solidFill>
                  <a:srgbClr val="008000"/>
                </a:solidFill>
                <a:latin typeface="Palatino Linotype" pitchFamily="18" charset="0"/>
              </a:rPr>
              <a:t>saved previous value of </a:t>
            </a:r>
            <a:r>
              <a:rPr lang="en-US" sz="2000">
                <a:solidFill>
                  <a:srgbClr val="008000"/>
                </a:solidFill>
                <a:latin typeface="Courier New" pitchFamily="49" charset="0"/>
              </a:rPr>
              <a:t>$a0</a:t>
            </a:r>
            <a:r>
              <a:rPr lang="en-US" sz="2000">
                <a:solidFill>
                  <a:srgbClr val="008000"/>
                </a:solidFill>
                <a:latin typeface="Palatino Linotype" pitchFamily="18" charset="0"/>
              </a:rPr>
              <a:t> on the stack</a:t>
            </a:r>
          </a:p>
        </p:txBody>
      </p:sp>
      <p:sp>
        <p:nvSpPr>
          <p:cNvPr id="32798" name="Rectangle 35"/>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Tree>
    <p:extLst>
      <p:ext uri="{BB962C8B-B14F-4D97-AF65-F5344CB8AC3E}">
        <p14:creationId xmlns:p14="http://schemas.microsoft.com/office/powerpoint/2010/main" val="1118108038"/>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auto">
          <a:xfrm>
            <a:off x="1905000" y="60960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33795" name="Text Box 3"/>
          <p:cNvSpPr txBox="1">
            <a:spLocks noChangeArrowheads="1"/>
          </p:cNvSpPr>
          <p:nvPr/>
        </p:nvSpPr>
        <p:spPr bwMode="auto">
          <a:xfrm>
            <a:off x="1689100" y="21336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106500" name="Rectangle 4"/>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3797" name="Line 5"/>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3798" name="Line 6"/>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106503" name="Text Box 7"/>
          <p:cNvSpPr txBox="1">
            <a:spLocks noChangeArrowheads="1"/>
          </p:cNvSpPr>
          <p:nvPr/>
        </p:nvSpPr>
        <p:spPr bwMode="auto">
          <a:xfrm>
            <a:off x="3013075" y="240665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3800" name="Line 8"/>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3801" name="Line 9"/>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3802" name="Rectangle 10"/>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3803" name="Text Box 11"/>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3804" name="Line 12"/>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3805" name="Line 13"/>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3806" name="Line 14"/>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3807" name="Line 15"/>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3808" name="Line 16"/>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3809" name="Line 17"/>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3810" name="Line 18"/>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3811" name="Rectangle 19"/>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3812" name="Text Box 20"/>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3813" name="Rectangle 21"/>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3814" name="Text Box 22"/>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33815" name="Text Box 23"/>
          <p:cNvSpPr txBox="1">
            <a:spLocks noChangeArrowheads="1"/>
          </p:cNvSpPr>
          <p:nvPr/>
        </p:nvSpPr>
        <p:spPr bwMode="auto">
          <a:xfrm>
            <a:off x="1447800" y="24384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1</a:t>
            </a:r>
            <a:endParaRPr lang="en-US" b="1">
              <a:solidFill>
                <a:srgbClr val="000000"/>
              </a:solidFill>
            </a:endParaRPr>
          </a:p>
        </p:txBody>
      </p:sp>
      <p:sp>
        <p:nvSpPr>
          <p:cNvPr id="33816" name="Text Box 24"/>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0</a:t>
            </a:r>
            <a:endParaRPr lang="en-US" b="1">
              <a:solidFill>
                <a:srgbClr val="000000"/>
              </a:solidFill>
            </a:endParaRPr>
          </a:p>
        </p:txBody>
      </p:sp>
      <p:sp>
        <p:nvSpPr>
          <p:cNvPr id="33817" name="Rectangle 25"/>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33818" name="Text Box 26"/>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3819" name="Text Box 27"/>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3820" name="Rectangle 28"/>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
        <p:nvSpPr>
          <p:cNvPr id="33821" name="Text Box 31"/>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33822" name="Text Box 32"/>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33823" name="Rectangle 34"/>
          <p:cNvSpPr>
            <a:spLocks noChangeArrowheads="1"/>
          </p:cNvSpPr>
          <p:nvPr/>
        </p:nvSpPr>
        <p:spPr bwMode="auto">
          <a:xfrm>
            <a:off x="4114800" y="1676400"/>
            <a:ext cx="4038600" cy="4343400"/>
          </a:xfrm>
          <a:prstGeom prst="rect">
            <a:avLst/>
          </a:prstGeom>
          <a:noFill/>
          <a:ln w="9525">
            <a:noFill/>
            <a:miter lim="800000"/>
            <a:headEnd/>
            <a:tailEnd/>
          </a:ln>
        </p:spPr>
        <p:txBody>
          <a:bodyPr/>
          <a:lstStyle/>
          <a:p>
            <a:pPr marL="342900" indent="-342900">
              <a:lnSpc>
                <a:spcPct val="80000"/>
              </a:lnSpc>
              <a:spcBef>
                <a:spcPct val="20000"/>
              </a:spcBef>
            </a:pPr>
            <a:r>
              <a:rPr lang="en-US" b="1">
                <a:solidFill>
                  <a:srgbClr val="008000"/>
                </a:solidFill>
                <a:latin typeface="Courier New" pitchFamily="49" charset="0"/>
              </a:rPr>
              <a:t>fact:	addi	$sp, $sp, -8</a:t>
            </a:r>
          </a:p>
          <a:p>
            <a:pPr marL="342900" indent="-342900">
              <a:lnSpc>
                <a:spcPct val="80000"/>
              </a:lnSpc>
              <a:spcBef>
                <a:spcPct val="20000"/>
              </a:spcBef>
            </a:pPr>
            <a:r>
              <a:rPr lang="en-US" b="1">
                <a:solidFill>
                  <a:srgbClr val="008000"/>
                </a:solidFill>
                <a:latin typeface="Courier New" pitchFamily="49" charset="0"/>
              </a:rPr>
              <a:t>		sw	$ra, 4($sp)</a:t>
            </a:r>
          </a:p>
          <a:p>
            <a:pPr marL="342900" indent="-342900">
              <a:lnSpc>
                <a:spcPct val="80000"/>
              </a:lnSpc>
              <a:spcBef>
                <a:spcPct val="20000"/>
              </a:spcBef>
            </a:pPr>
            <a:r>
              <a:rPr lang="en-US" b="1">
                <a:solidFill>
                  <a:srgbClr val="008000"/>
                </a:solidFill>
                <a:latin typeface="Courier New" pitchFamily="49" charset="0"/>
              </a:rPr>
              <a:t>		sw	$a0, 0($sp)</a:t>
            </a:r>
          </a:p>
          <a:p>
            <a:pPr marL="342900" indent="-342900">
              <a:lnSpc>
                <a:spcPct val="80000"/>
              </a:lnSpc>
              <a:spcBef>
                <a:spcPct val="20000"/>
              </a:spcBef>
            </a:pPr>
            <a:r>
              <a:rPr lang="en-US" b="1">
                <a:solidFill>
                  <a:srgbClr val="008000"/>
                </a:solidFill>
                <a:latin typeface="Courier New" pitchFamily="49" charset="0"/>
              </a:rPr>
              <a:t>		slt	$t0, $a0, 1</a:t>
            </a:r>
          </a:p>
          <a:p>
            <a:pPr marL="342900" indent="-342900">
              <a:lnSpc>
                <a:spcPct val="80000"/>
              </a:lnSpc>
              <a:spcBef>
                <a:spcPct val="20000"/>
              </a:spcBef>
            </a:pPr>
            <a:r>
              <a:rPr lang="en-US" b="1">
                <a:solidFill>
                  <a:srgbClr val="008000"/>
                </a:solidFill>
                <a:latin typeface="Courier New" pitchFamily="49" charset="0"/>
              </a:rPr>
              <a:t>		beq	$t0, $zero, L1</a:t>
            </a:r>
          </a:p>
          <a:p>
            <a:pPr marL="342900" indent="-342900">
              <a:lnSpc>
                <a:spcPct val="80000"/>
              </a:lnSpc>
              <a:spcBef>
                <a:spcPct val="20000"/>
              </a:spcBef>
            </a:pPr>
            <a:r>
              <a:rPr lang="en-US" b="1">
                <a:solidFill>
                  <a:srgbClr val="008000"/>
                </a:solidFill>
                <a:latin typeface="Courier New" pitchFamily="49" charset="0"/>
              </a:rPr>
              <a:t>		addi	$v0, $zero, 1</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jr	$ra</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L1:	addi	$a0, $a0, -1</a:t>
            </a:r>
          </a:p>
          <a:p>
            <a:pPr marL="342900" indent="-342900">
              <a:lnSpc>
                <a:spcPct val="80000"/>
              </a:lnSpc>
              <a:spcBef>
                <a:spcPct val="20000"/>
              </a:spcBef>
            </a:pPr>
            <a:r>
              <a:rPr lang="en-US" b="1">
                <a:solidFill>
                  <a:srgbClr val="008000"/>
                </a:solidFill>
                <a:latin typeface="Courier New" pitchFamily="49" charset="0"/>
              </a:rPr>
              <a:t>		jal	fact</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bk_f:	lw	$a0, 0($sp)</a:t>
            </a:r>
          </a:p>
          <a:p>
            <a:pPr marL="342900" indent="-342900">
              <a:lnSpc>
                <a:spcPct val="80000"/>
              </a:lnSpc>
              <a:spcBef>
                <a:spcPct val="20000"/>
              </a:spcBef>
            </a:pPr>
            <a:r>
              <a:rPr lang="en-US" b="1">
                <a:solidFill>
                  <a:srgbClr val="008000"/>
                </a:solidFill>
                <a:latin typeface="Courier New" pitchFamily="49" charset="0"/>
              </a:rPr>
              <a:t>		lw	$ra, 4($sp)</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mul	$v0, $a0, $v0</a:t>
            </a:r>
          </a:p>
          <a:p>
            <a:pPr marL="342900" indent="-342900">
              <a:lnSpc>
                <a:spcPct val="80000"/>
              </a:lnSpc>
              <a:spcBef>
                <a:spcPct val="20000"/>
              </a:spcBef>
            </a:pPr>
            <a:r>
              <a:rPr lang="en-US" b="1">
                <a:solidFill>
                  <a:srgbClr val="008000"/>
                </a:solidFill>
                <a:latin typeface="Courier New" pitchFamily="49" charset="0"/>
              </a:rPr>
              <a:t>		jr	$ra	</a:t>
            </a:r>
          </a:p>
        </p:txBody>
      </p:sp>
      <p:sp>
        <p:nvSpPr>
          <p:cNvPr id="106532" name="AutoShape 36"/>
          <p:cNvSpPr>
            <a:spLocks noChangeArrowheads="1"/>
          </p:cNvSpPr>
          <p:nvPr/>
        </p:nvSpPr>
        <p:spPr bwMode="auto">
          <a:xfrm>
            <a:off x="3810000" y="1600200"/>
            <a:ext cx="304800" cy="381000"/>
          </a:xfrm>
          <a:prstGeom prst="rightArrow">
            <a:avLst>
              <a:gd name="adj1" fmla="val 56667"/>
              <a:gd name="adj2" fmla="val 59894"/>
            </a:avLst>
          </a:prstGeom>
          <a:solidFill>
            <a:srgbClr val="FF3300"/>
          </a:solidFill>
          <a:ln w="9525">
            <a:noFill/>
            <a:miter lim="800000"/>
            <a:headEnd/>
            <a:tailEnd/>
          </a:ln>
        </p:spPr>
        <p:txBody>
          <a:bodyPr wrap="none" anchor="ctr"/>
          <a:lstStyle/>
          <a:p>
            <a:endParaRPr lang="en-US"/>
          </a:p>
        </p:txBody>
      </p:sp>
      <p:sp>
        <p:nvSpPr>
          <p:cNvPr id="106533" name="Text Box 37"/>
          <p:cNvSpPr txBox="1">
            <a:spLocks noChangeArrowheads="1"/>
          </p:cNvSpPr>
          <p:nvPr/>
        </p:nvSpPr>
        <p:spPr bwMode="auto">
          <a:xfrm>
            <a:off x="1689100" y="271145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106534" name="Text Box 38"/>
          <p:cNvSpPr txBox="1">
            <a:spLocks noChangeArrowheads="1"/>
          </p:cNvSpPr>
          <p:nvPr/>
        </p:nvSpPr>
        <p:spPr bwMode="auto">
          <a:xfrm>
            <a:off x="1447800" y="301625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0</a:t>
            </a:r>
            <a:endParaRPr lang="en-US" b="1">
              <a:solidFill>
                <a:srgbClr val="000000"/>
              </a:solidFill>
            </a:endParaRPr>
          </a:p>
        </p:txBody>
      </p:sp>
    </p:spTree>
    <p:extLst>
      <p:ext uri="{BB962C8B-B14F-4D97-AF65-F5344CB8AC3E}">
        <p14:creationId xmlns:p14="http://schemas.microsoft.com/office/powerpoint/2010/main" val="480210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3.33333E-6 0.03889 " pathEditMode="relative" rAng="0" ptsTypes="AA">
                                      <p:cBhvr>
                                        <p:cTn id="6" dur="2000" fill="hold"/>
                                        <p:tgtEl>
                                          <p:spTgt spid="106532"/>
                                        </p:tgtEl>
                                        <p:attrNameLst>
                                          <p:attrName>ppt_x</p:attrName>
                                          <p:attrName>ppt_y</p:attrName>
                                        </p:attrNameLst>
                                      </p:cBhvr>
                                      <p:rCtr x="0" y="19"/>
                                    </p:animMotion>
                                  </p:childTnLst>
                                </p:cTn>
                              </p:par>
                            </p:childTnLst>
                          </p:cTn>
                        </p:par>
                        <p:par>
                          <p:cTn id="7" fill="hold">
                            <p:stCondLst>
                              <p:cond delay="2000"/>
                            </p:stCondLst>
                            <p:childTnLst>
                              <p:par>
                                <p:cTn id="8" presetID="42" presetClass="path" presetSubtype="0" accel="50000" decel="50000" fill="hold" grpId="0" nodeType="afterEffect">
                                  <p:stCondLst>
                                    <p:cond delay="0"/>
                                  </p:stCondLst>
                                  <p:childTnLst>
                                    <p:animMotion origin="layout" path="M 3.05556E-6 -2.96296E-6 L -0.00226 0.09121 " pathEditMode="relative" rAng="0" ptsTypes="AA">
                                      <p:cBhvr>
                                        <p:cTn id="9" dur="2000" fill="hold"/>
                                        <p:tgtEl>
                                          <p:spTgt spid="106503"/>
                                        </p:tgtEl>
                                        <p:attrNameLst>
                                          <p:attrName>ppt_x</p:attrName>
                                          <p:attrName>ppt_y</p:attrName>
                                        </p:attrNameLst>
                                      </p:cBhvr>
                                      <p:rCtr x="-1" y="46"/>
                                    </p:animMotion>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3.33333E-6 0.04421 L -3.33333E-6 0.08333 " pathEditMode="relative" rAng="0" ptsTypes="AA">
                                      <p:cBhvr>
                                        <p:cTn id="13" dur="2000" fill="hold"/>
                                        <p:tgtEl>
                                          <p:spTgt spid="106532"/>
                                        </p:tgtEl>
                                        <p:attrNameLst>
                                          <p:attrName>ppt_x</p:attrName>
                                          <p:attrName>ppt_y</p:attrName>
                                        </p:attrNameLst>
                                      </p:cBhvr>
                                      <p:rCtr x="0" y="19"/>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499"/>
                                          </p:stCondLst>
                                        </p:cTn>
                                        <p:tgtEl>
                                          <p:spTgt spid="1065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2" nodeType="clickEffect">
                                  <p:stCondLst>
                                    <p:cond delay="0"/>
                                  </p:stCondLst>
                                  <p:childTnLst>
                                    <p:animMotion origin="layout" path="M -3.33333E-6 0.08264 L -0.00104 0.11667 " pathEditMode="relative" rAng="0" ptsTypes="AA">
                                      <p:cBhvr>
                                        <p:cTn id="20" dur="2000" fill="hold"/>
                                        <p:tgtEl>
                                          <p:spTgt spid="106532"/>
                                        </p:tgtEl>
                                        <p:attrNameLst>
                                          <p:attrName>ppt_x</p:attrName>
                                          <p:attrName>ppt_y</p:attrName>
                                        </p:attrNameLst>
                                      </p:cBhvr>
                                      <p:rCtr x="-1" y="17"/>
                                    </p:animMotion>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499"/>
                                          </p:stCondLst>
                                        </p:cTn>
                                        <p:tgtEl>
                                          <p:spTgt spid="10653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3" nodeType="clickEffect">
                                  <p:stCondLst>
                                    <p:cond delay="0"/>
                                  </p:stCondLst>
                                  <p:childTnLst>
                                    <p:animMotion origin="layout" path="M -3.33333E-6 0.11659 L -3.33333E-6 0.23872 " pathEditMode="relative" rAng="0" ptsTypes="AA">
                                      <p:cBhvr>
                                        <p:cTn id="27" dur="2000" fill="hold"/>
                                        <p:tgtEl>
                                          <p:spTgt spid="106532"/>
                                        </p:tgtEl>
                                        <p:attrNameLst>
                                          <p:attrName>ppt_x</p:attrName>
                                          <p:attrName>ppt_y</p:attrName>
                                        </p:attrNameLst>
                                      </p:cBhvr>
                                      <p:rCtr x="0" y="61"/>
                                    </p:animMotion>
                                  </p:childTnLst>
                                </p:cTn>
                              </p:par>
                            </p:childTnLst>
                          </p:cTn>
                        </p:par>
                        <p:par>
                          <p:cTn id="28" fill="hold">
                            <p:stCondLst>
                              <p:cond delay="2000"/>
                            </p:stCondLst>
                            <p:childTnLst>
                              <p:par>
                                <p:cTn id="29" presetID="3" presetClass="entr" presetSubtype="10" fill="hold" grpId="0" nodeType="afterEffect">
                                  <p:stCondLst>
                                    <p:cond delay="0"/>
                                  </p:stCondLst>
                                  <p:childTnLst>
                                    <p:set>
                                      <p:cBhvr>
                                        <p:cTn id="30" dur="1" fill="hold">
                                          <p:stCondLst>
                                            <p:cond delay="0"/>
                                          </p:stCondLst>
                                        </p:cTn>
                                        <p:tgtEl>
                                          <p:spTgt spid="106498"/>
                                        </p:tgtEl>
                                        <p:attrNameLst>
                                          <p:attrName>style.visibility</p:attrName>
                                        </p:attrNameLst>
                                      </p:cBhvr>
                                      <p:to>
                                        <p:strVal val="visible"/>
                                      </p:to>
                                    </p:set>
                                    <p:animEffect transition="in" filter="blinds(horizontal)">
                                      <p:cBhvr>
                                        <p:cTn id="31" dur="500"/>
                                        <p:tgtEl>
                                          <p:spTgt spid="106498"/>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grpId="4" nodeType="clickEffect">
                                  <p:stCondLst>
                                    <p:cond delay="0"/>
                                  </p:stCondLst>
                                  <p:childTnLst>
                                    <p:animMotion origin="layout" path="M -3.33333E-6 0.23803 L 0.00105 0.28314 " pathEditMode="relative" rAng="0" ptsTypes="AA">
                                      <p:cBhvr>
                                        <p:cTn id="35" dur="2000" fill="hold"/>
                                        <p:tgtEl>
                                          <p:spTgt spid="106532"/>
                                        </p:tgtEl>
                                        <p:attrNameLst>
                                          <p:attrName>ppt_x</p:attrName>
                                          <p:attrName>ppt_y</p:attrName>
                                        </p:attrNameLst>
                                      </p:cBhvr>
                                      <p:rCtr x="1" y="22"/>
                                    </p:animMotion>
                                  </p:childTnLst>
                                </p:cTn>
                              </p:par>
                            </p:childTnLst>
                          </p:cTn>
                        </p:par>
                        <p:par>
                          <p:cTn id="36" fill="hold">
                            <p:stCondLst>
                              <p:cond delay="2000"/>
                            </p:stCondLst>
                            <p:childTnLst>
                              <p:par>
                                <p:cTn id="37" presetID="64" presetClass="path" presetSubtype="0" accel="50000" decel="50000" fill="hold" grpId="1" nodeType="afterEffect">
                                  <p:stCondLst>
                                    <p:cond delay="0"/>
                                  </p:stCondLst>
                                  <p:childTnLst>
                                    <p:animMotion origin="layout" path="M -0.00226 0.09121 L -0.00452 0.00232 " pathEditMode="relative" rAng="0" ptsTypes="AA">
                                      <p:cBhvr>
                                        <p:cTn id="38" dur="2000" fill="hold"/>
                                        <p:tgtEl>
                                          <p:spTgt spid="106503"/>
                                        </p:tgtEl>
                                        <p:attrNameLst>
                                          <p:attrName>ppt_x</p:attrName>
                                          <p:attrName>ppt_y</p:attrName>
                                        </p:attrNameLst>
                                      </p:cBhvr>
                                      <p:rCtr x="-1" y="-44"/>
                                    </p:animMotion>
                                  </p:childTnLst>
                                </p:cTn>
                              </p:par>
                            </p:childTnLst>
                          </p:cTn>
                        </p:par>
                      </p:childTnLst>
                    </p:cTn>
                  </p:par>
                  <p:par>
                    <p:cTn id="39" fill="hold">
                      <p:stCondLst>
                        <p:cond delay="indefinite"/>
                      </p:stCondLst>
                      <p:childTnLst>
                        <p:par>
                          <p:cTn id="40" fill="hold">
                            <p:stCondLst>
                              <p:cond delay="0"/>
                            </p:stCondLst>
                            <p:childTnLst>
                              <p:par>
                                <p:cTn id="41" presetID="51" presetClass="path" presetSubtype="0" accel="50000" decel="50000" fill="hold" grpId="5" nodeType="clickEffect">
                                  <p:stCondLst>
                                    <p:cond delay="0"/>
                                  </p:stCondLst>
                                  <p:childTnLst>
                                    <p:animMotion origin="layout" path="M -3.33333E-6 0.28333 L -0.03993 0.33681 C -0.04895 0.34815 -0.05399 0.36482 -0.05399 0.38241 C -0.05399 0.40232 -0.04895 0.41829 -0.03993 0.42963 L -3.33333E-6 0.48333 " pathEditMode="relative" rAng="0" ptsTypes="FffFF">
                                      <p:cBhvr>
                                        <p:cTn id="42" dur="2000" fill="hold"/>
                                        <p:tgtEl>
                                          <p:spTgt spid="106532"/>
                                        </p:tgtEl>
                                        <p:attrNameLst>
                                          <p:attrName>ppt_x</p:attrName>
                                          <p:attrName>ppt_y</p:attrName>
                                        </p:attrNameLst>
                                      </p:cBhvr>
                                      <p:rCtr x="-27"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p:bldP spid="106503" grpId="0"/>
      <p:bldP spid="106503" grpId="1"/>
      <p:bldP spid="106532" grpId="0" animBg="1"/>
      <p:bldP spid="106532" grpId="1" animBg="1"/>
      <p:bldP spid="106532" grpId="2" animBg="1"/>
      <p:bldP spid="106532" grpId="3" animBg="1"/>
      <p:bldP spid="106532" grpId="4" animBg="1"/>
      <p:bldP spid="106532" grpId="5" animBg="1"/>
      <p:bldP spid="106533" grpId="0" autoUpdateAnimBg="0"/>
      <p:bldP spid="106534"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1905000" y="60960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34819" name="Text Box 3"/>
          <p:cNvSpPr txBox="1">
            <a:spLocks noChangeArrowheads="1"/>
          </p:cNvSpPr>
          <p:nvPr/>
        </p:nvSpPr>
        <p:spPr bwMode="auto">
          <a:xfrm>
            <a:off x="1689100" y="21336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112644" name="Rectangle 4"/>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4821" name="Line 5"/>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4822" name="Line 6"/>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34823" name="Text Box 7"/>
          <p:cNvSpPr txBox="1">
            <a:spLocks noChangeArrowheads="1"/>
          </p:cNvSpPr>
          <p:nvPr/>
        </p:nvSpPr>
        <p:spPr bwMode="auto">
          <a:xfrm>
            <a:off x="3013075" y="240665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4824" name="Line 8"/>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4825" name="Line 9"/>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4826" name="Rectangle 10"/>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4827" name="Text Box 11"/>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4828" name="Line 12"/>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4829" name="Line 13"/>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4830" name="Line 14"/>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4831" name="Line 15"/>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4832" name="Line 16"/>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4833" name="Line 17"/>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4834" name="Line 18"/>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4835" name="Rectangle 19"/>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4836" name="Text Box 20"/>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4837" name="Rectangle 21"/>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4838" name="Text Box 22"/>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34839" name="Text Box 23"/>
          <p:cNvSpPr txBox="1">
            <a:spLocks noChangeArrowheads="1"/>
          </p:cNvSpPr>
          <p:nvPr/>
        </p:nvSpPr>
        <p:spPr bwMode="auto">
          <a:xfrm>
            <a:off x="1447800" y="24384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1</a:t>
            </a:r>
            <a:endParaRPr lang="en-US" b="1">
              <a:solidFill>
                <a:srgbClr val="000000"/>
              </a:solidFill>
            </a:endParaRPr>
          </a:p>
        </p:txBody>
      </p:sp>
      <p:sp>
        <p:nvSpPr>
          <p:cNvPr id="34840" name="Text Box 24"/>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0</a:t>
            </a:r>
            <a:endParaRPr lang="en-US" b="1">
              <a:solidFill>
                <a:srgbClr val="000000"/>
              </a:solidFill>
            </a:endParaRPr>
          </a:p>
        </p:txBody>
      </p:sp>
      <p:sp>
        <p:nvSpPr>
          <p:cNvPr id="34841" name="Rectangle 25"/>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34842" name="Text Box 26"/>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4843" name="Text Box 27"/>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4844" name="Rectangle 28"/>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
        <p:nvSpPr>
          <p:cNvPr id="34845" name="Text Box 29"/>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34846" name="Text Box 30"/>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112675" name="Rectangle 35"/>
          <p:cNvSpPr>
            <a:spLocks noChangeArrowheads="1"/>
          </p:cNvSpPr>
          <p:nvPr/>
        </p:nvSpPr>
        <p:spPr bwMode="auto">
          <a:xfrm>
            <a:off x="4572000" y="1828800"/>
            <a:ext cx="4038600" cy="2181225"/>
          </a:xfrm>
          <a:prstGeom prst="rect">
            <a:avLst/>
          </a:prstGeom>
          <a:noFill/>
          <a:ln w="12700">
            <a:noFill/>
            <a:miter lim="800000"/>
            <a:headEnd/>
            <a:tailEnd/>
          </a:ln>
        </p:spPr>
        <p:txBody>
          <a:bodyPr lIns="63500" tIns="25400" rIns="63500" bIns="25400">
            <a:spAutoFit/>
          </a:bodyPr>
          <a:lstStyle/>
          <a:p>
            <a:pPr marL="342900" indent="-342900">
              <a:spcBef>
                <a:spcPct val="20000"/>
              </a:spcBef>
              <a:buFontTx/>
              <a:buChar char="•"/>
            </a:pPr>
            <a:r>
              <a:rPr lang="en-US" sz="2400">
                <a:solidFill>
                  <a:srgbClr val="583E14"/>
                </a:solidFill>
                <a:latin typeface="Palatino Linotype" pitchFamily="18" charset="0"/>
              </a:rPr>
              <a:t>Stack state after execution of first encounter with the first </a:t>
            </a:r>
            <a:r>
              <a:rPr lang="en-US" sz="2400">
                <a:solidFill>
                  <a:srgbClr val="583E14"/>
                </a:solidFill>
                <a:latin typeface="Courier New" pitchFamily="49" charset="0"/>
              </a:rPr>
              <a:t>jr</a:t>
            </a:r>
            <a:r>
              <a:rPr lang="en-US" sz="2400">
                <a:solidFill>
                  <a:srgbClr val="583E14"/>
                </a:solidFill>
                <a:latin typeface="Palatino Linotype" pitchFamily="18" charset="0"/>
              </a:rPr>
              <a:t> instruction (</a:t>
            </a:r>
            <a:r>
              <a:rPr lang="en-US" sz="2400">
                <a:solidFill>
                  <a:srgbClr val="583E14"/>
                </a:solidFill>
                <a:latin typeface="Courier New" pitchFamily="49" charset="0"/>
              </a:rPr>
              <a:t>$v0</a:t>
            </a:r>
            <a:r>
              <a:rPr lang="en-US" sz="2400">
                <a:solidFill>
                  <a:srgbClr val="583E14"/>
                </a:solidFill>
                <a:latin typeface="Palatino Linotype" pitchFamily="18" charset="0"/>
              </a:rPr>
              <a:t> initialized to 1)</a:t>
            </a:r>
          </a:p>
          <a:p>
            <a:pPr marL="742950" lvl="1" indent="-285750">
              <a:spcBef>
                <a:spcPct val="20000"/>
              </a:spcBef>
              <a:buFontTx/>
              <a:buChar char="–"/>
            </a:pPr>
            <a:r>
              <a:rPr lang="en-US" sz="2000">
                <a:solidFill>
                  <a:srgbClr val="008000"/>
                </a:solidFill>
                <a:latin typeface="Palatino Linotype" pitchFamily="18" charset="0"/>
              </a:rPr>
              <a:t>stack pointer updated to point to </a:t>
            </a:r>
            <a:r>
              <a:rPr lang="en-US" sz="2000" i="1">
                <a:solidFill>
                  <a:srgbClr val="FF3300"/>
                </a:solidFill>
                <a:latin typeface="Palatino Linotype" pitchFamily="18" charset="0"/>
              </a:rPr>
              <a:t>third</a:t>
            </a:r>
            <a:r>
              <a:rPr lang="en-US" sz="2000">
                <a:solidFill>
                  <a:srgbClr val="008000"/>
                </a:solidFill>
                <a:latin typeface="Palatino Linotype" pitchFamily="18" charset="0"/>
              </a:rPr>
              <a:t> call to fact</a:t>
            </a:r>
          </a:p>
        </p:txBody>
      </p:sp>
    </p:spTree>
    <p:extLst>
      <p:ext uri="{BB962C8B-B14F-4D97-AF65-F5344CB8AC3E}">
        <p14:creationId xmlns:p14="http://schemas.microsoft.com/office/powerpoint/2010/main" val="2864078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1905000" y="60960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108548" name="Rectangle 4"/>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5844" name="Line 5"/>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5845" name="Line 6"/>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108551" name="Text Box 7"/>
          <p:cNvSpPr txBox="1">
            <a:spLocks noChangeArrowheads="1"/>
          </p:cNvSpPr>
          <p:nvPr/>
        </p:nvSpPr>
        <p:spPr bwMode="auto">
          <a:xfrm>
            <a:off x="3013075" y="240665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5847" name="Line 8"/>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5848" name="Line 9"/>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5849" name="Rectangle 10"/>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5850" name="Text Box 11"/>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5851" name="Line 12"/>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5852" name="Line 13"/>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5853" name="Line 14"/>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5854" name="Line 15"/>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5855" name="Line 16"/>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5856" name="Line 17"/>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5857" name="Line 18"/>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5858" name="Rectangle 19"/>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5859" name="Text Box 20"/>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5860" name="Rectangle 21"/>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5861" name="Text Box 22"/>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108568" name="Text Box 24"/>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0</a:t>
            </a:r>
            <a:endParaRPr lang="en-US" b="1">
              <a:solidFill>
                <a:srgbClr val="000000"/>
              </a:solidFill>
            </a:endParaRPr>
          </a:p>
        </p:txBody>
      </p:sp>
      <p:sp>
        <p:nvSpPr>
          <p:cNvPr id="35863" name="Rectangle 25"/>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35864" name="Text Box 26"/>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5865" name="Text Box 27"/>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5866" name="Rectangle 28"/>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
        <p:nvSpPr>
          <p:cNvPr id="35867" name="Text Box 29"/>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35868" name="Text Box 30"/>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35869" name="Rectangle 31"/>
          <p:cNvSpPr>
            <a:spLocks noChangeArrowheads="1"/>
          </p:cNvSpPr>
          <p:nvPr/>
        </p:nvSpPr>
        <p:spPr bwMode="auto">
          <a:xfrm>
            <a:off x="4114800" y="1676400"/>
            <a:ext cx="4038600" cy="4343400"/>
          </a:xfrm>
          <a:prstGeom prst="rect">
            <a:avLst/>
          </a:prstGeom>
          <a:noFill/>
          <a:ln w="9525">
            <a:noFill/>
            <a:miter lim="800000"/>
            <a:headEnd/>
            <a:tailEnd/>
          </a:ln>
        </p:spPr>
        <p:txBody>
          <a:bodyPr/>
          <a:lstStyle/>
          <a:p>
            <a:pPr marL="342900" indent="-342900">
              <a:lnSpc>
                <a:spcPct val="80000"/>
              </a:lnSpc>
              <a:spcBef>
                <a:spcPct val="20000"/>
              </a:spcBef>
            </a:pPr>
            <a:r>
              <a:rPr lang="en-US" b="1">
                <a:solidFill>
                  <a:srgbClr val="008000"/>
                </a:solidFill>
                <a:latin typeface="Courier New" pitchFamily="49" charset="0"/>
              </a:rPr>
              <a:t>fact:	addi	$sp, $sp, -8</a:t>
            </a:r>
          </a:p>
          <a:p>
            <a:pPr marL="342900" indent="-342900">
              <a:lnSpc>
                <a:spcPct val="80000"/>
              </a:lnSpc>
              <a:spcBef>
                <a:spcPct val="20000"/>
              </a:spcBef>
            </a:pPr>
            <a:r>
              <a:rPr lang="en-US" b="1">
                <a:solidFill>
                  <a:srgbClr val="008000"/>
                </a:solidFill>
                <a:latin typeface="Courier New" pitchFamily="49" charset="0"/>
              </a:rPr>
              <a:t>		sw	$ra, 4($sp)</a:t>
            </a:r>
          </a:p>
          <a:p>
            <a:pPr marL="342900" indent="-342900">
              <a:lnSpc>
                <a:spcPct val="80000"/>
              </a:lnSpc>
              <a:spcBef>
                <a:spcPct val="20000"/>
              </a:spcBef>
            </a:pPr>
            <a:r>
              <a:rPr lang="en-US" b="1">
                <a:solidFill>
                  <a:srgbClr val="008000"/>
                </a:solidFill>
                <a:latin typeface="Courier New" pitchFamily="49" charset="0"/>
              </a:rPr>
              <a:t>		sw	$a0, 0($sp)</a:t>
            </a:r>
          </a:p>
          <a:p>
            <a:pPr marL="342900" indent="-342900">
              <a:lnSpc>
                <a:spcPct val="80000"/>
              </a:lnSpc>
              <a:spcBef>
                <a:spcPct val="20000"/>
              </a:spcBef>
            </a:pPr>
            <a:r>
              <a:rPr lang="en-US" b="1">
                <a:solidFill>
                  <a:srgbClr val="008000"/>
                </a:solidFill>
                <a:latin typeface="Courier New" pitchFamily="49" charset="0"/>
              </a:rPr>
              <a:t>		slt	$t0, $a0, 1</a:t>
            </a:r>
          </a:p>
          <a:p>
            <a:pPr marL="342900" indent="-342900">
              <a:lnSpc>
                <a:spcPct val="80000"/>
              </a:lnSpc>
              <a:spcBef>
                <a:spcPct val="20000"/>
              </a:spcBef>
            </a:pPr>
            <a:r>
              <a:rPr lang="en-US" b="1">
                <a:solidFill>
                  <a:srgbClr val="008000"/>
                </a:solidFill>
                <a:latin typeface="Courier New" pitchFamily="49" charset="0"/>
              </a:rPr>
              <a:t>		beq	$t0, $zero, L1</a:t>
            </a:r>
          </a:p>
          <a:p>
            <a:pPr marL="342900" indent="-342900">
              <a:lnSpc>
                <a:spcPct val="80000"/>
              </a:lnSpc>
              <a:spcBef>
                <a:spcPct val="20000"/>
              </a:spcBef>
            </a:pPr>
            <a:r>
              <a:rPr lang="en-US" b="1">
                <a:solidFill>
                  <a:srgbClr val="008000"/>
                </a:solidFill>
                <a:latin typeface="Courier New" pitchFamily="49" charset="0"/>
              </a:rPr>
              <a:t>		addi	$v0, $zero, 1</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jr	$ra</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L1:	addi	$a0, $a0, -1</a:t>
            </a:r>
          </a:p>
          <a:p>
            <a:pPr marL="342900" indent="-342900">
              <a:lnSpc>
                <a:spcPct val="80000"/>
              </a:lnSpc>
              <a:spcBef>
                <a:spcPct val="20000"/>
              </a:spcBef>
            </a:pPr>
            <a:r>
              <a:rPr lang="en-US" b="1">
                <a:solidFill>
                  <a:srgbClr val="008000"/>
                </a:solidFill>
                <a:latin typeface="Courier New" pitchFamily="49" charset="0"/>
              </a:rPr>
              <a:t>		jal	fact</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bk_f:	lw	$a0, 0($sp)</a:t>
            </a:r>
          </a:p>
          <a:p>
            <a:pPr marL="342900" indent="-342900">
              <a:lnSpc>
                <a:spcPct val="80000"/>
              </a:lnSpc>
              <a:spcBef>
                <a:spcPct val="20000"/>
              </a:spcBef>
            </a:pPr>
            <a:r>
              <a:rPr lang="en-US" b="1">
                <a:solidFill>
                  <a:srgbClr val="008000"/>
                </a:solidFill>
                <a:latin typeface="Courier New" pitchFamily="49" charset="0"/>
              </a:rPr>
              <a:t>		lw	$ra, 4($sp)</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mul	$v0, $a0, $v0</a:t>
            </a:r>
          </a:p>
          <a:p>
            <a:pPr marL="342900" indent="-342900">
              <a:lnSpc>
                <a:spcPct val="80000"/>
              </a:lnSpc>
              <a:spcBef>
                <a:spcPct val="20000"/>
              </a:spcBef>
            </a:pPr>
            <a:r>
              <a:rPr lang="en-US" b="1">
                <a:solidFill>
                  <a:srgbClr val="008000"/>
                </a:solidFill>
                <a:latin typeface="Courier New" pitchFamily="49" charset="0"/>
              </a:rPr>
              <a:t>		jr	$ra	</a:t>
            </a:r>
          </a:p>
        </p:txBody>
      </p:sp>
      <p:sp>
        <p:nvSpPr>
          <p:cNvPr id="108576" name="AutoShape 32"/>
          <p:cNvSpPr>
            <a:spLocks noChangeArrowheads="1"/>
          </p:cNvSpPr>
          <p:nvPr/>
        </p:nvSpPr>
        <p:spPr bwMode="auto">
          <a:xfrm>
            <a:off x="3810000" y="4953000"/>
            <a:ext cx="304800" cy="381000"/>
          </a:xfrm>
          <a:prstGeom prst="rightArrow">
            <a:avLst>
              <a:gd name="adj1" fmla="val 56667"/>
              <a:gd name="adj2" fmla="val 59894"/>
            </a:avLst>
          </a:prstGeom>
          <a:solidFill>
            <a:srgbClr val="FF3300"/>
          </a:solidFill>
          <a:ln w="9525">
            <a:noFill/>
            <a:miter lim="800000"/>
            <a:headEnd/>
            <a:tailEnd/>
          </a:ln>
        </p:spPr>
        <p:txBody>
          <a:bodyPr wrap="none" anchor="ctr"/>
          <a:lstStyle/>
          <a:p>
            <a:endParaRPr lang="en-US"/>
          </a:p>
        </p:txBody>
      </p:sp>
      <p:sp>
        <p:nvSpPr>
          <p:cNvPr id="108577" name="Text Box 33"/>
          <p:cNvSpPr txBox="1">
            <a:spLocks noChangeArrowheads="1"/>
          </p:cNvSpPr>
          <p:nvPr/>
        </p:nvSpPr>
        <p:spPr bwMode="auto">
          <a:xfrm>
            <a:off x="1689100" y="21336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108578" name="Text Box 34"/>
          <p:cNvSpPr txBox="1">
            <a:spLocks noChangeArrowheads="1"/>
          </p:cNvSpPr>
          <p:nvPr/>
        </p:nvSpPr>
        <p:spPr bwMode="auto">
          <a:xfrm>
            <a:off x="1447800" y="24384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1</a:t>
            </a:r>
            <a:endParaRPr lang="en-US" b="1">
              <a:solidFill>
                <a:srgbClr val="000000"/>
              </a:solidFill>
            </a:endParaRPr>
          </a:p>
        </p:txBody>
      </p:sp>
      <p:sp>
        <p:nvSpPr>
          <p:cNvPr id="108579" name="Text Box 35"/>
          <p:cNvSpPr txBox="1">
            <a:spLocks noChangeArrowheads="1"/>
          </p:cNvSpPr>
          <p:nvPr/>
        </p:nvSpPr>
        <p:spPr bwMode="auto">
          <a:xfrm>
            <a:off x="1903413" y="5410200"/>
            <a:ext cx="306387"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108580" name="Text Box 36"/>
          <p:cNvSpPr txBox="1">
            <a:spLocks noChangeArrowheads="1"/>
          </p:cNvSpPr>
          <p:nvPr/>
        </p:nvSpPr>
        <p:spPr bwMode="auto">
          <a:xfrm>
            <a:off x="1458913" y="6096000"/>
            <a:ext cx="1039812"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1*1 = 1</a:t>
            </a:r>
          </a:p>
        </p:txBody>
      </p:sp>
    </p:spTree>
    <p:extLst>
      <p:ext uri="{BB962C8B-B14F-4D97-AF65-F5344CB8AC3E}">
        <p14:creationId xmlns:p14="http://schemas.microsoft.com/office/powerpoint/2010/main" val="4882895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3.33333E-6 0.03889 " pathEditMode="relative" rAng="0" ptsTypes="AA">
                                      <p:cBhvr>
                                        <p:cTn id="6" dur="2000" fill="hold"/>
                                        <p:tgtEl>
                                          <p:spTgt spid="108576"/>
                                        </p:tgtEl>
                                        <p:attrNameLst>
                                          <p:attrName>ppt_x</p:attrName>
                                          <p:attrName>ppt_y</p:attrName>
                                        </p:attrNameLst>
                                      </p:cBhvr>
                                      <p:rCtr x="0" y="19"/>
                                    </p:animMotion>
                                  </p:childTnLst>
                                </p:cTn>
                              </p:par>
                            </p:childTnLst>
                          </p:cTn>
                        </p:par>
                        <p:par>
                          <p:cTn id="7" fill="hold">
                            <p:stCondLst>
                              <p:cond delay="2000"/>
                            </p:stCondLst>
                            <p:childTnLst>
                              <p:par>
                                <p:cTn id="8" presetID="3" presetClass="exit" presetSubtype="10" fill="hold" grpId="0" nodeType="afterEffect">
                                  <p:stCondLst>
                                    <p:cond delay="0"/>
                                  </p:stCondLst>
                                  <p:childTnLst>
                                    <p:animEffect transition="out" filter="blinds(horizontal)">
                                      <p:cBhvr>
                                        <p:cTn id="9" dur="500"/>
                                        <p:tgtEl>
                                          <p:spTgt spid="108568"/>
                                        </p:tgtEl>
                                      </p:cBhvr>
                                    </p:animEffect>
                                    <p:set>
                                      <p:cBhvr>
                                        <p:cTn id="10" dur="1" fill="hold">
                                          <p:stCondLst>
                                            <p:cond delay="499"/>
                                          </p:stCondLst>
                                        </p:cTn>
                                        <p:tgtEl>
                                          <p:spTgt spid="108568"/>
                                        </p:tgtEl>
                                        <p:attrNameLst>
                                          <p:attrName>style.visibility</p:attrName>
                                        </p:attrNameLst>
                                      </p:cBhvr>
                                      <p:to>
                                        <p:strVal val="hidden"/>
                                      </p:to>
                                    </p:set>
                                  </p:childTnLst>
                                </p:cTn>
                              </p:par>
                            </p:childTnLst>
                          </p:cTn>
                        </p:par>
                        <p:par>
                          <p:cTn id="11" fill="hold">
                            <p:stCondLst>
                              <p:cond delay="2500"/>
                            </p:stCondLst>
                            <p:childTnLst>
                              <p:par>
                                <p:cTn id="12" presetID="3" presetClass="entr" presetSubtype="10" fill="hold" grpId="0" nodeType="afterEffect">
                                  <p:stCondLst>
                                    <p:cond delay="0"/>
                                  </p:stCondLst>
                                  <p:childTnLst>
                                    <p:set>
                                      <p:cBhvr>
                                        <p:cTn id="13" dur="1" fill="hold">
                                          <p:stCondLst>
                                            <p:cond delay="0"/>
                                          </p:stCondLst>
                                        </p:cTn>
                                        <p:tgtEl>
                                          <p:spTgt spid="108579"/>
                                        </p:tgtEl>
                                        <p:attrNameLst>
                                          <p:attrName>style.visibility</p:attrName>
                                        </p:attrNameLst>
                                      </p:cBhvr>
                                      <p:to>
                                        <p:strVal val="visible"/>
                                      </p:to>
                                    </p:set>
                                    <p:animEffect transition="in" filter="blinds(horizontal)">
                                      <p:cBhvr>
                                        <p:cTn id="14" dur="500"/>
                                        <p:tgtEl>
                                          <p:spTgt spid="108579"/>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1" nodeType="clickEffect">
                                  <p:stCondLst>
                                    <p:cond delay="0"/>
                                  </p:stCondLst>
                                  <p:childTnLst>
                                    <p:animMotion origin="layout" path="M -3.33333E-6 0.03889 L -3.33333E-6 0.07801 " pathEditMode="relative" rAng="0" ptsTypes="AA">
                                      <p:cBhvr>
                                        <p:cTn id="18" dur="2000" fill="hold"/>
                                        <p:tgtEl>
                                          <p:spTgt spid="108576"/>
                                        </p:tgtEl>
                                        <p:attrNameLst>
                                          <p:attrName>ppt_x</p:attrName>
                                          <p:attrName>ppt_y</p:attrName>
                                        </p:attrNameLst>
                                      </p:cBhvr>
                                      <p:rCtr x="0" y="19"/>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2" nodeType="clickEffect">
                                  <p:stCondLst>
                                    <p:cond delay="0"/>
                                  </p:stCondLst>
                                  <p:childTnLst>
                                    <p:animMotion origin="layout" path="M -3.33333E-6 0.08264 L -0.00104 0.11667 " pathEditMode="relative" rAng="0" ptsTypes="AA">
                                      <p:cBhvr>
                                        <p:cTn id="22" dur="2000" fill="hold"/>
                                        <p:tgtEl>
                                          <p:spTgt spid="108576"/>
                                        </p:tgtEl>
                                        <p:attrNameLst>
                                          <p:attrName>ppt_x</p:attrName>
                                          <p:attrName>ppt_y</p:attrName>
                                        </p:attrNameLst>
                                      </p:cBhvr>
                                      <p:rCtr x="-1" y="17"/>
                                    </p:animMotion>
                                  </p:childTnLst>
                                </p:cTn>
                              </p:par>
                            </p:childTnLst>
                          </p:cTn>
                        </p:par>
                        <p:par>
                          <p:cTn id="23" fill="hold">
                            <p:stCondLst>
                              <p:cond delay="2000"/>
                            </p:stCondLst>
                            <p:childTnLst>
                              <p:par>
                                <p:cTn id="24" presetID="64" presetClass="path" presetSubtype="0" accel="50000" decel="50000" fill="hold" grpId="0" nodeType="afterEffect">
                                  <p:stCondLst>
                                    <p:cond delay="0"/>
                                  </p:stCondLst>
                                  <p:childTnLst>
                                    <p:animMotion origin="layout" path="M 0.01441 -0.00995 L 0.01406 -0.08657 " pathEditMode="relative" rAng="0" ptsTypes="AA">
                                      <p:cBhvr>
                                        <p:cTn id="25" dur="2000" fill="hold"/>
                                        <p:tgtEl>
                                          <p:spTgt spid="108551"/>
                                        </p:tgtEl>
                                        <p:attrNameLst>
                                          <p:attrName>ppt_x</p:attrName>
                                          <p:attrName>ppt_y</p:attrName>
                                        </p:attrNameLst>
                                      </p:cBhvr>
                                      <p:rCtr x="0" y="-38"/>
                                    </p:animMotion>
                                  </p:childTnLst>
                                </p:cTn>
                              </p:par>
                            </p:childTnLst>
                          </p:cTn>
                        </p:par>
                        <p:par>
                          <p:cTn id="26" fill="hold">
                            <p:stCondLst>
                              <p:cond delay="4000"/>
                            </p:stCondLst>
                            <p:childTnLst>
                              <p:par>
                                <p:cTn id="27" presetID="3" presetClass="exit" presetSubtype="10" fill="hold" grpId="0" nodeType="afterEffect">
                                  <p:stCondLst>
                                    <p:cond delay="0"/>
                                  </p:stCondLst>
                                  <p:childTnLst>
                                    <p:animEffect transition="out" filter="blinds(horizontal)">
                                      <p:cBhvr>
                                        <p:cTn id="28" dur="500"/>
                                        <p:tgtEl>
                                          <p:spTgt spid="108578"/>
                                        </p:tgtEl>
                                      </p:cBhvr>
                                    </p:animEffect>
                                    <p:set>
                                      <p:cBhvr>
                                        <p:cTn id="29" dur="1" fill="hold">
                                          <p:stCondLst>
                                            <p:cond delay="499"/>
                                          </p:stCondLst>
                                        </p:cTn>
                                        <p:tgtEl>
                                          <p:spTgt spid="108578"/>
                                        </p:tgtEl>
                                        <p:attrNameLst>
                                          <p:attrName>style.visibility</p:attrName>
                                        </p:attrNameLst>
                                      </p:cBhvr>
                                      <p:to>
                                        <p:strVal val="hidden"/>
                                      </p:to>
                                    </p:set>
                                  </p:childTnLst>
                                </p:cTn>
                              </p:par>
                            </p:childTnLst>
                          </p:cTn>
                        </p:par>
                        <p:par>
                          <p:cTn id="30" fill="hold">
                            <p:stCondLst>
                              <p:cond delay="4500"/>
                            </p:stCondLst>
                            <p:childTnLst>
                              <p:par>
                                <p:cTn id="31" presetID="3" presetClass="exit" presetSubtype="10" fill="hold" grpId="0" nodeType="afterEffect">
                                  <p:stCondLst>
                                    <p:cond delay="0"/>
                                  </p:stCondLst>
                                  <p:childTnLst>
                                    <p:animEffect transition="out" filter="blinds(horizontal)">
                                      <p:cBhvr>
                                        <p:cTn id="32" dur="500"/>
                                        <p:tgtEl>
                                          <p:spTgt spid="108577"/>
                                        </p:tgtEl>
                                      </p:cBhvr>
                                    </p:animEffect>
                                    <p:set>
                                      <p:cBhvr>
                                        <p:cTn id="33" dur="1" fill="hold">
                                          <p:stCondLst>
                                            <p:cond delay="499"/>
                                          </p:stCondLst>
                                        </p:cTn>
                                        <p:tgtEl>
                                          <p:spTgt spid="108577"/>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grpId="3" nodeType="clickEffect">
                                  <p:stCondLst>
                                    <p:cond delay="0"/>
                                  </p:stCondLst>
                                  <p:childTnLst>
                                    <p:animMotion origin="layout" path="M -3.33333E-6 0.11875 L -3.33333E-6 0.16111 " pathEditMode="relative" rAng="0" ptsTypes="AA">
                                      <p:cBhvr>
                                        <p:cTn id="37" dur="2000" fill="hold"/>
                                        <p:tgtEl>
                                          <p:spTgt spid="108576"/>
                                        </p:tgtEl>
                                        <p:attrNameLst>
                                          <p:attrName>ppt_x</p:attrName>
                                          <p:attrName>ppt_y</p:attrName>
                                        </p:attrNameLst>
                                      </p:cBhvr>
                                      <p:rCtr x="0" y="21"/>
                                    </p:animMotion>
                                  </p:childTnLst>
                                </p:cTn>
                              </p:par>
                            </p:childTnLst>
                          </p:cTn>
                        </p:par>
                        <p:par>
                          <p:cTn id="38" fill="hold">
                            <p:stCondLst>
                              <p:cond delay="2000"/>
                            </p:stCondLst>
                            <p:childTnLst>
                              <p:par>
                                <p:cTn id="39" presetID="3" presetClass="exit" presetSubtype="10" fill="hold" grpId="0" nodeType="afterEffect">
                                  <p:stCondLst>
                                    <p:cond delay="0"/>
                                  </p:stCondLst>
                                  <p:childTnLst>
                                    <p:animEffect transition="out" filter="blinds(horizontal)">
                                      <p:cBhvr>
                                        <p:cTn id="40" dur="500"/>
                                        <p:tgtEl>
                                          <p:spTgt spid="108546"/>
                                        </p:tgtEl>
                                      </p:cBhvr>
                                    </p:animEffect>
                                    <p:set>
                                      <p:cBhvr>
                                        <p:cTn id="41" dur="1" fill="hold">
                                          <p:stCondLst>
                                            <p:cond delay="499"/>
                                          </p:stCondLst>
                                        </p:cTn>
                                        <p:tgtEl>
                                          <p:spTgt spid="108546"/>
                                        </p:tgtEl>
                                        <p:attrNameLst>
                                          <p:attrName>style.visibility</p:attrName>
                                        </p:attrNameLst>
                                      </p:cBhvr>
                                      <p:to>
                                        <p:strVal val="hidden"/>
                                      </p:to>
                                    </p:set>
                                  </p:childTnLst>
                                </p:cTn>
                              </p:par>
                            </p:childTnLst>
                          </p:cTn>
                        </p:par>
                        <p:par>
                          <p:cTn id="42" fill="hold">
                            <p:stCondLst>
                              <p:cond delay="2500"/>
                            </p:stCondLst>
                            <p:childTnLst>
                              <p:par>
                                <p:cTn id="43" presetID="3" presetClass="entr" presetSubtype="10" fill="hold" grpId="0" nodeType="afterEffect">
                                  <p:stCondLst>
                                    <p:cond delay="0"/>
                                  </p:stCondLst>
                                  <p:childTnLst>
                                    <p:set>
                                      <p:cBhvr>
                                        <p:cTn id="44" dur="1" fill="hold">
                                          <p:stCondLst>
                                            <p:cond delay="0"/>
                                          </p:stCondLst>
                                        </p:cTn>
                                        <p:tgtEl>
                                          <p:spTgt spid="108580"/>
                                        </p:tgtEl>
                                        <p:attrNameLst>
                                          <p:attrName>style.visibility</p:attrName>
                                        </p:attrNameLst>
                                      </p:cBhvr>
                                      <p:to>
                                        <p:strVal val="visible"/>
                                      </p:to>
                                    </p:set>
                                    <p:animEffect transition="in" filter="blinds(horizontal)">
                                      <p:cBhvr>
                                        <p:cTn id="45" dur="500"/>
                                        <p:tgtEl>
                                          <p:spTgt spid="108580"/>
                                        </p:tgtEl>
                                      </p:cBhvr>
                                    </p:animEffect>
                                  </p:childTnLst>
                                </p:cTn>
                              </p:par>
                            </p:childTnLst>
                          </p:cTn>
                        </p:par>
                      </p:childTnLst>
                    </p:cTn>
                  </p:par>
                  <p:par>
                    <p:cTn id="46" fill="hold">
                      <p:stCondLst>
                        <p:cond delay="indefinite"/>
                      </p:stCondLst>
                      <p:childTnLst>
                        <p:par>
                          <p:cTn id="47" fill="hold">
                            <p:stCondLst>
                              <p:cond delay="0"/>
                            </p:stCondLst>
                            <p:childTnLst>
                              <p:par>
                                <p:cTn id="48" presetID="51" presetClass="path" presetSubtype="0" accel="50000" decel="50000" fill="hold" grpId="4" nodeType="clickEffect">
                                  <p:stCondLst>
                                    <p:cond delay="0"/>
                                  </p:stCondLst>
                                  <p:childTnLst>
                                    <p:animMotion origin="layout" path="M -0.00104 0.16111 L -0.08055 0.11921 C -0.09861 0.11042 -0.10833 0.09745 -0.10833 0.0838 C -0.10833 0.06829 -0.09861 0.05602 -0.08055 0.04699 L -0.00104 0.00556 " pathEditMode="relative" rAng="0" ptsTypes="FffFF">
                                      <p:cBhvr>
                                        <p:cTn id="49" dur="2000" fill="hold"/>
                                        <p:tgtEl>
                                          <p:spTgt spid="108576"/>
                                        </p:tgtEl>
                                        <p:attrNameLst>
                                          <p:attrName>ppt_x</p:attrName>
                                          <p:attrName>ppt_y</p:attrName>
                                        </p:attrNameLst>
                                      </p:cBhvr>
                                      <p:rCtr x="-54" y="-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51" grpId="0"/>
      <p:bldP spid="108568" grpId="0"/>
      <p:bldP spid="108576" grpId="0" animBg="1"/>
      <p:bldP spid="108576" grpId="1" animBg="1"/>
      <p:bldP spid="108576" grpId="2" animBg="1"/>
      <p:bldP spid="108576" grpId="3" animBg="1"/>
      <p:bldP spid="108576" grpId="4" animBg="1"/>
      <p:bldP spid="108577" grpId="0"/>
      <p:bldP spid="108578" grpId="0"/>
      <p:bldP spid="108579" grpId="0"/>
      <p:bldP spid="10858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6867" name="Line 4"/>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6868" name="Line 5"/>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36869" name="Text Box 6"/>
          <p:cNvSpPr txBox="1">
            <a:spLocks noChangeArrowheads="1"/>
          </p:cNvSpPr>
          <p:nvPr/>
        </p:nvSpPr>
        <p:spPr bwMode="auto">
          <a:xfrm>
            <a:off x="3013075" y="182880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6870" name="Line 7"/>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6871" name="Line 8"/>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6872" name="Rectangle 9"/>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6873" name="Text Box 10"/>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6874" name="Line 11"/>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6875" name="Line 12"/>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6876" name="Line 13"/>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6877" name="Line 14"/>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6878" name="Line 15"/>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6879" name="Line 16"/>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6880" name="Line 17"/>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6881" name="Rectangle 18"/>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6882" name="Text Box 19"/>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6883" name="Rectangle 20"/>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6884" name="Text Box 21"/>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36885" name="Rectangle 23"/>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36886" name="Text Box 24"/>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6887" name="Text Box 25"/>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6888" name="Rectangle 26"/>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
        <p:nvSpPr>
          <p:cNvPr id="36889" name="Text Box 27"/>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36890" name="Text Box 28"/>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36891" name="Text Box 33"/>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36892" name="Text Box 34"/>
          <p:cNvSpPr txBox="1">
            <a:spLocks noChangeArrowheads="1"/>
          </p:cNvSpPr>
          <p:nvPr/>
        </p:nvSpPr>
        <p:spPr bwMode="auto">
          <a:xfrm>
            <a:off x="1903413" y="6096000"/>
            <a:ext cx="306387"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p>
        </p:txBody>
      </p:sp>
      <p:sp>
        <p:nvSpPr>
          <p:cNvPr id="36893" name="Rectangle 35"/>
          <p:cNvSpPr>
            <a:spLocks noChangeArrowheads="1"/>
          </p:cNvSpPr>
          <p:nvPr/>
        </p:nvSpPr>
        <p:spPr bwMode="auto">
          <a:xfrm>
            <a:off x="4495800" y="1371600"/>
            <a:ext cx="4267200" cy="4191000"/>
          </a:xfrm>
          <a:prstGeom prst="rect">
            <a:avLst/>
          </a:prstGeom>
          <a:noFill/>
          <a:ln w="12700">
            <a:noFill/>
            <a:miter lim="800000"/>
            <a:headEnd/>
            <a:tailEnd/>
          </a:ln>
        </p:spPr>
        <p:txBody>
          <a:bodyPr lIns="63500" tIns="25400" rIns="63500" bIns="25400">
            <a:spAutoFit/>
          </a:bodyPr>
          <a:lstStyle/>
          <a:p>
            <a:pPr marL="342900" indent="-342900">
              <a:spcBef>
                <a:spcPct val="20000"/>
              </a:spcBef>
              <a:buFontTx/>
              <a:buChar char="•"/>
            </a:pPr>
            <a:r>
              <a:rPr lang="en-US" sz="2400">
                <a:solidFill>
                  <a:srgbClr val="583E14"/>
                </a:solidFill>
                <a:latin typeface="Palatino Linotype" pitchFamily="18" charset="0"/>
              </a:rPr>
              <a:t>Stack state after execution of first encounter with the second </a:t>
            </a:r>
            <a:r>
              <a:rPr lang="en-US" sz="2400">
                <a:solidFill>
                  <a:srgbClr val="583E14"/>
                </a:solidFill>
                <a:latin typeface="Courier New" pitchFamily="49" charset="0"/>
              </a:rPr>
              <a:t>jr</a:t>
            </a:r>
            <a:r>
              <a:rPr lang="en-US" sz="2400">
                <a:solidFill>
                  <a:srgbClr val="583E14"/>
                </a:solidFill>
                <a:latin typeface="Palatino Linotype" pitchFamily="18" charset="0"/>
              </a:rPr>
              <a:t> instruction (return from fact routine after updating </a:t>
            </a:r>
            <a:r>
              <a:rPr lang="en-US" sz="2400">
                <a:solidFill>
                  <a:srgbClr val="583E14"/>
                </a:solidFill>
                <a:latin typeface="Courier New" pitchFamily="49" charset="0"/>
              </a:rPr>
              <a:t>$v0</a:t>
            </a:r>
            <a:r>
              <a:rPr lang="en-US" sz="2400">
                <a:solidFill>
                  <a:srgbClr val="583E14"/>
                </a:solidFill>
                <a:latin typeface="Palatino Linotype" pitchFamily="18" charset="0"/>
              </a:rPr>
              <a:t> to 1 * 1)</a:t>
            </a:r>
          </a:p>
          <a:p>
            <a:pPr marL="742950" lvl="1" indent="-285750">
              <a:spcBef>
                <a:spcPct val="20000"/>
              </a:spcBef>
              <a:buFontTx/>
              <a:buChar char="–"/>
            </a:pPr>
            <a:r>
              <a:rPr lang="en-US" sz="2000">
                <a:solidFill>
                  <a:srgbClr val="008000"/>
                </a:solidFill>
                <a:latin typeface="Palatino Linotype" pitchFamily="18" charset="0"/>
              </a:rPr>
              <a:t>return address to caller routine (</a:t>
            </a:r>
            <a:r>
              <a:rPr lang="en-US" sz="2000">
                <a:solidFill>
                  <a:srgbClr val="008000"/>
                </a:solidFill>
                <a:latin typeface="Courier New" pitchFamily="49" charset="0"/>
              </a:rPr>
              <a:t>bk_f</a:t>
            </a:r>
            <a:r>
              <a:rPr lang="en-US" sz="2000">
                <a:solidFill>
                  <a:srgbClr val="008000"/>
                </a:solidFill>
                <a:latin typeface="Palatino Linotype" pitchFamily="18" charset="0"/>
              </a:rPr>
              <a:t> in fact routine) restored to </a:t>
            </a:r>
            <a:r>
              <a:rPr lang="en-US" sz="2000">
                <a:solidFill>
                  <a:srgbClr val="008000"/>
                </a:solidFill>
                <a:latin typeface="Courier New" pitchFamily="49" charset="0"/>
              </a:rPr>
              <a:t>$ra</a:t>
            </a:r>
            <a:r>
              <a:rPr lang="en-US" sz="2000">
                <a:solidFill>
                  <a:srgbClr val="008000"/>
                </a:solidFill>
                <a:latin typeface="Palatino Linotype" pitchFamily="18" charset="0"/>
              </a:rPr>
              <a:t> from the stack</a:t>
            </a:r>
          </a:p>
          <a:p>
            <a:pPr marL="742950" lvl="1" indent="-285750">
              <a:spcBef>
                <a:spcPct val="20000"/>
              </a:spcBef>
              <a:buFontTx/>
              <a:buChar char="–"/>
            </a:pPr>
            <a:r>
              <a:rPr lang="en-US" sz="2000">
                <a:solidFill>
                  <a:srgbClr val="008000"/>
                </a:solidFill>
                <a:latin typeface="Palatino Linotype" pitchFamily="18" charset="0"/>
              </a:rPr>
              <a:t>previous value of </a:t>
            </a:r>
            <a:r>
              <a:rPr lang="en-US" sz="2000">
                <a:solidFill>
                  <a:srgbClr val="008000"/>
                </a:solidFill>
                <a:latin typeface="Courier New" pitchFamily="49" charset="0"/>
              </a:rPr>
              <a:t>$a0</a:t>
            </a:r>
            <a:r>
              <a:rPr lang="en-US" sz="2000">
                <a:solidFill>
                  <a:srgbClr val="008000"/>
                </a:solidFill>
                <a:latin typeface="Palatino Linotype" pitchFamily="18" charset="0"/>
              </a:rPr>
              <a:t> restored from the stack</a:t>
            </a:r>
          </a:p>
          <a:p>
            <a:pPr marL="742950" lvl="1" indent="-285750">
              <a:spcBef>
                <a:spcPct val="20000"/>
              </a:spcBef>
              <a:buFontTx/>
              <a:buChar char="–"/>
            </a:pPr>
            <a:r>
              <a:rPr lang="en-US" sz="2000">
                <a:solidFill>
                  <a:srgbClr val="008000"/>
                </a:solidFill>
                <a:latin typeface="Palatino Linotype" pitchFamily="18" charset="0"/>
              </a:rPr>
              <a:t>stack pointer updated to point to </a:t>
            </a:r>
            <a:r>
              <a:rPr lang="en-US" sz="2000" i="1">
                <a:solidFill>
                  <a:srgbClr val="FF3300"/>
                </a:solidFill>
                <a:latin typeface="Palatino Linotype" pitchFamily="18" charset="0"/>
              </a:rPr>
              <a:t>second</a:t>
            </a:r>
            <a:r>
              <a:rPr lang="en-US" sz="2000">
                <a:solidFill>
                  <a:srgbClr val="008000"/>
                </a:solidFill>
                <a:latin typeface="Palatino Linotype" pitchFamily="18" charset="0"/>
              </a:rPr>
              <a:t> call to fact</a:t>
            </a:r>
          </a:p>
        </p:txBody>
      </p:sp>
    </p:spTree>
    <p:extLst>
      <p:ext uri="{BB962C8B-B14F-4D97-AF65-F5344CB8AC3E}">
        <p14:creationId xmlns:p14="http://schemas.microsoft.com/office/powerpoint/2010/main" val="1385259252"/>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1905000" y="60960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114691" name="Rectangle 3"/>
          <p:cNvSpPr>
            <a:spLocks noGrp="1" noChangeArrowheads="1"/>
          </p:cNvSpPr>
          <p:nvPr>
            <p:ph type="title"/>
          </p:nvPr>
        </p:nvSpPr>
        <p:spPr>
          <a:xfrm>
            <a:off x="0" y="0"/>
            <a:ext cx="7086600" cy="533288"/>
          </a:xfrm>
        </p:spPr>
        <p:txBody>
          <a:bodyPr/>
          <a:lstStyle/>
          <a:p>
            <a:pPr>
              <a:defRPr/>
            </a:pPr>
            <a:r>
              <a:rPr lang="en-US" sz="3600" dirty="0"/>
              <a:t>A Look at the Stack for $a0 = 2</a:t>
            </a:r>
          </a:p>
        </p:txBody>
      </p:sp>
      <p:sp>
        <p:nvSpPr>
          <p:cNvPr id="37892" name="Line 4"/>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7893" name="Line 5"/>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114694" name="Text Box 6"/>
          <p:cNvSpPr txBox="1">
            <a:spLocks noChangeArrowheads="1"/>
          </p:cNvSpPr>
          <p:nvPr/>
        </p:nvSpPr>
        <p:spPr bwMode="auto">
          <a:xfrm>
            <a:off x="3013075" y="179705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7895" name="Line 7"/>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7896" name="Line 8"/>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7897" name="Rectangle 9"/>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7898" name="Text Box 10"/>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7899" name="Line 11"/>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7900" name="Line 12"/>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7901" name="Line 13"/>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7902" name="Line 14"/>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7903" name="Line 15"/>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7904" name="Line 16"/>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7905" name="Line 17"/>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7906" name="Rectangle 18"/>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7907" name="Text Box 19"/>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7908" name="Rectangle 20"/>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7909" name="Text Box 21"/>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114710" name="Text Box 22"/>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1</a:t>
            </a:r>
            <a:endParaRPr lang="en-US" b="1">
              <a:solidFill>
                <a:srgbClr val="000000"/>
              </a:solidFill>
            </a:endParaRPr>
          </a:p>
        </p:txBody>
      </p:sp>
      <p:sp>
        <p:nvSpPr>
          <p:cNvPr id="37911" name="Rectangle 23"/>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114712" name="Text Box 24"/>
          <p:cNvSpPr txBox="1">
            <a:spLocks noChangeArrowheads="1"/>
          </p:cNvSpPr>
          <p:nvPr/>
        </p:nvSpPr>
        <p:spPr bwMode="auto">
          <a:xfrm>
            <a:off x="1752600" y="4724400"/>
            <a:ext cx="673100"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bk_f</a:t>
            </a:r>
            <a:endParaRPr lang="en-US" b="1">
              <a:solidFill>
                <a:srgbClr val="000000"/>
              </a:solidFill>
            </a:endParaRPr>
          </a:p>
        </p:txBody>
      </p:sp>
      <p:sp>
        <p:nvSpPr>
          <p:cNvPr id="37913" name="Text Box 25"/>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7914" name="Rectangle 26"/>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
        <p:nvSpPr>
          <p:cNvPr id="114715" name="Text Box 27"/>
          <p:cNvSpPr txBox="1">
            <a:spLocks noChangeArrowheads="1"/>
          </p:cNvSpPr>
          <p:nvPr/>
        </p:nvSpPr>
        <p:spPr bwMode="auto">
          <a:xfrm>
            <a:off x="1143000" y="1524000"/>
            <a:ext cx="189547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caller rt addr</a:t>
            </a:r>
            <a:endParaRPr lang="en-US" b="1">
              <a:solidFill>
                <a:srgbClr val="000000"/>
              </a:solidFill>
            </a:endParaRPr>
          </a:p>
        </p:txBody>
      </p:sp>
      <p:sp>
        <p:nvSpPr>
          <p:cNvPr id="114716" name="Text Box 28"/>
          <p:cNvSpPr txBox="1">
            <a:spLocks noChangeArrowheads="1"/>
          </p:cNvSpPr>
          <p:nvPr/>
        </p:nvSpPr>
        <p:spPr bwMode="auto">
          <a:xfrm>
            <a:off x="1447800" y="18288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 = 2</a:t>
            </a:r>
            <a:endParaRPr lang="en-US" b="1">
              <a:solidFill>
                <a:srgbClr val="000000"/>
              </a:solidFill>
            </a:endParaRPr>
          </a:p>
        </p:txBody>
      </p:sp>
      <p:sp>
        <p:nvSpPr>
          <p:cNvPr id="37917" name="Rectangle 29"/>
          <p:cNvSpPr>
            <a:spLocks noChangeArrowheads="1"/>
          </p:cNvSpPr>
          <p:nvPr/>
        </p:nvSpPr>
        <p:spPr bwMode="auto">
          <a:xfrm>
            <a:off x="4114800" y="1676400"/>
            <a:ext cx="4038600" cy="4343400"/>
          </a:xfrm>
          <a:prstGeom prst="rect">
            <a:avLst/>
          </a:prstGeom>
          <a:noFill/>
          <a:ln w="9525">
            <a:noFill/>
            <a:miter lim="800000"/>
            <a:headEnd/>
            <a:tailEnd/>
          </a:ln>
        </p:spPr>
        <p:txBody>
          <a:bodyPr/>
          <a:lstStyle/>
          <a:p>
            <a:pPr marL="342900" indent="-342900">
              <a:lnSpc>
                <a:spcPct val="80000"/>
              </a:lnSpc>
              <a:spcBef>
                <a:spcPct val="20000"/>
              </a:spcBef>
            </a:pPr>
            <a:r>
              <a:rPr lang="en-US" b="1">
                <a:solidFill>
                  <a:srgbClr val="008000"/>
                </a:solidFill>
                <a:latin typeface="Courier New" pitchFamily="49" charset="0"/>
              </a:rPr>
              <a:t>fact:	addi	$sp, $sp, -8</a:t>
            </a:r>
          </a:p>
          <a:p>
            <a:pPr marL="342900" indent="-342900">
              <a:lnSpc>
                <a:spcPct val="80000"/>
              </a:lnSpc>
              <a:spcBef>
                <a:spcPct val="20000"/>
              </a:spcBef>
            </a:pPr>
            <a:r>
              <a:rPr lang="en-US" b="1">
                <a:solidFill>
                  <a:srgbClr val="008000"/>
                </a:solidFill>
                <a:latin typeface="Courier New" pitchFamily="49" charset="0"/>
              </a:rPr>
              <a:t>		sw	$ra, 4($sp)</a:t>
            </a:r>
          </a:p>
          <a:p>
            <a:pPr marL="342900" indent="-342900">
              <a:lnSpc>
                <a:spcPct val="80000"/>
              </a:lnSpc>
              <a:spcBef>
                <a:spcPct val="20000"/>
              </a:spcBef>
            </a:pPr>
            <a:r>
              <a:rPr lang="en-US" b="1">
                <a:solidFill>
                  <a:srgbClr val="008000"/>
                </a:solidFill>
                <a:latin typeface="Courier New" pitchFamily="49" charset="0"/>
              </a:rPr>
              <a:t>		sw	$a0, 0($sp)</a:t>
            </a:r>
          </a:p>
          <a:p>
            <a:pPr marL="342900" indent="-342900">
              <a:lnSpc>
                <a:spcPct val="80000"/>
              </a:lnSpc>
              <a:spcBef>
                <a:spcPct val="20000"/>
              </a:spcBef>
            </a:pPr>
            <a:r>
              <a:rPr lang="en-US" b="1">
                <a:solidFill>
                  <a:srgbClr val="008000"/>
                </a:solidFill>
                <a:latin typeface="Courier New" pitchFamily="49" charset="0"/>
              </a:rPr>
              <a:t>		slt	$t0, $a0, 1</a:t>
            </a:r>
          </a:p>
          <a:p>
            <a:pPr marL="342900" indent="-342900">
              <a:lnSpc>
                <a:spcPct val="80000"/>
              </a:lnSpc>
              <a:spcBef>
                <a:spcPct val="20000"/>
              </a:spcBef>
            </a:pPr>
            <a:r>
              <a:rPr lang="en-US" b="1">
                <a:solidFill>
                  <a:srgbClr val="008000"/>
                </a:solidFill>
                <a:latin typeface="Courier New" pitchFamily="49" charset="0"/>
              </a:rPr>
              <a:t>		beq	$t0, $zero, L1</a:t>
            </a:r>
          </a:p>
          <a:p>
            <a:pPr marL="342900" indent="-342900">
              <a:lnSpc>
                <a:spcPct val="80000"/>
              </a:lnSpc>
              <a:spcBef>
                <a:spcPct val="20000"/>
              </a:spcBef>
            </a:pPr>
            <a:r>
              <a:rPr lang="en-US" b="1">
                <a:solidFill>
                  <a:srgbClr val="008000"/>
                </a:solidFill>
                <a:latin typeface="Courier New" pitchFamily="49" charset="0"/>
              </a:rPr>
              <a:t>		addi	$v0, $zero, 1</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jr	$ra</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L1:	addi	$a0, $a0, -1</a:t>
            </a:r>
          </a:p>
          <a:p>
            <a:pPr marL="342900" indent="-342900">
              <a:lnSpc>
                <a:spcPct val="80000"/>
              </a:lnSpc>
              <a:spcBef>
                <a:spcPct val="20000"/>
              </a:spcBef>
            </a:pPr>
            <a:r>
              <a:rPr lang="en-US" b="1">
                <a:solidFill>
                  <a:srgbClr val="008000"/>
                </a:solidFill>
                <a:latin typeface="Courier New" pitchFamily="49" charset="0"/>
              </a:rPr>
              <a:t>		jal	fact</a:t>
            </a:r>
          </a:p>
          <a:p>
            <a:pPr marL="342900" indent="-342900">
              <a:lnSpc>
                <a:spcPct val="80000"/>
              </a:lnSpc>
              <a:spcBef>
                <a:spcPct val="20000"/>
              </a:spcBef>
            </a:pPr>
            <a:endParaRPr lang="en-US" b="1">
              <a:solidFill>
                <a:srgbClr val="008000"/>
              </a:solidFill>
              <a:latin typeface="Courier New" pitchFamily="49" charset="0"/>
            </a:endParaRPr>
          </a:p>
          <a:p>
            <a:pPr marL="342900" indent="-342900">
              <a:lnSpc>
                <a:spcPct val="80000"/>
              </a:lnSpc>
              <a:spcBef>
                <a:spcPct val="20000"/>
              </a:spcBef>
            </a:pPr>
            <a:r>
              <a:rPr lang="en-US" b="1">
                <a:solidFill>
                  <a:srgbClr val="008000"/>
                </a:solidFill>
                <a:latin typeface="Courier New" pitchFamily="49" charset="0"/>
              </a:rPr>
              <a:t>bk_f:	lw	$a0, 0($sp)</a:t>
            </a:r>
          </a:p>
          <a:p>
            <a:pPr marL="342900" indent="-342900">
              <a:lnSpc>
                <a:spcPct val="80000"/>
              </a:lnSpc>
              <a:spcBef>
                <a:spcPct val="20000"/>
              </a:spcBef>
            </a:pPr>
            <a:r>
              <a:rPr lang="en-US" b="1">
                <a:solidFill>
                  <a:srgbClr val="008000"/>
                </a:solidFill>
                <a:latin typeface="Courier New" pitchFamily="49" charset="0"/>
              </a:rPr>
              <a:t>		lw	$ra, 4($sp)</a:t>
            </a:r>
          </a:p>
          <a:p>
            <a:pPr marL="342900" indent="-342900">
              <a:lnSpc>
                <a:spcPct val="80000"/>
              </a:lnSpc>
              <a:spcBef>
                <a:spcPct val="20000"/>
              </a:spcBef>
            </a:pPr>
            <a:r>
              <a:rPr lang="en-US" b="1">
                <a:solidFill>
                  <a:srgbClr val="008000"/>
                </a:solidFill>
                <a:latin typeface="Courier New" pitchFamily="49" charset="0"/>
              </a:rPr>
              <a:t>		addi	$sp, $sp, 8</a:t>
            </a:r>
          </a:p>
          <a:p>
            <a:pPr marL="342900" indent="-342900">
              <a:lnSpc>
                <a:spcPct val="80000"/>
              </a:lnSpc>
              <a:spcBef>
                <a:spcPct val="20000"/>
              </a:spcBef>
            </a:pPr>
            <a:r>
              <a:rPr lang="en-US" b="1">
                <a:solidFill>
                  <a:srgbClr val="008000"/>
                </a:solidFill>
                <a:latin typeface="Courier New" pitchFamily="49" charset="0"/>
              </a:rPr>
              <a:t>		mul	$v0, $a0, $v0</a:t>
            </a:r>
          </a:p>
          <a:p>
            <a:pPr marL="342900" indent="-342900">
              <a:lnSpc>
                <a:spcPct val="80000"/>
              </a:lnSpc>
              <a:spcBef>
                <a:spcPct val="20000"/>
              </a:spcBef>
            </a:pPr>
            <a:r>
              <a:rPr lang="en-US" b="1">
                <a:solidFill>
                  <a:srgbClr val="008000"/>
                </a:solidFill>
                <a:latin typeface="Courier New" pitchFamily="49" charset="0"/>
              </a:rPr>
              <a:t>		jr	$ra	</a:t>
            </a:r>
          </a:p>
        </p:txBody>
      </p:sp>
      <p:sp>
        <p:nvSpPr>
          <p:cNvPr id="114718" name="AutoShape 30"/>
          <p:cNvSpPr>
            <a:spLocks noChangeArrowheads="1"/>
          </p:cNvSpPr>
          <p:nvPr/>
        </p:nvSpPr>
        <p:spPr bwMode="auto">
          <a:xfrm>
            <a:off x="3810000" y="4953000"/>
            <a:ext cx="304800" cy="381000"/>
          </a:xfrm>
          <a:prstGeom prst="rightArrow">
            <a:avLst>
              <a:gd name="adj1" fmla="val 56667"/>
              <a:gd name="adj2" fmla="val 59894"/>
            </a:avLst>
          </a:prstGeom>
          <a:solidFill>
            <a:srgbClr val="FF3300"/>
          </a:solidFill>
          <a:ln w="9525">
            <a:noFill/>
            <a:miter lim="800000"/>
            <a:headEnd/>
            <a:tailEnd/>
          </a:ln>
        </p:spPr>
        <p:txBody>
          <a:bodyPr wrap="none" anchor="ctr"/>
          <a:lstStyle/>
          <a:p>
            <a:endParaRPr lang="en-US"/>
          </a:p>
        </p:txBody>
      </p:sp>
      <p:sp>
        <p:nvSpPr>
          <p:cNvPr id="114721" name="Text Box 33"/>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2</a:t>
            </a:r>
            <a:endParaRPr lang="en-US" b="1">
              <a:solidFill>
                <a:srgbClr val="000000"/>
              </a:solidFill>
            </a:endParaRPr>
          </a:p>
        </p:txBody>
      </p:sp>
      <p:sp>
        <p:nvSpPr>
          <p:cNvPr id="114722" name="Text Box 34"/>
          <p:cNvSpPr txBox="1">
            <a:spLocks noChangeArrowheads="1"/>
          </p:cNvSpPr>
          <p:nvPr/>
        </p:nvSpPr>
        <p:spPr bwMode="auto">
          <a:xfrm>
            <a:off x="1458913" y="6096000"/>
            <a:ext cx="1039812"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2*1 = 2</a:t>
            </a:r>
          </a:p>
        </p:txBody>
      </p:sp>
      <p:sp>
        <p:nvSpPr>
          <p:cNvPr id="114723" name="Text Box 35"/>
          <p:cNvSpPr txBox="1">
            <a:spLocks noChangeArrowheads="1"/>
          </p:cNvSpPr>
          <p:nvPr/>
        </p:nvSpPr>
        <p:spPr bwMode="auto">
          <a:xfrm>
            <a:off x="1066800" y="4724400"/>
            <a:ext cx="2095500" cy="366713"/>
          </a:xfrm>
          <a:prstGeom prst="rect">
            <a:avLst/>
          </a:prstGeom>
          <a:noFill/>
          <a:ln w="12700">
            <a:noFill/>
            <a:miter lim="800000"/>
            <a:headEnd/>
            <a:tailEnd/>
          </a:ln>
        </p:spPr>
        <p:txBody>
          <a:bodyPr wrap="none">
            <a:spAutoFit/>
          </a:bodyPr>
          <a:lstStyle/>
          <a:p>
            <a:pPr eaLnBrk="0" hangingPunct="0"/>
            <a:r>
              <a:rPr lang="en-US" b="1">
                <a:solidFill>
                  <a:srgbClr val="000000"/>
                </a:solidFill>
                <a:latin typeface="Courier New" pitchFamily="49" charset="0"/>
              </a:rPr>
              <a:t>caller rt addr</a:t>
            </a:r>
          </a:p>
        </p:txBody>
      </p:sp>
    </p:spTree>
    <p:extLst>
      <p:ext uri="{BB962C8B-B14F-4D97-AF65-F5344CB8AC3E}">
        <p14:creationId xmlns:p14="http://schemas.microsoft.com/office/powerpoint/2010/main" val="277818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3.33333E-6 0.03889 " pathEditMode="relative" rAng="0" ptsTypes="AA">
                                      <p:cBhvr>
                                        <p:cTn id="6" dur="2000" fill="hold"/>
                                        <p:tgtEl>
                                          <p:spTgt spid="114718"/>
                                        </p:tgtEl>
                                        <p:attrNameLst>
                                          <p:attrName>ppt_x</p:attrName>
                                          <p:attrName>ppt_y</p:attrName>
                                        </p:attrNameLst>
                                      </p:cBhvr>
                                      <p:rCtr x="0" y="19"/>
                                    </p:animMotion>
                                  </p:childTnLst>
                                </p:cTn>
                              </p:par>
                            </p:childTnLst>
                          </p:cTn>
                        </p:par>
                        <p:par>
                          <p:cTn id="7" fill="hold">
                            <p:stCondLst>
                              <p:cond delay="2000"/>
                            </p:stCondLst>
                            <p:childTnLst>
                              <p:par>
                                <p:cTn id="8" presetID="3" presetClass="exit" presetSubtype="10" fill="hold" grpId="0" nodeType="afterEffect">
                                  <p:stCondLst>
                                    <p:cond delay="0"/>
                                  </p:stCondLst>
                                  <p:childTnLst>
                                    <p:animEffect transition="out" filter="blinds(horizontal)">
                                      <p:cBhvr>
                                        <p:cTn id="9" dur="500"/>
                                        <p:tgtEl>
                                          <p:spTgt spid="114710"/>
                                        </p:tgtEl>
                                      </p:cBhvr>
                                    </p:animEffect>
                                    <p:set>
                                      <p:cBhvr>
                                        <p:cTn id="10" dur="1" fill="hold">
                                          <p:stCondLst>
                                            <p:cond delay="499"/>
                                          </p:stCondLst>
                                        </p:cTn>
                                        <p:tgtEl>
                                          <p:spTgt spid="114710"/>
                                        </p:tgtEl>
                                        <p:attrNameLst>
                                          <p:attrName>style.visibility</p:attrName>
                                        </p:attrNameLst>
                                      </p:cBhvr>
                                      <p:to>
                                        <p:strVal val="hidden"/>
                                      </p:to>
                                    </p:set>
                                  </p:childTnLst>
                                </p:cTn>
                              </p:par>
                            </p:childTnLst>
                          </p:cTn>
                        </p:par>
                        <p:par>
                          <p:cTn id="11" fill="hold">
                            <p:stCondLst>
                              <p:cond delay="2500"/>
                            </p:stCondLst>
                            <p:childTnLst>
                              <p:par>
                                <p:cTn id="12" presetID="3" presetClass="entr" presetSubtype="10" fill="hold" grpId="0" nodeType="afterEffect">
                                  <p:stCondLst>
                                    <p:cond delay="0"/>
                                  </p:stCondLst>
                                  <p:childTnLst>
                                    <p:set>
                                      <p:cBhvr>
                                        <p:cTn id="13" dur="1" fill="hold">
                                          <p:stCondLst>
                                            <p:cond delay="0"/>
                                          </p:stCondLst>
                                        </p:cTn>
                                        <p:tgtEl>
                                          <p:spTgt spid="114721"/>
                                        </p:tgtEl>
                                        <p:attrNameLst>
                                          <p:attrName>style.visibility</p:attrName>
                                        </p:attrNameLst>
                                      </p:cBhvr>
                                      <p:to>
                                        <p:strVal val="visible"/>
                                      </p:to>
                                    </p:set>
                                    <p:animEffect transition="in" filter="blinds(horizontal)">
                                      <p:cBhvr>
                                        <p:cTn id="14" dur="500"/>
                                        <p:tgtEl>
                                          <p:spTgt spid="11472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1" nodeType="clickEffect">
                                  <p:stCondLst>
                                    <p:cond delay="0"/>
                                  </p:stCondLst>
                                  <p:childTnLst>
                                    <p:animMotion origin="layout" path="M -3.33333E-6 0.03889 L -3.33333E-6 0.07801 " pathEditMode="relative" rAng="0" ptsTypes="AA">
                                      <p:cBhvr>
                                        <p:cTn id="18" dur="2000" fill="hold"/>
                                        <p:tgtEl>
                                          <p:spTgt spid="114718"/>
                                        </p:tgtEl>
                                        <p:attrNameLst>
                                          <p:attrName>ppt_x</p:attrName>
                                          <p:attrName>ppt_y</p:attrName>
                                        </p:attrNameLst>
                                      </p:cBhvr>
                                      <p:rCtr x="0" y="19"/>
                                    </p:animMotion>
                                  </p:childTnLst>
                                </p:cTn>
                              </p:par>
                            </p:childTnLst>
                          </p:cTn>
                        </p:par>
                        <p:par>
                          <p:cTn id="19" fill="hold">
                            <p:stCondLst>
                              <p:cond delay="2000"/>
                            </p:stCondLst>
                            <p:childTnLst>
                              <p:par>
                                <p:cTn id="20" presetID="3" presetClass="exit" presetSubtype="10" fill="hold" grpId="0" nodeType="afterEffect">
                                  <p:stCondLst>
                                    <p:cond delay="0"/>
                                  </p:stCondLst>
                                  <p:childTnLst>
                                    <p:animEffect transition="out" filter="blinds(horizontal)">
                                      <p:cBhvr>
                                        <p:cTn id="21" dur="500"/>
                                        <p:tgtEl>
                                          <p:spTgt spid="114712"/>
                                        </p:tgtEl>
                                      </p:cBhvr>
                                    </p:animEffect>
                                    <p:set>
                                      <p:cBhvr>
                                        <p:cTn id="22" dur="1" fill="hold">
                                          <p:stCondLst>
                                            <p:cond delay="499"/>
                                          </p:stCondLst>
                                        </p:cTn>
                                        <p:tgtEl>
                                          <p:spTgt spid="114712"/>
                                        </p:tgtEl>
                                        <p:attrNameLst>
                                          <p:attrName>style.visibility</p:attrName>
                                        </p:attrNameLst>
                                      </p:cBhvr>
                                      <p:to>
                                        <p:strVal val="hidden"/>
                                      </p:to>
                                    </p:set>
                                  </p:childTnLst>
                                </p:cTn>
                              </p:par>
                            </p:childTnLst>
                          </p:cTn>
                        </p:par>
                        <p:par>
                          <p:cTn id="23" fill="hold">
                            <p:stCondLst>
                              <p:cond delay="2500"/>
                            </p:stCondLst>
                            <p:childTnLst>
                              <p:par>
                                <p:cTn id="24" presetID="3" presetClass="entr" presetSubtype="10" fill="hold" grpId="0" nodeType="afterEffect">
                                  <p:stCondLst>
                                    <p:cond delay="0"/>
                                  </p:stCondLst>
                                  <p:childTnLst>
                                    <p:set>
                                      <p:cBhvr>
                                        <p:cTn id="25" dur="1" fill="hold">
                                          <p:stCondLst>
                                            <p:cond delay="0"/>
                                          </p:stCondLst>
                                        </p:cTn>
                                        <p:tgtEl>
                                          <p:spTgt spid="114723"/>
                                        </p:tgtEl>
                                        <p:attrNameLst>
                                          <p:attrName>style.visibility</p:attrName>
                                        </p:attrNameLst>
                                      </p:cBhvr>
                                      <p:to>
                                        <p:strVal val="visible"/>
                                      </p:to>
                                    </p:set>
                                    <p:animEffect transition="in" filter="blinds(horizontal)">
                                      <p:cBhvr>
                                        <p:cTn id="26" dur="500"/>
                                        <p:tgtEl>
                                          <p:spTgt spid="114723"/>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grpId="2" nodeType="clickEffect">
                                  <p:stCondLst>
                                    <p:cond delay="0"/>
                                  </p:stCondLst>
                                  <p:childTnLst>
                                    <p:animMotion origin="layout" path="M -3.33333E-6 0.08264 L -0.00104 0.11667 " pathEditMode="relative" rAng="0" ptsTypes="AA">
                                      <p:cBhvr>
                                        <p:cTn id="30" dur="2000" fill="hold"/>
                                        <p:tgtEl>
                                          <p:spTgt spid="114718"/>
                                        </p:tgtEl>
                                        <p:attrNameLst>
                                          <p:attrName>ppt_x</p:attrName>
                                          <p:attrName>ppt_y</p:attrName>
                                        </p:attrNameLst>
                                      </p:cBhvr>
                                      <p:rCtr x="-1" y="17"/>
                                    </p:animMotion>
                                  </p:childTnLst>
                                </p:cTn>
                              </p:par>
                            </p:childTnLst>
                          </p:cTn>
                        </p:par>
                        <p:par>
                          <p:cTn id="31" fill="hold">
                            <p:stCondLst>
                              <p:cond delay="2000"/>
                            </p:stCondLst>
                            <p:childTnLst>
                              <p:par>
                                <p:cTn id="32" presetID="64" presetClass="path" presetSubtype="0" accel="50000" decel="50000" fill="hold" grpId="0" nodeType="afterEffect">
                                  <p:stCondLst>
                                    <p:cond delay="0"/>
                                  </p:stCondLst>
                                  <p:childTnLst>
                                    <p:animMotion origin="layout" path="M 0.01441 -0.00995 L 0.01406 -0.08657 " pathEditMode="relative" rAng="0" ptsTypes="AA">
                                      <p:cBhvr>
                                        <p:cTn id="33" dur="2000" fill="hold"/>
                                        <p:tgtEl>
                                          <p:spTgt spid="114694"/>
                                        </p:tgtEl>
                                        <p:attrNameLst>
                                          <p:attrName>ppt_x</p:attrName>
                                          <p:attrName>ppt_y</p:attrName>
                                        </p:attrNameLst>
                                      </p:cBhvr>
                                      <p:rCtr x="0" y="-38"/>
                                    </p:animMotion>
                                  </p:childTnLst>
                                </p:cTn>
                              </p:par>
                            </p:childTnLst>
                          </p:cTn>
                        </p:par>
                        <p:par>
                          <p:cTn id="34" fill="hold">
                            <p:stCondLst>
                              <p:cond delay="4000"/>
                            </p:stCondLst>
                            <p:childTnLst>
                              <p:par>
                                <p:cTn id="35" presetID="3" presetClass="exit" presetSubtype="10" fill="hold" grpId="0" nodeType="afterEffect">
                                  <p:stCondLst>
                                    <p:cond delay="0"/>
                                  </p:stCondLst>
                                  <p:childTnLst>
                                    <p:animEffect transition="out" filter="blinds(horizontal)">
                                      <p:cBhvr>
                                        <p:cTn id="36" dur="500"/>
                                        <p:tgtEl>
                                          <p:spTgt spid="114716"/>
                                        </p:tgtEl>
                                      </p:cBhvr>
                                    </p:animEffect>
                                    <p:set>
                                      <p:cBhvr>
                                        <p:cTn id="37" dur="1" fill="hold">
                                          <p:stCondLst>
                                            <p:cond delay="499"/>
                                          </p:stCondLst>
                                        </p:cTn>
                                        <p:tgtEl>
                                          <p:spTgt spid="114716"/>
                                        </p:tgtEl>
                                        <p:attrNameLst>
                                          <p:attrName>style.visibility</p:attrName>
                                        </p:attrNameLst>
                                      </p:cBhvr>
                                      <p:to>
                                        <p:strVal val="hidden"/>
                                      </p:to>
                                    </p:set>
                                  </p:childTnLst>
                                </p:cTn>
                              </p:par>
                            </p:childTnLst>
                          </p:cTn>
                        </p:par>
                        <p:par>
                          <p:cTn id="38" fill="hold">
                            <p:stCondLst>
                              <p:cond delay="4500"/>
                            </p:stCondLst>
                            <p:childTnLst>
                              <p:par>
                                <p:cTn id="39" presetID="3" presetClass="exit" presetSubtype="10" fill="hold" grpId="0" nodeType="afterEffect">
                                  <p:stCondLst>
                                    <p:cond delay="0"/>
                                  </p:stCondLst>
                                  <p:childTnLst>
                                    <p:animEffect transition="out" filter="blinds(horizontal)">
                                      <p:cBhvr>
                                        <p:cTn id="40" dur="500"/>
                                        <p:tgtEl>
                                          <p:spTgt spid="114715"/>
                                        </p:tgtEl>
                                      </p:cBhvr>
                                    </p:animEffect>
                                    <p:set>
                                      <p:cBhvr>
                                        <p:cTn id="41" dur="1" fill="hold">
                                          <p:stCondLst>
                                            <p:cond delay="499"/>
                                          </p:stCondLst>
                                        </p:cTn>
                                        <p:tgtEl>
                                          <p:spTgt spid="114715"/>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42" presetClass="path" presetSubtype="0" accel="50000" decel="50000" fill="hold" grpId="3" nodeType="clickEffect">
                                  <p:stCondLst>
                                    <p:cond delay="0"/>
                                  </p:stCondLst>
                                  <p:childTnLst>
                                    <p:animMotion origin="layout" path="M -3.33333E-6 0.11875 L -3.33333E-6 0.16111 " pathEditMode="relative" rAng="0" ptsTypes="AA">
                                      <p:cBhvr>
                                        <p:cTn id="45" dur="2000" fill="hold"/>
                                        <p:tgtEl>
                                          <p:spTgt spid="114718"/>
                                        </p:tgtEl>
                                        <p:attrNameLst>
                                          <p:attrName>ppt_x</p:attrName>
                                          <p:attrName>ppt_y</p:attrName>
                                        </p:attrNameLst>
                                      </p:cBhvr>
                                      <p:rCtr x="0" y="21"/>
                                    </p:animMotion>
                                  </p:childTnLst>
                                </p:cTn>
                              </p:par>
                            </p:childTnLst>
                          </p:cTn>
                        </p:par>
                        <p:par>
                          <p:cTn id="46" fill="hold">
                            <p:stCondLst>
                              <p:cond delay="2000"/>
                            </p:stCondLst>
                            <p:childTnLst>
                              <p:par>
                                <p:cTn id="47" presetID="3" presetClass="exit" presetSubtype="10" fill="hold" grpId="0" nodeType="afterEffect">
                                  <p:stCondLst>
                                    <p:cond delay="0"/>
                                  </p:stCondLst>
                                  <p:childTnLst>
                                    <p:animEffect transition="out" filter="blinds(horizontal)">
                                      <p:cBhvr>
                                        <p:cTn id="48" dur="500"/>
                                        <p:tgtEl>
                                          <p:spTgt spid="114690"/>
                                        </p:tgtEl>
                                      </p:cBhvr>
                                    </p:animEffect>
                                    <p:set>
                                      <p:cBhvr>
                                        <p:cTn id="49" dur="1" fill="hold">
                                          <p:stCondLst>
                                            <p:cond delay="499"/>
                                          </p:stCondLst>
                                        </p:cTn>
                                        <p:tgtEl>
                                          <p:spTgt spid="114690"/>
                                        </p:tgtEl>
                                        <p:attrNameLst>
                                          <p:attrName>style.visibility</p:attrName>
                                        </p:attrNameLst>
                                      </p:cBhvr>
                                      <p:to>
                                        <p:strVal val="hidden"/>
                                      </p:to>
                                    </p:set>
                                  </p:childTnLst>
                                </p:cTn>
                              </p:par>
                            </p:childTnLst>
                          </p:cTn>
                        </p:par>
                        <p:par>
                          <p:cTn id="50" fill="hold">
                            <p:stCondLst>
                              <p:cond delay="2500"/>
                            </p:stCondLst>
                            <p:childTnLst>
                              <p:par>
                                <p:cTn id="51" presetID="3" presetClass="entr" presetSubtype="10" fill="hold" grpId="0" nodeType="afterEffect">
                                  <p:stCondLst>
                                    <p:cond delay="0"/>
                                  </p:stCondLst>
                                  <p:childTnLst>
                                    <p:set>
                                      <p:cBhvr>
                                        <p:cTn id="52" dur="1" fill="hold">
                                          <p:stCondLst>
                                            <p:cond delay="0"/>
                                          </p:stCondLst>
                                        </p:cTn>
                                        <p:tgtEl>
                                          <p:spTgt spid="114722"/>
                                        </p:tgtEl>
                                        <p:attrNameLst>
                                          <p:attrName>style.visibility</p:attrName>
                                        </p:attrNameLst>
                                      </p:cBhvr>
                                      <p:to>
                                        <p:strVal val="visible"/>
                                      </p:to>
                                    </p:set>
                                    <p:animEffect transition="in" filter="blinds(horizontal)">
                                      <p:cBhvr>
                                        <p:cTn id="53" dur="500"/>
                                        <p:tgtEl>
                                          <p:spTgt spid="114722"/>
                                        </p:tgtEl>
                                      </p:cBhvr>
                                    </p:animEffect>
                                  </p:childTnLst>
                                </p:cTn>
                              </p:par>
                            </p:childTnLst>
                          </p:cTn>
                        </p:par>
                      </p:childTnLst>
                    </p:cTn>
                  </p:par>
                  <p:par>
                    <p:cTn id="54" fill="hold">
                      <p:stCondLst>
                        <p:cond delay="indefinite"/>
                      </p:stCondLst>
                      <p:childTnLst>
                        <p:par>
                          <p:cTn id="55" fill="hold">
                            <p:stCondLst>
                              <p:cond delay="0"/>
                            </p:stCondLst>
                            <p:childTnLst>
                              <p:par>
                                <p:cTn id="56" presetID="51" presetClass="path" presetSubtype="0" accel="50000" decel="50000" fill="hold" grpId="4" nodeType="clickEffect">
                                  <p:stCondLst>
                                    <p:cond delay="0"/>
                                  </p:stCondLst>
                                  <p:childTnLst>
                                    <p:animMotion origin="layout" path="M -0.00104 0.161 L -0.08142 -0.03956 C -0.09965 -0.08166 -0.10937 -0.14365 -0.10937 -0.20888 C -0.10937 -0.28314 -0.09965 -0.34166 -0.08142 -0.38492 L -0.00104 -0.58293 " pathEditMode="relative" rAng="0" ptsTypes="FffFF">
                                      <p:cBhvr>
                                        <p:cTn id="57" dur="2000" fill="hold"/>
                                        <p:tgtEl>
                                          <p:spTgt spid="114718"/>
                                        </p:tgtEl>
                                        <p:attrNameLst>
                                          <p:attrName>ppt_x</p:attrName>
                                          <p:attrName>ppt_y</p:attrName>
                                        </p:attrNameLst>
                                      </p:cBhvr>
                                      <p:rCtr x="-54" y="-37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p:bldP spid="114694" grpId="0"/>
      <p:bldP spid="114710" grpId="0"/>
      <p:bldP spid="114712" grpId="0"/>
      <p:bldP spid="114715" grpId="0"/>
      <p:bldP spid="114716" grpId="0"/>
      <p:bldP spid="114718" grpId="0" animBg="1"/>
      <p:bldP spid="114718" grpId="1" animBg="1"/>
      <p:bldP spid="114718" grpId="2" animBg="1"/>
      <p:bldP spid="114718" grpId="3" animBg="1"/>
      <p:bldP spid="114718" grpId="4" animBg="1"/>
      <p:bldP spid="114721" grpId="0"/>
      <p:bldP spid="114722" grpId="0"/>
      <p:bldP spid="11472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0" y="0"/>
            <a:ext cx="7010400" cy="533288"/>
          </a:xfrm>
        </p:spPr>
        <p:txBody>
          <a:bodyPr/>
          <a:lstStyle/>
          <a:p>
            <a:pPr>
              <a:defRPr/>
            </a:pPr>
            <a:r>
              <a:rPr lang="en-US" sz="3600" dirty="0"/>
              <a:t>A Look at the Stack for $a0 = 2</a:t>
            </a:r>
          </a:p>
        </p:txBody>
      </p:sp>
      <p:sp>
        <p:nvSpPr>
          <p:cNvPr id="38915" name="Line 39"/>
          <p:cNvSpPr>
            <a:spLocks noChangeShapeType="1"/>
          </p:cNvSpPr>
          <p:nvPr/>
        </p:nvSpPr>
        <p:spPr bwMode="auto">
          <a:xfrm>
            <a:off x="1066800" y="990600"/>
            <a:ext cx="0" cy="3276600"/>
          </a:xfrm>
          <a:prstGeom prst="line">
            <a:avLst/>
          </a:prstGeom>
          <a:noFill/>
          <a:ln w="12700">
            <a:solidFill>
              <a:srgbClr val="000000"/>
            </a:solidFill>
            <a:round/>
            <a:headEnd/>
            <a:tailEnd/>
          </a:ln>
        </p:spPr>
        <p:txBody>
          <a:bodyPr/>
          <a:lstStyle/>
          <a:p>
            <a:endParaRPr lang="en-US"/>
          </a:p>
        </p:txBody>
      </p:sp>
      <p:sp>
        <p:nvSpPr>
          <p:cNvPr id="38916" name="Line 40"/>
          <p:cNvSpPr>
            <a:spLocks noChangeShapeType="1"/>
          </p:cNvSpPr>
          <p:nvPr/>
        </p:nvSpPr>
        <p:spPr bwMode="auto">
          <a:xfrm>
            <a:off x="3048000" y="990600"/>
            <a:ext cx="0" cy="3276600"/>
          </a:xfrm>
          <a:prstGeom prst="line">
            <a:avLst/>
          </a:prstGeom>
          <a:noFill/>
          <a:ln w="12700">
            <a:solidFill>
              <a:srgbClr val="000000"/>
            </a:solidFill>
            <a:round/>
            <a:headEnd/>
            <a:tailEnd/>
          </a:ln>
        </p:spPr>
        <p:txBody>
          <a:bodyPr/>
          <a:lstStyle/>
          <a:p>
            <a:endParaRPr lang="en-US"/>
          </a:p>
        </p:txBody>
      </p:sp>
      <p:sp>
        <p:nvSpPr>
          <p:cNvPr id="38917" name="Text Box 41"/>
          <p:cNvSpPr txBox="1">
            <a:spLocks noChangeArrowheads="1"/>
          </p:cNvSpPr>
          <p:nvPr/>
        </p:nvSpPr>
        <p:spPr bwMode="auto">
          <a:xfrm>
            <a:off x="3013075" y="1143000"/>
            <a:ext cx="873125"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sym typeface="Symbol" pitchFamily="18" charset="2"/>
              </a:rPr>
              <a:t> </a:t>
            </a:r>
            <a:r>
              <a:rPr lang="en-US" sz="1600" b="1">
                <a:solidFill>
                  <a:srgbClr val="000000"/>
                </a:solidFill>
                <a:latin typeface="Courier New" pitchFamily="49" charset="0"/>
              </a:rPr>
              <a:t>$sp</a:t>
            </a:r>
          </a:p>
        </p:txBody>
      </p:sp>
      <p:sp>
        <p:nvSpPr>
          <p:cNvPr id="38918" name="Line 42"/>
          <p:cNvSpPr>
            <a:spLocks noChangeShapeType="1"/>
          </p:cNvSpPr>
          <p:nvPr/>
        </p:nvSpPr>
        <p:spPr bwMode="auto">
          <a:xfrm>
            <a:off x="1066800" y="1219200"/>
            <a:ext cx="1981200" cy="0"/>
          </a:xfrm>
          <a:prstGeom prst="line">
            <a:avLst/>
          </a:prstGeom>
          <a:noFill/>
          <a:ln w="12700">
            <a:solidFill>
              <a:srgbClr val="000000"/>
            </a:solidFill>
            <a:round/>
            <a:headEnd/>
            <a:tailEnd/>
          </a:ln>
        </p:spPr>
        <p:txBody>
          <a:bodyPr/>
          <a:lstStyle/>
          <a:p>
            <a:endParaRPr lang="en-US"/>
          </a:p>
        </p:txBody>
      </p:sp>
      <p:sp>
        <p:nvSpPr>
          <p:cNvPr id="38919" name="Line 43"/>
          <p:cNvSpPr>
            <a:spLocks noChangeShapeType="1"/>
          </p:cNvSpPr>
          <p:nvPr/>
        </p:nvSpPr>
        <p:spPr bwMode="auto">
          <a:xfrm>
            <a:off x="1066800" y="1524000"/>
            <a:ext cx="1981200" cy="0"/>
          </a:xfrm>
          <a:prstGeom prst="line">
            <a:avLst/>
          </a:prstGeom>
          <a:noFill/>
          <a:ln w="12700">
            <a:solidFill>
              <a:srgbClr val="000000"/>
            </a:solidFill>
            <a:round/>
            <a:headEnd/>
            <a:tailEnd/>
          </a:ln>
        </p:spPr>
        <p:txBody>
          <a:bodyPr/>
          <a:lstStyle/>
          <a:p>
            <a:endParaRPr lang="en-US"/>
          </a:p>
        </p:txBody>
      </p:sp>
      <p:sp>
        <p:nvSpPr>
          <p:cNvPr id="38920" name="Rectangle 44"/>
          <p:cNvSpPr>
            <a:spLocks noChangeArrowheads="1"/>
          </p:cNvSpPr>
          <p:nvPr/>
        </p:nvSpPr>
        <p:spPr bwMode="auto">
          <a:xfrm>
            <a:off x="1066800" y="47244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8921" name="Text Box 45"/>
          <p:cNvSpPr txBox="1">
            <a:spLocks noChangeArrowheads="1"/>
          </p:cNvSpPr>
          <p:nvPr/>
        </p:nvSpPr>
        <p:spPr bwMode="auto">
          <a:xfrm>
            <a:off x="3124200" y="47244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$ra</a:t>
            </a:r>
          </a:p>
        </p:txBody>
      </p:sp>
      <p:sp>
        <p:nvSpPr>
          <p:cNvPr id="38922" name="Line 46"/>
          <p:cNvSpPr>
            <a:spLocks noChangeShapeType="1"/>
          </p:cNvSpPr>
          <p:nvPr/>
        </p:nvSpPr>
        <p:spPr bwMode="auto">
          <a:xfrm>
            <a:off x="1066800" y="1828800"/>
            <a:ext cx="1981200" cy="0"/>
          </a:xfrm>
          <a:prstGeom prst="line">
            <a:avLst/>
          </a:prstGeom>
          <a:noFill/>
          <a:ln w="12700">
            <a:solidFill>
              <a:srgbClr val="000000"/>
            </a:solidFill>
            <a:round/>
            <a:headEnd/>
            <a:tailEnd/>
          </a:ln>
        </p:spPr>
        <p:txBody>
          <a:bodyPr/>
          <a:lstStyle/>
          <a:p>
            <a:endParaRPr lang="en-US"/>
          </a:p>
        </p:txBody>
      </p:sp>
      <p:sp>
        <p:nvSpPr>
          <p:cNvPr id="38923" name="Line 47"/>
          <p:cNvSpPr>
            <a:spLocks noChangeShapeType="1"/>
          </p:cNvSpPr>
          <p:nvPr/>
        </p:nvSpPr>
        <p:spPr bwMode="auto">
          <a:xfrm>
            <a:off x="1066800" y="2133600"/>
            <a:ext cx="1981200" cy="0"/>
          </a:xfrm>
          <a:prstGeom prst="line">
            <a:avLst/>
          </a:prstGeom>
          <a:noFill/>
          <a:ln w="12700">
            <a:solidFill>
              <a:srgbClr val="000000"/>
            </a:solidFill>
            <a:round/>
            <a:headEnd/>
            <a:tailEnd/>
          </a:ln>
        </p:spPr>
        <p:txBody>
          <a:bodyPr/>
          <a:lstStyle/>
          <a:p>
            <a:endParaRPr lang="en-US"/>
          </a:p>
        </p:txBody>
      </p:sp>
      <p:sp>
        <p:nvSpPr>
          <p:cNvPr id="38924" name="Line 48"/>
          <p:cNvSpPr>
            <a:spLocks noChangeShapeType="1"/>
          </p:cNvSpPr>
          <p:nvPr/>
        </p:nvSpPr>
        <p:spPr bwMode="auto">
          <a:xfrm>
            <a:off x="1066800" y="2438400"/>
            <a:ext cx="1981200" cy="0"/>
          </a:xfrm>
          <a:prstGeom prst="line">
            <a:avLst/>
          </a:prstGeom>
          <a:noFill/>
          <a:ln w="12700">
            <a:solidFill>
              <a:srgbClr val="000000"/>
            </a:solidFill>
            <a:round/>
            <a:headEnd/>
            <a:tailEnd/>
          </a:ln>
        </p:spPr>
        <p:txBody>
          <a:bodyPr/>
          <a:lstStyle/>
          <a:p>
            <a:endParaRPr lang="en-US"/>
          </a:p>
        </p:txBody>
      </p:sp>
      <p:sp>
        <p:nvSpPr>
          <p:cNvPr id="38925" name="Line 49"/>
          <p:cNvSpPr>
            <a:spLocks noChangeShapeType="1"/>
          </p:cNvSpPr>
          <p:nvPr/>
        </p:nvSpPr>
        <p:spPr bwMode="auto">
          <a:xfrm>
            <a:off x="1066800" y="2743200"/>
            <a:ext cx="1981200" cy="0"/>
          </a:xfrm>
          <a:prstGeom prst="line">
            <a:avLst/>
          </a:prstGeom>
          <a:noFill/>
          <a:ln w="12700">
            <a:solidFill>
              <a:srgbClr val="000000"/>
            </a:solidFill>
            <a:round/>
            <a:headEnd/>
            <a:tailEnd/>
          </a:ln>
        </p:spPr>
        <p:txBody>
          <a:bodyPr/>
          <a:lstStyle/>
          <a:p>
            <a:endParaRPr lang="en-US"/>
          </a:p>
        </p:txBody>
      </p:sp>
      <p:sp>
        <p:nvSpPr>
          <p:cNvPr id="38926" name="Line 50"/>
          <p:cNvSpPr>
            <a:spLocks noChangeShapeType="1"/>
          </p:cNvSpPr>
          <p:nvPr/>
        </p:nvSpPr>
        <p:spPr bwMode="auto">
          <a:xfrm>
            <a:off x="1066800" y="3048000"/>
            <a:ext cx="1981200" cy="0"/>
          </a:xfrm>
          <a:prstGeom prst="line">
            <a:avLst/>
          </a:prstGeom>
          <a:noFill/>
          <a:ln w="12700">
            <a:solidFill>
              <a:srgbClr val="000000"/>
            </a:solidFill>
            <a:round/>
            <a:headEnd/>
            <a:tailEnd/>
          </a:ln>
        </p:spPr>
        <p:txBody>
          <a:bodyPr/>
          <a:lstStyle/>
          <a:p>
            <a:endParaRPr lang="en-US"/>
          </a:p>
        </p:txBody>
      </p:sp>
      <p:sp>
        <p:nvSpPr>
          <p:cNvPr id="38927" name="Line 51"/>
          <p:cNvSpPr>
            <a:spLocks noChangeShapeType="1"/>
          </p:cNvSpPr>
          <p:nvPr/>
        </p:nvSpPr>
        <p:spPr bwMode="auto">
          <a:xfrm>
            <a:off x="1066800" y="3352800"/>
            <a:ext cx="1981200" cy="0"/>
          </a:xfrm>
          <a:prstGeom prst="line">
            <a:avLst/>
          </a:prstGeom>
          <a:noFill/>
          <a:ln w="12700">
            <a:solidFill>
              <a:srgbClr val="000000"/>
            </a:solidFill>
            <a:round/>
            <a:headEnd/>
            <a:tailEnd/>
          </a:ln>
        </p:spPr>
        <p:txBody>
          <a:bodyPr/>
          <a:lstStyle/>
          <a:p>
            <a:endParaRPr lang="en-US"/>
          </a:p>
        </p:txBody>
      </p:sp>
      <p:sp>
        <p:nvSpPr>
          <p:cNvPr id="38928" name="Line 52"/>
          <p:cNvSpPr>
            <a:spLocks noChangeShapeType="1"/>
          </p:cNvSpPr>
          <p:nvPr/>
        </p:nvSpPr>
        <p:spPr bwMode="auto">
          <a:xfrm>
            <a:off x="1066800" y="3657600"/>
            <a:ext cx="1981200" cy="0"/>
          </a:xfrm>
          <a:prstGeom prst="line">
            <a:avLst/>
          </a:prstGeom>
          <a:noFill/>
          <a:ln w="12700">
            <a:solidFill>
              <a:srgbClr val="000000"/>
            </a:solidFill>
            <a:round/>
            <a:headEnd/>
            <a:tailEnd/>
          </a:ln>
        </p:spPr>
        <p:txBody>
          <a:bodyPr/>
          <a:lstStyle/>
          <a:p>
            <a:endParaRPr lang="en-US"/>
          </a:p>
        </p:txBody>
      </p:sp>
      <p:sp>
        <p:nvSpPr>
          <p:cNvPr id="38929" name="Rectangle 53"/>
          <p:cNvSpPr>
            <a:spLocks noChangeArrowheads="1"/>
          </p:cNvSpPr>
          <p:nvPr/>
        </p:nvSpPr>
        <p:spPr bwMode="auto">
          <a:xfrm>
            <a:off x="1066800" y="54102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8930" name="Text Box 54"/>
          <p:cNvSpPr txBox="1">
            <a:spLocks noChangeArrowheads="1"/>
          </p:cNvSpPr>
          <p:nvPr/>
        </p:nvSpPr>
        <p:spPr bwMode="auto">
          <a:xfrm>
            <a:off x="3124200" y="54102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$a0</a:t>
            </a:r>
          </a:p>
        </p:txBody>
      </p:sp>
      <p:sp>
        <p:nvSpPr>
          <p:cNvPr id="38931" name="Rectangle 55"/>
          <p:cNvSpPr>
            <a:spLocks noChangeArrowheads="1"/>
          </p:cNvSpPr>
          <p:nvPr/>
        </p:nvSpPr>
        <p:spPr bwMode="auto">
          <a:xfrm>
            <a:off x="1066800" y="6096000"/>
            <a:ext cx="1981200" cy="304800"/>
          </a:xfrm>
          <a:prstGeom prst="rect">
            <a:avLst/>
          </a:prstGeom>
          <a:noFill/>
          <a:ln w="12700">
            <a:solidFill>
              <a:srgbClr val="000000"/>
            </a:solidFill>
            <a:miter lim="800000"/>
            <a:headEnd/>
            <a:tailEnd/>
          </a:ln>
        </p:spPr>
        <p:txBody>
          <a:bodyPr wrap="none" anchor="ctr"/>
          <a:lstStyle/>
          <a:p>
            <a:endParaRPr lang="en-US"/>
          </a:p>
        </p:txBody>
      </p:sp>
      <p:sp>
        <p:nvSpPr>
          <p:cNvPr id="38932" name="Text Box 56"/>
          <p:cNvSpPr txBox="1">
            <a:spLocks noChangeArrowheads="1"/>
          </p:cNvSpPr>
          <p:nvPr/>
        </p:nvSpPr>
        <p:spPr bwMode="auto">
          <a:xfrm>
            <a:off x="3124200" y="6096000"/>
            <a:ext cx="55086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$v0</a:t>
            </a:r>
          </a:p>
        </p:txBody>
      </p:sp>
      <p:sp>
        <p:nvSpPr>
          <p:cNvPr id="38933" name="Rectangle 58"/>
          <p:cNvSpPr>
            <a:spLocks noChangeArrowheads="1"/>
          </p:cNvSpPr>
          <p:nvPr/>
        </p:nvSpPr>
        <p:spPr bwMode="auto">
          <a:xfrm>
            <a:off x="1219200" y="4800600"/>
            <a:ext cx="1752600" cy="228600"/>
          </a:xfrm>
          <a:prstGeom prst="rect">
            <a:avLst/>
          </a:prstGeom>
          <a:noFill/>
          <a:ln w="12700">
            <a:noFill/>
            <a:miter lim="800000"/>
            <a:headEnd/>
            <a:tailEnd/>
          </a:ln>
        </p:spPr>
        <p:txBody>
          <a:bodyPr wrap="none" anchor="ctr"/>
          <a:lstStyle/>
          <a:p>
            <a:endParaRPr lang="en-US"/>
          </a:p>
        </p:txBody>
      </p:sp>
      <p:sp>
        <p:nvSpPr>
          <p:cNvPr id="38934" name="Text Box 60"/>
          <p:cNvSpPr txBox="1">
            <a:spLocks noChangeArrowheads="1"/>
          </p:cNvSpPr>
          <p:nvPr/>
        </p:nvSpPr>
        <p:spPr bwMode="auto">
          <a:xfrm>
            <a:off x="1524000" y="1219200"/>
            <a:ext cx="1039813"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old TOS</a:t>
            </a:r>
          </a:p>
        </p:txBody>
      </p:sp>
      <p:sp>
        <p:nvSpPr>
          <p:cNvPr id="38935" name="Text Box 63"/>
          <p:cNvSpPr txBox="1">
            <a:spLocks noChangeArrowheads="1"/>
          </p:cNvSpPr>
          <p:nvPr/>
        </p:nvSpPr>
        <p:spPr bwMode="auto">
          <a:xfrm>
            <a:off x="1905000" y="54102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2</a:t>
            </a:r>
            <a:endParaRPr lang="en-US" b="1">
              <a:solidFill>
                <a:srgbClr val="000000"/>
              </a:solidFill>
            </a:endParaRPr>
          </a:p>
        </p:txBody>
      </p:sp>
      <p:sp>
        <p:nvSpPr>
          <p:cNvPr id="38936" name="Text Box 64"/>
          <p:cNvSpPr txBox="1">
            <a:spLocks noChangeArrowheads="1"/>
          </p:cNvSpPr>
          <p:nvPr/>
        </p:nvSpPr>
        <p:spPr bwMode="auto">
          <a:xfrm>
            <a:off x="1905000" y="6096000"/>
            <a:ext cx="306388" cy="336550"/>
          </a:xfrm>
          <a:prstGeom prst="rect">
            <a:avLst/>
          </a:prstGeom>
          <a:noFill/>
          <a:ln w="12700">
            <a:noFill/>
            <a:miter lim="800000"/>
            <a:headEnd/>
            <a:tailEnd/>
          </a:ln>
        </p:spPr>
        <p:txBody>
          <a:bodyPr wrap="none">
            <a:spAutoFit/>
          </a:bodyPr>
          <a:lstStyle/>
          <a:p>
            <a:pPr eaLnBrk="0" hangingPunct="0"/>
            <a:r>
              <a:rPr lang="en-US" sz="1600" b="1">
                <a:solidFill>
                  <a:srgbClr val="000000"/>
                </a:solidFill>
                <a:latin typeface="Courier New" pitchFamily="49" charset="0"/>
              </a:rPr>
              <a:t>2</a:t>
            </a:r>
          </a:p>
        </p:txBody>
      </p:sp>
      <p:sp>
        <p:nvSpPr>
          <p:cNvPr id="38937" name="Text Box 65"/>
          <p:cNvSpPr txBox="1">
            <a:spLocks noChangeArrowheads="1"/>
          </p:cNvSpPr>
          <p:nvPr/>
        </p:nvSpPr>
        <p:spPr bwMode="auto">
          <a:xfrm>
            <a:off x="1066800" y="4662488"/>
            <a:ext cx="2095500" cy="366712"/>
          </a:xfrm>
          <a:prstGeom prst="rect">
            <a:avLst/>
          </a:prstGeom>
          <a:noFill/>
          <a:ln w="12700">
            <a:noFill/>
            <a:miter lim="800000"/>
            <a:headEnd/>
            <a:tailEnd/>
          </a:ln>
        </p:spPr>
        <p:txBody>
          <a:bodyPr wrap="none">
            <a:spAutoFit/>
          </a:bodyPr>
          <a:lstStyle/>
          <a:p>
            <a:pPr eaLnBrk="0" hangingPunct="0"/>
            <a:r>
              <a:rPr lang="en-US" b="1">
                <a:solidFill>
                  <a:srgbClr val="000000"/>
                </a:solidFill>
                <a:latin typeface="Courier New" pitchFamily="49" charset="0"/>
              </a:rPr>
              <a:t>caller rt addr</a:t>
            </a:r>
          </a:p>
        </p:txBody>
      </p:sp>
      <p:sp>
        <p:nvSpPr>
          <p:cNvPr id="89154" name="Rectangle 66"/>
          <p:cNvSpPr>
            <a:spLocks noChangeArrowheads="1"/>
          </p:cNvSpPr>
          <p:nvPr/>
        </p:nvSpPr>
        <p:spPr bwMode="auto">
          <a:xfrm>
            <a:off x="4495800" y="1371600"/>
            <a:ext cx="4267200" cy="3663950"/>
          </a:xfrm>
          <a:prstGeom prst="rect">
            <a:avLst/>
          </a:prstGeom>
          <a:noFill/>
          <a:ln w="12700">
            <a:noFill/>
            <a:miter lim="800000"/>
            <a:headEnd/>
            <a:tailEnd/>
          </a:ln>
        </p:spPr>
        <p:txBody>
          <a:bodyPr lIns="63500" tIns="25400" rIns="63500" bIns="25400">
            <a:spAutoFit/>
          </a:bodyPr>
          <a:lstStyle/>
          <a:p>
            <a:pPr marL="342900" indent="-342900">
              <a:spcBef>
                <a:spcPct val="20000"/>
              </a:spcBef>
              <a:buFontTx/>
              <a:buChar char="•"/>
            </a:pPr>
            <a:r>
              <a:rPr lang="en-US" sz="2000">
                <a:solidFill>
                  <a:srgbClr val="583E14"/>
                </a:solidFill>
                <a:latin typeface="Palatino Linotype" pitchFamily="18" charset="0"/>
              </a:rPr>
              <a:t>Stack state after execution of second encounter with the second </a:t>
            </a:r>
            <a:r>
              <a:rPr lang="en-US" sz="2000">
                <a:solidFill>
                  <a:srgbClr val="583E14"/>
                </a:solidFill>
                <a:latin typeface="Courier New" pitchFamily="49" charset="0"/>
              </a:rPr>
              <a:t>jr</a:t>
            </a:r>
            <a:r>
              <a:rPr lang="en-US" sz="2000">
                <a:solidFill>
                  <a:srgbClr val="583E14"/>
                </a:solidFill>
                <a:latin typeface="Palatino Linotype" pitchFamily="18" charset="0"/>
              </a:rPr>
              <a:t> instruction (return from fact routine after updating </a:t>
            </a:r>
            <a:r>
              <a:rPr lang="en-US" sz="2000">
                <a:solidFill>
                  <a:srgbClr val="583E14"/>
                </a:solidFill>
                <a:latin typeface="Courier New" pitchFamily="49" charset="0"/>
              </a:rPr>
              <a:t>$v0</a:t>
            </a:r>
            <a:r>
              <a:rPr lang="en-US" sz="2000">
                <a:solidFill>
                  <a:srgbClr val="583E14"/>
                </a:solidFill>
                <a:latin typeface="Palatino Linotype" pitchFamily="18" charset="0"/>
              </a:rPr>
              <a:t> to          1 * 1 * 2)</a:t>
            </a:r>
          </a:p>
          <a:p>
            <a:pPr marL="742950" lvl="1" indent="-285750">
              <a:spcBef>
                <a:spcPct val="20000"/>
              </a:spcBef>
              <a:buFontTx/>
              <a:buChar char="–"/>
            </a:pPr>
            <a:r>
              <a:rPr lang="en-US">
                <a:solidFill>
                  <a:srgbClr val="008000"/>
                </a:solidFill>
                <a:latin typeface="Palatino Linotype" pitchFamily="18" charset="0"/>
              </a:rPr>
              <a:t>return address to caller routine (main routine) restored to </a:t>
            </a:r>
            <a:r>
              <a:rPr lang="en-US">
                <a:solidFill>
                  <a:srgbClr val="008000"/>
                </a:solidFill>
                <a:latin typeface="Courier New" pitchFamily="49" charset="0"/>
              </a:rPr>
              <a:t>$ra</a:t>
            </a:r>
            <a:r>
              <a:rPr lang="en-US">
                <a:solidFill>
                  <a:srgbClr val="008000"/>
                </a:solidFill>
                <a:latin typeface="Palatino Linotype" pitchFamily="18" charset="0"/>
              </a:rPr>
              <a:t> from the stack</a:t>
            </a:r>
          </a:p>
          <a:p>
            <a:pPr marL="742950" lvl="1" indent="-285750">
              <a:spcBef>
                <a:spcPct val="20000"/>
              </a:spcBef>
              <a:buFontTx/>
              <a:buChar char="–"/>
            </a:pPr>
            <a:r>
              <a:rPr lang="en-US">
                <a:solidFill>
                  <a:srgbClr val="008000"/>
                </a:solidFill>
                <a:latin typeface="Palatino Linotype" pitchFamily="18" charset="0"/>
              </a:rPr>
              <a:t>original value of </a:t>
            </a:r>
            <a:r>
              <a:rPr lang="en-US">
                <a:solidFill>
                  <a:srgbClr val="008000"/>
                </a:solidFill>
                <a:latin typeface="Courier New" pitchFamily="49" charset="0"/>
              </a:rPr>
              <a:t>$a0</a:t>
            </a:r>
            <a:r>
              <a:rPr lang="en-US">
                <a:solidFill>
                  <a:srgbClr val="008000"/>
                </a:solidFill>
                <a:latin typeface="Palatino Linotype" pitchFamily="18" charset="0"/>
              </a:rPr>
              <a:t> restored from the stack</a:t>
            </a:r>
          </a:p>
          <a:p>
            <a:pPr marL="742950" lvl="1" indent="-285750">
              <a:spcBef>
                <a:spcPct val="20000"/>
              </a:spcBef>
              <a:buFontTx/>
              <a:buChar char="–"/>
            </a:pPr>
            <a:r>
              <a:rPr lang="en-US">
                <a:solidFill>
                  <a:srgbClr val="008000"/>
                </a:solidFill>
                <a:latin typeface="Palatino Linotype" pitchFamily="18" charset="0"/>
              </a:rPr>
              <a:t>stack pointer updated to point to </a:t>
            </a:r>
            <a:r>
              <a:rPr lang="en-US" i="1">
                <a:solidFill>
                  <a:schemeClr val="accent1"/>
                </a:solidFill>
                <a:latin typeface="Palatino Linotype" pitchFamily="18" charset="0"/>
              </a:rPr>
              <a:t>first</a:t>
            </a:r>
            <a:r>
              <a:rPr lang="en-US">
                <a:solidFill>
                  <a:srgbClr val="008000"/>
                </a:solidFill>
                <a:latin typeface="Palatino Linotype" pitchFamily="18" charset="0"/>
              </a:rPr>
              <a:t> call to fact</a:t>
            </a:r>
          </a:p>
        </p:txBody>
      </p:sp>
      <p:sp>
        <p:nvSpPr>
          <p:cNvPr id="38939" name="Rectangle 67"/>
          <p:cNvSpPr>
            <a:spLocks noChangeArrowheads="1"/>
          </p:cNvSpPr>
          <p:nvPr/>
        </p:nvSpPr>
        <p:spPr bwMode="auto">
          <a:xfrm>
            <a:off x="7086600" y="76200"/>
            <a:ext cx="1981200" cy="1370013"/>
          </a:xfrm>
          <a:prstGeom prst="rect">
            <a:avLst/>
          </a:prstGeom>
          <a:solidFill>
            <a:srgbClr val="CC99FF"/>
          </a:solidFill>
          <a:ln w="9525">
            <a:noFill/>
            <a:miter lim="800000"/>
            <a:headEnd/>
            <a:tailEnd/>
          </a:ln>
        </p:spPr>
        <p:txBody>
          <a:bodyPr>
            <a:spAutoFit/>
          </a:bodyPr>
          <a:lstStyle/>
          <a:p>
            <a:r>
              <a:rPr lang="en-US" sz="1200">
                <a:solidFill>
                  <a:srgbClr val="0000FF"/>
                </a:solidFill>
              </a:rPr>
              <a:t>int fact (int n) </a:t>
            </a:r>
          </a:p>
          <a:p>
            <a:r>
              <a:rPr lang="en-US" sz="1200">
                <a:solidFill>
                  <a:srgbClr val="0000FF"/>
                </a:solidFill>
              </a:rPr>
              <a:t>{</a:t>
            </a:r>
          </a:p>
          <a:p>
            <a:r>
              <a:rPr lang="en-US" sz="1200">
                <a:solidFill>
                  <a:srgbClr val="0000FF"/>
                </a:solidFill>
              </a:rPr>
              <a:t>    if (n &lt; 1) </a:t>
            </a:r>
          </a:p>
          <a:p>
            <a:r>
              <a:rPr lang="en-US" sz="1200">
                <a:solidFill>
                  <a:srgbClr val="0000FF"/>
                </a:solidFill>
              </a:rPr>
              <a:t>        return 1;</a:t>
            </a:r>
          </a:p>
          <a:p>
            <a:r>
              <a:rPr lang="en-US" sz="1200">
                <a:solidFill>
                  <a:srgbClr val="0000FF"/>
                </a:solidFill>
              </a:rPr>
              <a:t>    else </a:t>
            </a:r>
          </a:p>
          <a:p>
            <a:r>
              <a:rPr lang="en-US" sz="1200">
                <a:solidFill>
                  <a:srgbClr val="0000FF"/>
                </a:solidFill>
              </a:rPr>
              <a:t>        return (n * fact (n-1)); </a:t>
            </a:r>
          </a:p>
          <a:p>
            <a:r>
              <a:rPr lang="en-US" sz="1200">
                <a:solidFill>
                  <a:srgbClr val="0000FF"/>
                </a:solidFill>
              </a:rPr>
              <a:t>}</a:t>
            </a:r>
          </a:p>
        </p:txBody>
      </p:sp>
    </p:spTree>
    <p:extLst>
      <p:ext uri="{BB962C8B-B14F-4D97-AF65-F5344CB8AC3E}">
        <p14:creationId xmlns:p14="http://schemas.microsoft.com/office/powerpoint/2010/main" val="14559481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5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 Copy in C  (Read on your own)</a:t>
            </a:r>
            <a:endParaRPr lang="en-US" dirty="0"/>
          </a:p>
        </p:txBody>
      </p:sp>
      <p:sp>
        <p:nvSpPr>
          <p:cNvPr id="3" name="Content Placeholder 2"/>
          <p:cNvSpPr>
            <a:spLocks noGrp="1"/>
          </p:cNvSpPr>
          <p:nvPr>
            <p:ph idx="1"/>
          </p:nvPr>
        </p:nvSpPr>
        <p:spPr>
          <a:xfrm>
            <a:off x="685800" y="914400"/>
            <a:ext cx="7848600" cy="2627386"/>
          </a:xfrm>
        </p:spPr>
        <p:txBody>
          <a:bodyPr/>
          <a:lstStyle/>
          <a:p>
            <a:r>
              <a:rPr lang="en-US" dirty="0" smtClean="0"/>
              <a:t>Copy string </a:t>
            </a:r>
            <a:r>
              <a:rPr lang="en-US" dirty="0" smtClean="0">
                <a:latin typeface="Courier New" pitchFamily="49" charset="0"/>
                <a:cs typeface="Courier New" pitchFamily="49" charset="0"/>
              </a:rPr>
              <a:t>y</a:t>
            </a:r>
            <a:r>
              <a:rPr lang="en-US" dirty="0" smtClean="0"/>
              <a:t> to string </a:t>
            </a:r>
            <a:r>
              <a:rPr lang="en-US" dirty="0" smtClean="0">
                <a:latin typeface="Courier New" pitchFamily="49" charset="0"/>
                <a:cs typeface="Courier New" pitchFamily="49" charset="0"/>
              </a:rPr>
              <a:t>x</a:t>
            </a:r>
            <a:r>
              <a:rPr lang="en-US" dirty="0" smtClean="0"/>
              <a:t> (null byte termination)</a:t>
            </a:r>
          </a:p>
          <a:p>
            <a:pPr lvl="3"/>
            <a:endParaRPr lang="en-US" sz="1600" dirty="0" smtClean="0"/>
          </a:p>
          <a:p>
            <a:pPr>
              <a:spcBef>
                <a:spcPts val="0"/>
              </a:spcBef>
              <a:buNone/>
            </a:pPr>
            <a:r>
              <a:rPr lang="en-US" dirty="0" smtClean="0">
                <a:latin typeface="Courier New" pitchFamily="49" charset="0"/>
                <a:cs typeface="Courier New" pitchFamily="49" charset="0"/>
              </a:rPr>
              <a:t>void </a:t>
            </a:r>
            <a:r>
              <a:rPr lang="en-US" dirty="0" err="1" smtClean="0">
                <a:latin typeface="Courier New" pitchFamily="49" charset="0"/>
                <a:cs typeface="Courier New" pitchFamily="49" charset="0"/>
              </a:rPr>
              <a:t>stcp</a:t>
            </a:r>
            <a:r>
              <a:rPr lang="en-US" dirty="0" smtClean="0">
                <a:latin typeface="Courier New" pitchFamily="49" charset="0"/>
                <a:cs typeface="Courier New" pitchFamily="49" charset="0"/>
              </a:rPr>
              <a:t> (char x[], char y[])</a:t>
            </a:r>
          </a:p>
          <a:p>
            <a:pPr>
              <a:spcBef>
                <a:spcPts val="0"/>
              </a:spcBef>
              <a:buNone/>
            </a:pP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int</a:t>
            </a: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a:t>
            </a:r>
          </a:p>
          <a:p>
            <a:pPr>
              <a:spcBef>
                <a:spcPts val="0"/>
              </a:spcBef>
              <a:buNone/>
            </a:pP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 0;</a:t>
            </a:r>
          </a:p>
          <a:p>
            <a:pPr>
              <a:spcBef>
                <a:spcPts val="0"/>
              </a:spcBef>
              <a:buNone/>
            </a:pPr>
            <a:r>
              <a:rPr lang="en-US" dirty="0" smtClean="0">
                <a:latin typeface="Courier New" pitchFamily="49" charset="0"/>
                <a:cs typeface="Courier New" pitchFamily="49" charset="0"/>
              </a:rPr>
              <a:t>		while ((x[</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 y[</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 ‘\0’)</a:t>
            </a:r>
          </a:p>
          <a:p>
            <a:pPr>
              <a:spcBef>
                <a:spcPts val="0"/>
              </a:spcBef>
              <a:buNone/>
            </a:pP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 1;	}</a:t>
            </a:r>
            <a:endParaRPr lang="en-US" dirty="0">
              <a:latin typeface="Courier New" pitchFamily="49" charset="0"/>
              <a:cs typeface="Courier New" pitchFamily="49" charset="0"/>
            </a:endParaRPr>
          </a:p>
        </p:txBody>
      </p:sp>
      <p:sp>
        <p:nvSpPr>
          <p:cNvPr id="4" name="Content Placeholder 2"/>
          <p:cNvSpPr txBox="1">
            <a:spLocks/>
          </p:cNvSpPr>
          <p:nvPr/>
        </p:nvSpPr>
        <p:spPr bwMode="auto">
          <a:xfrm>
            <a:off x="642910" y="4643446"/>
            <a:ext cx="7848600" cy="789960"/>
          </a:xfrm>
          <a:prstGeom prst="rect">
            <a:avLst/>
          </a:prstGeom>
          <a:noFill/>
          <a:ln w="12700">
            <a:noFill/>
            <a:miter lim="800000"/>
            <a:headEnd/>
            <a:tailEnd/>
          </a:ln>
          <a:effectLst/>
        </p:spPr>
        <p:txBody>
          <a:bodyPr vert="horz" wrap="square" lIns="63500" tIns="25400" rIns="63500" bIns="25400" numCol="1" anchor="t" anchorCtr="0" compatLnSpc="1">
            <a:prstTxWarp prst="textNoShape">
              <a:avLst/>
            </a:prstTxWarp>
            <a:spAutoFit/>
          </a:bodyPr>
          <a:lstStyle/>
          <a:p>
            <a:pPr marL="287338" marR="0" lvl="0" indent="-287338" algn="l" defTabSz="914400" rtl="0" eaLnBrk="0" fontAlgn="base" latinLnBrk="0" hangingPunct="0">
              <a:lnSpc>
                <a:spcPct val="100000"/>
              </a:lnSpc>
              <a:spcBef>
                <a:spcPct val="30000"/>
              </a:spcBef>
              <a:spcAft>
                <a:spcPct val="0"/>
              </a:spcAft>
              <a:buClr>
                <a:schemeClr val="accent1"/>
              </a:buClr>
              <a:buSzPct val="75000"/>
              <a:buFont typeface="Wingdings" pitchFamily="2" charset="2"/>
              <a:buChar char="q"/>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Assume the base addresses for arrays </a:t>
            </a:r>
            <a:r>
              <a:rPr kumimoji="0" lang="en-US" sz="2400" b="0" i="0" u="none" strike="noStrike" kern="0" cap="none" spc="0" normalizeH="0" baseline="0" noProof="0" dirty="0" smtClean="0">
                <a:ln>
                  <a:noFill/>
                </a:ln>
                <a:solidFill>
                  <a:schemeClr val="tx1"/>
                </a:solidFill>
                <a:effectLst/>
                <a:uLnTx/>
                <a:uFillTx/>
                <a:latin typeface="Courier New" pitchFamily="49" charset="0"/>
                <a:cs typeface="Courier New" pitchFamily="49" charset="0"/>
              </a:rPr>
              <a:t>x</a:t>
            </a:r>
            <a:r>
              <a:rPr kumimoji="0" lang="en-US" sz="2400" b="0" i="0" u="none" strike="noStrike" kern="0" cap="none" spc="0" normalizeH="0" baseline="0" noProof="0" dirty="0" smtClean="0">
                <a:ln>
                  <a:noFill/>
                </a:ln>
                <a:solidFill>
                  <a:schemeClr val="tx1"/>
                </a:solidFill>
                <a:effectLst/>
                <a:uLnTx/>
                <a:uFillTx/>
                <a:latin typeface="+mn-lt"/>
                <a:ea typeface="+mn-ea"/>
                <a:cs typeface="+mn-cs"/>
              </a:rPr>
              <a:t> and</a:t>
            </a:r>
            <a:r>
              <a:rPr kumimoji="0" lang="en-US" sz="2400" b="0" i="0" u="none" strike="noStrike" kern="0" cap="none" spc="0" normalizeH="0" baseline="0" noProof="0" dirty="0" smtClean="0">
                <a:ln>
                  <a:noFill/>
                </a:ln>
                <a:solidFill>
                  <a:schemeClr val="tx1"/>
                </a:solidFill>
                <a:effectLst/>
                <a:uLnTx/>
                <a:uFillTx/>
                <a:latin typeface="Courier New" pitchFamily="49" charset="0"/>
                <a:cs typeface="Courier New" pitchFamily="49" charset="0"/>
              </a:rPr>
              <a:t> y </a:t>
            </a:r>
            <a:r>
              <a:rPr kumimoji="0" lang="en-US" sz="2400" b="0" i="0" u="none" strike="noStrike" kern="0" cap="none" spc="0" normalizeH="0" baseline="0" noProof="0" dirty="0" smtClean="0">
                <a:ln>
                  <a:noFill/>
                </a:ln>
                <a:solidFill>
                  <a:schemeClr val="tx1"/>
                </a:solidFill>
                <a:effectLst/>
                <a:uLnTx/>
                <a:uFillTx/>
                <a:latin typeface="+mn-lt"/>
                <a:ea typeface="+mn-ea"/>
                <a:cs typeface="+mn-cs"/>
              </a:rPr>
              <a:t>are found in</a:t>
            </a:r>
            <a:r>
              <a:rPr kumimoji="0" lang="en-US" sz="2400" b="0" i="0" u="none" strike="noStrike" kern="0" cap="none" spc="0" normalizeH="0" noProof="0" dirty="0" smtClean="0">
                <a:ln>
                  <a:noFill/>
                </a:ln>
                <a:solidFill>
                  <a:schemeClr val="tx1"/>
                </a:solidFill>
                <a:effectLst/>
                <a:uLnTx/>
                <a:uFillTx/>
                <a:latin typeface="+mn-lt"/>
                <a:ea typeface="+mn-ea"/>
                <a:cs typeface="+mn-cs"/>
              </a:rPr>
              <a:t> </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$a0 </a:t>
            </a:r>
            <a:r>
              <a:rPr kumimoji="0" lang="en-US" sz="2400" b="0" i="0" u="none" strike="noStrike" kern="0" cap="none" spc="0" normalizeH="0" noProof="0" dirty="0" smtClean="0">
                <a:ln>
                  <a:noFill/>
                </a:ln>
                <a:solidFill>
                  <a:schemeClr val="tx1"/>
                </a:solidFill>
                <a:effectLst/>
                <a:uLnTx/>
                <a:uFillTx/>
                <a:latin typeface="+mn-lt"/>
                <a:ea typeface="+mn-ea"/>
                <a:cs typeface="+mn-cs"/>
              </a:rPr>
              <a:t>and </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$a1</a:t>
            </a:r>
            <a:r>
              <a:rPr kumimoji="0" lang="en-US" sz="2400" b="0" i="0" u="none" strike="noStrike" kern="0" cap="none" spc="0" normalizeH="0" noProof="0" dirty="0" smtClean="0">
                <a:ln>
                  <a:noFill/>
                </a:ln>
                <a:solidFill>
                  <a:schemeClr val="tx1"/>
                </a:solidFill>
                <a:effectLst/>
                <a:uLnTx/>
                <a:uFillTx/>
                <a:latin typeface="+mn-lt"/>
                <a:ea typeface="+mn-ea"/>
                <a:cs typeface="+mn-cs"/>
              </a:rPr>
              <a:t>, and</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 </a:t>
            </a:r>
            <a:r>
              <a:rPr kumimoji="0" lang="en-US" sz="2400" b="0" i="0" u="none" strike="noStrike" kern="0" cap="none" spc="0" normalizeH="0" noProof="0" dirty="0" err="1" smtClean="0">
                <a:ln>
                  <a:noFill/>
                </a:ln>
                <a:solidFill>
                  <a:schemeClr val="tx1"/>
                </a:solidFill>
                <a:effectLst/>
                <a:uLnTx/>
                <a:uFillTx/>
                <a:latin typeface="Courier New" pitchFamily="49" charset="0"/>
                <a:cs typeface="Courier New" pitchFamily="49" charset="0"/>
              </a:rPr>
              <a:t>i</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 </a:t>
            </a:r>
            <a:r>
              <a:rPr kumimoji="0" lang="en-US" sz="2400" b="0" i="0" u="none" strike="noStrike" kern="0" cap="none" spc="0" normalizeH="0" noProof="0" dirty="0" smtClean="0">
                <a:ln>
                  <a:noFill/>
                </a:ln>
                <a:solidFill>
                  <a:schemeClr val="tx1"/>
                </a:solidFill>
                <a:effectLst/>
                <a:uLnTx/>
                <a:uFillTx/>
                <a:latin typeface="+mn-lt"/>
                <a:ea typeface="+mn-ea"/>
                <a:cs typeface="+mn-cs"/>
              </a:rPr>
              <a:t>is in </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$s0</a:t>
            </a:r>
            <a:endParaRPr kumimoji="0" lang="en-US" sz="2400" b="0" i="0" u="none" strike="noStrike" kern="0" cap="none" spc="0" normalizeH="0" baseline="0" noProof="0" dirty="0">
              <a:ln>
                <a:noFill/>
              </a:ln>
              <a:solidFill>
                <a:schemeClr val="tx1"/>
              </a:solidFill>
              <a:effectLst/>
              <a:uLnTx/>
              <a:uFillTx/>
              <a:latin typeface="Courier New" pitchFamily="49" charset="0"/>
              <a:cs typeface="Courier New" pitchFamily="49" charset="0"/>
            </a:endParaRPr>
          </a:p>
        </p:txBody>
      </p:sp>
    </p:spTree>
    <p:extLst>
      <p:ext uri="{BB962C8B-B14F-4D97-AF65-F5344CB8AC3E}">
        <p14:creationId xmlns:p14="http://schemas.microsoft.com/office/powerpoint/2010/main" val="11674660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 Copy </a:t>
            </a:r>
            <a:r>
              <a:rPr lang="en-US" dirty="0"/>
              <a:t>(Read on your own)</a:t>
            </a:r>
          </a:p>
        </p:txBody>
      </p:sp>
      <p:sp>
        <p:nvSpPr>
          <p:cNvPr id="5" name="Rectangle 3"/>
          <p:cNvSpPr txBox="1">
            <a:spLocks noChangeArrowheads="1"/>
          </p:cNvSpPr>
          <p:nvPr/>
        </p:nvSpPr>
        <p:spPr bwMode="auto">
          <a:xfrm>
            <a:off x="428596" y="1083765"/>
            <a:ext cx="8686800" cy="4774127"/>
          </a:xfrm>
          <a:prstGeom prst="rect">
            <a:avLst/>
          </a:prstGeom>
          <a:noFill/>
          <a:ln w="12700">
            <a:noFill/>
            <a:miter lim="800000"/>
            <a:headEnd/>
            <a:tailEnd/>
          </a:ln>
          <a:effectLst/>
        </p:spPr>
        <p:txBody>
          <a:bodyPr vert="horz" wrap="square" lIns="63500" tIns="25400" rIns="63500" bIns="25400" numCol="1" anchor="t" anchorCtr="0" compatLnSpc="1">
            <a:prstTxWarp prst="textNoShape">
              <a:avLst/>
            </a:prstTxWarp>
            <a:spAutoFit/>
          </a:bodyPr>
          <a:lstStyle/>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stcp</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addi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$sp, $sp, -4	#adjust stack pointer</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sw</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$s0, 0($sp)	#save $s0 on stack</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add	$s0,</a:t>
            </a:r>
            <a:r>
              <a:rPr kumimoji="0" lang="en-US" sz="2200" b="0" i="0" u="none" strike="noStrike" kern="0" cap="none" spc="0" normalizeH="0" noProof="0" dirty="0" smtClean="0">
                <a:ln>
                  <a:noFill/>
                </a:ln>
                <a:solidFill>
                  <a:schemeClr val="tx1"/>
                </a:solidFill>
                <a:effectLst/>
                <a:uLnTx/>
                <a:uFillTx/>
                <a:latin typeface="Courier New" pitchFamily="49" charset="0"/>
                <a:ea typeface="+mn-ea"/>
                <a:cs typeface="+mn-cs"/>
              </a:rPr>
              <a:t> $zero, $zero</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 0 + 0</a:t>
            </a:r>
          </a:p>
          <a:p>
            <a:pPr marL="287338" lvl="0" indent="-287338">
              <a:lnSpc>
                <a:spcPct val="65000"/>
              </a:lnSpc>
              <a:spcBef>
                <a:spcPct val="30000"/>
              </a:spcBef>
              <a:buClr>
                <a:schemeClr val="accent1"/>
              </a:buClr>
              <a:buSzPct val="75000"/>
            </a:pPr>
            <a:r>
              <a:rPr lang="en-US" sz="2200" kern="0" dirty="0" smtClean="0">
                <a:solidFill>
                  <a:schemeClr val="tx1"/>
                </a:solidFill>
                <a:latin typeface="Courier New" pitchFamily="49" charset="0"/>
              </a:rPr>
              <a:t>		#loop in L1 until encounter NULL</a:t>
            </a:r>
            <a:endPar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endParaRP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L1:	add	$t1, $s0, $a1	#address of y[</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in $t1</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lbu</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$t2, 0($t1)	#$t2 = y[</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add	$t3, $s0, $a0	#address of x[</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in $t1</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sb</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$t2, 0($t3)	#x[</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 y[</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i="0" u="none" strike="noStrike" kern="0" cap="none" spc="0" normalizeH="0" baseline="0" noProof="0" dirty="0" err="1" smtClean="0">
                <a:ln>
                  <a:noFill/>
                </a:ln>
                <a:solidFill>
                  <a:schemeClr val="tx1"/>
                </a:solidFill>
                <a:effectLst/>
                <a:uLnTx/>
                <a:uFillTx/>
                <a:latin typeface="Courier New" pitchFamily="49" charset="0"/>
                <a:ea typeface="+mn-ea"/>
                <a:cs typeface="+mn-cs"/>
              </a:rPr>
              <a:t>beq</a:t>
            </a:r>
            <a:r>
              <a:rPr kumimoji="0" lang="en-US" sz="2200" i="0" u="none" strike="noStrike" kern="0" cap="none" spc="0" normalizeH="0" baseline="0" noProof="0" dirty="0" smtClean="0">
                <a:ln>
                  <a:noFill/>
                </a:ln>
                <a:solidFill>
                  <a:schemeClr val="tx1"/>
                </a:solidFill>
                <a:effectLst/>
                <a:uLnTx/>
                <a:uFillTx/>
                <a:latin typeface="Courier New" pitchFamily="49" charset="0"/>
                <a:ea typeface="+mn-ea"/>
                <a:cs typeface="+mn-cs"/>
              </a:rPr>
              <a:t>	$t2, $zero, L2</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#if y[</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==0, done</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addi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$s0, $s0, 1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+ 1</a:t>
            </a:r>
          </a:p>
          <a:p>
            <a:pPr marL="287338" lvl="0" indent="-287338">
              <a:lnSpc>
                <a:spcPct val="65000"/>
              </a:lnSpc>
              <a:spcBef>
                <a:spcPct val="30000"/>
              </a:spcBef>
              <a:buClr>
                <a:schemeClr val="accent1"/>
              </a:buClr>
              <a:buSzPct val="75000"/>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i="0" u="none" strike="noStrike" kern="0" cap="none" spc="0" normalizeH="0" baseline="0" noProof="0" dirty="0" smtClean="0">
                <a:ln>
                  <a:noFill/>
                </a:ln>
                <a:solidFill>
                  <a:schemeClr val="tx1"/>
                </a:solidFill>
                <a:effectLst/>
                <a:uLnTx/>
                <a:uFillTx/>
                <a:latin typeface="Courier New" pitchFamily="49" charset="0"/>
                <a:ea typeface="+mn-ea"/>
                <a:cs typeface="+mn-cs"/>
              </a:rPr>
              <a:t>j	L1</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lang="en-US" sz="2200" kern="0" dirty="0" smtClean="0">
                <a:solidFill>
                  <a:schemeClr val="tx1"/>
                </a:solidFill>
                <a:latin typeface="Courier New" pitchFamily="49" charset="0"/>
              </a:rPr>
              <a:t>	#go to copy more chars</a:t>
            </a:r>
            <a:endPar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endParaRP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#almost done, just pop the stack</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L2: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lw</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$s0, 0($sp)	#restore $s0 from stack</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b="0" i="0" u="none" strike="noStrike" kern="0" cap="none" spc="0" normalizeH="0" baseline="0" noProof="0" dirty="0" err="1" smtClean="0">
                <a:ln>
                  <a:noFill/>
                </a:ln>
                <a:solidFill>
                  <a:schemeClr val="tx1"/>
                </a:solidFill>
                <a:effectLst/>
                <a:uLnTx/>
                <a:uFillTx/>
                <a:latin typeface="Courier New" pitchFamily="49" charset="0"/>
                <a:ea typeface="+mn-ea"/>
                <a:cs typeface="+mn-cs"/>
              </a:rPr>
              <a:t>addi</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$sp, $sp, 4	#adjust stack pointer</a:t>
            </a:r>
          </a:p>
          <a:p>
            <a:pPr marL="287338" marR="0" lvl="0" indent="-287338" algn="l" defTabSz="914400" rtl="0" eaLnBrk="0" fontAlgn="base" latinLnBrk="0" hangingPunct="0">
              <a:lnSpc>
                <a:spcPct val="65000"/>
              </a:lnSpc>
              <a:spcBef>
                <a:spcPct val="30000"/>
              </a:spcBef>
              <a:spcAft>
                <a:spcPct val="0"/>
              </a:spcAft>
              <a:buClr>
                <a:schemeClr val="accent1"/>
              </a:buClr>
              <a:buSzPct val="75000"/>
              <a:buFont typeface="Wingdings" pitchFamily="2" charset="2"/>
              <a:buNone/>
              <a:tabLst/>
              <a:defRPr/>
            </a:pP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i="0" u="none" strike="noStrike" kern="0" cap="none" spc="0" normalizeH="0" baseline="0" noProof="0" dirty="0" err="1" smtClean="0">
                <a:ln>
                  <a:noFill/>
                </a:ln>
                <a:solidFill>
                  <a:schemeClr val="tx1"/>
                </a:solidFill>
                <a:effectLst/>
                <a:uLnTx/>
                <a:uFillTx/>
                <a:latin typeface="Courier New" pitchFamily="49" charset="0"/>
                <a:ea typeface="+mn-ea"/>
                <a:cs typeface="+mn-cs"/>
              </a:rPr>
              <a:t>jr</a:t>
            </a:r>
            <a:r>
              <a:rPr kumimoji="0" lang="en-US" sz="2200" i="0" u="none" strike="noStrike" kern="0" cap="none" spc="0" normalizeH="0" baseline="0" noProof="0" dirty="0" smtClean="0">
                <a:ln>
                  <a:noFill/>
                </a:ln>
                <a:solidFill>
                  <a:schemeClr val="tx1"/>
                </a:solidFill>
                <a:effectLst/>
                <a:uLnTx/>
                <a:uFillTx/>
                <a:latin typeface="Courier New" pitchFamily="49" charset="0"/>
                <a:ea typeface="+mn-ea"/>
                <a:cs typeface="+mn-cs"/>
              </a:rPr>
              <a:t>	$</a:t>
            </a:r>
            <a:r>
              <a:rPr kumimoji="0" lang="en-US" sz="2200" i="0" u="none" strike="noStrike" kern="0" cap="none" spc="0" normalizeH="0" baseline="0" noProof="0" dirty="0" err="1" smtClean="0">
                <a:ln>
                  <a:noFill/>
                </a:ln>
                <a:solidFill>
                  <a:schemeClr val="tx1"/>
                </a:solidFill>
                <a:effectLst/>
                <a:uLnTx/>
                <a:uFillTx/>
                <a:latin typeface="Courier New" pitchFamily="49" charset="0"/>
                <a:ea typeface="+mn-ea"/>
                <a:cs typeface="+mn-cs"/>
              </a:rPr>
              <a:t>ra</a:t>
            </a:r>
            <a:r>
              <a:rPr kumimoji="0" lang="en-US" sz="2200" b="0" i="0" u="none" strike="noStrike" kern="0" cap="none" spc="0" normalizeH="0" baseline="0" noProof="0" dirty="0" smtClean="0">
                <a:ln>
                  <a:noFill/>
                </a:ln>
                <a:solidFill>
                  <a:schemeClr val="tx1"/>
                </a:solidFill>
                <a:effectLst/>
                <a:uLnTx/>
                <a:uFillTx/>
                <a:latin typeface="Courier New" pitchFamily="49" charset="0"/>
                <a:ea typeface="+mn-ea"/>
                <a:cs typeface="+mn-cs"/>
              </a:rPr>
              <a:t>			#return to caller</a:t>
            </a:r>
            <a:endParaRPr kumimoji="0" lang="en-US" sz="2200" b="0" i="0" u="none" strike="noStrike" kern="0" cap="none" spc="0" normalizeH="0" baseline="0" noProof="0" dirty="0">
              <a:ln>
                <a:noFill/>
              </a:ln>
              <a:solidFill>
                <a:schemeClr val="tx1"/>
              </a:solidFill>
              <a:effectLst/>
              <a:uLnTx/>
              <a:uFillTx/>
              <a:latin typeface="Courier New" pitchFamily="49" charset="0"/>
              <a:ea typeface="+mn-ea"/>
              <a:cs typeface="+mn-cs"/>
            </a:endParaRPr>
          </a:p>
        </p:txBody>
      </p:sp>
    </p:spTree>
    <p:extLst>
      <p:ext uri="{BB962C8B-B14F-4D97-AF65-F5344CB8AC3E}">
        <p14:creationId xmlns:p14="http://schemas.microsoft.com/office/powerpoint/2010/main" val="441558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r>
              <a:rPr lang="en-US" dirty="0"/>
              <a:t>Nested </a:t>
            </a:r>
            <a:r>
              <a:rPr lang="en-US" dirty="0" smtClean="0"/>
              <a:t>Procedures (Read on your own)</a:t>
            </a:r>
            <a:endParaRPr lang="en-US" dirty="0"/>
          </a:p>
        </p:txBody>
      </p:sp>
      <p:sp>
        <p:nvSpPr>
          <p:cNvPr id="423939" name="Rectangle 3"/>
          <p:cNvSpPr>
            <a:spLocks noGrp="1" noChangeArrowheads="1"/>
          </p:cNvSpPr>
          <p:nvPr>
            <p:ph type="body" idx="1"/>
          </p:nvPr>
        </p:nvSpPr>
        <p:spPr>
          <a:xfrm>
            <a:off x="609600" y="762000"/>
            <a:ext cx="7848600" cy="1949450"/>
          </a:xfrm>
        </p:spPr>
        <p:txBody>
          <a:bodyPr/>
          <a:lstStyle/>
          <a:p>
            <a:r>
              <a:rPr lang="en-US" dirty="0"/>
              <a:t>What happens to return addresses with nested procedures?</a:t>
            </a:r>
            <a:endParaRPr lang="en-US" dirty="0">
              <a:latin typeface="Courier New" pitchFamily="49" charset="0"/>
            </a:endParaRPr>
          </a:p>
          <a:p>
            <a:pPr>
              <a:lnSpc>
                <a:spcPct val="60000"/>
              </a:lnSpc>
              <a:buFont typeface="Wingdings" pitchFamily="2" charset="2"/>
              <a:buNone/>
            </a:pPr>
            <a:r>
              <a:rPr lang="en-US" dirty="0">
                <a:latin typeface="Courier New" pitchFamily="49" charset="0"/>
              </a:rPr>
              <a:t>	</a:t>
            </a:r>
            <a:r>
              <a:rPr lang="en-US" dirty="0" err="1">
                <a:latin typeface="Courier New" pitchFamily="49" charset="0"/>
              </a:rPr>
              <a:t>int</a:t>
            </a:r>
            <a:r>
              <a:rPr lang="en-US" dirty="0">
                <a:latin typeface="Courier New" pitchFamily="49" charset="0"/>
              </a:rPr>
              <a:t> rt_1 (</a:t>
            </a:r>
            <a:r>
              <a:rPr lang="en-US" dirty="0" err="1">
                <a:latin typeface="Courier New" pitchFamily="49" charset="0"/>
              </a:rPr>
              <a:t>int</a:t>
            </a:r>
            <a:r>
              <a:rPr lang="en-US" dirty="0">
                <a:latin typeface="Courier New" pitchFamily="49" charset="0"/>
              </a:rPr>
              <a:t> </a:t>
            </a:r>
            <a:r>
              <a:rPr lang="en-US" dirty="0" err="1">
                <a:latin typeface="Courier New" pitchFamily="49" charset="0"/>
              </a:rPr>
              <a:t>i</a:t>
            </a:r>
            <a:r>
              <a:rPr lang="en-US" dirty="0">
                <a:latin typeface="Courier New" pitchFamily="49" charset="0"/>
              </a:rPr>
              <a:t>) {</a:t>
            </a:r>
          </a:p>
          <a:p>
            <a:pPr>
              <a:lnSpc>
                <a:spcPct val="60000"/>
              </a:lnSpc>
              <a:buFont typeface="Wingdings" pitchFamily="2" charset="2"/>
              <a:buNone/>
            </a:pPr>
            <a:r>
              <a:rPr lang="en-US" dirty="0">
                <a:latin typeface="Courier New" pitchFamily="49" charset="0"/>
              </a:rPr>
              <a:t>		if (</a:t>
            </a:r>
            <a:r>
              <a:rPr lang="en-US" dirty="0" err="1">
                <a:latin typeface="Courier New" pitchFamily="49" charset="0"/>
              </a:rPr>
              <a:t>i</a:t>
            </a:r>
            <a:r>
              <a:rPr lang="en-US" dirty="0">
                <a:latin typeface="Courier New" pitchFamily="49" charset="0"/>
              </a:rPr>
              <a:t> == 0) return 0;</a:t>
            </a:r>
          </a:p>
          <a:p>
            <a:pPr>
              <a:lnSpc>
                <a:spcPct val="60000"/>
              </a:lnSpc>
              <a:buFont typeface="Wingdings" pitchFamily="2" charset="2"/>
              <a:buNone/>
            </a:pPr>
            <a:r>
              <a:rPr lang="en-US" dirty="0">
                <a:latin typeface="Courier New" pitchFamily="49" charset="0"/>
              </a:rPr>
              <a:t>			else return rt_2(i-1); }</a:t>
            </a:r>
          </a:p>
        </p:txBody>
      </p:sp>
      <p:sp>
        <p:nvSpPr>
          <p:cNvPr id="423940" name="Rectangle 4"/>
          <p:cNvSpPr>
            <a:spLocks noChangeArrowheads="1"/>
          </p:cNvSpPr>
          <p:nvPr/>
        </p:nvSpPr>
        <p:spPr bwMode="auto">
          <a:xfrm>
            <a:off x="1142976" y="2857496"/>
            <a:ext cx="7173440" cy="3429000"/>
          </a:xfrm>
          <a:prstGeom prst="rect">
            <a:avLst/>
          </a:prstGeom>
          <a:noFill/>
          <a:ln w="12700">
            <a:noFill/>
            <a:miter lim="800000"/>
            <a:headEnd/>
            <a:tailEnd/>
          </a:ln>
          <a:effectLst/>
        </p:spPr>
        <p:txBody>
          <a:bodyPr lIns="90488" tIns="44450" rIns="90488" bIns="44450"/>
          <a:lstStyle/>
          <a:p>
            <a:pPr marL="342900" indent="-342900">
              <a:lnSpc>
                <a:spcPct val="8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caller:	</a:t>
            </a:r>
            <a:r>
              <a:rPr lang="en-US" sz="2400" dirty="0" err="1">
                <a:solidFill>
                  <a:schemeClr val="tx1"/>
                </a:solidFill>
                <a:latin typeface="Courier New" pitchFamily="49" charset="0"/>
              </a:rPr>
              <a:t>jal</a:t>
            </a:r>
            <a:r>
              <a:rPr lang="en-US" sz="2400" dirty="0">
                <a:solidFill>
                  <a:schemeClr val="tx1"/>
                </a:solidFill>
                <a:latin typeface="Courier New" pitchFamily="49" charset="0"/>
              </a:rPr>
              <a:t>	rt_1</a:t>
            </a:r>
            <a:br>
              <a:rPr lang="en-US" sz="2400" dirty="0">
                <a:solidFill>
                  <a:schemeClr val="tx1"/>
                </a:solidFill>
                <a:latin typeface="Courier New" pitchFamily="49" charset="0"/>
              </a:rPr>
            </a:br>
            <a:r>
              <a:rPr lang="en-US" sz="2400" dirty="0">
                <a:solidFill>
                  <a:schemeClr val="tx1"/>
                </a:solidFill>
                <a:latin typeface="Courier New" pitchFamily="49" charset="0"/>
              </a:rPr>
              <a:t>next:	. . .</a:t>
            </a:r>
          </a:p>
          <a:p>
            <a:pPr marL="342900" indent="-342900">
              <a:lnSpc>
                <a:spcPct val="20000"/>
              </a:lnSpc>
              <a:spcBef>
                <a:spcPct val="65000"/>
              </a:spcBef>
              <a:buClr>
                <a:schemeClr val="accent1"/>
              </a:buClr>
              <a:buSzPct val="75000"/>
              <a:buFont typeface="Wingdings" pitchFamily="2" charset="2"/>
              <a:buNone/>
            </a:pPr>
            <a:endParaRPr lang="en-US" sz="1600" dirty="0">
              <a:solidFill>
                <a:schemeClr val="tx1"/>
              </a:solidFill>
              <a:latin typeface="Courier New" pitchFamily="49" charset="0"/>
            </a:endParaRPr>
          </a:p>
          <a:p>
            <a:pPr marL="342900" indent="-342900">
              <a:lnSpc>
                <a:spcPct val="2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rt_1:	</a:t>
            </a:r>
            <a:r>
              <a:rPr lang="en-US" sz="2400" dirty="0" err="1">
                <a:solidFill>
                  <a:schemeClr val="tx1"/>
                </a:solidFill>
                <a:latin typeface="Courier New" pitchFamily="49" charset="0"/>
              </a:rPr>
              <a:t>bne</a:t>
            </a:r>
            <a:r>
              <a:rPr lang="en-US" sz="2400" dirty="0">
                <a:solidFill>
                  <a:schemeClr val="tx1"/>
                </a:solidFill>
                <a:latin typeface="Courier New" pitchFamily="49" charset="0"/>
              </a:rPr>
              <a:t>	$a0, $zero, to_2</a:t>
            </a:r>
          </a:p>
          <a:p>
            <a:pPr marL="342900" indent="-342900">
              <a:lnSpc>
                <a:spcPct val="2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add	$v0, $zero, $zero</a:t>
            </a:r>
          </a:p>
          <a:p>
            <a:pPr marL="342900" indent="-342900">
              <a:lnSpc>
                <a:spcPct val="2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a:t>
            </a:r>
            <a:r>
              <a:rPr lang="en-US" sz="2400" dirty="0" err="1">
                <a:solidFill>
                  <a:schemeClr val="tx1"/>
                </a:solidFill>
                <a:latin typeface="Courier New" pitchFamily="49" charset="0"/>
              </a:rPr>
              <a:t>jr</a:t>
            </a:r>
            <a:r>
              <a:rPr lang="en-US" sz="2400" dirty="0">
                <a:solidFill>
                  <a:schemeClr val="tx1"/>
                </a:solidFill>
                <a:latin typeface="Courier New" pitchFamily="49" charset="0"/>
              </a:rPr>
              <a:t>	$</a:t>
            </a:r>
            <a:r>
              <a:rPr lang="en-US" sz="2400" dirty="0" err="1">
                <a:solidFill>
                  <a:schemeClr val="tx1"/>
                </a:solidFill>
                <a:latin typeface="Courier New" pitchFamily="49" charset="0"/>
              </a:rPr>
              <a:t>ra</a:t>
            </a:r>
            <a:endParaRPr lang="en-US" sz="2400" dirty="0">
              <a:solidFill>
                <a:schemeClr val="tx1"/>
              </a:solidFill>
              <a:latin typeface="Courier New" pitchFamily="49" charset="0"/>
            </a:endParaRPr>
          </a:p>
          <a:p>
            <a:pPr marL="342900" indent="-342900">
              <a:lnSpc>
                <a:spcPct val="2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to_2:	</a:t>
            </a:r>
            <a:r>
              <a:rPr lang="en-US" sz="2400" dirty="0" err="1">
                <a:solidFill>
                  <a:schemeClr val="tx1"/>
                </a:solidFill>
                <a:latin typeface="Courier New" pitchFamily="49" charset="0"/>
              </a:rPr>
              <a:t>addi</a:t>
            </a:r>
            <a:r>
              <a:rPr lang="en-US" sz="2400" dirty="0">
                <a:solidFill>
                  <a:schemeClr val="tx1"/>
                </a:solidFill>
                <a:latin typeface="Courier New" pitchFamily="49" charset="0"/>
              </a:rPr>
              <a:t>	$a0, $a0, -</a:t>
            </a:r>
            <a:r>
              <a:rPr lang="en-US" sz="2400" smtClean="0">
                <a:solidFill>
                  <a:schemeClr val="tx1"/>
                </a:solidFill>
                <a:latin typeface="Courier New" pitchFamily="49" charset="0"/>
              </a:rPr>
              <a:t>1 #(for i-1)</a:t>
            </a:r>
            <a:endParaRPr lang="en-US" sz="2400" dirty="0">
              <a:solidFill>
                <a:schemeClr val="tx1"/>
              </a:solidFill>
              <a:latin typeface="Courier New" pitchFamily="49" charset="0"/>
            </a:endParaRPr>
          </a:p>
          <a:p>
            <a:pPr marL="342900" indent="-342900">
              <a:lnSpc>
                <a:spcPct val="20000"/>
              </a:lnSpc>
              <a:spcBef>
                <a:spcPct val="65000"/>
              </a:spcBef>
              <a:buClr>
                <a:schemeClr val="accent1"/>
              </a:buClr>
              <a:buSzPct val="75000"/>
              <a:buFont typeface="Wingdings" pitchFamily="2" charset="2"/>
              <a:buNone/>
            </a:pPr>
            <a:r>
              <a:rPr lang="en-US" sz="2400" dirty="0">
                <a:latin typeface="Courier New" pitchFamily="49" charset="0"/>
              </a:rPr>
              <a:t>			</a:t>
            </a:r>
            <a:r>
              <a:rPr lang="en-US" sz="2400" dirty="0" err="1">
                <a:latin typeface="Courier New" pitchFamily="49" charset="0"/>
              </a:rPr>
              <a:t>jal</a:t>
            </a:r>
            <a:r>
              <a:rPr lang="en-US" sz="2400" dirty="0">
                <a:latin typeface="Courier New" pitchFamily="49" charset="0"/>
              </a:rPr>
              <a:t>	rt_2</a:t>
            </a:r>
            <a:r>
              <a:rPr lang="en-US" sz="2400" dirty="0">
                <a:solidFill>
                  <a:schemeClr val="tx1"/>
                </a:solidFill>
                <a:latin typeface="Courier New" pitchFamily="49" charset="0"/>
              </a:rPr>
              <a:t>	</a:t>
            </a:r>
          </a:p>
          <a:p>
            <a:pPr marL="342900" indent="-342900">
              <a:lnSpc>
                <a:spcPct val="2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a:t>
            </a:r>
            <a:r>
              <a:rPr lang="en-US" sz="2400" dirty="0" err="1">
                <a:solidFill>
                  <a:schemeClr val="tx1"/>
                </a:solidFill>
                <a:latin typeface="Courier New" pitchFamily="49" charset="0"/>
              </a:rPr>
              <a:t>jr</a:t>
            </a:r>
            <a:r>
              <a:rPr lang="en-US" sz="2400" dirty="0">
                <a:solidFill>
                  <a:schemeClr val="tx1"/>
                </a:solidFill>
                <a:latin typeface="Courier New" pitchFamily="49" charset="0"/>
              </a:rPr>
              <a:t>	$</a:t>
            </a:r>
            <a:r>
              <a:rPr lang="en-US" sz="2400" dirty="0" err="1">
                <a:solidFill>
                  <a:schemeClr val="tx1"/>
                </a:solidFill>
                <a:latin typeface="Courier New" pitchFamily="49" charset="0"/>
              </a:rPr>
              <a:t>ra</a:t>
            </a:r>
            <a:endParaRPr lang="en-US" sz="2400" dirty="0">
              <a:solidFill>
                <a:schemeClr val="tx1"/>
              </a:solidFill>
              <a:latin typeface="Courier New" pitchFamily="49" charset="0"/>
            </a:endParaRPr>
          </a:p>
          <a:p>
            <a:pPr marL="342900" indent="-342900">
              <a:lnSpc>
                <a:spcPct val="20000"/>
              </a:lnSpc>
              <a:spcBef>
                <a:spcPct val="65000"/>
              </a:spcBef>
              <a:buClr>
                <a:schemeClr val="accent1"/>
              </a:buClr>
              <a:buSzPct val="75000"/>
              <a:buFont typeface="Wingdings" pitchFamily="2" charset="2"/>
              <a:buNone/>
            </a:pPr>
            <a:endParaRPr lang="en-US" sz="1600" dirty="0">
              <a:solidFill>
                <a:schemeClr val="tx1"/>
              </a:solidFill>
              <a:latin typeface="Courier New" pitchFamily="49" charset="0"/>
            </a:endParaRPr>
          </a:p>
          <a:p>
            <a:pPr marL="342900" indent="-342900">
              <a:lnSpc>
                <a:spcPct val="20000"/>
              </a:lnSpc>
              <a:spcBef>
                <a:spcPct val="65000"/>
              </a:spcBef>
              <a:buClr>
                <a:schemeClr val="accent1"/>
              </a:buClr>
              <a:buSzPct val="75000"/>
              <a:buFont typeface="Wingdings" pitchFamily="2" charset="2"/>
              <a:buNone/>
            </a:pPr>
            <a:r>
              <a:rPr lang="en-US" sz="2400" dirty="0">
                <a:solidFill>
                  <a:schemeClr val="tx1"/>
                </a:solidFill>
                <a:latin typeface="Courier New" pitchFamily="49" charset="0"/>
              </a:rPr>
              <a:t>	rt_2:	. . .</a:t>
            </a:r>
          </a:p>
        </p:txBody>
      </p:sp>
    </p:spTree>
    <p:extLst>
      <p:ext uri="{BB962C8B-B14F-4D97-AF65-F5344CB8AC3E}">
        <p14:creationId xmlns:p14="http://schemas.microsoft.com/office/powerpoint/2010/main" val="480183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39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0"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r>
              <a:rPr lang="en-US"/>
              <a:t>Nested Procedures Outcome</a:t>
            </a:r>
          </a:p>
        </p:txBody>
      </p:sp>
      <p:sp>
        <p:nvSpPr>
          <p:cNvPr id="388099" name="Rectangle 3"/>
          <p:cNvSpPr>
            <a:spLocks noGrp="1" noChangeArrowheads="1"/>
          </p:cNvSpPr>
          <p:nvPr>
            <p:ph type="body" idx="1"/>
          </p:nvPr>
        </p:nvSpPr>
        <p:spPr>
          <a:xfrm>
            <a:off x="1219200" y="838200"/>
            <a:ext cx="7010400" cy="3513138"/>
          </a:xfrm>
        </p:spPr>
        <p:txBody>
          <a:bodyPr/>
          <a:lstStyle/>
          <a:p>
            <a:pPr>
              <a:lnSpc>
                <a:spcPct val="80000"/>
              </a:lnSpc>
              <a:spcBef>
                <a:spcPct val="0"/>
              </a:spcBef>
              <a:buFont typeface="Wingdings" pitchFamily="2" charset="2"/>
              <a:buNone/>
            </a:pPr>
            <a:r>
              <a:rPr lang="en-US" dirty="0">
                <a:latin typeface="Courier New" pitchFamily="49" charset="0"/>
              </a:rPr>
              <a:t>	caller:	</a:t>
            </a:r>
            <a:r>
              <a:rPr lang="en-US" dirty="0" err="1">
                <a:latin typeface="Courier New" pitchFamily="49" charset="0"/>
              </a:rPr>
              <a:t>jal</a:t>
            </a:r>
            <a:r>
              <a:rPr lang="en-US" dirty="0">
                <a:latin typeface="Courier New" pitchFamily="49" charset="0"/>
              </a:rPr>
              <a:t>	rt_1</a:t>
            </a:r>
            <a:br>
              <a:rPr lang="en-US" dirty="0">
                <a:latin typeface="Courier New" pitchFamily="49" charset="0"/>
              </a:rPr>
            </a:br>
            <a:r>
              <a:rPr lang="en-US" dirty="0">
                <a:latin typeface="Courier New" pitchFamily="49" charset="0"/>
              </a:rPr>
              <a:t>next:	. . .</a:t>
            </a:r>
          </a:p>
          <a:p>
            <a:pPr>
              <a:lnSpc>
                <a:spcPct val="80000"/>
              </a:lnSpc>
              <a:spcBef>
                <a:spcPct val="0"/>
              </a:spcBef>
              <a:buFont typeface="Wingdings" pitchFamily="2" charset="2"/>
              <a:buNone/>
            </a:pPr>
            <a:endParaRPr lang="en-US" sz="1600" dirty="0">
              <a:latin typeface="Courier New" pitchFamily="49" charset="0"/>
            </a:endParaRPr>
          </a:p>
          <a:p>
            <a:pPr>
              <a:lnSpc>
                <a:spcPct val="80000"/>
              </a:lnSpc>
              <a:spcBef>
                <a:spcPct val="0"/>
              </a:spcBef>
              <a:buFont typeface="Wingdings" pitchFamily="2" charset="2"/>
              <a:buNone/>
            </a:pPr>
            <a:r>
              <a:rPr lang="en-US" dirty="0">
                <a:latin typeface="Courier New" pitchFamily="49" charset="0"/>
              </a:rPr>
              <a:t>	rt_1:	</a:t>
            </a:r>
            <a:r>
              <a:rPr lang="en-US" dirty="0" err="1">
                <a:latin typeface="Courier New" pitchFamily="49" charset="0"/>
              </a:rPr>
              <a:t>bne</a:t>
            </a:r>
            <a:r>
              <a:rPr lang="en-US" dirty="0">
                <a:latin typeface="Courier New" pitchFamily="49" charset="0"/>
              </a:rPr>
              <a:t>	$a0, $zero, to_2</a:t>
            </a:r>
          </a:p>
          <a:p>
            <a:pPr>
              <a:lnSpc>
                <a:spcPct val="80000"/>
              </a:lnSpc>
              <a:spcBef>
                <a:spcPct val="0"/>
              </a:spcBef>
              <a:buFont typeface="Wingdings" pitchFamily="2" charset="2"/>
              <a:buNone/>
            </a:pPr>
            <a:r>
              <a:rPr lang="en-US" dirty="0">
                <a:latin typeface="Courier New" pitchFamily="49" charset="0"/>
              </a:rPr>
              <a:t>			add	$v0, $zero, $zero</a:t>
            </a:r>
          </a:p>
          <a:p>
            <a:pPr>
              <a:lnSpc>
                <a:spcPct val="80000"/>
              </a:lnSpc>
              <a:spcBef>
                <a:spcPct val="0"/>
              </a:spcBef>
              <a:buFont typeface="Wingdings" pitchFamily="2" charset="2"/>
              <a:buNone/>
            </a:pPr>
            <a:r>
              <a:rPr lang="en-US" dirty="0">
                <a:latin typeface="Courier New" pitchFamily="49" charset="0"/>
              </a:rPr>
              <a:t>			</a:t>
            </a:r>
            <a:r>
              <a:rPr lang="en-US" dirty="0" err="1">
                <a:latin typeface="Courier New" pitchFamily="49" charset="0"/>
              </a:rPr>
              <a:t>jr</a:t>
            </a:r>
            <a:r>
              <a:rPr lang="en-US" dirty="0">
                <a:latin typeface="Courier New" pitchFamily="49" charset="0"/>
              </a:rPr>
              <a:t>	$</a:t>
            </a:r>
            <a:r>
              <a:rPr lang="en-US" dirty="0" err="1">
                <a:latin typeface="Courier New" pitchFamily="49" charset="0"/>
              </a:rPr>
              <a:t>ra</a:t>
            </a:r>
            <a:endParaRPr lang="en-US" dirty="0">
              <a:latin typeface="Courier New" pitchFamily="49" charset="0"/>
            </a:endParaRPr>
          </a:p>
          <a:p>
            <a:pPr>
              <a:lnSpc>
                <a:spcPct val="80000"/>
              </a:lnSpc>
              <a:spcBef>
                <a:spcPct val="0"/>
              </a:spcBef>
              <a:buFont typeface="Wingdings" pitchFamily="2" charset="2"/>
              <a:buNone/>
            </a:pPr>
            <a:r>
              <a:rPr lang="en-US" dirty="0">
                <a:latin typeface="Courier New" pitchFamily="49" charset="0"/>
              </a:rPr>
              <a:t>	to_2:	</a:t>
            </a:r>
            <a:r>
              <a:rPr lang="en-US" dirty="0" err="1">
                <a:latin typeface="Courier New" pitchFamily="49" charset="0"/>
              </a:rPr>
              <a:t>addi</a:t>
            </a:r>
            <a:r>
              <a:rPr lang="en-US" dirty="0">
                <a:latin typeface="Courier New" pitchFamily="49" charset="0"/>
              </a:rPr>
              <a:t>	$a0, $a0, -1</a:t>
            </a:r>
          </a:p>
          <a:p>
            <a:pPr>
              <a:lnSpc>
                <a:spcPct val="80000"/>
              </a:lnSpc>
              <a:spcBef>
                <a:spcPct val="0"/>
              </a:spcBef>
              <a:buFont typeface="Wingdings" pitchFamily="2" charset="2"/>
              <a:buNone/>
            </a:pPr>
            <a:r>
              <a:rPr lang="en-US" dirty="0">
                <a:solidFill>
                  <a:schemeClr val="accent1"/>
                </a:solidFill>
                <a:latin typeface="Courier New" pitchFamily="49" charset="0"/>
              </a:rPr>
              <a:t>			</a:t>
            </a:r>
            <a:r>
              <a:rPr lang="en-US" dirty="0" err="1">
                <a:solidFill>
                  <a:schemeClr val="accent1"/>
                </a:solidFill>
                <a:latin typeface="Courier New" pitchFamily="49" charset="0"/>
              </a:rPr>
              <a:t>jal</a:t>
            </a:r>
            <a:r>
              <a:rPr lang="en-US" dirty="0">
                <a:solidFill>
                  <a:schemeClr val="accent1"/>
                </a:solidFill>
                <a:latin typeface="Courier New" pitchFamily="49" charset="0"/>
              </a:rPr>
              <a:t>	rt_2</a:t>
            </a:r>
          </a:p>
          <a:p>
            <a:pPr>
              <a:lnSpc>
                <a:spcPct val="80000"/>
              </a:lnSpc>
              <a:spcBef>
                <a:spcPct val="0"/>
              </a:spcBef>
              <a:buFont typeface="Wingdings" pitchFamily="2" charset="2"/>
              <a:buNone/>
            </a:pPr>
            <a:r>
              <a:rPr lang="en-US" dirty="0">
                <a:solidFill>
                  <a:schemeClr val="accent1"/>
                </a:solidFill>
                <a:latin typeface="Courier New" pitchFamily="49" charset="0"/>
              </a:rPr>
              <a:t>			</a:t>
            </a:r>
            <a:r>
              <a:rPr lang="en-US" dirty="0" err="1">
                <a:latin typeface="Courier New" pitchFamily="49" charset="0"/>
              </a:rPr>
              <a:t>jr</a:t>
            </a:r>
            <a:r>
              <a:rPr lang="en-US" dirty="0">
                <a:latin typeface="Courier New" pitchFamily="49" charset="0"/>
              </a:rPr>
              <a:t>	$</a:t>
            </a:r>
            <a:r>
              <a:rPr lang="en-US" dirty="0" err="1">
                <a:latin typeface="Courier New" pitchFamily="49" charset="0"/>
              </a:rPr>
              <a:t>ra</a:t>
            </a:r>
            <a:r>
              <a:rPr lang="en-US" dirty="0">
                <a:latin typeface="Courier New" pitchFamily="49" charset="0"/>
              </a:rPr>
              <a:t>	</a:t>
            </a:r>
          </a:p>
          <a:p>
            <a:pPr>
              <a:lnSpc>
                <a:spcPct val="80000"/>
              </a:lnSpc>
              <a:spcBef>
                <a:spcPct val="0"/>
              </a:spcBef>
              <a:buFont typeface="Wingdings" pitchFamily="2" charset="2"/>
              <a:buNone/>
            </a:pPr>
            <a:endParaRPr lang="en-US" sz="1600" dirty="0">
              <a:latin typeface="Courier New" pitchFamily="49" charset="0"/>
            </a:endParaRPr>
          </a:p>
          <a:p>
            <a:pPr>
              <a:lnSpc>
                <a:spcPct val="80000"/>
              </a:lnSpc>
              <a:spcBef>
                <a:spcPct val="0"/>
              </a:spcBef>
              <a:buFont typeface="Wingdings" pitchFamily="2" charset="2"/>
              <a:buNone/>
            </a:pPr>
            <a:r>
              <a:rPr lang="en-US" dirty="0">
                <a:latin typeface="Courier New" pitchFamily="49" charset="0"/>
              </a:rPr>
              <a:t>	rt_2:	. . .</a:t>
            </a:r>
          </a:p>
        </p:txBody>
      </p:sp>
      <p:sp>
        <p:nvSpPr>
          <p:cNvPr id="388100" name="Rectangle 4"/>
          <p:cNvSpPr>
            <a:spLocks noChangeArrowheads="1"/>
          </p:cNvSpPr>
          <p:nvPr/>
        </p:nvSpPr>
        <p:spPr bwMode="auto">
          <a:xfrm>
            <a:off x="685800" y="4429132"/>
            <a:ext cx="7848600" cy="1528624"/>
          </a:xfrm>
          <a:prstGeom prst="rect">
            <a:avLst/>
          </a:prstGeom>
          <a:noFill/>
          <a:ln w="12700">
            <a:noFill/>
            <a:miter lim="800000"/>
            <a:headEnd/>
            <a:tailEnd/>
          </a:ln>
          <a:effectLst/>
        </p:spPr>
        <p:txBody>
          <a:bodyPr lIns="63500" tIns="25400" rIns="63500" bIns="25400">
            <a:spAutoFit/>
          </a:bodyPr>
          <a:lstStyle/>
          <a:p>
            <a:pPr marL="287338" indent="-287338">
              <a:spcBef>
                <a:spcPts val="600"/>
              </a:spcBef>
              <a:buClr>
                <a:schemeClr val="accent1"/>
              </a:buClr>
              <a:buSzPct val="75000"/>
              <a:buFont typeface="Wingdings" pitchFamily="2" charset="2"/>
              <a:buChar char="q"/>
            </a:pPr>
            <a:r>
              <a:rPr lang="en-US" sz="2400" dirty="0">
                <a:solidFill>
                  <a:schemeClr val="tx1"/>
                </a:solidFill>
              </a:rPr>
              <a:t>On the call to </a:t>
            </a:r>
            <a:r>
              <a:rPr lang="en-US" sz="2400" dirty="0">
                <a:solidFill>
                  <a:schemeClr val="tx1"/>
                </a:solidFill>
                <a:latin typeface="Courier New" pitchFamily="49" charset="0"/>
              </a:rPr>
              <a:t>rt_1</a:t>
            </a:r>
            <a:r>
              <a:rPr lang="en-US" sz="2400" dirty="0">
                <a:solidFill>
                  <a:schemeClr val="tx1"/>
                </a:solidFill>
              </a:rPr>
              <a:t>, the return address (</a:t>
            </a:r>
            <a:r>
              <a:rPr lang="en-US" sz="2400" dirty="0">
                <a:solidFill>
                  <a:schemeClr val="tx1"/>
                </a:solidFill>
                <a:latin typeface="Courier New" pitchFamily="49" charset="0"/>
              </a:rPr>
              <a:t>next</a:t>
            </a:r>
            <a:r>
              <a:rPr lang="en-US" sz="2400" dirty="0">
                <a:solidFill>
                  <a:schemeClr val="tx1"/>
                </a:solidFill>
              </a:rPr>
              <a:t> in the </a:t>
            </a:r>
            <a:r>
              <a:rPr lang="en-US" sz="2400" dirty="0">
                <a:solidFill>
                  <a:srgbClr val="009900"/>
                </a:solidFill>
              </a:rPr>
              <a:t>caller</a:t>
            </a:r>
            <a:r>
              <a:rPr lang="en-US" sz="2400" dirty="0">
                <a:solidFill>
                  <a:schemeClr val="tx1"/>
                </a:solidFill>
              </a:rPr>
              <a:t> routine) gets stored in </a:t>
            </a:r>
            <a:r>
              <a:rPr lang="en-US" sz="2400" dirty="0">
                <a:solidFill>
                  <a:schemeClr val="tx1"/>
                </a:solidFill>
                <a:latin typeface="Courier New" pitchFamily="49" charset="0"/>
              </a:rPr>
              <a:t>$</a:t>
            </a:r>
            <a:r>
              <a:rPr lang="en-US" sz="2400" dirty="0" err="1">
                <a:solidFill>
                  <a:schemeClr val="tx1"/>
                </a:solidFill>
                <a:latin typeface="Courier New" pitchFamily="49" charset="0"/>
              </a:rPr>
              <a:t>ra</a:t>
            </a:r>
            <a:r>
              <a:rPr lang="en-US" sz="2400" dirty="0">
                <a:solidFill>
                  <a:schemeClr val="tx1"/>
                </a:solidFill>
              </a:rPr>
              <a:t>.  What happens to the value in </a:t>
            </a:r>
            <a:r>
              <a:rPr lang="en-US" sz="2400" dirty="0">
                <a:solidFill>
                  <a:schemeClr val="tx1"/>
                </a:solidFill>
                <a:latin typeface="Courier New" pitchFamily="49" charset="0"/>
              </a:rPr>
              <a:t>$</a:t>
            </a:r>
            <a:r>
              <a:rPr lang="en-US" sz="2400" dirty="0" err="1">
                <a:solidFill>
                  <a:schemeClr val="tx1"/>
                </a:solidFill>
                <a:latin typeface="Courier New" pitchFamily="49" charset="0"/>
              </a:rPr>
              <a:t>ra</a:t>
            </a:r>
            <a:r>
              <a:rPr lang="en-US" sz="2400" dirty="0">
                <a:solidFill>
                  <a:schemeClr val="tx1"/>
                </a:solidFill>
              </a:rPr>
              <a:t> (when </a:t>
            </a:r>
            <a:r>
              <a:rPr lang="en-US" sz="2400" dirty="0" err="1">
                <a:solidFill>
                  <a:schemeClr val="tx1"/>
                </a:solidFill>
                <a:latin typeface="Courier New" pitchFamily="49" charset="0"/>
              </a:rPr>
              <a:t>i</a:t>
            </a:r>
            <a:r>
              <a:rPr lang="en-US" sz="2400" dirty="0">
                <a:solidFill>
                  <a:schemeClr val="tx1"/>
                </a:solidFill>
                <a:latin typeface="Courier New" pitchFamily="49" charset="0"/>
              </a:rPr>
              <a:t> != 0</a:t>
            </a:r>
            <a:r>
              <a:rPr lang="en-US" sz="2400" dirty="0">
                <a:solidFill>
                  <a:schemeClr val="tx1"/>
                </a:solidFill>
              </a:rPr>
              <a:t>) when </a:t>
            </a:r>
            <a:r>
              <a:rPr lang="en-US" sz="2400" dirty="0">
                <a:solidFill>
                  <a:schemeClr val="tx1"/>
                </a:solidFill>
                <a:latin typeface="Courier New" pitchFamily="49" charset="0"/>
              </a:rPr>
              <a:t>rt_1</a:t>
            </a:r>
            <a:r>
              <a:rPr lang="en-US" sz="2400" dirty="0">
                <a:solidFill>
                  <a:schemeClr val="tx1"/>
                </a:solidFill>
              </a:rPr>
              <a:t> makes a call to </a:t>
            </a:r>
            <a:r>
              <a:rPr lang="en-US" sz="2400" dirty="0">
                <a:solidFill>
                  <a:schemeClr val="tx1"/>
                </a:solidFill>
                <a:latin typeface="Courier New" pitchFamily="49" charset="0"/>
              </a:rPr>
              <a:t>rt_2</a:t>
            </a:r>
            <a:r>
              <a:rPr lang="en-US" sz="2400" dirty="0">
                <a:solidFill>
                  <a:schemeClr val="tx1"/>
                </a:solidFill>
              </a:rPr>
              <a:t>?</a:t>
            </a:r>
          </a:p>
        </p:txBody>
      </p:sp>
    </p:spTree>
    <p:extLst>
      <p:ext uri="{BB962C8B-B14F-4D97-AF65-F5344CB8AC3E}">
        <p14:creationId xmlns:p14="http://schemas.microsoft.com/office/powerpoint/2010/main" val="802769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8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0"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en-US"/>
              <a:t>Saving the Return Address, Part 1</a:t>
            </a:r>
          </a:p>
        </p:txBody>
      </p:sp>
      <p:sp>
        <p:nvSpPr>
          <p:cNvPr id="390147" name="Rectangle 3"/>
          <p:cNvSpPr>
            <a:spLocks noGrp="1" noChangeArrowheads="1"/>
          </p:cNvSpPr>
          <p:nvPr>
            <p:ph type="body" idx="1"/>
          </p:nvPr>
        </p:nvSpPr>
        <p:spPr>
          <a:xfrm>
            <a:off x="304800" y="719138"/>
            <a:ext cx="8915400" cy="5646674"/>
          </a:xfrm>
        </p:spPr>
        <p:txBody>
          <a:bodyPr/>
          <a:lstStyle/>
          <a:p>
            <a:r>
              <a:rPr lang="en-US" dirty="0"/>
              <a:t>Nested procedures (</a:t>
            </a:r>
            <a:r>
              <a:rPr lang="en-US" dirty="0" err="1">
                <a:latin typeface="Courier New" pitchFamily="49" charset="0"/>
              </a:rPr>
              <a:t>i</a:t>
            </a:r>
            <a:r>
              <a:rPr lang="en-US" dirty="0"/>
              <a:t> passed in </a:t>
            </a:r>
            <a:r>
              <a:rPr lang="en-US" dirty="0">
                <a:latin typeface="Courier New" pitchFamily="49" charset="0"/>
              </a:rPr>
              <a:t>$a0</a:t>
            </a:r>
            <a:r>
              <a:rPr lang="en-US" dirty="0"/>
              <a:t>, return value </a:t>
            </a:r>
            <a:r>
              <a:rPr lang="en-US" dirty="0" smtClean="0"/>
              <a:t>in </a:t>
            </a:r>
            <a:r>
              <a:rPr lang="en-US" dirty="0">
                <a:latin typeface="Courier New" pitchFamily="49" charset="0"/>
              </a:rPr>
              <a:t>$v0</a:t>
            </a:r>
            <a:r>
              <a:rPr lang="en-US" dirty="0"/>
              <a:t>)</a:t>
            </a:r>
          </a:p>
          <a:p>
            <a:pPr>
              <a:buFont typeface="Wingdings" pitchFamily="2" charset="2"/>
              <a:buNone/>
            </a:pPr>
            <a:r>
              <a:rPr lang="en-US" dirty="0"/>
              <a:t>					</a:t>
            </a:r>
            <a:r>
              <a:rPr lang="en-US" sz="2400" dirty="0">
                <a:latin typeface="Courier New" pitchFamily="49" charset="0"/>
              </a:rPr>
              <a:t>rt_1:	</a:t>
            </a:r>
            <a:r>
              <a:rPr lang="en-US" sz="2400" dirty="0" err="1">
                <a:latin typeface="Courier New" pitchFamily="49" charset="0"/>
              </a:rPr>
              <a:t>bne</a:t>
            </a:r>
            <a:r>
              <a:rPr lang="en-US" sz="2400" dirty="0">
                <a:latin typeface="Courier New" pitchFamily="49" charset="0"/>
              </a:rPr>
              <a:t>	$a0, $zero, to_2</a:t>
            </a:r>
          </a:p>
          <a:p>
            <a:pPr>
              <a:lnSpc>
                <a:spcPct val="50000"/>
              </a:lnSpc>
              <a:buFont typeface="Wingdings" pitchFamily="2" charset="2"/>
              <a:buNone/>
            </a:pPr>
            <a:r>
              <a:rPr lang="en-US" sz="2400" dirty="0">
                <a:latin typeface="Courier New" pitchFamily="49" charset="0"/>
              </a:rPr>
              <a:t>						add	$v0, $zero, $zero</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50000"/>
              </a:lnSpc>
              <a:buFont typeface="Wingdings" pitchFamily="2" charset="2"/>
              <a:buNone/>
            </a:pPr>
            <a:r>
              <a:rPr lang="en-US" sz="2400" dirty="0">
                <a:latin typeface="Courier New" pitchFamily="49" charset="0"/>
              </a:rPr>
              <a:t>					to_2: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$a0, $a0, -1</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jal</a:t>
            </a:r>
            <a:r>
              <a:rPr lang="en-US" sz="2400" dirty="0">
                <a:latin typeface="Courier New" pitchFamily="49" charset="0"/>
              </a:rPr>
              <a:t>	rt_2</a:t>
            </a:r>
          </a:p>
          <a:p>
            <a:pPr>
              <a:lnSpc>
                <a:spcPct val="50000"/>
              </a:lnSpc>
              <a:buFont typeface="Wingdings" pitchFamily="2" charset="2"/>
              <a:buNone/>
            </a:pPr>
            <a:r>
              <a:rPr lang="en-US" sz="2400" dirty="0">
                <a:latin typeface="Courier New" pitchFamily="49" charset="0"/>
              </a:rPr>
              <a:t>					bk_2:	</a:t>
            </a:r>
            <a:r>
              <a:rPr lang="en-US" sz="2400" dirty="0" err="1">
                <a:latin typeface="Courier New" pitchFamily="49" charset="0"/>
              </a:rPr>
              <a:t>lw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lw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60000"/>
              </a:lnSpc>
            </a:pPr>
            <a:endParaRPr lang="en-US" dirty="0" smtClean="0"/>
          </a:p>
          <a:p>
            <a:pPr lvl="1">
              <a:lnSpc>
                <a:spcPct val="60000"/>
              </a:lnSpc>
              <a:buNone/>
            </a:pPr>
            <a:endParaRPr lang="en-US" dirty="0"/>
          </a:p>
          <a:p>
            <a:pPr lvl="2">
              <a:lnSpc>
                <a:spcPct val="90000"/>
              </a:lnSpc>
            </a:pPr>
            <a:endParaRPr lang="en-US" dirty="0" smtClean="0"/>
          </a:p>
          <a:p>
            <a:pPr>
              <a:lnSpc>
                <a:spcPct val="90000"/>
              </a:lnSpc>
            </a:pPr>
            <a:r>
              <a:rPr lang="en-US" dirty="0" smtClean="0"/>
              <a:t>Save </a:t>
            </a:r>
            <a:r>
              <a:rPr lang="en-US" dirty="0"/>
              <a:t>the return address (and arguments) on the stack</a:t>
            </a:r>
          </a:p>
        </p:txBody>
      </p:sp>
      <p:sp>
        <p:nvSpPr>
          <p:cNvPr id="390148" name="Line 4"/>
          <p:cNvSpPr>
            <a:spLocks noChangeShapeType="1"/>
          </p:cNvSpPr>
          <p:nvPr/>
        </p:nvSpPr>
        <p:spPr bwMode="auto">
          <a:xfrm>
            <a:off x="500034" y="1752600"/>
            <a:ext cx="0" cy="2362200"/>
          </a:xfrm>
          <a:prstGeom prst="line">
            <a:avLst/>
          </a:prstGeom>
          <a:noFill/>
          <a:ln w="12700">
            <a:solidFill>
              <a:schemeClr val="tx1"/>
            </a:solidFill>
            <a:round/>
            <a:headEnd/>
            <a:tailEnd/>
          </a:ln>
          <a:effectLst/>
        </p:spPr>
        <p:txBody>
          <a:bodyPr/>
          <a:lstStyle/>
          <a:p>
            <a:endParaRPr lang="en-US"/>
          </a:p>
        </p:txBody>
      </p:sp>
      <p:sp>
        <p:nvSpPr>
          <p:cNvPr id="390149" name="Line 5"/>
          <p:cNvSpPr>
            <a:spLocks noChangeShapeType="1"/>
          </p:cNvSpPr>
          <p:nvPr/>
        </p:nvSpPr>
        <p:spPr bwMode="auto">
          <a:xfrm>
            <a:off x="2481234" y="1752600"/>
            <a:ext cx="0" cy="2438400"/>
          </a:xfrm>
          <a:prstGeom prst="line">
            <a:avLst/>
          </a:prstGeom>
          <a:noFill/>
          <a:ln w="12700">
            <a:solidFill>
              <a:schemeClr val="tx1"/>
            </a:solidFill>
            <a:round/>
            <a:headEnd/>
            <a:tailEnd/>
          </a:ln>
          <a:effectLst/>
        </p:spPr>
        <p:txBody>
          <a:bodyPr/>
          <a:lstStyle/>
          <a:p>
            <a:endParaRPr lang="en-US"/>
          </a:p>
        </p:txBody>
      </p:sp>
      <p:sp>
        <p:nvSpPr>
          <p:cNvPr id="390150" name="Line 6"/>
          <p:cNvSpPr>
            <a:spLocks noChangeShapeType="1"/>
          </p:cNvSpPr>
          <p:nvPr/>
        </p:nvSpPr>
        <p:spPr bwMode="auto">
          <a:xfrm>
            <a:off x="500034" y="2895600"/>
            <a:ext cx="1981200" cy="0"/>
          </a:xfrm>
          <a:prstGeom prst="line">
            <a:avLst/>
          </a:prstGeom>
          <a:noFill/>
          <a:ln w="12700">
            <a:solidFill>
              <a:schemeClr val="tx1"/>
            </a:solidFill>
            <a:round/>
            <a:headEnd/>
            <a:tailEnd/>
          </a:ln>
          <a:effectLst/>
        </p:spPr>
        <p:txBody>
          <a:bodyPr/>
          <a:lstStyle/>
          <a:p>
            <a:endParaRPr lang="en-US"/>
          </a:p>
        </p:txBody>
      </p:sp>
      <p:sp>
        <p:nvSpPr>
          <p:cNvPr id="390151" name="Text Box 7"/>
          <p:cNvSpPr txBox="1">
            <a:spLocks noChangeArrowheads="1"/>
          </p:cNvSpPr>
          <p:nvPr/>
        </p:nvSpPr>
        <p:spPr bwMode="auto">
          <a:xfrm>
            <a:off x="0" y="4143380"/>
            <a:ext cx="1162050"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low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390152" name="Text Box 8"/>
          <p:cNvSpPr txBox="1">
            <a:spLocks noChangeArrowheads="1"/>
          </p:cNvSpPr>
          <p:nvPr/>
        </p:nvSpPr>
        <p:spPr bwMode="auto">
          <a:xfrm>
            <a:off x="0" y="1357298"/>
            <a:ext cx="1284288"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high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390153" name="Text Box 9"/>
          <p:cNvSpPr txBox="1">
            <a:spLocks noChangeArrowheads="1"/>
          </p:cNvSpPr>
          <p:nvPr/>
        </p:nvSpPr>
        <p:spPr bwMode="auto">
          <a:xfrm>
            <a:off x="2446309" y="22637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tx1"/>
                </a:solidFill>
                <a:latin typeface="Courier New" pitchFamily="49" charset="0"/>
              </a:rPr>
              <a:t>$sp</a:t>
            </a:r>
          </a:p>
        </p:txBody>
      </p:sp>
      <p:sp>
        <p:nvSpPr>
          <p:cNvPr id="390154" name="Line 10"/>
          <p:cNvSpPr>
            <a:spLocks noChangeShapeType="1"/>
          </p:cNvSpPr>
          <p:nvPr/>
        </p:nvSpPr>
        <p:spPr bwMode="auto">
          <a:xfrm>
            <a:off x="500034" y="1981200"/>
            <a:ext cx="1981200" cy="0"/>
          </a:xfrm>
          <a:prstGeom prst="line">
            <a:avLst/>
          </a:prstGeom>
          <a:noFill/>
          <a:ln w="12700">
            <a:solidFill>
              <a:schemeClr val="tx1"/>
            </a:solidFill>
            <a:round/>
            <a:headEnd/>
            <a:tailEnd/>
          </a:ln>
          <a:effectLst/>
        </p:spPr>
        <p:txBody>
          <a:bodyPr/>
          <a:lstStyle/>
          <a:p>
            <a:endParaRPr lang="en-US"/>
          </a:p>
        </p:txBody>
      </p:sp>
      <p:sp>
        <p:nvSpPr>
          <p:cNvPr id="390155" name="Line 11"/>
          <p:cNvSpPr>
            <a:spLocks noChangeShapeType="1"/>
          </p:cNvSpPr>
          <p:nvPr/>
        </p:nvSpPr>
        <p:spPr bwMode="auto">
          <a:xfrm>
            <a:off x="500034" y="2286000"/>
            <a:ext cx="1981200" cy="0"/>
          </a:xfrm>
          <a:prstGeom prst="line">
            <a:avLst/>
          </a:prstGeom>
          <a:noFill/>
          <a:ln w="12700">
            <a:solidFill>
              <a:schemeClr val="tx1"/>
            </a:solidFill>
            <a:round/>
            <a:headEnd/>
            <a:tailEnd/>
          </a:ln>
          <a:effectLst/>
        </p:spPr>
        <p:txBody>
          <a:bodyPr/>
          <a:lstStyle/>
          <a:p>
            <a:endParaRPr lang="en-US"/>
          </a:p>
        </p:txBody>
      </p:sp>
      <p:sp>
        <p:nvSpPr>
          <p:cNvPr id="390156" name="Line 12"/>
          <p:cNvSpPr>
            <a:spLocks noChangeShapeType="1"/>
          </p:cNvSpPr>
          <p:nvPr/>
        </p:nvSpPr>
        <p:spPr bwMode="auto">
          <a:xfrm>
            <a:off x="500034" y="2590800"/>
            <a:ext cx="1981200" cy="0"/>
          </a:xfrm>
          <a:prstGeom prst="line">
            <a:avLst/>
          </a:prstGeom>
          <a:noFill/>
          <a:ln w="12700">
            <a:solidFill>
              <a:schemeClr val="tx1"/>
            </a:solidFill>
            <a:round/>
            <a:headEnd/>
            <a:tailEnd/>
          </a:ln>
          <a:effectLst/>
        </p:spPr>
        <p:txBody>
          <a:bodyPr/>
          <a:lstStyle/>
          <a:p>
            <a:endParaRPr lang="en-US"/>
          </a:p>
        </p:txBody>
      </p:sp>
      <p:sp>
        <p:nvSpPr>
          <p:cNvPr id="390157" name="Line 13"/>
          <p:cNvSpPr>
            <a:spLocks noChangeShapeType="1"/>
          </p:cNvSpPr>
          <p:nvPr/>
        </p:nvSpPr>
        <p:spPr bwMode="auto">
          <a:xfrm>
            <a:off x="500034" y="3200400"/>
            <a:ext cx="1981200" cy="0"/>
          </a:xfrm>
          <a:prstGeom prst="line">
            <a:avLst/>
          </a:prstGeom>
          <a:noFill/>
          <a:ln w="12700">
            <a:solidFill>
              <a:schemeClr val="tx1"/>
            </a:solidFill>
            <a:round/>
            <a:headEnd/>
            <a:tailEnd/>
          </a:ln>
          <a:effectLst/>
        </p:spPr>
        <p:txBody>
          <a:bodyPr/>
          <a:lstStyle/>
          <a:p>
            <a:endParaRPr lang="en-US"/>
          </a:p>
        </p:txBody>
      </p:sp>
      <p:sp>
        <p:nvSpPr>
          <p:cNvPr id="390158" name="Line 14"/>
          <p:cNvSpPr>
            <a:spLocks noChangeShapeType="1"/>
          </p:cNvSpPr>
          <p:nvPr/>
        </p:nvSpPr>
        <p:spPr bwMode="auto">
          <a:xfrm>
            <a:off x="500034" y="3505200"/>
            <a:ext cx="1981200" cy="0"/>
          </a:xfrm>
          <a:prstGeom prst="line">
            <a:avLst/>
          </a:prstGeom>
          <a:noFill/>
          <a:ln w="12700">
            <a:solidFill>
              <a:schemeClr val="tx1"/>
            </a:solidFill>
            <a:round/>
            <a:headEnd/>
            <a:tailEnd/>
          </a:ln>
          <a:effectLst/>
        </p:spPr>
        <p:txBody>
          <a:bodyPr/>
          <a:lstStyle/>
          <a:p>
            <a:endParaRPr lang="en-US"/>
          </a:p>
        </p:txBody>
      </p:sp>
      <p:sp>
        <p:nvSpPr>
          <p:cNvPr id="390159" name="Rectangle 15"/>
          <p:cNvSpPr>
            <a:spLocks noChangeArrowheads="1"/>
          </p:cNvSpPr>
          <p:nvPr/>
        </p:nvSpPr>
        <p:spPr bwMode="auto">
          <a:xfrm>
            <a:off x="576234" y="5029200"/>
            <a:ext cx="1905000" cy="304800"/>
          </a:xfrm>
          <a:prstGeom prst="rect">
            <a:avLst/>
          </a:prstGeom>
          <a:noFill/>
          <a:ln w="12700">
            <a:solidFill>
              <a:schemeClr val="tx1"/>
            </a:solidFill>
            <a:miter lim="800000"/>
            <a:headEnd/>
            <a:tailEnd/>
          </a:ln>
          <a:effectLst/>
        </p:spPr>
        <p:txBody>
          <a:bodyPr wrap="none" anchor="ctr"/>
          <a:lstStyle/>
          <a:p>
            <a:endParaRPr lang="en-US"/>
          </a:p>
        </p:txBody>
      </p:sp>
      <p:sp>
        <p:nvSpPr>
          <p:cNvPr id="390160" name="Text Box 16"/>
          <p:cNvSpPr txBox="1">
            <a:spLocks noChangeArrowheads="1"/>
          </p:cNvSpPr>
          <p:nvPr/>
        </p:nvSpPr>
        <p:spPr bwMode="auto">
          <a:xfrm>
            <a:off x="2405034" y="5008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390161" name="Text Box 17"/>
          <p:cNvSpPr txBox="1">
            <a:spLocks noChangeArrowheads="1"/>
          </p:cNvSpPr>
          <p:nvPr/>
        </p:nvSpPr>
        <p:spPr bwMode="auto">
          <a:xfrm>
            <a:off x="804834" y="22860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Tree>
    <p:extLst>
      <p:ext uri="{BB962C8B-B14F-4D97-AF65-F5344CB8AC3E}">
        <p14:creationId xmlns:p14="http://schemas.microsoft.com/office/powerpoint/2010/main" val="1576625315"/>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r>
              <a:rPr lang="en-US"/>
              <a:t>Saving the Return Address, Part 1</a:t>
            </a:r>
          </a:p>
        </p:txBody>
      </p:sp>
      <p:sp>
        <p:nvSpPr>
          <p:cNvPr id="392195" name="Rectangle 3"/>
          <p:cNvSpPr>
            <a:spLocks noGrp="1" noChangeArrowheads="1"/>
          </p:cNvSpPr>
          <p:nvPr>
            <p:ph type="body" idx="1"/>
          </p:nvPr>
        </p:nvSpPr>
        <p:spPr>
          <a:xfrm>
            <a:off x="304800" y="795338"/>
            <a:ext cx="8915400" cy="5295809"/>
          </a:xfrm>
        </p:spPr>
        <p:txBody>
          <a:bodyPr/>
          <a:lstStyle/>
          <a:p>
            <a:r>
              <a:rPr lang="en-US" dirty="0"/>
              <a:t>Nested procedures (</a:t>
            </a:r>
            <a:r>
              <a:rPr lang="en-US" dirty="0" err="1">
                <a:latin typeface="Courier New" pitchFamily="49" charset="0"/>
              </a:rPr>
              <a:t>i</a:t>
            </a:r>
            <a:r>
              <a:rPr lang="en-US" dirty="0"/>
              <a:t> passed in </a:t>
            </a:r>
            <a:r>
              <a:rPr lang="en-US" dirty="0">
                <a:latin typeface="Courier New" pitchFamily="49" charset="0"/>
              </a:rPr>
              <a:t>$a0</a:t>
            </a:r>
            <a:r>
              <a:rPr lang="en-US" dirty="0"/>
              <a:t>, return </a:t>
            </a:r>
            <a:r>
              <a:rPr lang="en-US" dirty="0" smtClean="0"/>
              <a:t>value </a:t>
            </a:r>
            <a:r>
              <a:rPr lang="en-US" dirty="0"/>
              <a:t>in </a:t>
            </a:r>
            <a:r>
              <a:rPr lang="en-US" dirty="0">
                <a:latin typeface="Courier New" pitchFamily="49" charset="0"/>
              </a:rPr>
              <a:t>$v0</a:t>
            </a:r>
            <a:r>
              <a:rPr lang="en-US" dirty="0"/>
              <a:t>)</a:t>
            </a:r>
          </a:p>
          <a:p>
            <a:pPr>
              <a:buFont typeface="Wingdings" pitchFamily="2" charset="2"/>
              <a:buNone/>
            </a:pPr>
            <a:r>
              <a:rPr lang="en-US" dirty="0"/>
              <a:t>					</a:t>
            </a:r>
            <a:r>
              <a:rPr lang="en-US" sz="2400" dirty="0">
                <a:latin typeface="Courier New" pitchFamily="49" charset="0"/>
              </a:rPr>
              <a:t>rt_1:	</a:t>
            </a:r>
            <a:r>
              <a:rPr lang="en-US" sz="2400" dirty="0" err="1">
                <a:latin typeface="Courier New" pitchFamily="49" charset="0"/>
              </a:rPr>
              <a:t>bne</a:t>
            </a:r>
            <a:r>
              <a:rPr lang="en-US" sz="2400" dirty="0">
                <a:latin typeface="Courier New" pitchFamily="49" charset="0"/>
              </a:rPr>
              <a:t>	$a0, $zero, to_2</a:t>
            </a:r>
          </a:p>
          <a:p>
            <a:pPr>
              <a:lnSpc>
                <a:spcPct val="50000"/>
              </a:lnSpc>
              <a:buFont typeface="Wingdings" pitchFamily="2" charset="2"/>
              <a:buNone/>
            </a:pPr>
            <a:r>
              <a:rPr lang="en-US" sz="2400" dirty="0">
                <a:latin typeface="Courier New" pitchFamily="49" charset="0"/>
              </a:rPr>
              <a:t>						add	$v0, $zero, $zero</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50000"/>
              </a:lnSpc>
              <a:buFont typeface="Wingdings" pitchFamily="2" charset="2"/>
              <a:buNone/>
            </a:pPr>
            <a:r>
              <a:rPr lang="en-US" sz="2400" dirty="0">
                <a:latin typeface="Courier New" pitchFamily="49" charset="0"/>
              </a:rPr>
              <a:t>					to_2: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$a0, $a0, -1</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jal</a:t>
            </a:r>
            <a:r>
              <a:rPr lang="en-US" sz="2400" dirty="0">
                <a:latin typeface="Courier New" pitchFamily="49" charset="0"/>
              </a:rPr>
              <a:t>	rt_2</a:t>
            </a:r>
          </a:p>
          <a:p>
            <a:pPr>
              <a:lnSpc>
                <a:spcPct val="50000"/>
              </a:lnSpc>
              <a:buFont typeface="Wingdings" pitchFamily="2" charset="2"/>
              <a:buNone/>
            </a:pPr>
            <a:r>
              <a:rPr lang="en-US" sz="2400" dirty="0">
                <a:latin typeface="Courier New" pitchFamily="49" charset="0"/>
              </a:rPr>
              <a:t>					bk_2:	</a:t>
            </a:r>
            <a:r>
              <a:rPr lang="en-US" sz="2400" dirty="0" err="1">
                <a:latin typeface="Courier New" pitchFamily="49" charset="0"/>
              </a:rPr>
              <a:t>lw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lw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60000"/>
              </a:lnSpc>
            </a:pPr>
            <a:endParaRPr lang="en-US" dirty="0" smtClean="0"/>
          </a:p>
          <a:p>
            <a:pPr>
              <a:lnSpc>
                <a:spcPct val="60000"/>
              </a:lnSpc>
            </a:pPr>
            <a:endParaRPr lang="en-US" dirty="0"/>
          </a:p>
          <a:p>
            <a:r>
              <a:rPr lang="en-US" dirty="0"/>
              <a:t>Save the return address (and arguments) on the stack</a:t>
            </a:r>
          </a:p>
        </p:txBody>
      </p:sp>
      <p:sp>
        <p:nvSpPr>
          <p:cNvPr id="392196" name="Line 4"/>
          <p:cNvSpPr>
            <a:spLocks noChangeShapeType="1"/>
          </p:cNvSpPr>
          <p:nvPr/>
        </p:nvSpPr>
        <p:spPr bwMode="auto">
          <a:xfrm flipH="1">
            <a:off x="500034" y="1752600"/>
            <a:ext cx="0" cy="2590800"/>
          </a:xfrm>
          <a:prstGeom prst="line">
            <a:avLst/>
          </a:prstGeom>
          <a:noFill/>
          <a:ln w="12700">
            <a:solidFill>
              <a:schemeClr val="tx1"/>
            </a:solidFill>
            <a:round/>
            <a:headEnd/>
            <a:tailEnd/>
          </a:ln>
          <a:effectLst/>
        </p:spPr>
        <p:txBody>
          <a:bodyPr/>
          <a:lstStyle/>
          <a:p>
            <a:endParaRPr lang="en-US"/>
          </a:p>
        </p:txBody>
      </p:sp>
      <p:sp>
        <p:nvSpPr>
          <p:cNvPr id="392197" name="Line 5"/>
          <p:cNvSpPr>
            <a:spLocks noChangeShapeType="1"/>
          </p:cNvSpPr>
          <p:nvPr/>
        </p:nvSpPr>
        <p:spPr bwMode="auto">
          <a:xfrm>
            <a:off x="2481234" y="1752600"/>
            <a:ext cx="0" cy="2514600"/>
          </a:xfrm>
          <a:prstGeom prst="line">
            <a:avLst/>
          </a:prstGeom>
          <a:noFill/>
          <a:ln w="12700">
            <a:solidFill>
              <a:schemeClr val="tx1"/>
            </a:solidFill>
            <a:round/>
            <a:headEnd/>
            <a:tailEnd/>
          </a:ln>
          <a:effectLst/>
        </p:spPr>
        <p:txBody>
          <a:bodyPr/>
          <a:lstStyle/>
          <a:p>
            <a:endParaRPr lang="en-US"/>
          </a:p>
        </p:txBody>
      </p:sp>
      <p:sp>
        <p:nvSpPr>
          <p:cNvPr id="392198" name="Line 6"/>
          <p:cNvSpPr>
            <a:spLocks noChangeShapeType="1"/>
          </p:cNvSpPr>
          <p:nvPr/>
        </p:nvSpPr>
        <p:spPr bwMode="auto">
          <a:xfrm>
            <a:off x="500034" y="2895600"/>
            <a:ext cx="1981200" cy="0"/>
          </a:xfrm>
          <a:prstGeom prst="line">
            <a:avLst/>
          </a:prstGeom>
          <a:noFill/>
          <a:ln w="12700">
            <a:solidFill>
              <a:schemeClr val="tx1"/>
            </a:solidFill>
            <a:round/>
            <a:headEnd/>
            <a:tailEnd/>
          </a:ln>
          <a:effectLst/>
        </p:spPr>
        <p:txBody>
          <a:bodyPr/>
          <a:lstStyle/>
          <a:p>
            <a:endParaRPr lang="en-US"/>
          </a:p>
        </p:txBody>
      </p:sp>
      <p:sp>
        <p:nvSpPr>
          <p:cNvPr id="392199" name="Text Box 7"/>
          <p:cNvSpPr txBox="1">
            <a:spLocks noChangeArrowheads="1"/>
          </p:cNvSpPr>
          <p:nvPr/>
        </p:nvSpPr>
        <p:spPr bwMode="auto">
          <a:xfrm>
            <a:off x="500034" y="25908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p>
        </p:txBody>
      </p:sp>
      <p:sp>
        <p:nvSpPr>
          <p:cNvPr id="392200" name="Text Box 8"/>
          <p:cNvSpPr txBox="1">
            <a:spLocks noChangeArrowheads="1"/>
          </p:cNvSpPr>
          <p:nvPr/>
        </p:nvSpPr>
        <p:spPr bwMode="auto">
          <a:xfrm>
            <a:off x="0" y="1428736"/>
            <a:ext cx="1284288"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high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392201" name="Text Box 9"/>
          <p:cNvSpPr txBox="1">
            <a:spLocks noChangeArrowheads="1"/>
          </p:cNvSpPr>
          <p:nvPr/>
        </p:nvSpPr>
        <p:spPr bwMode="auto">
          <a:xfrm>
            <a:off x="2446309" y="2252663"/>
            <a:ext cx="95567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tx1"/>
                </a:solidFill>
                <a:latin typeface="Courier New" pitchFamily="49" charset="0"/>
                <a:sym typeface="Monotype Sorts" pitchFamily="2" charset="2"/>
              </a:rPr>
              <a:t> </a:t>
            </a:r>
            <a:r>
              <a:rPr lang="en-US">
                <a:solidFill>
                  <a:schemeClr val="tx1"/>
                </a:solidFill>
                <a:latin typeface="Courier New" pitchFamily="49" charset="0"/>
              </a:rPr>
              <a:t>$sp</a:t>
            </a:r>
          </a:p>
        </p:txBody>
      </p:sp>
      <p:sp>
        <p:nvSpPr>
          <p:cNvPr id="392202" name="Line 10"/>
          <p:cNvSpPr>
            <a:spLocks noChangeShapeType="1"/>
          </p:cNvSpPr>
          <p:nvPr/>
        </p:nvSpPr>
        <p:spPr bwMode="auto">
          <a:xfrm>
            <a:off x="500034" y="1981200"/>
            <a:ext cx="1981200" cy="0"/>
          </a:xfrm>
          <a:prstGeom prst="line">
            <a:avLst/>
          </a:prstGeom>
          <a:noFill/>
          <a:ln w="12700">
            <a:solidFill>
              <a:schemeClr val="tx1"/>
            </a:solidFill>
            <a:round/>
            <a:headEnd/>
            <a:tailEnd/>
          </a:ln>
          <a:effectLst/>
        </p:spPr>
        <p:txBody>
          <a:bodyPr/>
          <a:lstStyle/>
          <a:p>
            <a:endParaRPr lang="en-US"/>
          </a:p>
        </p:txBody>
      </p:sp>
      <p:sp>
        <p:nvSpPr>
          <p:cNvPr id="392203" name="Line 11"/>
          <p:cNvSpPr>
            <a:spLocks noChangeShapeType="1"/>
          </p:cNvSpPr>
          <p:nvPr/>
        </p:nvSpPr>
        <p:spPr bwMode="auto">
          <a:xfrm>
            <a:off x="500034" y="2286000"/>
            <a:ext cx="1981200" cy="0"/>
          </a:xfrm>
          <a:prstGeom prst="line">
            <a:avLst/>
          </a:prstGeom>
          <a:noFill/>
          <a:ln w="12700">
            <a:solidFill>
              <a:schemeClr val="tx1"/>
            </a:solidFill>
            <a:round/>
            <a:headEnd/>
            <a:tailEnd/>
          </a:ln>
          <a:effectLst/>
        </p:spPr>
        <p:txBody>
          <a:bodyPr/>
          <a:lstStyle/>
          <a:p>
            <a:endParaRPr lang="en-US"/>
          </a:p>
        </p:txBody>
      </p:sp>
      <p:sp>
        <p:nvSpPr>
          <p:cNvPr id="392204" name="Line 12"/>
          <p:cNvSpPr>
            <a:spLocks noChangeShapeType="1"/>
          </p:cNvSpPr>
          <p:nvPr/>
        </p:nvSpPr>
        <p:spPr bwMode="auto">
          <a:xfrm>
            <a:off x="500034" y="2590800"/>
            <a:ext cx="1981200" cy="0"/>
          </a:xfrm>
          <a:prstGeom prst="line">
            <a:avLst/>
          </a:prstGeom>
          <a:noFill/>
          <a:ln w="12700">
            <a:solidFill>
              <a:schemeClr val="tx1"/>
            </a:solidFill>
            <a:round/>
            <a:headEnd/>
            <a:tailEnd/>
          </a:ln>
          <a:effectLst/>
        </p:spPr>
        <p:txBody>
          <a:bodyPr/>
          <a:lstStyle/>
          <a:p>
            <a:endParaRPr lang="en-US"/>
          </a:p>
        </p:txBody>
      </p:sp>
      <p:sp>
        <p:nvSpPr>
          <p:cNvPr id="392205" name="Line 13"/>
          <p:cNvSpPr>
            <a:spLocks noChangeShapeType="1"/>
          </p:cNvSpPr>
          <p:nvPr/>
        </p:nvSpPr>
        <p:spPr bwMode="auto">
          <a:xfrm>
            <a:off x="500034" y="3200400"/>
            <a:ext cx="1981200" cy="0"/>
          </a:xfrm>
          <a:prstGeom prst="line">
            <a:avLst/>
          </a:prstGeom>
          <a:noFill/>
          <a:ln w="12700">
            <a:solidFill>
              <a:schemeClr val="tx1"/>
            </a:solidFill>
            <a:round/>
            <a:headEnd/>
            <a:tailEnd/>
          </a:ln>
          <a:effectLst/>
        </p:spPr>
        <p:txBody>
          <a:bodyPr/>
          <a:lstStyle/>
          <a:p>
            <a:endParaRPr lang="en-US"/>
          </a:p>
        </p:txBody>
      </p:sp>
      <p:sp>
        <p:nvSpPr>
          <p:cNvPr id="392206" name="Line 14"/>
          <p:cNvSpPr>
            <a:spLocks noChangeShapeType="1"/>
          </p:cNvSpPr>
          <p:nvPr/>
        </p:nvSpPr>
        <p:spPr bwMode="auto">
          <a:xfrm>
            <a:off x="500034" y="3505200"/>
            <a:ext cx="1981200" cy="0"/>
          </a:xfrm>
          <a:prstGeom prst="line">
            <a:avLst/>
          </a:prstGeom>
          <a:noFill/>
          <a:ln w="12700">
            <a:solidFill>
              <a:schemeClr val="tx1"/>
            </a:solidFill>
            <a:round/>
            <a:headEnd/>
            <a:tailEnd/>
          </a:ln>
          <a:effectLst/>
        </p:spPr>
        <p:txBody>
          <a:bodyPr/>
          <a:lstStyle/>
          <a:p>
            <a:endParaRPr lang="en-US"/>
          </a:p>
        </p:txBody>
      </p:sp>
      <p:sp>
        <p:nvSpPr>
          <p:cNvPr id="392207" name="Text Box 15"/>
          <p:cNvSpPr txBox="1">
            <a:spLocks noChangeArrowheads="1"/>
          </p:cNvSpPr>
          <p:nvPr/>
        </p:nvSpPr>
        <p:spPr bwMode="auto">
          <a:xfrm>
            <a:off x="2446309" y="2865438"/>
            <a:ext cx="819150"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$sp</a:t>
            </a:r>
          </a:p>
        </p:txBody>
      </p:sp>
      <p:sp>
        <p:nvSpPr>
          <p:cNvPr id="392208" name="Text Box 16"/>
          <p:cNvSpPr txBox="1">
            <a:spLocks noChangeArrowheads="1"/>
          </p:cNvSpPr>
          <p:nvPr/>
        </p:nvSpPr>
        <p:spPr bwMode="auto">
          <a:xfrm>
            <a:off x="0" y="4357694"/>
            <a:ext cx="1162050"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low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392209" name="Text Box 17"/>
          <p:cNvSpPr txBox="1">
            <a:spLocks noChangeArrowheads="1"/>
          </p:cNvSpPr>
          <p:nvPr/>
        </p:nvSpPr>
        <p:spPr bwMode="auto">
          <a:xfrm>
            <a:off x="527022" y="2895600"/>
            <a:ext cx="1039812"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old $a0</a:t>
            </a:r>
          </a:p>
        </p:txBody>
      </p:sp>
      <p:sp>
        <p:nvSpPr>
          <p:cNvPr id="392210" name="Rectangle 18"/>
          <p:cNvSpPr>
            <a:spLocks noChangeArrowheads="1"/>
          </p:cNvSpPr>
          <p:nvPr/>
        </p:nvSpPr>
        <p:spPr bwMode="auto">
          <a:xfrm>
            <a:off x="576234" y="5029200"/>
            <a:ext cx="1905000" cy="304800"/>
          </a:xfrm>
          <a:prstGeom prst="rect">
            <a:avLst/>
          </a:prstGeom>
          <a:noFill/>
          <a:ln w="12700">
            <a:solidFill>
              <a:schemeClr val="tx1"/>
            </a:solidFill>
            <a:miter lim="800000"/>
            <a:headEnd/>
            <a:tailEnd/>
          </a:ln>
          <a:effectLst/>
        </p:spPr>
        <p:txBody>
          <a:bodyPr wrap="none" anchor="ctr"/>
          <a:lstStyle/>
          <a:p>
            <a:endParaRPr lang="en-US"/>
          </a:p>
        </p:txBody>
      </p:sp>
      <p:sp>
        <p:nvSpPr>
          <p:cNvPr id="392211" name="Text Box 19"/>
          <p:cNvSpPr txBox="1">
            <a:spLocks noChangeArrowheads="1"/>
          </p:cNvSpPr>
          <p:nvPr/>
        </p:nvSpPr>
        <p:spPr bwMode="auto">
          <a:xfrm>
            <a:off x="2405034" y="5008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392212" name="Text Box 20"/>
          <p:cNvSpPr txBox="1">
            <a:spLocks noChangeArrowheads="1"/>
          </p:cNvSpPr>
          <p:nvPr/>
        </p:nvSpPr>
        <p:spPr bwMode="auto">
          <a:xfrm>
            <a:off x="576234" y="4997450"/>
            <a:ext cx="1905000"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caller rt addr</a:t>
            </a:r>
          </a:p>
        </p:txBody>
      </p:sp>
      <p:sp>
        <p:nvSpPr>
          <p:cNvPr id="392213" name="Rectangle 21"/>
          <p:cNvSpPr>
            <a:spLocks noChangeArrowheads="1"/>
          </p:cNvSpPr>
          <p:nvPr/>
        </p:nvSpPr>
        <p:spPr bwMode="auto">
          <a:xfrm>
            <a:off x="652434" y="5072074"/>
            <a:ext cx="1752600" cy="214314"/>
          </a:xfrm>
          <a:prstGeom prst="rect">
            <a:avLst/>
          </a:prstGeom>
          <a:solidFill>
            <a:schemeClr val="bg1"/>
          </a:solidFill>
          <a:ln w="12700">
            <a:noFill/>
            <a:miter lim="800000"/>
            <a:headEnd/>
            <a:tailEnd/>
          </a:ln>
          <a:effectLst/>
        </p:spPr>
        <p:txBody>
          <a:bodyPr wrap="none" anchor="ctr"/>
          <a:lstStyle/>
          <a:p>
            <a:endParaRPr lang="en-US"/>
          </a:p>
        </p:txBody>
      </p:sp>
      <p:sp>
        <p:nvSpPr>
          <p:cNvPr id="392214" name="Text Box 22"/>
          <p:cNvSpPr txBox="1">
            <a:spLocks noChangeArrowheads="1"/>
          </p:cNvSpPr>
          <p:nvPr/>
        </p:nvSpPr>
        <p:spPr bwMode="auto">
          <a:xfrm>
            <a:off x="1142976" y="5000636"/>
            <a:ext cx="673100" cy="336550"/>
          </a:xfrm>
          <a:prstGeom prst="rect">
            <a:avLst/>
          </a:prstGeom>
          <a:noFill/>
          <a:ln w="12700">
            <a:noFill/>
            <a:miter lim="800000"/>
            <a:headEnd/>
            <a:tailEnd/>
          </a:ln>
          <a:effectLst/>
        </p:spPr>
        <p:txBody>
          <a:bodyPr wrap="none">
            <a:spAutoFit/>
          </a:bodyPr>
          <a:lstStyle/>
          <a:p>
            <a:r>
              <a:rPr lang="en-US" sz="1600" dirty="0">
                <a:solidFill>
                  <a:schemeClr val="accent2"/>
                </a:solidFill>
                <a:latin typeface="Courier New" pitchFamily="49" charset="0"/>
              </a:rPr>
              <a:t>bk_2</a:t>
            </a:r>
          </a:p>
        </p:txBody>
      </p:sp>
      <p:sp>
        <p:nvSpPr>
          <p:cNvPr id="392215" name="Rectangle 23"/>
          <p:cNvSpPr>
            <a:spLocks noChangeArrowheads="1"/>
          </p:cNvSpPr>
          <p:nvPr/>
        </p:nvSpPr>
        <p:spPr bwMode="auto">
          <a:xfrm>
            <a:off x="2557434" y="2286000"/>
            <a:ext cx="762000" cy="304800"/>
          </a:xfrm>
          <a:prstGeom prst="rect">
            <a:avLst/>
          </a:prstGeom>
          <a:solidFill>
            <a:schemeClr val="bg1"/>
          </a:solidFill>
          <a:ln w="12700">
            <a:noFill/>
            <a:miter lim="800000"/>
            <a:headEnd/>
            <a:tailEnd/>
          </a:ln>
          <a:effectLst/>
        </p:spPr>
        <p:txBody>
          <a:bodyPr wrap="none" anchor="ctr"/>
          <a:lstStyle/>
          <a:p>
            <a:endParaRPr lang="en-US"/>
          </a:p>
        </p:txBody>
      </p:sp>
      <p:sp>
        <p:nvSpPr>
          <p:cNvPr id="392216" name="Text Box 24"/>
          <p:cNvSpPr txBox="1">
            <a:spLocks noChangeArrowheads="1"/>
          </p:cNvSpPr>
          <p:nvPr/>
        </p:nvSpPr>
        <p:spPr bwMode="auto">
          <a:xfrm>
            <a:off x="804834" y="22860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25" name="Text Box 15"/>
          <p:cNvSpPr txBox="1">
            <a:spLocks noChangeArrowheads="1"/>
          </p:cNvSpPr>
          <p:nvPr/>
        </p:nvSpPr>
        <p:spPr bwMode="auto">
          <a:xfrm>
            <a:off x="3143240" y="1345156"/>
            <a:ext cx="963725" cy="369332"/>
          </a:xfrm>
          <a:prstGeom prst="rect">
            <a:avLst/>
          </a:prstGeom>
          <a:noFill/>
          <a:ln w="12700">
            <a:noFill/>
            <a:miter lim="800000"/>
            <a:headEnd/>
            <a:tailEnd/>
          </a:ln>
          <a:effectLst/>
        </p:spPr>
        <p:txBody>
          <a:bodyPr wrap="none">
            <a:spAutoFit/>
          </a:bodyPr>
          <a:lstStyle/>
          <a:p>
            <a:r>
              <a:rPr lang="en-US" dirty="0" smtClean="0">
                <a:solidFill>
                  <a:schemeClr val="accent2"/>
                </a:solidFill>
                <a:latin typeface="Courier New" pitchFamily="49" charset="0"/>
              </a:rPr>
              <a:t>$pc </a:t>
            </a:r>
            <a:r>
              <a:rPr lang="en-US" dirty="0" smtClean="0">
                <a:solidFill>
                  <a:schemeClr val="tx1"/>
                </a:solidFill>
                <a:latin typeface="Courier New" pitchFamily="49" charset="0"/>
                <a:sym typeface="Symbol"/>
              </a:rPr>
              <a:t></a:t>
            </a:r>
            <a:endParaRPr lang="en-US" dirty="0">
              <a:solidFill>
                <a:schemeClr val="tx1"/>
              </a:solidFill>
              <a:latin typeface="Courier New" pitchFamily="49" charset="0"/>
            </a:endParaRPr>
          </a:p>
        </p:txBody>
      </p:sp>
      <p:sp>
        <p:nvSpPr>
          <p:cNvPr id="26" name="Text Box 15"/>
          <p:cNvSpPr txBox="1">
            <a:spLocks noChangeArrowheads="1"/>
          </p:cNvSpPr>
          <p:nvPr/>
        </p:nvSpPr>
        <p:spPr bwMode="auto">
          <a:xfrm>
            <a:off x="3429000" y="3023188"/>
            <a:ext cx="963725" cy="369332"/>
          </a:xfrm>
          <a:prstGeom prst="rect">
            <a:avLst/>
          </a:prstGeom>
          <a:noFill/>
          <a:ln w="12700">
            <a:noFill/>
            <a:miter lim="800000"/>
            <a:headEnd/>
            <a:tailEnd/>
          </a:ln>
          <a:effectLst/>
        </p:spPr>
        <p:txBody>
          <a:bodyPr wrap="none">
            <a:spAutoFit/>
          </a:bodyPr>
          <a:lstStyle/>
          <a:p>
            <a:r>
              <a:rPr lang="en-US" dirty="0" smtClean="0">
                <a:solidFill>
                  <a:schemeClr val="accent2"/>
                </a:solidFill>
                <a:latin typeface="Courier New" pitchFamily="49" charset="0"/>
              </a:rPr>
              <a:t>$pc </a:t>
            </a:r>
            <a:r>
              <a:rPr lang="en-US" dirty="0" smtClean="0">
                <a:solidFill>
                  <a:schemeClr val="tx1"/>
                </a:solidFill>
                <a:latin typeface="Courier New" pitchFamily="49" charset="0"/>
                <a:sym typeface="Symbol"/>
              </a:rPr>
              <a:t></a:t>
            </a:r>
            <a:endParaRPr lang="en-US" dirty="0">
              <a:solidFill>
                <a:schemeClr val="tx1"/>
              </a:solidFill>
              <a:latin typeface="Courier New" pitchFamily="49" charset="0"/>
            </a:endParaRPr>
          </a:p>
        </p:txBody>
      </p:sp>
      <p:sp>
        <p:nvSpPr>
          <p:cNvPr id="27" name="Text Box 15"/>
          <p:cNvSpPr txBox="1">
            <a:spLocks noChangeArrowheads="1"/>
          </p:cNvSpPr>
          <p:nvPr/>
        </p:nvSpPr>
        <p:spPr bwMode="auto">
          <a:xfrm>
            <a:off x="3433439" y="3450232"/>
            <a:ext cx="963725" cy="369332"/>
          </a:xfrm>
          <a:prstGeom prst="rect">
            <a:avLst/>
          </a:prstGeom>
          <a:noFill/>
          <a:ln w="12700">
            <a:noFill/>
            <a:miter lim="800000"/>
            <a:headEnd/>
            <a:tailEnd/>
          </a:ln>
          <a:effectLst/>
        </p:spPr>
        <p:txBody>
          <a:bodyPr wrap="none">
            <a:spAutoFit/>
          </a:bodyPr>
          <a:lstStyle/>
          <a:p>
            <a:r>
              <a:rPr lang="en-US" dirty="0" smtClean="0">
                <a:solidFill>
                  <a:schemeClr val="accent2"/>
                </a:solidFill>
                <a:latin typeface="Courier New" pitchFamily="49" charset="0"/>
              </a:rPr>
              <a:t>$pc </a:t>
            </a:r>
            <a:r>
              <a:rPr lang="en-US" dirty="0" smtClean="0">
                <a:solidFill>
                  <a:schemeClr val="tx1"/>
                </a:solidFill>
                <a:latin typeface="Courier New" pitchFamily="49" charset="0"/>
                <a:sym typeface="Symbol"/>
              </a:rPr>
              <a:t></a:t>
            </a:r>
            <a:endParaRPr lang="en-US" dirty="0">
              <a:solidFill>
                <a:schemeClr val="tx1"/>
              </a:solidFill>
              <a:latin typeface="Courier New" pitchFamily="49" charset="0"/>
            </a:endParaRPr>
          </a:p>
        </p:txBody>
      </p:sp>
      <p:sp>
        <p:nvSpPr>
          <p:cNvPr id="28" name="Text Box 15"/>
          <p:cNvSpPr txBox="1">
            <a:spLocks noChangeArrowheads="1"/>
          </p:cNvSpPr>
          <p:nvPr/>
        </p:nvSpPr>
        <p:spPr bwMode="auto">
          <a:xfrm>
            <a:off x="3433439" y="3897868"/>
            <a:ext cx="963725" cy="369332"/>
          </a:xfrm>
          <a:prstGeom prst="rect">
            <a:avLst/>
          </a:prstGeom>
          <a:noFill/>
          <a:ln w="12700">
            <a:noFill/>
            <a:miter lim="800000"/>
            <a:headEnd/>
            <a:tailEnd/>
          </a:ln>
          <a:effectLst/>
        </p:spPr>
        <p:txBody>
          <a:bodyPr wrap="none">
            <a:spAutoFit/>
          </a:bodyPr>
          <a:lstStyle/>
          <a:p>
            <a:r>
              <a:rPr lang="en-US" dirty="0" smtClean="0">
                <a:solidFill>
                  <a:schemeClr val="accent2"/>
                </a:solidFill>
                <a:latin typeface="Courier New" pitchFamily="49" charset="0"/>
              </a:rPr>
              <a:t>$pc </a:t>
            </a:r>
            <a:r>
              <a:rPr lang="en-US" dirty="0" smtClean="0">
                <a:solidFill>
                  <a:schemeClr val="tx1"/>
                </a:solidFill>
                <a:latin typeface="Courier New" pitchFamily="49" charset="0"/>
                <a:sym typeface="Symbol"/>
              </a:rPr>
              <a:t></a:t>
            </a:r>
            <a:endParaRPr lang="en-US" dirty="0">
              <a:solidFill>
                <a:schemeClr val="tx1"/>
              </a:solidFill>
              <a:latin typeface="Courier New" pitchFamily="49" charset="0"/>
            </a:endParaRPr>
          </a:p>
        </p:txBody>
      </p:sp>
      <p:sp>
        <p:nvSpPr>
          <p:cNvPr id="29" name="Text Box 15"/>
          <p:cNvSpPr txBox="1">
            <a:spLocks noChangeArrowheads="1"/>
          </p:cNvSpPr>
          <p:nvPr/>
        </p:nvSpPr>
        <p:spPr bwMode="auto">
          <a:xfrm>
            <a:off x="3414530" y="4324912"/>
            <a:ext cx="963725" cy="369332"/>
          </a:xfrm>
          <a:prstGeom prst="rect">
            <a:avLst/>
          </a:prstGeom>
          <a:noFill/>
          <a:ln w="12700">
            <a:noFill/>
            <a:miter lim="800000"/>
            <a:headEnd/>
            <a:tailEnd/>
          </a:ln>
          <a:effectLst/>
        </p:spPr>
        <p:txBody>
          <a:bodyPr wrap="none">
            <a:spAutoFit/>
          </a:bodyPr>
          <a:lstStyle/>
          <a:p>
            <a:r>
              <a:rPr lang="en-US" dirty="0" smtClean="0">
                <a:solidFill>
                  <a:schemeClr val="accent2"/>
                </a:solidFill>
                <a:latin typeface="Courier New" pitchFamily="49" charset="0"/>
              </a:rPr>
              <a:t>$pc </a:t>
            </a:r>
            <a:r>
              <a:rPr lang="en-US" dirty="0" smtClean="0">
                <a:solidFill>
                  <a:schemeClr val="tx1"/>
                </a:solidFill>
                <a:latin typeface="Courier New" pitchFamily="49" charset="0"/>
                <a:sym typeface="Symbol"/>
              </a:rPr>
              <a:t></a:t>
            </a:r>
            <a:endParaRPr lang="en-US" dirty="0">
              <a:solidFill>
                <a:schemeClr val="tx1"/>
              </a:solidFill>
              <a:latin typeface="Courier New" pitchFamily="49" charset="0"/>
            </a:endParaRPr>
          </a:p>
        </p:txBody>
      </p:sp>
    </p:spTree>
    <p:extLst>
      <p:ext uri="{BB962C8B-B14F-4D97-AF65-F5344CB8AC3E}">
        <p14:creationId xmlns:p14="http://schemas.microsoft.com/office/powerpoint/2010/main" val="14294139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2215"/>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1000"/>
                                  </p:stCondLst>
                                  <p:childTnLst>
                                    <p:set>
                                      <p:cBhvr>
                                        <p:cTn id="13" dur="1" fill="hold">
                                          <p:stCondLst>
                                            <p:cond delay="499"/>
                                          </p:stCondLst>
                                        </p:cTn>
                                        <p:tgtEl>
                                          <p:spTgt spid="39220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499"/>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39219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499"/>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39220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499"/>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392213"/>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1000"/>
                                  </p:stCondLst>
                                  <p:childTnLst>
                                    <p:set>
                                      <p:cBhvr>
                                        <p:cTn id="34" dur="1" fill="hold">
                                          <p:stCondLst>
                                            <p:cond delay="499"/>
                                          </p:stCondLst>
                                        </p:cTn>
                                        <p:tgtEl>
                                          <p:spTgt spid="3922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9" grpId="0" autoUpdateAnimBg="0"/>
      <p:bldP spid="392207" grpId="0" autoUpdateAnimBg="0"/>
      <p:bldP spid="392209" grpId="0" autoUpdateAnimBg="0"/>
      <p:bldP spid="392213" grpId="0" animBg="1"/>
      <p:bldP spid="392214" grpId="0" autoUpdateAnimBg="0"/>
      <p:bldP spid="392215" grpId="0" animBg="1"/>
      <p:bldP spid="25" grpId="0" autoUpdateAnimBg="0"/>
      <p:bldP spid="26" grpId="0" autoUpdateAnimBg="0"/>
      <p:bldP spid="27" grpId="0" autoUpdateAnimBg="0"/>
      <p:bldP spid="28" grpId="0" autoUpdateAnimBg="0"/>
      <p:bldP spid="29"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r>
              <a:rPr lang="en-US"/>
              <a:t>Saving the Return Address, Part 2</a:t>
            </a:r>
          </a:p>
        </p:txBody>
      </p:sp>
      <p:sp>
        <p:nvSpPr>
          <p:cNvPr id="428035" name="Rectangle 3"/>
          <p:cNvSpPr>
            <a:spLocks noGrp="1" noChangeArrowheads="1"/>
          </p:cNvSpPr>
          <p:nvPr>
            <p:ph type="body" idx="1"/>
          </p:nvPr>
        </p:nvSpPr>
        <p:spPr>
          <a:xfrm>
            <a:off x="304800" y="719138"/>
            <a:ext cx="8915400" cy="5369675"/>
          </a:xfrm>
        </p:spPr>
        <p:txBody>
          <a:bodyPr/>
          <a:lstStyle/>
          <a:p>
            <a:r>
              <a:rPr lang="en-US" dirty="0"/>
              <a:t>Nested procedures (</a:t>
            </a:r>
            <a:r>
              <a:rPr lang="en-US" dirty="0" err="1">
                <a:latin typeface="Courier New" pitchFamily="49" charset="0"/>
              </a:rPr>
              <a:t>i</a:t>
            </a:r>
            <a:r>
              <a:rPr lang="en-US" dirty="0"/>
              <a:t> passed in </a:t>
            </a:r>
            <a:r>
              <a:rPr lang="en-US" dirty="0">
                <a:latin typeface="Courier New" pitchFamily="49" charset="0"/>
              </a:rPr>
              <a:t>$a0</a:t>
            </a:r>
            <a:r>
              <a:rPr lang="en-US" dirty="0"/>
              <a:t>, return value </a:t>
            </a:r>
            <a:r>
              <a:rPr lang="en-US" dirty="0" smtClean="0"/>
              <a:t>in </a:t>
            </a:r>
            <a:r>
              <a:rPr lang="en-US" dirty="0">
                <a:latin typeface="Courier New" pitchFamily="49" charset="0"/>
              </a:rPr>
              <a:t>$v0</a:t>
            </a:r>
            <a:r>
              <a:rPr lang="en-US" dirty="0"/>
              <a:t>)</a:t>
            </a:r>
          </a:p>
          <a:p>
            <a:pPr>
              <a:buFont typeface="Wingdings" pitchFamily="2" charset="2"/>
              <a:buNone/>
            </a:pPr>
            <a:r>
              <a:rPr lang="en-US" dirty="0"/>
              <a:t>					</a:t>
            </a:r>
            <a:r>
              <a:rPr lang="en-US" sz="2400" dirty="0">
                <a:latin typeface="Courier New" pitchFamily="49" charset="0"/>
              </a:rPr>
              <a:t>rt_1:	</a:t>
            </a:r>
            <a:r>
              <a:rPr lang="en-US" sz="2400" dirty="0" err="1">
                <a:latin typeface="Courier New" pitchFamily="49" charset="0"/>
              </a:rPr>
              <a:t>bne</a:t>
            </a:r>
            <a:r>
              <a:rPr lang="en-US" sz="2400" dirty="0">
                <a:latin typeface="Courier New" pitchFamily="49" charset="0"/>
              </a:rPr>
              <a:t>	$a0, $zero, to_2</a:t>
            </a:r>
          </a:p>
          <a:p>
            <a:pPr>
              <a:lnSpc>
                <a:spcPct val="50000"/>
              </a:lnSpc>
              <a:buFont typeface="Wingdings" pitchFamily="2" charset="2"/>
              <a:buNone/>
            </a:pPr>
            <a:r>
              <a:rPr lang="en-US" sz="2400" dirty="0">
                <a:latin typeface="Courier New" pitchFamily="49" charset="0"/>
              </a:rPr>
              <a:t>						add	$v0, $zero, $zero</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50000"/>
              </a:lnSpc>
              <a:buFont typeface="Wingdings" pitchFamily="2" charset="2"/>
              <a:buNone/>
            </a:pPr>
            <a:r>
              <a:rPr lang="en-US" sz="2400" dirty="0">
                <a:latin typeface="Courier New" pitchFamily="49" charset="0"/>
              </a:rPr>
              <a:t>					to_2: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$a0, $a0, -1</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jal</a:t>
            </a:r>
            <a:r>
              <a:rPr lang="en-US" sz="2400" dirty="0">
                <a:latin typeface="Courier New" pitchFamily="49" charset="0"/>
              </a:rPr>
              <a:t>	rt_2</a:t>
            </a:r>
          </a:p>
          <a:p>
            <a:pPr>
              <a:lnSpc>
                <a:spcPct val="50000"/>
              </a:lnSpc>
              <a:buFont typeface="Wingdings" pitchFamily="2" charset="2"/>
              <a:buNone/>
            </a:pPr>
            <a:r>
              <a:rPr lang="en-US" sz="2400" dirty="0">
                <a:latin typeface="Courier New" pitchFamily="49" charset="0"/>
              </a:rPr>
              <a:t>					bk_2:	</a:t>
            </a:r>
            <a:r>
              <a:rPr lang="en-US" sz="2400" dirty="0" err="1">
                <a:latin typeface="Courier New" pitchFamily="49" charset="0"/>
              </a:rPr>
              <a:t>lw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lw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60000"/>
              </a:lnSpc>
            </a:pPr>
            <a:endParaRPr lang="en-US" dirty="0"/>
          </a:p>
          <a:p>
            <a:pPr>
              <a:lnSpc>
                <a:spcPct val="90000"/>
              </a:lnSpc>
            </a:pPr>
            <a:endParaRPr lang="en-US" dirty="0" smtClean="0"/>
          </a:p>
          <a:p>
            <a:pPr>
              <a:lnSpc>
                <a:spcPct val="90000"/>
              </a:lnSpc>
            </a:pPr>
            <a:r>
              <a:rPr lang="en-US" dirty="0" smtClean="0"/>
              <a:t>Save </a:t>
            </a:r>
            <a:r>
              <a:rPr lang="en-US" dirty="0"/>
              <a:t>the return address (and arguments) on the stack</a:t>
            </a:r>
          </a:p>
        </p:txBody>
      </p:sp>
      <p:sp>
        <p:nvSpPr>
          <p:cNvPr id="428036" name="Line 4"/>
          <p:cNvSpPr>
            <a:spLocks noChangeShapeType="1"/>
          </p:cNvSpPr>
          <p:nvPr/>
        </p:nvSpPr>
        <p:spPr bwMode="auto">
          <a:xfrm>
            <a:off x="500034" y="1752600"/>
            <a:ext cx="0" cy="2362200"/>
          </a:xfrm>
          <a:prstGeom prst="line">
            <a:avLst/>
          </a:prstGeom>
          <a:noFill/>
          <a:ln w="12700">
            <a:solidFill>
              <a:schemeClr val="tx1"/>
            </a:solidFill>
            <a:round/>
            <a:headEnd/>
            <a:tailEnd/>
          </a:ln>
          <a:effectLst/>
        </p:spPr>
        <p:txBody>
          <a:bodyPr/>
          <a:lstStyle/>
          <a:p>
            <a:endParaRPr lang="en-US"/>
          </a:p>
        </p:txBody>
      </p:sp>
      <p:sp>
        <p:nvSpPr>
          <p:cNvPr id="428037" name="Line 5"/>
          <p:cNvSpPr>
            <a:spLocks noChangeShapeType="1"/>
          </p:cNvSpPr>
          <p:nvPr/>
        </p:nvSpPr>
        <p:spPr bwMode="auto">
          <a:xfrm>
            <a:off x="2481234" y="1752600"/>
            <a:ext cx="0" cy="2438400"/>
          </a:xfrm>
          <a:prstGeom prst="line">
            <a:avLst/>
          </a:prstGeom>
          <a:noFill/>
          <a:ln w="12700">
            <a:solidFill>
              <a:schemeClr val="tx1"/>
            </a:solidFill>
            <a:round/>
            <a:headEnd/>
            <a:tailEnd/>
          </a:ln>
          <a:effectLst/>
        </p:spPr>
        <p:txBody>
          <a:bodyPr/>
          <a:lstStyle/>
          <a:p>
            <a:endParaRPr lang="en-US"/>
          </a:p>
        </p:txBody>
      </p:sp>
      <p:sp>
        <p:nvSpPr>
          <p:cNvPr id="428038" name="Line 6"/>
          <p:cNvSpPr>
            <a:spLocks noChangeShapeType="1"/>
          </p:cNvSpPr>
          <p:nvPr/>
        </p:nvSpPr>
        <p:spPr bwMode="auto">
          <a:xfrm>
            <a:off x="500034" y="2895600"/>
            <a:ext cx="1981200" cy="0"/>
          </a:xfrm>
          <a:prstGeom prst="line">
            <a:avLst/>
          </a:prstGeom>
          <a:noFill/>
          <a:ln w="12700">
            <a:solidFill>
              <a:schemeClr val="tx1"/>
            </a:solidFill>
            <a:round/>
            <a:headEnd/>
            <a:tailEnd/>
          </a:ln>
          <a:effectLst/>
        </p:spPr>
        <p:txBody>
          <a:bodyPr/>
          <a:lstStyle/>
          <a:p>
            <a:endParaRPr lang="en-US"/>
          </a:p>
        </p:txBody>
      </p:sp>
      <p:sp>
        <p:nvSpPr>
          <p:cNvPr id="428039" name="Text Box 7"/>
          <p:cNvSpPr txBox="1">
            <a:spLocks noChangeArrowheads="1"/>
          </p:cNvSpPr>
          <p:nvPr/>
        </p:nvSpPr>
        <p:spPr bwMode="auto">
          <a:xfrm>
            <a:off x="0" y="4214818"/>
            <a:ext cx="1162050"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low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428040" name="Text Box 8"/>
          <p:cNvSpPr txBox="1">
            <a:spLocks noChangeArrowheads="1"/>
          </p:cNvSpPr>
          <p:nvPr/>
        </p:nvSpPr>
        <p:spPr bwMode="auto">
          <a:xfrm>
            <a:off x="0" y="1428736"/>
            <a:ext cx="1284288"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high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428041" name="Text Box 9"/>
          <p:cNvSpPr txBox="1">
            <a:spLocks noChangeArrowheads="1"/>
          </p:cNvSpPr>
          <p:nvPr/>
        </p:nvSpPr>
        <p:spPr bwMode="auto">
          <a:xfrm>
            <a:off x="2446309" y="22637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tx1"/>
                </a:solidFill>
                <a:latin typeface="Courier New" pitchFamily="49" charset="0"/>
              </a:rPr>
              <a:t>$sp</a:t>
            </a:r>
          </a:p>
        </p:txBody>
      </p:sp>
      <p:sp>
        <p:nvSpPr>
          <p:cNvPr id="428042" name="Line 10"/>
          <p:cNvSpPr>
            <a:spLocks noChangeShapeType="1"/>
          </p:cNvSpPr>
          <p:nvPr/>
        </p:nvSpPr>
        <p:spPr bwMode="auto">
          <a:xfrm>
            <a:off x="500034" y="1981200"/>
            <a:ext cx="1981200" cy="0"/>
          </a:xfrm>
          <a:prstGeom prst="line">
            <a:avLst/>
          </a:prstGeom>
          <a:noFill/>
          <a:ln w="12700">
            <a:solidFill>
              <a:schemeClr val="tx1"/>
            </a:solidFill>
            <a:round/>
            <a:headEnd/>
            <a:tailEnd/>
          </a:ln>
          <a:effectLst/>
        </p:spPr>
        <p:txBody>
          <a:bodyPr/>
          <a:lstStyle/>
          <a:p>
            <a:endParaRPr lang="en-US"/>
          </a:p>
        </p:txBody>
      </p:sp>
      <p:sp>
        <p:nvSpPr>
          <p:cNvPr id="428043" name="Line 11"/>
          <p:cNvSpPr>
            <a:spLocks noChangeShapeType="1"/>
          </p:cNvSpPr>
          <p:nvPr/>
        </p:nvSpPr>
        <p:spPr bwMode="auto">
          <a:xfrm>
            <a:off x="500034" y="2286000"/>
            <a:ext cx="1981200" cy="0"/>
          </a:xfrm>
          <a:prstGeom prst="line">
            <a:avLst/>
          </a:prstGeom>
          <a:noFill/>
          <a:ln w="12700">
            <a:solidFill>
              <a:schemeClr val="tx1"/>
            </a:solidFill>
            <a:round/>
            <a:headEnd/>
            <a:tailEnd/>
          </a:ln>
          <a:effectLst/>
        </p:spPr>
        <p:txBody>
          <a:bodyPr/>
          <a:lstStyle/>
          <a:p>
            <a:endParaRPr lang="en-US"/>
          </a:p>
        </p:txBody>
      </p:sp>
      <p:sp>
        <p:nvSpPr>
          <p:cNvPr id="428044" name="Line 12"/>
          <p:cNvSpPr>
            <a:spLocks noChangeShapeType="1"/>
          </p:cNvSpPr>
          <p:nvPr/>
        </p:nvSpPr>
        <p:spPr bwMode="auto">
          <a:xfrm>
            <a:off x="500034" y="2590800"/>
            <a:ext cx="1981200" cy="0"/>
          </a:xfrm>
          <a:prstGeom prst="line">
            <a:avLst/>
          </a:prstGeom>
          <a:noFill/>
          <a:ln w="12700">
            <a:solidFill>
              <a:schemeClr val="tx1"/>
            </a:solidFill>
            <a:round/>
            <a:headEnd/>
            <a:tailEnd/>
          </a:ln>
          <a:effectLst/>
        </p:spPr>
        <p:txBody>
          <a:bodyPr/>
          <a:lstStyle/>
          <a:p>
            <a:endParaRPr lang="en-US"/>
          </a:p>
        </p:txBody>
      </p:sp>
      <p:sp>
        <p:nvSpPr>
          <p:cNvPr id="428045" name="Line 13"/>
          <p:cNvSpPr>
            <a:spLocks noChangeShapeType="1"/>
          </p:cNvSpPr>
          <p:nvPr/>
        </p:nvSpPr>
        <p:spPr bwMode="auto">
          <a:xfrm>
            <a:off x="500034" y="3200400"/>
            <a:ext cx="1981200" cy="0"/>
          </a:xfrm>
          <a:prstGeom prst="line">
            <a:avLst/>
          </a:prstGeom>
          <a:noFill/>
          <a:ln w="12700">
            <a:solidFill>
              <a:schemeClr val="tx1"/>
            </a:solidFill>
            <a:round/>
            <a:headEnd/>
            <a:tailEnd/>
          </a:ln>
          <a:effectLst/>
        </p:spPr>
        <p:txBody>
          <a:bodyPr/>
          <a:lstStyle/>
          <a:p>
            <a:endParaRPr lang="en-US"/>
          </a:p>
        </p:txBody>
      </p:sp>
      <p:sp>
        <p:nvSpPr>
          <p:cNvPr id="428046" name="Line 14"/>
          <p:cNvSpPr>
            <a:spLocks noChangeShapeType="1"/>
          </p:cNvSpPr>
          <p:nvPr/>
        </p:nvSpPr>
        <p:spPr bwMode="auto">
          <a:xfrm>
            <a:off x="500034" y="3505200"/>
            <a:ext cx="1981200" cy="0"/>
          </a:xfrm>
          <a:prstGeom prst="line">
            <a:avLst/>
          </a:prstGeom>
          <a:noFill/>
          <a:ln w="12700">
            <a:solidFill>
              <a:schemeClr val="tx1"/>
            </a:solidFill>
            <a:round/>
            <a:headEnd/>
            <a:tailEnd/>
          </a:ln>
          <a:effectLst/>
        </p:spPr>
        <p:txBody>
          <a:bodyPr/>
          <a:lstStyle/>
          <a:p>
            <a:endParaRPr lang="en-US"/>
          </a:p>
        </p:txBody>
      </p:sp>
      <p:sp>
        <p:nvSpPr>
          <p:cNvPr id="428047" name="Rectangle 15"/>
          <p:cNvSpPr>
            <a:spLocks noChangeArrowheads="1"/>
          </p:cNvSpPr>
          <p:nvPr/>
        </p:nvSpPr>
        <p:spPr bwMode="auto">
          <a:xfrm>
            <a:off x="576234" y="5029200"/>
            <a:ext cx="1905000" cy="304800"/>
          </a:xfrm>
          <a:prstGeom prst="rect">
            <a:avLst/>
          </a:prstGeom>
          <a:noFill/>
          <a:ln w="12700">
            <a:solidFill>
              <a:schemeClr val="tx1"/>
            </a:solidFill>
            <a:miter lim="800000"/>
            <a:headEnd/>
            <a:tailEnd/>
          </a:ln>
          <a:effectLst/>
        </p:spPr>
        <p:txBody>
          <a:bodyPr wrap="none" anchor="ctr"/>
          <a:lstStyle/>
          <a:p>
            <a:endParaRPr lang="en-US"/>
          </a:p>
        </p:txBody>
      </p:sp>
      <p:sp>
        <p:nvSpPr>
          <p:cNvPr id="428048" name="Text Box 16"/>
          <p:cNvSpPr txBox="1">
            <a:spLocks noChangeArrowheads="1"/>
          </p:cNvSpPr>
          <p:nvPr/>
        </p:nvSpPr>
        <p:spPr bwMode="auto">
          <a:xfrm>
            <a:off x="2405034" y="5008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28049" name="Text Box 17"/>
          <p:cNvSpPr txBox="1">
            <a:spLocks noChangeArrowheads="1"/>
          </p:cNvSpPr>
          <p:nvPr/>
        </p:nvSpPr>
        <p:spPr bwMode="auto">
          <a:xfrm>
            <a:off x="804834" y="22860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Tree>
    <p:extLst>
      <p:ext uri="{BB962C8B-B14F-4D97-AF65-F5344CB8AC3E}">
        <p14:creationId xmlns:p14="http://schemas.microsoft.com/office/powerpoint/2010/main" val="1543181294"/>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t>Saving the Return Address, Part 2</a:t>
            </a:r>
          </a:p>
        </p:txBody>
      </p:sp>
      <p:sp>
        <p:nvSpPr>
          <p:cNvPr id="394243" name="Rectangle 3"/>
          <p:cNvSpPr>
            <a:spLocks noGrp="1" noChangeArrowheads="1"/>
          </p:cNvSpPr>
          <p:nvPr>
            <p:ph type="body" idx="1"/>
          </p:nvPr>
        </p:nvSpPr>
        <p:spPr>
          <a:xfrm>
            <a:off x="304800" y="822325"/>
            <a:ext cx="8991600" cy="5443541"/>
          </a:xfrm>
        </p:spPr>
        <p:txBody>
          <a:bodyPr/>
          <a:lstStyle/>
          <a:p>
            <a:r>
              <a:rPr lang="en-US" dirty="0"/>
              <a:t>Nested procedures (</a:t>
            </a:r>
            <a:r>
              <a:rPr lang="en-US" dirty="0" err="1">
                <a:latin typeface="Courier New" pitchFamily="49" charset="0"/>
              </a:rPr>
              <a:t>i</a:t>
            </a:r>
            <a:r>
              <a:rPr lang="en-US" dirty="0"/>
              <a:t> passed in </a:t>
            </a:r>
            <a:r>
              <a:rPr lang="en-US" dirty="0">
                <a:latin typeface="Courier New" pitchFamily="49" charset="0"/>
              </a:rPr>
              <a:t>$a0</a:t>
            </a:r>
            <a:r>
              <a:rPr lang="en-US" dirty="0"/>
              <a:t>, return value </a:t>
            </a:r>
            <a:r>
              <a:rPr lang="en-US" dirty="0" smtClean="0"/>
              <a:t> </a:t>
            </a:r>
            <a:r>
              <a:rPr lang="en-US" dirty="0"/>
              <a:t>in </a:t>
            </a:r>
            <a:r>
              <a:rPr lang="en-US" dirty="0">
                <a:latin typeface="Courier New" pitchFamily="49" charset="0"/>
              </a:rPr>
              <a:t>$v0</a:t>
            </a:r>
            <a:r>
              <a:rPr lang="en-US" dirty="0"/>
              <a:t>)</a:t>
            </a:r>
          </a:p>
          <a:p>
            <a:pPr>
              <a:buFont typeface="Wingdings" pitchFamily="2" charset="2"/>
              <a:buNone/>
            </a:pPr>
            <a:r>
              <a:rPr lang="en-US" dirty="0"/>
              <a:t>					</a:t>
            </a:r>
            <a:r>
              <a:rPr lang="en-US" sz="2400" dirty="0">
                <a:latin typeface="Courier New" pitchFamily="49" charset="0"/>
              </a:rPr>
              <a:t>rt_1:	</a:t>
            </a:r>
            <a:r>
              <a:rPr lang="en-US" sz="2400" dirty="0" err="1">
                <a:latin typeface="Courier New" pitchFamily="49" charset="0"/>
              </a:rPr>
              <a:t>bne</a:t>
            </a:r>
            <a:r>
              <a:rPr lang="en-US" sz="2400" dirty="0">
                <a:latin typeface="Courier New" pitchFamily="49" charset="0"/>
              </a:rPr>
              <a:t>	$a0, $zero, to_2</a:t>
            </a:r>
          </a:p>
          <a:p>
            <a:pPr>
              <a:lnSpc>
                <a:spcPct val="50000"/>
              </a:lnSpc>
              <a:buFont typeface="Wingdings" pitchFamily="2" charset="2"/>
              <a:buNone/>
            </a:pPr>
            <a:r>
              <a:rPr lang="en-US" sz="2400" dirty="0">
                <a:latin typeface="Courier New" pitchFamily="49" charset="0"/>
              </a:rPr>
              <a:t>						add	$v0, $zero, $zero</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50000"/>
              </a:lnSpc>
              <a:buFont typeface="Wingdings" pitchFamily="2" charset="2"/>
              <a:buNone/>
            </a:pPr>
            <a:r>
              <a:rPr lang="en-US" sz="2400" dirty="0">
                <a:latin typeface="Courier New" pitchFamily="49" charset="0"/>
              </a:rPr>
              <a:t>					to_2: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sw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$a0, $a0, -1</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jal</a:t>
            </a:r>
            <a:r>
              <a:rPr lang="en-US" sz="2400" dirty="0">
                <a:latin typeface="Courier New" pitchFamily="49" charset="0"/>
              </a:rPr>
              <a:t>	rt_2</a:t>
            </a:r>
          </a:p>
          <a:p>
            <a:pPr>
              <a:lnSpc>
                <a:spcPct val="50000"/>
              </a:lnSpc>
              <a:buFont typeface="Wingdings" pitchFamily="2" charset="2"/>
              <a:buNone/>
            </a:pPr>
            <a:r>
              <a:rPr lang="en-US" sz="2400" dirty="0">
                <a:latin typeface="Courier New" pitchFamily="49" charset="0"/>
              </a:rPr>
              <a:t>					bk_2:	</a:t>
            </a:r>
            <a:r>
              <a:rPr lang="en-US" sz="2400" dirty="0" err="1">
                <a:latin typeface="Courier New" pitchFamily="49" charset="0"/>
              </a:rPr>
              <a:t>lw</a:t>
            </a:r>
            <a:r>
              <a:rPr lang="en-US" sz="2400" dirty="0">
                <a:latin typeface="Courier New" pitchFamily="49" charset="0"/>
              </a:rPr>
              <a:t>	$a0, 0($sp)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lw</a:t>
            </a:r>
            <a:r>
              <a:rPr lang="en-US" sz="2400" dirty="0">
                <a:latin typeface="Courier New" pitchFamily="49" charset="0"/>
              </a:rPr>
              <a:t>	$</a:t>
            </a:r>
            <a:r>
              <a:rPr lang="en-US" sz="2400" dirty="0" err="1">
                <a:latin typeface="Courier New" pitchFamily="49" charset="0"/>
              </a:rPr>
              <a:t>ra</a:t>
            </a:r>
            <a:r>
              <a:rPr lang="en-US" sz="2400" dirty="0">
                <a:latin typeface="Courier New" pitchFamily="49" charset="0"/>
              </a:rPr>
              <a:t>, 4($sp)</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addi</a:t>
            </a:r>
            <a:r>
              <a:rPr lang="en-US" sz="2400" dirty="0">
                <a:latin typeface="Courier New" pitchFamily="49" charset="0"/>
              </a:rPr>
              <a:t>	$sp, $sp, 8</a:t>
            </a:r>
          </a:p>
          <a:p>
            <a:pPr>
              <a:lnSpc>
                <a:spcPct val="50000"/>
              </a:lnSpc>
              <a:buFont typeface="Wingdings" pitchFamily="2" charset="2"/>
              <a:buNone/>
            </a:pPr>
            <a:r>
              <a:rPr lang="en-US" sz="2400" dirty="0">
                <a:latin typeface="Courier New" pitchFamily="49" charset="0"/>
              </a:rPr>
              <a:t>						</a:t>
            </a:r>
            <a:r>
              <a:rPr lang="en-US" sz="2400" dirty="0" err="1">
                <a:latin typeface="Courier New" pitchFamily="49" charset="0"/>
              </a:rPr>
              <a:t>jr</a:t>
            </a:r>
            <a:r>
              <a:rPr lang="en-US" sz="2400" dirty="0">
                <a:latin typeface="Courier New" pitchFamily="49" charset="0"/>
              </a:rPr>
              <a:t>	$</a:t>
            </a:r>
            <a:r>
              <a:rPr lang="en-US" sz="2400" dirty="0" err="1">
                <a:latin typeface="Courier New" pitchFamily="49" charset="0"/>
              </a:rPr>
              <a:t>ra</a:t>
            </a:r>
            <a:endParaRPr lang="en-US" sz="2400" dirty="0">
              <a:latin typeface="Courier New" pitchFamily="49" charset="0"/>
            </a:endParaRPr>
          </a:p>
          <a:p>
            <a:pPr>
              <a:lnSpc>
                <a:spcPct val="60000"/>
              </a:lnSpc>
            </a:pPr>
            <a:endParaRPr lang="en-US" dirty="0"/>
          </a:p>
          <a:p>
            <a:pPr lvl="2"/>
            <a:endParaRPr lang="en-US" dirty="0" smtClean="0"/>
          </a:p>
          <a:p>
            <a:r>
              <a:rPr lang="en-US" dirty="0" smtClean="0"/>
              <a:t>Save </a:t>
            </a:r>
            <a:r>
              <a:rPr lang="en-US" dirty="0"/>
              <a:t>the return address (and arguments) on the  stack</a:t>
            </a:r>
          </a:p>
        </p:txBody>
      </p:sp>
      <p:sp>
        <p:nvSpPr>
          <p:cNvPr id="394244" name="Line 4"/>
          <p:cNvSpPr>
            <a:spLocks noChangeShapeType="1"/>
          </p:cNvSpPr>
          <p:nvPr/>
        </p:nvSpPr>
        <p:spPr bwMode="auto">
          <a:xfrm flipH="1">
            <a:off x="500035" y="1752600"/>
            <a:ext cx="0" cy="2590800"/>
          </a:xfrm>
          <a:prstGeom prst="line">
            <a:avLst/>
          </a:prstGeom>
          <a:noFill/>
          <a:ln w="12700">
            <a:solidFill>
              <a:schemeClr val="tx1"/>
            </a:solidFill>
            <a:round/>
            <a:headEnd/>
            <a:tailEnd/>
          </a:ln>
          <a:effectLst/>
        </p:spPr>
        <p:txBody>
          <a:bodyPr/>
          <a:lstStyle/>
          <a:p>
            <a:endParaRPr lang="en-US"/>
          </a:p>
        </p:txBody>
      </p:sp>
      <p:sp>
        <p:nvSpPr>
          <p:cNvPr id="394245" name="Line 5"/>
          <p:cNvSpPr>
            <a:spLocks noChangeShapeType="1"/>
          </p:cNvSpPr>
          <p:nvPr/>
        </p:nvSpPr>
        <p:spPr bwMode="auto">
          <a:xfrm>
            <a:off x="2481235" y="1752600"/>
            <a:ext cx="0" cy="2514600"/>
          </a:xfrm>
          <a:prstGeom prst="line">
            <a:avLst/>
          </a:prstGeom>
          <a:noFill/>
          <a:ln w="12700">
            <a:solidFill>
              <a:schemeClr val="tx1"/>
            </a:solidFill>
            <a:round/>
            <a:headEnd/>
            <a:tailEnd/>
          </a:ln>
          <a:effectLst/>
        </p:spPr>
        <p:txBody>
          <a:bodyPr/>
          <a:lstStyle/>
          <a:p>
            <a:endParaRPr lang="en-US"/>
          </a:p>
        </p:txBody>
      </p:sp>
      <p:sp>
        <p:nvSpPr>
          <p:cNvPr id="394246" name="Line 6"/>
          <p:cNvSpPr>
            <a:spLocks noChangeShapeType="1"/>
          </p:cNvSpPr>
          <p:nvPr/>
        </p:nvSpPr>
        <p:spPr bwMode="auto">
          <a:xfrm>
            <a:off x="500035" y="2895600"/>
            <a:ext cx="1981200" cy="0"/>
          </a:xfrm>
          <a:prstGeom prst="line">
            <a:avLst/>
          </a:prstGeom>
          <a:noFill/>
          <a:ln w="12700">
            <a:solidFill>
              <a:schemeClr val="tx1"/>
            </a:solidFill>
            <a:round/>
            <a:headEnd/>
            <a:tailEnd/>
          </a:ln>
          <a:effectLst/>
        </p:spPr>
        <p:txBody>
          <a:bodyPr/>
          <a:lstStyle/>
          <a:p>
            <a:endParaRPr lang="en-US"/>
          </a:p>
        </p:txBody>
      </p:sp>
      <p:sp>
        <p:nvSpPr>
          <p:cNvPr id="394247" name="Text Box 7"/>
          <p:cNvSpPr txBox="1">
            <a:spLocks noChangeArrowheads="1"/>
          </p:cNvSpPr>
          <p:nvPr/>
        </p:nvSpPr>
        <p:spPr bwMode="auto">
          <a:xfrm>
            <a:off x="500035" y="25908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p>
        </p:txBody>
      </p:sp>
      <p:sp>
        <p:nvSpPr>
          <p:cNvPr id="394248" name="Text Box 8"/>
          <p:cNvSpPr txBox="1">
            <a:spLocks noChangeArrowheads="1"/>
          </p:cNvSpPr>
          <p:nvPr/>
        </p:nvSpPr>
        <p:spPr bwMode="auto">
          <a:xfrm>
            <a:off x="0" y="1428736"/>
            <a:ext cx="1284288"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high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394249" name="Text Box 9"/>
          <p:cNvSpPr txBox="1">
            <a:spLocks noChangeArrowheads="1"/>
          </p:cNvSpPr>
          <p:nvPr/>
        </p:nvSpPr>
        <p:spPr bwMode="auto">
          <a:xfrm>
            <a:off x="2446310" y="2252663"/>
            <a:ext cx="819150"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tx1"/>
                </a:solidFill>
                <a:latin typeface="Courier New" pitchFamily="49" charset="0"/>
              </a:rPr>
              <a:t>$sp</a:t>
            </a:r>
          </a:p>
        </p:txBody>
      </p:sp>
      <p:sp>
        <p:nvSpPr>
          <p:cNvPr id="394250" name="Line 10"/>
          <p:cNvSpPr>
            <a:spLocks noChangeShapeType="1"/>
          </p:cNvSpPr>
          <p:nvPr/>
        </p:nvSpPr>
        <p:spPr bwMode="auto">
          <a:xfrm>
            <a:off x="500035" y="1981200"/>
            <a:ext cx="1981200" cy="0"/>
          </a:xfrm>
          <a:prstGeom prst="line">
            <a:avLst/>
          </a:prstGeom>
          <a:noFill/>
          <a:ln w="12700">
            <a:solidFill>
              <a:schemeClr val="tx1"/>
            </a:solidFill>
            <a:round/>
            <a:headEnd/>
            <a:tailEnd/>
          </a:ln>
          <a:effectLst/>
        </p:spPr>
        <p:txBody>
          <a:bodyPr/>
          <a:lstStyle/>
          <a:p>
            <a:endParaRPr lang="en-US"/>
          </a:p>
        </p:txBody>
      </p:sp>
      <p:sp>
        <p:nvSpPr>
          <p:cNvPr id="394251" name="Line 11"/>
          <p:cNvSpPr>
            <a:spLocks noChangeShapeType="1"/>
          </p:cNvSpPr>
          <p:nvPr/>
        </p:nvSpPr>
        <p:spPr bwMode="auto">
          <a:xfrm>
            <a:off x="500035" y="2286000"/>
            <a:ext cx="1981200" cy="0"/>
          </a:xfrm>
          <a:prstGeom prst="line">
            <a:avLst/>
          </a:prstGeom>
          <a:noFill/>
          <a:ln w="12700">
            <a:solidFill>
              <a:schemeClr val="tx1"/>
            </a:solidFill>
            <a:round/>
            <a:headEnd/>
            <a:tailEnd/>
          </a:ln>
          <a:effectLst/>
        </p:spPr>
        <p:txBody>
          <a:bodyPr/>
          <a:lstStyle/>
          <a:p>
            <a:endParaRPr lang="en-US"/>
          </a:p>
        </p:txBody>
      </p:sp>
      <p:sp>
        <p:nvSpPr>
          <p:cNvPr id="394252" name="Line 12"/>
          <p:cNvSpPr>
            <a:spLocks noChangeShapeType="1"/>
          </p:cNvSpPr>
          <p:nvPr/>
        </p:nvSpPr>
        <p:spPr bwMode="auto">
          <a:xfrm>
            <a:off x="500035" y="2590800"/>
            <a:ext cx="1981200" cy="0"/>
          </a:xfrm>
          <a:prstGeom prst="line">
            <a:avLst/>
          </a:prstGeom>
          <a:noFill/>
          <a:ln w="12700">
            <a:solidFill>
              <a:schemeClr val="tx1"/>
            </a:solidFill>
            <a:round/>
            <a:headEnd/>
            <a:tailEnd/>
          </a:ln>
          <a:effectLst/>
        </p:spPr>
        <p:txBody>
          <a:bodyPr/>
          <a:lstStyle/>
          <a:p>
            <a:endParaRPr lang="en-US"/>
          </a:p>
        </p:txBody>
      </p:sp>
      <p:sp>
        <p:nvSpPr>
          <p:cNvPr id="394253" name="Line 13"/>
          <p:cNvSpPr>
            <a:spLocks noChangeShapeType="1"/>
          </p:cNvSpPr>
          <p:nvPr/>
        </p:nvSpPr>
        <p:spPr bwMode="auto">
          <a:xfrm>
            <a:off x="500035" y="3200400"/>
            <a:ext cx="1981200" cy="0"/>
          </a:xfrm>
          <a:prstGeom prst="line">
            <a:avLst/>
          </a:prstGeom>
          <a:noFill/>
          <a:ln w="12700">
            <a:solidFill>
              <a:schemeClr val="tx1"/>
            </a:solidFill>
            <a:round/>
            <a:headEnd/>
            <a:tailEnd/>
          </a:ln>
          <a:effectLst/>
        </p:spPr>
        <p:txBody>
          <a:bodyPr/>
          <a:lstStyle/>
          <a:p>
            <a:endParaRPr lang="en-US"/>
          </a:p>
        </p:txBody>
      </p:sp>
      <p:sp>
        <p:nvSpPr>
          <p:cNvPr id="394254" name="Line 14"/>
          <p:cNvSpPr>
            <a:spLocks noChangeShapeType="1"/>
          </p:cNvSpPr>
          <p:nvPr/>
        </p:nvSpPr>
        <p:spPr bwMode="auto">
          <a:xfrm>
            <a:off x="500035" y="3505200"/>
            <a:ext cx="1981200" cy="0"/>
          </a:xfrm>
          <a:prstGeom prst="line">
            <a:avLst/>
          </a:prstGeom>
          <a:noFill/>
          <a:ln w="12700">
            <a:solidFill>
              <a:schemeClr val="tx1"/>
            </a:solidFill>
            <a:round/>
            <a:headEnd/>
            <a:tailEnd/>
          </a:ln>
          <a:effectLst/>
        </p:spPr>
        <p:txBody>
          <a:bodyPr/>
          <a:lstStyle/>
          <a:p>
            <a:endParaRPr lang="en-US"/>
          </a:p>
        </p:txBody>
      </p:sp>
      <p:sp>
        <p:nvSpPr>
          <p:cNvPr id="394255" name="Text Box 15"/>
          <p:cNvSpPr txBox="1">
            <a:spLocks noChangeArrowheads="1"/>
          </p:cNvSpPr>
          <p:nvPr/>
        </p:nvSpPr>
        <p:spPr bwMode="auto">
          <a:xfrm>
            <a:off x="2446310" y="2887663"/>
            <a:ext cx="873125"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sym typeface="Symbol" pitchFamily="18" charset="2"/>
              </a:rPr>
              <a:t></a:t>
            </a:r>
            <a:r>
              <a:rPr lang="en-US" sz="1600">
                <a:solidFill>
                  <a:schemeClr val="accent2"/>
                </a:solidFill>
                <a:latin typeface="Courier New" pitchFamily="49" charset="0"/>
                <a:sym typeface="Monotype Sorts" pitchFamily="2" charset="2"/>
              </a:rPr>
              <a:t> </a:t>
            </a:r>
            <a:r>
              <a:rPr lang="en-US" sz="1600">
                <a:solidFill>
                  <a:schemeClr val="accent2"/>
                </a:solidFill>
                <a:latin typeface="Courier New" pitchFamily="49" charset="0"/>
              </a:rPr>
              <a:t>$sp</a:t>
            </a:r>
          </a:p>
        </p:txBody>
      </p:sp>
      <p:sp>
        <p:nvSpPr>
          <p:cNvPr id="394256" name="Text Box 16"/>
          <p:cNvSpPr txBox="1">
            <a:spLocks noChangeArrowheads="1"/>
          </p:cNvSpPr>
          <p:nvPr/>
        </p:nvSpPr>
        <p:spPr bwMode="auto">
          <a:xfrm>
            <a:off x="0" y="4286256"/>
            <a:ext cx="1162050" cy="336550"/>
          </a:xfrm>
          <a:prstGeom prst="rect">
            <a:avLst/>
          </a:prstGeom>
          <a:noFill/>
          <a:ln w="12700">
            <a:noFill/>
            <a:miter lim="800000"/>
            <a:headEnd/>
            <a:tailEnd/>
          </a:ln>
          <a:effectLst/>
        </p:spPr>
        <p:txBody>
          <a:bodyPr wrap="none">
            <a:spAutoFit/>
          </a:bodyPr>
          <a:lstStyle/>
          <a:p>
            <a:r>
              <a:rPr lang="en-US" sz="1600" dirty="0">
                <a:solidFill>
                  <a:schemeClr val="tx1"/>
                </a:solidFill>
                <a:latin typeface="Courier New" pitchFamily="49" charset="0"/>
              </a:rPr>
              <a:t>low </a:t>
            </a:r>
            <a:r>
              <a:rPr lang="en-US" sz="1600" dirty="0" err="1">
                <a:solidFill>
                  <a:schemeClr val="tx1"/>
                </a:solidFill>
                <a:latin typeface="Courier New" pitchFamily="49" charset="0"/>
              </a:rPr>
              <a:t>addr</a:t>
            </a:r>
            <a:endParaRPr lang="en-US" sz="1600" dirty="0">
              <a:solidFill>
                <a:schemeClr val="tx1"/>
              </a:solidFill>
              <a:latin typeface="Courier New" pitchFamily="49" charset="0"/>
            </a:endParaRPr>
          </a:p>
        </p:txBody>
      </p:sp>
      <p:sp>
        <p:nvSpPr>
          <p:cNvPr id="394257" name="Text Box 17"/>
          <p:cNvSpPr txBox="1">
            <a:spLocks noChangeArrowheads="1"/>
          </p:cNvSpPr>
          <p:nvPr/>
        </p:nvSpPr>
        <p:spPr bwMode="auto">
          <a:xfrm>
            <a:off x="527023" y="2895600"/>
            <a:ext cx="1039812"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old $a0</a:t>
            </a:r>
          </a:p>
        </p:txBody>
      </p:sp>
      <p:sp>
        <p:nvSpPr>
          <p:cNvPr id="394258" name="Rectangle 18"/>
          <p:cNvSpPr>
            <a:spLocks noChangeArrowheads="1"/>
          </p:cNvSpPr>
          <p:nvPr/>
        </p:nvSpPr>
        <p:spPr bwMode="auto">
          <a:xfrm>
            <a:off x="576235" y="5029200"/>
            <a:ext cx="1905000" cy="304800"/>
          </a:xfrm>
          <a:prstGeom prst="rect">
            <a:avLst/>
          </a:prstGeom>
          <a:noFill/>
          <a:ln w="12700">
            <a:solidFill>
              <a:schemeClr val="tx1"/>
            </a:solidFill>
            <a:miter lim="800000"/>
            <a:headEnd/>
            <a:tailEnd/>
          </a:ln>
          <a:effectLst/>
        </p:spPr>
        <p:txBody>
          <a:bodyPr wrap="none" anchor="ctr"/>
          <a:lstStyle/>
          <a:p>
            <a:endParaRPr lang="en-US"/>
          </a:p>
        </p:txBody>
      </p:sp>
      <p:sp>
        <p:nvSpPr>
          <p:cNvPr id="394259" name="Text Box 19"/>
          <p:cNvSpPr txBox="1">
            <a:spLocks noChangeArrowheads="1"/>
          </p:cNvSpPr>
          <p:nvPr/>
        </p:nvSpPr>
        <p:spPr bwMode="auto">
          <a:xfrm>
            <a:off x="2405035" y="5008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394260" name="Text Box 20"/>
          <p:cNvSpPr txBox="1">
            <a:spLocks noChangeArrowheads="1"/>
          </p:cNvSpPr>
          <p:nvPr/>
        </p:nvSpPr>
        <p:spPr bwMode="auto">
          <a:xfrm>
            <a:off x="576235" y="50292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bk_2</a:t>
            </a:r>
          </a:p>
        </p:txBody>
      </p:sp>
      <p:cxnSp>
        <p:nvCxnSpPr>
          <p:cNvPr id="394261" name="AutoShape 21"/>
          <p:cNvCxnSpPr>
            <a:cxnSpLocks noChangeShapeType="1"/>
            <a:stCxn id="394247" idx="1"/>
            <a:endCxn id="394263" idx="1"/>
          </p:cNvCxnSpPr>
          <p:nvPr/>
        </p:nvCxnSpPr>
        <p:spPr bwMode="auto">
          <a:xfrm rot="10800000" flipH="1" flipV="1">
            <a:off x="500035" y="2759075"/>
            <a:ext cx="76200" cy="2438400"/>
          </a:xfrm>
          <a:prstGeom prst="curvedConnector3">
            <a:avLst>
              <a:gd name="adj1" fmla="val -300000"/>
            </a:avLst>
          </a:prstGeom>
          <a:noFill/>
          <a:ln w="12700">
            <a:solidFill>
              <a:schemeClr val="accent2"/>
            </a:solidFill>
            <a:round/>
            <a:headEnd/>
            <a:tailEnd type="triangle" w="med" len="med"/>
          </a:ln>
          <a:effectLst/>
        </p:spPr>
      </p:cxnSp>
      <p:sp>
        <p:nvSpPr>
          <p:cNvPr id="394262" name="Rectangle 22"/>
          <p:cNvSpPr>
            <a:spLocks noChangeArrowheads="1"/>
          </p:cNvSpPr>
          <p:nvPr/>
        </p:nvSpPr>
        <p:spPr bwMode="auto">
          <a:xfrm>
            <a:off x="652435" y="5105400"/>
            <a:ext cx="685800" cy="228600"/>
          </a:xfrm>
          <a:prstGeom prst="rect">
            <a:avLst/>
          </a:prstGeom>
          <a:solidFill>
            <a:schemeClr val="bg1"/>
          </a:solidFill>
          <a:ln w="12700">
            <a:noFill/>
            <a:miter lim="800000"/>
            <a:headEnd/>
            <a:tailEnd/>
          </a:ln>
          <a:effectLst/>
        </p:spPr>
        <p:txBody>
          <a:bodyPr wrap="none" anchor="ctr"/>
          <a:lstStyle/>
          <a:p>
            <a:endParaRPr lang="en-US"/>
          </a:p>
        </p:txBody>
      </p:sp>
      <p:sp>
        <p:nvSpPr>
          <p:cNvPr id="394263" name="Text Box 23"/>
          <p:cNvSpPr txBox="1">
            <a:spLocks noChangeArrowheads="1"/>
          </p:cNvSpPr>
          <p:nvPr/>
        </p:nvSpPr>
        <p:spPr bwMode="auto">
          <a:xfrm>
            <a:off x="576235" y="50292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p>
        </p:txBody>
      </p:sp>
      <p:sp>
        <p:nvSpPr>
          <p:cNvPr id="394264" name="Rectangle 24"/>
          <p:cNvSpPr>
            <a:spLocks noChangeArrowheads="1"/>
          </p:cNvSpPr>
          <p:nvPr/>
        </p:nvSpPr>
        <p:spPr bwMode="auto">
          <a:xfrm>
            <a:off x="2557435" y="2971800"/>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394265" name="Text Box 25"/>
          <p:cNvSpPr txBox="1">
            <a:spLocks noChangeArrowheads="1"/>
          </p:cNvSpPr>
          <p:nvPr/>
        </p:nvSpPr>
        <p:spPr bwMode="auto">
          <a:xfrm>
            <a:off x="804835" y="22860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26" name="Text Box 15"/>
          <p:cNvSpPr txBox="1">
            <a:spLocks noChangeArrowheads="1"/>
          </p:cNvSpPr>
          <p:nvPr/>
        </p:nvSpPr>
        <p:spPr bwMode="auto">
          <a:xfrm>
            <a:off x="3548035" y="5250418"/>
            <a:ext cx="963725" cy="369332"/>
          </a:xfrm>
          <a:prstGeom prst="rect">
            <a:avLst/>
          </a:prstGeom>
          <a:noFill/>
          <a:ln w="12700">
            <a:noFill/>
            <a:miter lim="800000"/>
            <a:headEnd/>
            <a:tailEnd/>
          </a:ln>
          <a:effectLst/>
        </p:spPr>
        <p:txBody>
          <a:bodyPr wrap="none">
            <a:spAutoFit/>
          </a:bodyPr>
          <a:lstStyle/>
          <a:p>
            <a:r>
              <a:rPr lang="en-US" dirty="0" smtClean="0">
                <a:solidFill>
                  <a:schemeClr val="accent2"/>
                </a:solidFill>
                <a:latin typeface="Courier New" pitchFamily="49" charset="0"/>
              </a:rPr>
              <a:t>$pc </a:t>
            </a:r>
            <a:r>
              <a:rPr lang="en-US" dirty="0" smtClean="0">
                <a:solidFill>
                  <a:schemeClr val="tx1"/>
                </a:solidFill>
                <a:latin typeface="Courier New" pitchFamily="49" charset="0"/>
                <a:sym typeface="Symbol"/>
              </a:rPr>
              <a:t></a:t>
            </a:r>
            <a:endParaRPr lang="en-US" dirty="0">
              <a:solidFill>
                <a:schemeClr val="tx1"/>
              </a:solidFill>
              <a:latin typeface="Courier New" pitchFamily="49" charset="0"/>
            </a:endParaRPr>
          </a:p>
        </p:txBody>
      </p:sp>
      <p:sp>
        <p:nvSpPr>
          <p:cNvPr id="27" name="Text Box 15"/>
          <p:cNvSpPr txBox="1">
            <a:spLocks noChangeArrowheads="1"/>
          </p:cNvSpPr>
          <p:nvPr/>
        </p:nvSpPr>
        <p:spPr bwMode="auto">
          <a:xfrm>
            <a:off x="3581400" y="5715000"/>
            <a:ext cx="963725" cy="369332"/>
          </a:xfrm>
          <a:prstGeom prst="rect">
            <a:avLst/>
          </a:prstGeom>
          <a:noFill/>
          <a:ln w="12700">
            <a:noFill/>
            <a:miter lim="800000"/>
            <a:headEnd/>
            <a:tailEnd/>
          </a:ln>
          <a:effectLst/>
        </p:spPr>
        <p:txBody>
          <a:bodyPr wrap="none">
            <a:spAutoFit/>
          </a:bodyPr>
          <a:lstStyle/>
          <a:p>
            <a:r>
              <a:rPr lang="en-US" dirty="0" smtClean="0">
                <a:solidFill>
                  <a:schemeClr val="accent2"/>
                </a:solidFill>
                <a:latin typeface="Courier New" pitchFamily="49" charset="0"/>
              </a:rPr>
              <a:t>$pc </a:t>
            </a:r>
            <a:r>
              <a:rPr lang="en-US" dirty="0" smtClean="0">
                <a:solidFill>
                  <a:schemeClr val="tx1"/>
                </a:solidFill>
                <a:latin typeface="Courier New" pitchFamily="49" charset="0"/>
                <a:sym typeface="Symbol"/>
              </a:rPr>
              <a:t></a:t>
            </a:r>
            <a:endParaRPr lang="en-US" dirty="0">
              <a:solidFill>
                <a:schemeClr val="tx1"/>
              </a:solidFill>
              <a:latin typeface="Courier New" pitchFamily="49" charset="0"/>
            </a:endParaRPr>
          </a:p>
        </p:txBody>
      </p:sp>
      <p:sp>
        <p:nvSpPr>
          <p:cNvPr id="2" name="TextBox 1"/>
          <p:cNvSpPr txBox="1"/>
          <p:nvPr/>
        </p:nvSpPr>
        <p:spPr>
          <a:xfrm>
            <a:off x="9677400" y="27051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505450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94261"/>
                                        </p:tgtEl>
                                        <p:attrNameLst>
                                          <p:attrName>style.visibility</p:attrName>
                                        </p:attrNameLst>
                                      </p:cBhvr>
                                      <p:to>
                                        <p:strVal val="visible"/>
                                      </p:to>
                                    </p:set>
                                    <p:animEffect transition="in" filter="wipe(up)">
                                      <p:cBhvr>
                                        <p:cTn id="7" dur="1000"/>
                                        <p:tgtEl>
                                          <p:spTgt spid="394261"/>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499"/>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par>
                          <p:cTn id="11" fill="hold">
                            <p:stCondLst>
                              <p:cond delay="1500"/>
                            </p:stCondLst>
                            <p:childTnLst>
                              <p:par>
                                <p:cTn id="12" presetID="1" presetClass="entr" presetSubtype="0" fill="hold" grpId="0" nodeType="afterEffect">
                                  <p:stCondLst>
                                    <p:cond delay="1000"/>
                                  </p:stCondLst>
                                  <p:childTnLst>
                                    <p:set>
                                      <p:cBhvr>
                                        <p:cTn id="13" dur="1" fill="hold">
                                          <p:stCondLst>
                                            <p:cond delay="499"/>
                                          </p:stCondLst>
                                        </p:cTn>
                                        <p:tgtEl>
                                          <p:spTgt spid="394262"/>
                                        </p:tgtEl>
                                        <p:attrNameLst>
                                          <p:attrName>style.visibility</p:attrName>
                                        </p:attrNameLst>
                                      </p:cBhvr>
                                      <p:to>
                                        <p:strVal val="visible"/>
                                      </p:to>
                                    </p:set>
                                  </p:childTnLst>
                                </p:cTn>
                              </p:par>
                            </p:childTnLst>
                          </p:cTn>
                        </p:par>
                        <p:par>
                          <p:cTn id="14" fill="hold">
                            <p:stCondLst>
                              <p:cond delay="3000"/>
                            </p:stCondLst>
                            <p:childTnLst>
                              <p:par>
                                <p:cTn id="15" presetID="1" presetClass="entr" presetSubtype="0" fill="hold" grpId="0" nodeType="afterEffect">
                                  <p:stCondLst>
                                    <p:cond delay="1000"/>
                                  </p:stCondLst>
                                  <p:childTnLst>
                                    <p:set>
                                      <p:cBhvr>
                                        <p:cTn id="16" dur="1" fill="hold">
                                          <p:stCondLst>
                                            <p:cond delay="499"/>
                                          </p:stCondLst>
                                        </p:cTn>
                                        <p:tgtEl>
                                          <p:spTgt spid="3942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par>
                          <p:cTn id="21" fill="hold">
                            <p:stCondLst>
                              <p:cond delay="500"/>
                            </p:stCondLst>
                            <p:childTnLst>
                              <p:par>
                                <p:cTn id="22" presetID="1" presetClass="entr" presetSubtype="0" fill="hold" grpId="0" nodeType="afterEffect">
                                  <p:stCondLst>
                                    <p:cond delay="1500"/>
                                  </p:stCondLst>
                                  <p:childTnLst>
                                    <p:set>
                                      <p:cBhvr>
                                        <p:cTn id="23" dur="1" fill="hold">
                                          <p:stCondLst>
                                            <p:cond delay="499"/>
                                          </p:stCondLst>
                                        </p:cTn>
                                        <p:tgtEl>
                                          <p:spTgt spid="394264"/>
                                        </p:tgtEl>
                                        <p:attrNameLst>
                                          <p:attrName>style.visibility</p:attrName>
                                        </p:attrNameLst>
                                      </p:cBhvr>
                                      <p:to>
                                        <p:strVal val="visible"/>
                                      </p:to>
                                    </p:set>
                                  </p:childTnLst>
                                </p:cTn>
                              </p:par>
                            </p:childTnLst>
                          </p:cTn>
                        </p:par>
                        <p:par>
                          <p:cTn id="24" fill="hold">
                            <p:stCondLst>
                              <p:cond delay="2500"/>
                            </p:stCondLst>
                            <p:childTnLst>
                              <p:par>
                                <p:cTn id="25" presetID="1" presetClass="entr" presetSubtype="0" fill="hold" grpId="0" nodeType="afterEffect">
                                  <p:stCondLst>
                                    <p:cond delay="1500"/>
                                  </p:stCondLst>
                                  <p:childTnLst>
                                    <p:set>
                                      <p:cBhvr>
                                        <p:cTn id="26" dur="1" fill="hold">
                                          <p:stCondLst>
                                            <p:cond delay="499"/>
                                          </p:stCondLst>
                                        </p:cTn>
                                        <p:tgtEl>
                                          <p:spTgt spid="394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9" grpId="0" autoUpdateAnimBg="0"/>
      <p:bldP spid="394262" grpId="0" animBg="1"/>
      <p:bldP spid="394263" grpId="0" autoUpdateAnimBg="0"/>
      <p:bldP spid="394264" grpId="0" animBg="1"/>
      <p:bldP spid="26" grpId="0" autoUpdateAnimBg="0"/>
      <p:bldP spid="27"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152400" y="228600"/>
            <a:ext cx="9144000" cy="372603"/>
          </a:xfrm>
        </p:spPr>
        <p:txBody>
          <a:bodyPr/>
          <a:lstStyle/>
          <a:p>
            <a:r>
              <a:rPr lang="en-US" sz="2400" dirty="0"/>
              <a:t>Compiling a Recursive </a:t>
            </a:r>
            <a:r>
              <a:rPr lang="en-US" sz="2400" dirty="0" smtClean="0"/>
              <a:t>Procedure</a:t>
            </a:r>
            <a:endParaRPr lang="en-US" sz="2400" dirty="0"/>
          </a:p>
        </p:txBody>
      </p:sp>
      <p:sp>
        <p:nvSpPr>
          <p:cNvPr id="396291" name="Rectangle 3"/>
          <p:cNvSpPr>
            <a:spLocks noGrp="1" noChangeArrowheads="1"/>
          </p:cNvSpPr>
          <p:nvPr>
            <p:ph type="body" idx="1"/>
          </p:nvPr>
        </p:nvSpPr>
        <p:spPr>
          <a:xfrm>
            <a:off x="609600" y="785794"/>
            <a:ext cx="8229600" cy="4981877"/>
          </a:xfrm>
        </p:spPr>
        <p:txBody>
          <a:bodyPr/>
          <a:lstStyle/>
          <a:p>
            <a:r>
              <a:rPr lang="en-US" dirty="0" smtClean="0"/>
              <a:t>A recursive procedure in C </a:t>
            </a:r>
            <a:r>
              <a:rPr lang="en-US" dirty="0"/>
              <a:t>for </a:t>
            </a:r>
            <a:r>
              <a:rPr lang="en-US" dirty="0" smtClean="0"/>
              <a:t>calculating the </a:t>
            </a:r>
            <a:r>
              <a:rPr lang="en-US" dirty="0"/>
              <a:t>factorial</a:t>
            </a:r>
          </a:p>
          <a:p>
            <a:pPr>
              <a:lnSpc>
                <a:spcPct val="70000"/>
              </a:lnSpc>
              <a:buFont typeface="Wingdings" pitchFamily="2" charset="2"/>
              <a:buNone/>
            </a:pPr>
            <a:r>
              <a:rPr lang="en-US" dirty="0">
                <a:latin typeface="Courier New" pitchFamily="49" charset="0"/>
              </a:rPr>
              <a:t>	</a:t>
            </a:r>
            <a:r>
              <a:rPr lang="en-US" sz="2600" dirty="0" err="1">
                <a:latin typeface="Courier New" pitchFamily="49" charset="0"/>
              </a:rPr>
              <a:t>int</a:t>
            </a:r>
            <a:r>
              <a:rPr lang="en-US" sz="2600" dirty="0">
                <a:latin typeface="Courier New" pitchFamily="49" charset="0"/>
              </a:rPr>
              <a:t> fact (</a:t>
            </a:r>
            <a:r>
              <a:rPr lang="en-US" sz="2600" dirty="0" err="1">
                <a:latin typeface="Courier New" pitchFamily="49" charset="0"/>
              </a:rPr>
              <a:t>int</a:t>
            </a:r>
            <a:r>
              <a:rPr lang="en-US" sz="2600" dirty="0">
                <a:latin typeface="Courier New" pitchFamily="49" charset="0"/>
              </a:rPr>
              <a:t> n) {</a:t>
            </a:r>
          </a:p>
          <a:p>
            <a:pPr>
              <a:lnSpc>
                <a:spcPct val="70000"/>
              </a:lnSpc>
              <a:buFont typeface="Wingdings" pitchFamily="2" charset="2"/>
              <a:buNone/>
            </a:pPr>
            <a:r>
              <a:rPr lang="en-US" sz="2600" dirty="0">
                <a:latin typeface="Courier New" pitchFamily="49" charset="0"/>
              </a:rPr>
              <a:t>		if (n &lt; 1) return 1;</a:t>
            </a:r>
          </a:p>
          <a:p>
            <a:pPr>
              <a:lnSpc>
                <a:spcPct val="70000"/>
              </a:lnSpc>
              <a:buFont typeface="Wingdings" pitchFamily="2" charset="2"/>
              <a:buNone/>
            </a:pPr>
            <a:r>
              <a:rPr lang="en-US" sz="2600" dirty="0">
                <a:latin typeface="Courier New" pitchFamily="49" charset="0"/>
              </a:rPr>
              <a:t>			else return (n * fact (n-1)); }</a:t>
            </a:r>
          </a:p>
          <a:p>
            <a:r>
              <a:rPr lang="en-US" dirty="0"/>
              <a:t>A </a:t>
            </a:r>
            <a:r>
              <a:rPr lang="en-US" dirty="0">
                <a:solidFill>
                  <a:schemeClr val="accent1"/>
                </a:solidFill>
              </a:rPr>
              <a:t>recursive</a:t>
            </a:r>
            <a:r>
              <a:rPr lang="en-US" dirty="0"/>
              <a:t> procedure (one that calls itself!)</a:t>
            </a:r>
          </a:p>
          <a:p>
            <a:pPr lvl="1">
              <a:buFont typeface="Monotype Sorts" pitchFamily="2" charset="2"/>
              <a:buNone/>
            </a:pPr>
            <a:r>
              <a:rPr lang="en-US" dirty="0"/>
              <a:t>fact (0) = 1</a:t>
            </a:r>
          </a:p>
          <a:p>
            <a:pPr lvl="1">
              <a:buFont typeface="Monotype Sorts" pitchFamily="2" charset="2"/>
              <a:buNone/>
            </a:pPr>
            <a:r>
              <a:rPr lang="en-US" dirty="0"/>
              <a:t>fact (1) = 1 * 1 = 1</a:t>
            </a:r>
          </a:p>
          <a:p>
            <a:pPr lvl="1">
              <a:buFont typeface="Monotype Sorts" pitchFamily="2" charset="2"/>
              <a:buNone/>
            </a:pPr>
            <a:r>
              <a:rPr lang="en-US" dirty="0"/>
              <a:t>fact (2) = 2 * 1 * 1 = 2</a:t>
            </a:r>
          </a:p>
          <a:p>
            <a:pPr lvl="1">
              <a:buFont typeface="Monotype Sorts" pitchFamily="2" charset="2"/>
              <a:buNone/>
            </a:pPr>
            <a:r>
              <a:rPr lang="en-US" dirty="0"/>
              <a:t>fact (3) = 3 * 2 * 1 * 1 = 6</a:t>
            </a:r>
          </a:p>
          <a:p>
            <a:pPr lvl="1">
              <a:buFont typeface="Monotype Sorts" pitchFamily="2" charset="2"/>
              <a:buNone/>
            </a:pPr>
            <a:r>
              <a:rPr lang="en-US" dirty="0"/>
              <a:t>fact (4) = 4 * 3 * 2 * 1 * 1 = 24</a:t>
            </a:r>
          </a:p>
          <a:p>
            <a:pPr lvl="1">
              <a:buFont typeface="Monotype Sorts" pitchFamily="2" charset="2"/>
              <a:buNone/>
            </a:pPr>
            <a:r>
              <a:rPr lang="en-US" dirty="0"/>
              <a:t>. . .</a:t>
            </a:r>
          </a:p>
          <a:p>
            <a:r>
              <a:rPr lang="en-US" dirty="0"/>
              <a:t>Assume </a:t>
            </a:r>
            <a:r>
              <a:rPr lang="en-US" dirty="0" smtClean="0"/>
              <a:t> </a:t>
            </a:r>
            <a:r>
              <a:rPr lang="en-US" dirty="0" smtClean="0">
                <a:latin typeface="Courier New" pitchFamily="49" charset="0"/>
              </a:rPr>
              <a:t>n</a:t>
            </a:r>
            <a:r>
              <a:rPr lang="en-US" dirty="0" smtClean="0"/>
              <a:t>  is </a:t>
            </a:r>
            <a:r>
              <a:rPr lang="en-US" dirty="0"/>
              <a:t>passed in </a:t>
            </a:r>
            <a:r>
              <a:rPr lang="en-US" dirty="0">
                <a:latin typeface="Courier New" pitchFamily="49" charset="0"/>
              </a:rPr>
              <a:t>$a0</a:t>
            </a:r>
            <a:r>
              <a:rPr lang="en-US" dirty="0"/>
              <a:t>; result returned in</a:t>
            </a:r>
            <a:r>
              <a:rPr lang="en-US" dirty="0">
                <a:latin typeface="Courier New" pitchFamily="49" charset="0"/>
              </a:rPr>
              <a:t> $v0</a:t>
            </a:r>
          </a:p>
        </p:txBody>
      </p:sp>
    </p:spTree>
    <p:extLst>
      <p:ext uri="{BB962C8B-B14F-4D97-AF65-F5344CB8AC3E}">
        <p14:creationId xmlns:p14="http://schemas.microsoft.com/office/powerpoint/2010/main" val="8352194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r>
              <a:rPr lang="en-US"/>
              <a:t>Compiling a Recursive Procedure</a:t>
            </a:r>
          </a:p>
        </p:txBody>
      </p:sp>
      <p:sp>
        <p:nvSpPr>
          <p:cNvPr id="397315" name="Rectangle 3"/>
          <p:cNvSpPr>
            <a:spLocks noGrp="1" noChangeArrowheads="1"/>
          </p:cNvSpPr>
          <p:nvPr>
            <p:ph type="body" idx="1"/>
          </p:nvPr>
        </p:nvSpPr>
        <p:spPr>
          <a:xfrm>
            <a:off x="381000" y="857232"/>
            <a:ext cx="8686800" cy="6017160"/>
          </a:xfrm>
        </p:spPr>
        <p:txBody>
          <a:bodyPr/>
          <a:lstStyle/>
          <a:p>
            <a:pPr>
              <a:lnSpc>
                <a:spcPct val="65000"/>
              </a:lnSpc>
              <a:buFont typeface="Wingdings" pitchFamily="2" charset="2"/>
              <a:buNone/>
            </a:pPr>
            <a:r>
              <a:rPr lang="en-US" sz="1800" dirty="0">
                <a:latin typeface="Courier New" pitchFamily="49" charset="0"/>
              </a:rPr>
              <a:t>fact:	</a:t>
            </a:r>
            <a:r>
              <a:rPr lang="en-US" sz="1800" dirty="0" err="1">
                <a:latin typeface="Courier New" pitchFamily="49" charset="0"/>
              </a:rPr>
              <a:t>addi</a:t>
            </a:r>
            <a:r>
              <a:rPr lang="en-US" sz="1800" dirty="0">
                <a:latin typeface="Courier New" pitchFamily="49" charset="0"/>
              </a:rPr>
              <a:t>	$sp, $sp, -8	#adjust stack pointer</a:t>
            </a:r>
          </a:p>
          <a:p>
            <a:pPr>
              <a:lnSpc>
                <a:spcPct val="65000"/>
              </a:lnSpc>
              <a:buFont typeface="Wingdings" pitchFamily="2" charset="2"/>
              <a:buNone/>
            </a:pPr>
            <a:r>
              <a:rPr lang="en-US" sz="1800" dirty="0">
                <a:latin typeface="Courier New" pitchFamily="49" charset="0"/>
              </a:rPr>
              <a:t>		</a:t>
            </a:r>
            <a:r>
              <a:rPr lang="en-US" sz="1800" dirty="0" err="1">
                <a:latin typeface="Courier New" pitchFamily="49" charset="0"/>
              </a:rPr>
              <a:t>sw</a:t>
            </a:r>
            <a:r>
              <a:rPr lang="en-US" sz="1800" dirty="0">
                <a:latin typeface="Courier New" pitchFamily="49" charset="0"/>
              </a:rPr>
              <a:t>	$</a:t>
            </a:r>
            <a:r>
              <a:rPr lang="en-US" sz="1800" dirty="0" err="1">
                <a:latin typeface="Courier New" pitchFamily="49" charset="0"/>
              </a:rPr>
              <a:t>ra</a:t>
            </a:r>
            <a:r>
              <a:rPr lang="en-US" sz="1800" dirty="0">
                <a:latin typeface="Courier New" pitchFamily="49" charset="0"/>
              </a:rPr>
              <a:t>, 4($sp)	#save return address</a:t>
            </a:r>
          </a:p>
          <a:p>
            <a:pPr>
              <a:lnSpc>
                <a:spcPct val="65000"/>
              </a:lnSpc>
              <a:buFont typeface="Wingdings" pitchFamily="2" charset="2"/>
              <a:buNone/>
            </a:pPr>
            <a:r>
              <a:rPr lang="en-US" sz="1800" dirty="0">
                <a:latin typeface="Courier New" pitchFamily="49" charset="0"/>
              </a:rPr>
              <a:t>		</a:t>
            </a:r>
            <a:r>
              <a:rPr lang="en-US" sz="1800" dirty="0" err="1">
                <a:latin typeface="Courier New" pitchFamily="49" charset="0"/>
              </a:rPr>
              <a:t>sw</a:t>
            </a:r>
            <a:r>
              <a:rPr lang="en-US" sz="1800" dirty="0">
                <a:latin typeface="Courier New" pitchFamily="49" charset="0"/>
              </a:rPr>
              <a:t>	$a0, 0($sp)	#save argument n</a:t>
            </a:r>
          </a:p>
          <a:p>
            <a:pPr>
              <a:lnSpc>
                <a:spcPct val="65000"/>
              </a:lnSpc>
              <a:buFont typeface="Wingdings" pitchFamily="2" charset="2"/>
              <a:buNone/>
            </a:pPr>
            <a:r>
              <a:rPr lang="en-US" sz="1800" dirty="0">
                <a:latin typeface="Courier New" pitchFamily="49" charset="0"/>
              </a:rPr>
              <a:t>		</a:t>
            </a:r>
            <a:r>
              <a:rPr lang="en-US" sz="1800" dirty="0" err="1">
                <a:latin typeface="Courier New" pitchFamily="49" charset="0"/>
              </a:rPr>
              <a:t>slti</a:t>
            </a:r>
            <a:r>
              <a:rPr lang="en-US" sz="1800" dirty="0">
                <a:latin typeface="Courier New" pitchFamily="49" charset="0"/>
              </a:rPr>
              <a:t>	$t0, $a0, 1	#test for n &lt; 1</a:t>
            </a:r>
          </a:p>
          <a:p>
            <a:pPr>
              <a:lnSpc>
                <a:spcPct val="65000"/>
              </a:lnSpc>
              <a:buFont typeface="Wingdings" pitchFamily="2" charset="2"/>
              <a:buNone/>
            </a:pPr>
            <a:r>
              <a:rPr lang="en-US" sz="1800" dirty="0">
                <a:latin typeface="Courier New" pitchFamily="49" charset="0"/>
              </a:rPr>
              <a:t>		</a:t>
            </a:r>
            <a:r>
              <a:rPr lang="en-US" sz="1800" dirty="0" err="1">
                <a:latin typeface="Courier New" pitchFamily="49" charset="0"/>
              </a:rPr>
              <a:t>beq</a:t>
            </a:r>
            <a:r>
              <a:rPr lang="en-US" sz="1800" dirty="0">
                <a:latin typeface="Courier New" pitchFamily="49" charset="0"/>
              </a:rPr>
              <a:t>	$t0, $zero, L1	#if n &gt;=1, go to L1</a:t>
            </a:r>
          </a:p>
          <a:p>
            <a:pPr>
              <a:lnSpc>
                <a:spcPct val="65000"/>
              </a:lnSpc>
              <a:buFont typeface="Wingdings" pitchFamily="2" charset="2"/>
              <a:buNone/>
            </a:pPr>
            <a:r>
              <a:rPr lang="en-US" sz="1800" dirty="0">
                <a:latin typeface="Courier New" pitchFamily="49" charset="0"/>
              </a:rPr>
              <a:t>		</a:t>
            </a:r>
            <a:r>
              <a:rPr lang="en-US" sz="1800" dirty="0" err="1">
                <a:solidFill>
                  <a:srgbClr val="0000D0"/>
                </a:solidFill>
                <a:latin typeface="Courier New" pitchFamily="49" charset="0"/>
              </a:rPr>
              <a:t>addi</a:t>
            </a:r>
            <a:r>
              <a:rPr lang="en-US" sz="1800" dirty="0">
                <a:solidFill>
                  <a:srgbClr val="0000D0"/>
                </a:solidFill>
                <a:latin typeface="Courier New" pitchFamily="49" charset="0"/>
              </a:rPr>
              <a:t>	$v0, $zero, 1</a:t>
            </a:r>
            <a:r>
              <a:rPr lang="en-US" sz="1800" dirty="0">
                <a:latin typeface="Courier New" pitchFamily="49" charset="0"/>
              </a:rPr>
              <a:t>	#else return 1 in $v0</a:t>
            </a:r>
          </a:p>
          <a:p>
            <a:pPr>
              <a:lnSpc>
                <a:spcPct val="65000"/>
              </a:lnSpc>
              <a:buFont typeface="Wingdings" pitchFamily="2" charset="2"/>
              <a:buNone/>
            </a:pPr>
            <a:r>
              <a:rPr lang="en-US" sz="1800" dirty="0">
                <a:latin typeface="Courier New" pitchFamily="49" charset="0"/>
              </a:rPr>
              <a:t>		</a:t>
            </a:r>
            <a:r>
              <a:rPr lang="en-US" sz="1800" dirty="0" err="1">
                <a:latin typeface="Courier New" pitchFamily="49" charset="0"/>
              </a:rPr>
              <a:t>addi</a:t>
            </a:r>
            <a:r>
              <a:rPr lang="en-US" sz="1800" dirty="0">
                <a:latin typeface="Courier New" pitchFamily="49" charset="0"/>
              </a:rPr>
              <a:t>	$sp, $sp, 8	#adjust stack pointer</a:t>
            </a:r>
          </a:p>
          <a:p>
            <a:pPr>
              <a:lnSpc>
                <a:spcPct val="65000"/>
              </a:lnSpc>
              <a:buFont typeface="Wingdings" pitchFamily="2" charset="2"/>
              <a:buNone/>
            </a:pPr>
            <a:r>
              <a:rPr lang="en-US" sz="1800" dirty="0">
                <a:latin typeface="Courier New" pitchFamily="49" charset="0"/>
              </a:rPr>
              <a:t>		</a:t>
            </a:r>
            <a:r>
              <a:rPr lang="en-US" sz="1800" b="1" dirty="0" err="1">
                <a:latin typeface="Courier New" pitchFamily="49" charset="0"/>
              </a:rPr>
              <a:t>jr</a:t>
            </a:r>
            <a:r>
              <a:rPr lang="en-US" sz="1800" b="1" dirty="0">
                <a:latin typeface="Courier New" pitchFamily="49" charset="0"/>
              </a:rPr>
              <a:t>	$</a:t>
            </a:r>
            <a:r>
              <a:rPr lang="en-US" sz="1800" b="1" dirty="0" err="1">
                <a:latin typeface="Courier New" pitchFamily="49" charset="0"/>
              </a:rPr>
              <a:t>ra</a:t>
            </a:r>
            <a:r>
              <a:rPr lang="en-US" sz="1800" dirty="0">
                <a:latin typeface="Courier New" pitchFamily="49" charset="0"/>
              </a:rPr>
              <a:t>			#return to caller (</a:t>
            </a:r>
            <a:r>
              <a:rPr lang="en-US" sz="1800" dirty="0">
                <a:solidFill>
                  <a:srgbClr val="FF0000"/>
                </a:solidFill>
                <a:latin typeface="Courier New" pitchFamily="49" charset="0"/>
              </a:rPr>
              <a:t>1</a:t>
            </a:r>
            <a:r>
              <a:rPr lang="en-US" sz="1800" baseline="30000" dirty="0">
                <a:solidFill>
                  <a:srgbClr val="FF0000"/>
                </a:solidFill>
                <a:latin typeface="Courier New" pitchFamily="49" charset="0"/>
              </a:rPr>
              <a:t>st</a:t>
            </a:r>
            <a:r>
              <a:rPr lang="en-US" sz="1800" dirty="0">
                <a:latin typeface="Courier New" pitchFamily="49" charset="0"/>
              </a:rPr>
              <a:t>)</a:t>
            </a:r>
          </a:p>
          <a:p>
            <a:pPr>
              <a:lnSpc>
                <a:spcPct val="65000"/>
              </a:lnSpc>
              <a:buFont typeface="Wingdings" pitchFamily="2" charset="2"/>
              <a:buNone/>
            </a:pPr>
            <a:endParaRPr lang="en-US" sz="1800" dirty="0">
              <a:latin typeface="Courier New" pitchFamily="49" charset="0"/>
            </a:endParaRPr>
          </a:p>
          <a:p>
            <a:pPr>
              <a:lnSpc>
                <a:spcPct val="65000"/>
              </a:lnSpc>
              <a:buFont typeface="Wingdings" pitchFamily="2" charset="2"/>
              <a:buNone/>
            </a:pPr>
            <a:r>
              <a:rPr lang="en-US" sz="1800" dirty="0">
                <a:latin typeface="Courier New" pitchFamily="49" charset="0"/>
              </a:rPr>
              <a:t>L1:	</a:t>
            </a:r>
            <a:r>
              <a:rPr lang="en-US" sz="1800" dirty="0" err="1">
                <a:latin typeface="Courier New" pitchFamily="49" charset="0"/>
              </a:rPr>
              <a:t>addi</a:t>
            </a:r>
            <a:r>
              <a:rPr lang="en-US" sz="1800" dirty="0">
                <a:latin typeface="Courier New" pitchFamily="49" charset="0"/>
              </a:rPr>
              <a:t>	$a0, $a0, -1	#n &gt;=1, so decrement n</a:t>
            </a:r>
          </a:p>
          <a:p>
            <a:pPr>
              <a:lnSpc>
                <a:spcPct val="65000"/>
              </a:lnSpc>
              <a:buFont typeface="Wingdings" pitchFamily="2" charset="2"/>
              <a:buNone/>
            </a:pPr>
            <a:r>
              <a:rPr lang="en-US" sz="1800" dirty="0">
                <a:latin typeface="Courier New" pitchFamily="49" charset="0"/>
              </a:rPr>
              <a:t>		</a:t>
            </a:r>
            <a:r>
              <a:rPr lang="en-US" sz="1800" b="1" dirty="0" err="1">
                <a:latin typeface="Courier New" pitchFamily="49" charset="0"/>
              </a:rPr>
              <a:t>jal</a:t>
            </a:r>
            <a:r>
              <a:rPr lang="en-US" sz="1800" b="1" dirty="0">
                <a:latin typeface="Courier New" pitchFamily="49" charset="0"/>
              </a:rPr>
              <a:t>	fact</a:t>
            </a:r>
            <a:r>
              <a:rPr lang="en-US" sz="1800" dirty="0">
                <a:latin typeface="Courier New" pitchFamily="49" charset="0"/>
              </a:rPr>
              <a:t>			#call fact with (n-1)</a:t>
            </a:r>
          </a:p>
          <a:p>
            <a:pPr>
              <a:lnSpc>
                <a:spcPct val="65000"/>
              </a:lnSpc>
              <a:buFont typeface="Wingdings" pitchFamily="2" charset="2"/>
              <a:buNone/>
            </a:pPr>
            <a:r>
              <a:rPr lang="en-US" sz="1800" dirty="0">
                <a:latin typeface="Courier New" pitchFamily="49" charset="0"/>
              </a:rPr>
              <a:t>		#this is where fact </a:t>
            </a:r>
            <a:r>
              <a:rPr lang="en-US" sz="1800" dirty="0" smtClean="0">
                <a:latin typeface="Courier New" pitchFamily="49" charset="0"/>
              </a:rPr>
              <a:t>returns</a:t>
            </a:r>
            <a:endParaRPr lang="en-US" sz="1800" dirty="0">
              <a:latin typeface="Courier New" pitchFamily="49" charset="0"/>
            </a:endParaRPr>
          </a:p>
          <a:p>
            <a:pPr>
              <a:lnSpc>
                <a:spcPct val="65000"/>
              </a:lnSpc>
              <a:buFont typeface="Wingdings" pitchFamily="2" charset="2"/>
              <a:buNone/>
            </a:pPr>
            <a:r>
              <a:rPr lang="en-US" sz="1800" dirty="0" err="1">
                <a:latin typeface="Courier New" pitchFamily="49" charset="0"/>
              </a:rPr>
              <a:t>bk_f</a:t>
            </a:r>
            <a:r>
              <a:rPr lang="en-US" sz="1800" dirty="0">
                <a:latin typeface="Courier New" pitchFamily="49" charset="0"/>
              </a:rPr>
              <a:t>:	</a:t>
            </a:r>
            <a:r>
              <a:rPr lang="en-US" sz="1800" dirty="0" err="1">
                <a:latin typeface="Courier New" pitchFamily="49" charset="0"/>
              </a:rPr>
              <a:t>lw</a:t>
            </a:r>
            <a:r>
              <a:rPr lang="en-US" sz="1800" dirty="0">
                <a:latin typeface="Courier New" pitchFamily="49" charset="0"/>
              </a:rPr>
              <a:t>	$a0, 0($sp)	#restore argument n</a:t>
            </a:r>
          </a:p>
          <a:p>
            <a:pPr>
              <a:lnSpc>
                <a:spcPct val="65000"/>
              </a:lnSpc>
              <a:buFont typeface="Wingdings" pitchFamily="2" charset="2"/>
              <a:buNone/>
            </a:pPr>
            <a:r>
              <a:rPr lang="en-US" sz="1800" dirty="0">
                <a:latin typeface="Courier New" pitchFamily="49" charset="0"/>
              </a:rPr>
              <a:t>		</a:t>
            </a:r>
            <a:r>
              <a:rPr lang="en-US" sz="1800" dirty="0" err="1">
                <a:latin typeface="Courier New" pitchFamily="49" charset="0"/>
              </a:rPr>
              <a:t>lw</a:t>
            </a:r>
            <a:r>
              <a:rPr lang="en-US" sz="1800" dirty="0">
                <a:latin typeface="Courier New" pitchFamily="49" charset="0"/>
              </a:rPr>
              <a:t>	$</a:t>
            </a:r>
            <a:r>
              <a:rPr lang="en-US" sz="1800" dirty="0" err="1">
                <a:latin typeface="Courier New" pitchFamily="49" charset="0"/>
              </a:rPr>
              <a:t>ra</a:t>
            </a:r>
            <a:r>
              <a:rPr lang="en-US" sz="1800" dirty="0">
                <a:latin typeface="Courier New" pitchFamily="49" charset="0"/>
              </a:rPr>
              <a:t>, 4($sp)	#restore return address</a:t>
            </a:r>
          </a:p>
          <a:p>
            <a:pPr>
              <a:lnSpc>
                <a:spcPct val="65000"/>
              </a:lnSpc>
              <a:buFont typeface="Wingdings" pitchFamily="2" charset="2"/>
              <a:buNone/>
            </a:pPr>
            <a:r>
              <a:rPr lang="en-US" sz="1800" dirty="0">
                <a:latin typeface="Courier New" pitchFamily="49" charset="0"/>
              </a:rPr>
              <a:t>		</a:t>
            </a:r>
            <a:r>
              <a:rPr lang="en-US" sz="1800" dirty="0" err="1">
                <a:latin typeface="Courier New" pitchFamily="49" charset="0"/>
              </a:rPr>
              <a:t>addi</a:t>
            </a:r>
            <a:r>
              <a:rPr lang="en-US" sz="1800" dirty="0">
                <a:latin typeface="Courier New" pitchFamily="49" charset="0"/>
              </a:rPr>
              <a:t>	$sp, $sp, 8	#adjust stack pointer</a:t>
            </a:r>
          </a:p>
          <a:p>
            <a:pPr>
              <a:lnSpc>
                <a:spcPct val="65000"/>
              </a:lnSpc>
              <a:buFont typeface="Wingdings" pitchFamily="2" charset="2"/>
              <a:buNone/>
            </a:pPr>
            <a:r>
              <a:rPr lang="en-US" sz="1800" dirty="0">
                <a:latin typeface="Courier New" pitchFamily="49" charset="0"/>
              </a:rPr>
              <a:t>		</a:t>
            </a:r>
            <a:r>
              <a:rPr lang="en-US" sz="1800" dirty="0" err="1">
                <a:solidFill>
                  <a:srgbClr val="0000D0"/>
                </a:solidFill>
                <a:latin typeface="Courier New" pitchFamily="49" charset="0"/>
              </a:rPr>
              <a:t>mul</a:t>
            </a:r>
            <a:r>
              <a:rPr lang="en-US" sz="1800" dirty="0">
                <a:solidFill>
                  <a:srgbClr val="0000D0"/>
                </a:solidFill>
                <a:latin typeface="Courier New" pitchFamily="49" charset="0"/>
              </a:rPr>
              <a:t>	$v0, $a0, $v0</a:t>
            </a:r>
            <a:r>
              <a:rPr lang="en-US" sz="1800" dirty="0">
                <a:latin typeface="Courier New" pitchFamily="49" charset="0"/>
              </a:rPr>
              <a:t>	#$v0 = n * fact(n-1)</a:t>
            </a:r>
          </a:p>
          <a:p>
            <a:pPr>
              <a:lnSpc>
                <a:spcPct val="65000"/>
              </a:lnSpc>
              <a:buFont typeface="Wingdings" pitchFamily="2" charset="2"/>
              <a:buNone/>
            </a:pPr>
            <a:r>
              <a:rPr lang="en-US" sz="1800" dirty="0">
                <a:latin typeface="Courier New" pitchFamily="49" charset="0"/>
              </a:rPr>
              <a:t>		</a:t>
            </a:r>
            <a:r>
              <a:rPr lang="en-US" sz="1800" b="1" dirty="0" err="1">
                <a:latin typeface="Courier New" pitchFamily="49" charset="0"/>
              </a:rPr>
              <a:t>jr</a:t>
            </a:r>
            <a:r>
              <a:rPr lang="en-US" sz="1800" b="1" dirty="0">
                <a:latin typeface="Courier New" pitchFamily="49" charset="0"/>
              </a:rPr>
              <a:t>	$</a:t>
            </a:r>
            <a:r>
              <a:rPr lang="en-US" sz="1800" b="1" dirty="0" err="1">
                <a:latin typeface="Courier New" pitchFamily="49" charset="0"/>
              </a:rPr>
              <a:t>ra</a:t>
            </a:r>
            <a:r>
              <a:rPr lang="en-US" sz="1800" dirty="0">
                <a:latin typeface="Courier New" pitchFamily="49" charset="0"/>
              </a:rPr>
              <a:t>			#return to caller (</a:t>
            </a:r>
            <a:r>
              <a:rPr lang="en-US" sz="1800" dirty="0">
                <a:solidFill>
                  <a:srgbClr val="FF0000"/>
                </a:solidFill>
                <a:latin typeface="Courier New" pitchFamily="49" charset="0"/>
              </a:rPr>
              <a:t>2</a:t>
            </a:r>
            <a:r>
              <a:rPr lang="en-US" sz="1800" baseline="30000" dirty="0">
                <a:solidFill>
                  <a:srgbClr val="FF0000"/>
                </a:solidFill>
                <a:latin typeface="Courier New" pitchFamily="49" charset="0"/>
              </a:rPr>
              <a:t>nd</a:t>
            </a:r>
            <a:r>
              <a:rPr lang="en-US" sz="1800" dirty="0">
                <a:latin typeface="Courier New" pitchFamily="49" charset="0"/>
              </a:rPr>
              <a:t>)</a:t>
            </a:r>
          </a:p>
        </p:txBody>
      </p:sp>
    </p:spTree>
    <p:extLst>
      <p:ext uri="{BB962C8B-B14F-4D97-AF65-F5344CB8AC3E}">
        <p14:creationId xmlns:p14="http://schemas.microsoft.com/office/powerpoint/2010/main" val="15806667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 Procedure Structure</a:t>
            </a:r>
            <a:endParaRPr lang="en-US" dirty="0"/>
          </a:p>
        </p:txBody>
      </p:sp>
      <p:sp>
        <p:nvSpPr>
          <p:cNvPr id="3" name="Content Placeholder 2"/>
          <p:cNvSpPr>
            <a:spLocks noGrp="1"/>
          </p:cNvSpPr>
          <p:nvPr>
            <p:ph idx="1"/>
          </p:nvPr>
        </p:nvSpPr>
        <p:spPr>
          <a:xfrm>
            <a:off x="714348" y="1003759"/>
            <a:ext cx="7643866" cy="1639423"/>
          </a:xfrm>
        </p:spPr>
        <p:txBody>
          <a:bodyPr/>
          <a:lstStyle/>
          <a:p>
            <a:pPr>
              <a:buNone/>
            </a:pPr>
            <a:r>
              <a:rPr lang="en-US" dirty="0" smtClean="0"/>
              <a:t>Main routine</a:t>
            </a:r>
          </a:p>
          <a:p>
            <a:pPr>
              <a:buNone/>
            </a:pPr>
            <a:r>
              <a:rPr lang="en-US" dirty="0" smtClean="0"/>
              <a:t>	Does input, output, sets up the parameters to pass to the recursive procedure in </a:t>
            </a:r>
            <a:r>
              <a:rPr lang="en-US" dirty="0" smtClean="0">
                <a:latin typeface="Courier New" pitchFamily="49" charset="0"/>
                <a:cs typeface="Courier New" pitchFamily="49" charset="0"/>
              </a:rPr>
              <a:t>$a0 </a:t>
            </a:r>
            <a:r>
              <a:rPr lang="en-US" dirty="0" smtClean="0"/>
              <a:t>through </a:t>
            </a:r>
            <a:r>
              <a:rPr lang="en-US" dirty="0" smtClean="0">
                <a:latin typeface="Courier New" pitchFamily="49" charset="0"/>
                <a:cs typeface="Courier New" pitchFamily="49" charset="0"/>
              </a:rPr>
              <a:t>$a3 </a:t>
            </a:r>
            <a:r>
              <a:rPr lang="en-US" dirty="0" smtClean="0">
                <a:cs typeface="Courier New" pitchFamily="49" charset="0"/>
              </a:rPr>
              <a:t>and then calls the recursive procedure with a </a:t>
            </a:r>
            <a:r>
              <a:rPr lang="en-US" dirty="0" err="1" smtClean="0">
                <a:latin typeface="Courier New" pitchFamily="49" charset="0"/>
                <a:cs typeface="Courier New" pitchFamily="49" charset="0"/>
              </a:rPr>
              <a:t>jal</a:t>
            </a:r>
            <a:endParaRPr lang="en-US" dirty="0">
              <a:latin typeface="Courier New" pitchFamily="49" charset="0"/>
              <a:cs typeface="Courier New" pitchFamily="49" charset="0"/>
            </a:endParaRPr>
          </a:p>
        </p:txBody>
      </p:sp>
      <p:sp>
        <p:nvSpPr>
          <p:cNvPr id="4" name="Rectangle 3"/>
          <p:cNvSpPr/>
          <p:nvPr/>
        </p:nvSpPr>
        <p:spPr bwMode="auto">
          <a:xfrm>
            <a:off x="714348" y="1000108"/>
            <a:ext cx="7786742" cy="1571636"/>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accent1"/>
              </a:solidFill>
              <a:effectLst/>
              <a:latin typeface="Arial" charset="0"/>
            </a:endParaRPr>
          </a:p>
        </p:txBody>
      </p:sp>
      <p:sp>
        <p:nvSpPr>
          <p:cNvPr id="6" name="Rectangle 5"/>
          <p:cNvSpPr/>
          <p:nvPr/>
        </p:nvSpPr>
        <p:spPr bwMode="auto">
          <a:xfrm>
            <a:off x="714348" y="2714620"/>
            <a:ext cx="7786742" cy="3786214"/>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accent1"/>
              </a:solidFill>
              <a:effectLst/>
              <a:latin typeface="Arial" charset="0"/>
            </a:endParaRPr>
          </a:p>
        </p:txBody>
      </p:sp>
      <p:sp>
        <p:nvSpPr>
          <p:cNvPr id="7" name="Content Placeholder 2"/>
          <p:cNvSpPr txBox="1">
            <a:spLocks/>
          </p:cNvSpPr>
          <p:nvPr/>
        </p:nvSpPr>
        <p:spPr bwMode="auto">
          <a:xfrm>
            <a:off x="714348" y="2714620"/>
            <a:ext cx="7715304" cy="3227550"/>
          </a:xfrm>
          <a:prstGeom prst="rect">
            <a:avLst/>
          </a:prstGeom>
          <a:noFill/>
          <a:ln w="12700">
            <a:noFill/>
            <a:miter lim="800000"/>
            <a:headEnd/>
            <a:tailEnd/>
          </a:ln>
          <a:effectLst/>
        </p:spPr>
        <p:txBody>
          <a:bodyPr vert="horz" wrap="square" lIns="63500" tIns="25400" rIns="63500" bIns="25400" numCol="1" anchor="t" anchorCtr="0" compatLnSpc="1">
            <a:prstTxWarp prst="textNoShape">
              <a:avLst/>
            </a:prstTxWarp>
            <a:spAutoFit/>
          </a:bodyPr>
          <a:lstStyle/>
          <a:p>
            <a:pPr marL="287338" marR="0" lvl="0" indent="-287338"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Recursive</a:t>
            </a:r>
            <a:r>
              <a:rPr kumimoji="0" lang="en-US" sz="2400" b="0" i="0" u="none" strike="noStrike" kern="0" cap="none" spc="0" normalizeH="0" noProof="0" dirty="0" smtClean="0">
                <a:ln>
                  <a:noFill/>
                </a:ln>
                <a:solidFill>
                  <a:schemeClr val="tx1"/>
                </a:solidFill>
                <a:effectLst/>
                <a:uLnTx/>
                <a:uFillTx/>
                <a:latin typeface="+mn-lt"/>
                <a:ea typeface="+mn-ea"/>
                <a:cs typeface="+mn-cs"/>
              </a:rPr>
              <a:t> </a:t>
            </a:r>
            <a:r>
              <a:rPr kumimoji="0" lang="en-US" sz="2400" b="0" i="0" u="none" strike="noStrike" kern="0" cap="none" spc="0" normalizeH="0" baseline="0" noProof="0" dirty="0" smtClean="0">
                <a:ln>
                  <a:noFill/>
                </a:ln>
                <a:solidFill>
                  <a:schemeClr val="tx1"/>
                </a:solidFill>
                <a:effectLst/>
                <a:uLnTx/>
                <a:uFillTx/>
                <a:latin typeface="+mn-lt"/>
                <a:ea typeface="+mn-ea"/>
                <a:cs typeface="+mn-cs"/>
              </a:rPr>
              <a:t>procedure</a:t>
            </a:r>
          </a:p>
          <a:p>
            <a:pPr marL="287338" marR="0" lvl="0" indent="-287338"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	From the arguments</a:t>
            </a:r>
            <a:r>
              <a:rPr kumimoji="0" lang="en-US" sz="2400" b="0" i="0" u="none" strike="noStrike" kern="0" cap="none" spc="0" normalizeH="0" noProof="0" dirty="0" smtClean="0">
                <a:ln>
                  <a:noFill/>
                </a:ln>
                <a:solidFill>
                  <a:schemeClr val="tx1"/>
                </a:solidFill>
                <a:effectLst/>
                <a:uLnTx/>
                <a:uFillTx/>
                <a:latin typeface="+mn-lt"/>
                <a:ea typeface="+mn-ea"/>
                <a:cs typeface="+mn-cs"/>
              </a:rPr>
              <a:t> sent to it by the Main routine in </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$a0 </a:t>
            </a:r>
            <a:r>
              <a:rPr kumimoji="0" lang="en-US" sz="2400" b="0" i="0" u="none" strike="noStrike" kern="0" cap="none" spc="0" normalizeH="0" noProof="0" dirty="0" smtClean="0">
                <a:ln>
                  <a:noFill/>
                </a:ln>
                <a:solidFill>
                  <a:schemeClr val="tx1"/>
                </a:solidFill>
                <a:effectLst/>
                <a:uLnTx/>
                <a:uFillTx/>
                <a:latin typeface="+mn-lt"/>
                <a:ea typeface="+mn-ea"/>
                <a:cs typeface="+mn-cs"/>
              </a:rPr>
              <a:t>and </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$a3, </a:t>
            </a:r>
            <a:r>
              <a:rPr kumimoji="0" lang="en-US" sz="2400" b="0" i="0" u="none" strike="noStrike" kern="0" cap="none" spc="0" normalizeH="0" noProof="0" dirty="0" smtClean="0">
                <a:ln>
                  <a:noFill/>
                </a:ln>
                <a:solidFill>
                  <a:schemeClr val="tx1"/>
                </a:solidFill>
                <a:effectLst/>
                <a:uLnTx/>
                <a:uFillTx/>
                <a:latin typeface="+mn-lt"/>
                <a:ea typeface="+mn-ea"/>
                <a:cs typeface="+mn-cs"/>
              </a:rPr>
              <a:t>computes the result(s) of the function and puts those values in </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$v0 </a:t>
            </a:r>
            <a:r>
              <a:rPr kumimoji="0" lang="en-US" sz="2400" b="0" i="0" u="none" strike="noStrike" kern="0" cap="none" spc="0" normalizeH="0" noProof="0" dirty="0" smtClean="0">
                <a:ln>
                  <a:noFill/>
                </a:ln>
                <a:solidFill>
                  <a:schemeClr val="tx1"/>
                </a:solidFill>
                <a:effectLst/>
                <a:uLnTx/>
                <a:uFillTx/>
                <a:latin typeface="+mn-lt"/>
                <a:ea typeface="+mn-ea"/>
                <a:cs typeface="+mn-cs"/>
              </a:rPr>
              <a:t>and </a:t>
            </a:r>
            <a:r>
              <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rPr>
              <a:t>$v1 </a:t>
            </a:r>
            <a:r>
              <a:rPr kumimoji="0" lang="en-US" sz="2400" b="0" i="0" u="none" strike="noStrike" kern="0" cap="none" spc="0" normalizeH="0" noProof="0" dirty="0" smtClean="0">
                <a:ln>
                  <a:noFill/>
                </a:ln>
                <a:solidFill>
                  <a:schemeClr val="tx1"/>
                </a:solidFill>
                <a:effectLst/>
                <a:uLnTx/>
                <a:uFillTx/>
                <a:latin typeface="+mn-lt"/>
                <a:ea typeface="+mn-ea"/>
                <a:cs typeface="+mn-cs"/>
              </a:rPr>
              <a:t>before returning to the Main routine with a </a:t>
            </a:r>
            <a:r>
              <a:rPr kumimoji="0" lang="en-US" sz="2400" b="0" i="0" u="none" strike="noStrike" kern="0" cap="none" spc="0" normalizeH="0" noProof="0" dirty="0" err="1" smtClean="0">
                <a:ln>
                  <a:noFill/>
                </a:ln>
                <a:solidFill>
                  <a:schemeClr val="tx1"/>
                </a:solidFill>
                <a:effectLst/>
                <a:uLnTx/>
                <a:uFillTx/>
                <a:latin typeface="Courier New" pitchFamily="49" charset="0"/>
                <a:cs typeface="Courier New" pitchFamily="49" charset="0"/>
              </a:rPr>
              <a:t>jr</a:t>
            </a:r>
            <a:endParaRPr kumimoji="0" lang="en-US" sz="2400" b="0" i="0" u="none" strike="noStrike" kern="0" cap="none" spc="0" normalizeH="0" noProof="0" dirty="0" smtClean="0">
              <a:ln>
                <a:noFill/>
              </a:ln>
              <a:solidFill>
                <a:schemeClr val="tx1"/>
              </a:solidFill>
              <a:effectLst/>
              <a:uLnTx/>
              <a:uFillTx/>
              <a:latin typeface="Courier New" pitchFamily="49" charset="0"/>
              <a:cs typeface="Courier New" pitchFamily="49" charset="0"/>
            </a:endParaRPr>
          </a:p>
          <a:p>
            <a:pPr marL="287338" marR="0" lvl="0" indent="-287338"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defRPr/>
            </a:pPr>
            <a:r>
              <a:rPr lang="en-US" sz="2400" kern="0" baseline="0" dirty="0" smtClean="0">
                <a:solidFill>
                  <a:schemeClr val="tx1"/>
                </a:solidFill>
                <a:latin typeface="+mn-lt"/>
              </a:rPr>
              <a:t>		Recursive procedure call themselves with a</a:t>
            </a:r>
            <a:r>
              <a:rPr lang="en-US" sz="2400" kern="0" baseline="0" dirty="0" smtClean="0">
                <a:solidFill>
                  <a:schemeClr val="tx1"/>
                </a:solidFill>
                <a:latin typeface="Courier New" pitchFamily="49" charset="0"/>
                <a:cs typeface="Courier New" pitchFamily="49" charset="0"/>
              </a:rPr>
              <a:t> </a:t>
            </a:r>
            <a:r>
              <a:rPr lang="en-US" sz="2400" kern="0" baseline="0" dirty="0" err="1" smtClean="0">
                <a:solidFill>
                  <a:schemeClr val="tx1"/>
                </a:solidFill>
                <a:latin typeface="Courier New" pitchFamily="49" charset="0"/>
                <a:cs typeface="Courier New" pitchFamily="49" charset="0"/>
              </a:rPr>
              <a:t>jal</a:t>
            </a:r>
            <a:r>
              <a:rPr lang="en-US" sz="2400" kern="0" baseline="0" dirty="0" smtClean="0">
                <a:solidFill>
                  <a:schemeClr val="tx1"/>
                </a:solidFill>
                <a:latin typeface="Courier New" pitchFamily="49" charset="0"/>
                <a:cs typeface="Courier New" pitchFamily="49" charset="0"/>
              </a:rPr>
              <a:t> </a:t>
            </a:r>
            <a:r>
              <a:rPr lang="en-US" sz="2400" kern="0" baseline="0" dirty="0" smtClean="0">
                <a:solidFill>
                  <a:schemeClr val="tx1"/>
                </a:solidFill>
                <a:latin typeface="+mn-lt"/>
              </a:rPr>
              <a:t>(typically from somewhere in the middle of the code)</a:t>
            </a:r>
            <a:r>
              <a:rPr lang="en-US" sz="2400" kern="0" dirty="0">
                <a:solidFill>
                  <a:schemeClr val="tx1"/>
                </a:solidFill>
                <a:latin typeface="Courier New" pitchFamily="49" charset="0"/>
                <a:cs typeface="Courier New" pitchFamily="49" charset="0"/>
              </a:rPr>
              <a:t> </a:t>
            </a:r>
            <a:r>
              <a:rPr lang="en-US" sz="2400" kern="0" dirty="0" smtClean="0">
                <a:solidFill>
                  <a:schemeClr val="tx1"/>
                </a:solidFill>
                <a:latin typeface="+mn-lt"/>
                <a:cs typeface="Courier New" pitchFamily="49" charset="0"/>
              </a:rPr>
              <a:t>and return to themselves with a </a:t>
            </a:r>
            <a:r>
              <a:rPr lang="en-US" sz="2400" kern="0" dirty="0" err="1" smtClean="0">
                <a:solidFill>
                  <a:schemeClr val="tx1"/>
                </a:solidFill>
                <a:latin typeface="Courier New" pitchFamily="49" charset="0"/>
                <a:cs typeface="Courier New" pitchFamily="49" charset="0"/>
              </a:rPr>
              <a:t>jr</a:t>
            </a:r>
            <a:endParaRPr lang="en-US" sz="2400" kern="0" baseline="0" dirty="0" smtClean="0">
              <a:solidFill>
                <a:schemeClr val="tx1"/>
              </a:solidFill>
              <a:latin typeface="+mn-lt"/>
            </a:endParaRPr>
          </a:p>
        </p:txBody>
      </p:sp>
    </p:spTree>
    <p:extLst>
      <p:ext uri="{BB962C8B-B14F-4D97-AF65-F5344CB8AC3E}">
        <p14:creationId xmlns:p14="http://schemas.microsoft.com/office/powerpoint/2010/main" val="1145387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en-US"/>
              <a:t>A Look at the Stack for $a0 = 2, Part 1</a:t>
            </a:r>
          </a:p>
        </p:txBody>
      </p:sp>
      <p:sp>
        <p:nvSpPr>
          <p:cNvPr id="457731"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57732"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57733" name="Text Box 5"/>
          <p:cNvSpPr txBox="1">
            <a:spLocks noChangeArrowheads="1"/>
          </p:cNvSpPr>
          <p:nvPr/>
        </p:nvSpPr>
        <p:spPr bwMode="auto">
          <a:xfrm>
            <a:off x="3013075" y="11969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tx1"/>
                </a:solidFill>
                <a:latin typeface="Courier New" pitchFamily="49" charset="0"/>
              </a:rPr>
              <a:t>$sp</a:t>
            </a:r>
          </a:p>
        </p:txBody>
      </p:sp>
      <p:sp>
        <p:nvSpPr>
          <p:cNvPr id="457734" name="Line 6"/>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57735" name="Line 7"/>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57736" name="Rectangle 8"/>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57737" name="Text Box 9"/>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57738" name="Line 10"/>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57739" name="Line 11"/>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57740" name="Line 12"/>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57741" name="Line 13"/>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57742" name="Line 14"/>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57743" name="Line 15"/>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57744" name="Line 16"/>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57745" name="Rectangle 17"/>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57746" name="Text Box 18"/>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57747" name="Rectangle 19"/>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57748" name="Text Box 20"/>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57749" name="Text Box 21"/>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57750" name="Rectangle 22"/>
          <p:cNvSpPr>
            <a:spLocks noChangeArrowheads="1"/>
          </p:cNvSpPr>
          <p:nvPr/>
        </p:nvSpPr>
        <p:spPr bwMode="auto">
          <a:xfrm>
            <a:off x="4500562" y="912813"/>
            <a:ext cx="4000528" cy="4357090"/>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first</a:t>
            </a:r>
            <a:r>
              <a:rPr lang="en-US" sz="2400" dirty="0">
                <a:solidFill>
                  <a:schemeClr val="tx1"/>
                </a:solidFill>
              </a:rPr>
              <a:t> encounter with </a:t>
            </a:r>
            <a:r>
              <a:rPr lang="en-US" sz="2400" dirty="0" err="1">
                <a:solidFill>
                  <a:schemeClr val="tx1"/>
                </a:solidFill>
                <a:latin typeface="Courier New" pitchFamily="49" charset="0"/>
              </a:rPr>
              <a:t>jal</a:t>
            </a:r>
            <a:r>
              <a:rPr lang="en-US" sz="2400" dirty="0">
                <a:solidFill>
                  <a:schemeClr val="tx1"/>
                </a:solidFill>
              </a:rPr>
              <a:t> (</a:t>
            </a:r>
            <a:r>
              <a:rPr lang="en-US" sz="2400" i="1" dirty="0"/>
              <a:t>second</a:t>
            </a:r>
            <a:r>
              <a:rPr lang="en-US" sz="2400" dirty="0">
                <a:solidFill>
                  <a:schemeClr val="tx1"/>
                </a:solidFill>
              </a:rPr>
              <a:t> call to fact routine </a:t>
            </a:r>
            <a:r>
              <a:rPr lang="en-US" sz="2400" dirty="0" smtClean="0">
                <a:solidFill>
                  <a:schemeClr val="tx1"/>
                </a:solidFill>
              </a:rPr>
              <a:t>after which </a:t>
            </a:r>
            <a:r>
              <a:rPr lang="en-US" sz="2400" dirty="0" smtClean="0">
                <a:solidFill>
                  <a:schemeClr val="tx1"/>
                </a:solidFill>
                <a:latin typeface="Courier New" pitchFamily="49" charset="0"/>
              </a:rPr>
              <a:t>$a0</a:t>
            </a:r>
            <a:r>
              <a:rPr lang="en-US" sz="2400" dirty="0" smtClean="0">
                <a:solidFill>
                  <a:schemeClr val="tx1"/>
                </a:solidFill>
              </a:rPr>
              <a:t> will be holding 1)</a:t>
            </a:r>
            <a:endParaRPr lang="en-US" sz="24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saved return address to caller routine (i.e., location in the </a:t>
            </a:r>
            <a:r>
              <a:rPr lang="en-US" sz="2000" dirty="0"/>
              <a:t>main</a:t>
            </a:r>
            <a:r>
              <a:rPr lang="en-US" sz="2000" dirty="0">
                <a:solidFill>
                  <a:schemeClr val="tx1"/>
                </a:solidFill>
              </a:rPr>
              <a:t> routine where </a:t>
            </a:r>
            <a:r>
              <a:rPr lang="en-US" sz="2000" i="1" dirty="0"/>
              <a:t>first</a:t>
            </a:r>
            <a:r>
              <a:rPr lang="en-US" sz="2000" dirty="0">
                <a:solidFill>
                  <a:schemeClr val="tx1"/>
                </a:solidFill>
              </a:rPr>
              <a:t> call to fact is made) on the stack</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saved original value of </a:t>
            </a:r>
            <a:r>
              <a:rPr lang="en-US" sz="2000" dirty="0">
                <a:solidFill>
                  <a:schemeClr val="tx1"/>
                </a:solidFill>
                <a:latin typeface="Courier New" pitchFamily="49" charset="0"/>
              </a:rPr>
              <a:t>$a0</a:t>
            </a:r>
            <a:r>
              <a:rPr lang="en-US" sz="2000" dirty="0">
                <a:solidFill>
                  <a:schemeClr val="tx1"/>
                </a:solidFill>
              </a:rPr>
              <a:t> on the stack</a:t>
            </a:r>
          </a:p>
        </p:txBody>
      </p:sp>
    </p:spTree>
    <p:extLst>
      <p:ext uri="{BB962C8B-B14F-4D97-AF65-F5344CB8AC3E}">
        <p14:creationId xmlns:p14="http://schemas.microsoft.com/office/powerpoint/2010/main" val="490452154"/>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r>
              <a:rPr lang="en-US"/>
              <a:t>A Look at the Stack for $a0 = 2, Part 1</a:t>
            </a:r>
          </a:p>
        </p:txBody>
      </p:sp>
      <p:sp>
        <p:nvSpPr>
          <p:cNvPr id="401411"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01412"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01413" name="Text Box 5"/>
          <p:cNvSpPr txBox="1">
            <a:spLocks noChangeArrowheads="1"/>
          </p:cNvSpPr>
          <p:nvPr/>
        </p:nvSpPr>
        <p:spPr bwMode="auto">
          <a:xfrm>
            <a:off x="3013075" y="1219200"/>
            <a:ext cx="873125"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sym typeface="Symbol" pitchFamily="18" charset="2"/>
              </a:rPr>
              <a:t> </a:t>
            </a:r>
            <a:r>
              <a:rPr lang="en-US" sz="1600">
                <a:solidFill>
                  <a:schemeClr val="tx1"/>
                </a:solidFill>
                <a:latin typeface="Courier New" pitchFamily="49" charset="0"/>
              </a:rPr>
              <a:t>$sp</a:t>
            </a:r>
          </a:p>
        </p:txBody>
      </p:sp>
      <p:sp>
        <p:nvSpPr>
          <p:cNvPr id="401414" name="Line 6"/>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01415" name="Line 7"/>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01416" name="Rectangle 8"/>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1417" name="Text Box 9"/>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01418" name="Line 10"/>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01419" name="Line 11"/>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01420" name="Line 12"/>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01421" name="Line 13"/>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01422" name="Line 14"/>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01423" name="Line 15"/>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01424" name="Line 16"/>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01425" name="Rectangle 17"/>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1426" name="Text Box 18"/>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01427" name="Rectangle 19"/>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1428" name="Text Box 20"/>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01429" name="Text Box 21"/>
          <p:cNvSpPr txBox="1">
            <a:spLocks noChangeArrowheads="1"/>
          </p:cNvSpPr>
          <p:nvPr/>
        </p:nvSpPr>
        <p:spPr bwMode="auto">
          <a:xfrm>
            <a:off x="3013075" y="1801813"/>
            <a:ext cx="819150"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$sp</a:t>
            </a:r>
          </a:p>
        </p:txBody>
      </p:sp>
      <p:sp>
        <p:nvSpPr>
          <p:cNvPr id="401430" name="Text Box 22"/>
          <p:cNvSpPr txBox="1">
            <a:spLocks noChangeArrowheads="1"/>
          </p:cNvSpPr>
          <p:nvPr/>
        </p:nvSpPr>
        <p:spPr bwMode="auto">
          <a:xfrm>
            <a:off x="1143000" y="47244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endParaRPr lang="en-US"/>
          </a:p>
        </p:txBody>
      </p:sp>
      <p:sp>
        <p:nvSpPr>
          <p:cNvPr id="401431" name="Text Box 23"/>
          <p:cNvSpPr txBox="1">
            <a:spLocks noChangeArrowheads="1"/>
          </p:cNvSpPr>
          <p:nvPr/>
        </p:nvSpPr>
        <p:spPr bwMode="auto">
          <a:xfrm>
            <a:off x="1143000" y="15240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endParaRPr lang="en-US"/>
          </a:p>
        </p:txBody>
      </p:sp>
      <p:sp>
        <p:nvSpPr>
          <p:cNvPr id="401432" name="Text Box 24"/>
          <p:cNvSpPr txBox="1">
            <a:spLocks noChangeArrowheads="1"/>
          </p:cNvSpPr>
          <p:nvPr/>
        </p:nvSpPr>
        <p:spPr bwMode="auto">
          <a:xfrm>
            <a:off x="1447800" y="18288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2</a:t>
            </a:r>
            <a:endParaRPr lang="en-US"/>
          </a:p>
        </p:txBody>
      </p:sp>
      <p:sp>
        <p:nvSpPr>
          <p:cNvPr id="401433" name="Text Box 25"/>
          <p:cNvSpPr txBox="1">
            <a:spLocks noChangeArrowheads="1"/>
          </p:cNvSpPr>
          <p:nvPr/>
        </p:nvSpPr>
        <p:spPr bwMode="auto">
          <a:xfrm>
            <a:off x="1905000" y="5410200"/>
            <a:ext cx="306388"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2</a:t>
            </a:r>
            <a:endParaRPr lang="en-US"/>
          </a:p>
        </p:txBody>
      </p:sp>
      <p:sp>
        <p:nvSpPr>
          <p:cNvPr id="401434" name="Rectangle 26"/>
          <p:cNvSpPr>
            <a:spLocks noChangeArrowheads="1"/>
          </p:cNvSpPr>
          <p:nvPr/>
        </p:nvSpPr>
        <p:spPr bwMode="auto">
          <a:xfrm>
            <a:off x="3124200" y="1295400"/>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1435" name="Rectangle 27"/>
          <p:cNvSpPr>
            <a:spLocks noChangeArrowheads="1"/>
          </p:cNvSpPr>
          <p:nvPr/>
        </p:nvSpPr>
        <p:spPr bwMode="auto">
          <a:xfrm>
            <a:off x="1676400" y="5486400"/>
            <a:ext cx="762000" cy="152400"/>
          </a:xfrm>
          <a:prstGeom prst="rect">
            <a:avLst/>
          </a:prstGeom>
          <a:solidFill>
            <a:schemeClr val="bg1"/>
          </a:solidFill>
          <a:ln w="12700">
            <a:noFill/>
            <a:miter lim="800000"/>
            <a:headEnd/>
            <a:tailEnd/>
          </a:ln>
          <a:effectLst/>
        </p:spPr>
        <p:txBody>
          <a:bodyPr wrap="none" anchor="ctr"/>
          <a:lstStyle/>
          <a:p>
            <a:endParaRPr lang="en-US"/>
          </a:p>
        </p:txBody>
      </p:sp>
      <p:sp>
        <p:nvSpPr>
          <p:cNvPr id="401436" name="Text Box 28"/>
          <p:cNvSpPr txBox="1">
            <a:spLocks noChangeArrowheads="1"/>
          </p:cNvSpPr>
          <p:nvPr/>
        </p:nvSpPr>
        <p:spPr bwMode="auto">
          <a:xfrm>
            <a:off x="1905000" y="5410200"/>
            <a:ext cx="306388"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1</a:t>
            </a:r>
            <a:endParaRPr lang="en-US"/>
          </a:p>
        </p:txBody>
      </p:sp>
      <p:sp>
        <p:nvSpPr>
          <p:cNvPr id="401437" name="Rectangle 29"/>
          <p:cNvSpPr>
            <a:spLocks noChangeArrowheads="1"/>
          </p:cNvSpPr>
          <p:nvPr/>
        </p:nvSpPr>
        <p:spPr bwMode="auto">
          <a:xfrm>
            <a:off x="1219200" y="4800600"/>
            <a:ext cx="1752600" cy="228600"/>
          </a:xfrm>
          <a:prstGeom prst="rect">
            <a:avLst/>
          </a:prstGeom>
          <a:solidFill>
            <a:schemeClr val="bg1"/>
          </a:solidFill>
          <a:ln w="12700">
            <a:noFill/>
            <a:miter lim="800000"/>
            <a:headEnd/>
            <a:tailEnd/>
          </a:ln>
          <a:effectLst/>
        </p:spPr>
        <p:txBody>
          <a:bodyPr wrap="none" anchor="ctr"/>
          <a:lstStyle/>
          <a:p>
            <a:endParaRPr lang="en-US"/>
          </a:p>
        </p:txBody>
      </p:sp>
      <p:sp>
        <p:nvSpPr>
          <p:cNvPr id="401438" name="Text Box 30"/>
          <p:cNvSpPr txBox="1">
            <a:spLocks noChangeArrowheads="1"/>
          </p:cNvSpPr>
          <p:nvPr/>
        </p:nvSpPr>
        <p:spPr bwMode="auto">
          <a:xfrm>
            <a:off x="1752600" y="47244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1439" name="Text Box 31"/>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01440" name="Rectangle 32"/>
          <p:cNvSpPr>
            <a:spLocks noChangeArrowheads="1"/>
          </p:cNvSpPr>
          <p:nvPr/>
        </p:nvSpPr>
        <p:spPr bwMode="auto">
          <a:xfrm>
            <a:off x="4481514" y="928670"/>
            <a:ext cx="4019576" cy="4357090"/>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first</a:t>
            </a:r>
            <a:r>
              <a:rPr lang="en-US" sz="2400" dirty="0">
                <a:solidFill>
                  <a:schemeClr val="tx1"/>
                </a:solidFill>
              </a:rPr>
              <a:t> encounter with </a:t>
            </a:r>
            <a:r>
              <a:rPr lang="en-US" sz="2400" dirty="0" err="1">
                <a:solidFill>
                  <a:schemeClr val="tx1"/>
                </a:solidFill>
                <a:latin typeface="Courier New" pitchFamily="49" charset="0"/>
              </a:rPr>
              <a:t>jal</a:t>
            </a:r>
            <a:r>
              <a:rPr lang="en-US" sz="2400" dirty="0">
                <a:solidFill>
                  <a:schemeClr val="tx1"/>
                </a:solidFill>
              </a:rPr>
              <a:t> (</a:t>
            </a:r>
            <a:r>
              <a:rPr lang="en-US" sz="2400" i="1" dirty="0"/>
              <a:t>second</a:t>
            </a:r>
            <a:r>
              <a:rPr lang="en-US" sz="2400" dirty="0">
                <a:solidFill>
                  <a:schemeClr val="tx1"/>
                </a:solidFill>
              </a:rPr>
              <a:t> call to fact routine </a:t>
            </a:r>
            <a:r>
              <a:rPr lang="en-US" sz="2400" dirty="0" smtClean="0">
                <a:solidFill>
                  <a:schemeClr val="tx1"/>
                </a:solidFill>
              </a:rPr>
              <a:t>after which </a:t>
            </a:r>
            <a:r>
              <a:rPr lang="en-US" sz="2400" dirty="0" smtClean="0">
                <a:solidFill>
                  <a:schemeClr val="tx1"/>
                </a:solidFill>
                <a:latin typeface="Courier New" pitchFamily="49" charset="0"/>
              </a:rPr>
              <a:t>$a0</a:t>
            </a:r>
            <a:r>
              <a:rPr lang="en-US" sz="2400" dirty="0" smtClean="0">
                <a:solidFill>
                  <a:schemeClr val="tx1"/>
                </a:solidFill>
              </a:rPr>
              <a:t> will be holding 1</a:t>
            </a:r>
            <a:r>
              <a:rPr lang="en-US" sz="2400" dirty="0">
                <a:solidFill>
                  <a:schemeClr val="tx1"/>
                </a:solidFill>
              </a:rPr>
              <a:t>)</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have saved </a:t>
            </a:r>
            <a:r>
              <a:rPr lang="en-US" sz="2000" dirty="0">
                <a:solidFill>
                  <a:schemeClr val="tx1"/>
                </a:solidFill>
              </a:rPr>
              <a:t>return address to caller routine (i.e., location in the </a:t>
            </a:r>
            <a:r>
              <a:rPr lang="en-US" sz="2000" dirty="0"/>
              <a:t>main</a:t>
            </a:r>
            <a:r>
              <a:rPr lang="en-US" sz="2000" dirty="0">
                <a:solidFill>
                  <a:schemeClr val="tx1"/>
                </a:solidFill>
              </a:rPr>
              <a:t> routine where </a:t>
            </a:r>
            <a:r>
              <a:rPr lang="en-US" sz="2000" i="1" dirty="0"/>
              <a:t>first</a:t>
            </a:r>
            <a:r>
              <a:rPr lang="en-US" sz="2000" dirty="0">
                <a:solidFill>
                  <a:schemeClr val="tx1"/>
                </a:solidFill>
              </a:rPr>
              <a:t> call to fact is made) on the stack</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saved </a:t>
            </a:r>
            <a:r>
              <a:rPr lang="en-US" sz="2000" dirty="0">
                <a:solidFill>
                  <a:schemeClr val="tx1"/>
                </a:solidFill>
              </a:rPr>
              <a:t>original value of </a:t>
            </a:r>
            <a:r>
              <a:rPr lang="en-US" sz="2000" dirty="0">
                <a:solidFill>
                  <a:schemeClr val="tx1"/>
                </a:solidFill>
                <a:latin typeface="Courier New" pitchFamily="49" charset="0"/>
              </a:rPr>
              <a:t>$a0</a:t>
            </a:r>
            <a:r>
              <a:rPr lang="en-US" sz="2000" dirty="0">
                <a:solidFill>
                  <a:schemeClr val="tx1"/>
                </a:solidFill>
              </a:rPr>
              <a:t> on the stack</a:t>
            </a:r>
          </a:p>
        </p:txBody>
      </p:sp>
    </p:spTree>
    <p:extLst>
      <p:ext uri="{BB962C8B-B14F-4D97-AF65-F5344CB8AC3E}">
        <p14:creationId xmlns:p14="http://schemas.microsoft.com/office/powerpoint/2010/main" val="11321781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143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1000"/>
                                  </p:stCondLst>
                                  <p:childTnLst>
                                    <p:set>
                                      <p:cBhvr>
                                        <p:cTn id="9" dur="1" fill="hold">
                                          <p:stCondLst>
                                            <p:cond delay="499"/>
                                          </p:stCondLst>
                                        </p:cTn>
                                        <p:tgtEl>
                                          <p:spTgt spid="40142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0143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0143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401435"/>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grpId="0" nodeType="afterEffect">
                                  <p:stCondLst>
                                    <p:cond delay="1000"/>
                                  </p:stCondLst>
                                  <p:childTnLst>
                                    <p:set>
                                      <p:cBhvr>
                                        <p:cTn id="24" dur="1" fill="hold">
                                          <p:stCondLst>
                                            <p:cond delay="499"/>
                                          </p:stCondLst>
                                        </p:cTn>
                                        <p:tgtEl>
                                          <p:spTgt spid="4014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01437"/>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1000"/>
                                  </p:stCondLst>
                                  <p:childTnLst>
                                    <p:set>
                                      <p:cBhvr>
                                        <p:cTn id="31" dur="1" fill="hold">
                                          <p:stCondLst>
                                            <p:cond delay="499"/>
                                          </p:stCondLst>
                                        </p:cTn>
                                        <p:tgtEl>
                                          <p:spTgt spid="401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29" grpId="0" autoUpdateAnimBg="0"/>
      <p:bldP spid="401431" grpId="0" autoUpdateAnimBg="0"/>
      <p:bldP spid="401432" grpId="0" autoUpdateAnimBg="0"/>
      <p:bldP spid="401434" grpId="0" animBg="1"/>
      <p:bldP spid="401435" grpId="0" animBg="1"/>
      <p:bldP spid="401436" grpId="0" autoUpdateAnimBg="0"/>
      <p:bldP spid="401437" grpId="0" animBg="1"/>
      <p:bldP spid="401438"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r>
              <a:rPr lang="en-US"/>
              <a:t>A Look at the Stack for $a0 = 2, Part 2</a:t>
            </a:r>
          </a:p>
        </p:txBody>
      </p:sp>
      <p:sp>
        <p:nvSpPr>
          <p:cNvPr id="414723"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14724"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14726" name="Line 6"/>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14727" name="Line 7"/>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14728" name="Rectangle 8"/>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14729" name="Text Box 9"/>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14730" name="Line 10"/>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14731" name="Line 11"/>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14732" name="Line 12"/>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14733" name="Line 13"/>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14734" name="Line 14"/>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14735" name="Line 15"/>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14736" name="Line 16"/>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14737" name="Rectangle 17"/>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14738" name="Text Box 18"/>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14739" name="Rectangle 19"/>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14740" name="Text Box 20"/>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14741" name="Text Box 21"/>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14742" name="Rectangle 22"/>
          <p:cNvSpPr>
            <a:spLocks noChangeArrowheads="1"/>
          </p:cNvSpPr>
          <p:nvPr/>
        </p:nvSpPr>
        <p:spPr bwMode="auto">
          <a:xfrm>
            <a:off x="4410076" y="990600"/>
            <a:ext cx="3876700" cy="4064702"/>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second</a:t>
            </a:r>
            <a:r>
              <a:rPr lang="en-US" sz="2400" dirty="0">
                <a:solidFill>
                  <a:schemeClr val="tx1"/>
                </a:solidFill>
              </a:rPr>
              <a:t> encounter with </a:t>
            </a:r>
            <a:r>
              <a:rPr lang="en-US" sz="2400" dirty="0" err="1">
                <a:solidFill>
                  <a:schemeClr val="tx1"/>
                </a:solidFill>
                <a:latin typeface="Courier New" pitchFamily="49" charset="0"/>
              </a:rPr>
              <a:t>jal</a:t>
            </a:r>
            <a:r>
              <a:rPr lang="en-US" sz="2400" dirty="0">
                <a:solidFill>
                  <a:schemeClr val="tx1"/>
                </a:solidFill>
              </a:rPr>
              <a:t> (</a:t>
            </a:r>
            <a:r>
              <a:rPr lang="en-US" sz="2400" i="1" dirty="0"/>
              <a:t>third</a:t>
            </a:r>
            <a:r>
              <a:rPr lang="en-US" sz="2400" dirty="0">
                <a:solidFill>
                  <a:schemeClr val="tx1"/>
                </a:solidFill>
              </a:rPr>
              <a:t> call to fact routine </a:t>
            </a:r>
            <a:r>
              <a:rPr lang="en-US" sz="2400" dirty="0" smtClean="0">
                <a:solidFill>
                  <a:schemeClr val="tx1"/>
                </a:solidFill>
              </a:rPr>
              <a:t>after which </a:t>
            </a:r>
            <a:r>
              <a:rPr lang="en-US" sz="2400" dirty="0" smtClean="0">
                <a:solidFill>
                  <a:schemeClr val="tx1"/>
                </a:solidFill>
                <a:latin typeface="Courier New" pitchFamily="49" charset="0"/>
              </a:rPr>
              <a:t>$a0</a:t>
            </a:r>
            <a:r>
              <a:rPr lang="en-US" sz="2400" dirty="0" smtClean="0">
                <a:solidFill>
                  <a:schemeClr val="tx1"/>
                </a:solidFill>
              </a:rPr>
              <a:t> will be holding 0)</a:t>
            </a:r>
            <a:endParaRPr lang="en-US" sz="24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save return address of instruction in caller routine (instruction after </a:t>
            </a:r>
            <a:r>
              <a:rPr lang="en-US" sz="2000" dirty="0" err="1">
                <a:solidFill>
                  <a:schemeClr val="tx1"/>
                </a:solidFill>
                <a:latin typeface="Courier New" pitchFamily="49" charset="0"/>
              </a:rPr>
              <a:t>jal</a:t>
            </a:r>
            <a:r>
              <a:rPr lang="en-US" sz="2000" dirty="0">
                <a:solidFill>
                  <a:schemeClr val="tx1"/>
                </a:solidFill>
              </a:rPr>
              <a:t>) on the stack</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save previous value of </a:t>
            </a:r>
            <a:r>
              <a:rPr lang="en-US" sz="2000" dirty="0">
                <a:solidFill>
                  <a:schemeClr val="tx1"/>
                </a:solidFill>
                <a:latin typeface="Courier New" pitchFamily="49" charset="0"/>
              </a:rPr>
              <a:t>$a0</a:t>
            </a:r>
            <a:r>
              <a:rPr lang="en-US" sz="2000" dirty="0">
                <a:solidFill>
                  <a:schemeClr val="tx1"/>
                </a:solidFill>
              </a:rPr>
              <a:t> on the stack</a:t>
            </a:r>
          </a:p>
        </p:txBody>
      </p:sp>
    </p:spTree>
    <p:extLst>
      <p:ext uri="{BB962C8B-B14F-4D97-AF65-F5344CB8AC3E}">
        <p14:creationId xmlns:p14="http://schemas.microsoft.com/office/powerpoint/2010/main" val="288277917"/>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r>
              <a:rPr lang="en-US"/>
              <a:t>A Look at the Stack for $a0 = 2, Part 2</a:t>
            </a:r>
          </a:p>
        </p:txBody>
      </p:sp>
      <p:sp>
        <p:nvSpPr>
          <p:cNvPr id="403459"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03460"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03461" name="Line 5"/>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03462" name="Line 6"/>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03463" name="Rectangle 7"/>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3464" name="Text Box 8"/>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03465" name="Line 9"/>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03466" name="Line 10"/>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03467" name="Line 11"/>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03468" name="Line 12"/>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03469" name="Line 13"/>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03470" name="Line 14"/>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03471" name="Line 15"/>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03472" name="Rectangle 16"/>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3473" name="Text Box 17"/>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03474" name="Rectangle 18"/>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3475" name="Text Box 19"/>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03476" name="Text Box 20"/>
          <p:cNvSpPr txBox="1">
            <a:spLocks noChangeArrowheads="1"/>
          </p:cNvSpPr>
          <p:nvPr/>
        </p:nvSpPr>
        <p:spPr bwMode="auto">
          <a:xfrm>
            <a:off x="3013075" y="1824038"/>
            <a:ext cx="873125"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sym typeface="Symbol" pitchFamily="18" charset="2"/>
              </a:rPr>
              <a:t></a:t>
            </a:r>
            <a:r>
              <a:rPr lang="en-US" sz="1600">
                <a:solidFill>
                  <a:schemeClr val="accent2"/>
                </a:solidFill>
                <a:latin typeface="Courier New" pitchFamily="49" charset="0"/>
              </a:rPr>
              <a:t> $sp</a:t>
            </a:r>
          </a:p>
        </p:txBody>
      </p:sp>
      <p:sp>
        <p:nvSpPr>
          <p:cNvPr id="403477" name="Text Box 21"/>
          <p:cNvSpPr txBox="1">
            <a:spLocks noChangeArrowheads="1"/>
          </p:cNvSpPr>
          <p:nvPr/>
        </p:nvSpPr>
        <p:spPr bwMode="auto">
          <a:xfrm>
            <a:off x="1143000" y="15240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endParaRPr lang="en-US"/>
          </a:p>
        </p:txBody>
      </p:sp>
      <p:sp>
        <p:nvSpPr>
          <p:cNvPr id="403478" name="Text Box 22"/>
          <p:cNvSpPr txBox="1">
            <a:spLocks noChangeArrowheads="1"/>
          </p:cNvSpPr>
          <p:nvPr/>
        </p:nvSpPr>
        <p:spPr bwMode="auto">
          <a:xfrm>
            <a:off x="1447800" y="18288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2</a:t>
            </a:r>
            <a:endParaRPr lang="en-US"/>
          </a:p>
        </p:txBody>
      </p:sp>
      <p:sp>
        <p:nvSpPr>
          <p:cNvPr id="403479" name="Text Box 23"/>
          <p:cNvSpPr txBox="1">
            <a:spLocks noChangeArrowheads="1"/>
          </p:cNvSpPr>
          <p:nvPr/>
        </p:nvSpPr>
        <p:spPr bwMode="auto">
          <a:xfrm>
            <a:off x="1905000" y="5410200"/>
            <a:ext cx="306388"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1</a:t>
            </a:r>
            <a:endParaRPr lang="en-US"/>
          </a:p>
        </p:txBody>
      </p:sp>
      <p:sp>
        <p:nvSpPr>
          <p:cNvPr id="403480" name="Rectangle 24"/>
          <p:cNvSpPr>
            <a:spLocks noChangeArrowheads="1"/>
          </p:cNvSpPr>
          <p:nvPr/>
        </p:nvSpPr>
        <p:spPr bwMode="auto">
          <a:xfrm>
            <a:off x="3124200" y="1905000"/>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3481" name="Rectangle 25"/>
          <p:cNvSpPr>
            <a:spLocks noChangeArrowheads="1"/>
          </p:cNvSpPr>
          <p:nvPr/>
        </p:nvSpPr>
        <p:spPr bwMode="auto">
          <a:xfrm>
            <a:off x="1676400" y="5486400"/>
            <a:ext cx="762000" cy="152400"/>
          </a:xfrm>
          <a:prstGeom prst="rect">
            <a:avLst/>
          </a:prstGeom>
          <a:solidFill>
            <a:schemeClr val="bg1"/>
          </a:solidFill>
          <a:ln w="12700">
            <a:noFill/>
            <a:miter lim="800000"/>
            <a:headEnd/>
            <a:tailEnd/>
          </a:ln>
          <a:effectLst/>
        </p:spPr>
        <p:txBody>
          <a:bodyPr wrap="none" anchor="ctr"/>
          <a:lstStyle/>
          <a:p>
            <a:endParaRPr lang="en-US"/>
          </a:p>
        </p:txBody>
      </p:sp>
      <p:sp>
        <p:nvSpPr>
          <p:cNvPr id="403482" name="Text Box 26"/>
          <p:cNvSpPr txBox="1">
            <a:spLocks noChangeArrowheads="1"/>
          </p:cNvSpPr>
          <p:nvPr/>
        </p:nvSpPr>
        <p:spPr bwMode="auto">
          <a:xfrm>
            <a:off x="1905000" y="54102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0</a:t>
            </a:r>
            <a:endParaRPr lang="en-US"/>
          </a:p>
        </p:txBody>
      </p:sp>
      <p:sp>
        <p:nvSpPr>
          <p:cNvPr id="403483" name="Rectangle 27"/>
          <p:cNvSpPr>
            <a:spLocks noChangeArrowheads="1"/>
          </p:cNvSpPr>
          <p:nvPr/>
        </p:nvSpPr>
        <p:spPr bwMode="auto">
          <a:xfrm>
            <a:off x="1219200" y="4800600"/>
            <a:ext cx="1752600" cy="228600"/>
          </a:xfrm>
          <a:prstGeom prst="rect">
            <a:avLst/>
          </a:prstGeom>
          <a:solidFill>
            <a:schemeClr val="bg1"/>
          </a:solidFill>
          <a:ln w="12700">
            <a:noFill/>
            <a:miter lim="800000"/>
            <a:headEnd/>
            <a:tailEnd/>
          </a:ln>
          <a:effectLst/>
        </p:spPr>
        <p:txBody>
          <a:bodyPr wrap="none" anchor="ctr"/>
          <a:lstStyle/>
          <a:p>
            <a:endParaRPr lang="en-US"/>
          </a:p>
        </p:txBody>
      </p:sp>
      <p:sp>
        <p:nvSpPr>
          <p:cNvPr id="403484" name="Text Box 28"/>
          <p:cNvSpPr txBox="1">
            <a:spLocks noChangeArrowheads="1"/>
          </p:cNvSpPr>
          <p:nvPr/>
        </p:nvSpPr>
        <p:spPr bwMode="auto">
          <a:xfrm>
            <a:off x="1752600" y="47244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3485" name="Text Box 29"/>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03486" name="Text Box 30"/>
          <p:cNvSpPr txBox="1">
            <a:spLocks noChangeArrowheads="1"/>
          </p:cNvSpPr>
          <p:nvPr/>
        </p:nvSpPr>
        <p:spPr bwMode="auto">
          <a:xfrm>
            <a:off x="3048000" y="24161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$sp</a:t>
            </a:r>
          </a:p>
        </p:txBody>
      </p:sp>
      <p:sp>
        <p:nvSpPr>
          <p:cNvPr id="403487" name="Text Box 31"/>
          <p:cNvSpPr txBox="1">
            <a:spLocks noChangeArrowheads="1"/>
          </p:cNvSpPr>
          <p:nvPr/>
        </p:nvSpPr>
        <p:spPr bwMode="auto">
          <a:xfrm>
            <a:off x="1447800" y="24384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1</a:t>
            </a:r>
            <a:endParaRPr lang="en-US"/>
          </a:p>
        </p:txBody>
      </p:sp>
      <p:sp>
        <p:nvSpPr>
          <p:cNvPr id="403488" name="Text Box 32"/>
          <p:cNvSpPr txBox="1">
            <a:spLocks noChangeArrowheads="1"/>
          </p:cNvSpPr>
          <p:nvPr/>
        </p:nvSpPr>
        <p:spPr bwMode="auto">
          <a:xfrm>
            <a:off x="1600200" y="21336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3489" name="Text Box 33"/>
          <p:cNvSpPr txBox="1">
            <a:spLocks noChangeArrowheads="1"/>
          </p:cNvSpPr>
          <p:nvPr/>
        </p:nvSpPr>
        <p:spPr bwMode="auto">
          <a:xfrm>
            <a:off x="1752600" y="47244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3490" name="Rectangle 34"/>
          <p:cNvSpPr>
            <a:spLocks noChangeArrowheads="1"/>
          </p:cNvSpPr>
          <p:nvPr/>
        </p:nvSpPr>
        <p:spPr bwMode="auto">
          <a:xfrm>
            <a:off x="4481514" y="990600"/>
            <a:ext cx="3876700" cy="4064702"/>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second</a:t>
            </a:r>
            <a:r>
              <a:rPr lang="en-US" sz="2400" dirty="0">
                <a:solidFill>
                  <a:schemeClr val="tx1"/>
                </a:solidFill>
              </a:rPr>
              <a:t> encounter with </a:t>
            </a:r>
            <a:r>
              <a:rPr lang="en-US" sz="2400" dirty="0" err="1">
                <a:solidFill>
                  <a:schemeClr val="tx1"/>
                </a:solidFill>
                <a:latin typeface="Courier New" pitchFamily="49" charset="0"/>
              </a:rPr>
              <a:t>jal</a:t>
            </a:r>
            <a:r>
              <a:rPr lang="en-US" sz="2400" dirty="0">
                <a:solidFill>
                  <a:schemeClr val="tx1"/>
                </a:solidFill>
              </a:rPr>
              <a:t> (</a:t>
            </a:r>
            <a:r>
              <a:rPr lang="en-US" sz="2400" i="1" dirty="0"/>
              <a:t>third</a:t>
            </a:r>
            <a:r>
              <a:rPr lang="en-US" sz="2400" dirty="0">
                <a:solidFill>
                  <a:schemeClr val="tx1"/>
                </a:solidFill>
              </a:rPr>
              <a:t> call to fact routine </a:t>
            </a:r>
            <a:r>
              <a:rPr lang="en-US" sz="2400" dirty="0" smtClean="0">
                <a:solidFill>
                  <a:schemeClr val="tx1"/>
                </a:solidFill>
              </a:rPr>
              <a:t>after which </a:t>
            </a:r>
            <a:r>
              <a:rPr lang="en-US" sz="2400" dirty="0" smtClean="0">
                <a:solidFill>
                  <a:schemeClr val="tx1"/>
                </a:solidFill>
                <a:latin typeface="Courier New" pitchFamily="49" charset="0"/>
              </a:rPr>
              <a:t>$a0</a:t>
            </a:r>
            <a:r>
              <a:rPr lang="en-US" sz="2400" dirty="0" smtClean="0">
                <a:solidFill>
                  <a:schemeClr val="tx1"/>
                </a:solidFill>
              </a:rPr>
              <a:t> will be holding 0)</a:t>
            </a:r>
            <a:endParaRPr lang="en-US" sz="24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saved return address of instruction in caller routine (instruction after </a:t>
            </a:r>
            <a:r>
              <a:rPr lang="en-US" sz="2000" dirty="0" err="1">
                <a:solidFill>
                  <a:schemeClr val="tx1"/>
                </a:solidFill>
                <a:latin typeface="Courier New" pitchFamily="49" charset="0"/>
              </a:rPr>
              <a:t>jal</a:t>
            </a:r>
            <a:r>
              <a:rPr lang="en-US" sz="2000" dirty="0">
                <a:solidFill>
                  <a:schemeClr val="tx1"/>
                </a:solidFill>
              </a:rPr>
              <a:t>) on the stack</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saved previous value of </a:t>
            </a:r>
            <a:r>
              <a:rPr lang="en-US" sz="2000" dirty="0">
                <a:solidFill>
                  <a:schemeClr val="tx1"/>
                </a:solidFill>
                <a:latin typeface="Courier New" pitchFamily="49" charset="0"/>
              </a:rPr>
              <a:t>$a0</a:t>
            </a:r>
            <a:r>
              <a:rPr lang="en-US" sz="2000" dirty="0">
                <a:solidFill>
                  <a:schemeClr val="tx1"/>
                </a:solidFill>
              </a:rPr>
              <a:t> on the stack</a:t>
            </a:r>
          </a:p>
        </p:txBody>
      </p:sp>
    </p:spTree>
    <p:extLst>
      <p:ext uri="{BB962C8B-B14F-4D97-AF65-F5344CB8AC3E}">
        <p14:creationId xmlns:p14="http://schemas.microsoft.com/office/powerpoint/2010/main" val="12298623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348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1000"/>
                                  </p:stCondLst>
                                  <p:childTnLst>
                                    <p:set>
                                      <p:cBhvr>
                                        <p:cTn id="9" dur="1" fill="hold">
                                          <p:stCondLst>
                                            <p:cond delay="499"/>
                                          </p:stCondLst>
                                        </p:cTn>
                                        <p:tgtEl>
                                          <p:spTgt spid="40348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0348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0348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403481"/>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grpId="0" nodeType="afterEffect">
                                  <p:stCondLst>
                                    <p:cond delay="1000"/>
                                  </p:stCondLst>
                                  <p:childTnLst>
                                    <p:set>
                                      <p:cBhvr>
                                        <p:cTn id="24" dur="1" fill="hold">
                                          <p:stCondLst>
                                            <p:cond delay="499"/>
                                          </p:stCondLst>
                                        </p:cTn>
                                        <p:tgtEl>
                                          <p:spTgt spid="40348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03483"/>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1000"/>
                                  </p:stCondLst>
                                  <p:childTnLst>
                                    <p:set>
                                      <p:cBhvr>
                                        <p:cTn id="31" dur="1" fill="hold">
                                          <p:stCondLst>
                                            <p:cond delay="499"/>
                                          </p:stCondLst>
                                        </p:cTn>
                                        <p:tgtEl>
                                          <p:spTgt spid="403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80" grpId="0" animBg="1"/>
      <p:bldP spid="403481" grpId="0" animBg="1"/>
      <p:bldP spid="403482" grpId="0" autoUpdateAnimBg="0"/>
      <p:bldP spid="403483" grpId="0" animBg="1"/>
      <p:bldP spid="403484" grpId="0" autoUpdateAnimBg="0"/>
      <p:bldP spid="403486" grpId="0" autoUpdateAnimBg="0"/>
      <p:bldP spid="403487" grpId="0" autoUpdateAnimBg="0"/>
      <p:bldP spid="403488"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en-US"/>
              <a:t>A Look at the Stack for $a0 = 2, Part 3</a:t>
            </a:r>
          </a:p>
        </p:txBody>
      </p:sp>
      <p:sp>
        <p:nvSpPr>
          <p:cNvPr id="416771"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16772"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16774" name="Line 6"/>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16775" name="Line 7"/>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16776" name="Rectangle 8"/>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16777" name="Text Box 9"/>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16778" name="Line 10"/>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16779" name="Line 11"/>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16780" name="Line 12"/>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16781" name="Line 13"/>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16782" name="Line 14"/>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16783" name="Line 15"/>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16784" name="Line 16"/>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16785" name="Rectangle 17"/>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16786" name="Text Box 18"/>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16787" name="Rectangle 19"/>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16788" name="Text Box 20"/>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16789" name="Text Box 21"/>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16790" name="Rectangle 22"/>
          <p:cNvSpPr>
            <a:spLocks noChangeArrowheads="1"/>
          </p:cNvSpPr>
          <p:nvPr/>
        </p:nvSpPr>
        <p:spPr bwMode="auto">
          <a:xfrm>
            <a:off x="4643438" y="1066800"/>
            <a:ext cx="3571900" cy="3439916"/>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first</a:t>
            </a:r>
            <a:r>
              <a:rPr lang="en-US" sz="2400" dirty="0">
                <a:solidFill>
                  <a:schemeClr val="tx1"/>
                </a:solidFill>
              </a:rPr>
              <a:t> encounter with </a:t>
            </a:r>
            <a:r>
              <a:rPr lang="en-US" sz="2400" dirty="0" smtClean="0">
                <a:solidFill>
                  <a:schemeClr val="tx1"/>
                </a:solidFill>
              </a:rPr>
              <a:t> the 1</a:t>
            </a:r>
            <a:r>
              <a:rPr lang="en-US" sz="2400" baseline="30000" dirty="0" smtClean="0">
                <a:solidFill>
                  <a:schemeClr val="tx1"/>
                </a:solidFill>
              </a:rPr>
              <a:t>st</a:t>
            </a:r>
            <a:r>
              <a:rPr lang="en-US" sz="2400" dirty="0" smtClean="0">
                <a:solidFill>
                  <a:schemeClr val="tx1"/>
                </a:solidFill>
              </a:rPr>
              <a:t>  </a:t>
            </a:r>
            <a:r>
              <a:rPr lang="en-US" sz="2400" dirty="0" err="1" smtClean="0">
                <a:solidFill>
                  <a:schemeClr val="tx1"/>
                </a:solidFill>
                <a:latin typeface="Courier New" pitchFamily="49" charset="0"/>
              </a:rPr>
              <a:t>jr</a:t>
            </a:r>
            <a:endParaRPr lang="en-US" sz="2400" dirty="0" smtClean="0">
              <a:solidFill>
                <a:schemeClr val="tx1"/>
              </a:solidFill>
              <a:latin typeface="Courier New" pitchFamily="49" charset="0"/>
            </a:endParaRP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stack </a:t>
            </a:r>
            <a:r>
              <a:rPr lang="en-US" sz="2000" dirty="0">
                <a:solidFill>
                  <a:schemeClr val="tx1"/>
                </a:solidFill>
              </a:rPr>
              <a:t>pointer updated to point to </a:t>
            </a:r>
            <a:r>
              <a:rPr lang="en-US" sz="2000" i="1" dirty="0"/>
              <a:t>third</a:t>
            </a:r>
            <a:r>
              <a:rPr lang="en-US" sz="2000" dirty="0">
                <a:solidFill>
                  <a:schemeClr val="tx1"/>
                </a:solidFill>
              </a:rPr>
              <a:t> call to </a:t>
            </a:r>
            <a:r>
              <a:rPr lang="en-US" sz="2000" dirty="0" smtClean="0">
                <a:solidFill>
                  <a:schemeClr val="tx1"/>
                </a:solidFill>
              </a:rPr>
              <a:t>fact and then updated again</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latin typeface="Courier New" pitchFamily="49" charset="0"/>
              </a:rPr>
              <a:t>$v0</a:t>
            </a:r>
            <a:r>
              <a:rPr lang="en-US" sz="2000" dirty="0" smtClean="0">
                <a:solidFill>
                  <a:schemeClr val="tx1"/>
                </a:solidFill>
              </a:rPr>
              <a:t> initialized to 1</a:t>
            </a:r>
          </a:p>
          <a:p>
            <a:pPr marL="742950" lvl="1" indent="-285750">
              <a:lnSpc>
                <a:spcPct val="95000"/>
              </a:lnSpc>
              <a:spcBef>
                <a:spcPct val="25000"/>
              </a:spcBef>
              <a:buClr>
                <a:schemeClr val="accent1"/>
              </a:buClr>
              <a:buSzPct val="75000"/>
              <a:buFont typeface="Monotype Sorts" pitchFamily="2" charset="2"/>
              <a:buChar char="l"/>
            </a:pPr>
            <a:endParaRPr lang="en-US" sz="2000" dirty="0">
              <a:solidFill>
                <a:schemeClr val="tx1"/>
              </a:solidFill>
            </a:endParaRPr>
          </a:p>
        </p:txBody>
      </p:sp>
    </p:spTree>
    <p:extLst>
      <p:ext uri="{BB962C8B-B14F-4D97-AF65-F5344CB8AC3E}">
        <p14:creationId xmlns:p14="http://schemas.microsoft.com/office/powerpoint/2010/main" val="1423066898"/>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r>
              <a:rPr lang="en-US"/>
              <a:t>A Look at the Stack for $a0 = 2, Part 3</a:t>
            </a:r>
          </a:p>
        </p:txBody>
      </p:sp>
      <p:sp>
        <p:nvSpPr>
          <p:cNvPr id="405507"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05508"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05509" name="Line 5"/>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05510" name="Line 6"/>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05511" name="Rectangle 7"/>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5512" name="Text Box 8"/>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05513" name="Line 9"/>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05514" name="Line 10"/>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05515" name="Line 11"/>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05516" name="Line 12"/>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05517" name="Line 13"/>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05518" name="Line 14"/>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05519" name="Line 15"/>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05520" name="Rectangle 16"/>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5521" name="Text Box 17"/>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05522" name="Rectangle 18"/>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5523" name="Text Box 19"/>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05524" name="Text Box 20"/>
          <p:cNvSpPr txBox="1">
            <a:spLocks noChangeArrowheads="1"/>
          </p:cNvSpPr>
          <p:nvPr/>
        </p:nvSpPr>
        <p:spPr bwMode="auto">
          <a:xfrm>
            <a:off x="3048000" y="2416175"/>
            <a:ext cx="955675"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 $sp</a:t>
            </a:r>
          </a:p>
        </p:txBody>
      </p:sp>
      <p:sp>
        <p:nvSpPr>
          <p:cNvPr id="405525" name="Text Box 21"/>
          <p:cNvSpPr txBox="1">
            <a:spLocks noChangeArrowheads="1"/>
          </p:cNvSpPr>
          <p:nvPr/>
        </p:nvSpPr>
        <p:spPr bwMode="auto">
          <a:xfrm>
            <a:off x="1676400" y="21336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5526" name="Text Box 22"/>
          <p:cNvSpPr txBox="1">
            <a:spLocks noChangeArrowheads="1"/>
          </p:cNvSpPr>
          <p:nvPr/>
        </p:nvSpPr>
        <p:spPr bwMode="auto">
          <a:xfrm>
            <a:off x="1447800" y="24384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1</a:t>
            </a:r>
            <a:endParaRPr lang="en-US"/>
          </a:p>
        </p:txBody>
      </p:sp>
      <p:sp>
        <p:nvSpPr>
          <p:cNvPr id="405527" name="Rectangle 23"/>
          <p:cNvSpPr>
            <a:spLocks noChangeArrowheads="1"/>
          </p:cNvSpPr>
          <p:nvPr/>
        </p:nvSpPr>
        <p:spPr bwMode="auto">
          <a:xfrm>
            <a:off x="3159125" y="2519363"/>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5528" name="Text Box 24"/>
          <p:cNvSpPr txBox="1">
            <a:spLocks noChangeArrowheads="1"/>
          </p:cNvSpPr>
          <p:nvPr/>
        </p:nvSpPr>
        <p:spPr bwMode="auto">
          <a:xfrm>
            <a:off x="1905000" y="54102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0</a:t>
            </a:r>
            <a:endParaRPr lang="en-US"/>
          </a:p>
        </p:txBody>
      </p:sp>
      <p:sp>
        <p:nvSpPr>
          <p:cNvPr id="405529" name="Text Box 25"/>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05530" name="Text Box 26"/>
          <p:cNvSpPr txBox="1">
            <a:spLocks noChangeArrowheads="1"/>
          </p:cNvSpPr>
          <p:nvPr/>
        </p:nvSpPr>
        <p:spPr bwMode="auto">
          <a:xfrm>
            <a:off x="3048000" y="3025775"/>
            <a:ext cx="955675"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 $sp</a:t>
            </a:r>
          </a:p>
        </p:txBody>
      </p:sp>
      <p:sp>
        <p:nvSpPr>
          <p:cNvPr id="405531" name="Text Box 27"/>
          <p:cNvSpPr txBox="1">
            <a:spLocks noChangeArrowheads="1"/>
          </p:cNvSpPr>
          <p:nvPr/>
        </p:nvSpPr>
        <p:spPr bwMode="auto">
          <a:xfrm>
            <a:off x="1524000" y="30480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0</a:t>
            </a:r>
            <a:endParaRPr lang="en-US"/>
          </a:p>
        </p:txBody>
      </p:sp>
      <p:sp>
        <p:nvSpPr>
          <p:cNvPr id="405532" name="Text Box 28"/>
          <p:cNvSpPr txBox="1">
            <a:spLocks noChangeArrowheads="1"/>
          </p:cNvSpPr>
          <p:nvPr/>
        </p:nvSpPr>
        <p:spPr bwMode="auto">
          <a:xfrm>
            <a:off x="1600200" y="27432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5533" name="Text Box 29"/>
          <p:cNvSpPr txBox="1">
            <a:spLocks noChangeArrowheads="1"/>
          </p:cNvSpPr>
          <p:nvPr/>
        </p:nvSpPr>
        <p:spPr bwMode="auto">
          <a:xfrm>
            <a:off x="1752600" y="47244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5534" name="Text Box 30"/>
          <p:cNvSpPr txBox="1">
            <a:spLocks noChangeArrowheads="1"/>
          </p:cNvSpPr>
          <p:nvPr/>
        </p:nvSpPr>
        <p:spPr bwMode="auto">
          <a:xfrm>
            <a:off x="1447800" y="18288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2</a:t>
            </a:r>
            <a:endParaRPr lang="en-US"/>
          </a:p>
        </p:txBody>
      </p:sp>
      <p:sp>
        <p:nvSpPr>
          <p:cNvPr id="405535" name="Text Box 31"/>
          <p:cNvSpPr txBox="1">
            <a:spLocks noChangeArrowheads="1"/>
          </p:cNvSpPr>
          <p:nvPr/>
        </p:nvSpPr>
        <p:spPr bwMode="auto">
          <a:xfrm>
            <a:off x="1143000" y="15240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endParaRPr lang="en-US"/>
          </a:p>
        </p:txBody>
      </p:sp>
      <p:sp>
        <p:nvSpPr>
          <p:cNvPr id="405536" name="Text Box 32"/>
          <p:cNvSpPr txBox="1">
            <a:spLocks noChangeArrowheads="1"/>
          </p:cNvSpPr>
          <p:nvPr/>
        </p:nvSpPr>
        <p:spPr bwMode="auto">
          <a:xfrm>
            <a:off x="1905000" y="60960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1</a:t>
            </a:r>
            <a:endParaRPr lang="en-US"/>
          </a:p>
        </p:txBody>
      </p:sp>
      <p:sp>
        <p:nvSpPr>
          <p:cNvPr id="405537" name="Text Box 33"/>
          <p:cNvSpPr txBox="1">
            <a:spLocks noChangeArrowheads="1"/>
          </p:cNvSpPr>
          <p:nvPr/>
        </p:nvSpPr>
        <p:spPr bwMode="auto">
          <a:xfrm>
            <a:off x="3048000" y="24161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$sp</a:t>
            </a:r>
          </a:p>
        </p:txBody>
      </p:sp>
      <p:sp>
        <p:nvSpPr>
          <p:cNvPr id="405538" name="Rectangle 34"/>
          <p:cNvSpPr>
            <a:spLocks noChangeArrowheads="1"/>
          </p:cNvSpPr>
          <p:nvPr/>
        </p:nvSpPr>
        <p:spPr bwMode="auto">
          <a:xfrm>
            <a:off x="3124200" y="3124200"/>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5539" name="Rectangle 35"/>
          <p:cNvSpPr>
            <a:spLocks noChangeArrowheads="1"/>
          </p:cNvSpPr>
          <p:nvPr/>
        </p:nvSpPr>
        <p:spPr bwMode="auto">
          <a:xfrm>
            <a:off x="4643438" y="1066800"/>
            <a:ext cx="3429024" cy="3070584"/>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first</a:t>
            </a:r>
            <a:r>
              <a:rPr lang="en-US" sz="2400" dirty="0">
                <a:solidFill>
                  <a:schemeClr val="tx1"/>
                </a:solidFill>
              </a:rPr>
              <a:t> encounter with </a:t>
            </a:r>
            <a:r>
              <a:rPr lang="en-US" sz="2400" dirty="0" smtClean="0">
                <a:solidFill>
                  <a:schemeClr val="tx1"/>
                </a:solidFill>
              </a:rPr>
              <a:t>the 1</a:t>
            </a:r>
            <a:r>
              <a:rPr lang="en-US" sz="2400" baseline="30000" dirty="0" smtClean="0">
                <a:solidFill>
                  <a:schemeClr val="tx1"/>
                </a:solidFill>
              </a:rPr>
              <a:t>st</a:t>
            </a:r>
            <a:r>
              <a:rPr lang="en-US" sz="2400" dirty="0" smtClean="0">
                <a:solidFill>
                  <a:schemeClr val="tx1"/>
                </a:solidFill>
              </a:rPr>
              <a:t> </a:t>
            </a:r>
            <a:r>
              <a:rPr lang="en-US" sz="2400" dirty="0" err="1" smtClean="0">
                <a:solidFill>
                  <a:schemeClr val="tx1"/>
                </a:solidFill>
                <a:latin typeface="Courier New" pitchFamily="49" charset="0"/>
              </a:rPr>
              <a:t>jr</a:t>
            </a:r>
            <a:endParaRPr lang="en-US" sz="24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stack pointer updated to point to </a:t>
            </a:r>
            <a:r>
              <a:rPr lang="en-US" sz="2000" i="1" dirty="0" smtClean="0"/>
              <a:t>third</a:t>
            </a:r>
            <a:r>
              <a:rPr lang="en-US" sz="2000" dirty="0" smtClean="0">
                <a:solidFill>
                  <a:schemeClr val="tx1"/>
                </a:solidFill>
              </a:rPr>
              <a:t> call to fact and then updated again</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latin typeface="Courier New" pitchFamily="49" charset="0"/>
              </a:rPr>
              <a:t>$v0</a:t>
            </a:r>
            <a:r>
              <a:rPr lang="en-US" sz="2000" dirty="0" smtClean="0">
                <a:solidFill>
                  <a:schemeClr val="tx1"/>
                </a:solidFill>
              </a:rPr>
              <a:t> initialized to 1</a:t>
            </a:r>
          </a:p>
        </p:txBody>
      </p:sp>
    </p:spTree>
    <p:extLst>
      <p:ext uri="{BB962C8B-B14F-4D97-AF65-F5344CB8AC3E}">
        <p14:creationId xmlns:p14="http://schemas.microsoft.com/office/powerpoint/2010/main" val="3063960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552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1000"/>
                                  </p:stCondLst>
                                  <p:childTnLst>
                                    <p:set>
                                      <p:cBhvr>
                                        <p:cTn id="9" dur="1" fill="hold">
                                          <p:stCondLst>
                                            <p:cond delay="499"/>
                                          </p:stCondLst>
                                        </p:cTn>
                                        <p:tgtEl>
                                          <p:spTgt spid="40553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0553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05531"/>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1000"/>
                                  </p:stCondLst>
                                  <p:childTnLst>
                                    <p:set>
                                      <p:cBhvr>
                                        <p:cTn id="20" dur="1" fill="hold">
                                          <p:stCondLst>
                                            <p:cond delay="499"/>
                                          </p:stCondLst>
                                        </p:cTn>
                                        <p:tgtEl>
                                          <p:spTgt spid="4055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405538"/>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1000"/>
                                  </p:stCondLst>
                                  <p:childTnLst>
                                    <p:set>
                                      <p:cBhvr>
                                        <p:cTn id="27" dur="1" fill="hold">
                                          <p:stCondLst>
                                            <p:cond delay="499"/>
                                          </p:stCondLst>
                                        </p:cTn>
                                        <p:tgtEl>
                                          <p:spTgt spid="4055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27" grpId="0" animBg="1"/>
      <p:bldP spid="405530" grpId="0" autoUpdateAnimBg="0"/>
      <p:bldP spid="405531" grpId="0" autoUpdateAnimBg="0"/>
      <p:bldP spid="405532" grpId="0" autoUpdateAnimBg="0"/>
      <p:bldP spid="405536" grpId="0" autoUpdateAnimBg="0"/>
      <p:bldP spid="405537" grpId="0" autoUpdateAnimBg="0"/>
      <p:bldP spid="40553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r>
              <a:rPr lang="en-US"/>
              <a:t>A Look at the Stack for $a0 = 2, Part 4</a:t>
            </a:r>
          </a:p>
        </p:txBody>
      </p:sp>
      <p:sp>
        <p:nvSpPr>
          <p:cNvPr id="432131"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32132"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32134" name="Line 6"/>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32135" name="Line 7"/>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32136" name="Rectangle 8"/>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32137" name="Text Box 9"/>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32138" name="Line 10"/>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32139" name="Line 11"/>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32140" name="Line 12"/>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32141" name="Line 13"/>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32142" name="Line 14"/>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32143" name="Line 15"/>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32144" name="Line 16"/>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32145" name="Rectangle 17"/>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32146" name="Text Box 18"/>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32147" name="Rectangle 19"/>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32148" name="Text Box 20"/>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32149" name="Text Box 21"/>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32151" name="Rectangle 23"/>
          <p:cNvSpPr>
            <a:spLocks noChangeArrowheads="1"/>
          </p:cNvSpPr>
          <p:nvPr/>
        </p:nvSpPr>
        <p:spPr bwMode="auto">
          <a:xfrm>
            <a:off x="4357686" y="1000108"/>
            <a:ext cx="4171976" cy="5037276"/>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first</a:t>
            </a:r>
            <a:r>
              <a:rPr lang="en-US" sz="2400" dirty="0">
                <a:solidFill>
                  <a:schemeClr val="tx1"/>
                </a:solidFill>
              </a:rPr>
              <a:t> encounter with the </a:t>
            </a:r>
            <a:r>
              <a:rPr lang="en-US" sz="2400" dirty="0" smtClean="0">
                <a:solidFill>
                  <a:schemeClr val="tx1"/>
                </a:solidFill>
              </a:rPr>
              <a:t>2</a:t>
            </a:r>
            <a:r>
              <a:rPr lang="en-US" sz="2400" baseline="30000" dirty="0" smtClean="0">
                <a:solidFill>
                  <a:schemeClr val="tx1"/>
                </a:solidFill>
              </a:rPr>
              <a:t>nd</a:t>
            </a:r>
            <a:r>
              <a:rPr lang="en-US" sz="2400" dirty="0" smtClean="0">
                <a:solidFill>
                  <a:schemeClr val="tx1"/>
                </a:solidFill>
              </a:rPr>
              <a:t>  </a:t>
            </a:r>
            <a:r>
              <a:rPr lang="en-US" sz="2400" dirty="0" err="1">
                <a:solidFill>
                  <a:schemeClr val="tx1"/>
                </a:solidFill>
                <a:latin typeface="Courier New" pitchFamily="49" charset="0"/>
              </a:rPr>
              <a:t>jr</a:t>
            </a:r>
            <a:r>
              <a:rPr lang="en-US" sz="2400" dirty="0">
                <a:solidFill>
                  <a:schemeClr val="tx1"/>
                </a:solidFill>
              </a:rPr>
              <a:t> (</a:t>
            </a:r>
            <a:r>
              <a:rPr lang="en-US" sz="2400" dirty="0" smtClean="0">
                <a:solidFill>
                  <a:schemeClr val="tx1"/>
                </a:solidFill>
              </a:rPr>
              <a:t>returns </a:t>
            </a:r>
            <a:r>
              <a:rPr lang="en-US" sz="2400" dirty="0">
                <a:solidFill>
                  <a:schemeClr val="tx1"/>
                </a:solidFill>
              </a:rPr>
              <a:t>from fact routine after updating </a:t>
            </a:r>
            <a:r>
              <a:rPr lang="en-US" sz="2400" dirty="0">
                <a:solidFill>
                  <a:schemeClr val="tx1"/>
                </a:solidFill>
                <a:latin typeface="Courier New" pitchFamily="49" charset="0"/>
              </a:rPr>
              <a:t>$v0</a:t>
            </a:r>
            <a:r>
              <a:rPr lang="en-US" sz="2400" dirty="0">
                <a:solidFill>
                  <a:schemeClr val="tx1"/>
                </a:solidFill>
              </a:rPr>
              <a:t> to 1 * 1)</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return address to caller routine (</a:t>
            </a:r>
            <a:r>
              <a:rPr lang="en-US" sz="2000" dirty="0" err="1">
                <a:solidFill>
                  <a:schemeClr val="tx1"/>
                </a:solidFill>
                <a:latin typeface="Courier New" pitchFamily="49" charset="0"/>
              </a:rPr>
              <a:t>bk_f</a:t>
            </a:r>
            <a:r>
              <a:rPr lang="en-US" sz="2000" dirty="0">
                <a:solidFill>
                  <a:schemeClr val="tx1"/>
                </a:solidFill>
              </a:rPr>
              <a:t> in fact routine) restored to </a:t>
            </a:r>
            <a:r>
              <a:rPr lang="en-US" sz="2000" dirty="0">
                <a:solidFill>
                  <a:schemeClr val="tx1"/>
                </a:solidFill>
                <a:latin typeface="Courier New" pitchFamily="49" charset="0"/>
              </a:rPr>
              <a:t>$</a:t>
            </a:r>
            <a:r>
              <a:rPr lang="en-US" sz="2000" dirty="0" err="1">
                <a:solidFill>
                  <a:schemeClr val="tx1"/>
                </a:solidFill>
                <a:latin typeface="Courier New" pitchFamily="49" charset="0"/>
              </a:rPr>
              <a:t>ra</a:t>
            </a:r>
            <a:r>
              <a:rPr lang="en-US" sz="2000" dirty="0">
                <a:solidFill>
                  <a:schemeClr val="tx1"/>
                </a:solidFill>
              </a:rPr>
              <a:t> from the stack</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previous value of </a:t>
            </a:r>
            <a:r>
              <a:rPr lang="en-US" sz="2000" dirty="0">
                <a:solidFill>
                  <a:schemeClr val="tx1"/>
                </a:solidFill>
                <a:latin typeface="Courier New" pitchFamily="49" charset="0"/>
              </a:rPr>
              <a:t>$a0</a:t>
            </a:r>
            <a:r>
              <a:rPr lang="en-US" sz="2000" dirty="0">
                <a:solidFill>
                  <a:schemeClr val="tx1"/>
                </a:solidFill>
              </a:rPr>
              <a:t> restored from the </a:t>
            </a:r>
            <a:r>
              <a:rPr lang="en-US" sz="2000" dirty="0" smtClean="0">
                <a:solidFill>
                  <a:schemeClr val="tx1"/>
                </a:solidFill>
              </a:rPr>
              <a:t>stack</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fact routine computes the new $v0 (1 * 1)</a:t>
            </a:r>
            <a:endParaRPr lang="en-US" sz="20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stack pointer updated to point to </a:t>
            </a:r>
            <a:r>
              <a:rPr lang="en-US" sz="2000" i="1" dirty="0"/>
              <a:t>second</a:t>
            </a:r>
            <a:r>
              <a:rPr lang="en-US" sz="2000" dirty="0">
                <a:solidFill>
                  <a:schemeClr val="tx1"/>
                </a:solidFill>
              </a:rPr>
              <a:t> call to fact</a:t>
            </a:r>
          </a:p>
        </p:txBody>
      </p:sp>
    </p:spTree>
    <p:extLst>
      <p:ext uri="{BB962C8B-B14F-4D97-AF65-F5344CB8AC3E}">
        <p14:creationId xmlns:p14="http://schemas.microsoft.com/office/powerpoint/2010/main" val="1081459344"/>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r>
              <a:rPr lang="en-US"/>
              <a:t>A Look at the Stack for $a0 = 2, Part 4</a:t>
            </a:r>
          </a:p>
        </p:txBody>
      </p:sp>
      <p:sp>
        <p:nvSpPr>
          <p:cNvPr id="407555"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07556"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07557" name="Line 5"/>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07558" name="Line 6"/>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07559" name="Rectangle 7"/>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7560" name="Text Box 8"/>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07561" name="Line 9"/>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07562" name="Line 10"/>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07563" name="Line 11"/>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07564" name="Line 12"/>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07565" name="Line 13"/>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07566" name="Line 14"/>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07567" name="Line 15"/>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07568" name="Rectangle 16"/>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7569" name="Text Box 17"/>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07570" name="Rectangle 18"/>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7571" name="Text Box 19"/>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07572" name="Text Box 20"/>
          <p:cNvSpPr txBox="1">
            <a:spLocks noChangeArrowheads="1"/>
          </p:cNvSpPr>
          <p:nvPr/>
        </p:nvSpPr>
        <p:spPr bwMode="auto">
          <a:xfrm>
            <a:off x="3048000" y="2416175"/>
            <a:ext cx="955675"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 $sp</a:t>
            </a:r>
          </a:p>
        </p:txBody>
      </p:sp>
      <p:sp>
        <p:nvSpPr>
          <p:cNvPr id="407573" name="Text Box 21"/>
          <p:cNvSpPr txBox="1">
            <a:spLocks noChangeArrowheads="1"/>
          </p:cNvSpPr>
          <p:nvPr/>
        </p:nvSpPr>
        <p:spPr bwMode="auto">
          <a:xfrm>
            <a:off x="1676400" y="21336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7574" name="Text Box 22"/>
          <p:cNvSpPr txBox="1">
            <a:spLocks noChangeArrowheads="1"/>
          </p:cNvSpPr>
          <p:nvPr/>
        </p:nvSpPr>
        <p:spPr bwMode="auto">
          <a:xfrm>
            <a:off x="1447800" y="24384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1</a:t>
            </a:r>
            <a:endParaRPr lang="en-US"/>
          </a:p>
        </p:txBody>
      </p:sp>
      <p:sp>
        <p:nvSpPr>
          <p:cNvPr id="407575" name="Rectangle 23"/>
          <p:cNvSpPr>
            <a:spLocks noChangeArrowheads="1"/>
          </p:cNvSpPr>
          <p:nvPr/>
        </p:nvSpPr>
        <p:spPr bwMode="auto">
          <a:xfrm>
            <a:off x="3159125" y="2519363"/>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7576" name="Text Box 24"/>
          <p:cNvSpPr txBox="1">
            <a:spLocks noChangeArrowheads="1"/>
          </p:cNvSpPr>
          <p:nvPr/>
        </p:nvSpPr>
        <p:spPr bwMode="auto">
          <a:xfrm>
            <a:off x="1905000" y="54102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0</a:t>
            </a:r>
            <a:endParaRPr lang="en-US"/>
          </a:p>
        </p:txBody>
      </p:sp>
      <p:sp>
        <p:nvSpPr>
          <p:cNvPr id="407577" name="Text Box 25"/>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07578" name="Text Box 26"/>
          <p:cNvSpPr txBox="1">
            <a:spLocks noChangeArrowheads="1"/>
          </p:cNvSpPr>
          <p:nvPr/>
        </p:nvSpPr>
        <p:spPr bwMode="auto">
          <a:xfrm>
            <a:off x="1524000" y="30480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0</a:t>
            </a:r>
            <a:endParaRPr lang="en-US"/>
          </a:p>
        </p:txBody>
      </p:sp>
      <p:sp>
        <p:nvSpPr>
          <p:cNvPr id="407579" name="Text Box 27"/>
          <p:cNvSpPr txBox="1">
            <a:spLocks noChangeArrowheads="1"/>
          </p:cNvSpPr>
          <p:nvPr/>
        </p:nvSpPr>
        <p:spPr bwMode="auto">
          <a:xfrm>
            <a:off x="1600200" y="27432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7580" name="Text Box 28"/>
          <p:cNvSpPr txBox="1">
            <a:spLocks noChangeArrowheads="1"/>
          </p:cNvSpPr>
          <p:nvPr/>
        </p:nvSpPr>
        <p:spPr bwMode="auto">
          <a:xfrm>
            <a:off x="1447800" y="18288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2</a:t>
            </a:r>
            <a:endParaRPr lang="en-US"/>
          </a:p>
        </p:txBody>
      </p:sp>
      <p:sp>
        <p:nvSpPr>
          <p:cNvPr id="407581" name="Text Box 29"/>
          <p:cNvSpPr txBox="1">
            <a:spLocks noChangeArrowheads="1"/>
          </p:cNvSpPr>
          <p:nvPr/>
        </p:nvSpPr>
        <p:spPr bwMode="auto">
          <a:xfrm>
            <a:off x="1143000" y="15240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endParaRPr lang="en-US"/>
          </a:p>
        </p:txBody>
      </p:sp>
      <p:sp>
        <p:nvSpPr>
          <p:cNvPr id="407582" name="Text Box 30"/>
          <p:cNvSpPr txBox="1">
            <a:spLocks noChangeArrowheads="1"/>
          </p:cNvSpPr>
          <p:nvPr/>
        </p:nvSpPr>
        <p:spPr bwMode="auto">
          <a:xfrm>
            <a:off x="1905000" y="60960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1</a:t>
            </a:r>
            <a:endParaRPr lang="en-US"/>
          </a:p>
        </p:txBody>
      </p:sp>
      <p:sp>
        <p:nvSpPr>
          <p:cNvPr id="407583" name="Text Box 31"/>
          <p:cNvSpPr txBox="1">
            <a:spLocks noChangeArrowheads="1"/>
          </p:cNvSpPr>
          <p:nvPr/>
        </p:nvSpPr>
        <p:spPr bwMode="auto">
          <a:xfrm>
            <a:off x="3048000" y="18065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$sp</a:t>
            </a:r>
          </a:p>
        </p:txBody>
      </p:sp>
      <p:sp>
        <p:nvSpPr>
          <p:cNvPr id="407584" name="Rectangle 32"/>
          <p:cNvSpPr>
            <a:spLocks noChangeArrowheads="1"/>
          </p:cNvSpPr>
          <p:nvPr/>
        </p:nvSpPr>
        <p:spPr bwMode="auto">
          <a:xfrm>
            <a:off x="1676400" y="5486400"/>
            <a:ext cx="762000" cy="152400"/>
          </a:xfrm>
          <a:prstGeom prst="rect">
            <a:avLst/>
          </a:prstGeom>
          <a:solidFill>
            <a:schemeClr val="bg1"/>
          </a:solidFill>
          <a:ln w="12700">
            <a:noFill/>
            <a:miter lim="800000"/>
            <a:headEnd/>
            <a:tailEnd/>
          </a:ln>
          <a:effectLst/>
        </p:spPr>
        <p:txBody>
          <a:bodyPr wrap="none" anchor="ctr"/>
          <a:lstStyle/>
          <a:p>
            <a:endParaRPr lang="en-US"/>
          </a:p>
        </p:txBody>
      </p:sp>
      <p:sp>
        <p:nvSpPr>
          <p:cNvPr id="407585" name="Text Box 33"/>
          <p:cNvSpPr txBox="1">
            <a:spLocks noChangeArrowheads="1"/>
          </p:cNvSpPr>
          <p:nvPr/>
        </p:nvSpPr>
        <p:spPr bwMode="auto">
          <a:xfrm>
            <a:off x="1905000" y="54102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1</a:t>
            </a:r>
            <a:endParaRPr lang="en-US"/>
          </a:p>
        </p:txBody>
      </p:sp>
      <p:sp>
        <p:nvSpPr>
          <p:cNvPr id="407586" name="Text Box 34"/>
          <p:cNvSpPr txBox="1">
            <a:spLocks noChangeArrowheads="1"/>
          </p:cNvSpPr>
          <p:nvPr/>
        </p:nvSpPr>
        <p:spPr bwMode="auto">
          <a:xfrm>
            <a:off x="1676400" y="47244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7587" name="Rectangle 35"/>
          <p:cNvSpPr>
            <a:spLocks noChangeArrowheads="1"/>
          </p:cNvSpPr>
          <p:nvPr/>
        </p:nvSpPr>
        <p:spPr bwMode="auto">
          <a:xfrm>
            <a:off x="1676400" y="6172200"/>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7588" name="Text Box 36"/>
          <p:cNvSpPr txBox="1">
            <a:spLocks noChangeArrowheads="1"/>
          </p:cNvSpPr>
          <p:nvPr/>
        </p:nvSpPr>
        <p:spPr bwMode="auto">
          <a:xfrm>
            <a:off x="1600200" y="6096000"/>
            <a:ext cx="990600"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1 * 1</a:t>
            </a:r>
            <a:endParaRPr lang="en-US"/>
          </a:p>
        </p:txBody>
      </p:sp>
      <p:sp>
        <p:nvSpPr>
          <p:cNvPr id="407589" name="Rectangle 37"/>
          <p:cNvSpPr>
            <a:spLocks noChangeArrowheads="1"/>
          </p:cNvSpPr>
          <p:nvPr/>
        </p:nvSpPr>
        <p:spPr bwMode="auto">
          <a:xfrm>
            <a:off x="4400552" y="990600"/>
            <a:ext cx="4100538" cy="5037276"/>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first</a:t>
            </a:r>
            <a:r>
              <a:rPr lang="en-US" sz="2400" dirty="0">
                <a:solidFill>
                  <a:schemeClr val="tx1"/>
                </a:solidFill>
              </a:rPr>
              <a:t> encounter with </a:t>
            </a:r>
            <a:r>
              <a:rPr lang="en-US" sz="2400" dirty="0" smtClean="0">
                <a:solidFill>
                  <a:schemeClr val="tx1"/>
                </a:solidFill>
              </a:rPr>
              <a:t>the 2</a:t>
            </a:r>
            <a:r>
              <a:rPr lang="en-US" sz="2400" baseline="30000" dirty="0" smtClean="0">
                <a:solidFill>
                  <a:schemeClr val="tx1"/>
                </a:solidFill>
              </a:rPr>
              <a:t>nd</a:t>
            </a:r>
            <a:r>
              <a:rPr lang="en-US" sz="2400" dirty="0" smtClean="0">
                <a:solidFill>
                  <a:schemeClr val="tx1"/>
                </a:solidFill>
              </a:rPr>
              <a:t>  </a:t>
            </a:r>
            <a:r>
              <a:rPr lang="en-US" sz="2400" dirty="0" err="1" smtClean="0">
                <a:solidFill>
                  <a:schemeClr val="tx1"/>
                </a:solidFill>
                <a:latin typeface="Courier New" pitchFamily="49" charset="0"/>
              </a:rPr>
              <a:t>jr</a:t>
            </a:r>
            <a:r>
              <a:rPr lang="en-US" sz="2400" dirty="0" smtClean="0">
                <a:solidFill>
                  <a:schemeClr val="tx1"/>
                </a:solidFill>
              </a:rPr>
              <a:t> </a:t>
            </a:r>
            <a:r>
              <a:rPr lang="en-US" sz="2400" dirty="0">
                <a:solidFill>
                  <a:schemeClr val="tx1"/>
                </a:solidFill>
              </a:rPr>
              <a:t>(</a:t>
            </a:r>
            <a:r>
              <a:rPr lang="en-US" sz="2400" dirty="0" smtClean="0">
                <a:solidFill>
                  <a:schemeClr val="tx1"/>
                </a:solidFill>
              </a:rPr>
              <a:t>returns </a:t>
            </a:r>
            <a:r>
              <a:rPr lang="en-US" sz="2400" dirty="0">
                <a:solidFill>
                  <a:schemeClr val="tx1"/>
                </a:solidFill>
              </a:rPr>
              <a:t>from fact routine after updating </a:t>
            </a:r>
            <a:r>
              <a:rPr lang="en-US" sz="2400" dirty="0">
                <a:solidFill>
                  <a:schemeClr val="tx1"/>
                </a:solidFill>
                <a:latin typeface="Courier New" pitchFamily="49" charset="0"/>
              </a:rPr>
              <a:t>$v0</a:t>
            </a:r>
            <a:r>
              <a:rPr lang="en-US" sz="2400" dirty="0">
                <a:solidFill>
                  <a:schemeClr val="tx1"/>
                </a:solidFill>
              </a:rPr>
              <a:t> to 1 * 1)</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return address to caller routine (</a:t>
            </a:r>
            <a:r>
              <a:rPr lang="en-US" sz="2000" dirty="0" err="1">
                <a:solidFill>
                  <a:schemeClr val="tx1"/>
                </a:solidFill>
                <a:latin typeface="Courier New" pitchFamily="49" charset="0"/>
              </a:rPr>
              <a:t>bk_f</a:t>
            </a:r>
            <a:r>
              <a:rPr lang="en-US" sz="2000" dirty="0">
                <a:solidFill>
                  <a:schemeClr val="tx1"/>
                </a:solidFill>
              </a:rPr>
              <a:t> in fact routine) restored to </a:t>
            </a:r>
            <a:r>
              <a:rPr lang="en-US" sz="2000" dirty="0">
                <a:solidFill>
                  <a:schemeClr val="tx1"/>
                </a:solidFill>
                <a:latin typeface="Courier New" pitchFamily="49" charset="0"/>
              </a:rPr>
              <a:t>$</a:t>
            </a:r>
            <a:r>
              <a:rPr lang="en-US" sz="2000" dirty="0" err="1">
                <a:solidFill>
                  <a:schemeClr val="tx1"/>
                </a:solidFill>
                <a:latin typeface="Courier New" pitchFamily="49" charset="0"/>
              </a:rPr>
              <a:t>ra</a:t>
            </a:r>
            <a:r>
              <a:rPr lang="en-US" sz="2000" dirty="0">
                <a:solidFill>
                  <a:schemeClr val="tx1"/>
                </a:solidFill>
              </a:rPr>
              <a:t> from the stack</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previous value of </a:t>
            </a:r>
            <a:r>
              <a:rPr lang="en-US" sz="2000" dirty="0">
                <a:solidFill>
                  <a:schemeClr val="tx1"/>
                </a:solidFill>
                <a:latin typeface="Courier New" pitchFamily="49" charset="0"/>
              </a:rPr>
              <a:t>$a0</a:t>
            </a:r>
            <a:r>
              <a:rPr lang="en-US" sz="2000" dirty="0">
                <a:solidFill>
                  <a:schemeClr val="tx1"/>
                </a:solidFill>
              </a:rPr>
              <a:t> restored from the </a:t>
            </a:r>
            <a:r>
              <a:rPr lang="en-US" sz="2000" dirty="0" smtClean="0">
                <a:solidFill>
                  <a:schemeClr val="tx1"/>
                </a:solidFill>
              </a:rPr>
              <a:t>stack</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fact routine computes the new $v0 (1 * 1)</a:t>
            </a:r>
            <a:endParaRPr lang="en-US" sz="20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stack pointer updated to point to </a:t>
            </a:r>
            <a:r>
              <a:rPr lang="en-US" sz="2000" i="1" dirty="0"/>
              <a:t>second</a:t>
            </a:r>
            <a:r>
              <a:rPr lang="en-US" sz="2000" dirty="0">
                <a:solidFill>
                  <a:schemeClr val="tx1"/>
                </a:solidFill>
              </a:rPr>
              <a:t> call to fact</a:t>
            </a:r>
          </a:p>
        </p:txBody>
      </p:sp>
    </p:spTree>
    <p:extLst>
      <p:ext uri="{BB962C8B-B14F-4D97-AF65-F5344CB8AC3E}">
        <p14:creationId xmlns:p14="http://schemas.microsoft.com/office/powerpoint/2010/main" val="1643244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758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1000"/>
                                  </p:stCondLst>
                                  <p:childTnLst>
                                    <p:set>
                                      <p:cBhvr>
                                        <p:cTn id="9" dur="1" fill="hold">
                                          <p:stCondLst>
                                            <p:cond delay="499"/>
                                          </p:stCondLst>
                                        </p:cTn>
                                        <p:tgtEl>
                                          <p:spTgt spid="40758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07575"/>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1000"/>
                                  </p:stCondLst>
                                  <p:childTnLst>
                                    <p:set>
                                      <p:cBhvr>
                                        <p:cTn id="16" dur="1" fill="hold">
                                          <p:stCondLst>
                                            <p:cond delay="499"/>
                                          </p:stCondLst>
                                        </p:cTn>
                                        <p:tgtEl>
                                          <p:spTgt spid="4075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07587"/>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1000"/>
                                  </p:stCondLst>
                                  <p:childTnLst>
                                    <p:set>
                                      <p:cBhvr>
                                        <p:cTn id="23" dur="1" fill="hold">
                                          <p:stCondLst>
                                            <p:cond delay="499"/>
                                          </p:stCondLst>
                                        </p:cTn>
                                        <p:tgtEl>
                                          <p:spTgt spid="407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75" grpId="0" animBg="1"/>
      <p:bldP spid="407583" grpId="0" autoUpdateAnimBg="0"/>
      <p:bldP spid="407584" grpId="0" animBg="1"/>
      <p:bldP spid="407585" grpId="0" autoUpdateAnimBg="0"/>
      <p:bldP spid="407587" grpId="0" animBg="1"/>
      <p:bldP spid="407588"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r>
              <a:rPr lang="en-US"/>
              <a:t>A Look at the Stack for $a0 = 2, Part 5</a:t>
            </a:r>
          </a:p>
        </p:txBody>
      </p:sp>
      <p:sp>
        <p:nvSpPr>
          <p:cNvPr id="434179"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34180"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34181" name="Text Box 5"/>
          <p:cNvSpPr txBox="1">
            <a:spLocks noChangeArrowheads="1"/>
          </p:cNvSpPr>
          <p:nvPr/>
        </p:nvSpPr>
        <p:spPr bwMode="auto">
          <a:xfrm>
            <a:off x="3013075" y="11969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tx1"/>
                </a:solidFill>
                <a:latin typeface="Courier New" pitchFamily="49" charset="0"/>
              </a:rPr>
              <a:t>$sp</a:t>
            </a:r>
          </a:p>
        </p:txBody>
      </p:sp>
      <p:sp>
        <p:nvSpPr>
          <p:cNvPr id="434182" name="Line 6"/>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34183" name="Line 7"/>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34184" name="Rectangle 8"/>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34185" name="Text Box 9"/>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34186" name="Line 10"/>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34187" name="Line 11"/>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34188" name="Line 12"/>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34189" name="Line 13"/>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34190" name="Line 14"/>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34191" name="Line 15"/>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34192" name="Line 16"/>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34193" name="Rectangle 17"/>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34194" name="Text Box 18"/>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34195" name="Rectangle 19"/>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34196" name="Text Box 20"/>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34197" name="Text Box 21"/>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34198" name="Rectangle 22"/>
          <p:cNvSpPr>
            <a:spLocks noChangeArrowheads="1"/>
          </p:cNvSpPr>
          <p:nvPr/>
        </p:nvSpPr>
        <p:spPr bwMode="auto">
          <a:xfrm>
            <a:off x="4500562" y="1000108"/>
            <a:ext cx="4024338" cy="5388142"/>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second</a:t>
            </a:r>
            <a:r>
              <a:rPr lang="en-US" sz="2400" dirty="0">
                <a:solidFill>
                  <a:schemeClr val="tx1"/>
                </a:solidFill>
              </a:rPr>
              <a:t> encounter with </a:t>
            </a:r>
            <a:r>
              <a:rPr lang="en-US" sz="2400" dirty="0" smtClean="0">
                <a:solidFill>
                  <a:schemeClr val="tx1"/>
                </a:solidFill>
              </a:rPr>
              <a:t>the 2</a:t>
            </a:r>
            <a:r>
              <a:rPr lang="en-US" sz="2400" baseline="30000" dirty="0" smtClean="0">
                <a:solidFill>
                  <a:schemeClr val="tx1"/>
                </a:solidFill>
              </a:rPr>
              <a:t>nd</a:t>
            </a:r>
            <a:r>
              <a:rPr lang="en-US" sz="2400" dirty="0" smtClean="0">
                <a:solidFill>
                  <a:schemeClr val="tx1"/>
                </a:solidFill>
              </a:rPr>
              <a:t>   </a:t>
            </a:r>
            <a:r>
              <a:rPr lang="en-US" sz="2400" dirty="0" err="1" smtClean="0">
                <a:solidFill>
                  <a:schemeClr val="tx1"/>
                </a:solidFill>
                <a:latin typeface="Courier New" pitchFamily="49" charset="0"/>
              </a:rPr>
              <a:t>jr</a:t>
            </a:r>
            <a:r>
              <a:rPr lang="en-US" sz="2400" dirty="0" smtClean="0">
                <a:solidFill>
                  <a:schemeClr val="tx1"/>
                </a:solidFill>
              </a:rPr>
              <a:t> </a:t>
            </a:r>
            <a:r>
              <a:rPr lang="en-US" sz="2400" dirty="0">
                <a:solidFill>
                  <a:schemeClr val="tx1"/>
                </a:solidFill>
              </a:rPr>
              <a:t>(return from fact routine after updating </a:t>
            </a:r>
            <a:r>
              <a:rPr lang="en-US" sz="2400" dirty="0">
                <a:solidFill>
                  <a:schemeClr val="tx1"/>
                </a:solidFill>
                <a:latin typeface="Courier New" pitchFamily="49" charset="0"/>
              </a:rPr>
              <a:t>$v0</a:t>
            </a:r>
            <a:r>
              <a:rPr lang="en-US" sz="2400" dirty="0">
                <a:solidFill>
                  <a:schemeClr val="tx1"/>
                </a:solidFill>
              </a:rPr>
              <a:t> to 2 * 1 * 1)</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return address to caller routine (main routine) restored to </a:t>
            </a:r>
            <a:r>
              <a:rPr lang="en-US" sz="2000" dirty="0">
                <a:solidFill>
                  <a:schemeClr val="tx1"/>
                </a:solidFill>
                <a:latin typeface="Courier New" pitchFamily="49" charset="0"/>
              </a:rPr>
              <a:t>$</a:t>
            </a:r>
            <a:r>
              <a:rPr lang="en-US" sz="2000" dirty="0" err="1">
                <a:solidFill>
                  <a:schemeClr val="tx1"/>
                </a:solidFill>
                <a:latin typeface="Courier New" pitchFamily="49" charset="0"/>
              </a:rPr>
              <a:t>ra</a:t>
            </a:r>
            <a:r>
              <a:rPr lang="en-US" sz="2000" dirty="0">
                <a:solidFill>
                  <a:schemeClr val="tx1"/>
                </a:solidFill>
              </a:rPr>
              <a:t> from the stack</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original value of </a:t>
            </a:r>
            <a:r>
              <a:rPr lang="en-US" sz="2000" dirty="0">
                <a:solidFill>
                  <a:schemeClr val="tx1"/>
                </a:solidFill>
                <a:latin typeface="Courier New" pitchFamily="49" charset="0"/>
              </a:rPr>
              <a:t>$a0</a:t>
            </a:r>
            <a:r>
              <a:rPr lang="en-US" sz="2000" dirty="0">
                <a:solidFill>
                  <a:schemeClr val="tx1"/>
                </a:solidFill>
              </a:rPr>
              <a:t> restored from the </a:t>
            </a:r>
            <a:r>
              <a:rPr lang="en-US" sz="2000" dirty="0" smtClean="0">
                <a:solidFill>
                  <a:schemeClr val="tx1"/>
                </a:solidFill>
              </a:rPr>
              <a:t>stack</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fact routine computes the new $v0 (2 * 1 * 1)</a:t>
            </a:r>
            <a:endParaRPr lang="en-US" sz="20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stack pointer updated to point to </a:t>
            </a:r>
            <a:r>
              <a:rPr lang="en-US" sz="2000" i="1" dirty="0"/>
              <a:t>first</a:t>
            </a:r>
            <a:r>
              <a:rPr lang="en-US" sz="2000" dirty="0">
                <a:solidFill>
                  <a:schemeClr val="tx1"/>
                </a:solidFill>
              </a:rPr>
              <a:t> call to fact</a:t>
            </a:r>
          </a:p>
        </p:txBody>
      </p:sp>
    </p:spTree>
    <p:extLst>
      <p:ext uri="{BB962C8B-B14F-4D97-AF65-F5344CB8AC3E}">
        <p14:creationId xmlns:p14="http://schemas.microsoft.com/office/powerpoint/2010/main" val="1708209262"/>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en-US"/>
              <a:t>A Look at the Stack for $a0 = 2, Part 5</a:t>
            </a:r>
          </a:p>
        </p:txBody>
      </p:sp>
      <p:sp>
        <p:nvSpPr>
          <p:cNvPr id="409603" name="Line 3"/>
          <p:cNvSpPr>
            <a:spLocks noChangeShapeType="1"/>
          </p:cNvSpPr>
          <p:nvPr/>
        </p:nvSpPr>
        <p:spPr bwMode="auto">
          <a:xfrm>
            <a:off x="1066800" y="990600"/>
            <a:ext cx="0" cy="3276600"/>
          </a:xfrm>
          <a:prstGeom prst="line">
            <a:avLst/>
          </a:prstGeom>
          <a:noFill/>
          <a:ln w="12700">
            <a:solidFill>
              <a:schemeClr val="tx1"/>
            </a:solidFill>
            <a:round/>
            <a:headEnd/>
            <a:tailEnd/>
          </a:ln>
          <a:effectLst/>
        </p:spPr>
        <p:txBody>
          <a:bodyPr/>
          <a:lstStyle/>
          <a:p>
            <a:endParaRPr lang="en-US"/>
          </a:p>
        </p:txBody>
      </p:sp>
      <p:sp>
        <p:nvSpPr>
          <p:cNvPr id="409604" name="Line 4"/>
          <p:cNvSpPr>
            <a:spLocks noChangeShapeType="1"/>
          </p:cNvSpPr>
          <p:nvPr/>
        </p:nvSpPr>
        <p:spPr bwMode="auto">
          <a:xfrm>
            <a:off x="3048000" y="990600"/>
            <a:ext cx="0" cy="3276600"/>
          </a:xfrm>
          <a:prstGeom prst="line">
            <a:avLst/>
          </a:prstGeom>
          <a:noFill/>
          <a:ln w="12700">
            <a:solidFill>
              <a:schemeClr val="tx1"/>
            </a:solidFill>
            <a:round/>
            <a:headEnd/>
            <a:tailEnd/>
          </a:ln>
          <a:effectLst/>
        </p:spPr>
        <p:txBody>
          <a:bodyPr/>
          <a:lstStyle/>
          <a:p>
            <a:endParaRPr lang="en-US"/>
          </a:p>
        </p:txBody>
      </p:sp>
      <p:sp>
        <p:nvSpPr>
          <p:cNvPr id="409605" name="Line 5"/>
          <p:cNvSpPr>
            <a:spLocks noChangeShapeType="1"/>
          </p:cNvSpPr>
          <p:nvPr/>
        </p:nvSpPr>
        <p:spPr bwMode="auto">
          <a:xfrm>
            <a:off x="1066800" y="1219200"/>
            <a:ext cx="1981200" cy="0"/>
          </a:xfrm>
          <a:prstGeom prst="line">
            <a:avLst/>
          </a:prstGeom>
          <a:noFill/>
          <a:ln w="12700">
            <a:solidFill>
              <a:schemeClr val="tx1"/>
            </a:solidFill>
            <a:round/>
            <a:headEnd/>
            <a:tailEnd/>
          </a:ln>
          <a:effectLst/>
        </p:spPr>
        <p:txBody>
          <a:bodyPr/>
          <a:lstStyle/>
          <a:p>
            <a:endParaRPr lang="en-US"/>
          </a:p>
        </p:txBody>
      </p:sp>
      <p:sp>
        <p:nvSpPr>
          <p:cNvPr id="409606" name="Line 6"/>
          <p:cNvSpPr>
            <a:spLocks noChangeShapeType="1"/>
          </p:cNvSpPr>
          <p:nvPr/>
        </p:nvSpPr>
        <p:spPr bwMode="auto">
          <a:xfrm>
            <a:off x="1066800" y="1524000"/>
            <a:ext cx="1981200" cy="0"/>
          </a:xfrm>
          <a:prstGeom prst="line">
            <a:avLst/>
          </a:prstGeom>
          <a:noFill/>
          <a:ln w="12700">
            <a:solidFill>
              <a:schemeClr val="tx1"/>
            </a:solidFill>
            <a:round/>
            <a:headEnd/>
            <a:tailEnd/>
          </a:ln>
          <a:effectLst/>
        </p:spPr>
        <p:txBody>
          <a:bodyPr/>
          <a:lstStyle/>
          <a:p>
            <a:endParaRPr lang="en-US"/>
          </a:p>
        </p:txBody>
      </p:sp>
      <p:sp>
        <p:nvSpPr>
          <p:cNvPr id="409607" name="Rectangle 7"/>
          <p:cNvSpPr>
            <a:spLocks noChangeArrowheads="1"/>
          </p:cNvSpPr>
          <p:nvPr/>
        </p:nvSpPr>
        <p:spPr bwMode="auto">
          <a:xfrm>
            <a:off x="1066800" y="47244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9608" name="Text Box 8"/>
          <p:cNvSpPr txBox="1">
            <a:spLocks noChangeArrowheads="1"/>
          </p:cNvSpPr>
          <p:nvPr/>
        </p:nvSpPr>
        <p:spPr bwMode="auto">
          <a:xfrm>
            <a:off x="3124200" y="47037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$ra</a:t>
            </a:r>
          </a:p>
        </p:txBody>
      </p:sp>
      <p:sp>
        <p:nvSpPr>
          <p:cNvPr id="409609" name="Line 9"/>
          <p:cNvSpPr>
            <a:spLocks noChangeShapeType="1"/>
          </p:cNvSpPr>
          <p:nvPr/>
        </p:nvSpPr>
        <p:spPr bwMode="auto">
          <a:xfrm>
            <a:off x="1066800" y="1828800"/>
            <a:ext cx="1981200" cy="0"/>
          </a:xfrm>
          <a:prstGeom prst="line">
            <a:avLst/>
          </a:prstGeom>
          <a:noFill/>
          <a:ln w="12700">
            <a:solidFill>
              <a:schemeClr val="tx1"/>
            </a:solidFill>
            <a:round/>
            <a:headEnd/>
            <a:tailEnd/>
          </a:ln>
          <a:effectLst/>
        </p:spPr>
        <p:txBody>
          <a:bodyPr/>
          <a:lstStyle/>
          <a:p>
            <a:endParaRPr lang="en-US"/>
          </a:p>
        </p:txBody>
      </p:sp>
      <p:sp>
        <p:nvSpPr>
          <p:cNvPr id="409610" name="Line 10"/>
          <p:cNvSpPr>
            <a:spLocks noChangeShapeType="1"/>
          </p:cNvSpPr>
          <p:nvPr/>
        </p:nvSpPr>
        <p:spPr bwMode="auto">
          <a:xfrm>
            <a:off x="1066800" y="2133600"/>
            <a:ext cx="1981200" cy="0"/>
          </a:xfrm>
          <a:prstGeom prst="line">
            <a:avLst/>
          </a:prstGeom>
          <a:noFill/>
          <a:ln w="12700">
            <a:solidFill>
              <a:schemeClr val="tx1"/>
            </a:solidFill>
            <a:round/>
            <a:headEnd/>
            <a:tailEnd/>
          </a:ln>
          <a:effectLst/>
        </p:spPr>
        <p:txBody>
          <a:bodyPr/>
          <a:lstStyle/>
          <a:p>
            <a:endParaRPr lang="en-US"/>
          </a:p>
        </p:txBody>
      </p:sp>
      <p:sp>
        <p:nvSpPr>
          <p:cNvPr id="409611" name="Line 11"/>
          <p:cNvSpPr>
            <a:spLocks noChangeShapeType="1"/>
          </p:cNvSpPr>
          <p:nvPr/>
        </p:nvSpPr>
        <p:spPr bwMode="auto">
          <a:xfrm>
            <a:off x="1066800" y="2438400"/>
            <a:ext cx="1981200" cy="0"/>
          </a:xfrm>
          <a:prstGeom prst="line">
            <a:avLst/>
          </a:prstGeom>
          <a:noFill/>
          <a:ln w="12700">
            <a:solidFill>
              <a:schemeClr val="tx1"/>
            </a:solidFill>
            <a:round/>
            <a:headEnd/>
            <a:tailEnd/>
          </a:ln>
          <a:effectLst/>
        </p:spPr>
        <p:txBody>
          <a:bodyPr/>
          <a:lstStyle/>
          <a:p>
            <a:endParaRPr lang="en-US"/>
          </a:p>
        </p:txBody>
      </p:sp>
      <p:sp>
        <p:nvSpPr>
          <p:cNvPr id="409612" name="Line 12"/>
          <p:cNvSpPr>
            <a:spLocks noChangeShapeType="1"/>
          </p:cNvSpPr>
          <p:nvPr/>
        </p:nvSpPr>
        <p:spPr bwMode="auto">
          <a:xfrm>
            <a:off x="1066800" y="2743200"/>
            <a:ext cx="1981200" cy="0"/>
          </a:xfrm>
          <a:prstGeom prst="line">
            <a:avLst/>
          </a:prstGeom>
          <a:noFill/>
          <a:ln w="12700">
            <a:solidFill>
              <a:schemeClr val="tx1"/>
            </a:solidFill>
            <a:round/>
            <a:headEnd/>
            <a:tailEnd/>
          </a:ln>
          <a:effectLst/>
        </p:spPr>
        <p:txBody>
          <a:bodyPr/>
          <a:lstStyle/>
          <a:p>
            <a:endParaRPr lang="en-US"/>
          </a:p>
        </p:txBody>
      </p:sp>
      <p:sp>
        <p:nvSpPr>
          <p:cNvPr id="409613" name="Line 13"/>
          <p:cNvSpPr>
            <a:spLocks noChangeShapeType="1"/>
          </p:cNvSpPr>
          <p:nvPr/>
        </p:nvSpPr>
        <p:spPr bwMode="auto">
          <a:xfrm>
            <a:off x="1066800" y="3048000"/>
            <a:ext cx="1981200" cy="0"/>
          </a:xfrm>
          <a:prstGeom prst="line">
            <a:avLst/>
          </a:prstGeom>
          <a:noFill/>
          <a:ln w="12700">
            <a:solidFill>
              <a:schemeClr val="tx1"/>
            </a:solidFill>
            <a:round/>
            <a:headEnd/>
            <a:tailEnd/>
          </a:ln>
          <a:effectLst/>
        </p:spPr>
        <p:txBody>
          <a:bodyPr/>
          <a:lstStyle/>
          <a:p>
            <a:endParaRPr lang="en-US"/>
          </a:p>
        </p:txBody>
      </p:sp>
      <p:sp>
        <p:nvSpPr>
          <p:cNvPr id="409614" name="Line 14"/>
          <p:cNvSpPr>
            <a:spLocks noChangeShapeType="1"/>
          </p:cNvSpPr>
          <p:nvPr/>
        </p:nvSpPr>
        <p:spPr bwMode="auto">
          <a:xfrm>
            <a:off x="1066800" y="3352800"/>
            <a:ext cx="1981200" cy="0"/>
          </a:xfrm>
          <a:prstGeom prst="line">
            <a:avLst/>
          </a:prstGeom>
          <a:noFill/>
          <a:ln w="12700">
            <a:solidFill>
              <a:schemeClr val="tx1"/>
            </a:solidFill>
            <a:round/>
            <a:headEnd/>
            <a:tailEnd/>
          </a:ln>
          <a:effectLst/>
        </p:spPr>
        <p:txBody>
          <a:bodyPr/>
          <a:lstStyle/>
          <a:p>
            <a:endParaRPr lang="en-US"/>
          </a:p>
        </p:txBody>
      </p:sp>
      <p:sp>
        <p:nvSpPr>
          <p:cNvPr id="409615" name="Line 15"/>
          <p:cNvSpPr>
            <a:spLocks noChangeShapeType="1"/>
          </p:cNvSpPr>
          <p:nvPr/>
        </p:nvSpPr>
        <p:spPr bwMode="auto">
          <a:xfrm>
            <a:off x="1066800" y="3657600"/>
            <a:ext cx="1981200" cy="0"/>
          </a:xfrm>
          <a:prstGeom prst="line">
            <a:avLst/>
          </a:prstGeom>
          <a:noFill/>
          <a:ln w="12700">
            <a:solidFill>
              <a:schemeClr val="tx1"/>
            </a:solidFill>
            <a:round/>
            <a:headEnd/>
            <a:tailEnd/>
          </a:ln>
          <a:effectLst/>
        </p:spPr>
        <p:txBody>
          <a:bodyPr/>
          <a:lstStyle/>
          <a:p>
            <a:endParaRPr lang="en-US"/>
          </a:p>
        </p:txBody>
      </p:sp>
      <p:sp>
        <p:nvSpPr>
          <p:cNvPr id="409616" name="Rectangle 16"/>
          <p:cNvSpPr>
            <a:spLocks noChangeArrowheads="1"/>
          </p:cNvSpPr>
          <p:nvPr/>
        </p:nvSpPr>
        <p:spPr bwMode="auto">
          <a:xfrm>
            <a:off x="1066800" y="54102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9617" name="Text Box 17"/>
          <p:cNvSpPr txBox="1">
            <a:spLocks noChangeArrowheads="1"/>
          </p:cNvSpPr>
          <p:nvPr/>
        </p:nvSpPr>
        <p:spPr bwMode="auto">
          <a:xfrm>
            <a:off x="3124200" y="53895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$a0</a:t>
            </a:r>
          </a:p>
        </p:txBody>
      </p:sp>
      <p:sp>
        <p:nvSpPr>
          <p:cNvPr id="409618" name="Rectangle 18"/>
          <p:cNvSpPr>
            <a:spLocks noChangeArrowheads="1"/>
          </p:cNvSpPr>
          <p:nvPr/>
        </p:nvSpPr>
        <p:spPr bwMode="auto">
          <a:xfrm>
            <a:off x="1066800" y="6096000"/>
            <a:ext cx="1981200" cy="304800"/>
          </a:xfrm>
          <a:prstGeom prst="rect">
            <a:avLst/>
          </a:prstGeom>
          <a:noFill/>
          <a:ln w="12700">
            <a:solidFill>
              <a:schemeClr val="tx1"/>
            </a:solidFill>
            <a:miter lim="800000"/>
            <a:headEnd/>
            <a:tailEnd/>
          </a:ln>
          <a:effectLst/>
        </p:spPr>
        <p:txBody>
          <a:bodyPr wrap="none" anchor="ctr"/>
          <a:lstStyle/>
          <a:p>
            <a:endParaRPr lang="en-US"/>
          </a:p>
        </p:txBody>
      </p:sp>
      <p:sp>
        <p:nvSpPr>
          <p:cNvPr id="409619" name="Text Box 19"/>
          <p:cNvSpPr txBox="1">
            <a:spLocks noChangeArrowheads="1"/>
          </p:cNvSpPr>
          <p:nvPr/>
        </p:nvSpPr>
        <p:spPr bwMode="auto">
          <a:xfrm>
            <a:off x="3124200" y="6075363"/>
            <a:ext cx="593725" cy="366712"/>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rPr>
              <a:t>$v0</a:t>
            </a:r>
          </a:p>
        </p:txBody>
      </p:sp>
      <p:sp>
        <p:nvSpPr>
          <p:cNvPr id="409620" name="Text Box 20"/>
          <p:cNvSpPr txBox="1">
            <a:spLocks noChangeArrowheads="1"/>
          </p:cNvSpPr>
          <p:nvPr/>
        </p:nvSpPr>
        <p:spPr bwMode="auto">
          <a:xfrm>
            <a:off x="3048000" y="1806575"/>
            <a:ext cx="955675"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 $sp</a:t>
            </a:r>
          </a:p>
        </p:txBody>
      </p:sp>
      <p:sp>
        <p:nvSpPr>
          <p:cNvPr id="409621" name="Text Box 21"/>
          <p:cNvSpPr txBox="1">
            <a:spLocks noChangeArrowheads="1"/>
          </p:cNvSpPr>
          <p:nvPr/>
        </p:nvSpPr>
        <p:spPr bwMode="auto">
          <a:xfrm>
            <a:off x="1676400" y="21336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9622" name="Text Box 22"/>
          <p:cNvSpPr txBox="1">
            <a:spLocks noChangeArrowheads="1"/>
          </p:cNvSpPr>
          <p:nvPr/>
        </p:nvSpPr>
        <p:spPr bwMode="auto">
          <a:xfrm>
            <a:off x="1447800" y="24384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1</a:t>
            </a:r>
            <a:endParaRPr lang="en-US"/>
          </a:p>
        </p:txBody>
      </p:sp>
      <p:sp>
        <p:nvSpPr>
          <p:cNvPr id="409623" name="Rectangle 23"/>
          <p:cNvSpPr>
            <a:spLocks noChangeArrowheads="1"/>
          </p:cNvSpPr>
          <p:nvPr/>
        </p:nvSpPr>
        <p:spPr bwMode="auto">
          <a:xfrm>
            <a:off x="3159125" y="1909763"/>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9624" name="Text Box 24"/>
          <p:cNvSpPr txBox="1">
            <a:spLocks noChangeArrowheads="1"/>
          </p:cNvSpPr>
          <p:nvPr/>
        </p:nvSpPr>
        <p:spPr bwMode="auto">
          <a:xfrm>
            <a:off x="1905000" y="54102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1</a:t>
            </a:r>
            <a:endParaRPr lang="en-US"/>
          </a:p>
        </p:txBody>
      </p:sp>
      <p:sp>
        <p:nvSpPr>
          <p:cNvPr id="409625" name="Text Box 25"/>
          <p:cNvSpPr txBox="1">
            <a:spLocks noChangeArrowheads="1"/>
          </p:cNvSpPr>
          <p:nvPr/>
        </p:nvSpPr>
        <p:spPr bwMode="auto">
          <a:xfrm>
            <a:off x="1524000" y="1219200"/>
            <a:ext cx="1039813" cy="336550"/>
          </a:xfrm>
          <a:prstGeom prst="rect">
            <a:avLst/>
          </a:prstGeom>
          <a:noFill/>
          <a:ln w="12700">
            <a:noFill/>
            <a:miter lim="800000"/>
            <a:headEnd/>
            <a:tailEnd/>
          </a:ln>
          <a:effectLst/>
        </p:spPr>
        <p:txBody>
          <a:bodyPr wrap="none">
            <a:spAutoFit/>
          </a:bodyPr>
          <a:lstStyle/>
          <a:p>
            <a:r>
              <a:rPr lang="en-US" sz="1600">
                <a:solidFill>
                  <a:schemeClr val="tx1"/>
                </a:solidFill>
                <a:latin typeface="Courier New" pitchFamily="49" charset="0"/>
              </a:rPr>
              <a:t>old TOS</a:t>
            </a:r>
          </a:p>
        </p:txBody>
      </p:sp>
      <p:sp>
        <p:nvSpPr>
          <p:cNvPr id="409626" name="Text Box 26"/>
          <p:cNvSpPr txBox="1">
            <a:spLocks noChangeArrowheads="1"/>
          </p:cNvSpPr>
          <p:nvPr/>
        </p:nvSpPr>
        <p:spPr bwMode="auto">
          <a:xfrm>
            <a:off x="1524000" y="30480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0</a:t>
            </a:r>
            <a:endParaRPr lang="en-US"/>
          </a:p>
        </p:txBody>
      </p:sp>
      <p:sp>
        <p:nvSpPr>
          <p:cNvPr id="409627" name="Text Box 27"/>
          <p:cNvSpPr txBox="1">
            <a:spLocks noChangeArrowheads="1"/>
          </p:cNvSpPr>
          <p:nvPr/>
        </p:nvSpPr>
        <p:spPr bwMode="auto">
          <a:xfrm>
            <a:off x="1600200" y="27432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9628" name="Text Box 28"/>
          <p:cNvSpPr txBox="1">
            <a:spLocks noChangeArrowheads="1"/>
          </p:cNvSpPr>
          <p:nvPr/>
        </p:nvSpPr>
        <p:spPr bwMode="auto">
          <a:xfrm>
            <a:off x="1447800" y="1828800"/>
            <a:ext cx="1039813"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$a0 = 2</a:t>
            </a:r>
            <a:endParaRPr lang="en-US"/>
          </a:p>
        </p:txBody>
      </p:sp>
      <p:sp>
        <p:nvSpPr>
          <p:cNvPr id="409629" name="Text Box 29"/>
          <p:cNvSpPr txBox="1">
            <a:spLocks noChangeArrowheads="1"/>
          </p:cNvSpPr>
          <p:nvPr/>
        </p:nvSpPr>
        <p:spPr bwMode="auto">
          <a:xfrm>
            <a:off x="1143000" y="15240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endParaRPr lang="en-US"/>
          </a:p>
        </p:txBody>
      </p:sp>
      <p:sp>
        <p:nvSpPr>
          <p:cNvPr id="409630" name="Text Box 30"/>
          <p:cNvSpPr txBox="1">
            <a:spLocks noChangeArrowheads="1"/>
          </p:cNvSpPr>
          <p:nvPr/>
        </p:nvSpPr>
        <p:spPr bwMode="auto">
          <a:xfrm>
            <a:off x="1676400" y="6096000"/>
            <a:ext cx="838200"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1 * 1</a:t>
            </a:r>
            <a:endParaRPr lang="en-US"/>
          </a:p>
        </p:txBody>
      </p:sp>
      <p:sp>
        <p:nvSpPr>
          <p:cNvPr id="409631" name="Text Box 31"/>
          <p:cNvSpPr txBox="1">
            <a:spLocks noChangeArrowheads="1"/>
          </p:cNvSpPr>
          <p:nvPr/>
        </p:nvSpPr>
        <p:spPr bwMode="auto">
          <a:xfrm>
            <a:off x="3048000" y="1196975"/>
            <a:ext cx="819150" cy="366713"/>
          </a:xfrm>
          <a:prstGeom prst="rect">
            <a:avLst/>
          </a:prstGeom>
          <a:noFill/>
          <a:ln w="12700">
            <a:noFill/>
            <a:miter lim="800000"/>
            <a:headEnd/>
            <a:tailEnd/>
          </a:ln>
          <a:effectLst/>
        </p:spPr>
        <p:txBody>
          <a:bodyPr wrap="none">
            <a:spAutoFit/>
          </a:bodyPr>
          <a:lstStyle/>
          <a:p>
            <a:r>
              <a:rPr lang="en-US">
                <a:solidFill>
                  <a:schemeClr val="tx1"/>
                </a:solidFill>
                <a:latin typeface="Courier New" pitchFamily="49" charset="0"/>
                <a:sym typeface="Symbol" pitchFamily="18" charset="2"/>
              </a:rPr>
              <a:t></a:t>
            </a:r>
            <a:r>
              <a:rPr lang="en-US">
                <a:solidFill>
                  <a:schemeClr val="accent2"/>
                </a:solidFill>
                <a:latin typeface="Courier New" pitchFamily="49" charset="0"/>
              </a:rPr>
              <a:t>$sp</a:t>
            </a:r>
          </a:p>
        </p:txBody>
      </p:sp>
      <p:sp>
        <p:nvSpPr>
          <p:cNvPr id="409632" name="Rectangle 32"/>
          <p:cNvSpPr>
            <a:spLocks noChangeArrowheads="1"/>
          </p:cNvSpPr>
          <p:nvPr/>
        </p:nvSpPr>
        <p:spPr bwMode="auto">
          <a:xfrm>
            <a:off x="1676400" y="5486400"/>
            <a:ext cx="762000" cy="152400"/>
          </a:xfrm>
          <a:prstGeom prst="rect">
            <a:avLst/>
          </a:prstGeom>
          <a:solidFill>
            <a:schemeClr val="bg1"/>
          </a:solidFill>
          <a:ln w="12700">
            <a:noFill/>
            <a:miter lim="800000"/>
            <a:headEnd/>
            <a:tailEnd/>
          </a:ln>
          <a:effectLst/>
        </p:spPr>
        <p:txBody>
          <a:bodyPr wrap="none" anchor="ctr"/>
          <a:lstStyle/>
          <a:p>
            <a:endParaRPr lang="en-US"/>
          </a:p>
        </p:txBody>
      </p:sp>
      <p:sp>
        <p:nvSpPr>
          <p:cNvPr id="409633" name="Text Box 33"/>
          <p:cNvSpPr txBox="1">
            <a:spLocks noChangeArrowheads="1"/>
          </p:cNvSpPr>
          <p:nvPr/>
        </p:nvSpPr>
        <p:spPr bwMode="auto">
          <a:xfrm>
            <a:off x="1905000" y="5410200"/>
            <a:ext cx="306388"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2</a:t>
            </a:r>
            <a:endParaRPr lang="en-US"/>
          </a:p>
        </p:txBody>
      </p:sp>
      <p:sp>
        <p:nvSpPr>
          <p:cNvPr id="409634" name="Text Box 34"/>
          <p:cNvSpPr txBox="1">
            <a:spLocks noChangeArrowheads="1"/>
          </p:cNvSpPr>
          <p:nvPr/>
        </p:nvSpPr>
        <p:spPr bwMode="auto">
          <a:xfrm>
            <a:off x="1676400" y="4724400"/>
            <a:ext cx="673100"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bk_f</a:t>
            </a:r>
            <a:endParaRPr lang="en-US"/>
          </a:p>
        </p:txBody>
      </p:sp>
      <p:sp>
        <p:nvSpPr>
          <p:cNvPr id="409635" name="Rectangle 35"/>
          <p:cNvSpPr>
            <a:spLocks noChangeArrowheads="1"/>
          </p:cNvSpPr>
          <p:nvPr/>
        </p:nvSpPr>
        <p:spPr bwMode="auto">
          <a:xfrm>
            <a:off x="1676400" y="6172200"/>
            <a:ext cx="762000" cy="228600"/>
          </a:xfrm>
          <a:prstGeom prst="rect">
            <a:avLst/>
          </a:prstGeom>
          <a:solidFill>
            <a:schemeClr val="bg1"/>
          </a:solidFill>
          <a:ln w="12700">
            <a:noFill/>
            <a:miter lim="800000"/>
            <a:headEnd/>
            <a:tailEnd/>
          </a:ln>
          <a:effectLst/>
        </p:spPr>
        <p:txBody>
          <a:bodyPr wrap="none" anchor="ctr"/>
          <a:lstStyle/>
          <a:p>
            <a:endParaRPr lang="en-US"/>
          </a:p>
        </p:txBody>
      </p:sp>
      <p:sp>
        <p:nvSpPr>
          <p:cNvPr id="409636" name="Text Box 36"/>
          <p:cNvSpPr txBox="1">
            <a:spLocks noChangeArrowheads="1"/>
          </p:cNvSpPr>
          <p:nvPr/>
        </p:nvSpPr>
        <p:spPr bwMode="auto">
          <a:xfrm>
            <a:off x="1447800" y="6096000"/>
            <a:ext cx="1371600" cy="336550"/>
          </a:xfrm>
          <a:prstGeom prst="rect">
            <a:avLst/>
          </a:prstGeom>
          <a:noFill/>
          <a:ln w="12700">
            <a:noFill/>
            <a:miter lim="800000"/>
            <a:headEnd/>
            <a:tailEnd/>
          </a:ln>
          <a:effectLst/>
        </p:spPr>
        <p:txBody>
          <a:bodyPr>
            <a:spAutoFit/>
          </a:bodyPr>
          <a:lstStyle/>
          <a:p>
            <a:r>
              <a:rPr lang="en-US" sz="1600">
                <a:solidFill>
                  <a:schemeClr val="accent2"/>
                </a:solidFill>
                <a:latin typeface="Courier New" pitchFamily="49" charset="0"/>
              </a:rPr>
              <a:t>2 * 1 * 1</a:t>
            </a:r>
            <a:endParaRPr lang="en-US"/>
          </a:p>
        </p:txBody>
      </p:sp>
      <p:sp>
        <p:nvSpPr>
          <p:cNvPr id="409637" name="Rectangle 37"/>
          <p:cNvSpPr>
            <a:spLocks noChangeArrowheads="1"/>
          </p:cNvSpPr>
          <p:nvPr/>
        </p:nvSpPr>
        <p:spPr bwMode="auto">
          <a:xfrm>
            <a:off x="4429124" y="1000108"/>
            <a:ext cx="4000528" cy="5388142"/>
          </a:xfrm>
          <a:prstGeom prst="rect">
            <a:avLst/>
          </a:prstGeom>
          <a:noFill/>
          <a:ln w="12700">
            <a:noFill/>
            <a:miter lim="800000"/>
            <a:headEnd/>
            <a:tailEnd/>
          </a:ln>
          <a:effectLst/>
        </p:spPr>
        <p:txBody>
          <a:bodyPr wrap="square" lIns="63500" tIns="25400" rIns="63500" bIns="25400">
            <a:spAutoFit/>
          </a:bodyPr>
          <a:lstStyle/>
          <a:p>
            <a:pPr marL="342900" indent="-342900">
              <a:lnSpc>
                <a:spcPct val="95000"/>
              </a:lnSpc>
              <a:spcBef>
                <a:spcPct val="25000"/>
              </a:spcBef>
              <a:buClr>
                <a:schemeClr val="accent1"/>
              </a:buClr>
              <a:buSzPct val="75000"/>
              <a:buFont typeface="Wingdings" pitchFamily="2" charset="2"/>
              <a:buChar char="q"/>
            </a:pPr>
            <a:r>
              <a:rPr lang="en-US" sz="2400" dirty="0">
                <a:solidFill>
                  <a:schemeClr val="tx1"/>
                </a:solidFill>
              </a:rPr>
              <a:t>Stack state after execution of the </a:t>
            </a:r>
            <a:r>
              <a:rPr lang="en-US" sz="2400" b="1" dirty="0">
                <a:solidFill>
                  <a:schemeClr val="tx1"/>
                </a:solidFill>
              </a:rPr>
              <a:t>second</a:t>
            </a:r>
            <a:r>
              <a:rPr lang="en-US" sz="2400" dirty="0">
                <a:solidFill>
                  <a:schemeClr val="tx1"/>
                </a:solidFill>
              </a:rPr>
              <a:t> encounter with </a:t>
            </a:r>
            <a:r>
              <a:rPr lang="en-US" sz="2400" dirty="0" smtClean="0">
                <a:solidFill>
                  <a:schemeClr val="tx1"/>
                </a:solidFill>
              </a:rPr>
              <a:t>the 2</a:t>
            </a:r>
            <a:r>
              <a:rPr lang="en-US" sz="2400" baseline="30000" dirty="0" smtClean="0">
                <a:solidFill>
                  <a:schemeClr val="tx1"/>
                </a:solidFill>
              </a:rPr>
              <a:t>nd</a:t>
            </a:r>
            <a:r>
              <a:rPr lang="en-US" sz="2400" dirty="0" smtClean="0">
                <a:solidFill>
                  <a:schemeClr val="tx1"/>
                </a:solidFill>
              </a:rPr>
              <a:t>   </a:t>
            </a:r>
            <a:r>
              <a:rPr lang="en-US" sz="2400" dirty="0" err="1" smtClean="0">
                <a:solidFill>
                  <a:schemeClr val="tx1"/>
                </a:solidFill>
                <a:latin typeface="Courier New" pitchFamily="49" charset="0"/>
              </a:rPr>
              <a:t>jr</a:t>
            </a:r>
            <a:r>
              <a:rPr lang="en-US" sz="2400" dirty="0" smtClean="0">
                <a:solidFill>
                  <a:schemeClr val="tx1"/>
                </a:solidFill>
              </a:rPr>
              <a:t> </a:t>
            </a:r>
            <a:r>
              <a:rPr lang="en-US" sz="2400" dirty="0">
                <a:solidFill>
                  <a:schemeClr val="tx1"/>
                </a:solidFill>
              </a:rPr>
              <a:t>(return from fact routine after updating </a:t>
            </a:r>
            <a:r>
              <a:rPr lang="en-US" sz="2400" dirty="0">
                <a:solidFill>
                  <a:schemeClr val="tx1"/>
                </a:solidFill>
                <a:latin typeface="Courier New" pitchFamily="49" charset="0"/>
              </a:rPr>
              <a:t>$v0</a:t>
            </a:r>
            <a:r>
              <a:rPr lang="en-US" sz="2400" dirty="0">
                <a:solidFill>
                  <a:schemeClr val="tx1"/>
                </a:solidFill>
              </a:rPr>
              <a:t> to 2 * 1 * 1)</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return address to caller routine (main routine) restored to </a:t>
            </a:r>
            <a:r>
              <a:rPr lang="en-US" sz="2000" dirty="0">
                <a:solidFill>
                  <a:schemeClr val="tx1"/>
                </a:solidFill>
                <a:latin typeface="Courier New" pitchFamily="49" charset="0"/>
              </a:rPr>
              <a:t>$</a:t>
            </a:r>
            <a:r>
              <a:rPr lang="en-US" sz="2000" dirty="0" err="1">
                <a:solidFill>
                  <a:schemeClr val="tx1"/>
                </a:solidFill>
                <a:latin typeface="Courier New" pitchFamily="49" charset="0"/>
              </a:rPr>
              <a:t>ra</a:t>
            </a:r>
            <a:r>
              <a:rPr lang="en-US" sz="2000" dirty="0">
                <a:solidFill>
                  <a:schemeClr val="tx1"/>
                </a:solidFill>
              </a:rPr>
              <a:t> from the stack</a:t>
            </a: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original value of </a:t>
            </a:r>
            <a:r>
              <a:rPr lang="en-US" sz="2000" dirty="0">
                <a:solidFill>
                  <a:schemeClr val="tx1"/>
                </a:solidFill>
                <a:latin typeface="Courier New" pitchFamily="49" charset="0"/>
              </a:rPr>
              <a:t>$a0</a:t>
            </a:r>
            <a:r>
              <a:rPr lang="en-US" sz="2000" dirty="0">
                <a:solidFill>
                  <a:schemeClr val="tx1"/>
                </a:solidFill>
              </a:rPr>
              <a:t> restored from the </a:t>
            </a:r>
            <a:r>
              <a:rPr lang="en-US" sz="2000" dirty="0" smtClean="0">
                <a:solidFill>
                  <a:schemeClr val="tx1"/>
                </a:solidFill>
              </a:rPr>
              <a:t>stack</a:t>
            </a:r>
          </a:p>
          <a:p>
            <a:pPr marL="742950" lvl="1" indent="-285750">
              <a:lnSpc>
                <a:spcPct val="95000"/>
              </a:lnSpc>
              <a:spcBef>
                <a:spcPct val="25000"/>
              </a:spcBef>
              <a:buClr>
                <a:schemeClr val="accent1"/>
              </a:buClr>
              <a:buSzPct val="75000"/>
              <a:buFont typeface="Monotype Sorts" pitchFamily="2" charset="2"/>
              <a:buChar char="l"/>
            </a:pPr>
            <a:r>
              <a:rPr lang="en-US" sz="2000" dirty="0" smtClean="0">
                <a:solidFill>
                  <a:schemeClr val="tx1"/>
                </a:solidFill>
              </a:rPr>
              <a:t>fact routine computes the new $v0 (2 * 1 * 1)</a:t>
            </a:r>
            <a:endParaRPr lang="en-US" sz="2000" dirty="0">
              <a:solidFill>
                <a:schemeClr val="tx1"/>
              </a:solidFill>
            </a:endParaRPr>
          </a:p>
          <a:p>
            <a:pPr marL="742950" lvl="1" indent="-285750">
              <a:lnSpc>
                <a:spcPct val="95000"/>
              </a:lnSpc>
              <a:spcBef>
                <a:spcPct val="25000"/>
              </a:spcBef>
              <a:buClr>
                <a:schemeClr val="accent1"/>
              </a:buClr>
              <a:buSzPct val="75000"/>
              <a:buFont typeface="Monotype Sorts" pitchFamily="2" charset="2"/>
              <a:buChar char="l"/>
            </a:pPr>
            <a:r>
              <a:rPr lang="en-US" sz="2000" dirty="0">
                <a:solidFill>
                  <a:schemeClr val="tx1"/>
                </a:solidFill>
              </a:rPr>
              <a:t>stack pointer updated to point to </a:t>
            </a:r>
            <a:r>
              <a:rPr lang="en-US" sz="2000" i="1" dirty="0"/>
              <a:t>first</a:t>
            </a:r>
            <a:r>
              <a:rPr lang="en-US" sz="2000" dirty="0">
                <a:solidFill>
                  <a:schemeClr val="tx1"/>
                </a:solidFill>
              </a:rPr>
              <a:t> call to fact</a:t>
            </a:r>
          </a:p>
        </p:txBody>
      </p:sp>
      <p:sp>
        <p:nvSpPr>
          <p:cNvPr id="409638" name="Rectangle 38"/>
          <p:cNvSpPr>
            <a:spLocks noChangeArrowheads="1"/>
          </p:cNvSpPr>
          <p:nvPr/>
        </p:nvSpPr>
        <p:spPr bwMode="auto">
          <a:xfrm>
            <a:off x="1676400" y="4800600"/>
            <a:ext cx="762000" cy="152400"/>
          </a:xfrm>
          <a:prstGeom prst="rect">
            <a:avLst/>
          </a:prstGeom>
          <a:solidFill>
            <a:schemeClr val="bg1"/>
          </a:solidFill>
          <a:ln w="12700">
            <a:noFill/>
            <a:miter lim="800000"/>
            <a:headEnd/>
            <a:tailEnd/>
          </a:ln>
          <a:effectLst/>
        </p:spPr>
        <p:txBody>
          <a:bodyPr wrap="none" anchor="ctr"/>
          <a:lstStyle/>
          <a:p>
            <a:endParaRPr lang="en-US"/>
          </a:p>
        </p:txBody>
      </p:sp>
      <p:sp>
        <p:nvSpPr>
          <p:cNvPr id="409639" name="Text Box 39"/>
          <p:cNvSpPr txBox="1">
            <a:spLocks noChangeArrowheads="1"/>
          </p:cNvSpPr>
          <p:nvPr/>
        </p:nvSpPr>
        <p:spPr bwMode="auto">
          <a:xfrm>
            <a:off x="1143000" y="4724400"/>
            <a:ext cx="1895475" cy="336550"/>
          </a:xfrm>
          <a:prstGeom prst="rect">
            <a:avLst/>
          </a:prstGeom>
          <a:noFill/>
          <a:ln w="12700">
            <a:noFill/>
            <a:miter lim="800000"/>
            <a:headEnd/>
            <a:tailEnd/>
          </a:ln>
          <a:effectLst/>
        </p:spPr>
        <p:txBody>
          <a:bodyPr wrap="none">
            <a:spAutoFit/>
          </a:bodyPr>
          <a:lstStyle/>
          <a:p>
            <a:r>
              <a:rPr lang="en-US" sz="1600">
                <a:solidFill>
                  <a:schemeClr val="accent2"/>
                </a:solidFill>
                <a:latin typeface="Courier New" pitchFamily="49" charset="0"/>
              </a:rPr>
              <a:t>caller rt addr</a:t>
            </a:r>
            <a:endParaRPr lang="en-US"/>
          </a:p>
        </p:txBody>
      </p:sp>
    </p:spTree>
    <p:extLst>
      <p:ext uri="{BB962C8B-B14F-4D97-AF65-F5344CB8AC3E}">
        <p14:creationId xmlns:p14="http://schemas.microsoft.com/office/powerpoint/2010/main" val="196502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63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4096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09638"/>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4096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09623"/>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1000"/>
                                  </p:stCondLst>
                                  <p:childTnLst>
                                    <p:set>
                                      <p:cBhvr>
                                        <p:cTn id="23" dur="1" fill="hold">
                                          <p:stCondLst>
                                            <p:cond delay="499"/>
                                          </p:stCondLst>
                                        </p:cTn>
                                        <p:tgtEl>
                                          <p:spTgt spid="40963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409635"/>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1000"/>
                                  </p:stCondLst>
                                  <p:childTnLst>
                                    <p:set>
                                      <p:cBhvr>
                                        <p:cTn id="30" dur="1" fill="hold">
                                          <p:stCondLst>
                                            <p:cond delay="499"/>
                                          </p:stCondLst>
                                        </p:cTn>
                                        <p:tgtEl>
                                          <p:spTgt spid="409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3" grpId="0" animBg="1"/>
      <p:bldP spid="409631" grpId="0" autoUpdateAnimBg="0"/>
      <p:bldP spid="409632" grpId="0" animBg="1"/>
      <p:bldP spid="409633" grpId="0" autoUpdateAnimBg="0"/>
      <p:bldP spid="409635" grpId="0" animBg="1"/>
      <p:bldP spid="409636" grpId="0" autoUpdateAnimBg="0"/>
      <p:bldP spid="409638" grpId="0" animBg="1"/>
      <p:bldP spid="409639" grpId="0"/>
    </p:bld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mjicse43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mjicse43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mjicse43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jicse43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jicse43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jicse43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jicse43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jicse43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jicse43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24449</TotalTime>
  <Pages>47</Pages>
  <Words>5870</Words>
  <Application>Microsoft Macintosh PowerPoint</Application>
  <PresentationFormat>Letter Paper (8.5x11 in)</PresentationFormat>
  <Paragraphs>1442</Paragraphs>
  <Slides>73</Slides>
  <Notes>59</Notes>
  <HiddenSlides>6</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73</vt:i4>
      </vt:variant>
    </vt:vector>
  </HeadingPairs>
  <TitlesOfParts>
    <vt:vector size="86" baseType="lpstr">
      <vt:lpstr>Arial</vt:lpstr>
      <vt:lpstr>Calibri</vt:lpstr>
      <vt:lpstr>Calibri Light</vt:lpstr>
      <vt:lpstr>Courier New</vt:lpstr>
      <vt:lpstr>Monotype Sorts</vt:lpstr>
      <vt:lpstr>Palatino Linotype</vt:lpstr>
      <vt:lpstr>Symbol</vt:lpstr>
      <vt:lpstr>Times New Roman</vt:lpstr>
      <vt:lpstr>Wingdings</vt:lpstr>
      <vt:lpstr>宋体</vt:lpstr>
      <vt:lpstr>mjicse431</vt:lpstr>
      <vt:lpstr>1_Custom Design</vt:lpstr>
      <vt:lpstr>Custom Design</vt:lpstr>
      <vt:lpstr>CSE 424  Computer Architecture    MIPS ISA (contd.)</vt:lpstr>
      <vt:lpstr>MIPS Control Flow Instructions</vt:lpstr>
      <vt:lpstr>Specifying Branch Destinations</vt:lpstr>
      <vt:lpstr>Disassembling Branch Destinations</vt:lpstr>
      <vt:lpstr>Offset Tradeoffs</vt:lpstr>
      <vt:lpstr>Assembling Branches Example</vt:lpstr>
      <vt:lpstr>Assembling Branches Example</vt:lpstr>
      <vt:lpstr>In Support of Branch Instructions</vt:lpstr>
      <vt:lpstr>More Branch Instructions</vt:lpstr>
      <vt:lpstr>More Branch Instructions</vt:lpstr>
      <vt:lpstr>Another Instruction for Changing Flow</vt:lpstr>
      <vt:lpstr>Assembling Jumps</vt:lpstr>
      <vt:lpstr>Disassembling Jump Destinations</vt:lpstr>
      <vt:lpstr>Review:  MIPS R3000 ISA</vt:lpstr>
      <vt:lpstr>Review:  Addressing Modes, so far</vt:lpstr>
      <vt:lpstr>Branching Far Away</vt:lpstr>
      <vt:lpstr>Assembling Branches and Jumps</vt:lpstr>
      <vt:lpstr>Assembling Branches and Jumps</vt:lpstr>
      <vt:lpstr>Compiling While Loops</vt:lpstr>
      <vt:lpstr>Compiling While Loops</vt:lpstr>
      <vt:lpstr>Review:  MIPS Instructions, so far</vt:lpstr>
      <vt:lpstr>Review:  MIPS Instructions, so far</vt:lpstr>
      <vt:lpstr>Review:  MIPS R3000 ISA</vt:lpstr>
      <vt:lpstr>MIPS Operand Addressing Modes Summary</vt:lpstr>
      <vt:lpstr>MIPS Instruction Addressing Modes Summary</vt:lpstr>
      <vt:lpstr>Yet Another Instruction for Changing Flow</vt:lpstr>
      <vt:lpstr>Compiling a Case (Switch) Statement</vt:lpstr>
      <vt:lpstr>Compiling Another While Loop</vt:lpstr>
      <vt:lpstr>Compiling Another While Loop</vt:lpstr>
      <vt:lpstr>Programming Styles</vt:lpstr>
      <vt:lpstr>Six Steps in Execution of a Procedure</vt:lpstr>
      <vt:lpstr>Review:  MIPS Register Naming Convention</vt:lpstr>
      <vt:lpstr>Instruction for Calling a Procedure</vt:lpstr>
      <vt:lpstr>Basic Procedure Flow</vt:lpstr>
      <vt:lpstr>Spilling Registers</vt:lpstr>
      <vt:lpstr>Allocating Space on the Stack</vt:lpstr>
      <vt:lpstr>Allocating Space in the Memory</vt:lpstr>
      <vt:lpstr>Compiling a C Leaf Procedure</vt:lpstr>
      <vt:lpstr>Compiling a C Leaf Procedure</vt:lpstr>
      <vt:lpstr>Stack Usage</vt:lpstr>
      <vt:lpstr>Compiling a Recursive Procedure</vt:lpstr>
      <vt:lpstr>Compiling a Recursive Procedure</vt:lpstr>
      <vt:lpstr>A Look at the Stack for $a0 = 2</vt:lpstr>
      <vt:lpstr>A Look at the Stack for $a0 = 2</vt:lpstr>
      <vt:lpstr>A Look at the Stack for $a0 = 2</vt:lpstr>
      <vt:lpstr>A Look at the Stack for $a0 = 2</vt:lpstr>
      <vt:lpstr>A Look at the Stack for $a0 = 2</vt:lpstr>
      <vt:lpstr>A Look at the Stack for $a0 = 2</vt:lpstr>
      <vt:lpstr>A Look at the Stack for $a0 = 2</vt:lpstr>
      <vt:lpstr>A Look at the Stack for $a0 = 2</vt:lpstr>
      <vt:lpstr>A Look at the Stack for $a0 = 2</vt:lpstr>
      <vt:lpstr>A Look at the Stack for $a0 = 2</vt:lpstr>
      <vt:lpstr>String Copy in C  (Read on your own)</vt:lpstr>
      <vt:lpstr>String Copy (Read on your own)</vt:lpstr>
      <vt:lpstr>Nested Procedures (Read on your own)</vt:lpstr>
      <vt:lpstr>Nested Procedures Outcome</vt:lpstr>
      <vt:lpstr>Saving the Return Address, Part 1</vt:lpstr>
      <vt:lpstr>Saving the Return Address, Part 1</vt:lpstr>
      <vt:lpstr>Saving the Return Address, Part 2</vt:lpstr>
      <vt:lpstr>Saving the Return Address, Part 2</vt:lpstr>
      <vt:lpstr>Compiling a Recursive Procedure</vt:lpstr>
      <vt:lpstr>Compiling a Recursive Procedure</vt:lpstr>
      <vt:lpstr>Recursive Procedure Structure</vt:lpstr>
      <vt:lpstr>A Look at the Stack for $a0 = 2, Part 1</vt:lpstr>
      <vt:lpstr>A Look at the Stack for $a0 = 2, Part 1</vt:lpstr>
      <vt:lpstr>A Look at the Stack for $a0 = 2, Part 2</vt:lpstr>
      <vt:lpstr>A Look at the Stack for $a0 = 2, Part 2</vt:lpstr>
      <vt:lpstr>A Look at the Stack for $a0 = 2, Part 3</vt:lpstr>
      <vt:lpstr>A Look at the Stack for $a0 = 2, Part 3</vt:lpstr>
      <vt:lpstr>A Look at the Stack for $a0 = 2, Part 4</vt:lpstr>
      <vt:lpstr>A Look at the Stack for $a0 = 2, Part 4</vt:lpstr>
      <vt:lpstr>A Look at the Stack for $a0 = 2, Part 5</vt:lpstr>
      <vt:lpstr>A Look at the Stack for $a0 = 2, Part 5</vt:lpstr>
    </vt:vector>
  </TitlesOfParts>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431. Computer Architecture</dc:title>
  <dc:subject>Lecture 01</dc:subject>
  <dc:creator>Janie Irwin</dc:creator>
  <cp:lastModifiedBy>Jog, Adwait</cp:lastModifiedBy>
  <cp:revision>778</cp:revision>
  <cp:lastPrinted>2019-09-23T16:29:49Z</cp:lastPrinted>
  <dcterms:created xsi:type="dcterms:W3CDTF">1997-08-19T16:58:46Z</dcterms:created>
  <dcterms:modified xsi:type="dcterms:W3CDTF">2019-09-24T18:50:22Z</dcterms:modified>
</cp:coreProperties>
</file>